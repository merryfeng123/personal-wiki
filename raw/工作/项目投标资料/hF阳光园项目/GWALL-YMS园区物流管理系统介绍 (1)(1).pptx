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6" Type="http://schemas.openxmlformats.org/officeDocument/2006/relationships/slide" Target="slides/slide5.xml"/><Relationship Id="rId58" Type="http://schemas.openxmlformats.org/officeDocument/2006/relationships/viewProps" Target="viewProps.xml"/><Relationship Id="rId57" Type="http://schemas.openxmlformats.org/officeDocument/2006/relationships/tableStyles" Target="tableStyles.xml"/><Relationship Id="rId56" Type="http://schemas.openxmlformats.org/officeDocument/2006/relationships/presProps" Target="presProps.xml"/><Relationship Id="rId55" Type="http://schemas.openxmlformats.org/officeDocument/2006/relationships/slide" Target="slides/slide54.xml"/><Relationship Id="rId54" Type="http://schemas.openxmlformats.org/officeDocument/2006/relationships/slide" Target="slides/slide53.xml"/><Relationship Id="rId53" Type="http://schemas.openxmlformats.org/officeDocument/2006/relationships/slide" Target="slides/slide52.xml"/><Relationship Id="rId52" Type="http://schemas.openxmlformats.org/officeDocument/2006/relationships/slide" Target="slides/slide51.xml"/><Relationship Id="rId51" Type="http://schemas.openxmlformats.org/officeDocument/2006/relationships/slide" Target="slides/slide50.xml"/><Relationship Id="rId50" Type="http://schemas.openxmlformats.org/officeDocument/2006/relationships/slide" Target="slides/slide49.xml"/><Relationship Id="rId5" Type="http://schemas.openxmlformats.org/officeDocument/2006/relationships/slide" Target="slides/slide4.xml"/><Relationship Id="rId49" Type="http://schemas.openxmlformats.org/officeDocument/2006/relationships/slide" Target="slides/slide48.xml"/><Relationship Id="rId48" Type="http://schemas.openxmlformats.org/officeDocument/2006/relationships/slide" Target="slides/slide47.xml"/><Relationship Id="rId47" Type="http://schemas.openxmlformats.org/officeDocument/2006/relationships/slide" Target="slides/slide46.xml"/><Relationship Id="rId46" Type="http://schemas.openxmlformats.org/officeDocument/2006/relationships/slide" Target="slides/slide45.xml"/><Relationship Id="rId45" Type="http://schemas.openxmlformats.org/officeDocument/2006/relationships/slide" Target="slides/slide44.xml"/><Relationship Id="rId44" Type="http://schemas.openxmlformats.org/officeDocument/2006/relationships/slide" Target="slides/slide43.xml"/><Relationship Id="rId43" Type="http://schemas.openxmlformats.org/officeDocument/2006/relationships/slide" Target="slides/slide42.xml"/><Relationship Id="rId42" Type="http://schemas.openxmlformats.org/officeDocument/2006/relationships/slide" Target="slides/slide41.xml"/><Relationship Id="rId41" Type="http://schemas.openxmlformats.org/officeDocument/2006/relationships/slide" Target="slides/slide40.xml"/><Relationship Id="rId40" Type="http://schemas.openxmlformats.org/officeDocument/2006/relationships/slide" Target="slides/slide39.xml"/><Relationship Id="rId4" Type="http://schemas.openxmlformats.org/officeDocument/2006/relationships/slide" Target="slides/slide3.xml"/><Relationship Id="rId39" Type="http://schemas.openxmlformats.org/officeDocument/2006/relationships/slide" Target="slides/slide38.xml"/><Relationship Id="rId38" Type="http://schemas.openxmlformats.org/officeDocument/2006/relationships/slide" Target="slides/slide37.xml"/><Relationship Id="rId37" Type="http://schemas.openxmlformats.org/officeDocument/2006/relationships/slide" Target="slides/slide36.xml"/><Relationship Id="rId36" Type="http://schemas.openxmlformats.org/officeDocument/2006/relationships/slide" Target="slides/slide35.xml"/><Relationship Id="rId35" Type="http://schemas.openxmlformats.org/officeDocument/2006/relationships/slide" Target="slides/slide34.xml"/><Relationship Id="rId34" Type="http://schemas.openxmlformats.org/officeDocument/2006/relationships/slide" Target="slides/slide33.xml"/><Relationship Id="rId33" Type="http://schemas.openxmlformats.org/officeDocument/2006/relationships/slide" Target="slides/slide32.xml"/><Relationship Id="rId32" Type="http://schemas.openxmlformats.org/officeDocument/2006/relationships/slide" Target="slides/slide31.xml"/><Relationship Id="rId31" Type="http://schemas.openxmlformats.org/officeDocument/2006/relationships/slide" Target="slides/slide30.xml"/><Relationship Id="rId30" Type="http://schemas.openxmlformats.org/officeDocument/2006/relationships/slide" Target="slides/slide29.xml"/><Relationship Id="rId3" Type="http://schemas.openxmlformats.org/officeDocument/2006/relationships/slide" Target="slides/slide2.xml"/><Relationship Id="rId29" Type="http://schemas.openxmlformats.org/officeDocument/2006/relationships/slide" Target="slides/slide28.xml"/><Relationship Id="rId28" Type="http://schemas.openxmlformats.org/officeDocument/2006/relationships/slide" Target="slides/slide27.xml"/><Relationship Id="rId27" Type="http://schemas.openxmlformats.org/officeDocument/2006/relationships/slide" Target="slides/slide26.xml"/><Relationship Id="rId26" Type="http://schemas.openxmlformats.org/officeDocument/2006/relationships/slide" Target="slides/slide25.xml"/><Relationship Id="rId25" Type="http://schemas.openxmlformats.org/officeDocument/2006/relationships/slide" Target="slides/slide24.xml"/><Relationship Id="rId24" Type="http://schemas.openxmlformats.org/officeDocument/2006/relationships/slide" Target="slides/slide23.xml"/><Relationship Id="rId23" Type="http://schemas.openxmlformats.org/officeDocument/2006/relationships/slide" Target="slides/slide22.xml"/><Relationship Id="rId22" Type="http://schemas.openxmlformats.org/officeDocument/2006/relationships/slide" Target="slides/slide21.xml"/><Relationship Id="rId21" Type="http://schemas.openxmlformats.org/officeDocument/2006/relationships/slide" Target="slides/slide20.xml"/><Relationship Id="rId20" Type="http://schemas.openxmlformats.org/officeDocument/2006/relationships/slide" Target="slides/slide19.xml"/><Relationship Id="rId2" Type="http://schemas.openxmlformats.org/officeDocument/2006/relationships/slide" Target="slides/slide1.xml"/><Relationship Id="rId19" Type="http://schemas.openxmlformats.org/officeDocument/2006/relationships/slide" Target="slides/slide18.xml"/><Relationship Id="rId18" Type="http://schemas.openxmlformats.org/officeDocument/2006/relationships/slide" Target="slides/slide17.xml"/><Relationship Id="rId17" Type="http://schemas.openxmlformats.org/officeDocument/2006/relationships/slide" Target="slides/slide16.xml"/><Relationship Id="rId16" Type="http://schemas.openxmlformats.org/officeDocument/2006/relationships/slide" Target="slides/slide15.xml"/><Relationship Id="rId15" Type="http://schemas.openxmlformats.org/officeDocument/2006/relationships/slide" Target="slides/slide14.xml"/><Relationship Id="rId14" Type="http://schemas.openxmlformats.org/officeDocument/2006/relationships/slide" Target="slides/slide13.xml"/><Relationship Id="rId13" Type="http://schemas.openxmlformats.org/officeDocument/2006/relationships/slide" Target="slides/slide12.xml"/><Relationship Id="rId12" Type="http://schemas.openxmlformats.org/officeDocument/2006/relationships/slide" Target="slides/slide11.xml"/><Relationship Id="rId11" Type="http://schemas.openxmlformats.org/officeDocument/2006/relationships/slide" Target="slides/slide10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image" Target="../media/image30.jpeg"/><Relationship Id="rId7" Type="http://schemas.openxmlformats.org/officeDocument/2006/relationships/image" Target="../media/image29.png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image" Target="../media/image33.png"/><Relationship Id="rId3" Type="http://schemas.openxmlformats.org/officeDocument/2006/relationships/image" Target="../media/image8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image" Target="../media/image35.png"/><Relationship Id="rId3" Type="http://schemas.openxmlformats.org/officeDocument/2006/relationships/image" Target="../media/image8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image" Target="../media/image37.png"/><Relationship Id="rId3" Type="http://schemas.openxmlformats.org/officeDocument/2006/relationships/image" Target="../media/image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4.png"/><Relationship Id="rId8" Type="http://schemas.openxmlformats.org/officeDocument/2006/relationships/image" Target="../media/image43.png"/><Relationship Id="rId7" Type="http://schemas.openxmlformats.org/officeDocument/2006/relationships/image" Target="../media/image42.png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1.png"/><Relationship Id="rId8" Type="http://schemas.openxmlformats.org/officeDocument/2006/relationships/image" Target="../media/image50.png"/><Relationship Id="rId7" Type="http://schemas.openxmlformats.org/officeDocument/2006/relationships/image" Target="../media/image8.png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image" Target="../media/image56.png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3" Type="http://schemas.openxmlformats.org/officeDocument/2006/relationships/image" Target="../media/image5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7" Type="http://schemas.openxmlformats.org/officeDocument/2006/relationships/image" Target="../media/image61.png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3" Type="http://schemas.openxmlformats.org/officeDocument/2006/relationships/image" Target="../media/image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64.png"/><Relationship Id="rId3" Type="http://schemas.openxmlformats.org/officeDocument/2006/relationships/image" Target="../media/image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image" Target="../media/image69.png"/><Relationship Id="rId6" Type="http://schemas.openxmlformats.org/officeDocument/2006/relationships/image" Target="../media/image8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3" Type="http://schemas.openxmlformats.org/officeDocument/2006/relationships/image" Target="../media/image7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image" Target="../media/image77.png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8.png"/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84.png"/><Relationship Id="rId8" Type="http://schemas.openxmlformats.org/officeDocument/2006/relationships/image" Target="../media/image83.png"/><Relationship Id="rId7" Type="http://schemas.openxmlformats.org/officeDocument/2006/relationships/image" Target="../media/image82.png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Relationship Id="rId3" Type="http://schemas.openxmlformats.org/officeDocument/2006/relationships/image" Target="../media/image7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image" Target="../media/image88.jpeg"/><Relationship Id="rId5" Type="http://schemas.openxmlformats.org/officeDocument/2006/relationships/image" Target="../media/image87.jpeg"/><Relationship Id="rId4" Type="http://schemas.openxmlformats.org/officeDocument/2006/relationships/image" Target="../media/image86.png"/><Relationship Id="rId3" Type="http://schemas.openxmlformats.org/officeDocument/2006/relationships/image" Target="../media/image8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95.png"/><Relationship Id="rId8" Type="http://schemas.openxmlformats.org/officeDocument/2006/relationships/image" Target="../media/image94.png"/><Relationship Id="rId7" Type="http://schemas.openxmlformats.org/officeDocument/2006/relationships/image" Target="../media/image93.png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Relationship Id="rId3" Type="http://schemas.openxmlformats.org/officeDocument/2006/relationships/image" Target="../media/image8.png"/><Relationship Id="rId2" Type="http://schemas.openxmlformats.org/officeDocument/2006/relationships/image" Target="../media/image89.png"/><Relationship Id="rId15" Type="http://schemas.openxmlformats.org/officeDocument/2006/relationships/image" Target="../media/image101.png"/><Relationship Id="rId14" Type="http://schemas.openxmlformats.org/officeDocument/2006/relationships/image" Target="../media/image100.png"/><Relationship Id="rId13" Type="http://schemas.openxmlformats.org/officeDocument/2006/relationships/image" Target="../media/image99.png"/><Relationship Id="rId12" Type="http://schemas.openxmlformats.org/officeDocument/2006/relationships/image" Target="../media/image98.png"/><Relationship Id="rId11" Type="http://schemas.openxmlformats.org/officeDocument/2006/relationships/image" Target="../media/image97.png"/><Relationship Id="rId10" Type="http://schemas.openxmlformats.org/officeDocument/2006/relationships/image" Target="../media/image9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image" Target="../media/image106.png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Relationship Id="rId3" Type="http://schemas.openxmlformats.org/officeDocument/2006/relationships/image" Target="../media/image8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3.png"/><Relationship Id="rId8" Type="http://schemas.openxmlformats.org/officeDocument/2006/relationships/image" Target="../media/image112.png"/><Relationship Id="rId7" Type="http://schemas.openxmlformats.org/officeDocument/2006/relationships/image" Target="../media/image111.png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Relationship Id="rId3" Type="http://schemas.openxmlformats.org/officeDocument/2006/relationships/image" Target="../media/image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image" Target="../media/image115.png"/><Relationship Id="rId3" Type="http://schemas.openxmlformats.org/officeDocument/2006/relationships/image" Target="../media/image8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image" Target="../media/image117.png"/><Relationship Id="rId3" Type="http://schemas.openxmlformats.org/officeDocument/2006/relationships/image" Target="../media/image8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image" Target="../media/image121.png"/><Relationship Id="rId5" Type="http://schemas.openxmlformats.org/officeDocument/2006/relationships/image" Target="../media/image120.png"/><Relationship Id="rId4" Type="http://schemas.openxmlformats.org/officeDocument/2006/relationships/image" Target="../media/image119.png"/><Relationship Id="rId3" Type="http://schemas.openxmlformats.org/officeDocument/2006/relationships/image" Target="../media/image1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image" Target="../media/image124.png"/><Relationship Id="rId3" Type="http://schemas.openxmlformats.org/officeDocument/2006/relationships/image" Target="../media/image8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image" Target="../media/image126.png"/><Relationship Id="rId3" Type="http://schemas.openxmlformats.org/officeDocument/2006/relationships/image" Target="../media/image8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3.png"/><Relationship Id="rId8" Type="http://schemas.openxmlformats.org/officeDocument/2006/relationships/image" Target="../media/image132.png"/><Relationship Id="rId7" Type="http://schemas.openxmlformats.org/officeDocument/2006/relationships/image" Target="../media/image131.png"/><Relationship Id="rId6" Type="http://schemas.openxmlformats.org/officeDocument/2006/relationships/image" Target="../media/image130.png"/><Relationship Id="rId5" Type="http://schemas.openxmlformats.org/officeDocument/2006/relationships/image" Target="../media/image129.png"/><Relationship Id="rId4" Type="http://schemas.openxmlformats.org/officeDocument/2006/relationships/image" Target="../media/image128.png"/><Relationship Id="rId3" Type="http://schemas.openxmlformats.org/officeDocument/2006/relationships/image" Target="../media/image8.png"/><Relationship Id="rId2" Type="http://schemas.openxmlformats.org/officeDocument/2006/relationships/image" Target="../media/image127.png"/><Relationship Id="rId10" Type="http://schemas.openxmlformats.org/officeDocument/2006/relationships/image" Target="../media/image13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7" Type="http://schemas.openxmlformats.org/officeDocument/2006/relationships/image" Target="../media/image140.png"/><Relationship Id="rId6" Type="http://schemas.openxmlformats.org/officeDocument/2006/relationships/image" Target="../media/image139.png"/><Relationship Id="rId5" Type="http://schemas.openxmlformats.org/officeDocument/2006/relationships/image" Target="../media/image138.png"/><Relationship Id="rId4" Type="http://schemas.openxmlformats.org/officeDocument/2006/relationships/image" Target="../media/image137.png"/><Relationship Id="rId3" Type="http://schemas.openxmlformats.org/officeDocument/2006/relationships/image" Target="../media/image8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7.png"/><Relationship Id="rId8" Type="http://schemas.openxmlformats.org/officeDocument/2006/relationships/image" Target="../media/image146.png"/><Relationship Id="rId7" Type="http://schemas.openxmlformats.org/officeDocument/2006/relationships/image" Target="../media/image145.png"/><Relationship Id="rId6" Type="http://schemas.openxmlformats.org/officeDocument/2006/relationships/image" Target="../media/image144.png"/><Relationship Id="rId5" Type="http://schemas.openxmlformats.org/officeDocument/2006/relationships/image" Target="../media/image143.png"/><Relationship Id="rId4" Type="http://schemas.openxmlformats.org/officeDocument/2006/relationships/image" Target="../media/image8.png"/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7" Type="http://schemas.openxmlformats.org/officeDocument/2006/relationships/image" Target="../media/image152.png"/><Relationship Id="rId6" Type="http://schemas.openxmlformats.org/officeDocument/2006/relationships/image" Target="../media/image151.png"/><Relationship Id="rId5" Type="http://schemas.openxmlformats.org/officeDocument/2006/relationships/image" Target="../media/image150.png"/><Relationship Id="rId4" Type="http://schemas.openxmlformats.org/officeDocument/2006/relationships/image" Target="../media/image149.png"/><Relationship Id="rId3" Type="http://schemas.openxmlformats.org/officeDocument/2006/relationships/image" Target="../media/image8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1.png"/><Relationship Id="rId8" Type="http://schemas.openxmlformats.org/officeDocument/2006/relationships/image" Target="../media/image160.png"/><Relationship Id="rId7" Type="http://schemas.openxmlformats.org/officeDocument/2006/relationships/image" Target="../media/image159.png"/><Relationship Id="rId6" Type="http://schemas.openxmlformats.org/officeDocument/2006/relationships/image" Target="../media/image158.png"/><Relationship Id="rId5" Type="http://schemas.openxmlformats.org/officeDocument/2006/relationships/image" Target="../media/image157.png"/><Relationship Id="rId4" Type="http://schemas.openxmlformats.org/officeDocument/2006/relationships/image" Target="../media/image8.png"/><Relationship Id="rId3" Type="http://schemas.openxmlformats.org/officeDocument/2006/relationships/image" Target="../media/image156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8.png"/><Relationship Id="rId8" Type="http://schemas.openxmlformats.org/officeDocument/2006/relationships/image" Target="../media/image167.png"/><Relationship Id="rId7" Type="http://schemas.openxmlformats.org/officeDocument/2006/relationships/image" Target="../media/image166.png"/><Relationship Id="rId6" Type="http://schemas.openxmlformats.org/officeDocument/2006/relationships/image" Target="../media/image165.png"/><Relationship Id="rId5" Type="http://schemas.openxmlformats.org/officeDocument/2006/relationships/image" Target="../media/image164.png"/><Relationship Id="rId4" Type="http://schemas.openxmlformats.org/officeDocument/2006/relationships/image" Target="../media/image8.png"/><Relationship Id="rId3" Type="http://schemas.openxmlformats.org/officeDocument/2006/relationships/image" Target="../media/image163.png"/><Relationship Id="rId2" Type="http://schemas.openxmlformats.org/officeDocument/2006/relationships/image" Target="../media/image162.png"/><Relationship Id="rId10" Type="http://schemas.openxmlformats.org/officeDocument/2006/relationships/image" Target="../media/image169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png"/><Relationship Id="rId7" Type="http://schemas.openxmlformats.org/officeDocument/2006/relationships/image" Target="../media/image174.png"/><Relationship Id="rId6" Type="http://schemas.openxmlformats.org/officeDocument/2006/relationships/image" Target="../media/image173.png"/><Relationship Id="rId5" Type="http://schemas.openxmlformats.org/officeDocument/2006/relationships/image" Target="../media/image172.png"/><Relationship Id="rId4" Type="http://schemas.openxmlformats.org/officeDocument/2006/relationships/image" Target="../media/image8.png"/><Relationship Id="rId3" Type="http://schemas.openxmlformats.org/officeDocument/2006/relationships/image" Target="../media/image171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3.png"/><Relationship Id="rId8" Type="http://schemas.openxmlformats.org/officeDocument/2006/relationships/image" Target="../media/image182.png"/><Relationship Id="rId7" Type="http://schemas.openxmlformats.org/officeDocument/2006/relationships/image" Target="../media/image181.png"/><Relationship Id="rId6" Type="http://schemas.openxmlformats.org/officeDocument/2006/relationships/image" Target="../media/image180.png"/><Relationship Id="rId5" Type="http://schemas.openxmlformats.org/officeDocument/2006/relationships/image" Target="../media/image179.png"/><Relationship Id="rId4" Type="http://schemas.openxmlformats.org/officeDocument/2006/relationships/image" Target="../media/image8.png"/><Relationship Id="rId3" Type="http://schemas.openxmlformats.org/officeDocument/2006/relationships/image" Target="../media/image178.png"/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image" Target="../media/image186.png"/><Relationship Id="rId4" Type="http://schemas.openxmlformats.org/officeDocument/2006/relationships/image" Target="../media/image185.png"/><Relationship Id="rId3" Type="http://schemas.openxmlformats.org/officeDocument/2006/relationships/image" Target="../media/image8.png"/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image" Target="../media/image189.png"/><Relationship Id="rId4" Type="http://schemas.openxmlformats.org/officeDocument/2006/relationships/image" Target="../media/image8.png"/><Relationship Id="rId3" Type="http://schemas.openxmlformats.org/officeDocument/2006/relationships/image" Target="../media/image188.png"/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image" Target="../media/image191.png"/><Relationship Id="rId3" Type="http://schemas.openxmlformats.org/officeDocument/2006/relationships/image" Target="../media/image8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9.jpeg"/><Relationship Id="rId8" Type="http://schemas.openxmlformats.org/officeDocument/2006/relationships/image" Target="../media/image198.jpeg"/><Relationship Id="rId7" Type="http://schemas.openxmlformats.org/officeDocument/2006/relationships/image" Target="../media/image197.jpeg"/><Relationship Id="rId6" Type="http://schemas.openxmlformats.org/officeDocument/2006/relationships/image" Target="../media/image196.jpeg"/><Relationship Id="rId5" Type="http://schemas.openxmlformats.org/officeDocument/2006/relationships/image" Target="../media/image195.jpeg"/><Relationship Id="rId4" Type="http://schemas.openxmlformats.org/officeDocument/2006/relationships/image" Target="../media/image194.jpeg"/><Relationship Id="rId3" Type="http://schemas.openxmlformats.org/officeDocument/2006/relationships/image" Target="../media/image193.png"/><Relationship Id="rId2" Type="http://schemas.openxmlformats.org/officeDocument/2006/relationships/image" Target="../media/image8.png"/><Relationship Id="rId15" Type="http://schemas.openxmlformats.org/officeDocument/2006/relationships/image" Target="../media/image205.png"/><Relationship Id="rId14" Type="http://schemas.openxmlformats.org/officeDocument/2006/relationships/image" Target="../media/image204.png"/><Relationship Id="rId13" Type="http://schemas.openxmlformats.org/officeDocument/2006/relationships/image" Target="../media/image203.png"/><Relationship Id="rId12" Type="http://schemas.openxmlformats.org/officeDocument/2006/relationships/image" Target="../media/image202.png"/><Relationship Id="rId11" Type="http://schemas.openxmlformats.org/officeDocument/2006/relationships/image" Target="../media/image201.png"/><Relationship Id="rId10" Type="http://schemas.openxmlformats.org/officeDocument/2006/relationships/image" Target="../media/image200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2.png"/><Relationship Id="rId8" Type="http://schemas.openxmlformats.org/officeDocument/2006/relationships/image" Target="../media/image211.png"/><Relationship Id="rId7" Type="http://schemas.openxmlformats.org/officeDocument/2006/relationships/image" Target="../media/image210.png"/><Relationship Id="rId6" Type="http://schemas.openxmlformats.org/officeDocument/2006/relationships/image" Target="../media/image8.png"/><Relationship Id="rId5" Type="http://schemas.openxmlformats.org/officeDocument/2006/relationships/image" Target="../media/image209.png"/><Relationship Id="rId4" Type="http://schemas.openxmlformats.org/officeDocument/2006/relationships/image" Target="../media/image208.png"/><Relationship Id="rId3" Type="http://schemas.openxmlformats.org/officeDocument/2006/relationships/image" Target="../media/image207.png"/><Relationship Id="rId2" Type="http://schemas.openxmlformats.org/officeDocument/2006/relationships/image" Target="../media/image206.png"/><Relationship Id="rId15" Type="http://schemas.openxmlformats.org/officeDocument/2006/relationships/image" Target="../media/image218.png"/><Relationship Id="rId14" Type="http://schemas.openxmlformats.org/officeDocument/2006/relationships/image" Target="../media/image217.png"/><Relationship Id="rId13" Type="http://schemas.openxmlformats.org/officeDocument/2006/relationships/image" Target="../media/image216.png"/><Relationship Id="rId12" Type="http://schemas.openxmlformats.org/officeDocument/2006/relationships/image" Target="../media/image215.png"/><Relationship Id="rId11" Type="http://schemas.openxmlformats.org/officeDocument/2006/relationships/image" Target="../media/image214.png"/><Relationship Id="rId10" Type="http://schemas.openxmlformats.org/officeDocument/2006/relationships/image" Target="../media/image213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5.png"/><Relationship Id="rId8" Type="http://schemas.openxmlformats.org/officeDocument/2006/relationships/image" Target="../media/image224.png"/><Relationship Id="rId7" Type="http://schemas.openxmlformats.org/officeDocument/2006/relationships/image" Target="../media/image223.png"/><Relationship Id="rId6" Type="http://schemas.openxmlformats.org/officeDocument/2006/relationships/image" Target="../media/image222.png"/><Relationship Id="rId5" Type="http://schemas.openxmlformats.org/officeDocument/2006/relationships/image" Target="../media/image221.png"/><Relationship Id="rId4" Type="http://schemas.openxmlformats.org/officeDocument/2006/relationships/image" Target="../media/image220.png"/><Relationship Id="rId3" Type="http://schemas.openxmlformats.org/officeDocument/2006/relationships/image" Target="../media/image21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7" Type="http://schemas.openxmlformats.org/officeDocument/2006/relationships/image" Target="../media/image230.png"/><Relationship Id="rId6" Type="http://schemas.openxmlformats.org/officeDocument/2006/relationships/image" Target="../media/image229.png"/><Relationship Id="rId5" Type="http://schemas.openxmlformats.org/officeDocument/2006/relationships/image" Target="../media/image228.png"/><Relationship Id="rId4" Type="http://schemas.openxmlformats.org/officeDocument/2006/relationships/image" Target="../media/image227.png"/><Relationship Id="rId3" Type="http://schemas.openxmlformats.org/officeDocument/2006/relationships/image" Target="../media/image22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7" Type="http://schemas.openxmlformats.org/officeDocument/2006/relationships/image" Target="../media/image235.png"/><Relationship Id="rId6" Type="http://schemas.openxmlformats.org/officeDocument/2006/relationships/image" Target="../media/image234.png"/><Relationship Id="rId5" Type="http://schemas.openxmlformats.org/officeDocument/2006/relationships/image" Target="../media/image233.png"/><Relationship Id="rId4" Type="http://schemas.openxmlformats.org/officeDocument/2006/relationships/image" Target="../media/image232.png"/><Relationship Id="rId3" Type="http://schemas.openxmlformats.org/officeDocument/2006/relationships/image" Target="../media/image8.png"/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37.png"/><Relationship Id="rId3" Type="http://schemas.openxmlformats.org/officeDocument/2006/relationships/image" Target="../media/image8.png"/><Relationship Id="rId2" Type="http://schemas.openxmlformats.org/officeDocument/2006/relationships/image" Target="../media/image236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7" Type="http://schemas.openxmlformats.org/officeDocument/2006/relationships/image" Target="../media/image242.png"/><Relationship Id="rId6" Type="http://schemas.openxmlformats.org/officeDocument/2006/relationships/image" Target="../media/image241.png"/><Relationship Id="rId5" Type="http://schemas.openxmlformats.org/officeDocument/2006/relationships/image" Target="../media/image240.png"/><Relationship Id="rId4" Type="http://schemas.openxmlformats.org/officeDocument/2006/relationships/image" Target="../media/image239.png"/><Relationship Id="rId3" Type="http://schemas.openxmlformats.org/officeDocument/2006/relationships/image" Target="../media/image23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6" Type="http://schemas.openxmlformats.org/officeDocument/2006/relationships/image" Target="../media/image246.png"/><Relationship Id="rId5" Type="http://schemas.openxmlformats.org/officeDocument/2006/relationships/image" Target="../media/image245.png"/><Relationship Id="rId4" Type="http://schemas.openxmlformats.org/officeDocument/2006/relationships/image" Target="../media/image244.png"/><Relationship Id="rId3" Type="http://schemas.openxmlformats.org/officeDocument/2006/relationships/image" Target="../media/image24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3.jpeg"/><Relationship Id="rId8" Type="http://schemas.openxmlformats.org/officeDocument/2006/relationships/image" Target="../media/image252.png"/><Relationship Id="rId7" Type="http://schemas.openxmlformats.org/officeDocument/2006/relationships/image" Target="../media/image251.png"/><Relationship Id="rId6" Type="http://schemas.openxmlformats.org/officeDocument/2006/relationships/image" Target="../media/image250.png"/><Relationship Id="rId5" Type="http://schemas.openxmlformats.org/officeDocument/2006/relationships/image" Target="../media/image8.png"/><Relationship Id="rId4" Type="http://schemas.openxmlformats.org/officeDocument/2006/relationships/image" Target="../media/image249.png"/><Relationship Id="rId3" Type="http://schemas.openxmlformats.org/officeDocument/2006/relationships/image" Target="../media/image248.png"/><Relationship Id="rId20" Type="http://schemas.openxmlformats.org/officeDocument/2006/relationships/image" Target="../media/image264.jpeg"/><Relationship Id="rId2" Type="http://schemas.openxmlformats.org/officeDocument/2006/relationships/image" Target="../media/image247.png"/><Relationship Id="rId19" Type="http://schemas.openxmlformats.org/officeDocument/2006/relationships/image" Target="../media/image263.jpeg"/><Relationship Id="rId18" Type="http://schemas.openxmlformats.org/officeDocument/2006/relationships/image" Target="../media/image262.jpeg"/><Relationship Id="rId17" Type="http://schemas.openxmlformats.org/officeDocument/2006/relationships/image" Target="../media/image261.jpeg"/><Relationship Id="rId16" Type="http://schemas.openxmlformats.org/officeDocument/2006/relationships/image" Target="../media/image260.jpeg"/><Relationship Id="rId15" Type="http://schemas.openxmlformats.org/officeDocument/2006/relationships/image" Target="../media/image259.jpeg"/><Relationship Id="rId14" Type="http://schemas.openxmlformats.org/officeDocument/2006/relationships/image" Target="../media/image258.png"/><Relationship Id="rId13" Type="http://schemas.openxmlformats.org/officeDocument/2006/relationships/image" Target="../media/image257.png"/><Relationship Id="rId12" Type="http://schemas.openxmlformats.org/officeDocument/2006/relationships/image" Target="../media/image256.png"/><Relationship Id="rId11" Type="http://schemas.openxmlformats.org/officeDocument/2006/relationships/image" Target="../media/image255.jpeg"/><Relationship Id="rId10" Type="http://schemas.openxmlformats.org/officeDocument/2006/relationships/image" Target="../media/image254.jpe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1.png"/><Relationship Id="rId8" Type="http://schemas.openxmlformats.org/officeDocument/2006/relationships/image" Target="../media/image270.png"/><Relationship Id="rId7" Type="http://schemas.openxmlformats.org/officeDocument/2006/relationships/image" Target="../media/image269.png"/><Relationship Id="rId6" Type="http://schemas.openxmlformats.org/officeDocument/2006/relationships/image" Target="../media/image268.png"/><Relationship Id="rId5" Type="http://schemas.openxmlformats.org/officeDocument/2006/relationships/image" Target="../media/image267.png"/><Relationship Id="rId4" Type="http://schemas.openxmlformats.org/officeDocument/2006/relationships/image" Target="../media/image266.png"/><Relationship Id="rId3" Type="http://schemas.openxmlformats.org/officeDocument/2006/relationships/image" Target="../media/image26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8.png"/><Relationship Id="rId7" Type="http://schemas.openxmlformats.org/officeDocument/2006/relationships/image" Target="../media/image277.png"/><Relationship Id="rId6" Type="http://schemas.openxmlformats.org/officeDocument/2006/relationships/image" Target="../media/image276.png"/><Relationship Id="rId5" Type="http://schemas.openxmlformats.org/officeDocument/2006/relationships/image" Target="../media/image275.png"/><Relationship Id="rId4" Type="http://schemas.openxmlformats.org/officeDocument/2006/relationships/image" Target="../media/image274.png"/><Relationship Id="rId3" Type="http://schemas.openxmlformats.org/officeDocument/2006/relationships/image" Target="../media/image273.png"/><Relationship Id="rId2" Type="http://schemas.openxmlformats.org/officeDocument/2006/relationships/image" Target="../media/image27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77291" y="595858"/>
            <a:ext cx="4931904" cy="5276608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1600000">
            <a:off x="6350533" y="3905440"/>
            <a:ext cx="5841466" cy="2952559"/>
            <a:chOff x="0" y="0"/>
            <a:chExt cx="5841466" cy="2952559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5841466" cy="2952559"/>
            </a:xfrm>
            <a:prstGeom prst="rect">
              <a:avLst/>
            </a:prstGeom>
          </p:spPr>
        </p:pic>
        <p:sp>
          <p:nvSpPr>
            <p:cNvPr id="6" name="textbox 6"/>
            <p:cNvSpPr/>
            <p:nvPr/>
          </p:nvSpPr>
          <p:spPr>
            <a:xfrm>
              <a:off x="857163" y="327650"/>
              <a:ext cx="3007995" cy="2520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1781"/>
                </a:lnSpc>
                <a:tabLst/>
              </a:pPr>
              <a:r>
                <a:rPr sz="1400" kern="0" spc="-2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巨沃科技</a:t>
              </a:r>
              <a:r>
                <a:rPr sz="1400" kern="0" spc="22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400" kern="0" spc="-2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| 数字化供应链可视管理专家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8" name="textbox 8"/>
          <p:cNvSpPr/>
          <p:nvPr/>
        </p:nvSpPr>
        <p:spPr>
          <a:xfrm>
            <a:off x="6381813" y="2134025"/>
            <a:ext cx="4669790" cy="13328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1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4400" b="1" kern="0" spc="-20" dirty="0">
                <a:solidFill>
                  <a:srgbClr val="E52F3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GWALL-YMS</a:t>
            </a:r>
            <a:endParaRPr sz="4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4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7465" algn="l" rtl="0" eaLnBrk="0">
              <a:lnSpc>
                <a:spcPct val="87000"/>
              </a:lnSpc>
              <a:tabLst/>
            </a:pPr>
            <a:r>
              <a:rPr sz="45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园区物流管理系统</a:t>
            </a:r>
            <a:endParaRPr sz="4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717741" y="0"/>
            <a:ext cx="2593950" cy="1019492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>
            <a:off x="366420" y="6453047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43939" y="5945289"/>
            <a:ext cx="324078" cy="323431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315522" y="595858"/>
            <a:ext cx="295250" cy="230987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350533" y="3883215"/>
            <a:ext cx="774864" cy="571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21600000">
            <a:off x="998562" y="1551483"/>
            <a:ext cx="4471161" cy="4167173"/>
            <a:chOff x="0" y="0"/>
            <a:chExt cx="4471161" cy="4167173"/>
          </a:xfrm>
        </p:grpSpPr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471161" cy="4167173"/>
            </a:xfrm>
            <a:prstGeom prst="rect">
              <a:avLst/>
            </a:prstGeom>
          </p:spPr>
        </p:pic>
        <p:sp>
          <p:nvSpPr>
            <p:cNvPr id="22" name="textbox 22"/>
            <p:cNvSpPr/>
            <p:nvPr/>
          </p:nvSpPr>
          <p:spPr>
            <a:xfrm>
              <a:off x="1550485" y="1597256"/>
              <a:ext cx="1410335" cy="89471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6766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337184" algn="l" rtl="0" eaLnBrk="0">
                <a:lnSpc>
                  <a:spcPct val="82000"/>
                </a:lnSpc>
                <a:tabLst/>
              </a:pPr>
              <a:r>
                <a:rPr sz="3300" b="1" kern="0" spc="-19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目录</a:t>
              </a:r>
              <a:endParaRPr sz="33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4000"/>
                </a:lnSpc>
                <a:spcBef>
                  <a:spcPts val="5"/>
                </a:spcBef>
                <a:tabLst/>
              </a:pPr>
              <a:r>
                <a:rPr sz="2000" kern="0" spc="-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CONTENTS</a:t>
              </a:r>
              <a:endParaRPr sz="20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24" name="textbox 24"/>
          <p:cNvSpPr/>
          <p:nvPr/>
        </p:nvSpPr>
        <p:spPr>
          <a:xfrm>
            <a:off x="7697216" y="1950745"/>
            <a:ext cx="1802129" cy="32696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700" kern="0" spc="60" dirty="0">
                <a:solidFill>
                  <a:srgbClr val="E7E6E6">
                    <a:alpha val="100000"/>
                  </a:srgbClr>
                </a:solidFill>
                <a:latin typeface="Arial"/>
                <a:ea typeface="Arial"/>
                <a:cs typeface="Arial"/>
              </a:rPr>
              <a:t>b</a:t>
            </a:r>
            <a:r>
              <a:rPr sz="1700" kern="0" spc="0" dirty="0">
                <a:solidFill>
                  <a:srgbClr val="E7E6E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行业洞察分析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514"/>
              </a:spcBef>
              <a:tabLst/>
            </a:pPr>
            <a:r>
              <a:rPr sz="1700" kern="0" spc="60" dirty="0">
                <a:solidFill>
                  <a:srgbClr val="E7E6E6">
                    <a:alpha val="100000"/>
                  </a:srgbClr>
                </a:solidFill>
                <a:latin typeface="Arial"/>
                <a:ea typeface="Arial"/>
                <a:cs typeface="Arial"/>
              </a:rPr>
              <a:t>b</a:t>
            </a:r>
            <a:r>
              <a:rPr sz="1700" kern="0" spc="0" dirty="0">
                <a:solidFill>
                  <a:srgbClr val="E7E6E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产品功能概述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516"/>
              </a:spcBef>
              <a:tabLst/>
            </a:pPr>
            <a:r>
              <a:rPr sz="1700" kern="0" spc="60" dirty="0">
                <a:solidFill>
                  <a:srgbClr val="E7E6E6">
                    <a:alpha val="100000"/>
                  </a:srgbClr>
                </a:solidFill>
                <a:latin typeface="Arial"/>
                <a:ea typeface="Arial"/>
                <a:cs typeface="Arial"/>
              </a:rPr>
              <a:t>b</a:t>
            </a:r>
            <a:r>
              <a:rPr sz="1700" kern="0" spc="0" dirty="0">
                <a:solidFill>
                  <a:srgbClr val="E7E6E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系统业务说明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19379" algn="l" rtl="0" eaLnBrk="0">
              <a:lnSpc>
                <a:spcPct val="87000"/>
              </a:lnSpc>
              <a:spcBef>
                <a:spcPts val="510"/>
              </a:spcBef>
              <a:tabLst>
                <a:tab pos="426719" algn="l"/>
              </a:tabLst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实施交付体系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1700" kern="0" spc="60" dirty="0">
                <a:solidFill>
                  <a:srgbClr val="E7E6E6">
                    <a:alpha val="100000"/>
                  </a:srgbClr>
                </a:solidFill>
                <a:latin typeface="Arial"/>
                <a:ea typeface="Arial"/>
                <a:cs typeface="Arial"/>
              </a:rPr>
              <a:t>b</a:t>
            </a:r>
            <a:r>
              <a:rPr sz="1700" kern="0" spc="0" dirty="0">
                <a:solidFill>
                  <a:srgbClr val="E7E6E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项目价值效益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path 26"/>
          <p:cNvSpPr/>
          <p:nvPr/>
        </p:nvSpPr>
        <p:spPr>
          <a:xfrm>
            <a:off x="7709916" y="4261103"/>
            <a:ext cx="106680" cy="181355"/>
          </a:xfrm>
          <a:custGeom>
            <a:avLst/>
            <a:gdLst/>
            <a:ahLst/>
            <a:cxnLst/>
            <a:rect l="0" t="0" r="0" b="0"/>
            <a:pathLst>
              <a:path w="168" h="285">
                <a:moveTo>
                  <a:pt x="0" y="0"/>
                </a:moveTo>
                <a:lnTo>
                  <a:pt x="168" y="144"/>
                </a:lnTo>
                <a:lnTo>
                  <a:pt x="0" y="285"/>
                </a:lnTo>
                <a:lnTo>
                  <a:pt x="0" y="0"/>
                </a:lnTo>
              </a:path>
            </a:pathLst>
          </a:custGeom>
          <a:solidFill>
            <a:srgbClr val="E7E6E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652785" y="381062"/>
            <a:ext cx="1931803" cy="4126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6995078" y="1814699"/>
            <a:ext cx="570517" cy="545713"/>
            <a:chOff x="0" y="0"/>
            <a:chExt cx="570517" cy="545713"/>
          </a:xfrm>
        </p:grpSpPr>
        <p:pic>
          <p:nvPicPr>
            <p:cNvPr id="30" name="picture 3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570517" cy="545713"/>
            </a:xfrm>
            <a:prstGeom prst="rect">
              <a:avLst/>
            </a:prstGeom>
          </p:spPr>
        </p:pic>
        <p:sp>
          <p:nvSpPr>
            <p:cNvPr id="32" name="textbox 32"/>
            <p:cNvSpPr/>
            <p:nvPr/>
          </p:nvSpPr>
          <p:spPr>
            <a:xfrm>
              <a:off x="-12700" y="-12700"/>
              <a:ext cx="596265" cy="5715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  <a:tabLst/>
              </a:pPr>
              <a:endParaRPr sz="8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75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54304" algn="l" rtl="0" eaLnBrk="0">
                <a:lnSpc>
                  <a:spcPts val="2022"/>
                </a:lnSpc>
                <a:tabLst/>
              </a:pPr>
              <a:r>
                <a:rPr sz="1500" b="1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21600000">
            <a:off x="6995078" y="2569460"/>
            <a:ext cx="570517" cy="545713"/>
            <a:chOff x="0" y="0"/>
            <a:chExt cx="570517" cy="545713"/>
          </a:xfrm>
        </p:grpSpPr>
        <p:pic>
          <p:nvPicPr>
            <p:cNvPr id="34" name="picture 3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570517" cy="545713"/>
            </a:xfrm>
            <a:prstGeom prst="rect">
              <a:avLst/>
            </a:prstGeom>
          </p:spPr>
        </p:pic>
        <p:sp>
          <p:nvSpPr>
            <p:cNvPr id="36" name="textbox 36"/>
            <p:cNvSpPr/>
            <p:nvPr/>
          </p:nvSpPr>
          <p:spPr>
            <a:xfrm>
              <a:off x="-12700" y="-12700"/>
              <a:ext cx="596265" cy="5715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  <a:tabLst/>
              </a:pPr>
              <a:endParaRPr sz="8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75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54304" algn="l" rtl="0" eaLnBrk="0">
                <a:lnSpc>
                  <a:spcPts val="2022"/>
                </a:lnSpc>
                <a:tabLst/>
              </a:pPr>
              <a:r>
                <a:rPr sz="1500" b="1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 rot="21600000">
            <a:off x="6995078" y="3324221"/>
            <a:ext cx="570517" cy="545713"/>
            <a:chOff x="0" y="0"/>
            <a:chExt cx="570517" cy="545713"/>
          </a:xfrm>
        </p:grpSpPr>
        <p:pic>
          <p:nvPicPr>
            <p:cNvPr id="38" name="picture 3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570517" cy="545713"/>
            </a:xfrm>
            <a:prstGeom prst="rect">
              <a:avLst/>
            </a:prstGeom>
          </p:spPr>
        </p:pic>
        <p:sp>
          <p:nvSpPr>
            <p:cNvPr id="40" name="textbox 40"/>
            <p:cNvSpPr/>
            <p:nvPr/>
          </p:nvSpPr>
          <p:spPr>
            <a:xfrm>
              <a:off x="-12700" y="-12700"/>
              <a:ext cx="596265" cy="5715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  <a:tabLst/>
              </a:pPr>
              <a:endParaRPr sz="8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75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54304" algn="l" rtl="0" eaLnBrk="0">
                <a:lnSpc>
                  <a:spcPts val="2022"/>
                </a:lnSpc>
                <a:tabLst/>
              </a:pPr>
              <a:r>
                <a:rPr sz="1500" b="1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21600000">
            <a:off x="6995078" y="4078982"/>
            <a:ext cx="570517" cy="545712"/>
            <a:chOff x="0" y="0"/>
            <a:chExt cx="570517" cy="545712"/>
          </a:xfrm>
        </p:grpSpPr>
        <p:pic>
          <p:nvPicPr>
            <p:cNvPr id="42" name="picture 4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570517" cy="545712"/>
            </a:xfrm>
            <a:prstGeom prst="rect">
              <a:avLst/>
            </a:prstGeom>
          </p:spPr>
        </p:pic>
        <p:sp>
          <p:nvSpPr>
            <p:cNvPr id="44" name="textbox 44"/>
            <p:cNvSpPr/>
            <p:nvPr/>
          </p:nvSpPr>
          <p:spPr>
            <a:xfrm>
              <a:off x="-12700" y="-12700"/>
              <a:ext cx="596265" cy="5715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  <a:tabLst/>
              </a:pPr>
              <a:endParaRPr sz="8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75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54304" algn="l" rtl="0" eaLnBrk="0">
                <a:lnSpc>
                  <a:spcPts val="2022"/>
                </a:lnSpc>
                <a:tabLst/>
              </a:pPr>
              <a:r>
                <a:rPr sz="1500" b="1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04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21600000">
            <a:off x="6995078" y="4833743"/>
            <a:ext cx="570517" cy="545712"/>
            <a:chOff x="0" y="0"/>
            <a:chExt cx="570517" cy="545712"/>
          </a:xfrm>
        </p:grpSpPr>
        <p:pic>
          <p:nvPicPr>
            <p:cNvPr id="46" name="picture 4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570517" cy="545712"/>
            </a:xfrm>
            <a:prstGeom prst="rect">
              <a:avLst/>
            </a:prstGeom>
          </p:spPr>
        </p:pic>
        <p:sp>
          <p:nvSpPr>
            <p:cNvPr id="48" name="textbox 48"/>
            <p:cNvSpPr/>
            <p:nvPr/>
          </p:nvSpPr>
          <p:spPr>
            <a:xfrm>
              <a:off x="-12700" y="-12700"/>
              <a:ext cx="596265" cy="5715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  <a:tabLst/>
              </a:pPr>
              <a:endParaRPr sz="8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75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54304" algn="l" rtl="0" eaLnBrk="0">
                <a:lnSpc>
                  <a:spcPts val="2022"/>
                </a:lnSpc>
                <a:tabLst/>
              </a:pPr>
              <a:r>
                <a:rPr sz="1500" b="1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05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50" name="textbox 50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450847" y="2729483"/>
            <a:ext cx="9290304" cy="1399032"/>
          </a:xfrm>
          <a:prstGeom prst="rect">
            <a:avLst/>
          </a:prstGeom>
        </p:spPr>
      </p:pic>
      <p:sp>
        <p:nvSpPr>
          <p:cNvPr id="54" name="textbox 54"/>
          <p:cNvSpPr/>
          <p:nvPr/>
        </p:nvSpPr>
        <p:spPr>
          <a:xfrm>
            <a:off x="5108546" y="3534858"/>
            <a:ext cx="3430904" cy="372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6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6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物流园区管理转型背景</a:t>
            </a:r>
            <a:endParaRPr sz="26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6" name="picture 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652785" y="381062"/>
            <a:ext cx="1931803" cy="412600"/>
          </a:xfrm>
          <a:prstGeom prst="rect">
            <a:avLst/>
          </a:prstGeom>
        </p:spPr>
      </p:pic>
      <p:sp>
        <p:nvSpPr>
          <p:cNvPr id="58" name="textbox 58"/>
          <p:cNvSpPr/>
          <p:nvPr/>
        </p:nvSpPr>
        <p:spPr>
          <a:xfrm>
            <a:off x="5106789" y="3081047"/>
            <a:ext cx="1986914" cy="3409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2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2400" b="1" kern="0" spc="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行业洞察分析</a:t>
            </a:r>
            <a:endParaRPr sz="2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0" name="picture 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790048" y="2469375"/>
            <a:ext cx="527303" cy="767079"/>
          </a:xfrm>
          <a:prstGeom prst="rect">
            <a:avLst/>
          </a:prstGeom>
        </p:spPr>
      </p:pic>
      <p:sp>
        <p:nvSpPr>
          <p:cNvPr id="62" name="textbox 62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4" name="picture 6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842880" y="3700767"/>
            <a:ext cx="264159" cy="736600"/>
          </a:xfrm>
          <a:prstGeom prst="rect">
            <a:avLst/>
          </a:prstGeom>
        </p:spPr>
      </p:pic>
      <p:sp>
        <p:nvSpPr>
          <p:cNvPr id="66" name="path 66"/>
          <p:cNvSpPr/>
          <p:nvPr/>
        </p:nvSpPr>
        <p:spPr>
          <a:xfrm>
            <a:off x="5085588" y="3493008"/>
            <a:ext cx="3456431" cy="18288"/>
          </a:xfrm>
          <a:custGeom>
            <a:avLst/>
            <a:gdLst/>
            <a:ahLst/>
            <a:cxnLst/>
            <a:rect l="0" t="0" r="0" b="0"/>
            <a:pathLst>
              <a:path w="5443" h="28">
                <a:moveTo>
                  <a:pt x="0" y="0"/>
                </a:moveTo>
                <a:lnTo>
                  <a:pt x="5443" y="0"/>
                </a:lnTo>
                <a:lnTo>
                  <a:pt x="54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9D9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68"/>
          <p:cNvSpPr/>
          <p:nvPr/>
        </p:nvSpPr>
        <p:spPr>
          <a:xfrm>
            <a:off x="1123511" y="368362"/>
            <a:ext cx="10474325" cy="4597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3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传统物业向供应链协同转变             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70" name="picture 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572628" y="381062"/>
            <a:ext cx="1931803" cy="412600"/>
          </a:xfrm>
          <a:prstGeom prst="rect">
            <a:avLst/>
          </a:prstGeom>
        </p:spPr>
      </p:pic>
      <p:sp>
        <p:nvSpPr>
          <p:cNvPr id="72" name="textbox 72"/>
          <p:cNvSpPr/>
          <p:nvPr/>
        </p:nvSpPr>
        <p:spPr>
          <a:xfrm>
            <a:off x="4702250" y="3713753"/>
            <a:ext cx="2990850" cy="1288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684" algn="l" rtl="0" eaLnBrk="0">
              <a:lnSpc>
                <a:spcPct val="87000"/>
              </a:lnSpc>
              <a:tabLst/>
            </a:pPr>
            <a:r>
              <a:rPr sz="1500" b="1" kern="0" spc="90" dirty="0">
                <a:solidFill>
                  <a:srgbClr val="E52F3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智能技术驱动的协同升级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6000"/>
              </a:lnSpc>
              <a:spcBef>
                <a:spcPts val="363"/>
              </a:spcBef>
              <a:tabLst/>
            </a:pPr>
            <a:r>
              <a:rPr sz="12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借助预约机制</a:t>
            </a:r>
            <a:r>
              <a:rPr sz="1200" kern="0" spc="-2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、路径优化和智能调度</a:t>
            </a:r>
            <a:r>
              <a:rPr sz="12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等技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3970" algn="l" rtl="0" eaLnBrk="0">
              <a:lnSpc>
                <a:spcPct val="89000"/>
              </a:lnSpc>
              <a:spcBef>
                <a:spcPts val="536"/>
              </a:spcBef>
              <a:tabLst/>
            </a:pPr>
            <a:r>
              <a:rPr sz="12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术，供应链协同平台可动态管</a:t>
            </a:r>
            <a:r>
              <a:rPr sz="12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理车流</a:t>
            </a:r>
            <a:r>
              <a:rPr sz="1200" kern="0" spc="-13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、货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3495" indent="-10795" algn="l" rtl="0" eaLnBrk="0">
              <a:lnSpc>
                <a:spcPct val="119000"/>
              </a:lnSpc>
              <a:spcBef>
                <a:spcPts val="166"/>
              </a:spcBef>
              <a:tabLst/>
            </a:pPr>
            <a:r>
              <a:rPr sz="12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流，压缩车辆停留时间</a:t>
            </a:r>
            <a:r>
              <a:rPr sz="1200" kern="0" spc="-1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，实现“快进快出</a:t>
            </a:r>
            <a:r>
              <a:rPr sz="1200" kern="0" spc="-1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</a:t>
            </a:r>
            <a:r>
              <a:rPr sz="12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的高效运营目标</a:t>
            </a:r>
            <a:r>
              <a:rPr sz="1200" kern="0" spc="-19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74" name="picture 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660892" y="1577340"/>
            <a:ext cx="2560320" cy="1440179"/>
          </a:xfrm>
          <a:prstGeom prst="rect">
            <a:avLst/>
          </a:prstGeom>
        </p:spPr>
      </p:pic>
      <p:sp>
        <p:nvSpPr>
          <p:cNvPr id="76" name="textbox 76"/>
          <p:cNvSpPr/>
          <p:nvPr/>
        </p:nvSpPr>
        <p:spPr>
          <a:xfrm>
            <a:off x="1007224" y="3713551"/>
            <a:ext cx="2764154" cy="12896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2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87000"/>
              </a:lnSpc>
              <a:tabLst/>
            </a:pPr>
            <a:r>
              <a:rPr sz="1500" b="1" kern="0" spc="90" dirty="0">
                <a:solidFill>
                  <a:srgbClr val="E52F3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传统物业管理的局限性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23000"/>
              </a:lnSpc>
              <a:spcBef>
                <a:spcPts val="4"/>
              </a:spcBef>
              <a:tabLst/>
            </a:pPr>
            <a:r>
              <a:rPr sz="1200" kern="0" spc="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传统物业管理模式难以应对现</a:t>
            </a:r>
            <a:r>
              <a:rPr sz="12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代物流园区</a:t>
            </a:r>
            <a:r>
              <a:rPr sz="12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的动态需求，存在车辆拥堵</a:t>
            </a:r>
            <a:r>
              <a:rPr sz="1200" kern="0" spc="-5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、资源浪费和</a:t>
            </a:r>
            <a:r>
              <a:rPr sz="12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信息孤岛等问题，导致运营效率低下</a:t>
            </a:r>
            <a:r>
              <a:rPr sz="1200" kern="0" spc="-5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，亟</a:t>
            </a:r>
            <a:r>
              <a:rPr sz="12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需向供应链协同转型</a:t>
            </a:r>
            <a:r>
              <a:rPr sz="1200" kern="0" spc="-17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" name="textbox 78"/>
          <p:cNvSpPr/>
          <p:nvPr/>
        </p:nvSpPr>
        <p:spPr>
          <a:xfrm>
            <a:off x="8400465" y="3715577"/>
            <a:ext cx="2763520" cy="12877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88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500" b="1" kern="0" spc="90" dirty="0">
                <a:solidFill>
                  <a:srgbClr val="E52F3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数据整合与决策优化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22000"/>
              </a:lnSpc>
              <a:spcBef>
                <a:spcPts val="1"/>
              </a:spcBef>
              <a:tabLst/>
            </a:pPr>
            <a:r>
              <a:rPr sz="1200" kern="0" spc="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打破信息孤岛，构建统一数</a:t>
            </a:r>
            <a:r>
              <a:rPr sz="12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字平台，通过</a:t>
            </a:r>
            <a:r>
              <a:rPr sz="12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大数据分析预测流量</a:t>
            </a:r>
            <a:r>
              <a:rPr sz="1200" kern="0" spc="-2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、仓容等关键指标</a:t>
            </a:r>
            <a:r>
              <a:rPr sz="1200" kern="0" spc="-1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赋能智慧决策，进而提升园</a:t>
            </a:r>
            <a:r>
              <a:rPr sz="12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区整体协同管</a:t>
            </a:r>
            <a:r>
              <a:rPr sz="12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理水平</a:t>
            </a:r>
            <a:r>
              <a:rPr sz="1200" kern="0" spc="-2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" name="textbox 80"/>
          <p:cNvSpPr/>
          <p:nvPr/>
        </p:nvSpPr>
        <p:spPr>
          <a:xfrm>
            <a:off x="970573" y="2286851"/>
            <a:ext cx="6033134" cy="528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55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tabLst/>
            </a:pP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供应链协同，通过整合仓储</a:t>
            </a:r>
            <a:r>
              <a:rPr sz="1400" kern="0" spc="-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、物流</a:t>
            </a:r>
            <a:r>
              <a:rPr sz="1400" kern="0" spc="-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、车辆等资源</a:t>
            </a:r>
            <a:r>
              <a:rPr sz="1400" kern="0" spc="-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，实现高效调度与信息</a:t>
            </a:r>
            <a:r>
              <a:rPr sz="14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共享，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7779" algn="l" rtl="0" eaLnBrk="0">
              <a:lnSpc>
                <a:spcPts val="2519"/>
              </a:lnSpc>
              <a:tabLst/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显著提升园区运营效率，</a:t>
            </a:r>
            <a:r>
              <a:rPr sz="1400" kern="0" spc="-3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降低管理成本，满足多样化客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户需求。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" name="textbox 82"/>
          <p:cNvSpPr/>
          <p:nvPr/>
        </p:nvSpPr>
        <p:spPr>
          <a:xfrm>
            <a:off x="970788" y="1738680"/>
            <a:ext cx="2304414" cy="367665"/>
          </a:xfrm>
          <a:prstGeom prst="rect">
            <a:avLst/>
          </a:prstGeom>
          <a:solidFill>
            <a:srgbClr val="E52F3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63525" algn="l" rtl="0" eaLnBrk="0">
              <a:lnSpc>
                <a:spcPct val="86000"/>
              </a:lnSpc>
              <a:spcBef>
                <a:spcPts val="4"/>
              </a:spcBef>
              <a:tabLst/>
            </a:pPr>
            <a:r>
              <a:rPr sz="14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供应链协同的核心价值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" name="textbox 84"/>
          <p:cNvSpPr/>
          <p:nvPr/>
        </p:nvSpPr>
        <p:spPr>
          <a:xfrm>
            <a:off x="1011217" y="5323018"/>
            <a:ext cx="2684779" cy="210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资源浪费</a:t>
            </a:r>
            <a:r>
              <a:rPr sz="1400" kern="0" spc="-2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、信息孤岛</a:t>
            </a:r>
            <a:r>
              <a:rPr sz="1400" kern="0" spc="-2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、运营效率低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" name="textbox 86"/>
          <p:cNvSpPr/>
          <p:nvPr/>
        </p:nvSpPr>
        <p:spPr>
          <a:xfrm>
            <a:off x="4703028" y="5323732"/>
            <a:ext cx="2511425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在线预约</a:t>
            </a:r>
            <a:r>
              <a:rPr sz="1400" kern="0" spc="-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、路径优化</a:t>
            </a:r>
            <a:r>
              <a:rPr sz="1400" kern="0" spc="-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、智能调度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" name="textbox 88"/>
          <p:cNvSpPr/>
          <p:nvPr/>
        </p:nvSpPr>
        <p:spPr>
          <a:xfrm>
            <a:off x="8404641" y="5324268"/>
            <a:ext cx="2505710" cy="209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39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多维分析</a:t>
            </a:r>
            <a:r>
              <a:rPr sz="1400" kern="0" spc="-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、数据支撑</a:t>
            </a:r>
            <a:r>
              <a:rPr sz="1400" kern="0" spc="-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、智慧决策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0" name="textbox 90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92" name="picture 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77139" y="359395"/>
            <a:ext cx="584153" cy="473386"/>
          </a:xfrm>
          <a:prstGeom prst="rect">
            <a:avLst/>
          </a:prstGeom>
        </p:spPr>
      </p:pic>
      <p:pic>
        <p:nvPicPr>
          <p:cNvPr id="94" name="picture 9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703127" y="5159463"/>
            <a:ext cx="1440002" cy="7620"/>
          </a:xfrm>
          <a:prstGeom prst="rect">
            <a:avLst/>
          </a:prstGeom>
        </p:spPr>
      </p:pic>
      <p:pic>
        <p:nvPicPr>
          <p:cNvPr id="96" name="picture 9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007033" y="5159463"/>
            <a:ext cx="1440002" cy="7620"/>
          </a:xfrm>
          <a:prstGeom prst="rect">
            <a:avLst/>
          </a:prstGeom>
        </p:spPr>
      </p:pic>
      <p:pic>
        <p:nvPicPr>
          <p:cNvPr id="98" name="picture 9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399220" y="5159463"/>
            <a:ext cx="1440002" cy="76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00"/>
          <p:cNvSpPr/>
          <p:nvPr/>
        </p:nvSpPr>
        <p:spPr>
          <a:xfrm>
            <a:off x="8333302" y="2444637"/>
            <a:ext cx="3211195" cy="3255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7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184275" algn="l" rtl="0" eaLnBrk="0">
              <a:lnSpc>
                <a:spcPct val="86000"/>
              </a:lnSpc>
              <a:tabLst/>
            </a:pPr>
            <a:r>
              <a:rPr sz="1400" b="1" u="sng" kern="0" spc="-10" dirty="0">
                <a:solidFill>
                  <a:srgbClr val="E52F30">
                    <a:alpha val="100000"/>
                  </a:srgbClr>
                </a:solidFill>
                <a:uFill>
                  <a:solidFill>
                    <a:srgbClr val="D81E06"/>
                  </a:solidFill>
                </a:uFill>
                <a:latin typeface="Microsoft YaHei"/>
                <a:ea typeface="Microsoft YaHei"/>
                <a:cs typeface="Microsoft YaHei"/>
              </a:rPr>
              <a:t>数据管理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spcBef>
                <a:spcPts val="361"/>
              </a:spcBef>
              <a:tabLst/>
            </a:pPr>
            <a:r>
              <a:rPr sz="12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信息孤岛，</a:t>
            </a:r>
            <a:r>
              <a:rPr sz="1200" b="1" kern="0" spc="-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数据价值挖掘不足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27965" indent="-212090" algn="l" rtl="0" eaLnBrk="0">
              <a:lnSpc>
                <a:spcPct val="123000"/>
              </a:lnSpc>
              <a:spcBef>
                <a:spcPts val="748"/>
              </a:spcBef>
              <a:tabLst/>
            </a:pPr>
            <a:r>
              <a:rPr sz="1200" kern="0" spc="1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2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200" kern="0" spc="12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园区管理系统</a:t>
            </a:r>
            <a:r>
              <a:rPr sz="1200" kern="0" spc="-5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2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WMS</a:t>
            </a:r>
            <a:r>
              <a:rPr sz="1200" kern="0" spc="12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仓储系统</a:t>
            </a:r>
            <a:r>
              <a:rPr sz="1200" kern="0" spc="-7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2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TMS</a:t>
            </a:r>
            <a:r>
              <a:rPr sz="1200" kern="0" spc="8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物流系统</a:t>
            </a:r>
            <a:r>
              <a:rPr sz="1200" kern="0" spc="-9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、车辆管理系统</a:t>
            </a:r>
            <a:r>
              <a:rPr sz="1200" kern="0" spc="-8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、门禁安防系</a:t>
            </a:r>
            <a:r>
              <a:rPr sz="1200" kern="0" spc="8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统等联通性不足，</a:t>
            </a:r>
            <a:r>
              <a:rPr sz="1200" kern="0" spc="-24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形成</a:t>
            </a:r>
            <a:r>
              <a:rPr sz="1200" kern="0" spc="-25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“</a:t>
            </a:r>
            <a:r>
              <a:rPr sz="1200" kern="0" spc="7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信息孤岛</a:t>
            </a:r>
            <a:r>
              <a:rPr sz="1200" kern="0" spc="-10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”。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28600" indent="-212725" algn="l" rtl="0" eaLnBrk="0">
              <a:lnSpc>
                <a:spcPct val="124000"/>
              </a:lnSpc>
              <a:spcBef>
                <a:spcPts val="577"/>
              </a:spcBef>
              <a:tabLst/>
            </a:pPr>
            <a:r>
              <a:rPr sz="1200" kern="0" spc="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200" kern="0" spc="1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200" kern="0" spc="7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车流</a:t>
            </a:r>
            <a:r>
              <a:rPr sz="1200" kern="0" spc="-7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、货流</a:t>
            </a:r>
            <a:r>
              <a:rPr sz="1200" kern="0" spc="-9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、人流等海量运营数据无法</a:t>
            </a:r>
            <a:r>
              <a:rPr sz="1200" kern="0" spc="8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有效整合分析，</a:t>
            </a:r>
            <a:r>
              <a:rPr sz="1200" kern="0" spc="-25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用于优化决策</a:t>
            </a:r>
            <a:r>
              <a:rPr sz="1200" kern="0" spc="-19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5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84000"/>
              </a:lnSpc>
              <a:spcBef>
                <a:spcPts val="364"/>
              </a:spcBef>
              <a:tabLst/>
            </a:pPr>
            <a:r>
              <a:rPr sz="1200" kern="0" spc="-40" dirty="0">
                <a:solidFill>
                  <a:srgbClr val="E52F3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思考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indent="635" algn="l" rtl="0" eaLnBrk="0">
              <a:lnSpc>
                <a:spcPct val="112000"/>
              </a:lnSpc>
              <a:spcBef>
                <a:spcPts val="4"/>
              </a:spcBef>
              <a:tabLst/>
            </a:pPr>
            <a:r>
              <a:rPr sz="1200" kern="0" spc="-1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如何构建统一的数字平台，打通内外数</a:t>
            </a:r>
            <a:r>
              <a:rPr sz="1200" kern="0" spc="-2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据</a:t>
            </a:r>
            <a:r>
              <a:rPr sz="1200" kern="0" spc="-12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，并</a:t>
            </a:r>
            <a:r>
              <a:rPr sz="1200" kern="0" spc="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利用大数据技术进行信息分析</a:t>
            </a:r>
            <a:r>
              <a:rPr sz="1200" kern="0" spc="-12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，实现智慧预测</a:t>
            </a:r>
            <a:r>
              <a:rPr sz="1200" kern="0" spc="-20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决策等，达到协同高效</a:t>
            </a:r>
            <a:r>
              <a:rPr sz="1200" kern="0" spc="-1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管理目标；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2" name="textbox 102"/>
          <p:cNvSpPr/>
          <p:nvPr/>
        </p:nvSpPr>
        <p:spPr>
          <a:xfrm>
            <a:off x="4723117" y="2450408"/>
            <a:ext cx="3204845" cy="32397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185544" algn="l" rtl="0" eaLnBrk="0">
              <a:lnSpc>
                <a:spcPct val="86000"/>
              </a:lnSpc>
              <a:tabLst/>
            </a:pPr>
            <a:r>
              <a:rPr sz="1400" b="1" u="sng" kern="0" spc="-20" dirty="0">
                <a:solidFill>
                  <a:srgbClr val="E52F30">
                    <a:alpha val="100000"/>
                  </a:srgbClr>
                </a:solidFill>
                <a:uFill>
                  <a:solidFill>
                    <a:srgbClr val="D81E06"/>
                  </a:solidFill>
                </a:uFill>
                <a:latin typeface="Microsoft YaHei"/>
                <a:ea typeface="Microsoft YaHei"/>
                <a:cs typeface="Microsoft YaHei"/>
              </a:rPr>
              <a:t>运营管理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366"/>
              </a:spcBef>
              <a:tabLst/>
            </a:pPr>
            <a:r>
              <a:rPr sz="12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客户业务需求多样化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26695" indent="-210820" algn="l" rtl="0" eaLnBrk="0">
              <a:lnSpc>
                <a:spcPct val="120000"/>
              </a:lnSpc>
              <a:spcBef>
                <a:spcPts val="851"/>
              </a:spcBef>
              <a:tabLst/>
            </a:pPr>
            <a:r>
              <a:rPr sz="1200" kern="0" spc="8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200" kern="0" spc="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200" kern="0" spc="8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园区内可能同时存在零散物流</a:t>
            </a:r>
            <a:r>
              <a:rPr sz="1200" kern="0" spc="-7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、大货物</a:t>
            </a:r>
            <a:r>
              <a:rPr sz="1200" kern="0" spc="9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流；</a:t>
            </a:r>
            <a:r>
              <a:rPr sz="1200" kern="0" spc="-19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9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承接提货</a:t>
            </a:r>
            <a:r>
              <a:rPr sz="1200" kern="0" spc="-8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9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、送货业务以</a:t>
            </a:r>
            <a:r>
              <a:rPr sz="1200" kern="0" spc="8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及大客户定</a:t>
            </a:r>
            <a:r>
              <a:rPr sz="1200" kern="0" spc="4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制化服务</a:t>
            </a:r>
            <a:r>
              <a:rPr sz="1200" kern="0" spc="-11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4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、中小客户标准化服务体</a:t>
            </a:r>
            <a:r>
              <a:rPr sz="1200" kern="0" spc="3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系等</a:t>
            </a:r>
            <a:r>
              <a:rPr sz="1200" kern="0" spc="-19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27965" indent="-212090" algn="l" rtl="0" eaLnBrk="0">
              <a:lnSpc>
                <a:spcPct val="117000"/>
              </a:lnSpc>
              <a:spcBef>
                <a:spcPts val="782"/>
              </a:spcBef>
              <a:tabLst/>
            </a:pPr>
            <a:r>
              <a:rPr sz="1200" kern="0" spc="10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</a:t>
            </a:r>
            <a:r>
              <a:rPr sz="1200" kern="0" spc="10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参与到园区管理的物流公司水平不一</a:t>
            </a:r>
            <a:r>
              <a:rPr sz="1200" kern="0" spc="9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9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影响整体服务能力和服务效</a:t>
            </a:r>
            <a:r>
              <a:rPr sz="1200" kern="0" spc="8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率</a:t>
            </a:r>
            <a:r>
              <a:rPr sz="1200" kern="0" spc="-19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84000"/>
              </a:lnSpc>
              <a:spcBef>
                <a:spcPts val="368"/>
              </a:spcBef>
              <a:tabLst/>
            </a:pPr>
            <a:r>
              <a:rPr sz="1200" kern="0" spc="-40" dirty="0">
                <a:solidFill>
                  <a:srgbClr val="E52F3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思考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indent="635" algn="l" rtl="0" eaLnBrk="0">
              <a:lnSpc>
                <a:spcPct val="111000"/>
              </a:lnSpc>
              <a:spcBef>
                <a:spcPts val="5"/>
              </a:spcBef>
              <a:tabLst/>
            </a:pPr>
            <a:r>
              <a:rPr sz="1200" kern="0" spc="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如何提供差异化的服务和产品，建立统一的服</a:t>
            </a:r>
            <a:r>
              <a:rPr sz="1200" kern="0" spc="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务标准和监管机制，提升整个</a:t>
            </a:r>
            <a:r>
              <a:rPr sz="1200" kern="0" spc="-1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园区的服务下限，</a:t>
            </a:r>
            <a:r>
              <a:rPr sz="1200" kern="0" spc="-1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进而提高园区运营管理水平</a:t>
            </a:r>
            <a:r>
              <a:rPr sz="1200" kern="0" spc="-14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4" name="textbox 104"/>
          <p:cNvSpPr/>
          <p:nvPr/>
        </p:nvSpPr>
        <p:spPr>
          <a:xfrm>
            <a:off x="787358" y="2368829"/>
            <a:ext cx="3185795" cy="2157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5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7000"/>
              </a:lnSpc>
              <a:tabLst/>
            </a:pP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聚焦行业痛点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20320" algn="l" rtl="0" eaLnBrk="0">
              <a:lnSpc>
                <a:spcPct val="86000"/>
              </a:lnSpc>
              <a:spcBef>
                <a:spcPts val="1074"/>
              </a:spcBef>
              <a:tabLst/>
            </a:pPr>
            <a:r>
              <a:rPr sz="2000" u="sng" kern="0" spc="-20" dirty="0">
                <a:solidFill>
                  <a:srgbClr val="E52F30">
                    <a:alpha val="100000"/>
                  </a:srgbClr>
                </a:solidFill>
                <a:uFill>
                  <a:solidFill>
                    <a:srgbClr val="D9D9D9"/>
                  </a:solidFill>
                </a:uFill>
                <a:latin typeface="Microsoft YaHei"/>
                <a:ea typeface="Microsoft YaHei"/>
                <a:cs typeface="Microsoft YaHei"/>
              </a:rPr>
              <a:t>实现园区运营管理提升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5875" indent="-3175" algn="l" rtl="0" eaLnBrk="0">
              <a:lnSpc>
                <a:spcPct val="123000"/>
              </a:lnSpc>
              <a:spcBef>
                <a:spcPts val="1"/>
              </a:spcBef>
              <a:tabLst/>
            </a:pPr>
            <a:r>
              <a:rPr sz="1400" kern="0" spc="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现代物流园区管理正在</a:t>
            </a:r>
            <a:r>
              <a:rPr sz="1400" kern="0" spc="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从传统的 “物业</a:t>
            </a:r>
            <a:r>
              <a:rPr sz="1400" kern="0" spc="-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管理</a:t>
            </a:r>
            <a:r>
              <a:rPr sz="1400" kern="0" spc="-1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”向“供应链协同平台运营</a:t>
            </a:r>
            <a:r>
              <a:rPr sz="1400" kern="0" spc="-2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”转变，</a:t>
            </a:r>
            <a:r>
              <a:rPr sz="1400" kern="0" spc="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园区管理能力进一步体现现代仓储</a:t>
            </a:r>
            <a:r>
              <a:rPr sz="1400" kern="0" spc="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物流</a:t>
            </a: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的管理高度与水平。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6" name="textbox 106"/>
          <p:cNvSpPr/>
          <p:nvPr/>
        </p:nvSpPr>
        <p:spPr>
          <a:xfrm>
            <a:off x="364439" y="346695"/>
            <a:ext cx="11233150" cy="5226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87000"/>
              </a:lnSpc>
              <a:spcBef>
                <a:spcPts val="3"/>
              </a:spcBef>
              <a:tabLst>
                <a:tab pos="77152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行业当前管理痛点分析                                       </a:t>
            </a:r>
            <a:r>
              <a:rPr sz="27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8" name="picture 1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574920" y="381062"/>
            <a:ext cx="1931803" cy="412600"/>
          </a:xfrm>
          <a:prstGeom prst="rect">
            <a:avLst/>
          </a:prstGeom>
        </p:spPr>
      </p:pic>
      <p:pic>
        <p:nvPicPr>
          <p:cNvPr id="110" name="picture 1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77139" y="359395"/>
            <a:ext cx="584153" cy="473386"/>
          </a:xfrm>
          <a:prstGeom prst="rect">
            <a:avLst/>
          </a:prstGeom>
        </p:spPr>
      </p:pic>
      <p:pic>
        <p:nvPicPr>
          <p:cNvPr id="112" name="picture 1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266597" y="1261741"/>
            <a:ext cx="1205653" cy="1004504"/>
          </a:xfrm>
          <a:prstGeom prst="rect">
            <a:avLst/>
          </a:prstGeom>
        </p:spPr>
      </p:pic>
      <p:pic>
        <p:nvPicPr>
          <p:cNvPr id="114" name="picture 1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656241" y="1282009"/>
            <a:ext cx="1205653" cy="984237"/>
          </a:xfrm>
          <a:prstGeom prst="rect">
            <a:avLst/>
          </a:prstGeom>
        </p:spPr>
      </p:pic>
      <p:sp>
        <p:nvSpPr>
          <p:cNvPr id="116" name="textbox 116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box 118"/>
          <p:cNvSpPr/>
          <p:nvPr/>
        </p:nvSpPr>
        <p:spPr>
          <a:xfrm>
            <a:off x="783412" y="3377819"/>
            <a:ext cx="3174364" cy="24028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3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8000"/>
              </a:lnSpc>
              <a:tabLst/>
            </a:pPr>
            <a:r>
              <a:rPr sz="12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解决</a:t>
            </a:r>
            <a:r>
              <a:rPr sz="1200" b="1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“动态交通拥堵</a:t>
            </a:r>
            <a:r>
              <a:rPr sz="1200" b="1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”难</a:t>
            </a:r>
            <a:r>
              <a:rPr sz="12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题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31140" indent="-213995" algn="l" rtl="0" eaLnBrk="0">
              <a:lnSpc>
                <a:spcPct val="117000"/>
              </a:lnSpc>
              <a:spcBef>
                <a:spcPts val="871"/>
              </a:spcBef>
              <a:tabLst/>
            </a:pPr>
            <a:r>
              <a:rPr sz="1200" kern="0" spc="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200" kern="0" spc="1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200" kern="0" spc="7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车辆到达时间不规律，</a:t>
            </a:r>
            <a:r>
              <a:rPr sz="1200" kern="0" spc="-22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高峰期集中到达，</a:t>
            </a:r>
            <a:r>
              <a:rPr sz="1200" kern="0" spc="9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导致园区外道路和入口严重</a:t>
            </a:r>
            <a:r>
              <a:rPr sz="1200" kern="0" spc="8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拥堵</a:t>
            </a:r>
            <a:r>
              <a:rPr sz="1200" kern="0" spc="-19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29234" indent="-212090" algn="l" rtl="0" eaLnBrk="0">
              <a:lnSpc>
                <a:spcPct val="120000"/>
              </a:lnSpc>
              <a:spcBef>
                <a:spcPts val="780"/>
              </a:spcBef>
              <a:tabLst/>
            </a:pPr>
            <a:r>
              <a:rPr sz="1200" kern="0" spc="9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200" kern="0" spc="10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200" kern="0" spc="9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场内车辆停放难，</a:t>
            </a:r>
            <a:r>
              <a:rPr sz="1200" kern="0" spc="-19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9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无法协同仓配环节，</a:t>
            </a:r>
            <a:r>
              <a:rPr sz="1200" kern="0" spc="8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装卸效率低下，</a:t>
            </a:r>
            <a:r>
              <a:rPr sz="1200" kern="0" spc="-20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造成内部循环堵塞</a:t>
            </a:r>
            <a:r>
              <a:rPr sz="1200" kern="0" spc="-19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5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4000"/>
              </a:lnSpc>
              <a:spcBef>
                <a:spcPts val="361"/>
              </a:spcBef>
              <a:tabLst/>
            </a:pPr>
            <a:r>
              <a:rPr sz="1200" kern="0" spc="-40" dirty="0">
                <a:solidFill>
                  <a:srgbClr val="E52F3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思考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indent="1270" algn="l" rtl="0" eaLnBrk="0">
              <a:lnSpc>
                <a:spcPct val="111000"/>
              </a:lnSpc>
              <a:spcBef>
                <a:spcPts val="6"/>
              </a:spcBef>
              <a:tabLst/>
            </a:pPr>
            <a:r>
              <a:rPr sz="1200" kern="0" spc="-2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如何通过预约机制</a:t>
            </a:r>
            <a:r>
              <a:rPr sz="1200" kern="0" spc="-19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、路径优化</a:t>
            </a:r>
            <a:r>
              <a:rPr sz="1200" kern="0" spc="-12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、智能导引等手</a:t>
            </a:r>
            <a:r>
              <a:rPr sz="1200" kern="0" spc="-3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段</a:t>
            </a:r>
            <a:r>
              <a:rPr sz="1200" kern="0" spc="-13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，实现“快进快出</a:t>
            </a:r>
            <a:r>
              <a:rPr sz="1200" kern="0" spc="-11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、高</a:t>
            </a:r>
            <a:r>
              <a:rPr sz="1200" kern="0" spc="-4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效装卸</a:t>
            </a:r>
            <a:r>
              <a:rPr sz="1200" kern="0" spc="-12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4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”，压缩平均</a:t>
            </a:r>
            <a:r>
              <a:rPr sz="1200" kern="0" spc="-1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停留时间至最短</a:t>
            </a:r>
            <a:r>
              <a:rPr sz="1200" kern="0" spc="-19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0" name="textbox 120"/>
          <p:cNvSpPr/>
          <p:nvPr/>
        </p:nvSpPr>
        <p:spPr>
          <a:xfrm>
            <a:off x="8334299" y="3376997"/>
            <a:ext cx="3078479" cy="24136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1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ct val="87000"/>
              </a:lnSpc>
              <a:tabLst/>
            </a:pPr>
            <a:r>
              <a:rPr sz="12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智能仓储设备协同不足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31775" indent="-214629" algn="l" rtl="0" eaLnBrk="0">
              <a:lnSpc>
                <a:spcPct val="123000"/>
              </a:lnSpc>
              <a:spcBef>
                <a:spcPts val="802"/>
              </a:spcBef>
              <a:tabLst/>
            </a:pPr>
            <a:r>
              <a:rPr sz="1200" kern="0" spc="10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200" kern="0" spc="1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200" kern="0" spc="10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大型仓储物流园区逐步向高智能化升级</a:t>
            </a:r>
            <a:r>
              <a:rPr sz="1200" kern="0" spc="8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与改造，</a:t>
            </a:r>
            <a:r>
              <a:rPr sz="1200" kern="0" spc="-24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要求充分发挥设备价值</a:t>
            </a:r>
            <a:r>
              <a:rPr sz="1200" kern="0" spc="-19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29234" indent="-212090" algn="l" rtl="0" eaLnBrk="0">
              <a:lnSpc>
                <a:spcPct val="117000"/>
              </a:lnSpc>
              <a:spcBef>
                <a:spcPts val="694"/>
              </a:spcBef>
              <a:tabLst/>
            </a:pPr>
            <a:r>
              <a:rPr sz="1200" kern="0" spc="9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200" kern="0" spc="1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200" kern="0" spc="9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需同时兼顾预知性和协同性，</a:t>
            </a:r>
            <a:r>
              <a:rPr sz="1200" kern="0" spc="-23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9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避免园区</a:t>
            </a:r>
            <a:r>
              <a:rPr sz="1200" kern="0" spc="8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仓库资源与场地等的浪费</a:t>
            </a:r>
            <a:r>
              <a:rPr sz="1200" kern="0" spc="-12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4000"/>
              </a:lnSpc>
              <a:spcBef>
                <a:spcPts val="365"/>
              </a:spcBef>
              <a:tabLst/>
            </a:pPr>
            <a:r>
              <a:rPr sz="1200" kern="0" spc="-40" dirty="0">
                <a:solidFill>
                  <a:srgbClr val="E52F3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思考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indent="1905" algn="l" rtl="0" eaLnBrk="0">
              <a:lnSpc>
                <a:spcPct val="112000"/>
              </a:lnSpc>
              <a:spcBef>
                <a:spcPts val="4"/>
              </a:spcBef>
              <a:tabLst/>
            </a:pPr>
            <a:r>
              <a:rPr sz="1200" kern="0" spc="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如何达到设备运行与转运能力的高效协同，利</a:t>
            </a:r>
            <a:r>
              <a:rPr sz="1200" kern="0" spc="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用自动化周边空间避免场地拥堵，减少计划不</a:t>
            </a:r>
            <a:r>
              <a:rPr sz="1200" kern="0" spc="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确定性和临时性对仓储能</a:t>
            </a:r>
            <a:r>
              <a:rPr sz="1200" kern="0" spc="-1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力的影响；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2" name="textbox 122"/>
          <p:cNvSpPr/>
          <p:nvPr/>
        </p:nvSpPr>
        <p:spPr>
          <a:xfrm>
            <a:off x="4560837" y="3377162"/>
            <a:ext cx="3076575" cy="24028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4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87000"/>
              </a:lnSpc>
              <a:tabLst/>
            </a:pPr>
            <a:r>
              <a:rPr sz="12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安全管理风险点多且复杂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29234" indent="-213995" algn="l" rtl="0" eaLnBrk="0">
              <a:lnSpc>
                <a:spcPct val="123000"/>
              </a:lnSpc>
              <a:spcBef>
                <a:spcPts val="798"/>
              </a:spcBef>
              <a:tabLst/>
            </a:pPr>
            <a:r>
              <a:rPr sz="12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2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200" kern="0" spc="4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园区内司机</a:t>
            </a:r>
            <a:r>
              <a:rPr sz="1200" kern="0" spc="-7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4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、库管</a:t>
            </a:r>
            <a:r>
              <a:rPr sz="1200" kern="0" spc="-9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4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、门卫</a:t>
            </a:r>
            <a:r>
              <a:rPr sz="1200" kern="0" spc="-8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4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、搬运</a:t>
            </a:r>
            <a:r>
              <a:rPr sz="1200" kern="0" spc="-8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4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3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物流</a:t>
            </a:r>
            <a:r>
              <a:rPr sz="1200" kern="0" spc="8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等人员复杂，</a:t>
            </a:r>
            <a:r>
              <a:rPr sz="1200" kern="0" spc="-14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内部管理混</a:t>
            </a:r>
            <a:r>
              <a:rPr sz="1200" kern="0" spc="7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乱且难度高</a:t>
            </a:r>
            <a:r>
              <a:rPr sz="1200" kern="0" spc="-19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29234" indent="-213995" algn="l" rtl="0" eaLnBrk="0">
              <a:lnSpc>
                <a:spcPct val="123000"/>
              </a:lnSpc>
              <a:spcBef>
                <a:spcPts val="611"/>
              </a:spcBef>
              <a:tabLst/>
            </a:pPr>
            <a:r>
              <a:rPr sz="12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200" kern="0" spc="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200" kern="0" spc="5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园区内叉车</a:t>
            </a:r>
            <a:r>
              <a:rPr sz="1200" kern="0" spc="-8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5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、托盘</a:t>
            </a:r>
            <a:r>
              <a:rPr sz="1200" kern="0" spc="-8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5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、月台</a:t>
            </a:r>
            <a:r>
              <a:rPr sz="1200" kern="0" spc="-8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5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、车辆及设备</a:t>
            </a:r>
            <a:r>
              <a:rPr sz="1200" kern="0" spc="8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等协同难度大，</a:t>
            </a:r>
            <a:r>
              <a:rPr sz="1200" kern="0" spc="-22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且落地执行不可控</a:t>
            </a:r>
            <a:r>
              <a:rPr sz="1200" kern="0" spc="-19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5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4000"/>
              </a:lnSpc>
              <a:spcBef>
                <a:spcPts val="361"/>
              </a:spcBef>
              <a:tabLst/>
            </a:pPr>
            <a:r>
              <a:rPr sz="1200" kern="0" spc="-40" dirty="0">
                <a:solidFill>
                  <a:srgbClr val="E52F3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思考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1000"/>
              </a:lnSpc>
              <a:spcBef>
                <a:spcPts val="6"/>
              </a:spcBef>
              <a:tabLst/>
            </a:pPr>
            <a:r>
              <a:rPr sz="1200" kern="0" spc="-1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如何建立全覆盖</a:t>
            </a:r>
            <a:r>
              <a:rPr sz="1200" kern="0" spc="-10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、无死</a:t>
            </a:r>
            <a:r>
              <a:rPr sz="1200" kern="0" spc="-2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角</a:t>
            </a:r>
            <a:r>
              <a:rPr sz="1200" kern="0" spc="-10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、智能的“</a:t>
            </a:r>
            <a:r>
              <a:rPr sz="1200" kern="0" spc="-25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人协+技</a:t>
            </a:r>
            <a:r>
              <a:rPr sz="1200" kern="0" spc="-1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协+物协</a:t>
            </a:r>
            <a:r>
              <a:rPr sz="1200" kern="0" spc="-10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”一体化协同体系</a:t>
            </a:r>
            <a:r>
              <a:rPr sz="1200" kern="0" spc="-9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，并落实到每一</a:t>
            </a:r>
            <a:r>
              <a:rPr sz="1200" kern="0" spc="-2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个</a:t>
            </a:r>
            <a:r>
              <a:rPr sz="1200" kern="0" spc="-2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业务环节</a:t>
            </a:r>
            <a:r>
              <a:rPr sz="1200" kern="0" spc="-18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4" name="textbox 124"/>
          <p:cNvSpPr/>
          <p:nvPr/>
        </p:nvSpPr>
        <p:spPr>
          <a:xfrm>
            <a:off x="364439" y="346695"/>
            <a:ext cx="11233150" cy="5226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87000"/>
              </a:lnSpc>
              <a:spcBef>
                <a:spcPts val="3"/>
              </a:spcBef>
              <a:tabLst>
                <a:tab pos="77152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行业当前管理痛点分析                                       </a:t>
            </a:r>
            <a:r>
              <a:rPr sz="27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6" name="picture 1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574920" y="381062"/>
            <a:ext cx="1931803" cy="412600"/>
          </a:xfrm>
          <a:prstGeom prst="rect">
            <a:avLst/>
          </a:prstGeom>
        </p:spPr>
      </p:pic>
      <p:pic>
        <p:nvPicPr>
          <p:cNvPr id="128" name="picture 1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77139" y="359395"/>
            <a:ext cx="584153" cy="473386"/>
          </a:xfrm>
          <a:prstGeom prst="rect">
            <a:avLst/>
          </a:prstGeom>
        </p:spPr>
      </p:pic>
      <p:pic>
        <p:nvPicPr>
          <p:cNvPr id="130" name="picture 1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493173" y="1450438"/>
            <a:ext cx="1205653" cy="1029414"/>
          </a:xfrm>
          <a:prstGeom prst="rect">
            <a:avLst/>
          </a:prstGeom>
        </p:spPr>
      </p:pic>
      <p:pic>
        <p:nvPicPr>
          <p:cNvPr id="132" name="picture 1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263550" y="1450438"/>
            <a:ext cx="1205653" cy="1029414"/>
          </a:xfrm>
          <a:prstGeom prst="rect">
            <a:avLst/>
          </a:prstGeom>
        </p:spPr>
      </p:pic>
      <p:pic>
        <p:nvPicPr>
          <p:cNvPr id="134" name="picture 1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722797" y="1450438"/>
            <a:ext cx="1205653" cy="1029414"/>
          </a:xfrm>
          <a:prstGeom prst="rect">
            <a:avLst/>
          </a:prstGeom>
        </p:spPr>
      </p:pic>
      <p:sp>
        <p:nvSpPr>
          <p:cNvPr id="136" name="textbox 136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8" name="textbox 138"/>
          <p:cNvSpPr/>
          <p:nvPr/>
        </p:nvSpPr>
        <p:spPr>
          <a:xfrm>
            <a:off x="5734614" y="2690783"/>
            <a:ext cx="730884" cy="2089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2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400" b="1" kern="0" spc="-20" dirty="0">
                <a:solidFill>
                  <a:srgbClr val="E52F3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安全管理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0" name="textbox 140"/>
          <p:cNvSpPr/>
          <p:nvPr/>
        </p:nvSpPr>
        <p:spPr>
          <a:xfrm>
            <a:off x="9508960" y="2696474"/>
            <a:ext cx="732155" cy="2082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2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400" b="1" kern="0" spc="-20" dirty="0">
                <a:solidFill>
                  <a:srgbClr val="E52F3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设备管理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2" name="textbox 142"/>
          <p:cNvSpPr/>
          <p:nvPr/>
        </p:nvSpPr>
        <p:spPr>
          <a:xfrm>
            <a:off x="1956699" y="2694001"/>
            <a:ext cx="732790" cy="209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400" b="1" kern="0" spc="-20" dirty="0">
                <a:solidFill>
                  <a:srgbClr val="E52F3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场站管理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44" name="picture 1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104402" y="3022498"/>
            <a:ext cx="432003" cy="19050"/>
          </a:xfrm>
          <a:prstGeom prst="rect">
            <a:avLst/>
          </a:prstGeom>
        </p:spPr>
      </p:pic>
      <p:pic>
        <p:nvPicPr>
          <p:cNvPr id="146" name="picture 14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879998" y="3020529"/>
            <a:ext cx="432003" cy="19050"/>
          </a:xfrm>
          <a:prstGeom prst="rect">
            <a:avLst/>
          </a:prstGeom>
        </p:spPr>
      </p:pic>
      <p:pic>
        <p:nvPicPr>
          <p:cNvPr id="148" name="picture 14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9655594" y="3025864"/>
            <a:ext cx="432003" cy="190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6"/>
          <p:cNvGrpSpPr/>
          <p:nvPr/>
        </p:nvGrpSpPr>
        <p:grpSpPr>
          <a:xfrm rot="21600000">
            <a:off x="4195051" y="1810562"/>
            <a:ext cx="3822217" cy="3860241"/>
            <a:chOff x="0" y="0"/>
            <a:chExt cx="3822217" cy="3860241"/>
          </a:xfrm>
        </p:grpSpPr>
        <p:pic>
          <p:nvPicPr>
            <p:cNvPr id="150" name="picture 15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3822217" cy="3860241"/>
            </a:xfrm>
            <a:prstGeom prst="rect">
              <a:avLst/>
            </a:prstGeom>
          </p:spPr>
        </p:pic>
        <p:sp>
          <p:nvSpPr>
            <p:cNvPr id="152" name="textbox 152"/>
            <p:cNvSpPr/>
            <p:nvPr/>
          </p:nvSpPr>
          <p:spPr>
            <a:xfrm>
              <a:off x="438060" y="617596"/>
              <a:ext cx="1244600" cy="14922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785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99000"/>
                </a:lnSpc>
                <a:tabLst/>
              </a:pPr>
              <a:r>
                <a:rPr sz="3900" b="1" kern="0" spc="14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02</a:t>
              </a:r>
              <a:endParaRPr sz="3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8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8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7000"/>
                </a:lnSpc>
                <a:spcBef>
                  <a:spcPts val="3"/>
                </a:spcBef>
                <a:tabLst/>
              </a:pPr>
              <a:r>
                <a:rPr sz="3200" b="1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01</a:t>
              </a:r>
              <a:endParaRPr sz="32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154" name="textbox 154"/>
            <p:cNvSpPr/>
            <p:nvPr/>
          </p:nvSpPr>
          <p:spPr>
            <a:xfrm>
              <a:off x="2358251" y="889426"/>
              <a:ext cx="1113155" cy="9677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3868"/>
                </a:lnSpc>
                <a:tabLst/>
              </a:pPr>
              <a:r>
                <a:rPr sz="2700" b="1" kern="0" spc="1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03</a:t>
              </a:r>
              <a:endParaRPr sz="27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ts val="2793"/>
                </a:lnSpc>
                <a:spcBef>
                  <a:spcPts val="6"/>
                </a:spcBef>
                <a:tabLst/>
              </a:pPr>
              <a:r>
                <a:rPr sz="2300" b="1" kern="0" spc="1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04</a:t>
              </a:r>
              <a:endParaRPr sz="23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56" name="textbox 156"/>
          <p:cNvSpPr/>
          <p:nvPr/>
        </p:nvSpPr>
        <p:spPr>
          <a:xfrm>
            <a:off x="8268937" y="1741367"/>
            <a:ext cx="3401059" cy="34931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1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7000"/>
              </a:lnSpc>
              <a:tabLst/>
            </a:pPr>
            <a:r>
              <a:rPr sz="15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车场与交通管理的动态</a:t>
            </a: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拥堵挑战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604" indent="1270" algn="l" rtl="0" eaLnBrk="0">
              <a:lnSpc>
                <a:spcPct val="139000"/>
              </a:lnSpc>
              <a:spcBef>
                <a:spcPts val="371"/>
              </a:spcBef>
              <a:tabLst/>
            </a:pPr>
            <a:r>
              <a:rPr sz="1200" kern="0" spc="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车辆高峰期集中到达导致内外拥堵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-2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需通过预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约机制</a:t>
            </a:r>
            <a:r>
              <a:rPr sz="1200" kern="0" spc="-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、智能导引和路径优化，</a:t>
            </a:r>
            <a:r>
              <a:rPr sz="1200" kern="0" spc="-2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</a:t>
            </a:r>
            <a:r>
              <a:rPr sz="1200" kern="0" spc="-2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“快进快</a:t>
            </a:r>
            <a:r>
              <a:rPr sz="1200" kern="0" spc="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</a:t>
            </a:r>
            <a:r>
              <a:rPr sz="1200" kern="0" spc="-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”，</a:t>
            </a:r>
            <a:r>
              <a:rPr sz="1200" kern="0" spc="-2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压缩停留时间至最</a:t>
            </a:r>
            <a:r>
              <a:rPr sz="1200" kern="0" spc="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短</a:t>
            </a:r>
            <a:r>
              <a:rPr sz="1200" kern="0" spc="-1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ct val="86000"/>
              </a:lnSpc>
              <a:spcBef>
                <a:spcPts val="458"/>
              </a:spcBef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安全管理一体化协同体系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indent="10795" algn="l" rtl="0" eaLnBrk="0">
              <a:lnSpc>
                <a:spcPct val="137000"/>
              </a:lnSpc>
              <a:spcBef>
                <a:spcPts val="3"/>
              </a:spcBef>
              <a:tabLst/>
            </a:pP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园区人员与设备协同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复杂，</a:t>
            </a:r>
            <a:r>
              <a:rPr sz="1200" kern="0" spc="-2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需建立</a:t>
            </a:r>
            <a:r>
              <a:rPr sz="1200" kern="0" spc="-2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“人技物</a:t>
            </a:r>
            <a:r>
              <a:rPr sz="1200" kern="0" spc="-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一体化体系，</a:t>
            </a:r>
            <a:r>
              <a:rPr sz="1200" kern="0" spc="-2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覆盖全业务环节</a:t>
            </a:r>
            <a:r>
              <a:rPr sz="1200" kern="0" spc="-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，确保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安全与执</a:t>
            </a:r>
            <a:r>
              <a:rPr sz="1200" kern="0" spc="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行可控</a:t>
            </a:r>
            <a:r>
              <a:rPr sz="1200" kern="0" spc="-1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8" name="textbox 158"/>
          <p:cNvSpPr/>
          <p:nvPr/>
        </p:nvSpPr>
        <p:spPr>
          <a:xfrm>
            <a:off x="581155" y="1740759"/>
            <a:ext cx="3321050" cy="34912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5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87000"/>
              </a:lnSpc>
              <a:tabLst/>
            </a:pPr>
            <a:r>
              <a:rPr sz="15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现代物流园区管理的核心</a:t>
            </a: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诉求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spcBef>
                <a:spcPts val="365"/>
              </a:spcBef>
              <a:tabLst/>
            </a:pPr>
            <a:r>
              <a:rPr sz="1200" kern="0" spc="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物流园区正从传统物业管理升</a:t>
            </a:r>
            <a:r>
              <a:rPr sz="1200" kern="0" spc="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级为供应链协同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3970" indent="635" algn="l" rtl="0" eaLnBrk="0">
              <a:lnSpc>
                <a:spcPct val="148000"/>
              </a:lnSpc>
              <a:spcBef>
                <a:spcPts val="21"/>
              </a:spcBef>
              <a:tabLst/>
            </a:pPr>
            <a:r>
              <a:rPr sz="1200" kern="0" spc="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平台，</a:t>
            </a:r>
            <a:r>
              <a:rPr sz="1200" kern="0" spc="-1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需解决动态拥堵</a:t>
            </a:r>
            <a:r>
              <a:rPr sz="1200" kern="0" spc="-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、智能仓储</a:t>
            </a:r>
            <a:r>
              <a:rPr sz="1200" kern="0" spc="-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、安全管理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等痛点，</a:t>
            </a:r>
            <a:r>
              <a:rPr sz="1200" kern="0" spc="-2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实现高效协同与数字化决策</a:t>
            </a:r>
            <a:r>
              <a:rPr sz="1200" kern="0" spc="-1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ct val="87000"/>
              </a:lnSpc>
              <a:spcBef>
                <a:spcPts val="457"/>
              </a:spcBef>
              <a:tabLst/>
            </a:pPr>
            <a:r>
              <a:rPr sz="15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智能仓储升级的价值与</a:t>
            </a: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协同需求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8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4" indent="635" algn="l" rtl="0" eaLnBrk="0">
              <a:lnSpc>
                <a:spcPct val="137000"/>
              </a:lnSpc>
              <a:tabLst/>
            </a:pP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高度智能化设备需兼具预知性与协同性</a:t>
            </a:r>
            <a:r>
              <a:rPr sz="1200" kern="0" spc="-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，避免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资源浪费；</a:t>
            </a:r>
            <a:r>
              <a:rPr sz="1200" kern="0" spc="-1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通过设备运行与转运能力协同，</a:t>
            </a:r>
            <a:r>
              <a:rPr sz="1200" kern="0" spc="-2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升仓储效率与空间利用率</a:t>
            </a:r>
            <a:r>
              <a:rPr sz="1200" kern="0" spc="-1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0" name="textbox 160"/>
          <p:cNvSpPr/>
          <p:nvPr/>
        </p:nvSpPr>
        <p:spPr>
          <a:xfrm>
            <a:off x="364439" y="346695"/>
            <a:ext cx="11233150" cy="5264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87000"/>
              </a:lnSpc>
              <a:spcBef>
                <a:spcPts val="2"/>
              </a:spcBef>
              <a:tabLst>
                <a:tab pos="77025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核心诉求与目标                                       </a:t>
            </a:r>
            <a:r>
              <a:rPr sz="27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62" name="picture 1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600321" y="381062"/>
            <a:ext cx="1931803" cy="412600"/>
          </a:xfrm>
          <a:prstGeom prst="rect">
            <a:avLst/>
          </a:prstGeom>
        </p:spPr>
      </p:pic>
      <p:pic>
        <p:nvPicPr>
          <p:cNvPr id="164" name="picture 16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77139" y="359395"/>
            <a:ext cx="584153" cy="473386"/>
          </a:xfrm>
          <a:prstGeom prst="rect">
            <a:avLst/>
          </a:prstGeom>
        </p:spPr>
      </p:pic>
      <p:sp>
        <p:nvSpPr>
          <p:cNvPr id="166" name="textbox 166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box 168"/>
          <p:cNvSpPr/>
          <p:nvPr/>
        </p:nvSpPr>
        <p:spPr>
          <a:xfrm>
            <a:off x="555096" y="2401997"/>
            <a:ext cx="11192509" cy="2997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1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75920" algn="l" rtl="0" eaLnBrk="0">
              <a:lnSpc>
                <a:spcPct val="92000"/>
              </a:lnSpc>
              <a:tabLst/>
            </a:pPr>
            <a:r>
              <a:rPr sz="1200" kern="0" spc="9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200" kern="0" spc="1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200" kern="0" spc="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打通仓储与物流环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节信息交互，</a:t>
            </a:r>
            <a:r>
              <a:rPr sz="1200" kern="0" spc="-2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支撑业务决策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612140" algn="l" rtl="0" eaLnBrk="0">
              <a:lnSpc>
                <a:spcPts val="1870"/>
              </a:lnSpc>
              <a:tabLst/>
            </a:pP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降低作业异常率；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r" rtl="0" eaLnBrk="0">
              <a:lnSpc>
                <a:spcPct val="98000"/>
              </a:lnSpc>
              <a:spcBef>
                <a:spcPts val="1143"/>
              </a:spcBef>
              <a:tabLst/>
            </a:pPr>
            <a:r>
              <a:rPr sz="1900" kern="0" spc="10" baseline="2741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200" kern="0" spc="1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900" kern="0" spc="10" baseline="2741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打通货品</a:t>
            </a:r>
            <a:r>
              <a:rPr sz="1200" kern="0" spc="-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00" kern="0" spc="10" baseline="2741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、订单</a:t>
            </a:r>
            <a:r>
              <a:rPr sz="1200" kern="0" spc="-1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00" kern="0" spc="10" baseline="2741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、物流时效信息以提高服务水平；</a:t>
            </a:r>
            <a:r>
              <a:rPr sz="1200" kern="0" spc="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              </a:t>
            </a:r>
            <a:r>
              <a:rPr sz="1900" kern="0" spc="10" baseline="-2741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一体化</a:t>
            </a:r>
            <a:r>
              <a:rPr sz="1900" kern="0" spc="0" baseline="-2741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集成安防体系</a:t>
            </a:r>
            <a:r>
              <a:rPr sz="1200" kern="0" spc="-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00" kern="0" spc="0" baseline="-2741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、门禁系统</a:t>
            </a:r>
            <a:r>
              <a:rPr sz="1200" kern="0" spc="-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00" kern="0" spc="0" baseline="-2741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、称重设备等；</a:t>
            </a:r>
            <a:endParaRPr sz="1900" baseline="-2741" dirty="0">
              <a:latin typeface="Microsoft YaHei"/>
              <a:ea typeface="Microsoft YaHei"/>
              <a:cs typeface="Microsoft YaHei"/>
            </a:endParaRPr>
          </a:p>
          <a:p>
            <a:pPr marL="7757159" indent="-231775" algn="l" rtl="0" eaLnBrk="0">
              <a:lnSpc>
                <a:spcPct val="127000"/>
              </a:lnSpc>
              <a:spcBef>
                <a:spcPts val="803"/>
              </a:spcBef>
              <a:tabLst/>
            </a:pP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200" kern="0" spc="3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通过信息与科技技术应用，</a:t>
            </a:r>
            <a:r>
              <a:rPr sz="1200" kern="0" spc="-2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完善管理体系及智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能化业务流程，</a:t>
            </a:r>
            <a:r>
              <a:rPr sz="1200" kern="0" spc="-2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降本增效；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spcBef>
                <a:spcPts val="365"/>
              </a:spcBef>
              <a:tabLst/>
            </a:pP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200" kern="0" spc="1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减少车辆</a:t>
            </a:r>
            <a:r>
              <a:rPr sz="12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、司机在园停留时长，</a:t>
            </a:r>
            <a:r>
              <a:rPr sz="1200" kern="0" spc="-2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实现高效</a:t>
            </a:r>
            <a:r>
              <a:rPr sz="1200" kern="0" spc="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装卸；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1000"/>
              </a:lnSpc>
              <a:spcBef>
                <a:spcPts val="1160"/>
              </a:spcBef>
              <a:tabLst/>
            </a:pPr>
            <a:r>
              <a:rPr sz="1200" kern="0" spc="6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</a:t>
            </a:r>
            <a:r>
              <a:rPr sz="1200" kern="0" spc="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完善园区规范</a:t>
            </a:r>
            <a:r>
              <a:rPr sz="1200" kern="0" spc="-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，建立预约排号机制，</a:t>
            </a:r>
            <a:r>
              <a:rPr sz="1200" kern="0" spc="-2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提升效率；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7017384" algn="l" rtl="0" eaLnBrk="0">
              <a:lnSpc>
                <a:spcPct val="91000"/>
              </a:lnSpc>
              <a:spcBef>
                <a:spcPts val="739"/>
              </a:spcBef>
              <a:tabLst/>
            </a:pP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200" kern="0" spc="1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通过地图导航</a:t>
            </a:r>
            <a:r>
              <a:rPr sz="12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、排队叫号，</a:t>
            </a:r>
            <a:r>
              <a:rPr sz="1200" kern="0" spc="-2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实现车型与月台联动；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7017384" algn="l" rtl="0" eaLnBrk="0">
              <a:lnSpc>
                <a:spcPct val="91000"/>
              </a:lnSpc>
              <a:spcBef>
                <a:spcPts val="4"/>
              </a:spcBef>
              <a:tabLst/>
            </a:pPr>
            <a:r>
              <a:rPr sz="1200" kern="0" spc="3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</a:t>
            </a:r>
            <a:r>
              <a:rPr sz="1200" kern="0" spc="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</a:t>
            </a:r>
            <a:r>
              <a:rPr sz="1200" kern="0" spc="-1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、货</a:t>
            </a:r>
            <a:r>
              <a:rPr sz="1200" kern="0" spc="-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、场，</a:t>
            </a:r>
            <a:r>
              <a:rPr sz="1200" kern="0" spc="-2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车</a:t>
            </a:r>
            <a:r>
              <a:rPr sz="1200" kern="0" spc="-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、时</a:t>
            </a:r>
            <a:r>
              <a:rPr sz="1200" kern="0" spc="-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、效，</a:t>
            </a:r>
            <a:r>
              <a:rPr sz="1200" kern="0" spc="-2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空间与时间均</a:t>
            </a:r>
            <a:r>
              <a:rPr sz="1200" kern="0" spc="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衡管理；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18" name="group 18"/>
          <p:cNvGrpSpPr/>
          <p:nvPr/>
        </p:nvGrpSpPr>
        <p:grpSpPr>
          <a:xfrm rot="21600000">
            <a:off x="4450831" y="2398244"/>
            <a:ext cx="3678533" cy="3170013"/>
            <a:chOff x="0" y="0"/>
            <a:chExt cx="3678533" cy="3170013"/>
          </a:xfrm>
        </p:grpSpPr>
        <p:pic>
          <p:nvPicPr>
            <p:cNvPr id="170" name="picture 17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3350389" cy="3170013"/>
            </a:xfrm>
            <a:prstGeom prst="rect">
              <a:avLst/>
            </a:prstGeom>
          </p:spPr>
        </p:pic>
        <p:sp>
          <p:nvSpPr>
            <p:cNvPr id="172" name="textbox 172"/>
            <p:cNvSpPr/>
            <p:nvPr/>
          </p:nvSpPr>
          <p:spPr>
            <a:xfrm>
              <a:off x="933062" y="249937"/>
              <a:ext cx="1896110" cy="7829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61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6000"/>
                </a:lnSpc>
                <a:tabLst/>
              </a:pPr>
              <a:r>
                <a:rPr sz="1400" b="1" kern="0" spc="-8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仓库</a:t>
              </a:r>
              <a:r>
                <a:rPr sz="1400" b="1" kern="0" spc="1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400" b="1" kern="0" spc="-8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×</a:t>
              </a:r>
              <a:r>
                <a:rPr sz="1400" b="1" kern="0" spc="1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400" b="1" kern="0" spc="-8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配送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9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7000"/>
                </a:lnSpc>
                <a:spcBef>
                  <a:spcPts val="2"/>
                </a:spcBef>
                <a:tabLst/>
              </a:pPr>
              <a:r>
                <a:rPr sz="14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服务</a:t>
              </a:r>
              <a:r>
                <a:rPr sz="1400" kern="0" spc="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4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×</a:t>
              </a:r>
              <a:r>
                <a:rPr sz="1400" kern="0" spc="1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4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能力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174" name="textbox 174"/>
            <p:cNvSpPr/>
            <p:nvPr/>
          </p:nvSpPr>
          <p:spPr>
            <a:xfrm>
              <a:off x="471262" y="2047857"/>
              <a:ext cx="1890395" cy="7842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84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1400" b="1" kern="0" spc="-10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司机</a:t>
              </a:r>
              <a:r>
                <a:rPr sz="1400" b="1" kern="0" spc="18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400" b="1" kern="0" spc="-10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×</a:t>
              </a:r>
              <a:r>
                <a:rPr sz="1400" b="1" kern="0" spc="1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400" b="1" kern="0" spc="-10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月台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7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6000"/>
                </a:lnSpc>
                <a:spcBef>
                  <a:spcPts val="3"/>
                </a:spcBef>
                <a:tabLst/>
              </a:pPr>
              <a:r>
                <a:rPr sz="14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时间</a:t>
              </a:r>
              <a:r>
                <a:rPr sz="1400" kern="0" spc="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4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×</a:t>
              </a:r>
              <a:r>
                <a:rPr sz="14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4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效率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176" name="textbox 176"/>
            <p:cNvSpPr/>
            <p:nvPr/>
          </p:nvSpPr>
          <p:spPr>
            <a:xfrm>
              <a:off x="5988" y="9345"/>
              <a:ext cx="175895" cy="18287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79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6000"/>
                </a:lnSpc>
                <a:tabLst/>
              </a:pPr>
              <a:r>
                <a:rPr sz="1200" kern="0" spc="-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以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178" name="textbox 178"/>
            <p:cNvSpPr/>
            <p:nvPr/>
          </p:nvSpPr>
          <p:spPr>
            <a:xfrm>
              <a:off x="3616987" y="628941"/>
              <a:ext cx="74294" cy="1111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672"/>
                </a:lnSpc>
                <a:tabLst/>
              </a:pPr>
              <a:r>
                <a:rPr sz="1200" kern="0" spc="-20" dirty="0">
                  <a:solidFill>
                    <a:srgbClr val="40404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•</a:t>
              </a:r>
              <a:endParaRPr sz="12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80" name="textbox 180"/>
          <p:cNvSpPr/>
          <p:nvPr/>
        </p:nvSpPr>
        <p:spPr>
          <a:xfrm>
            <a:off x="364439" y="346695"/>
            <a:ext cx="11233150" cy="5264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87000"/>
              </a:lnSpc>
              <a:spcBef>
                <a:spcPts val="2"/>
              </a:spcBef>
              <a:tabLst>
                <a:tab pos="77025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核心诉求与目标                                       </a:t>
            </a:r>
            <a:r>
              <a:rPr sz="27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82" name="picture 18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600321" y="381062"/>
            <a:ext cx="1931803" cy="412600"/>
          </a:xfrm>
          <a:prstGeom prst="rect">
            <a:avLst/>
          </a:prstGeom>
        </p:spPr>
      </p:pic>
      <p:pic>
        <p:nvPicPr>
          <p:cNvPr id="184" name="picture 18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77139" y="359395"/>
            <a:ext cx="584153" cy="473386"/>
          </a:xfrm>
          <a:prstGeom prst="rect">
            <a:avLst/>
          </a:prstGeom>
        </p:spPr>
      </p:pic>
      <p:sp>
        <p:nvSpPr>
          <p:cNvPr id="186" name="textbox 186"/>
          <p:cNvSpPr/>
          <p:nvPr/>
        </p:nvSpPr>
        <p:spPr>
          <a:xfrm>
            <a:off x="4757215" y="1414347"/>
            <a:ext cx="2665729" cy="2292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5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协同提效，</a:t>
            </a:r>
            <a:r>
              <a:rPr sz="1500" b="1" kern="0" spc="-3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提升信息</a:t>
            </a:r>
            <a:r>
              <a:rPr sz="15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决策能力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8" name="textbox 188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picture 1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450847" y="2469375"/>
            <a:ext cx="9290304" cy="1659140"/>
          </a:xfrm>
          <a:prstGeom prst="rect">
            <a:avLst/>
          </a:prstGeom>
        </p:spPr>
      </p:pic>
      <p:sp>
        <p:nvSpPr>
          <p:cNvPr id="192" name="textbox 192"/>
          <p:cNvSpPr/>
          <p:nvPr/>
        </p:nvSpPr>
        <p:spPr>
          <a:xfrm>
            <a:off x="5115780" y="3514398"/>
            <a:ext cx="2940050" cy="384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700" kern="0" spc="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智慧园区管理平台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94" name="picture 1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652785" y="381062"/>
            <a:ext cx="1931803" cy="412600"/>
          </a:xfrm>
          <a:prstGeom prst="rect">
            <a:avLst/>
          </a:prstGeom>
        </p:spPr>
      </p:pic>
      <p:sp>
        <p:nvSpPr>
          <p:cNvPr id="196" name="textbox 196"/>
          <p:cNvSpPr/>
          <p:nvPr/>
        </p:nvSpPr>
        <p:spPr>
          <a:xfrm>
            <a:off x="5107740" y="3080097"/>
            <a:ext cx="1986279" cy="3416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8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2400" b="1" kern="0" spc="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产品功能概述</a:t>
            </a:r>
            <a:endParaRPr sz="2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98" name="picture 19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802240" y="3688574"/>
            <a:ext cx="505967" cy="748792"/>
          </a:xfrm>
          <a:prstGeom prst="rect">
            <a:avLst/>
          </a:prstGeom>
        </p:spPr>
      </p:pic>
      <p:sp>
        <p:nvSpPr>
          <p:cNvPr id="200" name="textbox 200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2" name="path 202"/>
          <p:cNvSpPr/>
          <p:nvPr/>
        </p:nvSpPr>
        <p:spPr>
          <a:xfrm>
            <a:off x="5085588" y="3482340"/>
            <a:ext cx="3348228" cy="18288"/>
          </a:xfrm>
          <a:custGeom>
            <a:avLst/>
            <a:gdLst/>
            <a:ahLst/>
            <a:cxnLst/>
            <a:rect l="0" t="0" r="0" b="0"/>
            <a:pathLst>
              <a:path w="5272" h="28">
                <a:moveTo>
                  <a:pt x="0" y="0"/>
                </a:moveTo>
                <a:lnTo>
                  <a:pt x="5272" y="0"/>
                </a:lnTo>
                <a:lnTo>
                  <a:pt x="527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9D9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box 204"/>
          <p:cNvSpPr/>
          <p:nvPr/>
        </p:nvSpPr>
        <p:spPr>
          <a:xfrm>
            <a:off x="364439" y="346695"/>
            <a:ext cx="11233150" cy="520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9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87000"/>
              </a:lnSpc>
              <a:tabLst>
                <a:tab pos="77152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企业客户画像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06" name="picture 2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648581" y="381062"/>
            <a:ext cx="1931803" cy="412600"/>
          </a:xfrm>
          <a:prstGeom prst="rect">
            <a:avLst/>
          </a:prstGeom>
        </p:spPr>
      </p:pic>
      <p:pic>
        <p:nvPicPr>
          <p:cNvPr id="208" name="picture 2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77139" y="359395"/>
            <a:ext cx="584153" cy="473386"/>
          </a:xfrm>
          <a:prstGeom prst="rect">
            <a:avLst/>
          </a:prstGeom>
        </p:spPr>
      </p:pic>
      <p:sp>
        <p:nvSpPr>
          <p:cNvPr id="210" name="textbox 210"/>
          <p:cNvSpPr/>
          <p:nvPr/>
        </p:nvSpPr>
        <p:spPr>
          <a:xfrm>
            <a:off x="2048430" y="3147939"/>
            <a:ext cx="3147695" cy="720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6669" algn="l" rtl="0" eaLnBrk="0">
              <a:lnSpc>
                <a:spcPts val="1781"/>
              </a:lnSpc>
              <a:tabLst/>
            </a:pPr>
            <a:r>
              <a:rPr sz="1400" b="1" kern="0" spc="-80" dirty="0">
                <a:solidFill>
                  <a:srgbClr val="E52F3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</a:t>
            </a:r>
            <a:r>
              <a:rPr sz="1400" b="1" kern="0" spc="200" dirty="0">
                <a:solidFill>
                  <a:srgbClr val="E52F3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园区规模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indent="12064" algn="l" rtl="0" eaLnBrk="0">
              <a:lnSpc>
                <a:spcPct val="99000"/>
              </a:lnSpc>
              <a:spcBef>
                <a:spcPts val="2"/>
              </a:spcBef>
              <a:tabLst/>
            </a:pPr>
            <a:r>
              <a:rPr sz="1200" kern="0" spc="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园区面积较大，</a:t>
            </a:r>
            <a:r>
              <a:rPr sz="1200" kern="0" spc="-2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原料供应物流</a:t>
            </a:r>
            <a:r>
              <a:rPr sz="1200" kern="0" spc="-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、生产物流</a:t>
            </a:r>
            <a:r>
              <a:rPr sz="1200" kern="0" spc="-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成品物流未统一管理的生</a:t>
            </a:r>
            <a:r>
              <a:rPr sz="1200" kern="0" spc="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产制造园区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2" name="textbox 212"/>
          <p:cNvSpPr/>
          <p:nvPr/>
        </p:nvSpPr>
        <p:spPr>
          <a:xfrm>
            <a:off x="2054844" y="1645935"/>
            <a:ext cx="3027045" cy="758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ts val="1781"/>
              </a:lnSpc>
              <a:tabLst/>
            </a:pPr>
            <a:r>
              <a:rPr sz="1400" b="1" kern="0" spc="-80" dirty="0">
                <a:solidFill>
                  <a:srgbClr val="E52F3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</a:t>
            </a:r>
            <a:r>
              <a:rPr sz="1400" b="1" kern="0" spc="200" dirty="0">
                <a:solidFill>
                  <a:srgbClr val="E52F3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园区车辆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indent="6350" algn="l" rtl="0" eaLnBrk="0">
              <a:lnSpc>
                <a:spcPct val="116000"/>
              </a:lnSpc>
              <a:spcBef>
                <a:spcPts val="2"/>
              </a:spcBef>
              <a:tabLst/>
            </a:pP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同时在园车辆超过10台，</a:t>
            </a:r>
            <a:r>
              <a:rPr sz="1200" kern="0" spc="-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日吞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吐车辆达到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25车次及以上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4" name="textbox 214"/>
          <p:cNvSpPr/>
          <p:nvPr/>
        </p:nvSpPr>
        <p:spPr>
          <a:xfrm>
            <a:off x="7655222" y="3147939"/>
            <a:ext cx="3122295" cy="720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400" algn="l" rtl="0" eaLnBrk="0">
              <a:lnSpc>
                <a:spcPts val="1781"/>
              </a:lnSpc>
              <a:tabLst/>
            </a:pPr>
            <a:r>
              <a:rPr sz="1400" b="1" kern="0" spc="-60" dirty="0">
                <a:solidFill>
                  <a:srgbClr val="E52F3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</a:t>
            </a:r>
            <a:r>
              <a:rPr sz="1400" b="1" kern="0" spc="100" dirty="0">
                <a:solidFill>
                  <a:srgbClr val="E52F3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仓储协同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spcBef>
                <a:spcPts val="2"/>
              </a:spcBef>
              <a:tabLst/>
            </a:pP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对仓库协同效率要求高，</a:t>
            </a:r>
            <a:r>
              <a:rPr sz="1200" kern="0" spc="-2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仓库中空间优先，</a:t>
            </a:r>
            <a:r>
              <a:rPr sz="1200" kern="0" spc="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承载业务体系大的独立</a:t>
            </a:r>
            <a:r>
              <a:rPr sz="1200" kern="0" spc="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物流分拨中心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6" name="textbox 216"/>
          <p:cNvSpPr/>
          <p:nvPr/>
        </p:nvSpPr>
        <p:spPr>
          <a:xfrm>
            <a:off x="2045470" y="4649955"/>
            <a:ext cx="3019425" cy="7359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844" algn="l" rtl="0" eaLnBrk="0">
              <a:lnSpc>
                <a:spcPts val="1781"/>
              </a:lnSpc>
              <a:tabLst/>
            </a:pPr>
            <a:r>
              <a:rPr sz="1400" b="1" kern="0" spc="-60" dirty="0">
                <a:solidFill>
                  <a:srgbClr val="E52F3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</a:t>
            </a:r>
            <a:r>
              <a:rPr sz="1400" b="1" kern="0" spc="100" dirty="0">
                <a:solidFill>
                  <a:srgbClr val="E52F3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硬件集成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20320" indent="-7620" algn="l" rtl="0" eaLnBrk="0">
              <a:lnSpc>
                <a:spcPct val="106000"/>
              </a:lnSpc>
              <a:spcBef>
                <a:spcPts val="4"/>
              </a:spcBef>
              <a:tabLst/>
            </a:pP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AGV</a:t>
            </a:r>
            <a:r>
              <a:rPr sz="12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、智能输送</a:t>
            </a:r>
            <a:r>
              <a:rPr sz="1200" kern="0" spc="-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、自动化立库应用等高自</a:t>
            </a:r>
            <a:r>
              <a:rPr sz="1200" kern="0" spc="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动化的智能仓储物流中心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8" name="textbox 218"/>
          <p:cNvSpPr/>
          <p:nvPr/>
        </p:nvSpPr>
        <p:spPr>
          <a:xfrm>
            <a:off x="7654235" y="1645935"/>
            <a:ext cx="2992754" cy="7194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6669" algn="l" rtl="0" eaLnBrk="0">
              <a:lnSpc>
                <a:spcPts val="1781"/>
              </a:lnSpc>
              <a:tabLst/>
            </a:pPr>
            <a:r>
              <a:rPr sz="1400" b="1" kern="0" spc="-80" dirty="0">
                <a:solidFill>
                  <a:srgbClr val="E52F3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</a:t>
            </a:r>
            <a:r>
              <a:rPr sz="1400" b="1" kern="0" spc="200" dirty="0">
                <a:solidFill>
                  <a:srgbClr val="E52F3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园区类型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indent="1270" algn="l" rtl="0" eaLnBrk="0">
              <a:lnSpc>
                <a:spcPct val="99000"/>
              </a:lnSpc>
              <a:tabLst/>
            </a:pP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仓配协同型</a:t>
            </a:r>
            <a:r>
              <a:rPr sz="1200" kern="0" spc="-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，供应链中生产协同</a:t>
            </a:r>
            <a:r>
              <a:rPr sz="1200" kern="0" spc="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型</a:t>
            </a:r>
            <a:r>
              <a:rPr sz="1200" kern="0" spc="-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，流通</a:t>
            </a:r>
            <a:r>
              <a:rPr sz="1200" kern="0" spc="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领域内仓配一体体系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0" name="textbox 220"/>
          <p:cNvSpPr/>
          <p:nvPr/>
        </p:nvSpPr>
        <p:spPr>
          <a:xfrm>
            <a:off x="7655552" y="4649955"/>
            <a:ext cx="2981325" cy="720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400" algn="l" rtl="0" eaLnBrk="0">
              <a:lnSpc>
                <a:spcPts val="1781"/>
              </a:lnSpc>
              <a:tabLst/>
            </a:pPr>
            <a:r>
              <a:rPr sz="1400" b="1" kern="0" spc="-60" dirty="0">
                <a:solidFill>
                  <a:srgbClr val="E52F3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</a:t>
            </a:r>
            <a:r>
              <a:rPr sz="1400" b="1" kern="0" spc="100" dirty="0">
                <a:solidFill>
                  <a:srgbClr val="E52F3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特殊品类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7145" indent="-4444" algn="l" rtl="0" eaLnBrk="0">
              <a:lnSpc>
                <a:spcPct val="98000"/>
              </a:lnSpc>
              <a:spcBef>
                <a:spcPts val="1"/>
              </a:spcBef>
              <a:tabLst/>
            </a:pPr>
            <a:r>
              <a:rPr sz="1200" kern="0" spc="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对产品管理要求高，</a:t>
            </a:r>
            <a:r>
              <a:rPr sz="1200" kern="0" spc="-1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如医药类</a:t>
            </a:r>
            <a:r>
              <a:rPr sz="1200" kern="0" spc="-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、危化品</a:t>
            </a:r>
            <a:r>
              <a:rPr sz="1200" kern="0" spc="-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冷链类</a:t>
            </a:r>
            <a:r>
              <a:rPr sz="1200" kern="0" spc="-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、活鲜类等仓储物流园区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22" name="picture 2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616351" y="3148601"/>
            <a:ext cx="767129" cy="831497"/>
          </a:xfrm>
          <a:prstGeom prst="rect">
            <a:avLst/>
          </a:prstGeom>
        </p:spPr>
      </p:pic>
      <p:pic>
        <p:nvPicPr>
          <p:cNvPr id="224" name="picture 2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10559" y="3148601"/>
            <a:ext cx="767128" cy="831497"/>
          </a:xfrm>
          <a:prstGeom prst="rect">
            <a:avLst/>
          </a:prstGeom>
        </p:spPr>
      </p:pic>
      <p:pic>
        <p:nvPicPr>
          <p:cNvPr id="226" name="picture 2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616351" y="4650948"/>
            <a:ext cx="767129" cy="830007"/>
          </a:xfrm>
          <a:prstGeom prst="rect">
            <a:avLst/>
          </a:prstGeom>
        </p:spPr>
      </p:pic>
      <p:pic>
        <p:nvPicPr>
          <p:cNvPr id="228" name="picture 2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010559" y="4650948"/>
            <a:ext cx="767128" cy="830007"/>
          </a:xfrm>
          <a:prstGeom prst="rect">
            <a:avLst/>
          </a:prstGeom>
        </p:spPr>
      </p:pic>
      <p:pic>
        <p:nvPicPr>
          <p:cNvPr id="230" name="picture 2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6616351" y="1659492"/>
            <a:ext cx="767129" cy="817431"/>
          </a:xfrm>
          <a:prstGeom prst="rect">
            <a:avLst/>
          </a:prstGeom>
        </p:spPr>
      </p:pic>
      <p:pic>
        <p:nvPicPr>
          <p:cNvPr id="232" name="picture 23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010559" y="1659492"/>
            <a:ext cx="767128" cy="817431"/>
          </a:xfrm>
          <a:prstGeom prst="rect">
            <a:avLst/>
          </a:prstGeom>
        </p:spPr>
      </p:pic>
      <p:sp>
        <p:nvSpPr>
          <p:cNvPr id="234" name="textbox 234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picture 2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363237" y="1255763"/>
            <a:ext cx="3465525" cy="4617529"/>
          </a:xfrm>
          <a:prstGeom prst="rect">
            <a:avLst/>
          </a:prstGeom>
        </p:spPr>
      </p:pic>
      <p:grpSp>
        <p:nvGrpSpPr>
          <p:cNvPr id="20" name="group 20"/>
          <p:cNvGrpSpPr/>
          <p:nvPr/>
        </p:nvGrpSpPr>
        <p:grpSpPr>
          <a:xfrm rot="21600000">
            <a:off x="563397" y="1622793"/>
            <a:ext cx="3465525" cy="4077525"/>
            <a:chOff x="0" y="0"/>
            <a:chExt cx="3465525" cy="4077525"/>
          </a:xfrm>
        </p:grpSpPr>
        <p:pic>
          <p:nvPicPr>
            <p:cNvPr id="238" name="picture 23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3465525" cy="4077525"/>
            </a:xfrm>
            <a:prstGeom prst="rect">
              <a:avLst/>
            </a:prstGeom>
          </p:spPr>
        </p:pic>
        <p:sp>
          <p:nvSpPr>
            <p:cNvPr id="240" name="textbox 240"/>
            <p:cNvSpPr/>
            <p:nvPr/>
          </p:nvSpPr>
          <p:spPr>
            <a:xfrm>
              <a:off x="231290" y="1366088"/>
              <a:ext cx="3147695" cy="23482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720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755650" algn="l" rtl="0" eaLnBrk="0">
                <a:lnSpc>
                  <a:spcPct val="87000"/>
                </a:lnSpc>
                <a:tabLst/>
              </a:pPr>
              <a:r>
                <a:rPr sz="1500" b="1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园区安防联动管理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8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3970" algn="l" rtl="0" eaLnBrk="0">
                <a:lnSpc>
                  <a:spcPct val="91000"/>
                </a:lnSpc>
                <a:spcBef>
                  <a:spcPts val="362"/>
                </a:spcBef>
                <a:tabLst/>
              </a:pPr>
              <a:r>
                <a:rPr sz="1200" kern="0" spc="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集成园区门禁与放行</a:t>
              </a:r>
              <a:r>
                <a:rPr sz="12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指令机制，</a:t>
              </a:r>
              <a:r>
                <a:rPr sz="1200" kern="0" spc="-2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简化单据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12700" indent="-635" algn="l" rtl="0" eaLnBrk="0">
                <a:lnSpc>
                  <a:spcPct val="163000"/>
                </a:lnSpc>
                <a:spcBef>
                  <a:spcPts val="18"/>
                </a:spcBef>
                <a:tabLst/>
              </a:pP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流程，</a:t>
              </a:r>
              <a:r>
                <a:rPr sz="1200" kern="0" spc="-2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减少人工干预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1200" kern="0" spc="-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自动识别车辆信息，</a:t>
              </a:r>
              <a:r>
                <a:rPr sz="12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提升车辆通行效率与安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全性</a:t>
              </a:r>
              <a:r>
                <a:rPr sz="1200" kern="0" spc="-1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5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91000"/>
                </a:lnSpc>
                <a:spcBef>
                  <a:spcPts val="362"/>
                </a:spcBef>
                <a:tabLst/>
              </a:pP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实现车辆进出自动化管控，</a:t>
              </a:r>
              <a:r>
                <a:rPr sz="1200" kern="0" spc="-2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整合园区车辆</a:t>
              </a:r>
              <a:r>
                <a:rPr sz="1200" kern="0" spc="-1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17779" algn="l" rtl="0" eaLnBrk="0">
                <a:lnSpc>
                  <a:spcPts val="2339"/>
                </a:lnSpc>
                <a:tabLst/>
              </a:pP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月台</a:t>
              </a:r>
              <a:r>
                <a:rPr sz="12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、工具等数据，</a:t>
              </a:r>
              <a:r>
                <a:rPr sz="1200" kern="0" spc="-2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完善安防数据管理，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8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47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确保园区出入安全可控</a:t>
              </a:r>
              <a:r>
                <a:rPr sz="1200" kern="0" spc="-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42" name="picture 24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1527530" y="570242"/>
              <a:ext cx="409955" cy="438911"/>
            </a:xfrm>
            <a:prstGeom prst="rect">
              <a:avLst/>
            </a:prstGeom>
          </p:spPr>
        </p:pic>
      </p:grpSp>
      <p:grpSp>
        <p:nvGrpSpPr>
          <p:cNvPr id="22" name="group 22"/>
          <p:cNvGrpSpPr/>
          <p:nvPr/>
        </p:nvGrpSpPr>
        <p:grpSpPr>
          <a:xfrm rot="21600000">
            <a:off x="8163077" y="1622793"/>
            <a:ext cx="3465524" cy="4077525"/>
            <a:chOff x="0" y="0"/>
            <a:chExt cx="3465524" cy="4077525"/>
          </a:xfrm>
        </p:grpSpPr>
        <p:pic>
          <p:nvPicPr>
            <p:cNvPr id="244" name="picture 24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3465524" cy="4077525"/>
            </a:xfrm>
            <a:prstGeom prst="rect">
              <a:avLst/>
            </a:prstGeom>
          </p:spPr>
        </p:pic>
        <p:sp>
          <p:nvSpPr>
            <p:cNvPr id="246" name="textbox 246"/>
            <p:cNvSpPr/>
            <p:nvPr/>
          </p:nvSpPr>
          <p:spPr>
            <a:xfrm>
              <a:off x="231782" y="1364754"/>
              <a:ext cx="3005454" cy="23590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45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744855" algn="l" rtl="0" eaLnBrk="0">
                <a:lnSpc>
                  <a:spcPct val="86000"/>
                </a:lnSpc>
                <a:tabLst/>
              </a:pPr>
              <a:r>
                <a:rPr sz="1500" b="1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无人值守称重集成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8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7145" algn="l" rtl="0" eaLnBrk="0">
                <a:lnSpc>
                  <a:spcPct val="91000"/>
                </a:lnSpc>
                <a:spcBef>
                  <a:spcPts val="365"/>
                </a:spcBef>
                <a:tabLst/>
              </a:pPr>
              <a:r>
                <a:rPr sz="12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实现自动完成重车与轻车过磅，</a:t>
              </a:r>
              <a:r>
                <a:rPr sz="1200" kern="0" spc="-1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实时同步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13334" indent="1905" algn="l" rtl="0" eaLnBrk="0">
                <a:lnSpc>
                  <a:spcPct val="163000"/>
                </a:lnSpc>
                <a:spcBef>
                  <a:spcPts val="18"/>
                </a:spcBef>
                <a:tabLst/>
              </a:pPr>
              <a:r>
                <a:rPr sz="12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重量数据，</a:t>
              </a:r>
              <a:r>
                <a:rPr sz="1200" kern="0" spc="-2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全程无需人工操作，</a:t>
              </a:r>
              <a:r>
                <a:rPr sz="1200" kern="0" spc="-2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提高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称重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效率与准确性</a:t>
              </a:r>
              <a:r>
                <a:rPr sz="1200" kern="0" spc="-1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5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5240" algn="l" rtl="0" eaLnBrk="0">
                <a:lnSpc>
                  <a:spcPct val="91000"/>
                </a:lnSpc>
                <a:spcBef>
                  <a:spcPts val="362"/>
                </a:spcBef>
                <a:tabLst/>
              </a:pPr>
              <a:r>
                <a:rPr sz="12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系统内置智能检测功能，</a:t>
              </a:r>
              <a:r>
                <a:rPr sz="1200" kern="0" spc="-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自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动识别称重异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12700" indent="11429" algn="l" rtl="0" eaLnBrk="0">
                <a:lnSpc>
                  <a:spcPct val="163000"/>
                </a:lnSpc>
                <a:spcBef>
                  <a:spcPts val="11"/>
                </a:spcBef>
                <a:tabLst/>
              </a:pPr>
              <a:r>
                <a:rPr sz="12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常，</a:t>
              </a:r>
              <a:r>
                <a:rPr sz="1200" kern="0" spc="-2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称重结果即时同步至园区管理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系统，</a:t>
              </a:r>
              <a:r>
                <a:rPr sz="12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确保数据准确性与可追溯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性</a:t>
              </a:r>
              <a:r>
                <a:rPr sz="1200" kern="0" spc="-2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48" name="picture 24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1444218" y="526046"/>
              <a:ext cx="576071" cy="533400"/>
            </a:xfrm>
            <a:prstGeom prst="rect">
              <a:avLst/>
            </a:prstGeom>
          </p:spPr>
        </p:pic>
      </p:grpSp>
      <p:sp>
        <p:nvSpPr>
          <p:cNvPr id="250" name="textbox 250"/>
          <p:cNvSpPr/>
          <p:nvPr/>
        </p:nvSpPr>
        <p:spPr>
          <a:xfrm>
            <a:off x="4595021" y="2567167"/>
            <a:ext cx="3147695" cy="2409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6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95959" algn="l" rtl="0" eaLnBrk="0">
              <a:lnSpc>
                <a:spcPct val="87000"/>
              </a:lnSpc>
              <a:tabLst/>
            </a:pPr>
            <a:r>
              <a:rPr sz="1500" b="1" kern="0" spc="90" dirty="0">
                <a:solidFill>
                  <a:srgbClr val="E52F3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业务协同联动机制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91000"/>
              </a:lnSpc>
              <a:spcBef>
                <a:spcPts val="361"/>
              </a:spcBef>
              <a:tabLst/>
            </a:pP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通过整合车辆</a:t>
            </a:r>
            <a:r>
              <a:rPr sz="12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、月台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、设备等资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源，</a:t>
            </a:r>
            <a:r>
              <a:rPr sz="1200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建立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2700" indent="4444" algn="l" rtl="0" eaLnBrk="0">
              <a:lnSpc>
                <a:spcPct val="166000"/>
              </a:lnSpc>
              <a:spcBef>
                <a:spcPts val="21"/>
              </a:spcBef>
              <a:tabLst/>
            </a:pP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高效协同体系，</a:t>
            </a:r>
            <a:r>
              <a:rPr sz="1200" kern="0" spc="-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实现园区内物流作业无缝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衔接，</a:t>
            </a:r>
            <a:r>
              <a:rPr sz="1200" kern="0" spc="-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提升整体运营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效率与管理水平</a:t>
            </a:r>
            <a:r>
              <a:rPr sz="1200" kern="0" spc="-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1000"/>
              </a:lnSpc>
              <a:spcBef>
                <a:spcPts val="369"/>
              </a:spcBef>
              <a:tabLst/>
            </a:pP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采用智能化调度系统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-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统一管理叉车搬运</a:t>
            </a:r>
            <a:r>
              <a:rPr sz="1200" kern="0" spc="-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2700" indent="635" algn="l" rtl="0" eaLnBrk="0">
              <a:lnSpc>
                <a:spcPct val="166000"/>
              </a:lnSpc>
              <a:spcBef>
                <a:spcPts val="21"/>
              </a:spcBef>
              <a:tabLst/>
            </a:pP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装卸人力等任务，</a:t>
            </a:r>
            <a:r>
              <a:rPr sz="1200" kern="0" spc="-2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实时调整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资源分配情况，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确保作业流程高效流畅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减少等待时间</a:t>
            </a:r>
            <a:r>
              <a:rPr sz="1200" kern="0" spc="-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2" name="textbox 252"/>
          <p:cNvSpPr/>
          <p:nvPr/>
        </p:nvSpPr>
        <p:spPr>
          <a:xfrm>
            <a:off x="364439" y="346695"/>
            <a:ext cx="11233150" cy="5245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87000"/>
              </a:lnSpc>
              <a:spcBef>
                <a:spcPts val="1"/>
              </a:spcBef>
              <a:tabLst>
                <a:tab pos="772794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产品核心功能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54" name="picture 25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649851" y="381062"/>
            <a:ext cx="1931803" cy="412600"/>
          </a:xfrm>
          <a:prstGeom prst="rect">
            <a:avLst/>
          </a:prstGeom>
        </p:spPr>
      </p:pic>
      <p:pic>
        <p:nvPicPr>
          <p:cNvPr id="256" name="picture 25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77139" y="359395"/>
            <a:ext cx="584153" cy="473386"/>
          </a:xfrm>
          <a:prstGeom prst="rect">
            <a:avLst/>
          </a:prstGeom>
        </p:spPr>
      </p:pic>
      <p:sp>
        <p:nvSpPr>
          <p:cNvPr id="258" name="textbox 258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60" name="picture 26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869632" y="1885081"/>
            <a:ext cx="489310" cy="439124"/>
          </a:xfrm>
          <a:prstGeom prst="rect">
            <a:avLst/>
          </a:prstGeom>
        </p:spPr>
      </p:pic>
      <p:grpSp>
        <p:nvGrpSpPr>
          <p:cNvPr id="24" name="group 24"/>
          <p:cNvGrpSpPr/>
          <p:nvPr/>
        </p:nvGrpSpPr>
        <p:grpSpPr>
          <a:xfrm rot="21600000">
            <a:off x="5863793" y="5286286"/>
            <a:ext cx="464413" cy="111886"/>
            <a:chOff x="0" y="0"/>
            <a:chExt cx="464413" cy="111886"/>
          </a:xfrm>
        </p:grpSpPr>
        <p:sp>
          <p:nvSpPr>
            <p:cNvPr id="262" name="path 262"/>
            <p:cNvSpPr/>
            <p:nvPr/>
          </p:nvSpPr>
          <p:spPr>
            <a:xfrm>
              <a:off x="178206" y="3886"/>
              <a:ext cx="108000" cy="108000"/>
            </a:xfrm>
            <a:custGeom>
              <a:avLst/>
              <a:gdLst/>
              <a:ahLst/>
              <a:cxnLst/>
              <a:rect l="0" t="0" r="0" b="0"/>
              <a:pathLst>
                <a:path w="170" h="170">
                  <a:moveTo>
                    <a:pt x="1" y="85"/>
                  </a:moveTo>
                  <a:cubicBezTo>
                    <a:pt x="0" y="38"/>
                    <a:pt x="38" y="0"/>
                    <a:pt x="85" y="0"/>
                  </a:cubicBezTo>
                  <a:cubicBezTo>
                    <a:pt x="131" y="0"/>
                    <a:pt x="170" y="38"/>
                    <a:pt x="170" y="85"/>
                  </a:cubicBezTo>
                  <a:cubicBezTo>
                    <a:pt x="170" y="132"/>
                    <a:pt x="131" y="170"/>
                    <a:pt x="85" y="170"/>
                  </a:cubicBezTo>
                  <a:cubicBezTo>
                    <a:pt x="38" y="170"/>
                    <a:pt x="0" y="132"/>
                    <a:pt x="1" y="85"/>
                  </a:cubicBezTo>
                </a:path>
              </a:pathLst>
            </a:custGeom>
            <a:solidFill>
              <a:srgbClr val="E52F3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64" name="path 264"/>
            <p:cNvSpPr/>
            <p:nvPr/>
          </p:nvSpPr>
          <p:spPr>
            <a:xfrm>
              <a:off x="0" y="0"/>
              <a:ext cx="464413" cy="111886"/>
            </a:xfrm>
            <a:custGeom>
              <a:avLst/>
              <a:gdLst/>
              <a:ahLst/>
              <a:cxnLst/>
              <a:rect l="0" t="0" r="0" b="0"/>
              <a:pathLst>
                <a:path w="731" h="176">
                  <a:moveTo>
                    <a:pt x="562" y="91"/>
                  </a:moveTo>
                  <a:cubicBezTo>
                    <a:pt x="561" y="44"/>
                    <a:pt x="599" y="6"/>
                    <a:pt x="646" y="6"/>
                  </a:cubicBezTo>
                  <a:cubicBezTo>
                    <a:pt x="693" y="6"/>
                    <a:pt x="731" y="44"/>
                    <a:pt x="731" y="91"/>
                  </a:cubicBezTo>
                  <a:cubicBezTo>
                    <a:pt x="731" y="138"/>
                    <a:pt x="693" y="176"/>
                    <a:pt x="646" y="176"/>
                  </a:cubicBezTo>
                  <a:cubicBezTo>
                    <a:pt x="599" y="176"/>
                    <a:pt x="561" y="138"/>
                    <a:pt x="562" y="91"/>
                  </a:cubicBezTo>
                </a:path>
                <a:path w="731" h="176">
                  <a:moveTo>
                    <a:pt x="0" y="84"/>
                  </a:moveTo>
                  <a:cubicBezTo>
                    <a:pt x="0" y="38"/>
                    <a:pt x="38" y="0"/>
                    <a:pt x="85" y="0"/>
                  </a:cubicBezTo>
                  <a:cubicBezTo>
                    <a:pt x="131" y="0"/>
                    <a:pt x="170" y="38"/>
                    <a:pt x="170" y="85"/>
                  </a:cubicBezTo>
                  <a:cubicBezTo>
                    <a:pt x="170" y="131"/>
                    <a:pt x="131" y="170"/>
                    <a:pt x="85" y="170"/>
                  </a:cubicBezTo>
                  <a:cubicBezTo>
                    <a:pt x="38" y="170"/>
                    <a:pt x="0" y="131"/>
                    <a:pt x="0" y="84"/>
                  </a:cubicBezTo>
                </a:path>
              </a:pathLst>
            </a:custGeom>
            <a:solidFill>
              <a:srgbClr val="E7E6E6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textbox 266"/>
          <p:cNvSpPr/>
          <p:nvPr/>
        </p:nvSpPr>
        <p:spPr>
          <a:xfrm>
            <a:off x="364439" y="346695"/>
            <a:ext cx="11233150" cy="5245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87000"/>
              </a:lnSpc>
              <a:spcBef>
                <a:spcPts val="3"/>
              </a:spcBef>
              <a:tabLst>
                <a:tab pos="78041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高度灵活配置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68" name="picture 2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649851" y="381062"/>
            <a:ext cx="1931803" cy="412600"/>
          </a:xfrm>
          <a:prstGeom prst="rect">
            <a:avLst/>
          </a:prstGeom>
        </p:spPr>
      </p:pic>
      <p:pic>
        <p:nvPicPr>
          <p:cNvPr id="270" name="picture 2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77139" y="359395"/>
            <a:ext cx="584153" cy="473386"/>
          </a:xfrm>
          <a:prstGeom prst="rect">
            <a:avLst/>
          </a:prstGeom>
        </p:spPr>
      </p:pic>
      <p:sp>
        <p:nvSpPr>
          <p:cNvPr id="272" name="textbox 272"/>
          <p:cNvSpPr/>
          <p:nvPr/>
        </p:nvSpPr>
        <p:spPr>
          <a:xfrm>
            <a:off x="6358882" y="3878281"/>
            <a:ext cx="2205354" cy="18313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72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6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可定制的服务规则引擎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12700" indent="1270" algn="l" rtl="0" eaLnBrk="0">
              <a:lnSpc>
                <a:spcPct val="162000"/>
              </a:lnSpc>
              <a:tabLst/>
            </a:pPr>
            <a:r>
              <a:rPr sz="1200" kern="0" spc="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支持B2</a:t>
            </a:r>
            <a:r>
              <a:rPr sz="1200" kern="0" spc="-1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B/</a:t>
            </a:r>
            <a:r>
              <a:rPr sz="1200" kern="0" spc="-1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B</a:t>
            </a:r>
            <a:r>
              <a:rPr sz="1200" kern="0" spc="-1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sz="1200" kern="0" spc="-2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C等差异化场景</a:t>
            </a:r>
            <a:r>
              <a:rPr sz="1200" kern="0" spc="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的200+参数配置</a:t>
            </a:r>
            <a:r>
              <a:rPr sz="1200" kern="0" spc="-1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-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既能满足</a:t>
            </a:r>
            <a:r>
              <a:rPr sz="1200" kern="0" spc="1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大客户定制化需求，</a:t>
            </a:r>
            <a:r>
              <a:rPr sz="1200" kern="0" spc="-2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又能</a:t>
            </a:r>
            <a:r>
              <a:rPr sz="1200" kern="0" spc="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为中</a:t>
            </a:r>
            <a:r>
              <a:rPr sz="1200" kern="0" spc="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小客户提供标准化高效服务</a:t>
            </a:r>
            <a:r>
              <a:rPr sz="1200" kern="0" spc="1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框</a:t>
            </a:r>
            <a:r>
              <a:rPr sz="1200" kern="0" spc="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架</a:t>
            </a:r>
            <a:r>
              <a:rPr sz="1200" kern="0" spc="-2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4" name="textbox 274"/>
          <p:cNvSpPr/>
          <p:nvPr/>
        </p:nvSpPr>
        <p:spPr>
          <a:xfrm>
            <a:off x="3583818" y="3404318"/>
            <a:ext cx="2355850" cy="1555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ct val="87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多维度资源协同配置平台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5000"/>
              </a:lnSpc>
              <a:spcBef>
                <a:spcPts val="369"/>
              </a:spcBef>
              <a:tabLst/>
            </a:pPr>
            <a:r>
              <a:rPr sz="1200" kern="0" spc="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整合月台</a:t>
            </a:r>
            <a:r>
              <a:rPr sz="12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、车型</a:t>
            </a:r>
            <a:r>
              <a:rPr sz="1200" kern="0" spc="-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、库位等园区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2700" indent="1905" algn="l" rtl="0" eaLnBrk="0">
              <a:lnSpc>
                <a:spcPct val="169000"/>
              </a:lnSpc>
              <a:spcBef>
                <a:spcPts val="23"/>
              </a:spcBef>
              <a:tabLst/>
            </a:pPr>
            <a:r>
              <a:rPr sz="1200" kern="0" spc="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要素，</a:t>
            </a:r>
            <a:r>
              <a:rPr sz="1200" kern="0" spc="-1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实现叉车</a:t>
            </a:r>
            <a:r>
              <a:rPr sz="1200" kern="0" spc="-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、月台</a:t>
            </a:r>
            <a:r>
              <a:rPr sz="1200" kern="0" spc="-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、车辆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秒级联动响应，</a:t>
            </a:r>
            <a:r>
              <a:rPr sz="1200" kern="0" spc="-1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实现设备利用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kern="0" spc="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率提升40%，</a:t>
            </a:r>
            <a:r>
              <a:rPr sz="1200" kern="0" spc="-2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场地周</a:t>
            </a:r>
            <a:r>
              <a:rPr sz="1200" kern="0" spc="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转率翻倍</a:t>
            </a:r>
            <a:r>
              <a:rPr sz="1200" kern="0" spc="-1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6" name="textbox 276"/>
          <p:cNvSpPr/>
          <p:nvPr/>
        </p:nvSpPr>
        <p:spPr>
          <a:xfrm>
            <a:off x="9133604" y="3404675"/>
            <a:ext cx="2355850" cy="1555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52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6000"/>
              </a:lnSpc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全链路数据可视化驾驶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舱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4000"/>
              </a:lnSpc>
              <a:spcBef>
                <a:spcPts val="361"/>
              </a:spcBef>
              <a:tabLst/>
            </a:pPr>
            <a:r>
              <a:rPr sz="1200" kern="0" spc="1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打通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WMS</a:t>
            </a:r>
            <a:r>
              <a:rPr sz="1200" kern="0" spc="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TMS</a:t>
            </a:r>
            <a:r>
              <a:rPr sz="1200" kern="0" spc="1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等多业务系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2439"/>
              </a:lnSpc>
              <a:tabLst/>
            </a:pPr>
            <a:r>
              <a:rPr sz="1200" kern="0" spc="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统数据孤岛，</a:t>
            </a:r>
            <a:r>
              <a:rPr sz="1200" kern="0" spc="-2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实时监</a:t>
            </a:r>
            <a:r>
              <a:rPr sz="1200" kern="0" spc="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控车流</a:t>
            </a:r>
            <a:r>
              <a:rPr sz="1200" kern="0" spc="-1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3334" indent="1270" algn="l" rtl="0" eaLnBrk="0">
              <a:lnSpc>
                <a:spcPct val="155000"/>
              </a:lnSpc>
              <a:spcBef>
                <a:spcPts val="1"/>
              </a:spcBef>
              <a:tabLst/>
            </a:pPr>
            <a:r>
              <a:rPr sz="1200" kern="0" spc="1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货流等核心指标，</a:t>
            </a:r>
            <a:r>
              <a:rPr sz="1200" kern="0" spc="-2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预</a:t>
            </a:r>
            <a:r>
              <a:rPr sz="1200" kern="0" spc="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测准确率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达92%，</a:t>
            </a:r>
            <a:r>
              <a:rPr sz="1200" kern="0" spc="-2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助力管理</a:t>
            </a:r>
            <a:r>
              <a:rPr sz="1200" kern="0" spc="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层智慧决策</a:t>
            </a:r>
            <a:r>
              <a:rPr sz="1200" kern="0" spc="-1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8" name="textbox 278"/>
          <p:cNvSpPr/>
          <p:nvPr/>
        </p:nvSpPr>
        <p:spPr>
          <a:xfrm>
            <a:off x="808918" y="3878102"/>
            <a:ext cx="2165985" cy="15570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2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87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动态预约与智能调度系统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366"/>
              </a:spcBef>
              <a:tabLst/>
            </a:pPr>
            <a:r>
              <a:rPr sz="1200" kern="0" spc="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通过智能预约机制和实时调度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4604" algn="l" rtl="0" eaLnBrk="0">
              <a:lnSpc>
                <a:spcPct val="169000"/>
              </a:lnSpc>
              <a:spcBef>
                <a:spcPts val="31"/>
              </a:spcBef>
              <a:tabLst/>
            </a:pP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算法</a:t>
            </a:r>
            <a:r>
              <a:rPr sz="1200" kern="0" spc="-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，精准匹配车辆到达时间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与月台资源</a:t>
            </a:r>
            <a:r>
              <a:rPr sz="1200" kern="0" spc="-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，将园区平均停留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时间压缩30%以上</a:t>
            </a:r>
            <a:r>
              <a:rPr sz="1200" kern="0" spc="-1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0" name="textbox 280"/>
          <p:cNvSpPr/>
          <p:nvPr/>
        </p:nvSpPr>
        <p:spPr>
          <a:xfrm>
            <a:off x="1145683" y="1496450"/>
            <a:ext cx="9910444" cy="282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022"/>
              </a:lnSpc>
              <a:tabLst/>
            </a:pPr>
            <a:r>
              <a:rPr sz="1500" b="1" kern="0" spc="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车辆快进快出   |</a:t>
            </a:r>
            <a:r>
              <a:rPr sz="15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500" b="1" kern="0" spc="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仓储运输全链路高效联动   |</a:t>
            </a:r>
            <a:r>
              <a:rPr sz="15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500" b="1" kern="0" spc="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客户多</a:t>
            </a:r>
            <a:r>
              <a:rPr sz="15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业务需求快速响应   |   数据驱动园区运营管理决策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2" name="textbox 282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84" name="picture 28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97052" y="3148583"/>
            <a:ext cx="432816" cy="432816"/>
          </a:xfrm>
          <a:prstGeom prst="rect">
            <a:avLst/>
          </a:prstGeom>
        </p:spPr>
      </p:pic>
      <p:pic>
        <p:nvPicPr>
          <p:cNvPr id="286" name="picture 28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572255" y="2674620"/>
            <a:ext cx="432028" cy="432815"/>
          </a:xfrm>
          <a:prstGeom prst="rect">
            <a:avLst/>
          </a:prstGeom>
        </p:spPr>
      </p:pic>
      <p:pic>
        <p:nvPicPr>
          <p:cNvPr id="288" name="picture 28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122067" y="2674620"/>
            <a:ext cx="432003" cy="432815"/>
          </a:xfrm>
          <a:prstGeom prst="rect">
            <a:avLst/>
          </a:prstGeom>
        </p:spPr>
      </p:pic>
      <p:pic>
        <p:nvPicPr>
          <p:cNvPr id="290" name="picture 29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347180" y="3148583"/>
            <a:ext cx="431990" cy="4328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picture 2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95300" y="2181339"/>
            <a:ext cx="11201400" cy="903084"/>
          </a:xfrm>
          <a:prstGeom prst="rect">
            <a:avLst/>
          </a:prstGeom>
        </p:spPr>
      </p:pic>
      <p:sp>
        <p:nvSpPr>
          <p:cNvPr id="294" name="textbox 294"/>
          <p:cNvSpPr/>
          <p:nvPr/>
        </p:nvSpPr>
        <p:spPr>
          <a:xfrm>
            <a:off x="364439" y="346695"/>
            <a:ext cx="11233150" cy="5251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87000"/>
              </a:lnSpc>
              <a:spcBef>
                <a:spcPts val="1"/>
              </a:spcBef>
              <a:tabLst>
                <a:tab pos="78041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多维数据体系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96" name="picture 29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649851" y="381062"/>
            <a:ext cx="1931803" cy="412600"/>
          </a:xfrm>
          <a:prstGeom prst="rect">
            <a:avLst/>
          </a:prstGeom>
        </p:spPr>
      </p:pic>
      <p:pic>
        <p:nvPicPr>
          <p:cNvPr id="298" name="picture 29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77139" y="359395"/>
            <a:ext cx="584153" cy="473386"/>
          </a:xfrm>
          <a:prstGeom prst="rect">
            <a:avLst/>
          </a:prstGeom>
        </p:spPr>
      </p:pic>
      <p:sp>
        <p:nvSpPr>
          <p:cNvPr id="300" name="textbox 300"/>
          <p:cNvSpPr/>
          <p:nvPr/>
        </p:nvSpPr>
        <p:spPr>
          <a:xfrm>
            <a:off x="6338163" y="4334154"/>
            <a:ext cx="2297429" cy="10998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28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8000"/>
              </a:lnSpc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集成叉车</a:t>
            </a:r>
            <a:r>
              <a:rPr sz="12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、装箱工具等使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用数据，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自动调度叉车</a:t>
            </a:r>
            <a:r>
              <a:rPr sz="12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、AGV等设备资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源，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量化设备运行效率，优化协同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调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度策略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，消除闲置浪费</a:t>
            </a:r>
            <a:r>
              <a:rPr sz="12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，实现空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间与效能的动态平衡</a:t>
            </a:r>
            <a:r>
              <a:rPr sz="1200" kern="0" spc="-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2" name="textbox 302"/>
          <p:cNvSpPr/>
          <p:nvPr/>
        </p:nvSpPr>
        <p:spPr>
          <a:xfrm>
            <a:off x="1023073" y="4334611"/>
            <a:ext cx="2274570" cy="1109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883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9000"/>
              </a:lnSpc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通过入仓</a:t>
            </a:r>
            <a:r>
              <a:rPr sz="1200" kern="0" spc="-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、提货</a:t>
            </a:r>
            <a:r>
              <a:rPr sz="12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、车型等多维度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数据采集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，集成WMS</a:t>
            </a:r>
            <a:r>
              <a:rPr sz="1200" kern="0" spc="-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、TMS等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系统数据，构建统一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可视化平台，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实时监控各项关键指标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，打破信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息孤岛，支撑精准调度</a:t>
            </a:r>
            <a:r>
              <a:rPr sz="1200" kern="0" spc="-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4" name="textbox 304"/>
          <p:cNvSpPr/>
          <p:nvPr/>
        </p:nvSpPr>
        <p:spPr>
          <a:xfrm>
            <a:off x="8994788" y="4334459"/>
            <a:ext cx="2179320" cy="11004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47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-635" algn="l" rtl="0" eaLnBrk="0">
              <a:lnSpc>
                <a:spcPct val="118000"/>
              </a:lnSpc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精准追踪车辆停留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、等待及装卸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全流程时长，提前预警高峰期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车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辆积压风险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，结合路径优化算法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推荐分流方案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，实现"快进快出"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的园区协同管理目标</a:t>
            </a:r>
            <a:r>
              <a:rPr sz="1200" kern="0" spc="-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6" name="textbox 306"/>
          <p:cNvSpPr/>
          <p:nvPr/>
        </p:nvSpPr>
        <p:spPr>
          <a:xfrm>
            <a:off x="3680472" y="4334154"/>
            <a:ext cx="2178685" cy="11010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868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3810" algn="l" rtl="0" eaLnBrk="0">
              <a:lnSpc>
                <a:spcPct val="118000"/>
              </a:lnSpc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实时统计月台货量</a:t>
            </a:r>
            <a:r>
              <a:rPr sz="12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、订单及方量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1200" kern="0" spc="-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-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动态评估资源利用率 ，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实现运营状态透明化，</a:t>
            </a:r>
            <a:r>
              <a:rPr sz="1200" kern="0" spc="3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为月台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调度与仓储规划等提供数据驱动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的科学依据</a:t>
            </a:r>
            <a:r>
              <a:rPr sz="1200" kern="0" spc="-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8" name="textbox 308"/>
          <p:cNvSpPr/>
          <p:nvPr/>
        </p:nvSpPr>
        <p:spPr>
          <a:xfrm>
            <a:off x="3644038" y="1537318"/>
            <a:ext cx="4909184" cy="2324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8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tabLst/>
            </a:pPr>
            <a:r>
              <a:rPr sz="15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全流程数据贯通，</a:t>
            </a:r>
            <a:r>
              <a:rPr sz="1500" b="1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实时数据可视化，</a:t>
            </a:r>
            <a:r>
              <a:rPr sz="1500" b="1" kern="0" spc="-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园区智慧决策支持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0" name="textbox 310"/>
          <p:cNvSpPr/>
          <p:nvPr/>
        </p:nvSpPr>
        <p:spPr>
          <a:xfrm>
            <a:off x="6562090" y="3593261"/>
            <a:ext cx="1734820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2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5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工具与设备效能统计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2" name="textbox 312"/>
          <p:cNvSpPr/>
          <p:nvPr/>
        </p:nvSpPr>
        <p:spPr>
          <a:xfrm>
            <a:off x="1247508" y="3593261"/>
            <a:ext cx="1734820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2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5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多维度数据统计体系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4" name="textbox 314"/>
          <p:cNvSpPr/>
          <p:nvPr/>
        </p:nvSpPr>
        <p:spPr>
          <a:xfrm>
            <a:off x="3905275" y="3594595"/>
            <a:ext cx="1734185" cy="2241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5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月台与货量效能分析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6" name="textbox 316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8" name="textbox 318"/>
          <p:cNvSpPr/>
          <p:nvPr/>
        </p:nvSpPr>
        <p:spPr>
          <a:xfrm>
            <a:off x="9323489" y="3595928"/>
            <a:ext cx="1534794" cy="2216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34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5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园区动态时长管理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20" name="picture 3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216126" y="4052061"/>
            <a:ext cx="1787588" cy="8674"/>
          </a:xfrm>
          <a:prstGeom prst="rect">
            <a:avLst/>
          </a:prstGeom>
        </p:spPr>
      </p:pic>
      <p:pic>
        <p:nvPicPr>
          <p:cNvPr id="322" name="picture 3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873512" y="4052061"/>
            <a:ext cx="1787588" cy="8674"/>
          </a:xfrm>
          <a:prstGeom prst="rect">
            <a:avLst/>
          </a:prstGeom>
        </p:spPr>
      </p:pic>
      <p:pic>
        <p:nvPicPr>
          <p:cNvPr id="324" name="picture 3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530899" y="4052061"/>
            <a:ext cx="1787588" cy="8674"/>
          </a:xfrm>
          <a:prstGeom prst="rect">
            <a:avLst/>
          </a:prstGeom>
        </p:spPr>
      </p:pic>
      <p:pic>
        <p:nvPicPr>
          <p:cNvPr id="326" name="picture 3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188285" y="4052061"/>
            <a:ext cx="1787588" cy="867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picture 3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450847" y="2469375"/>
            <a:ext cx="9290304" cy="1659140"/>
          </a:xfrm>
          <a:prstGeom prst="rect">
            <a:avLst/>
          </a:prstGeom>
        </p:spPr>
      </p:pic>
      <p:sp>
        <p:nvSpPr>
          <p:cNvPr id="330" name="textbox 330"/>
          <p:cNvSpPr/>
          <p:nvPr/>
        </p:nvSpPr>
        <p:spPr>
          <a:xfrm>
            <a:off x="5132463" y="3511558"/>
            <a:ext cx="2923539" cy="3860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5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700" kern="0" spc="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园区物流协同管理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32" name="picture 3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652785" y="381062"/>
            <a:ext cx="1931803" cy="412600"/>
          </a:xfrm>
          <a:prstGeom prst="rect">
            <a:avLst/>
          </a:prstGeom>
        </p:spPr>
      </p:pic>
      <p:sp>
        <p:nvSpPr>
          <p:cNvPr id="334" name="textbox 334"/>
          <p:cNvSpPr/>
          <p:nvPr/>
        </p:nvSpPr>
        <p:spPr>
          <a:xfrm>
            <a:off x="5110909" y="3078513"/>
            <a:ext cx="1983104" cy="3435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400" b="1" kern="0" spc="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系统业务说明</a:t>
            </a:r>
            <a:endParaRPr sz="2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36" name="picture 3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793096" y="3688575"/>
            <a:ext cx="515111" cy="767079"/>
          </a:xfrm>
          <a:prstGeom prst="rect">
            <a:avLst/>
          </a:prstGeom>
        </p:spPr>
      </p:pic>
      <p:sp>
        <p:nvSpPr>
          <p:cNvPr id="338" name="textbox 338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0" name="path 340"/>
          <p:cNvSpPr/>
          <p:nvPr/>
        </p:nvSpPr>
        <p:spPr>
          <a:xfrm>
            <a:off x="5085588" y="3482340"/>
            <a:ext cx="3348228" cy="18288"/>
          </a:xfrm>
          <a:custGeom>
            <a:avLst/>
            <a:gdLst/>
            <a:ahLst/>
            <a:cxnLst/>
            <a:rect l="0" t="0" r="0" b="0"/>
            <a:pathLst>
              <a:path w="5272" h="28">
                <a:moveTo>
                  <a:pt x="0" y="0"/>
                </a:moveTo>
                <a:lnTo>
                  <a:pt x="5272" y="0"/>
                </a:lnTo>
                <a:lnTo>
                  <a:pt x="527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9D9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textbox 342"/>
          <p:cNvSpPr/>
          <p:nvPr/>
        </p:nvSpPr>
        <p:spPr>
          <a:xfrm>
            <a:off x="648564" y="2380529"/>
            <a:ext cx="6716394" cy="33731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5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7305" algn="l" rtl="0" eaLnBrk="0">
              <a:lnSpc>
                <a:spcPct val="85000"/>
              </a:lnSpc>
              <a:tabLst/>
            </a:pPr>
            <a:r>
              <a:rPr sz="1400" kern="0" spc="3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</a:t>
            </a:r>
            <a:r>
              <a:rPr sz="1400" kern="0" spc="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YMS</a:t>
            </a:r>
            <a:r>
              <a:rPr sz="1400" kern="0" spc="3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园区物流管理系统</a:t>
            </a:r>
            <a:r>
              <a:rPr sz="1400" kern="0" spc="-9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3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，是一款专为智慧仓储物流园区打造的一体化运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150000"/>
              </a:lnSpc>
              <a:spcBef>
                <a:spcPts val="44"/>
              </a:spcBef>
              <a:tabLst/>
            </a:pPr>
            <a:r>
              <a:rPr sz="1400" kern="0" spc="-1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营管理平台，通过数字化管理，整</a:t>
            </a:r>
            <a:r>
              <a:rPr sz="1400" kern="0" spc="-2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合协同园区内访客</a:t>
            </a:r>
            <a:r>
              <a:rPr sz="1400" kern="0" spc="-14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、车辆</a:t>
            </a:r>
            <a:r>
              <a:rPr sz="1400" kern="0" spc="-14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、场地</a:t>
            </a:r>
            <a:r>
              <a:rPr sz="1400" kern="0" spc="-23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、物流等资</a:t>
            </a:r>
            <a:r>
              <a:rPr sz="1400" kern="0" spc="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</a:t>
            </a:r>
            <a:r>
              <a:rPr sz="1400" kern="0" spc="-2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源，打破信息壁垒</a:t>
            </a:r>
            <a:r>
              <a:rPr sz="1400" kern="0" spc="-14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，实现智能调度优化与全流程</a:t>
            </a:r>
            <a:r>
              <a:rPr sz="1400" kern="0" spc="-3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实时监管，构建“货</a:t>
            </a:r>
            <a:r>
              <a:rPr sz="1400" kern="0" spc="-15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3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、车</a:t>
            </a:r>
            <a:r>
              <a:rPr sz="1400" kern="0" spc="-24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3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、场</a:t>
            </a:r>
            <a:r>
              <a:rPr sz="1400" kern="0" spc="-15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3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400" kern="0" spc="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</a:t>
            </a:r>
            <a:r>
              <a:rPr sz="1400" kern="0" spc="1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</a:t>
            </a:r>
            <a:r>
              <a:rPr sz="1400" kern="0" spc="-4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1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</a:t>
            </a:r>
            <a:r>
              <a:rPr sz="1400" kern="0" spc="-12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1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全要素互联的智慧生态为园区运营方</a:t>
            </a:r>
            <a:r>
              <a:rPr sz="1400" kern="0" spc="-11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1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、入驻企业</a:t>
            </a:r>
            <a:r>
              <a:rPr sz="1400" kern="0" spc="-11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1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、物流服务商及管理部</a:t>
            </a:r>
            <a:r>
              <a:rPr sz="1400" kern="0" spc="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</a:t>
            </a:r>
            <a:r>
              <a:rPr sz="1400" kern="0" spc="1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门提供高效协同的管</a:t>
            </a:r>
            <a:r>
              <a:rPr sz="1400" kern="0" spc="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理与服务支持。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79095" algn="l" rtl="0" eaLnBrk="0">
              <a:lnSpc>
                <a:spcPct val="88000"/>
              </a:lnSpc>
              <a:spcBef>
                <a:spcPts val="422"/>
              </a:spcBef>
              <a:tabLst>
                <a:tab pos="486409" algn="l"/>
              </a:tabLst>
            </a:pPr>
            <a:r>
              <a:rPr sz="1400" b="1" kern="0" spc="0" dirty="0">
                <a:solidFill>
                  <a:srgbClr val="1F232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400" b="1" kern="0" spc="10" dirty="0">
                <a:solidFill>
                  <a:srgbClr val="1F232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高效协同</a:t>
            </a:r>
            <a:r>
              <a:rPr sz="1400" kern="0" spc="10" dirty="0">
                <a:solidFill>
                  <a:srgbClr val="1F232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：打通前后端</a:t>
            </a:r>
            <a:r>
              <a:rPr sz="1400" kern="0" spc="0" dirty="0">
                <a:solidFill>
                  <a:srgbClr val="1F232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业务系统，减少沟通成本并提高作业响应速度。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86079" algn="l" rtl="0" eaLnBrk="0">
              <a:lnSpc>
                <a:spcPct val="88000"/>
              </a:lnSpc>
              <a:spcBef>
                <a:spcPts val="421"/>
              </a:spcBef>
              <a:tabLst>
                <a:tab pos="483869" algn="l"/>
              </a:tabLst>
            </a:pPr>
            <a:r>
              <a:rPr sz="1400" b="1" kern="0" spc="0" dirty="0">
                <a:solidFill>
                  <a:srgbClr val="1F232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400" b="1" kern="0" spc="0" dirty="0">
                <a:solidFill>
                  <a:srgbClr val="1F232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一体化管理</a:t>
            </a:r>
            <a:r>
              <a:rPr sz="1400" kern="0" spc="0" dirty="0">
                <a:solidFill>
                  <a:srgbClr val="1F232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：通过标准化作业与数据共</a:t>
            </a:r>
            <a:r>
              <a:rPr sz="1400" kern="0" spc="-10" dirty="0">
                <a:solidFill>
                  <a:srgbClr val="1F232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享机制</a:t>
            </a:r>
            <a:r>
              <a:rPr sz="1400" kern="0" spc="-150" dirty="0">
                <a:solidFill>
                  <a:srgbClr val="1F232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10" dirty="0">
                <a:solidFill>
                  <a:srgbClr val="1F232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，实现全流程可视化管控。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79095" algn="l" rtl="0" eaLnBrk="0">
              <a:lnSpc>
                <a:spcPct val="88000"/>
              </a:lnSpc>
              <a:tabLst>
                <a:tab pos="486409" algn="l"/>
              </a:tabLst>
            </a:pPr>
            <a:r>
              <a:rPr sz="1400" b="1" kern="0" spc="0" dirty="0">
                <a:solidFill>
                  <a:srgbClr val="1F232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400" b="1" kern="0" spc="-20" dirty="0">
                <a:solidFill>
                  <a:srgbClr val="1F232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智能化运营</a:t>
            </a:r>
            <a:r>
              <a:rPr sz="1400" kern="0" spc="-20" dirty="0">
                <a:solidFill>
                  <a:srgbClr val="1F232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：灵活配置系统算法策略，构建智能决策中枢，支撑园</a:t>
            </a:r>
            <a:r>
              <a:rPr sz="1400" kern="0" spc="-30" dirty="0">
                <a:solidFill>
                  <a:srgbClr val="1F232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区运营管理。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44" name="picture 3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91170" y="5394686"/>
            <a:ext cx="336801" cy="340084"/>
          </a:xfrm>
          <a:prstGeom prst="rect">
            <a:avLst/>
          </a:prstGeom>
        </p:spPr>
      </p:pic>
      <p:pic>
        <p:nvPicPr>
          <p:cNvPr id="346" name="picture 3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99279" y="4796600"/>
            <a:ext cx="335836" cy="388320"/>
          </a:xfrm>
          <a:prstGeom prst="rect">
            <a:avLst/>
          </a:prstGeom>
        </p:spPr>
      </p:pic>
      <p:pic>
        <p:nvPicPr>
          <p:cNvPr id="348" name="picture 3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91170" y="4272024"/>
            <a:ext cx="336801" cy="336801"/>
          </a:xfrm>
          <a:prstGeom prst="rect">
            <a:avLst/>
          </a:prstGeom>
        </p:spPr>
      </p:pic>
      <p:pic>
        <p:nvPicPr>
          <p:cNvPr id="350" name="picture 35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571231" y="2329229"/>
            <a:ext cx="4045729" cy="3356814"/>
          </a:xfrm>
          <a:prstGeom prst="rect">
            <a:avLst/>
          </a:prstGeom>
        </p:spPr>
      </p:pic>
      <p:sp>
        <p:nvSpPr>
          <p:cNvPr id="352" name="textbox 352"/>
          <p:cNvSpPr/>
          <p:nvPr/>
        </p:nvSpPr>
        <p:spPr>
          <a:xfrm>
            <a:off x="364439" y="346695"/>
            <a:ext cx="11233150" cy="5226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88000"/>
              </a:lnSpc>
              <a:spcBef>
                <a:spcPts val="1"/>
              </a:spcBef>
              <a:tabLst>
                <a:tab pos="763269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YMS</a:t>
            </a:r>
            <a:r>
              <a:rPr sz="2700" kern="0" spc="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园区物流管理系统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54" name="picture 35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648263" y="381062"/>
            <a:ext cx="1931803" cy="412600"/>
          </a:xfrm>
          <a:prstGeom prst="rect">
            <a:avLst/>
          </a:prstGeom>
        </p:spPr>
      </p:pic>
      <p:pic>
        <p:nvPicPr>
          <p:cNvPr id="356" name="picture 35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77139" y="359395"/>
            <a:ext cx="584153" cy="473386"/>
          </a:xfrm>
          <a:prstGeom prst="rect">
            <a:avLst/>
          </a:prstGeom>
        </p:spPr>
      </p:pic>
      <p:sp>
        <p:nvSpPr>
          <p:cNvPr id="358" name="textbox 358"/>
          <p:cNvSpPr/>
          <p:nvPr/>
        </p:nvSpPr>
        <p:spPr>
          <a:xfrm>
            <a:off x="2146648" y="1575066"/>
            <a:ext cx="2207895" cy="5041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1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844" algn="l" rtl="0" eaLnBrk="0">
              <a:lnSpc>
                <a:spcPct val="87000"/>
              </a:lnSpc>
              <a:tabLst/>
            </a:pP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园区管理系统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spcBef>
                <a:spcPts val="2"/>
              </a:spcBef>
              <a:tabLst/>
            </a:pPr>
            <a:r>
              <a:rPr sz="1400" kern="0" spc="7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数字化</a:t>
            </a:r>
            <a:r>
              <a:rPr sz="1400" kern="0" spc="1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400" kern="0" spc="7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· 协同化</a:t>
            </a:r>
            <a:r>
              <a:rPr sz="14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400" kern="0" spc="7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·</a:t>
            </a:r>
            <a:r>
              <a:rPr sz="1400" kern="0" spc="1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7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智能化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0" name="textbox 360"/>
          <p:cNvSpPr/>
          <p:nvPr/>
        </p:nvSpPr>
        <p:spPr>
          <a:xfrm>
            <a:off x="645337" y="1546072"/>
            <a:ext cx="1315085" cy="587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spcBef>
                <a:spcPts val="1"/>
              </a:spcBef>
              <a:tabLst/>
            </a:pPr>
            <a:r>
              <a:rPr sz="4700" b="1" kern="0" spc="-190" dirty="0">
                <a:solidFill>
                  <a:srgbClr val="E52F3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YMS</a:t>
            </a:r>
            <a:endParaRPr sz="4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2" name="textbox 362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6"/>
          <p:cNvGrpSpPr/>
          <p:nvPr/>
        </p:nvGrpSpPr>
        <p:grpSpPr>
          <a:xfrm rot="21600000">
            <a:off x="1019555" y="1598676"/>
            <a:ext cx="10152888" cy="4078223"/>
            <a:chOff x="0" y="0"/>
            <a:chExt cx="10152888" cy="4078223"/>
          </a:xfrm>
        </p:grpSpPr>
        <p:sp>
          <p:nvSpPr>
            <p:cNvPr id="364" name="path 364"/>
            <p:cNvSpPr/>
            <p:nvPr/>
          </p:nvSpPr>
          <p:spPr>
            <a:xfrm>
              <a:off x="0" y="0"/>
              <a:ext cx="10152888" cy="4078223"/>
            </a:xfrm>
            <a:custGeom>
              <a:avLst/>
              <a:gdLst/>
              <a:ahLst/>
              <a:cxnLst/>
              <a:rect l="0" t="0" r="0" b="0"/>
              <a:pathLst>
                <a:path w="15988" h="6422">
                  <a:moveTo>
                    <a:pt x="24" y="57"/>
                  </a:moveTo>
                  <a:moveTo>
                    <a:pt x="24" y="57"/>
                  </a:moveTo>
                  <a:cubicBezTo>
                    <a:pt x="22" y="26"/>
                    <a:pt x="48" y="0"/>
                    <a:pt x="81" y="0"/>
                  </a:cubicBezTo>
                  <a:lnTo>
                    <a:pt x="1552" y="0"/>
                  </a:lnTo>
                  <a:cubicBezTo>
                    <a:pt x="1584" y="0"/>
                    <a:pt x="1610" y="26"/>
                    <a:pt x="1610" y="57"/>
                  </a:cubicBezTo>
                  <a:lnTo>
                    <a:pt x="1610" y="5385"/>
                  </a:lnTo>
                  <a:cubicBezTo>
                    <a:pt x="1610" y="5417"/>
                    <a:pt x="1584" y="5442"/>
                    <a:pt x="1552" y="5443"/>
                  </a:cubicBezTo>
                  <a:lnTo>
                    <a:pt x="81" y="5443"/>
                  </a:lnTo>
                  <a:cubicBezTo>
                    <a:pt x="48" y="5442"/>
                    <a:pt x="22" y="5417"/>
                    <a:pt x="24" y="5385"/>
                  </a:cubicBezTo>
                  <a:lnTo>
                    <a:pt x="24" y="57"/>
                  </a:lnTo>
                </a:path>
                <a:path w="15988" h="6422">
                  <a:moveTo>
                    <a:pt x="14035" y="71"/>
                  </a:moveTo>
                  <a:moveTo>
                    <a:pt x="14035" y="71"/>
                  </a:moveTo>
                  <a:cubicBezTo>
                    <a:pt x="14036" y="32"/>
                    <a:pt x="14067" y="0"/>
                    <a:pt x="14107" y="0"/>
                  </a:cubicBezTo>
                  <a:lnTo>
                    <a:pt x="15916" y="0"/>
                  </a:lnTo>
                  <a:cubicBezTo>
                    <a:pt x="15956" y="0"/>
                    <a:pt x="15988" y="32"/>
                    <a:pt x="15988" y="71"/>
                  </a:cubicBezTo>
                  <a:lnTo>
                    <a:pt x="15988" y="5371"/>
                  </a:lnTo>
                  <a:cubicBezTo>
                    <a:pt x="15988" y="5411"/>
                    <a:pt x="15956" y="5442"/>
                    <a:pt x="15916" y="5443"/>
                  </a:cubicBezTo>
                  <a:lnTo>
                    <a:pt x="14107" y="5443"/>
                  </a:lnTo>
                  <a:cubicBezTo>
                    <a:pt x="14067" y="5442"/>
                    <a:pt x="14036" y="5411"/>
                    <a:pt x="14035" y="5371"/>
                  </a:cubicBezTo>
                  <a:lnTo>
                    <a:pt x="14035" y="71"/>
                  </a:lnTo>
                </a:path>
                <a:path w="15988" h="6422">
                  <a:moveTo>
                    <a:pt x="0" y="5594"/>
                  </a:moveTo>
                  <a:moveTo>
                    <a:pt x="0" y="5594"/>
                  </a:moveTo>
                  <a:cubicBezTo>
                    <a:pt x="0" y="5577"/>
                    <a:pt x="14" y="5563"/>
                    <a:pt x="31" y="5563"/>
                  </a:cubicBezTo>
                  <a:lnTo>
                    <a:pt x="7907" y="5563"/>
                  </a:lnTo>
                  <a:cubicBezTo>
                    <a:pt x="7923" y="5563"/>
                    <a:pt x="7937" y="5577"/>
                    <a:pt x="7936" y="5594"/>
                  </a:cubicBezTo>
                  <a:lnTo>
                    <a:pt x="7936" y="6383"/>
                  </a:lnTo>
                  <a:cubicBezTo>
                    <a:pt x="7937" y="6400"/>
                    <a:pt x="7923" y="6414"/>
                    <a:pt x="7907" y="6415"/>
                  </a:cubicBezTo>
                  <a:lnTo>
                    <a:pt x="31" y="6415"/>
                  </a:lnTo>
                  <a:cubicBezTo>
                    <a:pt x="14" y="6414"/>
                    <a:pt x="0" y="6400"/>
                    <a:pt x="0" y="6383"/>
                  </a:cubicBezTo>
                  <a:lnTo>
                    <a:pt x="0" y="5594"/>
                  </a:lnTo>
                </a:path>
                <a:path w="15988" h="6422">
                  <a:moveTo>
                    <a:pt x="8051" y="5601"/>
                  </a:moveTo>
                  <a:moveTo>
                    <a:pt x="8051" y="5601"/>
                  </a:moveTo>
                  <a:cubicBezTo>
                    <a:pt x="8051" y="5584"/>
                    <a:pt x="8064" y="5570"/>
                    <a:pt x="8080" y="5570"/>
                  </a:cubicBezTo>
                  <a:lnTo>
                    <a:pt x="15957" y="5570"/>
                  </a:lnTo>
                  <a:cubicBezTo>
                    <a:pt x="15974" y="5570"/>
                    <a:pt x="15988" y="5584"/>
                    <a:pt x="15988" y="5601"/>
                  </a:cubicBezTo>
                  <a:lnTo>
                    <a:pt x="15988" y="6391"/>
                  </a:lnTo>
                  <a:cubicBezTo>
                    <a:pt x="15988" y="6407"/>
                    <a:pt x="15974" y="6421"/>
                    <a:pt x="15957" y="6422"/>
                  </a:cubicBezTo>
                  <a:lnTo>
                    <a:pt x="8080" y="6422"/>
                  </a:lnTo>
                  <a:cubicBezTo>
                    <a:pt x="8064" y="6421"/>
                    <a:pt x="8051" y="6407"/>
                    <a:pt x="8051" y="6391"/>
                  </a:cubicBezTo>
                  <a:lnTo>
                    <a:pt x="8051" y="5601"/>
                  </a:lnTo>
                </a:path>
                <a:path w="15988" h="6422">
                  <a:moveTo>
                    <a:pt x="1723" y="7"/>
                  </a:moveTo>
                  <a:lnTo>
                    <a:pt x="13912" y="7"/>
                  </a:lnTo>
                  <a:lnTo>
                    <a:pt x="13912" y="5450"/>
                  </a:lnTo>
                  <a:lnTo>
                    <a:pt x="1723" y="5450"/>
                  </a:lnTo>
                  <a:lnTo>
                    <a:pt x="1723" y="7"/>
                  </a:lnTo>
                  <a:close/>
                </a:path>
              </a:pathLst>
            </a:custGeom>
            <a:solidFill>
              <a:srgbClr val="F2F2F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66" name="path 366"/>
            <p:cNvSpPr/>
            <p:nvPr/>
          </p:nvSpPr>
          <p:spPr>
            <a:xfrm>
              <a:off x="1237488" y="461771"/>
              <a:ext cx="7453884" cy="2898647"/>
            </a:xfrm>
            <a:custGeom>
              <a:avLst/>
              <a:gdLst/>
              <a:ahLst/>
              <a:cxnLst/>
              <a:rect l="0" t="0" r="0" b="0"/>
              <a:pathLst>
                <a:path w="11738" h="4564">
                  <a:moveTo>
                    <a:pt x="0" y="2920"/>
                  </a:moveTo>
                  <a:lnTo>
                    <a:pt x="11738" y="2920"/>
                  </a:lnTo>
                  <a:lnTo>
                    <a:pt x="11738" y="4564"/>
                  </a:lnTo>
                  <a:lnTo>
                    <a:pt x="0" y="4564"/>
                  </a:lnTo>
                  <a:lnTo>
                    <a:pt x="0" y="2920"/>
                  </a:lnTo>
                  <a:close/>
                </a:path>
                <a:path w="11738" h="4564">
                  <a:moveTo>
                    <a:pt x="0" y="0"/>
                  </a:moveTo>
                  <a:lnTo>
                    <a:pt x="3856" y="0"/>
                  </a:lnTo>
                  <a:lnTo>
                    <a:pt x="3856" y="2779"/>
                  </a:lnTo>
                  <a:lnTo>
                    <a:pt x="0" y="2779"/>
                  </a:lnTo>
                  <a:lnTo>
                    <a:pt x="0" y="0"/>
                  </a:lnTo>
                  <a:close/>
                </a:path>
                <a:path w="11738" h="4564">
                  <a:moveTo>
                    <a:pt x="3983" y="0"/>
                  </a:moveTo>
                  <a:lnTo>
                    <a:pt x="7953" y="0"/>
                  </a:lnTo>
                  <a:lnTo>
                    <a:pt x="7953" y="2779"/>
                  </a:lnTo>
                  <a:lnTo>
                    <a:pt x="3983" y="2779"/>
                  </a:lnTo>
                  <a:lnTo>
                    <a:pt x="3983" y="0"/>
                  </a:lnTo>
                  <a:close/>
                </a:path>
                <a:path w="11738" h="4564">
                  <a:moveTo>
                    <a:pt x="8090" y="0"/>
                  </a:moveTo>
                  <a:lnTo>
                    <a:pt x="9849" y="0"/>
                  </a:lnTo>
                  <a:lnTo>
                    <a:pt x="9849" y="2779"/>
                  </a:lnTo>
                  <a:lnTo>
                    <a:pt x="8090" y="2779"/>
                  </a:lnTo>
                  <a:lnTo>
                    <a:pt x="8090" y="0"/>
                  </a:lnTo>
                  <a:close/>
                </a:path>
                <a:path w="11738" h="4564">
                  <a:moveTo>
                    <a:pt x="9981" y="0"/>
                  </a:moveTo>
                  <a:lnTo>
                    <a:pt x="11738" y="0"/>
                  </a:lnTo>
                  <a:lnTo>
                    <a:pt x="11738" y="2779"/>
                  </a:lnTo>
                  <a:lnTo>
                    <a:pt x="9981" y="2779"/>
                  </a:lnTo>
                  <a:lnTo>
                    <a:pt x="998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68" name="path 368"/>
            <p:cNvSpPr/>
            <p:nvPr/>
          </p:nvSpPr>
          <p:spPr>
            <a:xfrm>
              <a:off x="1094231" y="4571"/>
              <a:ext cx="7740396" cy="359664"/>
            </a:xfrm>
            <a:custGeom>
              <a:avLst/>
              <a:gdLst/>
              <a:ahLst/>
              <a:cxnLst/>
              <a:rect l="0" t="0" r="0" b="0"/>
              <a:pathLst>
                <a:path w="12189" h="566">
                  <a:moveTo>
                    <a:pt x="0" y="0"/>
                  </a:moveTo>
                  <a:lnTo>
                    <a:pt x="12189" y="0"/>
                  </a:lnTo>
                  <a:lnTo>
                    <a:pt x="12189" y="566"/>
                  </a:lnTo>
                  <a:lnTo>
                    <a:pt x="0" y="5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2F3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370" name="textbox 370"/>
          <p:cNvSpPr/>
          <p:nvPr/>
        </p:nvSpPr>
        <p:spPr>
          <a:xfrm>
            <a:off x="364439" y="346695"/>
            <a:ext cx="11233150" cy="5200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87000"/>
              </a:lnSpc>
              <a:spcBef>
                <a:spcPts val="1"/>
              </a:spcBef>
              <a:tabLst>
                <a:tab pos="763269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YMS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系统架构图                                                  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72" name="picture 3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565713" y="381062"/>
            <a:ext cx="1931803" cy="412600"/>
          </a:xfrm>
          <a:prstGeom prst="rect">
            <a:avLst/>
          </a:prstGeom>
        </p:spPr>
      </p:pic>
      <p:pic>
        <p:nvPicPr>
          <p:cNvPr id="374" name="picture 3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77139" y="359395"/>
            <a:ext cx="584153" cy="473386"/>
          </a:xfrm>
          <a:prstGeom prst="rect">
            <a:avLst/>
          </a:prstGeom>
        </p:spPr>
      </p:pic>
      <p:sp>
        <p:nvSpPr>
          <p:cNvPr id="376" name="textbox 376"/>
          <p:cNvSpPr/>
          <p:nvPr/>
        </p:nvSpPr>
        <p:spPr>
          <a:xfrm>
            <a:off x="1019555" y="5752934"/>
            <a:ext cx="10153015" cy="504825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endParaRPr/>
          </a:p>
        </p:txBody>
      </p:sp>
      <p:sp>
        <p:nvSpPr>
          <p:cNvPr id="378" name="rect 378"/>
          <p:cNvSpPr/>
          <p:nvPr/>
        </p:nvSpPr>
        <p:spPr>
          <a:xfrm>
            <a:off x="1019555" y="1018032"/>
            <a:ext cx="10152888" cy="504444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80" name="rect 380"/>
          <p:cNvSpPr/>
          <p:nvPr/>
        </p:nvSpPr>
        <p:spPr>
          <a:xfrm>
            <a:off x="10041635" y="1764791"/>
            <a:ext cx="1021080" cy="288035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82" name="rect 382"/>
          <p:cNvSpPr/>
          <p:nvPr/>
        </p:nvSpPr>
        <p:spPr>
          <a:xfrm>
            <a:off x="10041635" y="4223003"/>
            <a:ext cx="1021080" cy="288035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84" name="rect 384"/>
          <p:cNvSpPr/>
          <p:nvPr/>
        </p:nvSpPr>
        <p:spPr>
          <a:xfrm>
            <a:off x="10041635" y="2584704"/>
            <a:ext cx="1021080" cy="288035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86" name="rect 386"/>
          <p:cNvSpPr/>
          <p:nvPr/>
        </p:nvSpPr>
        <p:spPr>
          <a:xfrm>
            <a:off x="10041635" y="4632959"/>
            <a:ext cx="1021080" cy="288035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88" name="rect 388"/>
          <p:cNvSpPr/>
          <p:nvPr/>
        </p:nvSpPr>
        <p:spPr>
          <a:xfrm>
            <a:off x="10041635" y="3813048"/>
            <a:ext cx="1021080" cy="288035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90" name="rect 390"/>
          <p:cNvSpPr/>
          <p:nvPr/>
        </p:nvSpPr>
        <p:spPr>
          <a:xfrm>
            <a:off x="9724644" y="5262371"/>
            <a:ext cx="1150619" cy="288035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92" name="rect 392"/>
          <p:cNvSpPr/>
          <p:nvPr/>
        </p:nvSpPr>
        <p:spPr>
          <a:xfrm>
            <a:off x="10041635" y="3403091"/>
            <a:ext cx="1021080" cy="288035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94" name="rect 394"/>
          <p:cNvSpPr/>
          <p:nvPr/>
        </p:nvSpPr>
        <p:spPr>
          <a:xfrm>
            <a:off x="10041635" y="2994659"/>
            <a:ext cx="1021080" cy="286512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96" name="rect 396"/>
          <p:cNvSpPr/>
          <p:nvPr/>
        </p:nvSpPr>
        <p:spPr>
          <a:xfrm>
            <a:off x="10041635" y="2174747"/>
            <a:ext cx="1021080" cy="288035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98" name="textbox 398"/>
          <p:cNvSpPr/>
          <p:nvPr/>
        </p:nvSpPr>
        <p:spPr>
          <a:xfrm>
            <a:off x="9711944" y="1811274"/>
            <a:ext cx="1363980" cy="36804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4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29565" algn="l" rtl="0" eaLnBrk="0">
              <a:lnSpc>
                <a:spcPct val="78000"/>
              </a:lnSpc>
              <a:tabLst>
                <a:tab pos="539115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数字大屏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329565" algn="l" rtl="0" eaLnBrk="0">
              <a:lnSpc>
                <a:spcPct val="227000"/>
              </a:lnSpc>
              <a:spcBef>
                <a:spcPts val="27"/>
              </a:spcBef>
              <a:tabLst>
                <a:tab pos="535305" algn="l"/>
                <a:tab pos="577850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IOT地磅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GPS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定位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329565" algn="l" rtl="0" eaLnBrk="0">
              <a:lnSpc>
                <a:spcPct val="223000"/>
              </a:lnSpc>
              <a:spcBef>
                <a:spcPts val="79"/>
              </a:spcBef>
              <a:tabLst>
                <a:tab pos="535305" algn="l"/>
                <a:tab pos="541655" algn="l"/>
                <a:tab pos="542925" algn="l"/>
                <a:tab pos="549909" algn="l"/>
                <a:tab pos="553719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GPS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导航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智能道闸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访客门禁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园区音柱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电子围栏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spcBef>
                <a:spcPts val="3"/>
              </a:spcBef>
              <a:tabLst>
                <a:tab pos="2876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装卸称重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28" name="group 28"/>
          <p:cNvGrpSpPr/>
          <p:nvPr/>
        </p:nvGrpSpPr>
        <p:grpSpPr>
          <a:xfrm rot="21600000">
            <a:off x="1506034" y="1126235"/>
            <a:ext cx="9075098" cy="288035"/>
            <a:chOff x="0" y="0"/>
            <a:chExt cx="9075098" cy="288035"/>
          </a:xfrm>
        </p:grpSpPr>
        <p:sp>
          <p:nvSpPr>
            <p:cNvPr id="400" name="path 400"/>
            <p:cNvSpPr/>
            <p:nvPr/>
          </p:nvSpPr>
          <p:spPr>
            <a:xfrm>
              <a:off x="1545013" y="0"/>
              <a:ext cx="7530084" cy="288035"/>
            </a:xfrm>
            <a:custGeom>
              <a:avLst/>
              <a:gdLst/>
              <a:ahLst/>
              <a:cxnLst/>
              <a:rect l="0" t="0" r="0" b="0"/>
              <a:pathLst>
                <a:path w="11858" h="453">
                  <a:moveTo>
                    <a:pt x="0" y="0"/>
                  </a:moveTo>
                  <a:lnTo>
                    <a:pt x="2155" y="0"/>
                  </a:lnTo>
                  <a:lnTo>
                    <a:pt x="2155" y="453"/>
                  </a:lnTo>
                  <a:lnTo>
                    <a:pt x="0" y="453"/>
                  </a:lnTo>
                  <a:lnTo>
                    <a:pt x="0" y="0"/>
                  </a:lnTo>
                  <a:close/>
                </a:path>
                <a:path w="11858" h="453">
                  <a:moveTo>
                    <a:pt x="9703" y="0"/>
                  </a:moveTo>
                  <a:lnTo>
                    <a:pt x="11858" y="0"/>
                  </a:lnTo>
                  <a:lnTo>
                    <a:pt x="11858" y="453"/>
                  </a:lnTo>
                  <a:lnTo>
                    <a:pt x="9703" y="453"/>
                  </a:lnTo>
                  <a:lnTo>
                    <a:pt x="9703" y="0"/>
                  </a:lnTo>
                  <a:close/>
                </a:path>
                <a:path w="11858" h="453">
                  <a:moveTo>
                    <a:pt x="2426" y="0"/>
                  </a:moveTo>
                  <a:lnTo>
                    <a:pt x="4579" y="0"/>
                  </a:lnTo>
                  <a:lnTo>
                    <a:pt x="4579" y="453"/>
                  </a:lnTo>
                  <a:lnTo>
                    <a:pt x="2426" y="453"/>
                  </a:lnTo>
                  <a:lnTo>
                    <a:pt x="2426" y="0"/>
                  </a:lnTo>
                  <a:close/>
                </a:path>
                <a:path w="11858" h="453">
                  <a:moveTo>
                    <a:pt x="7276" y="0"/>
                  </a:moveTo>
                  <a:lnTo>
                    <a:pt x="9432" y="0"/>
                  </a:lnTo>
                  <a:lnTo>
                    <a:pt x="9432" y="453"/>
                  </a:lnTo>
                  <a:lnTo>
                    <a:pt x="7276" y="453"/>
                  </a:lnTo>
                  <a:lnTo>
                    <a:pt x="7276" y="0"/>
                  </a:lnTo>
                  <a:close/>
                </a:path>
                <a:path w="11858" h="453">
                  <a:moveTo>
                    <a:pt x="4852" y="0"/>
                  </a:moveTo>
                  <a:lnTo>
                    <a:pt x="7005" y="0"/>
                  </a:lnTo>
                  <a:lnTo>
                    <a:pt x="7005" y="453"/>
                  </a:lnTo>
                  <a:lnTo>
                    <a:pt x="4852" y="453"/>
                  </a:lnTo>
                  <a:lnTo>
                    <a:pt x="485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02" name="textbox 402"/>
            <p:cNvSpPr/>
            <p:nvPr/>
          </p:nvSpPr>
          <p:spPr>
            <a:xfrm>
              <a:off x="-12700" y="-12700"/>
              <a:ext cx="9100819" cy="31369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7000"/>
                </a:lnSpc>
                <a:tabLst/>
              </a:pPr>
              <a:endParaRPr sz="2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1000"/>
                </a:lnSpc>
                <a:spcBef>
                  <a:spcPts val="1"/>
                </a:spcBef>
                <a:tabLst/>
              </a:pPr>
              <a:r>
                <a:rPr sz="1400" b="1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YMS</a:t>
              </a:r>
              <a:r>
                <a:rPr sz="1400" b="1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操作端               </a:t>
              </a:r>
              <a:r>
                <a:rPr sz="1400" b="1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B/S                             H5                           小程序                         APP                         LED大屏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404" name="rect 404"/>
          <p:cNvSpPr/>
          <p:nvPr/>
        </p:nvSpPr>
        <p:spPr>
          <a:xfrm>
            <a:off x="5177028" y="5861303"/>
            <a:ext cx="1043940" cy="288035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6" name="rect 406"/>
          <p:cNvSpPr/>
          <p:nvPr/>
        </p:nvSpPr>
        <p:spPr>
          <a:xfrm>
            <a:off x="6341363" y="5861303"/>
            <a:ext cx="1043939" cy="288035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8" name="rect 408"/>
          <p:cNvSpPr/>
          <p:nvPr/>
        </p:nvSpPr>
        <p:spPr>
          <a:xfrm>
            <a:off x="7504176" y="5861303"/>
            <a:ext cx="1043940" cy="288035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10" name="rect 410"/>
          <p:cNvSpPr/>
          <p:nvPr/>
        </p:nvSpPr>
        <p:spPr>
          <a:xfrm>
            <a:off x="4012691" y="5861303"/>
            <a:ext cx="1043939" cy="288035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12" name="rect 412"/>
          <p:cNvSpPr/>
          <p:nvPr/>
        </p:nvSpPr>
        <p:spPr>
          <a:xfrm>
            <a:off x="9831323" y="5861303"/>
            <a:ext cx="1043940" cy="288035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14" name="rect 414"/>
          <p:cNvSpPr/>
          <p:nvPr/>
        </p:nvSpPr>
        <p:spPr>
          <a:xfrm>
            <a:off x="2849879" y="5861303"/>
            <a:ext cx="1043939" cy="288035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16" name="rect 416"/>
          <p:cNvSpPr/>
          <p:nvPr/>
        </p:nvSpPr>
        <p:spPr>
          <a:xfrm>
            <a:off x="8668511" y="5861303"/>
            <a:ext cx="1043940" cy="288035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18" name="textbox 418"/>
          <p:cNvSpPr/>
          <p:nvPr/>
        </p:nvSpPr>
        <p:spPr>
          <a:xfrm>
            <a:off x="1355712" y="5853407"/>
            <a:ext cx="9532619" cy="252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781"/>
              </a:lnSpc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架构平台/服务       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基础框架             二开平台                 E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DI                作业调度         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用户权限体系          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部署服务             日志记录       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20" name="rect 420"/>
          <p:cNvSpPr/>
          <p:nvPr/>
        </p:nvSpPr>
        <p:spPr>
          <a:xfrm>
            <a:off x="1141476" y="2173223"/>
            <a:ext cx="792479" cy="288036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22" name="rect 422"/>
          <p:cNvSpPr/>
          <p:nvPr/>
        </p:nvSpPr>
        <p:spPr>
          <a:xfrm>
            <a:off x="1141476" y="1764791"/>
            <a:ext cx="792479" cy="288035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24" name="rect 424"/>
          <p:cNvSpPr/>
          <p:nvPr/>
        </p:nvSpPr>
        <p:spPr>
          <a:xfrm>
            <a:off x="1141476" y="2991611"/>
            <a:ext cx="792479" cy="288035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26" name="rect 426"/>
          <p:cNvSpPr/>
          <p:nvPr/>
        </p:nvSpPr>
        <p:spPr>
          <a:xfrm>
            <a:off x="1141476" y="3400044"/>
            <a:ext cx="792479" cy="288035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28" name="rect 428"/>
          <p:cNvSpPr/>
          <p:nvPr/>
        </p:nvSpPr>
        <p:spPr>
          <a:xfrm>
            <a:off x="1141476" y="3810000"/>
            <a:ext cx="792479" cy="286511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30" name="rect 430"/>
          <p:cNvSpPr/>
          <p:nvPr/>
        </p:nvSpPr>
        <p:spPr>
          <a:xfrm>
            <a:off x="1141476" y="2583179"/>
            <a:ext cx="792479" cy="288035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32" name="rect 432"/>
          <p:cNvSpPr/>
          <p:nvPr/>
        </p:nvSpPr>
        <p:spPr>
          <a:xfrm>
            <a:off x="1141476" y="4218432"/>
            <a:ext cx="792479" cy="288035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34" name="textbox 434"/>
          <p:cNvSpPr/>
          <p:nvPr/>
        </p:nvSpPr>
        <p:spPr>
          <a:xfrm>
            <a:off x="1128776" y="1825752"/>
            <a:ext cx="817880" cy="2622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3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>
                <a:tab pos="243840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TMS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7000"/>
              </a:lnSpc>
              <a:spcBef>
                <a:spcPts val="370"/>
              </a:spcBef>
              <a:tabLst>
                <a:tab pos="269240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ERP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spcBef>
                <a:spcPts val="367"/>
              </a:spcBef>
              <a:tabLst>
                <a:tab pos="238759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SCM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spcBef>
                <a:spcPts val="366"/>
              </a:spcBef>
              <a:tabLst>
                <a:tab pos="208279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WMS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spcBef>
                <a:spcPts val="366"/>
              </a:spcBef>
              <a:tabLst>
                <a:tab pos="304165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OA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spcBef>
                <a:spcPts val="366"/>
              </a:spcBef>
              <a:tabLst>
                <a:tab pos="23558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OMS     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spcBef>
                <a:spcPts val="3"/>
              </a:spcBef>
              <a:tabLst>
                <a:tab pos="26225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SAP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36" name="rect 436"/>
          <p:cNvSpPr/>
          <p:nvPr/>
        </p:nvSpPr>
        <p:spPr>
          <a:xfrm>
            <a:off x="6083058" y="2389187"/>
            <a:ext cx="1079995" cy="252005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38" name="rect 438"/>
          <p:cNvSpPr/>
          <p:nvPr/>
        </p:nvSpPr>
        <p:spPr>
          <a:xfrm>
            <a:off x="6083058" y="3423729"/>
            <a:ext cx="1079995" cy="252158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40" name="rect 440"/>
          <p:cNvSpPr/>
          <p:nvPr/>
        </p:nvSpPr>
        <p:spPr>
          <a:xfrm>
            <a:off x="6080379" y="2730969"/>
            <a:ext cx="1080007" cy="252006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42" name="rect 442"/>
          <p:cNvSpPr/>
          <p:nvPr/>
        </p:nvSpPr>
        <p:spPr>
          <a:xfrm>
            <a:off x="6080379" y="3078479"/>
            <a:ext cx="1080007" cy="252031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44" name="textbox 444"/>
          <p:cNvSpPr/>
          <p:nvPr/>
        </p:nvSpPr>
        <p:spPr>
          <a:xfrm>
            <a:off x="6067679" y="2425417"/>
            <a:ext cx="1108075" cy="12141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79000"/>
              </a:lnSpc>
              <a:tabLst>
                <a:tab pos="144145" algn="l"/>
              </a:tabLst>
            </a:pPr>
            <a:r>
              <a:rPr sz="11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1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月台排队看板   </a:t>
            </a:r>
            <a:endParaRPr sz="11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192000"/>
              </a:lnSpc>
              <a:spcBef>
                <a:spcPts val="22"/>
              </a:spcBef>
              <a:tabLst>
                <a:tab pos="255904" algn="l"/>
                <a:tab pos="257809" algn="l"/>
                <a:tab pos="262890" algn="l"/>
              </a:tabLst>
            </a:pP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-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园区看板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车辆看板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异常事件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6" name="rect 446"/>
          <p:cNvSpPr/>
          <p:nvPr/>
        </p:nvSpPr>
        <p:spPr>
          <a:xfrm>
            <a:off x="4933188" y="2389187"/>
            <a:ext cx="1080604" cy="252005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48" name="rect 448"/>
          <p:cNvSpPr/>
          <p:nvPr/>
        </p:nvSpPr>
        <p:spPr>
          <a:xfrm>
            <a:off x="4931130" y="2730969"/>
            <a:ext cx="1079994" cy="252006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50" name="rect 450"/>
          <p:cNvSpPr/>
          <p:nvPr/>
        </p:nvSpPr>
        <p:spPr>
          <a:xfrm>
            <a:off x="4931130" y="3078479"/>
            <a:ext cx="1079994" cy="252031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52" name="rect 452"/>
          <p:cNvSpPr/>
          <p:nvPr/>
        </p:nvSpPr>
        <p:spPr>
          <a:xfrm>
            <a:off x="4931118" y="3423729"/>
            <a:ext cx="1080007" cy="252158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54" name="textbox 454"/>
          <p:cNvSpPr/>
          <p:nvPr/>
        </p:nvSpPr>
        <p:spPr>
          <a:xfrm>
            <a:off x="4918418" y="2425136"/>
            <a:ext cx="1108075" cy="12071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7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79000"/>
              </a:lnSpc>
              <a:tabLst>
                <a:tab pos="140970" algn="l"/>
              </a:tabLst>
            </a:pPr>
            <a:r>
              <a:rPr sz="11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1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预约容量看板   </a:t>
            </a:r>
            <a:endParaRPr sz="11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202000"/>
              </a:lnSpc>
              <a:spcBef>
                <a:spcPts val="20"/>
              </a:spcBef>
              <a:tabLst>
                <a:tab pos="140970" algn="l"/>
                <a:tab pos="147320" algn="l"/>
                <a:tab pos="189229" algn="l"/>
              </a:tabLst>
            </a:pPr>
            <a:r>
              <a:rPr sz="11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1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月台排版看板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出入园申请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1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1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1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园区排队看板   </a:t>
            </a:r>
            <a:endParaRPr sz="11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56" name="rect 456"/>
          <p:cNvSpPr/>
          <p:nvPr/>
        </p:nvSpPr>
        <p:spPr>
          <a:xfrm>
            <a:off x="7480820" y="3078479"/>
            <a:ext cx="936232" cy="252031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58" name="rect 458"/>
          <p:cNvSpPr/>
          <p:nvPr/>
        </p:nvSpPr>
        <p:spPr>
          <a:xfrm>
            <a:off x="7482840" y="3423729"/>
            <a:ext cx="937259" cy="252158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60" name="rect 460"/>
          <p:cNvSpPr/>
          <p:nvPr/>
        </p:nvSpPr>
        <p:spPr>
          <a:xfrm>
            <a:off x="7482840" y="2389187"/>
            <a:ext cx="937259" cy="252005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62" name="rect 462"/>
          <p:cNvSpPr/>
          <p:nvPr/>
        </p:nvSpPr>
        <p:spPr>
          <a:xfrm>
            <a:off x="7480820" y="2730969"/>
            <a:ext cx="936232" cy="252006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64" name="textbox 464"/>
          <p:cNvSpPr/>
          <p:nvPr/>
        </p:nvSpPr>
        <p:spPr>
          <a:xfrm>
            <a:off x="7468120" y="2419095"/>
            <a:ext cx="965200" cy="12166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5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86000"/>
              </a:lnSpc>
              <a:tabLst>
                <a:tab pos="183514" algn="l"/>
              </a:tabLst>
            </a:pP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签到策略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6000"/>
              </a:lnSpc>
              <a:spcBef>
                <a:spcPts val="1449"/>
              </a:spcBef>
              <a:tabLst>
                <a:tab pos="180339" algn="l"/>
              </a:tabLst>
            </a:pP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排队策略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72"/>
              </a:spcBef>
              <a:tabLst>
                <a:tab pos="143510" algn="l"/>
              </a:tabLst>
            </a:pPr>
            <a:r>
              <a:rPr sz="9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月台分配策略    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86000"/>
              </a:lnSpc>
              <a:spcBef>
                <a:spcPts val="1"/>
              </a:spcBef>
              <a:tabLst>
                <a:tab pos="183514" algn="l"/>
              </a:tabLst>
            </a:pP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预约策略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66" name="rect 466"/>
          <p:cNvSpPr/>
          <p:nvPr/>
        </p:nvSpPr>
        <p:spPr>
          <a:xfrm>
            <a:off x="8686431" y="2389187"/>
            <a:ext cx="936104" cy="252005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68" name="rect 468"/>
          <p:cNvSpPr/>
          <p:nvPr/>
        </p:nvSpPr>
        <p:spPr>
          <a:xfrm>
            <a:off x="8683752" y="3078479"/>
            <a:ext cx="936015" cy="252031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70" name="rect 470"/>
          <p:cNvSpPr/>
          <p:nvPr/>
        </p:nvSpPr>
        <p:spPr>
          <a:xfrm>
            <a:off x="8683752" y="2730969"/>
            <a:ext cx="936015" cy="252006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72" name="rect 472"/>
          <p:cNvSpPr/>
          <p:nvPr/>
        </p:nvSpPr>
        <p:spPr>
          <a:xfrm>
            <a:off x="8686431" y="3423729"/>
            <a:ext cx="936104" cy="252158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74" name="textbox 474"/>
          <p:cNvSpPr/>
          <p:nvPr/>
        </p:nvSpPr>
        <p:spPr>
          <a:xfrm>
            <a:off x="8671052" y="2420010"/>
            <a:ext cx="964564" cy="1217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5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6000"/>
              </a:lnSpc>
              <a:tabLst>
                <a:tab pos="186689" algn="l"/>
              </a:tabLst>
            </a:pP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人效报表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72"/>
              </a:spcBef>
              <a:tabLst>
                <a:tab pos="143510" algn="l"/>
              </a:tabLst>
            </a:pPr>
            <a:r>
              <a:rPr sz="9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9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月台效率报表    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spcBef>
                <a:spcPts val="361"/>
              </a:spcBef>
              <a:tabLst>
                <a:tab pos="190500" algn="l"/>
              </a:tabLst>
            </a:pP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-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园区报表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6000"/>
              </a:lnSpc>
              <a:spcBef>
                <a:spcPts val="1"/>
              </a:spcBef>
              <a:tabLst>
                <a:tab pos="183514" algn="l"/>
              </a:tabLst>
            </a:pP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预约报表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30" name="group 30"/>
          <p:cNvGrpSpPr/>
          <p:nvPr/>
        </p:nvGrpSpPr>
        <p:grpSpPr>
          <a:xfrm rot="21600000">
            <a:off x="2467355" y="4573523"/>
            <a:ext cx="3464153" cy="252133"/>
            <a:chOff x="0" y="0"/>
            <a:chExt cx="3464153" cy="252133"/>
          </a:xfrm>
        </p:grpSpPr>
        <p:sp>
          <p:nvSpPr>
            <p:cNvPr id="476" name="path 476"/>
            <p:cNvSpPr/>
            <p:nvPr/>
          </p:nvSpPr>
          <p:spPr>
            <a:xfrm>
              <a:off x="0" y="0"/>
              <a:ext cx="3464153" cy="252133"/>
            </a:xfrm>
            <a:custGeom>
              <a:avLst/>
              <a:gdLst/>
              <a:ahLst/>
              <a:cxnLst/>
              <a:rect l="0" t="0" r="0" b="0"/>
              <a:pathLst>
                <a:path w="5455" h="397">
                  <a:moveTo>
                    <a:pt x="0" y="67"/>
                  </a:moveTo>
                  <a:moveTo>
                    <a:pt x="0" y="67"/>
                  </a:moveTo>
                  <a:cubicBezTo>
                    <a:pt x="0" y="29"/>
                    <a:pt x="30" y="0"/>
                    <a:pt x="67" y="0"/>
                  </a:cubicBezTo>
                  <a:lnTo>
                    <a:pt x="1634" y="0"/>
                  </a:lnTo>
                  <a:cubicBezTo>
                    <a:pt x="1672" y="0"/>
                    <a:pt x="1701" y="29"/>
                    <a:pt x="1701" y="67"/>
                  </a:cubicBezTo>
                  <a:lnTo>
                    <a:pt x="1701" y="331"/>
                  </a:lnTo>
                  <a:cubicBezTo>
                    <a:pt x="1701" y="367"/>
                    <a:pt x="1672" y="397"/>
                    <a:pt x="1634" y="395"/>
                  </a:cubicBezTo>
                  <a:lnTo>
                    <a:pt x="67" y="395"/>
                  </a:lnTo>
                  <a:cubicBezTo>
                    <a:pt x="30" y="397"/>
                    <a:pt x="0" y="367"/>
                    <a:pt x="0" y="331"/>
                  </a:cubicBezTo>
                  <a:lnTo>
                    <a:pt x="0" y="67"/>
                  </a:lnTo>
                </a:path>
                <a:path w="5455" h="397">
                  <a:moveTo>
                    <a:pt x="1876" y="67"/>
                  </a:moveTo>
                  <a:moveTo>
                    <a:pt x="1876" y="67"/>
                  </a:moveTo>
                  <a:cubicBezTo>
                    <a:pt x="1877" y="29"/>
                    <a:pt x="1907" y="0"/>
                    <a:pt x="1943" y="0"/>
                  </a:cubicBezTo>
                  <a:lnTo>
                    <a:pt x="3511" y="0"/>
                  </a:lnTo>
                  <a:cubicBezTo>
                    <a:pt x="3548" y="0"/>
                    <a:pt x="3578" y="29"/>
                    <a:pt x="3578" y="67"/>
                  </a:cubicBezTo>
                  <a:lnTo>
                    <a:pt x="3578" y="331"/>
                  </a:lnTo>
                  <a:cubicBezTo>
                    <a:pt x="3578" y="367"/>
                    <a:pt x="3548" y="397"/>
                    <a:pt x="3511" y="395"/>
                  </a:cubicBezTo>
                  <a:lnTo>
                    <a:pt x="1943" y="395"/>
                  </a:lnTo>
                  <a:cubicBezTo>
                    <a:pt x="1907" y="397"/>
                    <a:pt x="1877" y="367"/>
                    <a:pt x="1876" y="331"/>
                  </a:cubicBezTo>
                  <a:lnTo>
                    <a:pt x="1876" y="67"/>
                  </a:lnTo>
                </a:path>
                <a:path w="5455" h="397">
                  <a:moveTo>
                    <a:pt x="3753" y="67"/>
                  </a:moveTo>
                  <a:moveTo>
                    <a:pt x="3753" y="67"/>
                  </a:moveTo>
                  <a:cubicBezTo>
                    <a:pt x="3754" y="29"/>
                    <a:pt x="3784" y="0"/>
                    <a:pt x="3820" y="0"/>
                  </a:cubicBezTo>
                  <a:lnTo>
                    <a:pt x="5390" y="0"/>
                  </a:lnTo>
                  <a:cubicBezTo>
                    <a:pt x="5425" y="0"/>
                    <a:pt x="5455" y="29"/>
                    <a:pt x="5455" y="67"/>
                  </a:cubicBezTo>
                  <a:lnTo>
                    <a:pt x="5455" y="331"/>
                  </a:lnTo>
                  <a:cubicBezTo>
                    <a:pt x="5455" y="367"/>
                    <a:pt x="5425" y="397"/>
                    <a:pt x="5390" y="395"/>
                  </a:cubicBezTo>
                  <a:lnTo>
                    <a:pt x="3820" y="395"/>
                  </a:lnTo>
                  <a:cubicBezTo>
                    <a:pt x="3784" y="397"/>
                    <a:pt x="3754" y="367"/>
                    <a:pt x="3753" y="331"/>
                  </a:cubicBezTo>
                  <a:lnTo>
                    <a:pt x="3753" y="67"/>
                  </a:lnTo>
                </a:path>
              </a:pathLst>
            </a:custGeom>
            <a:solidFill>
              <a:srgbClr val="F2F2F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78" name="textbox 478"/>
            <p:cNvSpPr/>
            <p:nvPr/>
          </p:nvSpPr>
          <p:spPr>
            <a:xfrm>
              <a:off x="-12700" y="-12700"/>
              <a:ext cx="3489959" cy="2927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9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328929" algn="l" rtl="0" eaLnBrk="0">
                <a:lnSpc>
                  <a:spcPct val="86000"/>
                </a:lnSpc>
                <a:spcBef>
                  <a:spcPts val="1"/>
                </a:spcBef>
                <a:tabLst/>
              </a:pPr>
              <a:r>
                <a:rPr sz="1200" kern="0" spc="-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承运商</a:t>
              </a:r>
              <a:r>
                <a:rPr sz="1200" kern="0" spc="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</a:t>
              </a:r>
              <a:r>
                <a:rPr sz="1200" kern="0" spc="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</a:t>
              </a:r>
              <a:r>
                <a:rPr sz="1200" kern="0" spc="-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司机                    车辆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 rot="21600000">
            <a:off x="2467355" y="4253483"/>
            <a:ext cx="3464153" cy="252108"/>
            <a:chOff x="0" y="0"/>
            <a:chExt cx="3464153" cy="252108"/>
          </a:xfrm>
        </p:grpSpPr>
        <p:sp>
          <p:nvSpPr>
            <p:cNvPr id="480" name="path 480"/>
            <p:cNvSpPr/>
            <p:nvPr/>
          </p:nvSpPr>
          <p:spPr>
            <a:xfrm>
              <a:off x="0" y="0"/>
              <a:ext cx="3464153" cy="252108"/>
            </a:xfrm>
            <a:custGeom>
              <a:avLst/>
              <a:gdLst/>
              <a:ahLst/>
              <a:cxnLst/>
              <a:rect l="0" t="0" r="0" b="0"/>
              <a:pathLst>
                <a:path w="5455" h="397">
                  <a:moveTo>
                    <a:pt x="0" y="67"/>
                  </a:moveTo>
                  <a:moveTo>
                    <a:pt x="0" y="67"/>
                  </a:moveTo>
                  <a:cubicBezTo>
                    <a:pt x="0" y="29"/>
                    <a:pt x="30" y="0"/>
                    <a:pt x="67" y="0"/>
                  </a:cubicBezTo>
                  <a:lnTo>
                    <a:pt x="1634" y="0"/>
                  </a:lnTo>
                  <a:cubicBezTo>
                    <a:pt x="1672" y="0"/>
                    <a:pt x="1701" y="29"/>
                    <a:pt x="1701" y="67"/>
                  </a:cubicBezTo>
                  <a:lnTo>
                    <a:pt x="1701" y="331"/>
                  </a:lnTo>
                  <a:cubicBezTo>
                    <a:pt x="1701" y="367"/>
                    <a:pt x="1672" y="397"/>
                    <a:pt x="1634" y="396"/>
                  </a:cubicBezTo>
                  <a:lnTo>
                    <a:pt x="67" y="396"/>
                  </a:lnTo>
                  <a:cubicBezTo>
                    <a:pt x="30" y="397"/>
                    <a:pt x="0" y="367"/>
                    <a:pt x="0" y="331"/>
                  </a:cubicBezTo>
                  <a:lnTo>
                    <a:pt x="0" y="67"/>
                  </a:lnTo>
                </a:path>
                <a:path w="5455" h="397">
                  <a:moveTo>
                    <a:pt x="1876" y="67"/>
                  </a:moveTo>
                  <a:moveTo>
                    <a:pt x="1876" y="67"/>
                  </a:moveTo>
                  <a:cubicBezTo>
                    <a:pt x="1877" y="29"/>
                    <a:pt x="1907" y="0"/>
                    <a:pt x="1943" y="0"/>
                  </a:cubicBezTo>
                  <a:lnTo>
                    <a:pt x="3511" y="0"/>
                  </a:lnTo>
                  <a:cubicBezTo>
                    <a:pt x="3548" y="0"/>
                    <a:pt x="3578" y="29"/>
                    <a:pt x="3578" y="67"/>
                  </a:cubicBezTo>
                  <a:lnTo>
                    <a:pt x="3578" y="331"/>
                  </a:lnTo>
                  <a:cubicBezTo>
                    <a:pt x="3578" y="367"/>
                    <a:pt x="3548" y="397"/>
                    <a:pt x="3511" y="396"/>
                  </a:cubicBezTo>
                  <a:lnTo>
                    <a:pt x="1943" y="396"/>
                  </a:lnTo>
                  <a:cubicBezTo>
                    <a:pt x="1907" y="397"/>
                    <a:pt x="1877" y="367"/>
                    <a:pt x="1876" y="331"/>
                  </a:cubicBezTo>
                  <a:lnTo>
                    <a:pt x="1876" y="67"/>
                  </a:lnTo>
                </a:path>
                <a:path w="5455" h="397">
                  <a:moveTo>
                    <a:pt x="3753" y="67"/>
                  </a:moveTo>
                  <a:moveTo>
                    <a:pt x="3753" y="67"/>
                  </a:moveTo>
                  <a:cubicBezTo>
                    <a:pt x="3754" y="29"/>
                    <a:pt x="3784" y="0"/>
                    <a:pt x="3820" y="0"/>
                  </a:cubicBezTo>
                  <a:lnTo>
                    <a:pt x="5390" y="0"/>
                  </a:lnTo>
                  <a:cubicBezTo>
                    <a:pt x="5425" y="0"/>
                    <a:pt x="5455" y="29"/>
                    <a:pt x="5455" y="67"/>
                  </a:cubicBezTo>
                  <a:lnTo>
                    <a:pt x="5455" y="331"/>
                  </a:lnTo>
                  <a:cubicBezTo>
                    <a:pt x="5455" y="367"/>
                    <a:pt x="5425" y="397"/>
                    <a:pt x="5390" y="396"/>
                  </a:cubicBezTo>
                  <a:lnTo>
                    <a:pt x="3820" y="396"/>
                  </a:lnTo>
                  <a:cubicBezTo>
                    <a:pt x="3784" y="397"/>
                    <a:pt x="3754" y="367"/>
                    <a:pt x="3753" y="331"/>
                  </a:cubicBezTo>
                  <a:lnTo>
                    <a:pt x="3753" y="67"/>
                  </a:lnTo>
                </a:path>
              </a:pathLst>
            </a:custGeom>
            <a:solidFill>
              <a:srgbClr val="F2F2F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82" name="textbox 482"/>
            <p:cNvSpPr/>
            <p:nvPr/>
          </p:nvSpPr>
          <p:spPr>
            <a:xfrm>
              <a:off x="-12700" y="-12700"/>
              <a:ext cx="3489959" cy="2933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8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253365" algn="l" rtl="0" eaLnBrk="0">
                <a:lnSpc>
                  <a:spcPct val="87000"/>
                </a:lnSpc>
                <a:spcBef>
                  <a:spcPts val="2"/>
                </a:spcBef>
                <a:tabLst/>
              </a:pPr>
              <a:r>
                <a:rPr sz="1200" kern="0" spc="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产品数据            </a:t>
              </a:r>
              <a:r>
                <a:rPr sz="1200" kern="0" spc="-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产品分类               时间窗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 rot="21600000">
            <a:off x="8426196" y="4253483"/>
            <a:ext cx="1080680" cy="572173"/>
            <a:chOff x="0" y="0"/>
            <a:chExt cx="1080680" cy="572173"/>
          </a:xfrm>
        </p:grpSpPr>
        <p:sp>
          <p:nvSpPr>
            <p:cNvPr id="484" name="path 484"/>
            <p:cNvSpPr/>
            <p:nvPr/>
          </p:nvSpPr>
          <p:spPr>
            <a:xfrm>
              <a:off x="0" y="0"/>
              <a:ext cx="1080680" cy="572173"/>
            </a:xfrm>
            <a:custGeom>
              <a:avLst/>
              <a:gdLst/>
              <a:ahLst/>
              <a:cxnLst/>
              <a:rect l="0" t="0" r="0" b="0"/>
              <a:pathLst>
                <a:path w="1701" h="901">
                  <a:moveTo>
                    <a:pt x="0" y="67"/>
                  </a:moveTo>
                  <a:moveTo>
                    <a:pt x="0" y="67"/>
                  </a:moveTo>
                  <a:cubicBezTo>
                    <a:pt x="1" y="29"/>
                    <a:pt x="30" y="0"/>
                    <a:pt x="67" y="0"/>
                  </a:cubicBezTo>
                  <a:lnTo>
                    <a:pt x="1636" y="0"/>
                  </a:lnTo>
                  <a:cubicBezTo>
                    <a:pt x="1672" y="0"/>
                    <a:pt x="1701" y="29"/>
                    <a:pt x="1701" y="67"/>
                  </a:cubicBezTo>
                  <a:lnTo>
                    <a:pt x="1701" y="331"/>
                  </a:lnTo>
                  <a:cubicBezTo>
                    <a:pt x="1701" y="367"/>
                    <a:pt x="1672" y="397"/>
                    <a:pt x="1636" y="396"/>
                  </a:cubicBezTo>
                  <a:lnTo>
                    <a:pt x="67" y="396"/>
                  </a:lnTo>
                  <a:cubicBezTo>
                    <a:pt x="30" y="397"/>
                    <a:pt x="1" y="367"/>
                    <a:pt x="0" y="331"/>
                  </a:cubicBezTo>
                  <a:lnTo>
                    <a:pt x="0" y="67"/>
                  </a:lnTo>
                </a:path>
                <a:path w="1701" h="901">
                  <a:moveTo>
                    <a:pt x="0" y="571"/>
                  </a:moveTo>
                  <a:moveTo>
                    <a:pt x="0" y="571"/>
                  </a:moveTo>
                  <a:cubicBezTo>
                    <a:pt x="1" y="533"/>
                    <a:pt x="30" y="504"/>
                    <a:pt x="67" y="504"/>
                  </a:cubicBezTo>
                  <a:lnTo>
                    <a:pt x="1636" y="504"/>
                  </a:lnTo>
                  <a:cubicBezTo>
                    <a:pt x="1672" y="504"/>
                    <a:pt x="1701" y="533"/>
                    <a:pt x="1701" y="571"/>
                  </a:cubicBezTo>
                  <a:lnTo>
                    <a:pt x="1701" y="835"/>
                  </a:lnTo>
                  <a:cubicBezTo>
                    <a:pt x="1701" y="871"/>
                    <a:pt x="1672" y="901"/>
                    <a:pt x="1636" y="900"/>
                  </a:cubicBezTo>
                  <a:lnTo>
                    <a:pt x="67" y="900"/>
                  </a:lnTo>
                  <a:cubicBezTo>
                    <a:pt x="30" y="901"/>
                    <a:pt x="1" y="871"/>
                    <a:pt x="0" y="835"/>
                  </a:cubicBezTo>
                  <a:lnTo>
                    <a:pt x="0" y="571"/>
                  </a:lnTo>
                </a:path>
              </a:pathLst>
            </a:custGeom>
            <a:solidFill>
              <a:srgbClr val="F2F2F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86" name="textbox 486"/>
            <p:cNvSpPr/>
            <p:nvPr/>
          </p:nvSpPr>
          <p:spPr>
            <a:xfrm>
              <a:off x="-12700" y="-12700"/>
              <a:ext cx="1106169" cy="6127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8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257175" algn="l" rtl="0" eaLnBrk="0">
                <a:lnSpc>
                  <a:spcPct val="87000"/>
                </a:lnSpc>
                <a:spcBef>
                  <a:spcPts val="3"/>
                </a:spcBef>
                <a:tabLst/>
              </a:pPr>
              <a:r>
                <a:rPr sz="1200" kern="0" spc="-2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月台地点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06400" algn="l" rtl="0" eaLnBrk="0">
                <a:lnSpc>
                  <a:spcPct val="85000"/>
                </a:lnSpc>
                <a:spcBef>
                  <a:spcPts val="3"/>
                </a:spcBef>
                <a:tabLst/>
              </a:pPr>
              <a:r>
                <a:rPr sz="1200" kern="0" spc="-3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班组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 rot="21600000">
            <a:off x="7234427" y="4253483"/>
            <a:ext cx="1080656" cy="572173"/>
            <a:chOff x="0" y="0"/>
            <a:chExt cx="1080656" cy="572173"/>
          </a:xfrm>
        </p:grpSpPr>
        <p:sp>
          <p:nvSpPr>
            <p:cNvPr id="488" name="path 488"/>
            <p:cNvSpPr/>
            <p:nvPr/>
          </p:nvSpPr>
          <p:spPr>
            <a:xfrm>
              <a:off x="0" y="0"/>
              <a:ext cx="1080656" cy="572173"/>
            </a:xfrm>
            <a:custGeom>
              <a:avLst/>
              <a:gdLst/>
              <a:ahLst/>
              <a:cxnLst/>
              <a:rect l="0" t="0" r="0" b="0"/>
              <a:pathLst>
                <a:path w="1701" h="901">
                  <a:moveTo>
                    <a:pt x="0" y="67"/>
                  </a:moveTo>
                  <a:moveTo>
                    <a:pt x="0" y="67"/>
                  </a:moveTo>
                  <a:cubicBezTo>
                    <a:pt x="1" y="29"/>
                    <a:pt x="30" y="0"/>
                    <a:pt x="67" y="0"/>
                  </a:cubicBezTo>
                  <a:lnTo>
                    <a:pt x="1636" y="0"/>
                  </a:lnTo>
                  <a:cubicBezTo>
                    <a:pt x="1672" y="0"/>
                    <a:pt x="1701" y="29"/>
                    <a:pt x="1701" y="67"/>
                  </a:cubicBezTo>
                  <a:lnTo>
                    <a:pt x="1701" y="331"/>
                  </a:lnTo>
                  <a:cubicBezTo>
                    <a:pt x="1701" y="367"/>
                    <a:pt x="1672" y="397"/>
                    <a:pt x="1636" y="396"/>
                  </a:cubicBezTo>
                  <a:lnTo>
                    <a:pt x="67" y="396"/>
                  </a:lnTo>
                  <a:cubicBezTo>
                    <a:pt x="30" y="397"/>
                    <a:pt x="1" y="367"/>
                    <a:pt x="0" y="331"/>
                  </a:cubicBezTo>
                  <a:lnTo>
                    <a:pt x="0" y="67"/>
                  </a:lnTo>
                </a:path>
                <a:path w="1701" h="901">
                  <a:moveTo>
                    <a:pt x="0" y="571"/>
                  </a:moveTo>
                  <a:moveTo>
                    <a:pt x="0" y="571"/>
                  </a:moveTo>
                  <a:cubicBezTo>
                    <a:pt x="1" y="533"/>
                    <a:pt x="30" y="504"/>
                    <a:pt x="67" y="504"/>
                  </a:cubicBezTo>
                  <a:lnTo>
                    <a:pt x="1636" y="504"/>
                  </a:lnTo>
                  <a:cubicBezTo>
                    <a:pt x="1672" y="504"/>
                    <a:pt x="1701" y="533"/>
                    <a:pt x="1701" y="571"/>
                  </a:cubicBezTo>
                  <a:lnTo>
                    <a:pt x="1701" y="835"/>
                  </a:lnTo>
                  <a:cubicBezTo>
                    <a:pt x="1701" y="871"/>
                    <a:pt x="1672" y="901"/>
                    <a:pt x="1636" y="900"/>
                  </a:cubicBezTo>
                  <a:lnTo>
                    <a:pt x="67" y="900"/>
                  </a:lnTo>
                  <a:cubicBezTo>
                    <a:pt x="30" y="901"/>
                    <a:pt x="1" y="871"/>
                    <a:pt x="0" y="835"/>
                  </a:cubicBezTo>
                  <a:lnTo>
                    <a:pt x="0" y="571"/>
                  </a:lnTo>
                </a:path>
              </a:pathLst>
            </a:custGeom>
            <a:solidFill>
              <a:srgbClr val="F2F2F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90" name="textbox 490"/>
            <p:cNvSpPr/>
            <p:nvPr/>
          </p:nvSpPr>
          <p:spPr>
            <a:xfrm>
              <a:off x="-12700" y="-12700"/>
              <a:ext cx="1106169" cy="61404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8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405765" algn="l" rtl="0" eaLnBrk="0">
                <a:lnSpc>
                  <a:spcPct val="86000"/>
                </a:lnSpc>
                <a:spcBef>
                  <a:spcPts val="2"/>
                </a:spcBef>
                <a:tabLst/>
              </a:pPr>
              <a:r>
                <a:rPr sz="1200" kern="0" spc="-3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仓库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60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330834" algn="l" rtl="0" eaLnBrk="0">
                <a:lnSpc>
                  <a:spcPct val="86000"/>
                </a:lnSpc>
                <a:tabLst/>
              </a:pPr>
              <a:r>
                <a:rPr sz="1200" kern="0" spc="-2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定位卡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 rot="21600000">
            <a:off x="2375916" y="3078479"/>
            <a:ext cx="2208415" cy="252031"/>
            <a:chOff x="0" y="0"/>
            <a:chExt cx="2208415" cy="252031"/>
          </a:xfrm>
        </p:grpSpPr>
        <p:sp>
          <p:nvSpPr>
            <p:cNvPr id="492" name="path 492"/>
            <p:cNvSpPr/>
            <p:nvPr/>
          </p:nvSpPr>
          <p:spPr>
            <a:xfrm>
              <a:off x="0" y="0"/>
              <a:ext cx="2208415" cy="252031"/>
            </a:xfrm>
            <a:custGeom>
              <a:avLst/>
              <a:gdLst/>
              <a:ahLst/>
              <a:cxnLst/>
              <a:rect l="0" t="0" r="0" b="0"/>
              <a:pathLst>
                <a:path w="3477" h="396">
                  <a:moveTo>
                    <a:pt x="0" y="67"/>
                  </a:moveTo>
                  <a:moveTo>
                    <a:pt x="0" y="67"/>
                  </a:moveTo>
                  <a:cubicBezTo>
                    <a:pt x="0" y="29"/>
                    <a:pt x="30" y="0"/>
                    <a:pt x="67" y="0"/>
                  </a:cubicBezTo>
                  <a:lnTo>
                    <a:pt x="1634" y="0"/>
                  </a:lnTo>
                  <a:cubicBezTo>
                    <a:pt x="1671" y="0"/>
                    <a:pt x="1701" y="29"/>
                    <a:pt x="1701" y="67"/>
                  </a:cubicBezTo>
                  <a:lnTo>
                    <a:pt x="1701" y="331"/>
                  </a:lnTo>
                  <a:cubicBezTo>
                    <a:pt x="1701" y="367"/>
                    <a:pt x="1671" y="396"/>
                    <a:pt x="1634" y="396"/>
                  </a:cubicBezTo>
                  <a:lnTo>
                    <a:pt x="67" y="396"/>
                  </a:lnTo>
                  <a:cubicBezTo>
                    <a:pt x="30" y="396"/>
                    <a:pt x="0" y="367"/>
                    <a:pt x="0" y="331"/>
                  </a:cubicBezTo>
                  <a:lnTo>
                    <a:pt x="0" y="67"/>
                  </a:lnTo>
                </a:path>
                <a:path w="3477" h="396">
                  <a:moveTo>
                    <a:pt x="1775" y="67"/>
                  </a:moveTo>
                  <a:moveTo>
                    <a:pt x="1775" y="67"/>
                  </a:moveTo>
                  <a:cubicBezTo>
                    <a:pt x="1777" y="29"/>
                    <a:pt x="1806" y="0"/>
                    <a:pt x="1843" y="0"/>
                  </a:cubicBezTo>
                  <a:lnTo>
                    <a:pt x="3412" y="0"/>
                  </a:lnTo>
                  <a:cubicBezTo>
                    <a:pt x="3448" y="0"/>
                    <a:pt x="3477" y="29"/>
                    <a:pt x="3477" y="67"/>
                  </a:cubicBezTo>
                  <a:lnTo>
                    <a:pt x="3477" y="331"/>
                  </a:lnTo>
                  <a:cubicBezTo>
                    <a:pt x="3477" y="367"/>
                    <a:pt x="3448" y="396"/>
                    <a:pt x="3412" y="396"/>
                  </a:cubicBezTo>
                  <a:lnTo>
                    <a:pt x="1843" y="396"/>
                  </a:lnTo>
                  <a:cubicBezTo>
                    <a:pt x="1806" y="396"/>
                    <a:pt x="1777" y="367"/>
                    <a:pt x="1775" y="331"/>
                  </a:cubicBezTo>
                  <a:lnTo>
                    <a:pt x="1775" y="67"/>
                  </a:lnTo>
                </a:path>
              </a:pathLst>
            </a:custGeom>
            <a:solidFill>
              <a:srgbClr val="F2F2F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94" name="textbox 494"/>
            <p:cNvSpPr/>
            <p:nvPr/>
          </p:nvSpPr>
          <p:spPr>
            <a:xfrm>
              <a:off x="-12700" y="-12700"/>
              <a:ext cx="2233929" cy="2933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8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342265" algn="l" rtl="0" eaLnBrk="0">
                <a:lnSpc>
                  <a:spcPct val="87000"/>
                </a:lnSpc>
                <a:spcBef>
                  <a:spcPts val="3"/>
                </a:spcBef>
                <a:tabLst/>
              </a:pPr>
              <a:r>
                <a:rPr sz="1200" kern="0" spc="-3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出门证</a:t>
              </a:r>
              <a:r>
                <a:rPr sz="1200" kern="0" spc="2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</a:t>
              </a:r>
              <a:r>
                <a:rPr sz="1200" kern="0" spc="-3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月台分配单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 rot="21600000">
            <a:off x="2375916" y="2730969"/>
            <a:ext cx="2208415" cy="252006"/>
            <a:chOff x="0" y="0"/>
            <a:chExt cx="2208415" cy="252006"/>
          </a:xfrm>
        </p:grpSpPr>
        <p:sp>
          <p:nvSpPr>
            <p:cNvPr id="496" name="path 496"/>
            <p:cNvSpPr/>
            <p:nvPr/>
          </p:nvSpPr>
          <p:spPr>
            <a:xfrm>
              <a:off x="0" y="0"/>
              <a:ext cx="2208415" cy="252006"/>
            </a:xfrm>
            <a:custGeom>
              <a:avLst/>
              <a:gdLst/>
              <a:ahLst/>
              <a:cxnLst/>
              <a:rect l="0" t="0" r="0" b="0"/>
              <a:pathLst>
                <a:path w="3477" h="396">
                  <a:moveTo>
                    <a:pt x="0" y="67"/>
                  </a:moveTo>
                  <a:moveTo>
                    <a:pt x="0" y="67"/>
                  </a:moveTo>
                  <a:cubicBezTo>
                    <a:pt x="0" y="29"/>
                    <a:pt x="30" y="0"/>
                    <a:pt x="67" y="0"/>
                  </a:cubicBezTo>
                  <a:lnTo>
                    <a:pt x="1634" y="0"/>
                  </a:lnTo>
                  <a:cubicBezTo>
                    <a:pt x="1671" y="0"/>
                    <a:pt x="1701" y="29"/>
                    <a:pt x="1701" y="67"/>
                  </a:cubicBezTo>
                  <a:lnTo>
                    <a:pt x="1701" y="331"/>
                  </a:lnTo>
                  <a:cubicBezTo>
                    <a:pt x="1701" y="367"/>
                    <a:pt x="1671" y="396"/>
                    <a:pt x="1634" y="396"/>
                  </a:cubicBezTo>
                  <a:lnTo>
                    <a:pt x="67" y="396"/>
                  </a:lnTo>
                  <a:cubicBezTo>
                    <a:pt x="30" y="396"/>
                    <a:pt x="0" y="367"/>
                    <a:pt x="0" y="331"/>
                  </a:cubicBezTo>
                  <a:lnTo>
                    <a:pt x="0" y="67"/>
                  </a:lnTo>
                </a:path>
                <a:path w="3477" h="396">
                  <a:moveTo>
                    <a:pt x="1775" y="67"/>
                  </a:moveTo>
                  <a:moveTo>
                    <a:pt x="1775" y="67"/>
                  </a:moveTo>
                  <a:cubicBezTo>
                    <a:pt x="1777" y="29"/>
                    <a:pt x="1806" y="0"/>
                    <a:pt x="1843" y="0"/>
                  </a:cubicBezTo>
                  <a:lnTo>
                    <a:pt x="3412" y="0"/>
                  </a:lnTo>
                  <a:cubicBezTo>
                    <a:pt x="3448" y="0"/>
                    <a:pt x="3477" y="29"/>
                    <a:pt x="3477" y="67"/>
                  </a:cubicBezTo>
                  <a:lnTo>
                    <a:pt x="3477" y="331"/>
                  </a:lnTo>
                  <a:cubicBezTo>
                    <a:pt x="3477" y="367"/>
                    <a:pt x="3448" y="396"/>
                    <a:pt x="3412" y="396"/>
                  </a:cubicBezTo>
                  <a:lnTo>
                    <a:pt x="1843" y="396"/>
                  </a:lnTo>
                  <a:cubicBezTo>
                    <a:pt x="1806" y="396"/>
                    <a:pt x="1777" y="367"/>
                    <a:pt x="1775" y="331"/>
                  </a:cubicBezTo>
                  <a:lnTo>
                    <a:pt x="1775" y="67"/>
                  </a:lnTo>
                </a:path>
              </a:pathLst>
            </a:custGeom>
            <a:solidFill>
              <a:srgbClr val="F2F2F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98" name="textbox 498"/>
            <p:cNvSpPr/>
            <p:nvPr/>
          </p:nvSpPr>
          <p:spPr>
            <a:xfrm>
              <a:off x="-12700" y="-12700"/>
              <a:ext cx="2233929" cy="2927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7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330200" algn="l" rtl="0" eaLnBrk="0">
                <a:lnSpc>
                  <a:spcPct val="87000"/>
                </a:lnSpc>
                <a:spcBef>
                  <a:spcPts val="1"/>
                </a:spcBef>
                <a:tabLst/>
              </a:pPr>
              <a:r>
                <a:rPr sz="1200" kern="0" spc="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预约单        </a:t>
              </a:r>
              <a:r>
                <a:rPr sz="1200" kern="0" spc="-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磅重单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 rot="21600000">
            <a:off x="2378964" y="2389187"/>
            <a:ext cx="2208276" cy="252005"/>
            <a:chOff x="0" y="0"/>
            <a:chExt cx="2208276" cy="252005"/>
          </a:xfrm>
        </p:grpSpPr>
        <p:sp>
          <p:nvSpPr>
            <p:cNvPr id="500" name="path 500"/>
            <p:cNvSpPr/>
            <p:nvPr/>
          </p:nvSpPr>
          <p:spPr>
            <a:xfrm>
              <a:off x="0" y="0"/>
              <a:ext cx="2208276" cy="252005"/>
            </a:xfrm>
            <a:custGeom>
              <a:avLst/>
              <a:gdLst/>
              <a:ahLst/>
              <a:cxnLst/>
              <a:rect l="0" t="0" r="0" b="0"/>
              <a:pathLst>
                <a:path w="3477" h="396">
                  <a:moveTo>
                    <a:pt x="0" y="65"/>
                  </a:moveTo>
                  <a:moveTo>
                    <a:pt x="0" y="65"/>
                  </a:moveTo>
                  <a:cubicBezTo>
                    <a:pt x="0" y="29"/>
                    <a:pt x="29" y="0"/>
                    <a:pt x="67" y="0"/>
                  </a:cubicBezTo>
                  <a:lnTo>
                    <a:pt x="1634" y="0"/>
                  </a:lnTo>
                  <a:cubicBezTo>
                    <a:pt x="1671" y="0"/>
                    <a:pt x="1700" y="29"/>
                    <a:pt x="1701" y="65"/>
                  </a:cubicBezTo>
                  <a:lnTo>
                    <a:pt x="1701" y="331"/>
                  </a:lnTo>
                  <a:cubicBezTo>
                    <a:pt x="1700" y="367"/>
                    <a:pt x="1671" y="396"/>
                    <a:pt x="1634" y="396"/>
                  </a:cubicBezTo>
                  <a:lnTo>
                    <a:pt x="67" y="396"/>
                  </a:lnTo>
                  <a:cubicBezTo>
                    <a:pt x="29" y="396"/>
                    <a:pt x="0" y="367"/>
                    <a:pt x="0" y="331"/>
                  </a:cubicBezTo>
                  <a:lnTo>
                    <a:pt x="0" y="65"/>
                  </a:lnTo>
                </a:path>
                <a:path w="3477" h="396">
                  <a:moveTo>
                    <a:pt x="1775" y="65"/>
                  </a:moveTo>
                  <a:moveTo>
                    <a:pt x="1775" y="65"/>
                  </a:moveTo>
                  <a:cubicBezTo>
                    <a:pt x="1776" y="29"/>
                    <a:pt x="1806" y="0"/>
                    <a:pt x="1843" y="0"/>
                  </a:cubicBezTo>
                  <a:lnTo>
                    <a:pt x="3410" y="0"/>
                  </a:lnTo>
                  <a:cubicBezTo>
                    <a:pt x="3447" y="0"/>
                    <a:pt x="3477" y="29"/>
                    <a:pt x="3477" y="65"/>
                  </a:cubicBezTo>
                  <a:lnTo>
                    <a:pt x="3477" y="331"/>
                  </a:lnTo>
                  <a:cubicBezTo>
                    <a:pt x="3477" y="367"/>
                    <a:pt x="3447" y="396"/>
                    <a:pt x="3410" y="396"/>
                  </a:cubicBezTo>
                  <a:lnTo>
                    <a:pt x="1843" y="396"/>
                  </a:lnTo>
                  <a:cubicBezTo>
                    <a:pt x="1806" y="396"/>
                    <a:pt x="1776" y="367"/>
                    <a:pt x="1775" y="331"/>
                  </a:cubicBezTo>
                  <a:lnTo>
                    <a:pt x="1775" y="65"/>
                  </a:lnTo>
                </a:path>
              </a:pathLst>
            </a:custGeom>
            <a:solidFill>
              <a:srgbClr val="F2F2F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02" name="textbox 502"/>
            <p:cNvSpPr/>
            <p:nvPr/>
          </p:nvSpPr>
          <p:spPr>
            <a:xfrm>
              <a:off x="-12700" y="-12700"/>
              <a:ext cx="2233929" cy="2927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7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77800" algn="l" rtl="0" eaLnBrk="0">
                <a:lnSpc>
                  <a:spcPct val="87000"/>
                </a:lnSpc>
                <a:spcBef>
                  <a:spcPts val="1"/>
                </a:spcBef>
                <a:tabLst/>
              </a:pPr>
              <a:r>
                <a:rPr sz="1200" kern="0" spc="-2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用车需求单</a:t>
              </a:r>
              <a:r>
                <a:rPr sz="1200" kern="0" spc="2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</a:t>
              </a:r>
              <a:r>
                <a:rPr sz="1200" kern="0" spc="-2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装配单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504" name="textbox 504"/>
          <p:cNvSpPr/>
          <p:nvPr/>
        </p:nvSpPr>
        <p:spPr>
          <a:xfrm>
            <a:off x="2375916" y="3423729"/>
            <a:ext cx="2187575" cy="252729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4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654050" algn="l" rtl="0" eaLnBrk="0">
              <a:lnSpc>
                <a:spcPct val="86000"/>
              </a:lnSpc>
              <a:spcBef>
                <a:spcPts val="2"/>
              </a:spcBef>
              <a:tabLst/>
            </a:pPr>
            <a:r>
              <a:rPr sz="12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出入园申请单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06" name="textbox 506"/>
          <p:cNvSpPr/>
          <p:nvPr/>
        </p:nvSpPr>
        <p:spPr>
          <a:xfrm>
            <a:off x="4515230" y="1663652"/>
            <a:ext cx="2948304" cy="210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GWALL-YMS园区仓储物流管理系统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08" name="textbox 508"/>
          <p:cNvSpPr/>
          <p:nvPr/>
        </p:nvSpPr>
        <p:spPr>
          <a:xfrm>
            <a:off x="3364991" y="5257800"/>
            <a:ext cx="1152525" cy="28829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75590" algn="l" rtl="0" eaLnBrk="0">
              <a:lnSpc>
                <a:spcPct val="86000"/>
              </a:lnSpc>
              <a:spcBef>
                <a:spcPts val="2"/>
              </a:spcBef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装车发运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10" name="textbox 510"/>
          <p:cNvSpPr/>
          <p:nvPr/>
        </p:nvSpPr>
        <p:spPr>
          <a:xfrm>
            <a:off x="4611623" y="5257800"/>
            <a:ext cx="1152525" cy="28829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76859" algn="l" rtl="0" eaLnBrk="0">
              <a:lnSpc>
                <a:spcPct val="86000"/>
              </a:lnSpc>
              <a:spcBef>
                <a:spcPts val="3"/>
              </a:spcBef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到园管理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12" name="textbox 512"/>
          <p:cNvSpPr/>
          <p:nvPr/>
        </p:nvSpPr>
        <p:spPr>
          <a:xfrm>
            <a:off x="7229856" y="5262371"/>
            <a:ext cx="1152525" cy="28829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76225" algn="l" rtl="0" eaLnBrk="0">
              <a:lnSpc>
                <a:spcPct val="86000"/>
              </a:lnSpc>
              <a:spcBef>
                <a:spcPts val="2"/>
              </a:spcBef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预约到货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14" name="textbox 514"/>
          <p:cNvSpPr/>
          <p:nvPr/>
        </p:nvSpPr>
        <p:spPr>
          <a:xfrm>
            <a:off x="2118360" y="5257800"/>
            <a:ext cx="1150619" cy="28829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98754" algn="l" rtl="0" eaLnBrk="0">
              <a:lnSpc>
                <a:spcPct val="86000"/>
              </a:lnSpc>
              <a:spcBef>
                <a:spcPts val="1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承运商司机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16" name="textbox 516"/>
          <p:cNvSpPr/>
          <p:nvPr/>
        </p:nvSpPr>
        <p:spPr>
          <a:xfrm>
            <a:off x="8476488" y="5268467"/>
            <a:ext cx="1152525" cy="276225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80034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月台装卸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18" name="textbox 518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0" name="textbox 520"/>
          <p:cNvSpPr/>
          <p:nvPr/>
        </p:nvSpPr>
        <p:spPr>
          <a:xfrm>
            <a:off x="6042659" y="4573523"/>
            <a:ext cx="1080769" cy="252729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314959" algn="l" rtl="0" eaLnBrk="0">
              <a:lnSpc>
                <a:spcPct val="86000"/>
              </a:lnSpc>
              <a:spcBef>
                <a:spcPts val="2"/>
              </a:spcBef>
              <a:tabLst/>
            </a:pP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供应商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2" name="textbox 522"/>
          <p:cNvSpPr/>
          <p:nvPr/>
        </p:nvSpPr>
        <p:spPr>
          <a:xfrm>
            <a:off x="6042659" y="4253483"/>
            <a:ext cx="1080769" cy="252729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403225" algn="l" rtl="0" eaLnBrk="0">
              <a:lnSpc>
                <a:spcPct val="80000"/>
              </a:lnSpc>
              <a:spcBef>
                <a:spcPts val="1"/>
              </a:spcBef>
              <a:tabLst/>
            </a:pPr>
            <a:r>
              <a:rPr sz="1200" kern="0" spc="-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园区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4" name="textbox 524"/>
          <p:cNvSpPr/>
          <p:nvPr/>
        </p:nvSpPr>
        <p:spPr>
          <a:xfrm>
            <a:off x="7641259" y="2103589"/>
            <a:ext cx="1829435" cy="1835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4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策略管理             数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据中心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6" name="textbox 526"/>
          <p:cNvSpPr/>
          <p:nvPr/>
        </p:nvSpPr>
        <p:spPr>
          <a:xfrm>
            <a:off x="1141476" y="4626863"/>
            <a:ext cx="792480" cy="28829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9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35584" algn="l" rtl="0" eaLnBrk="0">
              <a:lnSpc>
                <a:spcPct val="79000"/>
              </a:lnSpc>
              <a:spcBef>
                <a:spcPts val="4"/>
              </a:spcBef>
              <a:tabLst/>
            </a:pP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MES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8" name="textbox 528"/>
          <p:cNvSpPr/>
          <p:nvPr/>
        </p:nvSpPr>
        <p:spPr>
          <a:xfrm>
            <a:off x="3172511" y="2102523"/>
            <a:ext cx="626744" cy="1828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4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单据管理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30" name="textbox 530"/>
          <p:cNvSpPr/>
          <p:nvPr/>
        </p:nvSpPr>
        <p:spPr>
          <a:xfrm>
            <a:off x="5671693" y="3959009"/>
            <a:ext cx="629919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56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基础数据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32" name="textbox 532"/>
          <p:cNvSpPr/>
          <p:nvPr/>
        </p:nvSpPr>
        <p:spPr>
          <a:xfrm>
            <a:off x="5744667" y="2104199"/>
            <a:ext cx="619759" cy="1822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5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园区管理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34" name="textbox 534"/>
          <p:cNvSpPr/>
          <p:nvPr/>
        </p:nvSpPr>
        <p:spPr>
          <a:xfrm>
            <a:off x="6436987" y="5305710"/>
            <a:ext cx="494665" cy="1924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3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WMS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36" name="textbox 536"/>
          <p:cNvSpPr/>
          <p:nvPr/>
        </p:nvSpPr>
        <p:spPr>
          <a:xfrm>
            <a:off x="1324804" y="5301088"/>
            <a:ext cx="412115" cy="1924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3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sz="1400" b="1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TMS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38" name="picture 5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548116" y="4969764"/>
            <a:ext cx="219456" cy="245364"/>
          </a:xfrm>
          <a:prstGeom prst="rect">
            <a:avLst/>
          </a:prstGeom>
        </p:spPr>
      </p:pic>
      <p:pic>
        <p:nvPicPr>
          <p:cNvPr id="540" name="picture 5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436620" y="4969764"/>
            <a:ext cx="219455" cy="245364"/>
          </a:xfrm>
          <a:prstGeom prst="rect">
            <a:avLst/>
          </a:prstGeom>
        </p:spPr>
      </p:pic>
      <p:pic>
        <p:nvPicPr>
          <p:cNvPr id="542" name="picture 5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985772" y="2657652"/>
            <a:ext cx="245363" cy="219455"/>
          </a:xfrm>
          <a:prstGeom prst="rect">
            <a:avLst/>
          </a:prstGeom>
        </p:spPr>
      </p:pic>
      <p:pic>
        <p:nvPicPr>
          <p:cNvPr id="544" name="picture 5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985772" y="4238040"/>
            <a:ext cx="245363" cy="21945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4"/>
          <p:cNvGrpSpPr/>
          <p:nvPr/>
        </p:nvGrpSpPr>
        <p:grpSpPr>
          <a:xfrm rot="21600000">
            <a:off x="1019555" y="2561844"/>
            <a:ext cx="10152887" cy="1368551"/>
            <a:chOff x="0" y="0"/>
            <a:chExt cx="10152887" cy="1368551"/>
          </a:xfrm>
        </p:grpSpPr>
        <p:sp>
          <p:nvSpPr>
            <p:cNvPr id="546" name="rect 546"/>
            <p:cNvSpPr/>
            <p:nvPr/>
          </p:nvSpPr>
          <p:spPr>
            <a:xfrm>
              <a:off x="0" y="0"/>
              <a:ext cx="10152887" cy="1368551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48" name="rect 548"/>
            <p:cNvSpPr/>
            <p:nvPr/>
          </p:nvSpPr>
          <p:spPr>
            <a:xfrm>
              <a:off x="1632204" y="149351"/>
              <a:ext cx="8176259" cy="324611"/>
            </a:xfrm>
            <a:prstGeom prst="rect">
              <a:avLst/>
            </a:prstGeom>
            <a:solidFill>
              <a:srgbClr val="E52F3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50" name="rect 550"/>
            <p:cNvSpPr/>
            <p:nvPr/>
          </p:nvSpPr>
          <p:spPr>
            <a:xfrm>
              <a:off x="1632204" y="568451"/>
              <a:ext cx="4018788" cy="27736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52" name="rect 552"/>
            <p:cNvSpPr/>
            <p:nvPr/>
          </p:nvSpPr>
          <p:spPr>
            <a:xfrm>
              <a:off x="1632204" y="940308"/>
              <a:ext cx="1248156" cy="2773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54" name="textbox 554"/>
            <p:cNvSpPr/>
            <p:nvPr/>
          </p:nvSpPr>
          <p:spPr>
            <a:xfrm>
              <a:off x="1945106" y="193196"/>
              <a:ext cx="4769484" cy="9728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040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7000"/>
                </a:lnSpc>
                <a:tabLst/>
              </a:pPr>
              <a:r>
                <a:rPr sz="1400" b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基于园区物流管控的系</a:t>
              </a:r>
              <a:r>
                <a:rPr sz="1400" b="1" kern="0" spc="-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统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369694" algn="l" rtl="0" eaLnBrk="0">
                <a:lnSpc>
                  <a:spcPct val="87000"/>
                </a:lnSpc>
                <a:spcBef>
                  <a:spcPts val="361"/>
                </a:spcBef>
                <a:tabLst/>
              </a:pPr>
              <a:r>
                <a:rPr sz="1200" kern="0" spc="8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发运业务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6000"/>
                </a:lnSpc>
                <a:spcBef>
                  <a:spcPts val="2"/>
                </a:spcBef>
                <a:tabLst/>
              </a:pP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用车需求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556" name="picture 55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274320" y="149351"/>
              <a:ext cx="1078991" cy="1068323"/>
            </a:xfrm>
            <a:prstGeom prst="rect">
              <a:avLst/>
            </a:prstGeom>
          </p:spPr>
        </p:pic>
        <p:sp>
          <p:nvSpPr>
            <p:cNvPr id="558" name="rect 558"/>
            <p:cNvSpPr/>
            <p:nvPr/>
          </p:nvSpPr>
          <p:spPr>
            <a:xfrm>
              <a:off x="5789675" y="568451"/>
              <a:ext cx="4018788" cy="27736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60" name="rect 560"/>
            <p:cNvSpPr/>
            <p:nvPr/>
          </p:nvSpPr>
          <p:spPr>
            <a:xfrm>
              <a:off x="7174991" y="940308"/>
              <a:ext cx="1248156" cy="2773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62" name="rect 562"/>
            <p:cNvSpPr/>
            <p:nvPr/>
          </p:nvSpPr>
          <p:spPr>
            <a:xfrm>
              <a:off x="3017519" y="940308"/>
              <a:ext cx="1248155" cy="2773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64" name="rect 564"/>
            <p:cNvSpPr/>
            <p:nvPr/>
          </p:nvSpPr>
          <p:spPr>
            <a:xfrm>
              <a:off x="5789675" y="940308"/>
              <a:ext cx="1248155" cy="2773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66" name="rect 566"/>
            <p:cNvSpPr/>
            <p:nvPr/>
          </p:nvSpPr>
          <p:spPr>
            <a:xfrm>
              <a:off x="4404359" y="940308"/>
              <a:ext cx="1246632" cy="2773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68" name="rect 568"/>
            <p:cNvSpPr/>
            <p:nvPr/>
          </p:nvSpPr>
          <p:spPr>
            <a:xfrm>
              <a:off x="8561832" y="940308"/>
              <a:ext cx="1246631" cy="2773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570" name="rect 570"/>
          <p:cNvSpPr/>
          <p:nvPr/>
        </p:nvSpPr>
        <p:spPr>
          <a:xfrm>
            <a:off x="1019555" y="4247388"/>
            <a:ext cx="10152887" cy="1295400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72" name="picture 5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620434" y="4422295"/>
            <a:ext cx="8235939" cy="991825"/>
          </a:xfrm>
          <a:prstGeom prst="rect">
            <a:avLst/>
          </a:prstGeom>
        </p:spPr>
      </p:pic>
      <p:sp>
        <p:nvSpPr>
          <p:cNvPr id="574" name="rect 574"/>
          <p:cNvSpPr/>
          <p:nvPr/>
        </p:nvSpPr>
        <p:spPr>
          <a:xfrm>
            <a:off x="1019555" y="1667255"/>
            <a:ext cx="10152887" cy="576072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76" name="textbox 576"/>
          <p:cNvSpPr/>
          <p:nvPr/>
        </p:nvSpPr>
        <p:spPr>
          <a:xfrm>
            <a:off x="364439" y="346695"/>
            <a:ext cx="11233150" cy="520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87000"/>
              </a:lnSpc>
              <a:spcBef>
                <a:spcPts val="2"/>
              </a:spcBef>
              <a:tabLst>
                <a:tab pos="763269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YMS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系统核心能力                           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78" name="picture 57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559363" y="381062"/>
            <a:ext cx="1931803" cy="412600"/>
          </a:xfrm>
          <a:prstGeom prst="rect">
            <a:avLst/>
          </a:prstGeom>
        </p:spPr>
      </p:pic>
      <p:pic>
        <p:nvPicPr>
          <p:cNvPr id="580" name="picture 58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77139" y="359395"/>
            <a:ext cx="584153" cy="473386"/>
          </a:xfrm>
          <a:prstGeom prst="rect">
            <a:avLst/>
          </a:prstGeom>
        </p:spPr>
      </p:pic>
      <p:grpSp>
        <p:nvGrpSpPr>
          <p:cNvPr id="46" name="group 46"/>
          <p:cNvGrpSpPr/>
          <p:nvPr/>
        </p:nvGrpSpPr>
        <p:grpSpPr>
          <a:xfrm rot="21600000">
            <a:off x="1293876" y="1816607"/>
            <a:ext cx="9534143" cy="277368"/>
            <a:chOff x="0" y="0"/>
            <a:chExt cx="9534143" cy="277368"/>
          </a:xfrm>
        </p:grpSpPr>
        <p:sp>
          <p:nvSpPr>
            <p:cNvPr id="582" name="path 582"/>
            <p:cNvSpPr/>
            <p:nvPr/>
          </p:nvSpPr>
          <p:spPr>
            <a:xfrm>
              <a:off x="0" y="0"/>
              <a:ext cx="1078991" cy="277368"/>
            </a:xfrm>
            <a:custGeom>
              <a:avLst/>
              <a:gdLst/>
              <a:ahLst/>
              <a:cxnLst/>
              <a:rect l="0" t="0" r="0" b="0"/>
              <a:pathLst>
                <a:path w="1699" h="436">
                  <a:moveTo>
                    <a:pt x="0" y="0"/>
                  </a:moveTo>
                  <a:lnTo>
                    <a:pt x="1699" y="0"/>
                  </a:lnTo>
                  <a:lnTo>
                    <a:pt x="1699" y="436"/>
                  </a:lnTo>
                  <a:lnTo>
                    <a:pt x="0" y="4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84" name="path 584"/>
            <p:cNvSpPr/>
            <p:nvPr/>
          </p:nvSpPr>
          <p:spPr>
            <a:xfrm>
              <a:off x="1357883" y="0"/>
              <a:ext cx="8176259" cy="277368"/>
            </a:xfrm>
            <a:custGeom>
              <a:avLst/>
              <a:gdLst/>
              <a:ahLst/>
              <a:cxnLst/>
              <a:rect l="0" t="0" r="0" b="0"/>
              <a:pathLst>
                <a:path w="12875" h="436">
                  <a:moveTo>
                    <a:pt x="0" y="0"/>
                  </a:moveTo>
                  <a:lnTo>
                    <a:pt x="1965" y="0"/>
                  </a:lnTo>
                  <a:lnTo>
                    <a:pt x="1965" y="436"/>
                  </a:lnTo>
                  <a:lnTo>
                    <a:pt x="0" y="436"/>
                  </a:lnTo>
                  <a:lnTo>
                    <a:pt x="0" y="0"/>
                  </a:lnTo>
                  <a:close/>
                </a:path>
                <a:path w="12875" h="436">
                  <a:moveTo>
                    <a:pt x="8728" y="0"/>
                  </a:moveTo>
                  <a:lnTo>
                    <a:pt x="10694" y="0"/>
                  </a:lnTo>
                  <a:lnTo>
                    <a:pt x="10694" y="436"/>
                  </a:lnTo>
                  <a:lnTo>
                    <a:pt x="8728" y="436"/>
                  </a:lnTo>
                  <a:lnTo>
                    <a:pt x="8728" y="0"/>
                  </a:lnTo>
                  <a:close/>
                </a:path>
                <a:path w="12875" h="436">
                  <a:moveTo>
                    <a:pt x="2181" y="0"/>
                  </a:moveTo>
                  <a:lnTo>
                    <a:pt x="4147" y="0"/>
                  </a:lnTo>
                  <a:lnTo>
                    <a:pt x="4147" y="436"/>
                  </a:lnTo>
                  <a:lnTo>
                    <a:pt x="2181" y="436"/>
                  </a:lnTo>
                  <a:lnTo>
                    <a:pt x="2181" y="0"/>
                  </a:lnTo>
                  <a:close/>
                </a:path>
                <a:path w="12875" h="436">
                  <a:moveTo>
                    <a:pt x="6547" y="0"/>
                  </a:moveTo>
                  <a:lnTo>
                    <a:pt x="8512" y="0"/>
                  </a:lnTo>
                  <a:lnTo>
                    <a:pt x="8512" y="436"/>
                  </a:lnTo>
                  <a:lnTo>
                    <a:pt x="6547" y="436"/>
                  </a:lnTo>
                  <a:lnTo>
                    <a:pt x="6547" y="0"/>
                  </a:lnTo>
                  <a:close/>
                </a:path>
                <a:path w="12875" h="436">
                  <a:moveTo>
                    <a:pt x="4365" y="0"/>
                  </a:moveTo>
                  <a:lnTo>
                    <a:pt x="6328" y="0"/>
                  </a:lnTo>
                  <a:lnTo>
                    <a:pt x="6328" y="436"/>
                  </a:lnTo>
                  <a:lnTo>
                    <a:pt x="4365" y="436"/>
                  </a:lnTo>
                  <a:lnTo>
                    <a:pt x="4365" y="0"/>
                  </a:lnTo>
                  <a:close/>
                </a:path>
                <a:path w="12875" h="436">
                  <a:moveTo>
                    <a:pt x="10912" y="0"/>
                  </a:moveTo>
                  <a:lnTo>
                    <a:pt x="12875" y="0"/>
                  </a:lnTo>
                  <a:lnTo>
                    <a:pt x="12875" y="436"/>
                  </a:lnTo>
                  <a:lnTo>
                    <a:pt x="10912" y="436"/>
                  </a:lnTo>
                  <a:lnTo>
                    <a:pt x="1091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586" name="textbox 586"/>
          <p:cNvSpPr/>
          <p:nvPr/>
        </p:nvSpPr>
        <p:spPr>
          <a:xfrm>
            <a:off x="2821913" y="4805929"/>
            <a:ext cx="783844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14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预约管理           到场签到             电子围栏          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门闸入园            月台装卸           地磅称重            核查出园            智慧大屏</a:t>
            </a:r>
            <a:endParaRPr sz="11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88" name="picture 58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293876" y="4450079"/>
            <a:ext cx="1078991" cy="931164"/>
          </a:xfrm>
          <a:prstGeom prst="rect">
            <a:avLst/>
          </a:prstGeom>
        </p:spPr>
      </p:pic>
      <p:sp>
        <p:nvSpPr>
          <p:cNvPr id="590" name="textbox 590"/>
          <p:cNvSpPr/>
          <p:nvPr/>
        </p:nvSpPr>
        <p:spPr>
          <a:xfrm>
            <a:off x="3062833" y="1872754"/>
            <a:ext cx="7459344" cy="1695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3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WMS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TMS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SCM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ERP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OMS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·</a:t>
            </a:r>
            <a:r>
              <a:rPr sz="1200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·</a:t>
            </a:r>
            <a:r>
              <a:rPr sz="1200" kern="0" spc="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·</a:t>
            </a:r>
            <a:r>
              <a:rPr sz="1200" kern="0" spc="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·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92" name="textbox 592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94" name="picture 59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577631" y="1849386"/>
            <a:ext cx="528929" cy="201866"/>
          </a:xfrm>
          <a:prstGeom prst="rect">
            <a:avLst/>
          </a:prstGeom>
        </p:spPr>
      </p:pic>
      <p:sp>
        <p:nvSpPr>
          <p:cNvPr id="596" name="textbox 596"/>
          <p:cNvSpPr/>
          <p:nvPr/>
        </p:nvSpPr>
        <p:spPr>
          <a:xfrm>
            <a:off x="8480798" y="3166240"/>
            <a:ext cx="680084" cy="1860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13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送货业务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98" name="textbox 598"/>
          <p:cNvSpPr/>
          <p:nvPr/>
        </p:nvSpPr>
        <p:spPr>
          <a:xfrm>
            <a:off x="7124065" y="3544722"/>
            <a:ext cx="626744" cy="184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33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月台调配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00" name="textbox 600"/>
          <p:cNvSpPr/>
          <p:nvPr/>
        </p:nvSpPr>
        <p:spPr>
          <a:xfrm>
            <a:off x="5733275" y="3544417"/>
            <a:ext cx="631825" cy="1835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路线指引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02" name="textbox 602"/>
          <p:cNvSpPr/>
          <p:nvPr/>
        </p:nvSpPr>
        <p:spPr>
          <a:xfrm>
            <a:off x="8507527" y="3544570"/>
            <a:ext cx="628650" cy="1822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4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策略管控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04" name="textbox 604"/>
          <p:cNvSpPr/>
          <p:nvPr/>
        </p:nvSpPr>
        <p:spPr>
          <a:xfrm>
            <a:off x="9892678" y="3545789"/>
            <a:ext cx="629284" cy="1828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2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预约管理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06" name="textbox 606"/>
          <p:cNvSpPr/>
          <p:nvPr/>
        </p:nvSpPr>
        <p:spPr>
          <a:xfrm>
            <a:off x="4354233" y="3545942"/>
            <a:ext cx="624840" cy="1828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5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司机预约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08" name="path 608"/>
          <p:cNvSpPr/>
          <p:nvPr/>
        </p:nvSpPr>
        <p:spPr>
          <a:xfrm>
            <a:off x="3947159" y="2264664"/>
            <a:ext cx="181355" cy="288035"/>
          </a:xfrm>
          <a:custGeom>
            <a:avLst/>
            <a:gdLst/>
            <a:ahLst/>
            <a:cxnLst/>
            <a:rect l="0" t="0" r="0" b="0"/>
            <a:pathLst>
              <a:path w="285" h="453">
                <a:moveTo>
                  <a:pt x="72" y="0"/>
                </a:moveTo>
                <a:lnTo>
                  <a:pt x="72" y="251"/>
                </a:lnTo>
                <a:lnTo>
                  <a:pt x="0" y="251"/>
                </a:lnTo>
                <a:lnTo>
                  <a:pt x="141" y="453"/>
                </a:lnTo>
                <a:lnTo>
                  <a:pt x="285" y="251"/>
                </a:lnTo>
                <a:lnTo>
                  <a:pt x="213" y="251"/>
                </a:lnTo>
                <a:lnTo>
                  <a:pt x="213" y="0"/>
                </a:lnTo>
                <a:lnTo>
                  <a:pt x="72" y="0"/>
                </a:lnTo>
              </a:path>
            </a:pathLst>
          </a:custGeom>
          <a:solidFill>
            <a:srgbClr val="E52F3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10" name="path 610"/>
          <p:cNvSpPr/>
          <p:nvPr/>
        </p:nvSpPr>
        <p:spPr>
          <a:xfrm>
            <a:off x="8011667" y="3938015"/>
            <a:ext cx="179832" cy="288036"/>
          </a:xfrm>
          <a:custGeom>
            <a:avLst/>
            <a:gdLst/>
            <a:ahLst/>
            <a:cxnLst/>
            <a:rect l="0" t="0" r="0" b="0"/>
            <a:pathLst>
              <a:path w="283" h="453">
                <a:moveTo>
                  <a:pt x="69" y="453"/>
                </a:moveTo>
                <a:lnTo>
                  <a:pt x="69" y="201"/>
                </a:lnTo>
                <a:lnTo>
                  <a:pt x="0" y="201"/>
                </a:lnTo>
                <a:lnTo>
                  <a:pt x="141" y="0"/>
                </a:lnTo>
                <a:lnTo>
                  <a:pt x="283" y="201"/>
                </a:lnTo>
                <a:lnTo>
                  <a:pt x="211" y="201"/>
                </a:lnTo>
                <a:lnTo>
                  <a:pt x="211" y="453"/>
                </a:lnTo>
                <a:lnTo>
                  <a:pt x="69" y="453"/>
                </a:lnTo>
              </a:path>
            </a:pathLst>
          </a:custGeom>
          <a:solidFill>
            <a:srgbClr val="E52F3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12" name="path 612"/>
          <p:cNvSpPr/>
          <p:nvPr/>
        </p:nvSpPr>
        <p:spPr>
          <a:xfrm>
            <a:off x="3944111" y="3938015"/>
            <a:ext cx="179832" cy="288036"/>
          </a:xfrm>
          <a:custGeom>
            <a:avLst/>
            <a:gdLst/>
            <a:ahLst/>
            <a:cxnLst/>
            <a:rect l="0" t="0" r="0" b="0"/>
            <a:pathLst>
              <a:path w="283" h="453">
                <a:moveTo>
                  <a:pt x="72" y="0"/>
                </a:moveTo>
                <a:lnTo>
                  <a:pt x="72" y="254"/>
                </a:lnTo>
                <a:lnTo>
                  <a:pt x="0" y="254"/>
                </a:lnTo>
                <a:lnTo>
                  <a:pt x="141" y="453"/>
                </a:lnTo>
                <a:lnTo>
                  <a:pt x="283" y="254"/>
                </a:lnTo>
                <a:lnTo>
                  <a:pt x="213" y="254"/>
                </a:lnTo>
                <a:lnTo>
                  <a:pt x="213" y="0"/>
                </a:lnTo>
                <a:lnTo>
                  <a:pt x="72" y="0"/>
                </a:lnTo>
              </a:path>
            </a:pathLst>
          </a:custGeom>
          <a:solidFill>
            <a:srgbClr val="E52F3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14" name="path 614"/>
          <p:cNvSpPr/>
          <p:nvPr/>
        </p:nvSpPr>
        <p:spPr>
          <a:xfrm>
            <a:off x="8014716" y="2264664"/>
            <a:ext cx="179831" cy="288035"/>
          </a:xfrm>
          <a:custGeom>
            <a:avLst/>
            <a:gdLst/>
            <a:ahLst/>
            <a:cxnLst/>
            <a:rect l="0" t="0" r="0" b="0"/>
            <a:pathLst>
              <a:path w="283" h="453">
                <a:moveTo>
                  <a:pt x="71" y="453"/>
                </a:moveTo>
                <a:lnTo>
                  <a:pt x="71" y="199"/>
                </a:lnTo>
                <a:lnTo>
                  <a:pt x="0" y="199"/>
                </a:lnTo>
                <a:lnTo>
                  <a:pt x="141" y="0"/>
                </a:lnTo>
                <a:lnTo>
                  <a:pt x="283" y="199"/>
                </a:lnTo>
                <a:lnTo>
                  <a:pt x="213" y="199"/>
                </a:lnTo>
                <a:lnTo>
                  <a:pt x="213" y="453"/>
                </a:lnTo>
                <a:lnTo>
                  <a:pt x="71" y="453"/>
                </a:lnTo>
              </a:path>
            </a:pathLst>
          </a:custGeom>
          <a:solidFill>
            <a:srgbClr val="E52F3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textbox 616"/>
          <p:cNvSpPr/>
          <p:nvPr/>
        </p:nvSpPr>
        <p:spPr>
          <a:xfrm>
            <a:off x="364439" y="346695"/>
            <a:ext cx="11233150" cy="5200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87000"/>
              </a:lnSpc>
              <a:spcBef>
                <a:spcPts val="1"/>
              </a:spcBef>
              <a:tabLst>
                <a:tab pos="77660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系统亮点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       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18" name="picture 6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648582" y="381062"/>
            <a:ext cx="1931803" cy="412600"/>
          </a:xfrm>
          <a:prstGeom prst="rect">
            <a:avLst/>
          </a:prstGeom>
        </p:spPr>
      </p:pic>
      <p:pic>
        <p:nvPicPr>
          <p:cNvPr id="620" name="picture 6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77139" y="359395"/>
            <a:ext cx="584153" cy="473386"/>
          </a:xfrm>
          <a:prstGeom prst="rect">
            <a:avLst/>
          </a:prstGeom>
        </p:spPr>
      </p:pic>
      <p:sp>
        <p:nvSpPr>
          <p:cNvPr id="622" name="textbox 622"/>
          <p:cNvSpPr/>
          <p:nvPr/>
        </p:nvSpPr>
        <p:spPr>
          <a:xfrm>
            <a:off x="4488900" y="4102214"/>
            <a:ext cx="3201670" cy="12738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4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3995" algn="l" rtl="0" eaLnBrk="0">
              <a:lnSpc>
                <a:spcPct val="88000"/>
              </a:lnSpc>
              <a:tabLst>
                <a:tab pos="394970" algn="l"/>
              </a:tabLst>
            </a:pP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高效沟通响应，打破</a:t>
            </a:r>
            <a:r>
              <a:rPr sz="15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信息壁垒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0480" algn="l" rtl="0" eaLnBrk="0">
              <a:lnSpc>
                <a:spcPct val="91000"/>
              </a:lnSpc>
              <a:spcBef>
                <a:spcPts val="370"/>
              </a:spcBef>
              <a:tabLst/>
            </a:pPr>
            <a:r>
              <a:rPr sz="1200" kern="0" spc="1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打破信息孤岛</a:t>
            </a:r>
            <a:r>
              <a:rPr sz="1200" kern="0" spc="-2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-1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减少多方沟通成本</a:t>
            </a:r>
            <a:r>
              <a:rPr sz="1200" kern="0" spc="-1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-1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打通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844" indent="77469" algn="l" rtl="0" eaLnBrk="0">
              <a:lnSpc>
                <a:spcPct val="166000"/>
              </a:lnSpc>
              <a:spcBef>
                <a:spcPts val="19"/>
              </a:spcBef>
              <a:tabLst/>
            </a:pP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“货</a:t>
            </a:r>
            <a:r>
              <a:rPr sz="12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、车</a:t>
            </a:r>
            <a:r>
              <a:rPr sz="1200" kern="0" spc="-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、场</a:t>
            </a:r>
            <a:r>
              <a:rPr sz="12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、人</a:t>
            </a:r>
            <a:r>
              <a:rPr sz="12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、单</a:t>
            </a:r>
            <a:r>
              <a:rPr sz="1200" kern="0" spc="-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”全要素，</a:t>
            </a:r>
            <a:r>
              <a:rPr sz="1200" kern="0" spc="-2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提升园区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全链路响应速度，</a:t>
            </a:r>
            <a:r>
              <a:rPr sz="1200" kern="0" spc="-2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提高服务能力</a:t>
            </a:r>
            <a:r>
              <a:rPr sz="1200" kern="0" spc="-1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24" name="picture 6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501600" y="4127114"/>
            <a:ext cx="201365" cy="209755"/>
          </a:xfrm>
          <a:prstGeom prst="rect">
            <a:avLst/>
          </a:prstGeom>
        </p:spPr>
      </p:pic>
      <p:sp>
        <p:nvSpPr>
          <p:cNvPr id="626" name="textbox 626"/>
          <p:cNvSpPr/>
          <p:nvPr/>
        </p:nvSpPr>
        <p:spPr>
          <a:xfrm>
            <a:off x="8320127" y="1888921"/>
            <a:ext cx="3199764" cy="12725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2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9550" algn="l" rtl="0" eaLnBrk="0">
              <a:lnSpc>
                <a:spcPct val="87000"/>
              </a:lnSpc>
              <a:tabLst>
                <a:tab pos="388620" algn="l"/>
              </a:tabLst>
            </a:pP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集成智导，提升司机体</a:t>
            </a:r>
            <a:r>
              <a:rPr sz="15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验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7940" algn="l" rtl="0" eaLnBrk="0">
              <a:lnSpc>
                <a:spcPct val="91000"/>
              </a:lnSpc>
              <a:spcBef>
                <a:spcPts val="364"/>
              </a:spcBef>
              <a:tabLst/>
            </a:pP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集成园区内地磅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、叉车</a:t>
            </a:r>
            <a:r>
              <a:rPr sz="12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、安防等设备，</a:t>
            </a:r>
            <a:r>
              <a:rPr sz="1200" kern="0" spc="-2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通过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209" indent="1905" algn="l" rtl="0" eaLnBrk="0">
              <a:lnSpc>
                <a:spcPct val="166000"/>
              </a:lnSpc>
              <a:spcBef>
                <a:spcPts val="21"/>
              </a:spcBef>
              <a:tabLst/>
            </a:pPr>
            <a:r>
              <a:rPr sz="1200" kern="0" spc="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智能算法，</a:t>
            </a:r>
            <a:r>
              <a:rPr sz="1200" kern="0" spc="-2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减少人工干预，</a:t>
            </a:r>
            <a:r>
              <a:rPr sz="1200" kern="0" spc="-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自动匹配最优运</a:t>
            </a:r>
            <a:r>
              <a:rPr sz="1200" kern="0" spc="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力</a:t>
            </a:r>
            <a:r>
              <a:rPr sz="1200" kern="0" spc="-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、规划路线，</a:t>
            </a:r>
            <a:r>
              <a:rPr sz="1200" kern="0" spc="-1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引导司机作业</a:t>
            </a:r>
            <a:r>
              <a:rPr sz="1200" kern="0" spc="-1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28" name="picture 6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332827" y="1912297"/>
            <a:ext cx="197417" cy="209755"/>
          </a:xfrm>
          <a:prstGeom prst="rect">
            <a:avLst/>
          </a:prstGeom>
        </p:spPr>
      </p:pic>
      <p:sp>
        <p:nvSpPr>
          <p:cNvPr id="630" name="textbox 630"/>
          <p:cNvSpPr/>
          <p:nvPr/>
        </p:nvSpPr>
        <p:spPr>
          <a:xfrm>
            <a:off x="8320127" y="4103928"/>
            <a:ext cx="3199764" cy="12719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1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9550" algn="l" rtl="0" eaLnBrk="0">
              <a:lnSpc>
                <a:spcPct val="87000"/>
              </a:lnSpc>
              <a:tabLst>
                <a:tab pos="387984" algn="l"/>
              </a:tabLst>
            </a:pP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数据实时同步，支撑精准决策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3019" algn="l" rtl="0" eaLnBrk="0">
              <a:lnSpc>
                <a:spcPct val="92000"/>
              </a:lnSpc>
              <a:spcBef>
                <a:spcPts val="368"/>
              </a:spcBef>
              <a:tabLst/>
            </a:pP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完善数字化建设，</a:t>
            </a:r>
            <a:r>
              <a:rPr sz="1200" kern="0" spc="-1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实时采集仓库库存</a:t>
            </a:r>
            <a:r>
              <a:rPr sz="12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、运输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209" indent="635" algn="l" rtl="0" eaLnBrk="0">
              <a:lnSpc>
                <a:spcPct val="166000"/>
              </a:lnSpc>
              <a:spcBef>
                <a:spcPts val="14"/>
              </a:spcBef>
              <a:tabLst/>
            </a:pPr>
            <a:r>
              <a:rPr sz="1200" kern="0" spc="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配送</a:t>
            </a:r>
            <a:r>
              <a:rPr sz="1200" kern="0" spc="-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、人员作业等数据，</a:t>
            </a:r>
            <a:r>
              <a:rPr sz="1200" kern="0" spc="-2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生成多维度数据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报表，</a:t>
            </a:r>
            <a:r>
              <a:rPr sz="1200" kern="0" spc="-1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为园区管理及决策等提供数据支撑</a:t>
            </a:r>
            <a:r>
              <a:rPr sz="1200" kern="0" spc="-1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32" name="picture 6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332827" y="4127114"/>
            <a:ext cx="197417" cy="209755"/>
          </a:xfrm>
          <a:prstGeom prst="rect">
            <a:avLst/>
          </a:prstGeom>
        </p:spPr>
      </p:pic>
      <p:sp>
        <p:nvSpPr>
          <p:cNvPr id="634" name="textbox 634"/>
          <p:cNvSpPr/>
          <p:nvPr/>
        </p:nvSpPr>
        <p:spPr>
          <a:xfrm>
            <a:off x="4488900" y="1888540"/>
            <a:ext cx="3201670" cy="12617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9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3995" algn="l" rtl="0" eaLnBrk="0">
              <a:lnSpc>
                <a:spcPct val="88000"/>
              </a:lnSpc>
              <a:tabLst>
                <a:tab pos="389890" algn="l"/>
              </a:tabLst>
            </a:pP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任务化管理，全流程高效作业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9844" algn="l" rtl="0" eaLnBrk="0">
              <a:lnSpc>
                <a:spcPct val="92000"/>
              </a:lnSpc>
              <a:spcBef>
                <a:spcPts val="368"/>
              </a:spcBef>
              <a:tabLst/>
            </a:pPr>
            <a:r>
              <a:rPr sz="1200" kern="0" spc="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全面规范作业秩序，</a:t>
            </a:r>
            <a:r>
              <a:rPr sz="1200" kern="0" spc="-2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标准化业务流程，</a:t>
            </a:r>
            <a:r>
              <a:rPr sz="1200" kern="0" spc="-1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明确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33019" indent="-3175" algn="l" rtl="0" eaLnBrk="0">
              <a:lnSpc>
                <a:spcPct val="163000"/>
              </a:lnSpc>
              <a:spcBef>
                <a:spcPts val="17"/>
              </a:spcBef>
              <a:tabLst/>
            </a:pPr>
            <a:r>
              <a:rPr sz="1200" kern="0" spc="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各任务节点与责任主体，</a:t>
            </a:r>
            <a:r>
              <a:rPr sz="1200" kern="0" spc="-1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简化人员操作，</a:t>
            </a:r>
            <a:r>
              <a:rPr sz="1200" kern="0" spc="-2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并</a:t>
            </a:r>
            <a:r>
              <a:rPr sz="1200" kern="0" spc="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实现任务智能分配与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作业指引</a:t>
            </a:r>
            <a:r>
              <a:rPr sz="1200" kern="0" spc="-2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36" name="picture 63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501600" y="1912297"/>
            <a:ext cx="201365" cy="209755"/>
          </a:xfrm>
          <a:prstGeom prst="rect">
            <a:avLst/>
          </a:prstGeom>
        </p:spPr>
      </p:pic>
      <p:sp>
        <p:nvSpPr>
          <p:cNvPr id="638" name="textbox 638"/>
          <p:cNvSpPr/>
          <p:nvPr/>
        </p:nvSpPr>
        <p:spPr>
          <a:xfrm>
            <a:off x="661621" y="4103928"/>
            <a:ext cx="3199764" cy="12617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83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9550" algn="l" rtl="0" eaLnBrk="0">
              <a:lnSpc>
                <a:spcPct val="87000"/>
              </a:lnSpc>
              <a:tabLst>
                <a:tab pos="388620" algn="l"/>
              </a:tabLst>
            </a:pP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5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仓配协同，</a:t>
            </a:r>
            <a:r>
              <a:rPr sz="1500" b="1" kern="0" spc="-3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实现闭环</a:t>
            </a:r>
            <a:r>
              <a:rPr sz="15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7305" algn="l" rtl="0" eaLnBrk="0">
              <a:lnSpc>
                <a:spcPct val="92000"/>
              </a:lnSpc>
              <a:spcBef>
                <a:spcPts val="365"/>
              </a:spcBef>
              <a:tabLst/>
            </a:pP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联动订单</a:t>
            </a:r>
            <a:r>
              <a:rPr sz="1200" kern="0" spc="-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、仓储</a:t>
            </a:r>
            <a:r>
              <a:rPr sz="12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、物流各业务环节，</a:t>
            </a:r>
            <a:r>
              <a:rPr sz="1200" kern="0" spc="-2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实现仓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9844" indent="-1905" algn="l" rtl="0" eaLnBrk="0">
              <a:lnSpc>
                <a:spcPct val="163000"/>
              </a:lnSpc>
              <a:spcBef>
                <a:spcPts val="24"/>
              </a:spcBef>
              <a:tabLst/>
            </a:pPr>
            <a:r>
              <a:rPr sz="1200" kern="0" spc="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库协同</a:t>
            </a:r>
            <a:r>
              <a:rPr sz="1200" kern="0" spc="-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、运力调度</a:t>
            </a:r>
            <a:r>
              <a:rPr sz="12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、装卸作业</a:t>
            </a:r>
            <a:r>
              <a:rPr sz="1200" kern="0" spc="-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奖惩执行</a:t>
            </a:r>
            <a:r>
              <a:rPr sz="12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异常处理等一体化闭环管理</a:t>
            </a:r>
            <a:r>
              <a:rPr sz="1200" kern="0" spc="-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40" name="picture 64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674321" y="4127114"/>
            <a:ext cx="197417" cy="209755"/>
          </a:xfrm>
          <a:prstGeom prst="rect">
            <a:avLst/>
          </a:prstGeom>
        </p:spPr>
      </p:pic>
      <p:sp>
        <p:nvSpPr>
          <p:cNvPr id="642" name="textbox 642"/>
          <p:cNvSpPr/>
          <p:nvPr/>
        </p:nvSpPr>
        <p:spPr>
          <a:xfrm>
            <a:off x="661621" y="1890255"/>
            <a:ext cx="3199764" cy="12598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1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9550" algn="l" rtl="0" eaLnBrk="0">
              <a:lnSpc>
                <a:spcPct val="88000"/>
              </a:lnSpc>
              <a:tabLst>
                <a:tab pos="393065" algn="l"/>
              </a:tabLst>
            </a:pP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5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高可配，支持多业务场景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7940" algn="l" rtl="0" eaLnBrk="0">
              <a:lnSpc>
                <a:spcPct val="91000"/>
              </a:lnSpc>
              <a:spcBef>
                <a:spcPts val="367"/>
              </a:spcBef>
              <a:tabLst/>
            </a:pPr>
            <a:r>
              <a:rPr sz="1200" kern="0" spc="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基于实际业务场景，</a:t>
            </a:r>
            <a:r>
              <a:rPr sz="1200" kern="0" spc="-2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可根据园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区类型</a:t>
            </a:r>
            <a:r>
              <a:rPr sz="12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、产品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575" indent="-1905" algn="l" rtl="0" eaLnBrk="0">
              <a:lnSpc>
                <a:spcPct val="163000"/>
              </a:lnSpc>
              <a:spcBef>
                <a:spcPts val="17"/>
              </a:spcBef>
              <a:tabLst/>
            </a:pPr>
            <a:r>
              <a:rPr sz="1200" kern="0" spc="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特性，</a:t>
            </a:r>
            <a:r>
              <a:rPr sz="1200" kern="0" spc="-2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灵活配置系统功能模块与流程策</a:t>
            </a:r>
            <a:r>
              <a:rPr sz="1200" kern="0" spc="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略，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满足个性业务诉求等</a:t>
            </a:r>
            <a:r>
              <a:rPr sz="1200" kern="0" spc="-1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44" name="picture 64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674321" y="1912297"/>
            <a:ext cx="197417" cy="209755"/>
          </a:xfrm>
          <a:prstGeom prst="rect">
            <a:avLst/>
          </a:prstGeom>
        </p:spPr>
      </p:pic>
      <p:sp>
        <p:nvSpPr>
          <p:cNvPr id="646" name="textbox 646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textbox 648"/>
          <p:cNvSpPr/>
          <p:nvPr/>
        </p:nvSpPr>
        <p:spPr>
          <a:xfrm>
            <a:off x="7647305" y="1243555"/>
            <a:ext cx="3516629" cy="46786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ct val="87000"/>
              </a:lnSpc>
              <a:tabLst/>
            </a:pPr>
            <a:r>
              <a:rPr sz="1400" kern="0" spc="-30" dirty="0">
                <a:solidFill>
                  <a:srgbClr val="D81E06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400" kern="0" spc="70" dirty="0">
                <a:solidFill>
                  <a:srgbClr val="D81E0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月台管理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3334" algn="l" rtl="0" eaLnBrk="0">
              <a:lnSpc>
                <a:spcPct val="122000"/>
              </a:lnSpc>
              <a:spcBef>
                <a:spcPts val="589"/>
              </a:spcBef>
              <a:tabLst/>
            </a:pP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覆盖单边 / 双边</a:t>
            </a:r>
            <a:r>
              <a:rPr sz="1200" kern="0" spc="-2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、提货 /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送货等各类月台及无月台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场景，支持一车多月台等多模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式业务场景</a:t>
            </a:r>
            <a:r>
              <a:rPr sz="1200" kern="0" spc="-2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5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ct val="85000"/>
              </a:lnSpc>
              <a:spcBef>
                <a:spcPts val="426"/>
              </a:spcBef>
              <a:tabLst/>
            </a:pPr>
            <a:r>
              <a:rPr sz="1400" kern="0" spc="-40" dirty="0">
                <a:solidFill>
                  <a:srgbClr val="D81E06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400" kern="0" spc="80" dirty="0">
                <a:solidFill>
                  <a:srgbClr val="D81E0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司机协同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3334" indent="-635" algn="l" rtl="0" eaLnBrk="0">
              <a:lnSpc>
                <a:spcPct val="117000"/>
              </a:lnSpc>
              <a:spcBef>
                <a:spcPts val="747"/>
              </a:spcBef>
              <a:tabLst/>
            </a:pP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包含派车</a:t>
            </a:r>
            <a:r>
              <a:rPr sz="1200" kern="0" spc="-1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、调度</a:t>
            </a:r>
            <a:r>
              <a:rPr sz="1200" kern="0" spc="-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、月台分配及消</a:t>
            </a:r>
            <a:r>
              <a:rPr sz="12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息通知功能，联动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调度需求与司机</a:t>
            </a:r>
            <a:r>
              <a:rPr sz="12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，管控车辆停留时长</a:t>
            </a:r>
            <a:r>
              <a:rPr sz="1200" kern="0" spc="-2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ct val="86000"/>
              </a:lnSpc>
              <a:spcBef>
                <a:spcPts val="421"/>
              </a:spcBef>
              <a:tabLst/>
            </a:pPr>
            <a:r>
              <a:rPr sz="1400" kern="0" spc="-30" dirty="0">
                <a:solidFill>
                  <a:srgbClr val="D81E06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400" kern="0" spc="70" dirty="0">
                <a:solidFill>
                  <a:srgbClr val="D81E0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协同任务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3334" indent="635" algn="l" rtl="0" eaLnBrk="0">
              <a:lnSpc>
                <a:spcPct val="117000"/>
              </a:lnSpc>
              <a:spcBef>
                <a:spcPts val="758"/>
              </a:spcBef>
              <a:tabLst/>
            </a:pP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协同叉车</a:t>
            </a:r>
            <a:r>
              <a:rPr sz="1200" kern="0" spc="-1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、搬运</a:t>
            </a:r>
            <a:r>
              <a:rPr sz="1200" kern="0" spc="-2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、装卸人力等任务调度，及运输发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运安排，支持工作量统计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与实时调整</a:t>
            </a:r>
            <a:r>
              <a:rPr sz="1200" kern="0" spc="-2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ct val="86000"/>
              </a:lnSpc>
              <a:spcBef>
                <a:spcPts val="422"/>
              </a:spcBef>
              <a:tabLst/>
            </a:pPr>
            <a:r>
              <a:rPr sz="1400" kern="0" spc="-30" dirty="0">
                <a:solidFill>
                  <a:srgbClr val="D81E06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园区安防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5875" indent="-3175" algn="l" rtl="0" eaLnBrk="0">
              <a:lnSpc>
                <a:spcPct val="114000"/>
              </a:lnSpc>
              <a:spcBef>
                <a:spcPts val="757"/>
              </a:spcBef>
              <a:tabLst/>
            </a:pP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联动园区门禁系统，优化进出园区放行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指令，减少 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不必要的人员放行单据流转</a:t>
            </a:r>
            <a:r>
              <a:rPr sz="1200" kern="0" spc="-1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5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ct val="87000"/>
              </a:lnSpc>
              <a:spcBef>
                <a:spcPts val="423"/>
              </a:spcBef>
              <a:tabLst/>
            </a:pPr>
            <a:r>
              <a:rPr sz="1400" kern="0" spc="-30" dirty="0">
                <a:solidFill>
                  <a:srgbClr val="D81E06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400" kern="0" spc="70" dirty="0">
                <a:solidFill>
                  <a:srgbClr val="D81E0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数据统计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117000"/>
              </a:lnSpc>
              <a:spcBef>
                <a:spcPts val="5"/>
              </a:spcBef>
              <a:tabLst/>
            </a:pPr>
            <a:r>
              <a:rPr sz="1200" kern="0" spc="-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实现多维度统计车辆在园时长 ，月台</a:t>
            </a:r>
            <a:r>
              <a:rPr sz="1200" kern="0" spc="-1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、货量</a:t>
            </a:r>
            <a:r>
              <a:rPr sz="1200" kern="0" spc="-2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、订单</a:t>
            </a:r>
            <a:r>
              <a:rPr sz="1200" kern="0" spc="-2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工具使用等核心数据，提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供统计分析支持</a:t>
            </a:r>
            <a:r>
              <a:rPr sz="1200" kern="0" spc="-2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50" name="textbox 650"/>
          <p:cNvSpPr/>
          <p:nvPr/>
        </p:nvSpPr>
        <p:spPr>
          <a:xfrm>
            <a:off x="1116520" y="1244982"/>
            <a:ext cx="3495040" cy="4667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3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6000"/>
              </a:lnSpc>
              <a:tabLst/>
            </a:pPr>
            <a:r>
              <a:rPr sz="1400" kern="0" spc="-30" dirty="0">
                <a:solidFill>
                  <a:srgbClr val="D81E06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园区能力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3334" indent="635" algn="l" rtl="0" eaLnBrk="0">
              <a:lnSpc>
                <a:spcPct val="114000"/>
              </a:lnSpc>
              <a:spcBef>
                <a:spcPts val="739"/>
              </a:spcBef>
              <a:tabLst/>
            </a:pPr>
            <a:r>
              <a:rPr sz="1200" kern="0" spc="-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涵盖月台 、车辆</a:t>
            </a:r>
            <a:r>
              <a:rPr sz="1200" kern="0" spc="-2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、库位</a:t>
            </a:r>
            <a:r>
              <a:rPr sz="1200" kern="0" spc="-1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、车型等园区管理核心维度，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统一管理各类基础信息与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资源配置</a:t>
            </a:r>
            <a:r>
              <a:rPr sz="1200" kern="0" spc="-2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5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6000"/>
              </a:lnSpc>
              <a:spcBef>
                <a:spcPts val="420"/>
              </a:spcBef>
              <a:tabLst/>
            </a:pPr>
            <a:r>
              <a:rPr sz="1400" kern="0" spc="-30" dirty="0">
                <a:solidFill>
                  <a:srgbClr val="D81E06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400" kern="0" spc="70" dirty="0">
                <a:solidFill>
                  <a:srgbClr val="D81E0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送货预约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4604" indent="-1270" algn="l" rtl="0" eaLnBrk="0">
              <a:lnSpc>
                <a:spcPct val="117000"/>
              </a:lnSpc>
              <a:spcBef>
                <a:spcPts val="746"/>
              </a:spcBef>
              <a:tabLst/>
            </a:pP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通过送货预约</a:t>
            </a:r>
            <a:r>
              <a:rPr sz="1200" kern="0" spc="-2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、排队</a:t>
            </a:r>
            <a:r>
              <a:rPr sz="1200" kern="0" spc="-1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、审批全流程管理，联动仓库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协同，满足高效送货业务诉求</a:t>
            </a:r>
            <a:r>
              <a:rPr sz="1200" kern="0" spc="-1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6000"/>
              </a:lnSpc>
              <a:spcBef>
                <a:spcPts val="421"/>
              </a:spcBef>
              <a:tabLst/>
            </a:pPr>
            <a:r>
              <a:rPr sz="1400" kern="0" spc="-30" dirty="0">
                <a:solidFill>
                  <a:srgbClr val="D81E06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400" kern="0" spc="70" dirty="0">
                <a:solidFill>
                  <a:srgbClr val="D81E0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提货预约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3970" indent="-635" algn="l" rtl="0" eaLnBrk="0">
              <a:lnSpc>
                <a:spcPct val="115000"/>
              </a:lnSpc>
              <a:spcBef>
                <a:spcPts val="721"/>
              </a:spcBef>
              <a:tabLst/>
            </a:pP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联动仓库与园区车辆，支持多种备货</a:t>
            </a:r>
            <a:r>
              <a:rPr sz="1200" kern="0" spc="-1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、调车流程及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场地</a:t>
            </a:r>
            <a:r>
              <a:rPr sz="1200" kern="0" spc="-1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、月台与货品周转</a:t>
            </a:r>
            <a:r>
              <a:rPr sz="12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管理</a:t>
            </a:r>
            <a:r>
              <a:rPr sz="1200" kern="0" spc="-2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5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6000"/>
              </a:lnSpc>
              <a:spcBef>
                <a:spcPts val="431"/>
              </a:spcBef>
              <a:tabLst/>
            </a:pPr>
            <a:r>
              <a:rPr sz="1400" kern="0" spc="-30" dirty="0">
                <a:solidFill>
                  <a:srgbClr val="D81E06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400" kern="0" spc="70" dirty="0">
                <a:solidFill>
                  <a:srgbClr val="D81E0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称重集成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2700" indent="1270" algn="l" rtl="0" eaLnBrk="0">
              <a:lnSpc>
                <a:spcPct val="117000"/>
              </a:lnSpc>
              <a:spcBef>
                <a:spcPts val="760"/>
              </a:spcBef>
              <a:tabLst/>
            </a:pP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集成无人值守称重设备，支持重车</a:t>
            </a:r>
            <a:r>
              <a:rPr sz="1200" kern="0" spc="-2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、轻车过磅等操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作，确保重量信息实时同步至相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关系统</a:t>
            </a:r>
            <a:r>
              <a:rPr sz="1200" kern="0" spc="-2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6000"/>
              </a:lnSpc>
              <a:spcBef>
                <a:spcPts val="420"/>
              </a:spcBef>
              <a:tabLst/>
            </a:pPr>
            <a:r>
              <a:rPr sz="1400" kern="0" spc="-30" dirty="0">
                <a:solidFill>
                  <a:srgbClr val="D81E06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400" kern="0" spc="70" dirty="0">
                <a:solidFill>
                  <a:srgbClr val="D81E06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提货预约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3970" indent="-635" algn="l" rtl="0" eaLnBrk="0">
              <a:lnSpc>
                <a:spcPct val="115000"/>
              </a:lnSpc>
              <a:spcBef>
                <a:spcPts val="1"/>
              </a:spcBef>
              <a:tabLst/>
            </a:pP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联动仓库与园区车辆，支持多种备货</a:t>
            </a:r>
            <a:r>
              <a:rPr sz="1200" kern="0" spc="-1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、调车流程及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场地</a:t>
            </a:r>
            <a:r>
              <a:rPr sz="1200" kern="0" spc="-1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、月台与货品周转</a:t>
            </a:r>
            <a:r>
              <a:rPr sz="12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管理</a:t>
            </a:r>
            <a:r>
              <a:rPr sz="1200" kern="0" spc="-2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52" name="textbox 652"/>
          <p:cNvSpPr/>
          <p:nvPr/>
        </p:nvSpPr>
        <p:spPr>
          <a:xfrm>
            <a:off x="364439" y="346695"/>
            <a:ext cx="11233150" cy="5276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87000"/>
              </a:lnSpc>
              <a:spcBef>
                <a:spcPts val="3"/>
              </a:spcBef>
              <a:tabLst>
                <a:tab pos="779780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业务场景                     </a:t>
            </a:r>
            <a:r>
              <a:rPr sz="27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54" name="picture 6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631436" y="381062"/>
            <a:ext cx="1931803" cy="412600"/>
          </a:xfrm>
          <a:prstGeom prst="rect">
            <a:avLst/>
          </a:prstGeom>
        </p:spPr>
      </p:pic>
      <p:pic>
        <p:nvPicPr>
          <p:cNvPr id="656" name="picture 6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77139" y="359395"/>
            <a:ext cx="584153" cy="473386"/>
          </a:xfrm>
          <a:prstGeom prst="rect">
            <a:avLst/>
          </a:prstGeom>
        </p:spPr>
      </p:pic>
      <p:pic>
        <p:nvPicPr>
          <p:cNvPr id="658" name="picture 65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229743" y="2791205"/>
            <a:ext cx="1784341" cy="1907318"/>
          </a:xfrm>
          <a:prstGeom prst="rect">
            <a:avLst/>
          </a:prstGeom>
        </p:spPr>
      </p:pic>
      <p:sp>
        <p:nvSpPr>
          <p:cNvPr id="660" name="textbox 660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62" name="picture 6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086690" y="4701590"/>
            <a:ext cx="7619" cy="1003210"/>
          </a:xfrm>
          <a:prstGeom prst="rect">
            <a:avLst/>
          </a:prstGeom>
        </p:spPr>
      </p:pic>
      <p:pic>
        <p:nvPicPr>
          <p:cNvPr id="664" name="picture 66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086690" y="1450123"/>
            <a:ext cx="7619" cy="100319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8"/>
          <p:cNvGrpSpPr/>
          <p:nvPr/>
        </p:nvGrpSpPr>
        <p:grpSpPr>
          <a:xfrm rot="21600000">
            <a:off x="3104395" y="1039183"/>
            <a:ext cx="8834569" cy="5116105"/>
            <a:chOff x="0" y="0"/>
            <a:chExt cx="8834569" cy="5116105"/>
          </a:xfrm>
        </p:grpSpPr>
        <p:pic>
          <p:nvPicPr>
            <p:cNvPr id="666" name="picture 66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8834569" cy="5116105"/>
            </a:xfrm>
            <a:prstGeom prst="rect">
              <a:avLst/>
            </a:prstGeom>
          </p:spPr>
        </p:pic>
        <p:sp>
          <p:nvSpPr>
            <p:cNvPr id="668" name="textbox 668"/>
            <p:cNvSpPr/>
            <p:nvPr/>
          </p:nvSpPr>
          <p:spPr>
            <a:xfrm>
              <a:off x="1309172" y="3137999"/>
              <a:ext cx="1793875" cy="18764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35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3334" algn="l" rtl="0" eaLnBrk="0">
                <a:lnSpc>
                  <a:spcPct val="86000"/>
                </a:lnSpc>
                <a:tabLst/>
              </a:pP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安全检查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</a:t>
              </a: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入园放行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6000"/>
                </a:lnSpc>
                <a:spcBef>
                  <a:spcPts val="369"/>
                </a:spcBef>
                <a:tabLst/>
              </a:pP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结束作业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3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24129" algn="l" rtl="0" eaLnBrk="0">
                <a:lnSpc>
                  <a:spcPct val="86000"/>
                </a:lnSpc>
                <a:spcBef>
                  <a:spcPts val="3"/>
                </a:spcBef>
                <a:tabLst/>
              </a:pP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出园放行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670" name="textbox 670"/>
            <p:cNvSpPr/>
            <p:nvPr/>
          </p:nvSpPr>
          <p:spPr>
            <a:xfrm>
              <a:off x="143439" y="3139218"/>
              <a:ext cx="629919" cy="18745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49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6000"/>
                </a:lnSpc>
                <a:tabLst/>
              </a:pP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排队信息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3970" algn="l" rtl="0" eaLnBrk="0">
                <a:lnSpc>
                  <a:spcPct val="86000"/>
                </a:lnSpc>
                <a:spcBef>
                  <a:spcPts val="369"/>
                </a:spcBef>
                <a:tabLst/>
              </a:pP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开始作业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3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4604" algn="l" rtl="0" eaLnBrk="0">
                <a:lnSpc>
                  <a:spcPct val="86000"/>
                </a:lnSpc>
                <a:tabLst/>
              </a:pP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安全检查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672" name="textbox 672"/>
            <p:cNvSpPr/>
            <p:nvPr/>
          </p:nvSpPr>
          <p:spPr>
            <a:xfrm>
              <a:off x="161905" y="2285943"/>
              <a:ext cx="4751704" cy="2190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1521"/>
                </a:lnSpc>
                <a:tabLst/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手动/自动叫号                                                             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接收通知入园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674" name="textbox 674"/>
            <p:cNvSpPr/>
            <p:nvPr/>
          </p:nvSpPr>
          <p:spPr>
            <a:xfrm>
              <a:off x="173967" y="539366"/>
              <a:ext cx="681355" cy="11747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35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2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建立用车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103504" algn="l" rtl="0" eaLnBrk="0">
                <a:lnSpc>
                  <a:spcPct val="87000"/>
                </a:lnSpc>
                <a:spcBef>
                  <a:spcPts val="287"/>
                </a:spcBef>
                <a:tabLst/>
              </a:pPr>
              <a:r>
                <a:rPr sz="12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需求单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2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36830" algn="l" rtl="0" eaLnBrk="0">
                <a:lnSpc>
                  <a:spcPct val="87000"/>
                </a:lnSpc>
                <a:spcBef>
                  <a:spcPts val="2"/>
                </a:spcBef>
                <a:tabLst/>
              </a:pP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分配月台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676" name="textbox 676"/>
            <p:cNvSpPr/>
            <p:nvPr/>
          </p:nvSpPr>
          <p:spPr>
            <a:xfrm>
              <a:off x="4067802" y="4024331"/>
              <a:ext cx="769619" cy="9874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52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6000"/>
                </a:lnSpc>
                <a:tabLst/>
              </a:pPr>
              <a:r>
                <a:rPr sz="12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出门证办理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3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60325" algn="l" rtl="0" eaLnBrk="0">
                <a:lnSpc>
                  <a:spcPct val="84000"/>
                </a:lnSpc>
                <a:spcBef>
                  <a:spcPts val="3"/>
                </a:spcBef>
                <a:tabLst/>
              </a:pPr>
              <a:r>
                <a:rPr sz="1200" kern="0" spc="-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出园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678" name="textbox 678"/>
            <p:cNvSpPr/>
            <p:nvPr/>
          </p:nvSpPr>
          <p:spPr>
            <a:xfrm>
              <a:off x="5463838" y="1436376"/>
              <a:ext cx="935355" cy="35115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4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indent="-635" algn="l" rtl="0" eaLnBrk="0">
                <a:lnSpc>
                  <a:spcPct val="92000"/>
                </a:lnSpc>
                <a:tabLst/>
              </a:pP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查看教育视频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签字入园须知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680" name="textbox 680"/>
            <p:cNvSpPr/>
            <p:nvPr/>
          </p:nvSpPr>
          <p:spPr>
            <a:xfrm>
              <a:off x="4129525" y="3048413"/>
              <a:ext cx="631825" cy="3632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87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3970" algn="l" rtl="0" eaLnBrk="0">
                <a:lnSpc>
                  <a:spcPct val="84000"/>
                </a:lnSpc>
                <a:tabLst/>
              </a:pP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入园园内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12700" algn="l" rtl="0" eaLnBrk="0">
                <a:lnSpc>
                  <a:spcPct val="86000"/>
                </a:lnSpc>
                <a:spcBef>
                  <a:spcPts val="206"/>
                </a:spcBef>
                <a:tabLst/>
              </a:pP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路线导航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682" name="textbox 682"/>
            <p:cNvSpPr/>
            <p:nvPr/>
          </p:nvSpPr>
          <p:spPr>
            <a:xfrm>
              <a:off x="5436812" y="3137999"/>
              <a:ext cx="629919" cy="1841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933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到达月台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684" name="textbox 684"/>
            <p:cNvSpPr/>
            <p:nvPr/>
          </p:nvSpPr>
          <p:spPr>
            <a:xfrm>
              <a:off x="8036997" y="1533430"/>
              <a:ext cx="629919" cy="1816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566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5000"/>
                </a:lnSpc>
                <a:tabLst/>
              </a:pP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入园排队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686" name="textbox 686"/>
            <p:cNvSpPr/>
            <p:nvPr/>
          </p:nvSpPr>
          <p:spPr>
            <a:xfrm>
              <a:off x="4027518" y="1529315"/>
              <a:ext cx="476884" cy="18351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42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6000"/>
                </a:lnSpc>
                <a:tabLst/>
              </a:pP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预约单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688" name="textbox 688"/>
            <p:cNvSpPr/>
            <p:nvPr/>
          </p:nvSpPr>
          <p:spPr>
            <a:xfrm>
              <a:off x="4272255" y="109003"/>
              <a:ext cx="344804" cy="1841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93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1200" b="1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司机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690" name="textbox 690"/>
            <p:cNvSpPr/>
            <p:nvPr/>
          </p:nvSpPr>
          <p:spPr>
            <a:xfrm>
              <a:off x="4103718" y="646830"/>
              <a:ext cx="324484" cy="18287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52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6000"/>
                </a:lnSpc>
                <a:tabLst/>
              </a:pP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预约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692" name="textbox 692"/>
            <p:cNvSpPr/>
            <p:nvPr/>
          </p:nvSpPr>
          <p:spPr>
            <a:xfrm>
              <a:off x="7090060" y="1530839"/>
              <a:ext cx="325120" cy="1822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766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6000"/>
                </a:lnSpc>
                <a:tabLst/>
              </a:pPr>
              <a:r>
                <a:rPr sz="12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签到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694" name="textbox 694"/>
          <p:cNvSpPr/>
          <p:nvPr/>
        </p:nvSpPr>
        <p:spPr>
          <a:xfrm>
            <a:off x="364439" y="346695"/>
            <a:ext cx="11233150" cy="5200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87000"/>
              </a:lnSpc>
              <a:spcBef>
                <a:spcPts val="1"/>
              </a:spcBef>
              <a:tabLst>
                <a:tab pos="77660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系统蓝图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       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96" name="picture 69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648582" y="381062"/>
            <a:ext cx="1931803" cy="412600"/>
          </a:xfrm>
          <a:prstGeom prst="rect">
            <a:avLst/>
          </a:prstGeom>
        </p:spPr>
      </p:pic>
      <p:pic>
        <p:nvPicPr>
          <p:cNvPr id="698" name="picture 69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77139" y="359395"/>
            <a:ext cx="584153" cy="473386"/>
          </a:xfrm>
          <a:prstGeom prst="rect">
            <a:avLst/>
          </a:prstGeom>
        </p:spPr>
      </p:pic>
      <p:sp>
        <p:nvSpPr>
          <p:cNvPr id="700" name="textbox 700"/>
          <p:cNvSpPr/>
          <p:nvPr/>
        </p:nvSpPr>
        <p:spPr>
          <a:xfrm>
            <a:off x="2057536" y="1115576"/>
            <a:ext cx="908050" cy="49396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4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400" b="1" kern="0" spc="-20" dirty="0">
                <a:solidFill>
                  <a:srgbClr val="E52F3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多角色协同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7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87000"/>
              </a:lnSpc>
              <a:spcBef>
                <a:spcPts val="361"/>
              </a:spcBef>
              <a:tabLst/>
            </a:pPr>
            <a:r>
              <a:rPr sz="12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用车需求人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5240" algn="l" rtl="0" eaLnBrk="0">
              <a:lnSpc>
                <a:spcPct val="86000"/>
              </a:lnSpc>
              <a:spcBef>
                <a:spcPts val="283"/>
              </a:spcBef>
              <a:tabLst/>
            </a:pPr>
            <a:r>
              <a:rPr sz="1200" kern="0" spc="-20" dirty="0">
                <a:solidFill>
                  <a:srgbClr val="BFBFB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创建者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87000"/>
              </a:lnSpc>
              <a:spcBef>
                <a:spcPts val="367"/>
              </a:spcBef>
              <a:tabLst/>
            </a:pPr>
            <a:r>
              <a:rPr sz="12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接车人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684" algn="l" rtl="0" eaLnBrk="0">
              <a:lnSpc>
                <a:spcPct val="88000"/>
              </a:lnSpc>
              <a:spcBef>
                <a:spcPts val="360"/>
              </a:spcBef>
              <a:tabLst/>
            </a:pPr>
            <a:r>
              <a:rPr sz="12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月台负责人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7000"/>
              </a:lnSpc>
              <a:spcBef>
                <a:spcPts val="364"/>
              </a:spcBef>
              <a:tabLst/>
            </a:pPr>
            <a:r>
              <a:rPr sz="12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安防人员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684" algn="l" rtl="0" eaLnBrk="0">
              <a:lnSpc>
                <a:spcPct val="88000"/>
              </a:lnSpc>
              <a:spcBef>
                <a:spcPts val="364"/>
              </a:spcBef>
              <a:tabLst/>
            </a:pPr>
            <a:r>
              <a:rPr sz="12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月台负责人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7000"/>
              </a:lnSpc>
              <a:tabLst/>
            </a:pPr>
            <a:r>
              <a:rPr sz="12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安防人员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702" name="picture 70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92582" y="4086517"/>
            <a:ext cx="832967" cy="315988"/>
          </a:xfrm>
          <a:prstGeom prst="rect">
            <a:avLst/>
          </a:prstGeom>
        </p:spPr>
      </p:pic>
      <p:pic>
        <p:nvPicPr>
          <p:cNvPr id="704" name="picture 70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92582" y="4852415"/>
            <a:ext cx="832967" cy="315988"/>
          </a:xfrm>
          <a:prstGeom prst="rect">
            <a:avLst/>
          </a:prstGeom>
        </p:spPr>
      </p:pic>
      <p:pic>
        <p:nvPicPr>
          <p:cNvPr id="706" name="picture 70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92582" y="3320618"/>
            <a:ext cx="832967" cy="315988"/>
          </a:xfrm>
          <a:prstGeom prst="rect">
            <a:avLst/>
          </a:prstGeom>
        </p:spPr>
      </p:pic>
      <p:pic>
        <p:nvPicPr>
          <p:cNvPr id="708" name="picture 70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92582" y="2554706"/>
            <a:ext cx="832967" cy="316000"/>
          </a:xfrm>
          <a:prstGeom prst="rect">
            <a:avLst/>
          </a:prstGeom>
        </p:spPr>
      </p:pic>
      <p:grpSp>
        <p:nvGrpSpPr>
          <p:cNvPr id="50" name="group 50"/>
          <p:cNvGrpSpPr/>
          <p:nvPr/>
        </p:nvGrpSpPr>
        <p:grpSpPr>
          <a:xfrm rot="21600000">
            <a:off x="392582" y="1788807"/>
            <a:ext cx="832967" cy="3751997"/>
            <a:chOff x="0" y="0"/>
            <a:chExt cx="832967" cy="3751997"/>
          </a:xfrm>
        </p:grpSpPr>
        <p:pic>
          <p:nvPicPr>
            <p:cNvPr id="710" name="picture 71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832967" cy="3751997"/>
            </a:xfrm>
            <a:prstGeom prst="rect">
              <a:avLst/>
            </a:prstGeom>
          </p:spPr>
        </p:pic>
        <p:sp>
          <p:nvSpPr>
            <p:cNvPr id="712" name="textbox 712"/>
            <p:cNvSpPr/>
            <p:nvPr/>
          </p:nvSpPr>
          <p:spPr>
            <a:xfrm>
              <a:off x="102273" y="62572"/>
              <a:ext cx="631825" cy="324738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33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6000"/>
                </a:lnSpc>
                <a:tabLst/>
              </a:pPr>
              <a:r>
                <a:rPr sz="1200" kern="0" spc="-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建立需求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2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5875" algn="l" rtl="0" eaLnBrk="0">
                <a:lnSpc>
                  <a:spcPct val="87000"/>
                </a:lnSpc>
                <a:spcBef>
                  <a:spcPts val="368"/>
                </a:spcBef>
                <a:tabLst/>
              </a:pPr>
              <a:r>
                <a:rPr sz="1200" kern="0" spc="-2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资源分配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2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3970" algn="l" rtl="0" eaLnBrk="0">
                <a:lnSpc>
                  <a:spcPct val="87000"/>
                </a:lnSpc>
                <a:spcBef>
                  <a:spcPts val="364"/>
                </a:spcBef>
                <a:tabLst/>
              </a:pPr>
              <a:r>
                <a:rPr sz="1200" kern="0" spc="-2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入园准备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2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3970" algn="l" rtl="0" eaLnBrk="0">
                <a:lnSpc>
                  <a:spcPct val="85000"/>
                </a:lnSpc>
                <a:spcBef>
                  <a:spcPts val="366"/>
                </a:spcBef>
                <a:tabLst/>
              </a:pPr>
              <a:r>
                <a:rPr sz="1200" kern="0" spc="-2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排队叫号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2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3970" algn="l" rtl="0" eaLnBrk="0">
                <a:lnSpc>
                  <a:spcPct val="86000"/>
                </a:lnSpc>
                <a:spcBef>
                  <a:spcPts val="2"/>
                </a:spcBef>
                <a:tabLst/>
              </a:pPr>
              <a:r>
                <a:rPr sz="1200" kern="0" spc="-2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入园作业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714" name="textbox 714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716" name="picture 7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392582" y="5618314"/>
            <a:ext cx="832967" cy="315989"/>
          </a:xfrm>
          <a:prstGeom prst="rect">
            <a:avLst/>
          </a:prstGeom>
        </p:spPr>
      </p:pic>
      <p:pic>
        <p:nvPicPr>
          <p:cNvPr id="718" name="picture 7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569453" y="4052528"/>
            <a:ext cx="394207" cy="416950"/>
          </a:xfrm>
          <a:prstGeom prst="rect">
            <a:avLst/>
          </a:prstGeom>
        </p:spPr>
      </p:pic>
      <p:pic>
        <p:nvPicPr>
          <p:cNvPr id="720" name="picture 7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569453" y="5791982"/>
            <a:ext cx="394207" cy="404315"/>
          </a:xfrm>
          <a:prstGeom prst="rect">
            <a:avLst/>
          </a:prstGeom>
        </p:spPr>
      </p:pic>
      <p:pic>
        <p:nvPicPr>
          <p:cNvPr id="722" name="picture 72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1581020" y="2502043"/>
            <a:ext cx="371193" cy="371194"/>
          </a:xfrm>
          <a:prstGeom prst="rect">
            <a:avLst/>
          </a:prstGeom>
        </p:spPr>
      </p:pic>
      <p:pic>
        <p:nvPicPr>
          <p:cNvPr id="724" name="picture 72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1568048" y="5007953"/>
            <a:ext cx="384804" cy="357251"/>
          </a:xfrm>
          <a:prstGeom prst="rect">
            <a:avLst/>
          </a:prstGeom>
        </p:spPr>
      </p:pic>
      <p:pic>
        <p:nvPicPr>
          <p:cNvPr id="726" name="picture 72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1568048" y="3304590"/>
            <a:ext cx="384804" cy="357250"/>
          </a:xfrm>
          <a:prstGeom prst="rect">
            <a:avLst/>
          </a:prstGeom>
        </p:spPr>
      </p:pic>
      <p:pic>
        <p:nvPicPr>
          <p:cNvPr id="728" name="picture 72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1581772" y="1617256"/>
            <a:ext cx="369569" cy="369569"/>
          </a:xfrm>
          <a:prstGeom prst="rect">
            <a:avLst/>
          </a:prstGeom>
        </p:spPr>
      </p:pic>
      <p:sp>
        <p:nvSpPr>
          <p:cNvPr id="730" name="textbox 730"/>
          <p:cNvSpPr/>
          <p:nvPr/>
        </p:nvSpPr>
        <p:spPr>
          <a:xfrm>
            <a:off x="509181" y="5679211"/>
            <a:ext cx="617219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kern="0" spc="-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出园流程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32" name="path 732"/>
          <p:cNvSpPr/>
          <p:nvPr/>
        </p:nvSpPr>
        <p:spPr>
          <a:xfrm>
            <a:off x="1690116" y="1153667"/>
            <a:ext cx="179831" cy="144779"/>
          </a:xfrm>
          <a:custGeom>
            <a:avLst/>
            <a:gdLst/>
            <a:ahLst/>
            <a:cxnLst/>
            <a:rect l="0" t="0" r="0" b="0"/>
            <a:pathLst>
              <a:path w="283" h="227">
                <a:moveTo>
                  <a:pt x="0" y="0"/>
                </a:moveTo>
                <a:lnTo>
                  <a:pt x="141" y="227"/>
                </a:lnTo>
                <a:lnTo>
                  <a:pt x="283" y="0"/>
                </a:lnTo>
                <a:lnTo>
                  <a:pt x="0" y="0"/>
                </a:lnTo>
              </a:path>
            </a:pathLst>
          </a:custGeom>
          <a:solidFill>
            <a:srgbClr val="E52F3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4" name="picture 7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54696" y="1532110"/>
            <a:ext cx="10693449" cy="4028112"/>
          </a:xfrm>
          <a:prstGeom prst="rect">
            <a:avLst/>
          </a:prstGeom>
        </p:spPr>
      </p:pic>
      <p:sp>
        <p:nvSpPr>
          <p:cNvPr id="736" name="textbox 736"/>
          <p:cNvSpPr/>
          <p:nvPr/>
        </p:nvSpPr>
        <p:spPr>
          <a:xfrm>
            <a:off x="8308276" y="1901328"/>
            <a:ext cx="3046729" cy="26301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3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1115" algn="l" rtl="0" eaLnBrk="0">
              <a:lnSpc>
                <a:spcPct val="83000"/>
              </a:lnSpc>
              <a:tabLst/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排队</a:t>
            </a:r>
            <a:r>
              <a:rPr sz="20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</a:t>
            </a:r>
            <a:r>
              <a:rPr sz="20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100" kern="0" spc="0" baseline="24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调度与优化</a:t>
            </a:r>
            <a:endParaRPr sz="2100" baseline="248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7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0480" algn="l" rtl="0" eaLnBrk="0">
              <a:lnSpc>
                <a:spcPct val="88000"/>
              </a:lnSpc>
              <a:spcBef>
                <a:spcPts val="427"/>
              </a:spcBef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资源最大化利用，提升用户体验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28575" algn="l" rtl="0" eaLnBrk="0">
              <a:lnSpc>
                <a:spcPct val="87000"/>
              </a:lnSpc>
              <a:spcBef>
                <a:spcPts val="1257"/>
              </a:spcBef>
              <a:tabLst/>
            </a:pPr>
            <a:r>
              <a:rPr sz="1200" kern="0" spc="-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虚拟队列</a:t>
            </a:r>
            <a:r>
              <a:rPr sz="12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、智能规则</a:t>
            </a:r>
            <a:r>
              <a:rPr sz="1200" kern="0" spc="-1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、自动呼叫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7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67639" algn="l" rtl="0" eaLnBrk="0">
              <a:lnSpc>
                <a:spcPct val="86000"/>
              </a:lnSpc>
              <a:spcBef>
                <a:spcPts val="341"/>
              </a:spcBef>
              <a:tabLst>
                <a:tab pos="262890" algn="l"/>
              </a:tabLst>
            </a:pPr>
            <a:r>
              <a:rPr sz="1100" b="1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100" b="1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虚拟队列：</a:t>
            </a:r>
            <a:r>
              <a:rPr sz="11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签到后自动加入全局队列</a:t>
            </a:r>
            <a:r>
              <a:rPr sz="11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，决定</a:t>
            </a:r>
            <a:endParaRPr sz="1100" dirty="0">
              <a:latin typeface="Microsoft YaHei"/>
              <a:ea typeface="Microsoft YaHei"/>
              <a:cs typeface="Microsoft YaHei"/>
            </a:endParaRPr>
          </a:p>
          <a:p>
            <a:pPr marL="264795" algn="l" rtl="0" eaLnBrk="0">
              <a:lnSpc>
                <a:spcPct val="87000"/>
              </a:lnSpc>
              <a:spcBef>
                <a:spcPts val="177"/>
              </a:spcBef>
              <a:tabLst/>
            </a:pPr>
            <a:r>
              <a:rPr sz="11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月台优先级</a:t>
            </a:r>
            <a:endParaRPr sz="1100" dirty="0">
              <a:latin typeface="Microsoft YaHei"/>
              <a:ea typeface="Microsoft YaHei"/>
              <a:cs typeface="Microsoft YaHei"/>
            </a:endParaRPr>
          </a:p>
          <a:p>
            <a:pPr marL="167639" algn="l" rtl="0" eaLnBrk="0">
              <a:lnSpc>
                <a:spcPts val="1401"/>
              </a:lnSpc>
              <a:spcBef>
                <a:spcPts val="752"/>
              </a:spcBef>
              <a:tabLst>
                <a:tab pos="262254" algn="l"/>
              </a:tabLst>
            </a:pPr>
            <a:r>
              <a:rPr sz="1100" b="1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100" b="1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排队规则：</a:t>
            </a:r>
            <a:r>
              <a:rPr sz="11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基础为「签到时间先后顺</a:t>
            </a:r>
            <a:r>
              <a:rPr sz="11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序」</a:t>
            </a:r>
            <a:endParaRPr sz="1100" dirty="0">
              <a:latin typeface="Microsoft YaHei"/>
              <a:ea typeface="Microsoft YaHei"/>
              <a:cs typeface="Microsoft YaHei"/>
            </a:endParaRPr>
          </a:p>
          <a:p>
            <a:pPr marL="167639" algn="l" rtl="0" eaLnBrk="0">
              <a:lnSpc>
                <a:spcPct val="87000"/>
              </a:lnSpc>
              <a:spcBef>
                <a:spcPts val="1212"/>
              </a:spcBef>
              <a:tabLst>
                <a:tab pos="269875" algn="l"/>
              </a:tabLst>
            </a:pPr>
            <a:r>
              <a:rPr sz="1100" b="1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100" b="1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呼叫引导：</a:t>
            </a:r>
            <a:r>
              <a:rPr sz="1100" b="1" kern="0" spc="-2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月台空闲时自动呼叫首位车辆</a:t>
            </a:r>
            <a:endParaRPr sz="11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62560" algn="l" rtl="0" eaLnBrk="0">
              <a:lnSpc>
                <a:spcPts val="1401"/>
              </a:lnSpc>
              <a:spcBef>
                <a:spcPts val="7"/>
              </a:spcBef>
              <a:tabLst>
                <a:tab pos="240029" algn="l"/>
              </a:tabLst>
            </a:pPr>
            <a:r>
              <a:rPr sz="1100" b="1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100" b="1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超时处理：</a:t>
            </a:r>
            <a:r>
              <a:rPr sz="11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未按时到达「顺延过号」重新</a:t>
            </a:r>
            <a:r>
              <a:rPr sz="11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排队</a:t>
            </a:r>
            <a:endParaRPr sz="11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38" name="path 738"/>
          <p:cNvSpPr/>
          <p:nvPr/>
        </p:nvSpPr>
        <p:spPr>
          <a:xfrm>
            <a:off x="8327110" y="4338218"/>
            <a:ext cx="143992" cy="180009"/>
          </a:xfrm>
          <a:custGeom>
            <a:avLst/>
            <a:gdLst/>
            <a:ahLst/>
            <a:cxnLst/>
            <a:rect l="0" t="0" r="0" b="0"/>
            <a:pathLst>
              <a:path w="226" h="283">
                <a:moveTo>
                  <a:pt x="19" y="0"/>
                </a:moveTo>
                <a:cubicBezTo>
                  <a:pt x="8" y="0"/>
                  <a:pt x="0" y="7"/>
                  <a:pt x="0" y="17"/>
                </a:cubicBezTo>
                <a:cubicBezTo>
                  <a:pt x="0" y="27"/>
                  <a:pt x="8" y="35"/>
                  <a:pt x="19" y="35"/>
                </a:cubicBezTo>
                <a:lnTo>
                  <a:pt x="19" y="41"/>
                </a:lnTo>
                <a:cubicBezTo>
                  <a:pt x="19" y="64"/>
                  <a:pt x="29" y="87"/>
                  <a:pt x="46" y="104"/>
                </a:cubicBezTo>
                <a:lnTo>
                  <a:pt x="86" y="141"/>
                </a:lnTo>
                <a:lnTo>
                  <a:pt x="46" y="178"/>
                </a:lnTo>
                <a:cubicBezTo>
                  <a:pt x="29" y="195"/>
                  <a:pt x="19" y="218"/>
                  <a:pt x="19" y="242"/>
                </a:cubicBezTo>
                <a:lnTo>
                  <a:pt x="19" y="247"/>
                </a:lnTo>
                <a:cubicBezTo>
                  <a:pt x="8" y="247"/>
                  <a:pt x="0" y="255"/>
                  <a:pt x="0" y="265"/>
                </a:cubicBezTo>
                <a:cubicBezTo>
                  <a:pt x="0" y="275"/>
                  <a:pt x="8" y="283"/>
                  <a:pt x="19" y="283"/>
                </a:cubicBezTo>
                <a:lnTo>
                  <a:pt x="37" y="283"/>
                </a:lnTo>
                <a:lnTo>
                  <a:pt x="189" y="283"/>
                </a:lnTo>
                <a:lnTo>
                  <a:pt x="208" y="283"/>
                </a:lnTo>
                <a:cubicBezTo>
                  <a:pt x="218" y="283"/>
                  <a:pt x="226" y="275"/>
                  <a:pt x="226" y="265"/>
                </a:cubicBezTo>
                <a:cubicBezTo>
                  <a:pt x="226" y="255"/>
                  <a:pt x="218" y="247"/>
                  <a:pt x="208" y="247"/>
                </a:cubicBezTo>
                <a:lnTo>
                  <a:pt x="208" y="242"/>
                </a:lnTo>
                <a:cubicBezTo>
                  <a:pt x="208" y="218"/>
                  <a:pt x="198" y="195"/>
                  <a:pt x="180" y="178"/>
                </a:cubicBezTo>
                <a:lnTo>
                  <a:pt x="140" y="141"/>
                </a:lnTo>
                <a:lnTo>
                  <a:pt x="180" y="104"/>
                </a:lnTo>
                <a:cubicBezTo>
                  <a:pt x="198" y="87"/>
                  <a:pt x="208" y="64"/>
                  <a:pt x="208" y="41"/>
                </a:cubicBezTo>
                <a:lnTo>
                  <a:pt x="208" y="35"/>
                </a:lnTo>
                <a:cubicBezTo>
                  <a:pt x="218" y="35"/>
                  <a:pt x="226" y="27"/>
                  <a:pt x="226" y="17"/>
                </a:cubicBezTo>
                <a:cubicBezTo>
                  <a:pt x="226" y="7"/>
                  <a:pt x="218" y="0"/>
                  <a:pt x="208" y="0"/>
                </a:cubicBezTo>
                <a:lnTo>
                  <a:pt x="189" y="0"/>
                </a:lnTo>
                <a:lnTo>
                  <a:pt x="37" y="0"/>
                </a:lnTo>
                <a:lnTo>
                  <a:pt x="19" y="0"/>
                </a:lnTo>
                <a:close/>
                <a:moveTo>
                  <a:pt x="56" y="41"/>
                </a:moveTo>
                <a:lnTo>
                  <a:pt x="56" y="35"/>
                </a:lnTo>
                <a:lnTo>
                  <a:pt x="170" y="35"/>
                </a:lnTo>
                <a:lnTo>
                  <a:pt x="170" y="41"/>
                </a:lnTo>
                <a:cubicBezTo>
                  <a:pt x="170" y="51"/>
                  <a:pt x="166" y="61"/>
                  <a:pt x="160" y="70"/>
                </a:cubicBezTo>
                <a:lnTo>
                  <a:pt x="66" y="70"/>
                </a:lnTo>
                <a:cubicBezTo>
                  <a:pt x="59" y="61"/>
                  <a:pt x="56" y="51"/>
                  <a:pt x="56" y="41"/>
                </a:cubicBezTo>
                <a:moveTo>
                  <a:pt x="66" y="212"/>
                </a:moveTo>
                <a:cubicBezTo>
                  <a:pt x="67" y="209"/>
                  <a:pt x="70" y="206"/>
                  <a:pt x="73" y="203"/>
                </a:cubicBezTo>
                <a:lnTo>
                  <a:pt x="113" y="166"/>
                </a:lnTo>
                <a:lnTo>
                  <a:pt x="153" y="203"/>
                </a:lnTo>
                <a:cubicBezTo>
                  <a:pt x="156" y="206"/>
                  <a:pt x="158" y="209"/>
                  <a:pt x="160" y="212"/>
                </a:cubicBezTo>
                <a:lnTo>
                  <a:pt x="66" y="212"/>
                </a:lnTo>
              </a:path>
            </a:pathLst>
          </a:custGeom>
          <a:solidFill>
            <a:srgbClr val="80808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40" name="path 740"/>
          <p:cNvSpPr/>
          <p:nvPr/>
        </p:nvSpPr>
        <p:spPr>
          <a:xfrm>
            <a:off x="8321712" y="4046664"/>
            <a:ext cx="154800" cy="155778"/>
          </a:xfrm>
          <a:custGeom>
            <a:avLst/>
            <a:gdLst/>
            <a:ahLst/>
            <a:cxnLst/>
            <a:rect l="0" t="0" r="0" b="0"/>
            <a:pathLst>
              <a:path w="243" h="245">
                <a:moveTo>
                  <a:pt x="228" y="16"/>
                </a:moveTo>
                <a:cubicBezTo>
                  <a:pt x="228" y="10"/>
                  <a:pt x="224" y="4"/>
                  <a:pt x="218" y="2"/>
                </a:cubicBezTo>
                <a:cubicBezTo>
                  <a:pt x="213" y="0"/>
                  <a:pt x="206" y="1"/>
                  <a:pt x="202" y="5"/>
                </a:cubicBezTo>
                <a:lnTo>
                  <a:pt x="181" y="26"/>
                </a:lnTo>
                <a:cubicBezTo>
                  <a:pt x="158" y="49"/>
                  <a:pt x="127" y="62"/>
                  <a:pt x="95" y="62"/>
                </a:cubicBezTo>
                <a:lnTo>
                  <a:pt x="91" y="62"/>
                </a:lnTo>
                <a:lnTo>
                  <a:pt x="75" y="62"/>
                </a:lnTo>
                <a:lnTo>
                  <a:pt x="30" y="62"/>
                </a:lnTo>
                <a:cubicBezTo>
                  <a:pt x="13" y="62"/>
                  <a:pt x="0" y="76"/>
                  <a:pt x="0" y="93"/>
                </a:cubicBezTo>
                <a:lnTo>
                  <a:pt x="0" y="138"/>
                </a:lnTo>
                <a:cubicBezTo>
                  <a:pt x="0" y="155"/>
                  <a:pt x="13" y="169"/>
                  <a:pt x="30" y="169"/>
                </a:cubicBezTo>
                <a:lnTo>
                  <a:pt x="30" y="229"/>
                </a:lnTo>
                <a:cubicBezTo>
                  <a:pt x="30" y="238"/>
                  <a:pt x="37" y="245"/>
                  <a:pt x="45" y="245"/>
                </a:cubicBezTo>
                <a:lnTo>
                  <a:pt x="75" y="245"/>
                </a:lnTo>
                <a:cubicBezTo>
                  <a:pt x="84" y="245"/>
                  <a:pt x="91" y="238"/>
                  <a:pt x="91" y="229"/>
                </a:cubicBezTo>
                <a:lnTo>
                  <a:pt x="91" y="169"/>
                </a:lnTo>
                <a:lnTo>
                  <a:pt x="95" y="169"/>
                </a:lnTo>
                <a:cubicBezTo>
                  <a:pt x="127" y="169"/>
                  <a:pt x="158" y="182"/>
                  <a:pt x="181" y="204"/>
                </a:cubicBezTo>
                <a:lnTo>
                  <a:pt x="202" y="225"/>
                </a:lnTo>
                <a:cubicBezTo>
                  <a:pt x="206" y="229"/>
                  <a:pt x="213" y="231"/>
                  <a:pt x="218" y="228"/>
                </a:cubicBezTo>
                <a:cubicBezTo>
                  <a:pt x="224" y="226"/>
                  <a:pt x="228" y="220"/>
                  <a:pt x="228" y="214"/>
                </a:cubicBezTo>
                <a:lnTo>
                  <a:pt x="228" y="144"/>
                </a:lnTo>
                <a:cubicBezTo>
                  <a:pt x="237" y="140"/>
                  <a:pt x="243" y="129"/>
                  <a:pt x="243" y="115"/>
                </a:cubicBezTo>
                <a:cubicBezTo>
                  <a:pt x="243" y="102"/>
                  <a:pt x="237" y="91"/>
                  <a:pt x="228" y="86"/>
                </a:cubicBezTo>
                <a:lnTo>
                  <a:pt x="228" y="16"/>
                </a:lnTo>
                <a:close/>
                <a:moveTo>
                  <a:pt x="198" y="53"/>
                </a:moveTo>
                <a:lnTo>
                  <a:pt x="198" y="115"/>
                </a:lnTo>
                <a:lnTo>
                  <a:pt x="198" y="178"/>
                </a:lnTo>
                <a:cubicBezTo>
                  <a:pt x="170" y="152"/>
                  <a:pt x="133" y="138"/>
                  <a:pt x="95" y="138"/>
                </a:cubicBezTo>
                <a:lnTo>
                  <a:pt x="91" y="138"/>
                </a:lnTo>
                <a:lnTo>
                  <a:pt x="91" y="93"/>
                </a:lnTo>
                <a:lnTo>
                  <a:pt x="95" y="93"/>
                </a:lnTo>
                <a:cubicBezTo>
                  <a:pt x="133" y="93"/>
                  <a:pt x="170" y="78"/>
                  <a:pt x="198" y="53"/>
                </a:cubicBezTo>
              </a:path>
            </a:pathLst>
          </a:custGeom>
          <a:solidFill>
            <a:srgbClr val="80808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42" name="path 742"/>
          <p:cNvSpPr/>
          <p:nvPr/>
        </p:nvSpPr>
        <p:spPr>
          <a:xfrm>
            <a:off x="8320976" y="3741610"/>
            <a:ext cx="155537" cy="155955"/>
          </a:xfrm>
          <a:custGeom>
            <a:avLst/>
            <a:gdLst/>
            <a:ahLst/>
            <a:cxnLst/>
            <a:rect l="0" t="0" r="0" b="0"/>
            <a:pathLst>
              <a:path w="244" h="245">
                <a:moveTo>
                  <a:pt x="73" y="5"/>
                </a:moveTo>
                <a:cubicBezTo>
                  <a:pt x="78" y="10"/>
                  <a:pt x="78" y="19"/>
                  <a:pt x="74" y="24"/>
                </a:cubicBezTo>
                <a:lnTo>
                  <a:pt x="39" y="69"/>
                </a:lnTo>
                <a:cubicBezTo>
                  <a:pt x="37" y="72"/>
                  <a:pt x="34" y="74"/>
                  <a:pt x="31" y="74"/>
                </a:cubicBezTo>
                <a:cubicBezTo>
                  <a:pt x="28" y="74"/>
                  <a:pt x="25" y="72"/>
                  <a:pt x="23" y="70"/>
                </a:cubicBezTo>
                <a:lnTo>
                  <a:pt x="4" y="47"/>
                </a:lnTo>
                <a:cubicBezTo>
                  <a:pt x="0" y="42"/>
                  <a:pt x="0" y="33"/>
                  <a:pt x="4" y="28"/>
                </a:cubicBezTo>
                <a:cubicBezTo>
                  <a:pt x="8" y="23"/>
                  <a:pt x="16" y="23"/>
                  <a:pt x="20" y="28"/>
                </a:cubicBezTo>
                <a:lnTo>
                  <a:pt x="31" y="40"/>
                </a:lnTo>
                <a:lnTo>
                  <a:pt x="57" y="6"/>
                </a:lnTo>
                <a:cubicBezTo>
                  <a:pt x="61" y="0"/>
                  <a:pt x="68" y="0"/>
                  <a:pt x="73" y="5"/>
                </a:cubicBezTo>
                <a:moveTo>
                  <a:pt x="73" y="95"/>
                </a:moveTo>
                <a:cubicBezTo>
                  <a:pt x="78" y="100"/>
                  <a:pt x="78" y="109"/>
                  <a:pt x="74" y="115"/>
                </a:cubicBezTo>
                <a:lnTo>
                  <a:pt x="39" y="160"/>
                </a:lnTo>
                <a:cubicBezTo>
                  <a:pt x="37" y="162"/>
                  <a:pt x="34" y="164"/>
                  <a:pt x="31" y="164"/>
                </a:cubicBezTo>
                <a:cubicBezTo>
                  <a:pt x="28" y="164"/>
                  <a:pt x="25" y="163"/>
                  <a:pt x="23" y="160"/>
                </a:cubicBezTo>
                <a:lnTo>
                  <a:pt x="4" y="137"/>
                </a:lnTo>
                <a:cubicBezTo>
                  <a:pt x="0" y="132"/>
                  <a:pt x="0" y="124"/>
                  <a:pt x="4" y="118"/>
                </a:cubicBezTo>
                <a:cubicBezTo>
                  <a:pt x="8" y="113"/>
                  <a:pt x="16" y="113"/>
                  <a:pt x="20" y="118"/>
                </a:cubicBezTo>
                <a:lnTo>
                  <a:pt x="31" y="131"/>
                </a:lnTo>
                <a:lnTo>
                  <a:pt x="57" y="96"/>
                </a:lnTo>
                <a:cubicBezTo>
                  <a:pt x="61" y="90"/>
                  <a:pt x="68" y="90"/>
                  <a:pt x="73" y="95"/>
                </a:cubicBezTo>
                <a:moveTo>
                  <a:pt x="107" y="38"/>
                </a:moveTo>
                <a:cubicBezTo>
                  <a:pt x="107" y="28"/>
                  <a:pt x="114" y="20"/>
                  <a:pt x="122" y="20"/>
                </a:cubicBezTo>
                <a:lnTo>
                  <a:pt x="229" y="20"/>
                </a:lnTo>
                <a:cubicBezTo>
                  <a:pt x="238" y="20"/>
                  <a:pt x="244" y="28"/>
                  <a:pt x="244" y="38"/>
                </a:cubicBezTo>
                <a:cubicBezTo>
                  <a:pt x="244" y="48"/>
                  <a:pt x="238" y="55"/>
                  <a:pt x="229" y="55"/>
                </a:cubicBezTo>
                <a:lnTo>
                  <a:pt x="122" y="55"/>
                </a:lnTo>
                <a:cubicBezTo>
                  <a:pt x="114" y="55"/>
                  <a:pt x="107" y="48"/>
                  <a:pt x="107" y="38"/>
                </a:cubicBezTo>
                <a:moveTo>
                  <a:pt x="107" y="128"/>
                </a:moveTo>
                <a:cubicBezTo>
                  <a:pt x="107" y="118"/>
                  <a:pt x="114" y="110"/>
                  <a:pt x="122" y="110"/>
                </a:cubicBezTo>
                <a:lnTo>
                  <a:pt x="229" y="110"/>
                </a:lnTo>
                <a:cubicBezTo>
                  <a:pt x="238" y="110"/>
                  <a:pt x="244" y="118"/>
                  <a:pt x="244" y="128"/>
                </a:cubicBezTo>
                <a:cubicBezTo>
                  <a:pt x="244" y="138"/>
                  <a:pt x="238" y="146"/>
                  <a:pt x="229" y="146"/>
                </a:cubicBezTo>
                <a:lnTo>
                  <a:pt x="122" y="146"/>
                </a:lnTo>
                <a:cubicBezTo>
                  <a:pt x="114" y="146"/>
                  <a:pt x="107" y="138"/>
                  <a:pt x="107" y="128"/>
                </a:cubicBezTo>
                <a:moveTo>
                  <a:pt x="77" y="218"/>
                </a:moveTo>
                <a:cubicBezTo>
                  <a:pt x="77" y="208"/>
                  <a:pt x="83" y="200"/>
                  <a:pt x="92" y="200"/>
                </a:cubicBezTo>
                <a:lnTo>
                  <a:pt x="229" y="200"/>
                </a:lnTo>
                <a:cubicBezTo>
                  <a:pt x="238" y="200"/>
                  <a:pt x="244" y="208"/>
                  <a:pt x="244" y="218"/>
                </a:cubicBezTo>
                <a:cubicBezTo>
                  <a:pt x="244" y="228"/>
                  <a:pt x="238" y="236"/>
                  <a:pt x="229" y="236"/>
                </a:cubicBezTo>
                <a:lnTo>
                  <a:pt x="92" y="236"/>
                </a:lnTo>
                <a:cubicBezTo>
                  <a:pt x="83" y="236"/>
                  <a:pt x="77" y="228"/>
                  <a:pt x="77" y="218"/>
                </a:cubicBezTo>
                <a:moveTo>
                  <a:pt x="23" y="191"/>
                </a:moveTo>
                <a:cubicBezTo>
                  <a:pt x="26" y="191"/>
                  <a:pt x="29" y="192"/>
                  <a:pt x="32" y="193"/>
                </a:cubicBezTo>
                <a:cubicBezTo>
                  <a:pt x="35" y="195"/>
                  <a:pt x="37" y="196"/>
                  <a:pt x="39" y="199"/>
                </a:cubicBezTo>
                <a:cubicBezTo>
                  <a:pt x="42" y="201"/>
                  <a:pt x="43" y="205"/>
                  <a:pt x="44" y="208"/>
                </a:cubicBezTo>
                <a:cubicBezTo>
                  <a:pt x="46" y="211"/>
                  <a:pt x="46" y="215"/>
                  <a:pt x="46" y="218"/>
                </a:cubicBezTo>
                <a:cubicBezTo>
                  <a:pt x="46" y="221"/>
                  <a:pt x="46" y="225"/>
                  <a:pt x="44" y="228"/>
                </a:cubicBezTo>
                <a:cubicBezTo>
                  <a:pt x="43" y="232"/>
                  <a:pt x="42" y="235"/>
                  <a:pt x="39" y="237"/>
                </a:cubicBezTo>
                <a:cubicBezTo>
                  <a:pt x="37" y="240"/>
                  <a:pt x="35" y="242"/>
                  <a:pt x="32" y="243"/>
                </a:cubicBezTo>
                <a:cubicBezTo>
                  <a:pt x="29" y="245"/>
                  <a:pt x="26" y="245"/>
                  <a:pt x="23" y="245"/>
                </a:cubicBezTo>
                <a:cubicBezTo>
                  <a:pt x="20" y="245"/>
                  <a:pt x="18" y="245"/>
                  <a:pt x="14" y="243"/>
                </a:cubicBezTo>
                <a:cubicBezTo>
                  <a:pt x="12" y="242"/>
                  <a:pt x="9" y="240"/>
                  <a:pt x="7" y="237"/>
                </a:cubicBezTo>
                <a:cubicBezTo>
                  <a:pt x="5" y="235"/>
                  <a:pt x="3" y="232"/>
                  <a:pt x="2" y="228"/>
                </a:cubicBezTo>
                <a:cubicBezTo>
                  <a:pt x="1" y="225"/>
                  <a:pt x="1" y="221"/>
                  <a:pt x="1" y="218"/>
                </a:cubicBezTo>
                <a:cubicBezTo>
                  <a:pt x="1" y="215"/>
                  <a:pt x="1" y="211"/>
                  <a:pt x="2" y="208"/>
                </a:cubicBezTo>
                <a:cubicBezTo>
                  <a:pt x="3" y="205"/>
                  <a:pt x="5" y="201"/>
                  <a:pt x="7" y="199"/>
                </a:cubicBezTo>
                <a:cubicBezTo>
                  <a:pt x="9" y="196"/>
                  <a:pt x="12" y="195"/>
                  <a:pt x="14" y="193"/>
                </a:cubicBezTo>
                <a:cubicBezTo>
                  <a:pt x="18" y="192"/>
                  <a:pt x="20" y="191"/>
                  <a:pt x="23" y="191"/>
                </a:cubicBezTo>
              </a:path>
            </a:pathLst>
          </a:custGeom>
          <a:solidFill>
            <a:srgbClr val="80808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44" name="path 744"/>
          <p:cNvSpPr/>
          <p:nvPr/>
        </p:nvSpPr>
        <p:spPr>
          <a:xfrm>
            <a:off x="8321712" y="3317227"/>
            <a:ext cx="154800" cy="155778"/>
          </a:xfrm>
          <a:custGeom>
            <a:avLst/>
            <a:gdLst/>
            <a:ahLst/>
            <a:cxnLst/>
            <a:rect l="0" t="0" r="0" b="0"/>
            <a:pathLst>
              <a:path w="243" h="245">
                <a:moveTo>
                  <a:pt x="110" y="3"/>
                </a:moveTo>
                <a:cubicBezTo>
                  <a:pt x="117" y="0"/>
                  <a:pt x="125" y="0"/>
                  <a:pt x="133" y="3"/>
                </a:cubicBezTo>
                <a:lnTo>
                  <a:pt x="237" y="51"/>
                </a:lnTo>
                <a:cubicBezTo>
                  <a:pt x="241" y="53"/>
                  <a:pt x="243" y="57"/>
                  <a:pt x="243" y="61"/>
                </a:cubicBezTo>
                <a:cubicBezTo>
                  <a:pt x="243" y="66"/>
                  <a:pt x="241" y="70"/>
                  <a:pt x="237" y="72"/>
                </a:cubicBezTo>
                <a:lnTo>
                  <a:pt x="133" y="120"/>
                </a:lnTo>
                <a:cubicBezTo>
                  <a:pt x="125" y="123"/>
                  <a:pt x="117" y="123"/>
                  <a:pt x="110" y="120"/>
                </a:cubicBezTo>
                <a:lnTo>
                  <a:pt x="6" y="72"/>
                </a:lnTo>
                <a:cubicBezTo>
                  <a:pt x="2" y="70"/>
                  <a:pt x="0" y="66"/>
                  <a:pt x="0" y="61"/>
                </a:cubicBezTo>
                <a:cubicBezTo>
                  <a:pt x="0" y="57"/>
                  <a:pt x="2" y="53"/>
                  <a:pt x="6" y="51"/>
                </a:cubicBezTo>
                <a:lnTo>
                  <a:pt x="110" y="3"/>
                </a:lnTo>
                <a:close/>
                <a:moveTo>
                  <a:pt x="211" y="100"/>
                </a:moveTo>
                <a:lnTo>
                  <a:pt x="237" y="112"/>
                </a:lnTo>
                <a:cubicBezTo>
                  <a:pt x="241" y="114"/>
                  <a:pt x="243" y="118"/>
                  <a:pt x="243" y="122"/>
                </a:cubicBezTo>
                <a:cubicBezTo>
                  <a:pt x="243" y="127"/>
                  <a:pt x="241" y="131"/>
                  <a:pt x="237" y="133"/>
                </a:cubicBezTo>
                <a:lnTo>
                  <a:pt x="133" y="181"/>
                </a:lnTo>
                <a:cubicBezTo>
                  <a:pt x="125" y="184"/>
                  <a:pt x="117" y="184"/>
                  <a:pt x="110" y="181"/>
                </a:cubicBezTo>
                <a:lnTo>
                  <a:pt x="6" y="133"/>
                </a:lnTo>
                <a:cubicBezTo>
                  <a:pt x="2" y="131"/>
                  <a:pt x="0" y="127"/>
                  <a:pt x="0" y="122"/>
                </a:cubicBezTo>
                <a:cubicBezTo>
                  <a:pt x="0" y="118"/>
                  <a:pt x="2" y="114"/>
                  <a:pt x="6" y="112"/>
                </a:cubicBezTo>
                <a:lnTo>
                  <a:pt x="31" y="100"/>
                </a:lnTo>
                <a:lnTo>
                  <a:pt x="104" y="134"/>
                </a:lnTo>
                <a:cubicBezTo>
                  <a:pt x="115" y="139"/>
                  <a:pt x="128" y="139"/>
                  <a:pt x="139" y="134"/>
                </a:cubicBezTo>
                <a:lnTo>
                  <a:pt x="211" y="100"/>
                </a:lnTo>
                <a:close/>
                <a:moveTo>
                  <a:pt x="139" y="194"/>
                </a:moveTo>
                <a:lnTo>
                  <a:pt x="211" y="161"/>
                </a:lnTo>
                <a:lnTo>
                  <a:pt x="237" y="173"/>
                </a:lnTo>
                <a:cubicBezTo>
                  <a:pt x="241" y="175"/>
                  <a:pt x="243" y="179"/>
                  <a:pt x="243" y="183"/>
                </a:cubicBezTo>
                <a:cubicBezTo>
                  <a:pt x="243" y="188"/>
                  <a:pt x="241" y="192"/>
                  <a:pt x="237" y="193"/>
                </a:cubicBezTo>
                <a:lnTo>
                  <a:pt x="133" y="241"/>
                </a:lnTo>
                <a:cubicBezTo>
                  <a:pt x="125" y="245"/>
                  <a:pt x="117" y="245"/>
                  <a:pt x="110" y="241"/>
                </a:cubicBezTo>
                <a:lnTo>
                  <a:pt x="6" y="193"/>
                </a:lnTo>
                <a:cubicBezTo>
                  <a:pt x="2" y="192"/>
                  <a:pt x="0" y="187"/>
                  <a:pt x="0" y="183"/>
                </a:cubicBezTo>
                <a:cubicBezTo>
                  <a:pt x="0" y="179"/>
                  <a:pt x="2" y="175"/>
                  <a:pt x="6" y="173"/>
                </a:cubicBezTo>
                <a:lnTo>
                  <a:pt x="31" y="161"/>
                </a:lnTo>
                <a:lnTo>
                  <a:pt x="104" y="194"/>
                </a:lnTo>
                <a:cubicBezTo>
                  <a:pt x="115" y="200"/>
                  <a:pt x="128" y="200"/>
                  <a:pt x="139" y="194"/>
                </a:cubicBezTo>
              </a:path>
            </a:pathLst>
          </a:custGeom>
          <a:solidFill>
            <a:srgbClr val="80808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46" name="textbox 746"/>
          <p:cNvSpPr/>
          <p:nvPr/>
        </p:nvSpPr>
        <p:spPr>
          <a:xfrm>
            <a:off x="4638509" y="1896999"/>
            <a:ext cx="2930525" cy="24536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6669" algn="l" rtl="0" eaLnBrk="0">
              <a:lnSpc>
                <a:spcPct val="83000"/>
              </a:lnSpc>
              <a:tabLst/>
            </a:pPr>
            <a:r>
              <a:rPr sz="20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签到                   </a:t>
            </a:r>
            <a:r>
              <a:rPr sz="2100" kern="0" spc="10" baseline="24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核验与履约</a:t>
            </a:r>
            <a:endParaRPr sz="2100" baseline="248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8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6034" algn="l" rtl="0" eaLnBrk="0">
              <a:lnSpc>
                <a:spcPct val="88000"/>
              </a:lnSpc>
              <a:spcBef>
                <a:spcPts val="423"/>
              </a:spcBef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无感通行，确保安全与履约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26034" algn="l" rtl="0" eaLnBrk="0">
              <a:lnSpc>
                <a:spcPct val="87000"/>
              </a:lnSpc>
              <a:spcBef>
                <a:spcPts val="1236"/>
              </a:spcBef>
              <a:tabLst/>
            </a:pP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车牌识别</a:t>
            </a:r>
            <a:r>
              <a:rPr sz="1200" kern="0" spc="-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、GPS地理围栏</a:t>
            </a:r>
            <a:r>
              <a:rPr sz="1200" kern="0" spc="-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、准时性校验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7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69545" algn="l" rtl="0" eaLnBrk="0">
              <a:lnSpc>
                <a:spcPts val="1401"/>
              </a:lnSpc>
              <a:spcBef>
                <a:spcPts val="336"/>
              </a:spcBef>
              <a:tabLst>
                <a:tab pos="264159" algn="l"/>
              </a:tabLst>
            </a:pPr>
            <a:r>
              <a:rPr sz="1100" b="1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100" b="1" kern="0" spc="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到达触发：</a:t>
            </a:r>
            <a:r>
              <a:rPr sz="1100" b="1" kern="0" spc="-2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GPS</a:t>
            </a:r>
            <a:r>
              <a:rPr sz="1100" kern="0" spc="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地理围栏(500米内)可签到</a:t>
            </a:r>
            <a:endParaRPr sz="1100" dirty="0">
              <a:latin typeface="Microsoft YaHei"/>
              <a:ea typeface="Microsoft YaHei"/>
              <a:cs typeface="Microsoft YaHei"/>
            </a:endParaRPr>
          </a:p>
          <a:p>
            <a:pPr marL="169545" algn="l" rtl="0" eaLnBrk="0">
              <a:lnSpc>
                <a:spcPts val="2569"/>
              </a:lnSpc>
              <a:spcBef>
                <a:spcPts val="75"/>
              </a:spcBef>
              <a:tabLst>
                <a:tab pos="264159" algn="l"/>
              </a:tabLst>
            </a:pPr>
            <a:r>
              <a:rPr sz="1100" b="1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100" b="1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履约验证：</a:t>
            </a:r>
            <a:r>
              <a:rPr sz="1100" b="1" kern="0" spc="-2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准时性校验(</a:t>
            </a:r>
            <a:r>
              <a:rPr sz="11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是否在预约时段内)</a:t>
            </a:r>
            <a:endParaRPr sz="11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10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62254" indent="-99694" algn="l" rtl="0" eaLnBrk="0">
              <a:lnSpc>
                <a:spcPct val="108000"/>
              </a:lnSpc>
              <a:tabLst/>
            </a:pPr>
            <a:r>
              <a:rPr sz="1100" b="1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100" b="1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状态更新：</a:t>
            </a:r>
            <a:r>
              <a:rPr sz="11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签到成功后变为「已入园，等</a:t>
            </a:r>
            <a:r>
              <a:rPr sz="11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待</a:t>
            </a:r>
            <a:r>
              <a:rPr sz="11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作业」</a:t>
            </a:r>
            <a:endParaRPr sz="11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48" name="path 748"/>
          <p:cNvSpPr/>
          <p:nvPr/>
        </p:nvSpPr>
        <p:spPr>
          <a:xfrm>
            <a:off x="4657864" y="3974045"/>
            <a:ext cx="143281" cy="179997"/>
          </a:xfrm>
          <a:custGeom>
            <a:avLst/>
            <a:gdLst/>
            <a:ahLst/>
            <a:cxnLst/>
            <a:rect l="0" t="0" r="0" b="0"/>
            <a:pathLst>
              <a:path w="225" h="283">
                <a:moveTo>
                  <a:pt x="18" y="0"/>
                </a:moveTo>
                <a:cubicBezTo>
                  <a:pt x="8" y="0"/>
                  <a:pt x="0" y="8"/>
                  <a:pt x="0" y="17"/>
                </a:cubicBezTo>
                <a:cubicBezTo>
                  <a:pt x="0" y="27"/>
                  <a:pt x="8" y="35"/>
                  <a:pt x="18" y="35"/>
                </a:cubicBezTo>
                <a:lnTo>
                  <a:pt x="18" y="41"/>
                </a:lnTo>
                <a:cubicBezTo>
                  <a:pt x="18" y="65"/>
                  <a:pt x="28" y="88"/>
                  <a:pt x="45" y="104"/>
                </a:cubicBezTo>
                <a:lnTo>
                  <a:pt x="85" y="142"/>
                </a:lnTo>
                <a:lnTo>
                  <a:pt x="45" y="179"/>
                </a:lnTo>
                <a:cubicBezTo>
                  <a:pt x="28" y="196"/>
                  <a:pt x="18" y="218"/>
                  <a:pt x="18" y="242"/>
                </a:cubicBezTo>
                <a:lnTo>
                  <a:pt x="18" y="248"/>
                </a:lnTo>
                <a:cubicBezTo>
                  <a:pt x="8" y="248"/>
                  <a:pt x="0" y="256"/>
                  <a:pt x="0" y="265"/>
                </a:cubicBezTo>
                <a:cubicBezTo>
                  <a:pt x="0" y="275"/>
                  <a:pt x="8" y="283"/>
                  <a:pt x="18" y="283"/>
                </a:cubicBezTo>
                <a:lnTo>
                  <a:pt x="37" y="283"/>
                </a:lnTo>
                <a:lnTo>
                  <a:pt x="188" y="283"/>
                </a:lnTo>
                <a:lnTo>
                  <a:pt x="206" y="283"/>
                </a:lnTo>
                <a:cubicBezTo>
                  <a:pt x="217" y="283"/>
                  <a:pt x="225" y="275"/>
                  <a:pt x="225" y="265"/>
                </a:cubicBezTo>
                <a:cubicBezTo>
                  <a:pt x="225" y="256"/>
                  <a:pt x="217" y="248"/>
                  <a:pt x="206" y="248"/>
                </a:cubicBezTo>
                <a:lnTo>
                  <a:pt x="206" y="242"/>
                </a:lnTo>
                <a:cubicBezTo>
                  <a:pt x="206" y="218"/>
                  <a:pt x="196" y="196"/>
                  <a:pt x="179" y="179"/>
                </a:cubicBezTo>
                <a:lnTo>
                  <a:pt x="139" y="142"/>
                </a:lnTo>
                <a:lnTo>
                  <a:pt x="179" y="104"/>
                </a:lnTo>
                <a:cubicBezTo>
                  <a:pt x="196" y="88"/>
                  <a:pt x="206" y="65"/>
                  <a:pt x="206" y="41"/>
                </a:cubicBezTo>
                <a:lnTo>
                  <a:pt x="206" y="35"/>
                </a:lnTo>
                <a:cubicBezTo>
                  <a:pt x="217" y="35"/>
                  <a:pt x="225" y="27"/>
                  <a:pt x="225" y="17"/>
                </a:cubicBezTo>
                <a:cubicBezTo>
                  <a:pt x="225" y="8"/>
                  <a:pt x="217" y="0"/>
                  <a:pt x="206" y="0"/>
                </a:cubicBezTo>
                <a:lnTo>
                  <a:pt x="188" y="0"/>
                </a:lnTo>
                <a:lnTo>
                  <a:pt x="37" y="0"/>
                </a:lnTo>
                <a:lnTo>
                  <a:pt x="18" y="0"/>
                </a:lnTo>
                <a:close/>
                <a:moveTo>
                  <a:pt x="56" y="41"/>
                </a:moveTo>
                <a:lnTo>
                  <a:pt x="56" y="35"/>
                </a:lnTo>
                <a:lnTo>
                  <a:pt x="168" y="35"/>
                </a:lnTo>
                <a:lnTo>
                  <a:pt x="168" y="41"/>
                </a:lnTo>
                <a:cubicBezTo>
                  <a:pt x="168" y="51"/>
                  <a:pt x="166" y="62"/>
                  <a:pt x="159" y="71"/>
                </a:cubicBezTo>
                <a:lnTo>
                  <a:pt x="65" y="71"/>
                </a:lnTo>
                <a:cubicBezTo>
                  <a:pt x="59" y="62"/>
                  <a:pt x="56" y="51"/>
                  <a:pt x="56" y="41"/>
                </a:cubicBezTo>
                <a:moveTo>
                  <a:pt x="65" y="212"/>
                </a:moveTo>
                <a:cubicBezTo>
                  <a:pt x="67" y="210"/>
                  <a:pt x="69" y="207"/>
                  <a:pt x="72" y="204"/>
                </a:cubicBezTo>
                <a:lnTo>
                  <a:pt x="112" y="167"/>
                </a:lnTo>
                <a:lnTo>
                  <a:pt x="152" y="204"/>
                </a:lnTo>
                <a:cubicBezTo>
                  <a:pt x="155" y="207"/>
                  <a:pt x="157" y="210"/>
                  <a:pt x="159" y="212"/>
                </a:cubicBezTo>
                <a:lnTo>
                  <a:pt x="65" y="212"/>
                </a:lnTo>
              </a:path>
            </a:pathLst>
          </a:custGeom>
          <a:solidFill>
            <a:srgbClr val="80808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50" name="path 750"/>
          <p:cNvSpPr/>
          <p:nvPr/>
        </p:nvSpPr>
        <p:spPr>
          <a:xfrm>
            <a:off x="4651743" y="3631501"/>
            <a:ext cx="156603" cy="190804"/>
          </a:xfrm>
          <a:custGeom>
            <a:avLst/>
            <a:gdLst/>
            <a:ahLst/>
            <a:cxnLst/>
            <a:rect l="0" t="0" r="0" b="0"/>
            <a:pathLst>
              <a:path w="246" h="300">
                <a:moveTo>
                  <a:pt x="94" y="0"/>
                </a:moveTo>
                <a:cubicBezTo>
                  <a:pt x="83" y="0"/>
                  <a:pt x="75" y="7"/>
                  <a:pt x="75" y="18"/>
                </a:cubicBezTo>
                <a:cubicBezTo>
                  <a:pt x="75" y="28"/>
                  <a:pt x="83" y="37"/>
                  <a:pt x="94" y="37"/>
                </a:cubicBezTo>
                <a:lnTo>
                  <a:pt x="103" y="37"/>
                </a:lnTo>
                <a:lnTo>
                  <a:pt x="103" y="57"/>
                </a:lnTo>
                <a:cubicBezTo>
                  <a:pt x="44" y="66"/>
                  <a:pt x="0" y="116"/>
                  <a:pt x="0" y="178"/>
                </a:cubicBezTo>
                <a:cubicBezTo>
                  <a:pt x="0" y="245"/>
                  <a:pt x="54" y="300"/>
                  <a:pt x="122" y="300"/>
                </a:cubicBezTo>
                <a:cubicBezTo>
                  <a:pt x="189" y="300"/>
                  <a:pt x="244" y="245"/>
                  <a:pt x="244" y="178"/>
                </a:cubicBezTo>
                <a:cubicBezTo>
                  <a:pt x="244" y="153"/>
                  <a:pt x="237" y="130"/>
                  <a:pt x="225" y="111"/>
                </a:cubicBezTo>
                <a:lnTo>
                  <a:pt x="239" y="97"/>
                </a:lnTo>
                <a:cubicBezTo>
                  <a:pt x="246" y="90"/>
                  <a:pt x="246" y="78"/>
                  <a:pt x="239" y="70"/>
                </a:cubicBezTo>
                <a:cubicBezTo>
                  <a:pt x="231" y="63"/>
                  <a:pt x="219" y="63"/>
                  <a:pt x="212" y="70"/>
                </a:cubicBezTo>
                <a:lnTo>
                  <a:pt x="200" y="83"/>
                </a:lnTo>
                <a:cubicBezTo>
                  <a:pt x="183" y="70"/>
                  <a:pt x="163" y="60"/>
                  <a:pt x="141" y="57"/>
                </a:cubicBezTo>
                <a:lnTo>
                  <a:pt x="141" y="37"/>
                </a:lnTo>
                <a:lnTo>
                  <a:pt x="150" y="37"/>
                </a:lnTo>
                <a:cubicBezTo>
                  <a:pt x="161" y="37"/>
                  <a:pt x="169" y="28"/>
                  <a:pt x="169" y="18"/>
                </a:cubicBezTo>
                <a:cubicBezTo>
                  <a:pt x="169" y="7"/>
                  <a:pt x="161" y="0"/>
                  <a:pt x="150" y="0"/>
                </a:cubicBezTo>
                <a:lnTo>
                  <a:pt x="122" y="0"/>
                </a:lnTo>
                <a:lnTo>
                  <a:pt x="94" y="0"/>
                </a:lnTo>
                <a:close/>
                <a:moveTo>
                  <a:pt x="136" y="112"/>
                </a:moveTo>
                <a:lnTo>
                  <a:pt x="136" y="187"/>
                </a:lnTo>
                <a:cubicBezTo>
                  <a:pt x="136" y="195"/>
                  <a:pt x="130" y="201"/>
                  <a:pt x="122" y="201"/>
                </a:cubicBezTo>
                <a:cubicBezTo>
                  <a:pt x="115" y="201"/>
                  <a:pt x="108" y="195"/>
                  <a:pt x="108" y="187"/>
                </a:cubicBezTo>
                <a:lnTo>
                  <a:pt x="108" y="112"/>
                </a:lnTo>
                <a:cubicBezTo>
                  <a:pt x="108" y="104"/>
                  <a:pt x="115" y="98"/>
                  <a:pt x="122" y="98"/>
                </a:cubicBezTo>
                <a:cubicBezTo>
                  <a:pt x="130" y="98"/>
                  <a:pt x="136" y="104"/>
                  <a:pt x="136" y="112"/>
                </a:cubicBezTo>
              </a:path>
            </a:pathLst>
          </a:custGeom>
          <a:solidFill>
            <a:srgbClr val="80808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52" name="path 752"/>
          <p:cNvSpPr/>
          <p:nvPr/>
        </p:nvSpPr>
        <p:spPr>
          <a:xfrm>
            <a:off x="4651209" y="3323513"/>
            <a:ext cx="156959" cy="156959"/>
          </a:xfrm>
          <a:custGeom>
            <a:avLst/>
            <a:gdLst/>
            <a:ahLst/>
            <a:cxnLst/>
            <a:rect l="0" t="0" r="0" b="0"/>
            <a:pathLst>
              <a:path w="247" h="247">
                <a:moveTo>
                  <a:pt x="244" y="27"/>
                </a:moveTo>
                <a:cubicBezTo>
                  <a:pt x="247" y="20"/>
                  <a:pt x="245" y="12"/>
                  <a:pt x="240" y="6"/>
                </a:cubicBezTo>
                <a:cubicBezTo>
                  <a:pt x="234" y="1"/>
                  <a:pt x="226" y="0"/>
                  <a:pt x="219" y="2"/>
                </a:cubicBezTo>
                <a:lnTo>
                  <a:pt x="13" y="87"/>
                </a:lnTo>
                <a:cubicBezTo>
                  <a:pt x="4" y="90"/>
                  <a:pt x="0" y="99"/>
                  <a:pt x="1" y="108"/>
                </a:cubicBezTo>
                <a:cubicBezTo>
                  <a:pt x="3" y="116"/>
                  <a:pt x="11" y="123"/>
                  <a:pt x="19" y="123"/>
                </a:cubicBezTo>
                <a:lnTo>
                  <a:pt x="123" y="123"/>
                </a:lnTo>
                <a:lnTo>
                  <a:pt x="123" y="226"/>
                </a:lnTo>
                <a:cubicBezTo>
                  <a:pt x="123" y="235"/>
                  <a:pt x="130" y="243"/>
                  <a:pt x="138" y="245"/>
                </a:cubicBezTo>
                <a:cubicBezTo>
                  <a:pt x="147" y="247"/>
                  <a:pt x="156" y="242"/>
                  <a:pt x="159" y="234"/>
                </a:cubicBezTo>
                <a:lnTo>
                  <a:pt x="244" y="27"/>
                </a:lnTo>
              </a:path>
            </a:pathLst>
          </a:custGeom>
          <a:solidFill>
            <a:srgbClr val="80808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54" name="textbox 754"/>
          <p:cNvSpPr/>
          <p:nvPr/>
        </p:nvSpPr>
        <p:spPr>
          <a:xfrm>
            <a:off x="944270" y="1897508"/>
            <a:ext cx="2928620" cy="22758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7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7625" algn="l" rtl="0" eaLnBrk="0">
              <a:lnSpc>
                <a:spcPct val="84000"/>
              </a:lnSpc>
              <a:tabLst/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预约</a:t>
            </a:r>
            <a:r>
              <a:rPr sz="20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</a:t>
            </a:r>
            <a:r>
              <a:rPr sz="20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r>
              <a:rPr sz="2100" kern="0" spc="0" baseline="24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计划与准入</a:t>
            </a:r>
            <a:endParaRPr sz="2100" baseline="248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7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9530" algn="l" rtl="0" eaLnBrk="0">
              <a:lnSpc>
                <a:spcPct val="87000"/>
              </a:lnSpc>
              <a:spcBef>
                <a:spcPts val="428"/>
              </a:spcBef>
              <a:tabLst/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削峰填谷</a:t>
            </a:r>
            <a:r>
              <a:rPr sz="1400" kern="0" spc="-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，实现预测性管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理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43815" algn="l" rtl="0" eaLnBrk="0">
              <a:lnSpc>
                <a:spcPts val="1521"/>
              </a:lnSpc>
              <a:spcBef>
                <a:spcPts val="1037"/>
              </a:spcBef>
              <a:tabLst/>
            </a:pPr>
            <a:r>
              <a:rPr sz="12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线上填报</a:t>
            </a:r>
            <a:r>
              <a:rPr sz="1200" kern="0" spc="-1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、自动/人工审核</a:t>
            </a:r>
            <a:r>
              <a:rPr sz="1200" kern="0" spc="-1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、时段容量控制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7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3354" algn="l" rtl="0" eaLnBrk="0">
              <a:lnSpc>
                <a:spcPts val="1401"/>
              </a:lnSpc>
              <a:spcBef>
                <a:spcPts val="336"/>
              </a:spcBef>
              <a:tabLst>
                <a:tab pos="280034" algn="l"/>
              </a:tabLst>
            </a:pPr>
            <a:r>
              <a:rPr sz="1100" b="1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100" b="1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途径</a:t>
            </a:r>
            <a:r>
              <a:rPr sz="1100" b="1" kern="0" spc="-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00" b="1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sz="11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手机小程序/网页端</a:t>
            </a:r>
            <a:endParaRPr sz="1100" dirty="0">
              <a:latin typeface="Microsoft YaHei"/>
              <a:ea typeface="Microsoft YaHei"/>
              <a:cs typeface="Microsoft YaHei"/>
            </a:endParaRPr>
          </a:p>
          <a:p>
            <a:pPr marL="203834" algn="l" rtl="0" eaLnBrk="0">
              <a:lnSpc>
                <a:spcPct val="87000"/>
              </a:lnSpc>
              <a:spcBef>
                <a:spcPts val="1446"/>
              </a:spcBef>
              <a:tabLst>
                <a:tab pos="279400" algn="l"/>
              </a:tabLst>
            </a:pPr>
            <a:r>
              <a:rPr sz="1100" b="1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100" b="1" kern="0" spc="-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信息</a:t>
            </a:r>
            <a:r>
              <a:rPr sz="1100" b="1" kern="0" spc="-1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00" b="1" kern="0" spc="-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sz="1100" kern="0" spc="-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车辆</a:t>
            </a:r>
            <a:r>
              <a:rPr sz="1100" kern="0" spc="-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00" kern="0" spc="-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、货物</a:t>
            </a:r>
            <a:r>
              <a:rPr sz="1100" kern="0" spc="-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00" kern="0" spc="-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、时间</a:t>
            </a:r>
            <a:r>
              <a:rPr sz="1100" kern="0" spc="-1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00" kern="0" spc="-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、地点</a:t>
            </a:r>
            <a:r>
              <a:rPr sz="1100" kern="0" spc="-1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00" kern="0" spc="-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、对接人</a:t>
            </a:r>
            <a:endParaRPr sz="1100" dirty="0">
              <a:latin typeface="Microsoft YaHei"/>
              <a:ea typeface="Microsoft YaHei"/>
              <a:cs typeface="Microsoft YaHei"/>
            </a:endParaRPr>
          </a:p>
          <a:p>
            <a:pPr marL="192404" algn="l" rtl="0" eaLnBrk="0">
              <a:lnSpc>
                <a:spcPts val="2401"/>
              </a:lnSpc>
              <a:spcBef>
                <a:spcPts val="293"/>
              </a:spcBef>
              <a:tabLst>
                <a:tab pos="287654" algn="l"/>
              </a:tabLst>
            </a:pPr>
            <a:r>
              <a:rPr sz="1100" b="1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100" b="1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审核：</a:t>
            </a:r>
            <a:r>
              <a:rPr sz="1100" b="1" kern="0" spc="-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自动/人工审核,系统预占时段额度</a:t>
            </a:r>
            <a:endParaRPr sz="11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56" name="path 756"/>
          <p:cNvSpPr/>
          <p:nvPr/>
        </p:nvSpPr>
        <p:spPr>
          <a:xfrm>
            <a:off x="967955" y="3990759"/>
            <a:ext cx="169202" cy="169557"/>
          </a:xfrm>
          <a:custGeom>
            <a:avLst/>
            <a:gdLst/>
            <a:ahLst/>
            <a:cxnLst/>
            <a:rect l="0" t="0" r="0" b="0"/>
            <a:pathLst>
              <a:path w="266" h="267">
                <a:moveTo>
                  <a:pt x="202" y="34"/>
                </a:moveTo>
                <a:cubicBezTo>
                  <a:pt x="209" y="26"/>
                  <a:pt x="209" y="14"/>
                  <a:pt x="202" y="7"/>
                </a:cubicBezTo>
                <a:cubicBezTo>
                  <a:pt x="195" y="0"/>
                  <a:pt x="183" y="0"/>
                  <a:pt x="175" y="7"/>
                </a:cubicBezTo>
                <a:lnTo>
                  <a:pt x="95" y="87"/>
                </a:lnTo>
                <a:lnTo>
                  <a:pt x="61" y="54"/>
                </a:lnTo>
                <a:cubicBezTo>
                  <a:pt x="54" y="47"/>
                  <a:pt x="42" y="47"/>
                  <a:pt x="35" y="54"/>
                </a:cubicBezTo>
                <a:cubicBezTo>
                  <a:pt x="27" y="61"/>
                  <a:pt x="27" y="73"/>
                  <a:pt x="35" y="81"/>
                </a:cubicBezTo>
                <a:lnTo>
                  <a:pt x="82" y="127"/>
                </a:lnTo>
                <a:cubicBezTo>
                  <a:pt x="89" y="134"/>
                  <a:pt x="101" y="134"/>
                  <a:pt x="108" y="127"/>
                </a:cubicBezTo>
                <a:lnTo>
                  <a:pt x="202" y="34"/>
                </a:lnTo>
                <a:close/>
                <a:moveTo>
                  <a:pt x="259" y="108"/>
                </a:moveTo>
                <a:cubicBezTo>
                  <a:pt x="266" y="101"/>
                  <a:pt x="266" y="89"/>
                  <a:pt x="259" y="82"/>
                </a:cubicBezTo>
                <a:cubicBezTo>
                  <a:pt x="251" y="74"/>
                  <a:pt x="239" y="74"/>
                  <a:pt x="232" y="82"/>
                </a:cubicBezTo>
                <a:lnTo>
                  <a:pt x="95" y="219"/>
                </a:lnTo>
                <a:lnTo>
                  <a:pt x="33" y="157"/>
                </a:lnTo>
                <a:cubicBezTo>
                  <a:pt x="26" y="150"/>
                  <a:pt x="14" y="150"/>
                  <a:pt x="6" y="157"/>
                </a:cubicBezTo>
                <a:cubicBezTo>
                  <a:pt x="0" y="164"/>
                  <a:pt x="0" y="177"/>
                  <a:pt x="6" y="184"/>
                </a:cubicBezTo>
                <a:lnTo>
                  <a:pt x="82" y="259"/>
                </a:lnTo>
                <a:cubicBezTo>
                  <a:pt x="89" y="267"/>
                  <a:pt x="101" y="267"/>
                  <a:pt x="108" y="259"/>
                </a:cubicBezTo>
                <a:lnTo>
                  <a:pt x="259" y="108"/>
                </a:lnTo>
              </a:path>
            </a:pathLst>
          </a:custGeom>
          <a:solidFill>
            <a:srgbClr val="80808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58" name="path 758"/>
          <p:cNvSpPr/>
          <p:nvPr/>
        </p:nvSpPr>
        <p:spPr>
          <a:xfrm>
            <a:off x="956970" y="3658882"/>
            <a:ext cx="191160" cy="190804"/>
          </a:xfrm>
          <a:custGeom>
            <a:avLst/>
            <a:gdLst/>
            <a:ahLst/>
            <a:cxnLst/>
            <a:rect l="0" t="0" r="0" b="0"/>
            <a:pathLst>
              <a:path w="301" h="300">
                <a:moveTo>
                  <a:pt x="150" y="300"/>
                </a:moveTo>
                <a:cubicBezTo>
                  <a:pt x="159" y="300"/>
                  <a:pt x="170" y="299"/>
                  <a:pt x="179" y="297"/>
                </a:cubicBezTo>
                <a:cubicBezTo>
                  <a:pt x="189" y="294"/>
                  <a:pt x="198" y="291"/>
                  <a:pt x="208" y="288"/>
                </a:cubicBezTo>
                <a:cubicBezTo>
                  <a:pt x="217" y="284"/>
                  <a:pt x="226" y="280"/>
                  <a:pt x="234" y="274"/>
                </a:cubicBezTo>
                <a:cubicBezTo>
                  <a:pt x="242" y="269"/>
                  <a:pt x="250" y="263"/>
                  <a:pt x="256" y="255"/>
                </a:cubicBezTo>
                <a:cubicBezTo>
                  <a:pt x="263" y="248"/>
                  <a:pt x="269" y="241"/>
                  <a:pt x="275" y="233"/>
                </a:cubicBezTo>
                <a:cubicBezTo>
                  <a:pt x="281" y="225"/>
                  <a:pt x="285" y="215"/>
                  <a:pt x="289" y="206"/>
                </a:cubicBezTo>
                <a:cubicBezTo>
                  <a:pt x="293" y="197"/>
                  <a:pt x="295" y="188"/>
                  <a:pt x="297" y="179"/>
                </a:cubicBezTo>
                <a:cubicBezTo>
                  <a:pt x="299" y="169"/>
                  <a:pt x="301" y="159"/>
                  <a:pt x="301" y="149"/>
                </a:cubicBezTo>
                <a:cubicBezTo>
                  <a:pt x="301" y="140"/>
                  <a:pt x="299" y="130"/>
                  <a:pt x="297" y="120"/>
                </a:cubicBezTo>
                <a:cubicBezTo>
                  <a:pt x="295" y="111"/>
                  <a:pt x="293" y="101"/>
                  <a:pt x="289" y="92"/>
                </a:cubicBezTo>
                <a:cubicBezTo>
                  <a:pt x="285" y="83"/>
                  <a:pt x="281" y="74"/>
                  <a:pt x="275" y="66"/>
                </a:cubicBezTo>
                <a:cubicBezTo>
                  <a:pt x="269" y="58"/>
                  <a:pt x="263" y="50"/>
                  <a:pt x="256" y="43"/>
                </a:cubicBezTo>
                <a:cubicBezTo>
                  <a:pt x="250" y="36"/>
                  <a:pt x="242" y="30"/>
                  <a:pt x="234" y="24"/>
                </a:cubicBezTo>
                <a:cubicBezTo>
                  <a:pt x="226" y="19"/>
                  <a:pt x="217" y="14"/>
                  <a:pt x="208" y="11"/>
                </a:cubicBezTo>
                <a:cubicBezTo>
                  <a:pt x="198" y="7"/>
                  <a:pt x="189" y="4"/>
                  <a:pt x="179" y="2"/>
                </a:cubicBezTo>
                <a:cubicBezTo>
                  <a:pt x="170" y="0"/>
                  <a:pt x="159" y="0"/>
                  <a:pt x="150" y="0"/>
                </a:cubicBezTo>
                <a:cubicBezTo>
                  <a:pt x="140" y="0"/>
                  <a:pt x="130" y="0"/>
                  <a:pt x="120" y="2"/>
                </a:cubicBezTo>
                <a:cubicBezTo>
                  <a:pt x="111" y="4"/>
                  <a:pt x="102" y="7"/>
                  <a:pt x="92" y="11"/>
                </a:cubicBezTo>
                <a:cubicBezTo>
                  <a:pt x="83" y="14"/>
                  <a:pt x="74" y="19"/>
                  <a:pt x="66" y="24"/>
                </a:cubicBezTo>
                <a:cubicBezTo>
                  <a:pt x="58" y="30"/>
                  <a:pt x="51" y="36"/>
                  <a:pt x="44" y="43"/>
                </a:cubicBezTo>
                <a:cubicBezTo>
                  <a:pt x="37" y="50"/>
                  <a:pt x="31" y="58"/>
                  <a:pt x="25" y="66"/>
                </a:cubicBezTo>
                <a:cubicBezTo>
                  <a:pt x="19" y="74"/>
                  <a:pt x="15" y="83"/>
                  <a:pt x="11" y="92"/>
                </a:cubicBezTo>
                <a:cubicBezTo>
                  <a:pt x="7" y="101"/>
                  <a:pt x="5" y="111"/>
                  <a:pt x="3" y="120"/>
                </a:cubicBezTo>
                <a:cubicBezTo>
                  <a:pt x="1" y="130"/>
                  <a:pt x="0" y="140"/>
                  <a:pt x="0" y="149"/>
                </a:cubicBezTo>
                <a:cubicBezTo>
                  <a:pt x="0" y="159"/>
                  <a:pt x="1" y="169"/>
                  <a:pt x="3" y="179"/>
                </a:cubicBezTo>
                <a:cubicBezTo>
                  <a:pt x="5" y="188"/>
                  <a:pt x="7" y="197"/>
                  <a:pt x="11" y="206"/>
                </a:cubicBezTo>
                <a:cubicBezTo>
                  <a:pt x="15" y="215"/>
                  <a:pt x="19" y="225"/>
                  <a:pt x="25" y="233"/>
                </a:cubicBezTo>
                <a:cubicBezTo>
                  <a:pt x="31" y="241"/>
                  <a:pt x="37" y="248"/>
                  <a:pt x="44" y="255"/>
                </a:cubicBezTo>
                <a:cubicBezTo>
                  <a:pt x="51" y="263"/>
                  <a:pt x="58" y="269"/>
                  <a:pt x="66" y="274"/>
                </a:cubicBezTo>
                <a:cubicBezTo>
                  <a:pt x="74" y="280"/>
                  <a:pt x="83" y="284"/>
                  <a:pt x="92" y="288"/>
                </a:cubicBezTo>
                <a:cubicBezTo>
                  <a:pt x="102" y="291"/>
                  <a:pt x="111" y="294"/>
                  <a:pt x="120" y="297"/>
                </a:cubicBezTo>
                <a:cubicBezTo>
                  <a:pt x="130" y="299"/>
                  <a:pt x="140" y="300"/>
                  <a:pt x="150" y="300"/>
                </a:cubicBezTo>
                <a:moveTo>
                  <a:pt x="126" y="196"/>
                </a:moveTo>
                <a:lnTo>
                  <a:pt x="140" y="196"/>
                </a:lnTo>
                <a:lnTo>
                  <a:pt x="140" y="159"/>
                </a:lnTo>
                <a:lnTo>
                  <a:pt x="126" y="159"/>
                </a:lnTo>
                <a:cubicBezTo>
                  <a:pt x="119" y="159"/>
                  <a:pt x="112" y="153"/>
                  <a:pt x="112" y="145"/>
                </a:cubicBezTo>
                <a:cubicBezTo>
                  <a:pt x="112" y="137"/>
                  <a:pt x="119" y="130"/>
                  <a:pt x="126" y="130"/>
                </a:cubicBezTo>
                <a:lnTo>
                  <a:pt x="154" y="130"/>
                </a:lnTo>
                <a:cubicBezTo>
                  <a:pt x="162" y="130"/>
                  <a:pt x="168" y="137"/>
                  <a:pt x="168" y="145"/>
                </a:cubicBezTo>
                <a:lnTo>
                  <a:pt x="168" y="196"/>
                </a:lnTo>
                <a:lnTo>
                  <a:pt x="173" y="196"/>
                </a:lnTo>
                <a:cubicBezTo>
                  <a:pt x="181" y="196"/>
                  <a:pt x="188" y="202"/>
                  <a:pt x="188" y="210"/>
                </a:cubicBezTo>
                <a:cubicBezTo>
                  <a:pt x="188" y="218"/>
                  <a:pt x="181" y="224"/>
                  <a:pt x="173" y="224"/>
                </a:cubicBezTo>
                <a:lnTo>
                  <a:pt x="126" y="224"/>
                </a:lnTo>
                <a:cubicBezTo>
                  <a:pt x="119" y="224"/>
                  <a:pt x="112" y="218"/>
                  <a:pt x="112" y="210"/>
                </a:cubicBezTo>
                <a:cubicBezTo>
                  <a:pt x="112" y="202"/>
                  <a:pt x="119" y="196"/>
                  <a:pt x="126" y="196"/>
                </a:cubicBezTo>
                <a:moveTo>
                  <a:pt x="150" y="74"/>
                </a:moveTo>
                <a:cubicBezTo>
                  <a:pt x="155" y="74"/>
                  <a:pt x="159" y="76"/>
                  <a:pt x="163" y="80"/>
                </a:cubicBezTo>
                <a:cubicBezTo>
                  <a:pt x="167" y="83"/>
                  <a:pt x="168" y="88"/>
                  <a:pt x="168" y="93"/>
                </a:cubicBezTo>
                <a:cubicBezTo>
                  <a:pt x="168" y="98"/>
                  <a:pt x="167" y="103"/>
                  <a:pt x="163" y="106"/>
                </a:cubicBezTo>
                <a:cubicBezTo>
                  <a:pt x="159" y="110"/>
                  <a:pt x="155" y="112"/>
                  <a:pt x="150" y="112"/>
                </a:cubicBezTo>
                <a:cubicBezTo>
                  <a:pt x="145" y="112"/>
                  <a:pt x="140" y="110"/>
                  <a:pt x="137" y="106"/>
                </a:cubicBezTo>
                <a:cubicBezTo>
                  <a:pt x="133" y="103"/>
                  <a:pt x="131" y="98"/>
                  <a:pt x="131" y="93"/>
                </a:cubicBezTo>
                <a:cubicBezTo>
                  <a:pt x="131" y="88"/>
                  <a:pt x="133" y="83"/>
                  <a:pt x="137" y="80"/>
                </a:cubicBezTo>
                <a:cubicBezTo>
                  <a:pt x="140" y="76"/>
                  <a:pt x="145" y="74"/>
                  <a:pt x="150" y="74"/>
                </a:cubicBezTo>
              </a:path>
            </a:pathLst>
          </a:custGeom>
          <a:solidFill>
            <a:srgbClr val="80808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60" name="path 760"/>
          <p:cNvSpPr/>
          <p:nvPr/>
        </p:nvSpPr>
        <p:spPr>
          <a:xfrm>
            <a:off x="986853" y="3317989"/>
            <a:ext cx="131406" cy="190792"/>
          </a:xfrm>
          <a:custGeom>
            <a:avLst/>
            <a:gdLst/>
            <a:ahLst/>
            <a:cxnLst/>
            <a:rect l="0" t="0" r="0" b="0"/>
            <a:pathLst>
              <a:path w="206" h="300">
                <a:moveTo>
                  <a:pt x="0" y="37"/>
                </a:moveTo>
                <a:cubicBezTo>
                  <a:pt x="0" y="16"/>
                  <a:pt x="17" y="0"/>
                  <a:pt x="37" y="0"/>
                </a:cubicBezTo>
                <a:lnTo>
                  <a:pt x="169" y="0"/>
                </a:lnTo>
                <a:cubicBezTo>
                  <a:pt x="189" y="0"/>
                  <a:pt x="206" y="16"/>
                  <a:pt x="206" y="37"/>
                </a:cubicBezTo>
                <a:lnTo>
                  <a:pt x="206" y="263"/>
                </a:lnTo>
                <a:cubicBezTo>
                  <a:pt x="206" y="283"/>
                  <a:pt x="189" y="300"/>
                  <a:pt x="169" y="300"/>
                </a:cubicBezTo>
                <a:lnTo>
                  <a:pt x="37" y="300"/>
                </a:lnTo>
                <a:cubicBezTo>
                  <a:pt x="17" y="300"/>
                  <a:pt x="0" y="283"/>
                  <a:pt x="0" y="263"/>
                </a:cubicBezTo>
                <a:lnTo>
                  <a:pt x="0" y="37"/>
                </a:lnTo>
                <a:close/>
                <a:moveTo>
                  <a:pt x="122" y="263"/>
                </a:moveTo>
                <a:cubicBezTo>
                  <a:pt x="122" y="257"/>
                  <a:pt x="120" y="253"/>
                  <a:pt x="117" y="249"/>
                </a:cubicBezTo>
                <a:cubicBezTo>
                  <a:pt x="113" y="246"/>
                  <a:pt x="108" y="244"/>
                  <a:pt x="103" y="244"/>
                </a:cubicBezTo>
                <a:cubicBezTo>
                  <a:pt x="98" y="244"/>
                  <a:pt x="94" y="246"/>
                  <a:pt x="90" y="249"/>
                </a:cubicBezTo>
                <a:cubicBezTo>
                  <a:pt x="86" y="253"/>
                  <a:pt x="85" y="257"/>
                  <a:pt x="85" y="263"/>
                </a:cubicBezTo>
                <a:cubicBezTo>
                  <a:pt x="85" y="268"/>
                  <a:pt x="86" y="272"/>
                  <a:pt x="90" y="276"/>
                </a:cubicBezTo>
                <a:cubicBezTo>
                  <a:pt x="94" y="280"/>
                  <a:pt x="98" y="281"/>
                  <a:pt x="103" y="281"/>
                </a:cubicBezTo>
                <a:cubicBezTo>
                  <a:pt x="108" y="281"/>
                  <a:pt x="113" y="280"/>
                  <a:pt x="117" y="276"/>
                </a:cubicBezTo>
                <a:cubicBezTo>
                  <a:pt x="120" y="272"/>
                  <a:pt x="122" y="268"/>
                  <a:pt x="122" y="263"/>
                </a:cubicBezTo>
                <a:moveTo>
                  <a:pt x="169" y="37"/>
                </a:moveTo>
                <a:lnTo>
                  <a:pt x="37" y="37"/>
                </a:lnTo>
                <a:lnTo>
                  <a:pt x="37" y="225"/>
                </a:lnTo>
                <a:lnTo>
                  <a:pt x="169" y="225"/>
                </a:lnTo>
                <a:lnTo>
                  <a:pt x="169" y="37"/>
                </a:lnTo>
              </a:path>
            </a:pathLst>
          </a:custGeom>
          <a:solidFill>
            <a:srgbClr val="80808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62" name="textbox 762"/>
          <p:cNvSpPr/>
          <p:nvPr/>
        </p:nvSpPr>
        <p:spPr>
          <a:xfrm>
            <a:off x="364439" y="346695"/>
            <a:ext cx="11233150" cy="5264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87000"/>
              </a:lnSpc>
              <a:spcBef>
                <a:spcPts val="2"/>
              </a:spcBef>
              <a:tabLst>
                <a:tab pos="77025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核心体系                                      </a:t>
            </a:r>
            <a:r>
              <a:rPr sz="27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764" name="picture 7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626992" y="381062"/>
            <a:ext cx="1931803" cy="412600"/>
          </a:xfrm>
          <a:prstGeom prst="rect">
            <a:avLst/>
          </a:prstGeom>
        </p:spPr>
      </p:pic>
      <p:pic>
        <p:nvPicPr>
          <p:cNvPr id="766" name="picture 76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77139" y="359395"/>
            <a:ext cx="584153" cy="473386"/>
          </a:xfrm>
          <a:prstGeom prst="rect">
            <a:avLst/>
          </a:prstGeom>
        </p:spPr>
      </p:pic>
      <p:pic>
        <p:nvPicPr>
          <p:cNvPr id="768" name="picture 76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917435" y="5111495"/>
            <a:ext cx="797052" cy="470916"/>
          </a:xfrm>
          <a:prstGeom prst="rect">
            <a:avLst/>
          </a:prstGeom>
        </p:spPr>
      </p:pic>
      <p:pic>
        <p:nvPicPr>
          <p:cNvPr id="770" name="picture 77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0591800" y="5111495"/>
            <a:ext cx="797052" cy="470916"/>
          </a:xfrm>
          <a:prstGeom prst="rect">
            <a:avLst/>
          </a:prstGeom>
        </p:spPr>
      </p:pic>
      <p:pic>
        <p:nvPicPr>
          <p:cNvPr id="772" name="picture 77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243072" y="5114544"/>
            <a:ext cx="798576" cy="469391"/>
          </a:xfrm>
          <a:prstGeom prst="rect">
            <a:avLst/>
          </a:prstGeom>
        </p:spPr>
      </p:pic>
      <p:sp>
        <p:nvSpPr>
          <p:cNvPr id="774" name="textbox 774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6" name="picture 7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89204" y="1301496"/>
            <a:ext cx="7764325" cy="4347087"/>
          </a:xfrm>
          <a:prstGeom prst="rect">
            <a:avLst/>
          </a:prstGeom>
        </p:spPr>
      </p:pic>
      <p:sp>
        <p:nvSpPr>
          <p:cNvPr id="778" name="textbox 778"/>
          <p:cNvSpPr/>
          <p:nvPr/>
        </p:nvSpPr>
        <p:spPr>
          <a:xfrm>
            <a:off x="364439" y="346695"/>
            <a:ext cx="11233150" cy="5276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86000"/>
              </a:lnSpc>
              <a:spcBef>
                <a:spcPts val="2"/>
              </a:spcBef>
              <a:tabLst>
                <a:tab pos="770890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数据驾驶舱          </a:t>
            </a:r>
            <a:r>
              <a:rPr sz="27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780" name="picture 7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618736" y="381062"/>
            <a:ext cx="1931803" cy="412600"/>
          </a:xfrm>
          <a:prstGeom prst="rect">
            <a:avLst/>
          </a:prstGeom>
        </p:spPr>
      </p:pic>
      <p:pic>
        <p:nvPicPr>
          <p:cNvPr id="782" name="picture 78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77139" y="359395"/>
            <a:ext cx="584153" cy="473386"/>
          </a:xfrm>
          <a:prstGeom prst="rect">
            <a:avLst/>
          </a:prstGeom>
        </p:spPr>
      </p:pic>
      <p:sp>
        <p:nvSpPr>
          <p:cNvPr id="784" name="textbox 784"/>
          <p:cNvSpPr/>
          <p:nvPr/>
        </p:nvSpPr>
        <p:spPr>
          <a:xfrm>
            <a:off x="8706994" y="3649065"/>
            <a:ext cx="2609214" cy="708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1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86000"/>
              </a:lnSpc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园区内作业效能</a:t>
            </a:r>
            <a:r>
              <a:rPr sz="1200" kern="0" spc="-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、成本效能</a:t>
            </a:r>
            <a:r>
              <a:rPr sz="12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、决策效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8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spcBef>
                <a:spcPts val="4"/>
              </a:spcBef>
              <a:tabLst/>
            </a:pPr>
            <a:r>
              <a:rPr sz="1400" b="1" kern="0" spc="-1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订单实时追踪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6" name="textbox 786"/>
          <p:cNvSpPr/>
          <p:nvPr/>
        </p:nvSpPr>
        <p:spPr>
          <a:xfrm>
            <a:off x="8705164" y="2711310"/>
            <a:ext cx="2458720" cy="711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场地</a:t>
            </a:r>
            <a:r>
              <a:rPr sz="12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、月台</a:t>
            </a:r>
            <a:r>
              <a:rPr sz="12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、车辆</a:t>
            </a:r>
            <a:r>
              <a:rPr sz="1200" kern="0" spc="-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、人员等空闲情况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9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spcBef>
                <a:spcPts val="3"/>
              </a:spcBef>
              <a:tabLst/>
            </a:pPr>
            <a:r>
              <a:rPr sz="1400" b="1" kern="0" spc="-1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效能分析可视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8" name="textbox 788"/>
          <p:cNvSpPr/>
          <p:nvPr/>
        </p:nvSpPr>
        <p:spPr>
          <a:xfrm>
            <a:off x="8705926" y="4580026"/>
            <a:ext cx="2305685" cy="709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订单状态</a:t>
            </a:r>
            <a:r>
              <a:rPr sz="12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、订单数据</a:t>
            </a:r>
            <a:r>
              <a:rPr sz="1200" kern="0" spc="-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、异常订单等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8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4129" algn="l" rtl="0" eaLnBrk="0">
              <a:lnSpc>
                <a:spcPct val="87000"/>
              </a:lnSpc>
              <a:spcBef>
                <a:spcPts val="3"/>
              </a:spcBef>
              <a:tabLst/>
            </a:pPr>
            <a:r>
              <a:rPr sz="1400" b="1" kern="0" spc="-3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园区流量管控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90" name="textbox 790"/>
          <p:cNvSpPr/>
          <p:nvPr/>
        </p:nvSpPr>
        <p:spPr>
          <a:xfrm>
            <a:off x="8705316" y="1780844"/>
            <a:ext cx="2153920" cy="7092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3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运力</a:t>
            </a:r>
            <a:r>
              <a:rPr sz="12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、仓储能力</a:t>
            </a:r>
            <a:r>
              <a:rPr sz="12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、园区服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务评价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8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86000"/>
              </a:lnSpc>
              <a:spcBef>
                <a:spcPts val="1"/>
              </a:spcBef>
              <a:tabLst/>
            </a:pPr>
            <a:r>
              <a:rPr sz="1400" b="1" kern="0" spc="-1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空闲资源管理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92" name="textbox 792"/>
          <p:cNvSpPr/>
          <p:nvPr/>
        </p:nvSpPr>
        <p:spPr>
          <a:xfrm>
            <a:off x="8704860" y="5551614"/>
            <a:ext cx="2306320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入园流量</a:t>
            </a:r>
            <a:r>
              <a:rPr sz="12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、作业流量</a:t>
            </a:r>
            <a:r>
              <a:rPr sz="12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、出园流量等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94" name="textbox 794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96" name="textbox 796"/>
          <p:cNvSpPr/>
          <p:nvPr/>
        </p:nvSpPr>
        <p:spPr>
          <a:xfrm>
            <a:off x="8704317" y="1341916"/>
            <a:ext cx="1091564" cy="210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8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-1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核心能力监控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798" name="picture 79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712378" y="1628165"/>
            <a:ext cx="1619999" cy="31750"/>
          </a:xfrm>
          <a:prstGeom prst="rect">
            <a:avLst/>
          </a:prstGeom>
        </p:spPr>
      </p:pic>
      <p:pic>
        <p:nvPicPr>
          <p:cNvPr id="800" name="picture 80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712378" y="2567101"/>
            <a:ext cx="1619999" cy="31750"/>
          </a:xfrm>
          <a:prstGeom prst="rect">
            <a:avLst/>
          </a:prstGeom>
        </p:spPr>
      </p:pic>
      <p:pic>
        <p:nvPicPr>
          <p:cNvPr id="802" name="picture 80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712378" y="3498316"/>
            <a:ext cx="1619999" cy="31750"/>
          </a:xfrm>
          <a:prstGeom prst="rect">
            <a:avLst/>
          </a:prstGeom>
        </p:spPr>
      </p:pic>
      <p:pic>
        <p:nvPicPr>
          <p:cNvPr id="804" name="picture 80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712378" y="4435005"/>
            <a:ext cx="1619999" cy="31750"/>
          </a:xfrm>
          <a:prstGeom prst="rect">
            <a:avLst/>
          </a:prstGeom>
        </p:spPr>
      </p:pic>
      <p:pic>
        <p:nvPicPr>
          <p:cNvPr id="806" name="picture 80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8712378" y="5367032"/>
            <a:ext cx="1619999" cy="317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rect 808"/>
          <p:cNvSpPr/>
          <p:nvPr/>
        </p:nvSpPr>
        <p:spPr>
          <a:xfrm>
            <a:off x="4376928" y="2515742"/>
            <a:ext cx="6780948" cy="2304669"/>
          </a:xfrm>
          <a:prstGeom prst="rect">
            <a:avLst/>
          </a:prstGeom>
          <a:solidFill>
            <a:srgbClr val="F2F2F2">
              <a:alpha val="6745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810" name="picture 8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90289" y="1058605"/>
            <a:ext cx="2802238" cy="5191307"/>
          </a:xfrm>
          <a:prstGeom prst="rect">
            <a:avLst/>
          </a:prstGeom>
        </p:spPr>
      </p:pic>
      <p:sp>
        <p:nvSpPr>
          <p:cNvPr id="812" name="textbox 812"/>
          <p:cNvSpPr/>
          <p:nvPr/>
        </p:nvSpPr>
        <p:spPr>
          <a:xfrm>
            <a:off x="4708071" y="3383029"/>
            <a:ext cx="5888990" cy="1076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ts val="1781"/>
              </a:lnSpc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线上预约</a:t>
            </a:r>
            <a:r>
              <a:rPr sz="1400" b="1" kern="0" spc="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</a:t>
            </a:r>
            <a:r>
              <a:rPr sz="1400" b="1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手机签到</a:t>
            </a:r>
            <a:r>
              <a:rPr sz="1400" b="1" kern="0" spc="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通知提醒</a:t>
            </a:r>
            <a:r>
              <a:rPr sz="1400" b="1" kern="0" spc="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</a:t>
            </a:r>
            <a:r>
              <a:rPr sz="1400" b="1" kern="0" spc="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园区导航</a:t>
            </a:r>
            <a:r>
              <a:rPr sz="1400" b="1" kern="0" spc="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排队叫号</a:t>
            </a:r>
            <a:r>
              <a:rPr sz="1400" b="1" kern="0" spc="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</a:t>
            </a:r>
            <a:r>
              <a:rPr sz="1400" b="1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意见反馈  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·</a:t>
            </a:r>
            <a:r>
              <a:rPr sz="1400" kern="0" spc="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·</a:t>
            </a:r>
            <a:r>
              <a:rPr sz="1400" kern="0" spc="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·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7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420"/>
              </a:spcBef>
              <a:tabLst/>
            </a:pP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便捷操作，功能覆盖司机全链路作业，简化复杂低效流程，提升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司机出入园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2520"/>
              </a:lnSpc>
              <a:tabLst/>
            </a:pP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体验，与YMS系统实时同步数据</a:t>
            </a:r>
            <a:r>
              <a:rPr sz="1400" kern="0" spc="-1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，实现轻量化</a:t>
            </a:r>
            <a:r>
              <a:rPr sz="1400" kern="0" spc="-1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、智能化</a:t>
            </a:r>
            <a:r>
              <a:rPr sz="1400" kern="0" spc="-2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、数字化管控。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4" name="textbox 814"/>
          <p:cNvSpPr/>
          <p:nvPr/>
        </p:nvSpPr>
        <p:spPr>
          <a:xfrm>
            <a:off x="364439" y="346695"/>
            <a:ext cx="11233150" cy="523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87000"/>
              </a:lnSpc>
              <a:spcBef>
                <a:spcPts val="2"/>
              </a:spcBef>
              <a:tabLst>
                <a:tab pos="772794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小程序集成         </a:t>
            </a:r>
            <a:r>
              <a:rPr sz="27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816" name="picture 8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620642" y="381062"/>
            <a:ext cx="1931803" cy="412600"/>
          </a:xfrm>
          <a:prstGeom prst="rect">
            <a:avLst/>
          </a:prstGeom>
        </p:spPr>
      </p:pic>
      <p:pic>
        <p:nvPicPr>
          <p:cNvPr id="818" name="picture 8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77139" y="359395"/>
            <a:ext cx="584153" cy="473386"/>
          </a:xfrm>
          <a:prstGeom prst="rect">
            <a:avLst/>
          </a:prstGeom>
        </p:spPr>
      </p:pic>
      <p:sp>
        <p:nvSpPr>
          <p:cNvPr id="820" name="textbox 820"/>
          <p:cNvSpPr/>
          <p:nvPr/>
        </p:nvSpPr>
        <p:spPr>
          <a:xfrm>
            <a:off x="4653559" y="2834220"/>
            <a:ext cx="2304414" cy="368300"/>
          </a:xfrm>
          <a:prstGeom prst="rect">
            <a:avLst/>
          </a:prstGeom>
          <a:solidFill>
            <a:srgbClr val="E52F3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628015" algn="l" rtl="0" eaLnBrk="0">
              <a:lnSpc>
                <a:spcPct val="86000"/>
              </a:lnSpc>
              <a:spcBef>
                <a:spcPts val="6"/>
              </a:spcBef>
              <a:tabLst/>
            </a:pPr>
            <a:r>
              <a:rPr sz="1400" b="1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司机端小程序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2" name="textbox 822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path 824"/>
          <p:cNvSpPr/>
          <p:nvPr/>
        </p:nvSpPr>
        <p:spPr>
          <a:xfrm>
            <a:off x="4184903" y="3520440"/>
            <a:ext cx="192024" cy="295655"/>
          </a:xfrm>
          <a:custGeom>
            <a:avLst/>
            <a:gdLst/>
            <a:ahLst/>
            <a:cxnLst/>
            <a:rect l="0" t="0" r="0" b="0"/>
            <a:pathLst>
              <a:path w="302" h="465">
                <a:moveTo>
                  <a:pt x="302" y="0"/>
                </a:moveTo>
                <a:lnTo>
                  <a:pt x="0" y="232"/>
                </a:lnTo>
                <a:lnTo>
                  <a:pt x="302" y="465"/>
                </a:lnTo>
                <a:lnTo>
                  <a:pt x="302" y="0"/>
                </a:lnTo>
              </a:path>
            </a:pathLst>
          </a:cu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textbox 826"/>
          <p:cNvSpPr/>
          <p:nvPr/>
        </p:nvSpPr>
        <p:spPr>
          <a:xfrm>
            <a:off x="3919373" y="4134317"/>
            <a:ext cx="452755" cy="1955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337"/>
              </a:lnSpc>
              <a:tabLst/>
            </a:pPr>
            <a:r>
              <a:rPr sz="1000" kern="0" spc="40" dirty="0">
                <a:solidFill>
                  <a:srgbClr val="0070C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08放入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52" name="group 52"/>
          <p:cNvGrpSpPr/>
          <p:nvPr/>
        </p:nvGrpSpPr>
        <p:grpSpPr>
          <a:xfrm rot="21600000">
            <a:off x="416052" y="1010411"/>
            <a:ext cx="11359895" cy="5186171"/>
            <a:chOff x="0" y="0"/>
            <a:chExt cx="11359895" cy="5186171"/>
          </a:xfrm>
        </p:grpSpPr>
        <p:sp>
          <p:nvSpPr>
            <p:cNvPr id="828" name="textbox 828"/>
            <p:cNvSpPr/>
            <p:nvPr/>
          </p:nvSpPr>
          <p:spPr>
            <a:xfrm>
              <a:off x="7335393" y="1667904"/>
              <a:ext cx="1355089" cy="26949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28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3334" algn="l" rtl="0" eaLnBrk="0">
                <a:lnSpc>
                  <a:spcPct val="87000"/>
                </a:lnSpc>
                <a:tabLst/>
              </a:pPr>
              <a:r>
                <a:rPr sz="1200" b="1" kern="0" spc="-2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卸货月台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r" rtl="0" eaLnBrk="0">
                <a:lnSpc>
                  <a:spcPts val="1337"/>
                </a:lnSpc>
                <a:spcBef>
                  <a:spcPts val="149"/>
                </a:spcBef>
                <a:tabLst/>
              </a:pPr>
              <a:r>
                <a:rPr sz="1000" kern="0" spc="30" dirty="0">
                  <a:solidFill>
                    <a:srgbClr val="0070C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12装卸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5000"/>
                </a:lnSpc>
                <a:spcBef>
                  <a:spcPts val="369"/>
                </a:spcBef>
                <a:tabLst/>
              </a:pPr>
              <a:r>
                <a:rPr sz="1200" b="1" kern="0" spc="-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装货月台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r" rtl="0" eaLnBrk="0">
                <a:lnSpc>
                  <a:spcPts val="1337"/>
                </a:lnSpc>
                <a:tabLst/>
              </a:pPr>
              <a:r>
                <a:rPr sz="1000" kern="0" spc="30" dirty="0">
                  <a:solidFill>
                    <a:srgbClr val="44546A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12装卸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3970" algn="l" rtl="0" eaLnBrk="0">
                <a:lnSpc>
                  <a:spcPct val="87000"/>
                </a:lnSpc>
                <a:spcBef>
                  <a:spcPts val="2"/>
                </a:spcBef>
                <a:tabLst/>
              </a:pPr>
              <a:r>
                <a:rPr sz="1200" b="1" kern="0" spc="-2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其它月台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830" name="textbox 830"/>
            <p:cNvSpPr/>
            <p:nvPr/>
          </p:nvSpPr>
          <p:spPr>
            <a:xfrm>
              <a:off x="2609570" y="4698784"/>
              <a:ext cx="3276600" cy="3651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49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6000"/>
                </a:lnSpc>
                <a:tabLst/>
              </a:pPr>
              <a:r>
                <a:rPr sz="1200" b="1" kern="0" spc="-2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司机离场</a:t>
              </a:r>
              <a:r>
                <a:rPr sz="1200" b="1" kern="0" spc="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</a:t>
              </a:r>
              <a:r>
                <a:rPr sz="1200" b="1" kern="0" spc="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</a:t>
              </a:r>
              <a:r>
                <a:rPr sz="1200" b="1" kern="0" spc="-2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安防检查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888364" algn="l" rtl="0" eaLnBrk="0">
                <a:lnSpc>
                  <a:spcPts val="1337"/>
                </a:lnSpc>
                <a:spcBef>
                  <a:spcPts val="100"/>
                </a:spcBef>
                <a:tabLst/>
              </a:pPr>
              <a:r>
                <a:rPr sz="1000" kern="0" spc="20" dirty="0">
                  <a:solidFill>
                    <a:srgbClr val="44546A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17离场               16放出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832" name="textbox 832"/>
            <p:cNvSpPr/>
            <p:nvPr/>
          </p:nvSpPr>
          <p:spPr>
            <a:xfrm>
              <a:off x="4388549" y="3117986"/>
              <a:ext cx="719455" cy="19557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1337"/>
                </a:lnSpc>
                <a:tabLst/>
              </a:pPr>
              <a:r>
                <a:rPr sz="1000" kern="0" spc="40" dirty="0">
                  <a:solidFill>
                    <a:srgbClr val="0070C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09进场称重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834" name="picture 83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11359895" cy="5186171"/>
            </a:xfrm>
            <a:prstGeom prst="rect">
              <a:avLst/>
            </a:prstGeom>
          </p:spPr>
        </p:pic>
        <p:sp>
          <p:nvSpPr>
            <p:cNvPr id="836" name="textbox 836"/>
            <p:cNvSpPr/>
            <p:nvPr/>
          </p:nvSpPr>
          <p:spPr>
            <a:xfrm>
              <a:off x="1772856" y="71228"/>
              <a:ext cx="3867784" cy="13315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47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6000"/>
                </a:lnSpc>
                <a:tabLst/>
              </a:pPr>
              <a:r>
                <a:rPr sz="1400" b="1" kern="0" spc="-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园区外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658620" algn="l" rtl="0" eaLnBrk="0">
                <a:lnSpc>
                  <a:spcPts val="1337"/>
                </a:lnSpc>
                <a:spcBef>
                  <a:spcPts val="311"/>
                </a:spcBef>
                <a:tabLst/>
              </a:pPr>
              <a:r>
                <a:rPr sz="1000" kern="0" spc="40" dirty="0">
                  <a:solidFill>
                    <a:srgbClr val="0070C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04 通知人员/仓库准备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  <a:p>
              <a:pPr algn="r" rtl="0" eaLnBrk="0">
                <a:lnSpc>
                  <a:spcPts val="1337"/>
                </a:lnSpc>
                <a:spcBef>
                  <a:spcPts val="1357"/>
                </a:spcBef>
                <a:tabLst/>
              </a:pPr>
              <a:r>
                <a:rPr sz="1000" kern="0" spc="40" dirty="0">
                  <a:solidFill>
                    <a:srgbClr val="0070C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05 分配/确认月</a:t>
              </a:r>
              <a:r>
                <a:rPr sz="1000" kern="0" spc="30" dirty="0">
                  <a:solidFill>
                    <a:srgbClr val="0070C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台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2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843914" algn="l" rtl="0" eaLnBrk="0">
                <a:lnSpc>
                  <a:spcPct val="86000"/>
                </a:lnSpc>
                <a:spcBef>
                  <a:spcPts val="1"/>
                </a:spcBef>
                <a:tabLst/>
              </a:pPr>
              <a:r>
                <a:rPr sz="1200" b="1" kern="0" spc="-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现场签到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838" name="textbox 838"/>
            <p:cNvSpPr/>
            <p:nvPr/>
          </p:nvSpPr>
          <p:spPr>
            <a:xfrm>
              <a:off x="299313" y="1528391"/>
              <a:ext cx="1889760" cy="18014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788669" algn="l" rtl="0" eaLnBrk="0">
                <a:lnSpc>
                  <a:spcPts val="1337"/>
                </a:lnSpc>
                <a:tabLst/>
              </a:pPr>
              <a:r>
                <a:rPr sz="1000" kern="0" spc="40" dirty="0">
                  <a:solidFill>
                    <a:srgbClr val="0070C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01预约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  <a:p>
              <a:pPr marL="13970" algn="l" rtl="0" eaLnBrk="0">
                <a:lnSpc>
                  <a:spcPct val="72000"/>
                </a:lnSpc>
                <a:spcBef>
                  <a:spcPts val="65"/>
                </a:spcBef>
                <a:tabLst/>
              </a:pPr>
              <a:r>
                <a:rPr sz="1200" b="1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承运商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r" rtl="0" eaLnBrk="0">
                <a:lnSpc>
                  <a:spcPct val="84000"/>
                </a:lnSpc>
                <a:spcBef>
                  <a:spcPts val="14"/>
                </a:spcBef>
                <a:tabLst/>
              </a:pPr>
              <a:r>
                <a:rPr sz="1200" b="1" kern="0" spc="-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司机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3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788669" algn="l" rtl="0" eaLnBrk="0">
                <a:lnSpc>
                  <a:spcPts val="1337"/>
                </a:lnSpc>
                <a:spcBef>
                  <a:spcPts val="303"/>
                </a:spcBef>
                <a:tabLst/>
              </a:pPr>
              <a:r>
                <a:rPr sz="1000" kern="0" spc="40" dirty="0">
                  <a:solidFill>
                    <a:srgbClr val="0070C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02安排司机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6000"/>
                </a:lnSpc>
                <a:spcBef>
                  <a:spcPts val="1"/>
                </a:spcBef>
                <a:tabLst/>
              </a:pPr>
              <a:r>
                <a:rPr sz="1200" b="1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供应商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840" name="textbox 840"/>
            <p:cNvSpPr/>
            <p:nvPr/>
          </p:nvSpPr>
          <p:spPr>
            <a:xfrm>
              <a:off x="2190484" y="1528391"/>
              <a:ext cx="1457960" cy="15824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940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9000"/>
                </a:lnSpc>
                <a:tabLst/>
              </a:pPr>
              <a:r>
                <a:rPr sz="1000" kern="0" spc="40" dirty="0">
                  <a:solidFill>
                    <a:srgbClr val="0070C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03签到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  <a:p>
              <a:pPr algn="r" rtl="0" eaLnBrk="0">
                <a:lnSpc>
                  <a:spcPct val="98000"/>
                </a:lnSpc>
                <a:spcBef>
                  <a:spcPts val="7"/>
                </a:spcBef>
                <a:tabLst/>
              </a:pPr>
              <a:r>
                <a:rPr sz="1000" kern="0" spc="40" dirty="0">
                  <a:solidFill>
                    <a:srgbClr val="0070C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06排队入场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7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534669" algn="l" rtl="0" eaLnBrk="0">
                <a:lnSpc>
                  <a:spcPct val="85000"/>
                </a:lnSpc>
                <a:spcBef>
                  <a:spcPts val="361"/>
                </a:spcBef>
                <a:tabLst/>
              </a:pPr>
              <a:r>
                <a:rPr sz="1200" b="1" kern="0" spc="-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排队大屏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ts val="1337"/>
                </a:lnSpc>
                <a:spcBef>
                  <a:spcPts val="308"/>
                </a:spcBef>
                <a:tabLst/>
              </a:pPr>
              <a:r>
                <a:rPr sz="1000" kern="0" spc="40" dirty="0">
                  <a:solidFill>
                    <a:srgbClr val="0070C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07入场检查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4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536575" algn="l" rtl="0" eaLnBrk="0">
                <a:lnSpc>
                  <a:spcPct val="86000"/>
                </a:lnSpc>
                <a:spcBef>
                  <a:spcPts val="1"/>
                </a:spcBef>
                <a:tabLst/>
              </a:pPr>
              <a:r>
                <a:rPr sz="1200" b="1" kern="0" spc="-2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安防检查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842" name="textbox 842"/>
            <p:cNvSpPr/>
            <p:nvPr/>
          </p:nvSpPr>
          <p:spPr>
            <a:xfrm>
              <a:off x="9520579" y="830310"/>
              <a:ext cx="651509" cy="28346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02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6000"/>
                </a:lnSpc>
                <a:tabLst/>
              </a:pPr>
              <a:r>
                <a:rPr sz="1200" b="1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仓库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7779" algn="l" rtl="0" eaLnBrk="0">
                <a:lnSpc>
                  <a:spcPct val="86000"/>
                </a:lnSpc>
                <a:spcBef>
                  <a:spcPts val="362"/>
                </a:spcBef>
                <a:tabLst/>
              </a:pPr>
              <a:r>
                <a:rPr sz="1200" b="1" kern="0" spc="-3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收货区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6000"/>
                </a:lnSpc>
                <a:spcBef>
                  <a:spcPts val="3"/>
                </a:spcBef>
                <a:tabLst/>
              </a:pPr>
              <a:r>
                <a:rPr sz="1200" b="1" kern="0" spc="-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发货区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844" name="textbox 844"/>
            <p:cNvSpPr/>
            <p:nvPr/>
          </p:nvSpPr>
          <p:spPr>
            <a:xfrm>
              <a:off x="5343690" y="3843375"/>
              <a:ext cx="781684" cy="5969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949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6000"/>
                </a:lnSpc>
                <a:tabLst/>
              </a:pPr>
              <a:r>
                <a:rPr sz="1200" b="1" kern="0" spc="-5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出门证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3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7000"/>
                </a:lnSpc>
                <a:tabLst/>
              </a:pPr>
              <a:endParaRPr sz="2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ts val="1337"/>
                </a:lnSpc>
                <a:spcBef>
                  <a:spcPts val="2"/>
                </a:spcBef>
                <a:tabLst/>
              </a:pPr>
              <a:r>
                <a:rPr sz="1000" kern="0" spc="30" dirty="0">
                  <a:solidFill>
                    <a:srgbClr val="44546A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15离场检查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846" name="textbox 846"/>
            <p:cNvSpPr/>
            <p:nvPr/>
          </p:nvSpPr>
          <p:spPr>
            <a:xfrm>
              <a:off x="8880695" y="2365662"/>
              <a:ext cx="186689" cy="13569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eaVert" wrap="square" lIns="0" tIns="0" rIns="0" bIns="0"/>
            <a:lstStyle/>
            <a:p>
              <a:pPr algn="l" rtl="0" eaLnBrk="0">
                <a:lnSpc>
                  <a:spcPct val="8729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6000"/>
                </a:lnSpc>
                <a:tabLst/>
              </a:pPr>
              <a:r>
                <a:rPr sz="1200" b="1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装</a:t>
              </a:r>
              <a:r>
                <a:rPr sz="1200" b="1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b="1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卸</a:t>
              </a:r>
              <a:r>
                <a:rPr sz="1200" b="1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b="1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搬</a:t>
              </a:r>
              <a:r>
                <a:rPr sz="1200" b="1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b="1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运</a:t>
              </a:r>
              <a:r>
                <a:rPr sz="1200" b="1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b="1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区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848" name="textbox 848"/>
            <p:cNvSpPr/>
            <p:nvPr/>
          </p:nvSpPr>
          <p:spPr>
            <a:xfrm>
              <a:off x="1806661" y="4677409"/>
              <a:ext cx="594994" cy="27050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749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02870" indent="-90169" algn="l" rtl="0" eaLnBrk="0">
                <a:lnSpc>
                  <a:spcPct val="93000"/>
                </a:lnSpc>
                <a:tabLst/>
              </a:pPr>
              <a:r>
                <a:rPr sz="900" i="1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进度同步至</a:t>
              </a:r>
              <a:r>
                <a:rPr sz="900" i="1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TMS</a:t>
              </a:r>
              <a:r>
                <a:rPr sz="900" i="1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系统</a:t>
              </a:r>
              <a:endParaRPr sz="9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850" name="textbox 850"/>
            <p:cNvSpPr/>
            <p:nvPr/>
          </p:nvSpPr>
          <p:spPr>
            <a:xfrm>
              <a:off x="10951768" y="2809787"/>
              <a:ext cx="185420" cy="4749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eaVert" wrap="square" lIns="0" tIns="0" rIns="0" bIns="0"/>
            <a:lstStyle/>
            <a:p>
              <a:pPr algn="l" rtl="0" eaLnBrk="0">
                <a:lnSpc>
                  <a:spcPct val="7939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6000"/>
                </a:lnSpc>
                <a:tabLst/>
              </a:pPr>
              <a:r>
                <a:rPr sz="1200" b="1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货</a:t>
              </a:r>
              <a:r>
                <a:rPr sz="1200" b="1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b="1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架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852" name="textbox 852"/>
            <p:cNvSpPr/>
            <p:nvPr/>
          </p:nvSpPr>
          <p:spPr>
            <a:xfrm>
              <a:off x="4088974" y="2810798"/>
              <a:ext cx="183514" cy="4711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eaVert" wrap="square" lIns="0" tIns="0" rIns="0" bIns="0"/>
            <a:lstStyle/>
            <a:p>
              <a:pPr algn="l" rtl="0" eaLnBrk="0">
                <a:lnSpc>
                  <a:spcPct val="7980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5000"/>
                </a:lnSpc>
                <a:tabLst/>
              </a:pPr>
              <a:r>
                <a:rPr sz="1200" b="1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门</a:t>
              </a:r>
              <a:r>
                <a:rPr sz="1200" b="1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1200" b="1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闸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854" name="textbox 854"/>
            <p:cNvSpPr/>
            <p:nvPr/>
          </p:nvSpPr>
          <p:spPr>
            <a:xfrm>
              <a:off x="10340909" y="2382728"/>
              <a:ext cx="287020" cy="15811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20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1000" kern="0" spc="20" dirty="0">
                  <a:solidFill>
                    <a:srgbClr val="0070C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上架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856" name="textbox 856"/>
            <p:cNvSpPr/>
            <p:nvPr/>
          </p:nvSpPr>
          <p:spPr>
            <a:xfrm>
              <a:off x="10342115" y="3493241"/>
              <a:ext cx="285750" cy="15811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20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1000" kern="0" spc="10" dirty="0">
                  <a:solidFill>
                    <a:srgbClr val="44546A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下架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858" name="textbox 858"/>
          <p:cNvSpPr/>
          <p:nvPr/>
        </p:nvSpPr>
        <p:spPr>
          <a:xfrm>
            <a:off x="364439" y="346695"/>
            <a:ext cx="11233150" cy="5226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88000"/>
              </a:lnSpc>
              <a:spcBef>
                <a:spcPts val="1"/>
              </a:spcBef>
              <a:tabLst>
                <a:tab pos="779780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业务流程                     </a:t>
            </a:r>
            <a:r>
              <a:rPr sz="27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860" name="picture 8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631436" y="381062"/>
            <a:ext cx="1931803" cy="412600"/>
          </a:xfrm>
          <a:prstGeom prst="rect">
            <a:avLst/>
          </a:prstGeom>
        </p:spPr>
      </p:pic>
      <p:pic>
        <p:nvPicPr>
          <p:cNvPr id="862" name="picture 8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77139" y="359395"/>
            <a:ext cx="584153" cy="473386"/>
          </a:xfrm>
          <a:prstGeom prst="rect">
            <a:avLst/>
          </a:prstGeom>
        </p:spPr>
      </p:pic>
      <p:sp>
        <p:nvSpPr>
          <p:cNvPr id="864" name="textbox 864"/>
          <p:cNvSpPr/>
          <p:nvPr/>
        </p:nvSpPr>
        <p:spPr>
          <a:xfrm>
            <a:off x="5823293" y="3377028"/>
            <a:ext cx="718184" cy="1189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ts val="1337"/>
              </a:lnSpc>
              <a:tabLst/>
            </a:pPr>
            <a:r>
              <a:rPr sz="1000" kern="0" spc="3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13离场称重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spcBef>
                <a:spcPts val="370"/>
              </a:spcBef>
              <a:tabLst/>
            </a:pPr>
            <a:r>
              <a:rPr sz="1200" b="1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地磅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5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ts val="1337"/>
              </a:lnSpc>
              <a:spcBef>
                <a:spcPts val="2"/>
              </a:spcBef>
              <a:tabLst/>
            </a:pPr>
            <a:r>
              <a:rPr sz="1000" kern="0" spc="3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14货品记录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6" name="textbox 866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textbox 868"/>
          <p:cNvSpPr/>
          <p:nvPr/>
        </p:nvSpPr>
        <p:spPr>
          <a:xfrm>
            <a:off x="6824360" y="4550749"/>
            <a:ext cx="889000" cy="1955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337"/>
              </a:lnSpc>
              <a:tabLst/>
            </a:pPr>
            <a:r>
              <a:rPr sz="1000" kern="0" spc="30" dirty="0">
                <a:solidFill>
                  <a:srgbClr val="0070C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11</a:t>
            </a:r>
            <a:r>
              <a:rPr sz="1000" kern="0" spc="90" dirty="0">
                <a:solidFill>
                  <a:srgbClr val="0070C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30" dirty="0">
                <a:solidFill>
                  <a:srgbClr val="0070C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多月台指引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0" name="textbox 870"/>
          <p:cNvSpPr/>
          <p:nvPr/>
        </p:nvSpPr>
        <p:spPr>
          <a:xfrm>
            <a:off x="6824360" y="3299723"/>
            <a:ext cx="755650" cy="1955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337"/>
              </a:lnSpc>
              <a:tabLst/>
            </a:pPr>
            <a:r>
              <a:rPr sz="1000" kern="0" spc="20" dirty="0">
                <a:solidFill>
                  <a:srgbClr val="0070C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10</a:t>
            </a:r>
            <a:r>
              <a:rPr sz="1000" kern="0" spc="130" dirty="0">
                <a:solidFill>
                  <a:srgbClr val="0070C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20" dirty="0">
                <a:solidFill>
                  <a:srgbClr val="0070C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导航指引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2" name="textbox 872"/>
          <p:cNvSpPr/>
          <p:nvPr/>
        </p:nvSpPr>
        <p:spPr>
          <a:xfrm>
            <a:off x="7867739" y="1081997"/>
            <a:ext cx="542925" cy="2082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99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400" b="1" kern="0" spc="-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园区内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4" name="textbox 874"/>
          <p:cNvSpPr/>
          <p:nvPr/>
        </p:nvSpPr>
        <p:spPr>
          <a:xfrm>
            <a:off x="7896392" y="1842367"/>
            <a:ext cx="346709" cy="1866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2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月台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textbox 876"/>
          <p:cNvSpPr/>
          <p:nvPr/>
        </p:nvSpPr>
        <p:spPr>
          <a:xfrm>
            <a:off x="1463908" y="1777555"/>
            <a:ext cx="9328150" cy="12649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9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771900" algn="l" rtl="0" eaLnBrk="0">
              <a:lnSpc>
                <a:spcPct val="87000"/>
              </a:lnSpc>
              <a:tabLst/>
            </a:pPr>
            <a:r>
              <a:rPr sz="1700" b="1" kern="0" spc="80" dirty="0">
                <a:solidFill>
                  <a:srgbClr val="D81E0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园区物流协同管理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spcBef>
                <a:spcPts val="459"/>
              </a:spcBef>
              <a:tabLst/>
            </a:pP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通过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TMS</a:t>
            </a:r>
            <a:r>
              <a:rPr sz="1500" kern="0" spc="-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WMS</a:t>
            </a:r>
            <a:r>
              <a:rPr sz="1500" kern="0" spc="-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，供应商</a:t>
            </a:r>
            <a:r>
              <a:rPr sz="1500" kern="0" spc="-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、承运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商</a:t>
            </a:r>
            <a:r>
              <a:rPr sz="1500" kern="0" spc="-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、司机等多个系统和角色的互联，</a:t>
            </a:r>
            <a:r>
              <a:rPr sz="1500" kern="0" spc="-3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管理司机从入园</a:t>
            </a:r>
            <a:r>
              <a:rPr sz="1500" kern="0" spc="-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、园内作业到出园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6509" algn="l" rtl="0" eaLnBrk="0">
              <a:lnSpc>
                <a:spcPts val="2880"/>
              </a:lnSpc>
              <a:tabLst/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三大物理意义上的业务环节，</a:t>
            </a:r>
            <a:r>
              <a:rPr sz="1500" kern="0" spc="-3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打通并传递各流程数据，</a:t>
            </a:r>
            <a:r>
              <a:rPr sz="1500" kern="0" spc="-3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供应链领域的协同管理</a:t>
            </a:r>
            <a:r>
              <a:rPr sz="1500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8" name="textbox 878"/>
          <p:cNvSpPr/>
          <p:nvPr/>
        </p:nvSpPr>
        <p:spPr>
          <a:xfrm>
            <a:off x="364439" y="346695"/>
            <a:ext cx="11233150" cy="520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87000"/>
              </a:lnSpc>
              <a:spcBef>
                <a:spcPts val="3"/>
              </a:spcBef>
              <a:tabLst>
                <a:tab pos="763269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YMS</a:t>
            </a:r>
            <a:r>
              <a:rPr sz="2700" kern="0" spc="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系统三大业务说明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880" name="picture 8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648263" y="381062"/>
            <a:ext cx="1931803" cy="412600"/>
          </a:xfrm>
          <a:prstGeom prst="rect">
            <a:avLst/>
          </a:prstGeom>
        </p:spPr>
      </p:pic>
      <p:pic>
        <p:nvPicPr>
          <p:cNvPr id="882" name="picture 88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77139" y="359395"/>
            <a:ext cx="584153" cy="473386"/>
          </a:xfrm>
          <a:prstGeom prst="rect">
            <a:avLst/>
          </a:prstGeom>
        </p:spPr>
      </p:pic>
      <p:grpSp>
        <p:nvGrpSpPr>
          <p:cNvPr id="54" name="group 54"/>
          <p:cNvGrpSpPr/>
          <p:nvPr/>
        </p:nvGrpSpPr>
        <p:grpSpPr>
          <a:xfrm rot="21600000">
            <a:off x="1355460" y="3617990"/>
            <a:ext cx="2638445" cy="602418"/>
            <a:chOff x="0" y="0"/>
            <a:chExt cx="2638445" cy="602418"/>
          </a:xfrm>
        </p:grpSpPr>
        <p:pic>
          <p:nvPicPr>
            <p:cNvPr id="884" name="picture 88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2638445" cy="602418"/>
            </a:xfrm>
            <a:prstGeom prst="rect">
              <a:avLst/>
            </a:prstGeom>
          </p:spPr>
        </p:pic>
        <p:sp>
          <p:nvSpPr>
            <p:cNvPr id="886" name="textbox 886"/>
            <p:cNvSpPr/>
            <p:nvPr/>
          </p:nvSpPr>
          <p:spPr>
            <a:xfrm>
              <a:off x="-12700" y="-12700"/>
              <a:ext cx="2664460" cy="64198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5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46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880110" algn="l" rtl="0" eaLnBrk="0">
                <a:lnSpc>
                  <a:spcPct val="86000"/>
                </a:lnSpc>
                <a:tabLst/>
              </a:pPr>
              <a:r>
                <a:rPr sz="1700" b="1" kern="0" spc="8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入园作业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 rot="21600000">
            <a:off x="8198093" y="3620542"/>
            <a:ext cx="2638445" cy="587967"/>
            <a:chOff x="0" y="0"/>
            <a:chExt cx="2638445" cy="587967"/>
          </a:xfrm>
        </p:grpSpPr>
        <p:pic>
          <p:nvPicPr>
            <p:cNvPr id="888" name="picture 88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2638445" cy="587967"/>
            </a:xfrm>
            <a:prstGeom prst="rect">
              <a:avLst/>
            </a:prstGeom>
          </p:spPr>
        </p:pic>
        <p:sp>
          <p:nvSpPr>
            <p:cNvPr id="890" name="textbox 890"/>
            <p:cNvSpPr/>
            <p:nvPr/>
          </p:nvSpPr>
          <p:spPr>
            <a:xfrm>
              <a:off x="-12700" y="-12700"/>
              <a:ext cx="2664460" cy="6273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  <a:tabLst/>
              </a:pPr>
              <a:endParaRPr sz="800" dirty="0">
                <a:latin typeface="Arial"/>
                <a:ea typeface="Arial"/>
                <a:cs typeface="Arial"/>
              </a:endParaRPr>
            </a:p>
            <a:p>
              <a:pPr marL="899794" algn="l" rtl="0" eaLnBrk="0">
                <a:lnSpc>
                  <a:spcPct val="86000"/>
                </a:lnSpc>
                <a:spcBef>
                  <a:spcPts val="3"/>
                </a:spcBef>
                <a:tabLst/>
              </a:pPr>
              <a:r>
                <a:rPr sz="1700" b="1" kern="0" spc="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出园作业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58" name="group 58"/>
          <p:cNvGrpSpPr/>
          <p:nvPr/>
        </p:nvGrpSpPr>
        <p:grpSpPr>
          <a:xfrm rot="21600000">
            <a:off x="4777175" y="3620542"/>
            <a:ext cx="2637648" cy="587967"/>
            <a:chOff x="0" y="0"/>
            <a:chExt cx="2637648" cy="587967"/>
          </a:xfrm>
        </p:grpSpPr>
        <p:pic>
          <p:nvPicPr>
            <p:cNvPr id="892" name="picture 89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2637648" cy="587967"/>
            </a:xfrm>
            <a:prstGeom prst="rect">
              <a:avLst/>
            </a:prstGeom>
          </p:spPr>
        </p:pic>
        <p:sp>
          <p:nvSpPr>
            <p:cNvPr id="894" name="textbox 894"/>
            <p:cNvSpPr/>
            <p:nvPr/>
          </p:nvSpPr>
          <p:spPr>
            <a:xfrm>
              <a:off x="-12700" y="-12700"/>
              <a:ext cx="2663189" cy="6280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  <a:tabLst/>
              </a:pPr>
              <a:endParaRPr sz="800" dirty="0">
                <a:latin typeface="Arial"/>
                <a:ea typeface="Arial"/>
                <a:cs typeface="Arial"/>
              </a:endParaRPr>
            </a:p>
            <a:p>
              <a:pPr marL="894714" algn="l" rtl="0" eaLnBrk="0">
                <a:lnSpc>
                  <a:spcPct val="86000"/>
                </a:lnSpc>
                <a:tabLst/>
              </a:pPr>
              <a:r>
                <a:rPr sz="1700" b="1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园内作业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896" name="textbox 896"/>
          <p:cNvSpPr/>
          <p:nvPr/>
        </p:nvSpPr>
        <p:spPr>
          <a:xfrm>
            <a:off x="8373363" y="4591202"/>
            <a:ext cx="2299335" cy="6496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4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sz="1700" kern="0" spc="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管理司机出园数据同</a:t>
            </a:r>
            <a:r>
              <a:rPr sz="17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步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354329" algn="l" rtl="0" eaLnBrk="0">
              <a:lnSpc>
                <a:spcPts val="3248"/>
              </a:lnSpc>
              <a:tabLst/>
            </a:pPr>
            <a:r>
              <a:rPr sz="17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安防核查等工作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98" name="textbox 898"/>
          <p:cNvSpPr/>
          <p:nvPr/>
        </p:nvSpPr>
        <p:spPr>
          <a:xfrm>
            <a:off x="1759330" y="4588230"/>
            <a:ext cx="1842135" cy="6515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9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7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管理司机入园前的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238759" algn="l" rtl="0" eaLnBrk="0">
              <a:lnSpc>
                <a:spcPts val="3239"/>
              </a:lnSpc>
              <a:tabLst/>
            </a:pPr>
            <a:r>
              <a:rPr sz="17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计划准备工作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00" name="textbox 900"/>
          <p:cNvSpPr/>
          <p:nvPr/>
        </p:nvSpPr>
        <p:spPr>
          <a:xfrm>
            <a:off x="5180646" y="4591202"/>
            <a:ext cx="1842135" cy="6496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4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sz="17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管理司机园内行驶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351154" algn="l" rtl="0" eaLnBrk="0">
              <a:lnSpc>
                <a:spcPts val="3248"/>
              </a:lnSpc>
              <a:tabLst/>
            </a:pPr>
            <a:r>
              <a:rPr sz="17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及装卸作业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02" name="textbox 902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textbox 904"/>
          <p:cNvSpPr/>
          <p:nvPr/>
        </p:nvSpPr>
        <p:spPr>
          <a:xfrm>
            <a:off x="364439" y="346695"/>
            <a:ext cx="11233150" cy="527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86000"/>
              </a:lnSpc>
              <a:spcBef>
                <a:spcPts val="1"/>
              </a:spcBef>
              <a:tabLst>
                <a:tab pos="772794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入园作业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       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906" name="picture 9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649852" y="381062"/>
            <a:ext cx="1931803" cy="412600"/>
          </a:xfrm>
          <a:prstGeom prst="rect">
            <a:avLst/>
          </a:prstGeom>
        </p:spPr>
      </p:pic>
      <p:pic>
        <p:nvPicPr>
          <p:cNvPr id="908" name="picture 9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77139" y="359395"/>
            <a:ext cx="584153" cy="473386"/>
          </a:xfrm>
          <a:prstGeom prst="rect">
            <a:avLst/>
          </a:prstGeom>
        </p:spPr>
      </p:pic>
      <p:sp>
        <p:nvSpPr>
          <p:cNvPr id="910" name="textbox 910"/>
          <p:cNvSpPr/>
          <p:nvPr/>
        </p:nvSpPr>
        <p:spPr>
          <a:xfrm>
            <a:off x="1464111" y="1819122"/>
            <a:ext cx="5299075" cy="892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9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575" algn="l" rtl="0" eaLnBrk="0">
              <a:lnSpc>
                <a:spcPct val="87000"/>
              </a:lnSpc>
              <a:tabLst/>
            </a:pPr>
            <a:r>
              <a:rPr sz="1700" b="1" kern="0" spc="70" dirty="0">
                <a:solidFill>
                  <a:srgbClr val="D81E0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园区物流协同管理：</a:t>
            </a:r>
            <a:r>
              <a:rPr sz="1700" b="1" kern="0" spc="-260" dirty="0">
                <a:solidFill>
                  <a:srgbClr val="D81E0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D81E0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入园作业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3"/>
              </a:spcBef>
              <a:tabLst/>
            </a:pP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对司机计划入园</a:t>
            </a:r>
            <a:r>
              <a:rPr sz="1500" kern="0" spc="-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、到场以及将要入园的过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程进行精确管理</a:t>
            </a:r>
            <a:r>
              <a:rPr sz="1500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12" name="textbox 912"/>
          <p:cNvSpPr/>
          <p:nvPr/>
        </p:nvSpPr>
        <p:spPr>
          <a:xfrm>
            <a:off x="1465456" y="4310884"/>
            <a:ext cx="2472689" cy="850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9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可为司机提供多种预约方式，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2700" indent="9525" algn="l" rtl="0" eaLnBrk="0">
              <a:lnSpc>
                <a:spcPct val="143000"/>
              </a:lnSpc>
              <a:spcBef>
                <a:spcPts val="225"/>
              </a:spcBef>
              <a:tabLst/>
            </a:pP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明确司机到场时间和相</a:t>
            </a: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关信息，</a:t>
            </a:r>
            <a:r>
              <a:rPr sz="1400" kern="0" spc="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方便园区人员准确作</a:t>
            </a: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业。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14" name="textbox 914"/>
          <p:cNvSpPr/>
          <p:nvPr/>
        </p:nvSpPr>
        <p:spPr>
          <a:xfrm>
            <a:off x="4882133" y="4310349"/>
            <a:ext cx="2334260" cy="8642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8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8000"/>
              </a:lnSpc>
              <a:tabLst/>
            </a:pP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物理意义上明确司机到场，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7145" indent="-5080" algn="l" rtl="0" eaLnBrk="0">
              <a:lnSpc>
                <a:spcPct val="147000"/>
              </a:lnSpc>
              <a:spcBef>
                <a:spcPts val="195"/>
              </a:spcBef>
              <a:tabLst/>
            </a:pP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根据预约情况，合理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分配月台</a:t>
            </a:r>
            <a:r>
              <a:rPr sz="1400" kern="0" spc="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资源，提高作业效率</a:t>
            </a: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16" name="textbox 916"/>
          <p:cNvSpPr/>
          <p:nvPr/>
        </p:nvSpPr>
        <p:spPr>
          <a:xfrm>
            <a:off x="8306304" y="4310884"/>
            <a:ext cx="2118995" cy="8521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8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88000"/>
              </a:lnSpc>
              <a:tabLst/>
            </a:pP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最大化利用月台资源，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3970" indent="-1270" algn="l" rtl="0" eaLnBrk="0">
              <a:lnSpc>
                <a:spcPct val="143000"/>
              </a:lnSpc>
              <a:spcBef>
                <a:spcPts val="224"/>
              </a:spcBef>
              <a:tabLst/>
            </a:pP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公平透明，提升司机体验，</a:t>
            </a:r>
            <a:r>
              <a:rPr sz="1400" kern="0" spc="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方便园区管理。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60" name="group 60"/>
          <p:cNvGrpSpPr/>
          <p:nvPr/>
        </p:nvGrpSpPr>
        <p:grpSpPr>
          <a:xfrm rot="21600000">
            <a:off x="1379219" y="3480815"/>
            <a:ext cx="2590800" cy="490728"/>
            <a:chOff x="0" y="0"/>
            <a:chExt cx="2590800" cy="490728"/>
          </a:xfrm>
        </p:grpSpPr>
        <p:sp>
          <p:nvSpPr>
            <p:cNvPr id="918" name="path 918"/>
            <p:cNvSpPr/>
            <p:nvPr/>
          </p:nvSpPr>
          <p:spPr>
            <a:xfrm>
              <a:off x="0" y="0"/>
              <a:ext cx="2590800" cy="490728"/>
            </a:xfrm>
            <a:custGeom>
              <a:avLst/>
              <a:gdLst/>
              <a:ahLst/>
              <a:cxnLst/>
              <a:rect l="0" t="0" r="0" b="0"/>
              <a:pathLst>
                <a:path w="4080" h="772">
                  <a:moveTo>
                    <a:pt x="0" y="0"/>
                  </a:moveTo>
                  <a:lnTo>
                    <a:pt x="3695" y="0"/>
                  </a:lnTo>
                  <a:lnTo>
                    <a:pt x="4080" y="386"/>
                  </a:lnTo>
                  <a:lnTo>
                    <a:pt x="3695" y="772"/>
                  </a:lnTo>
                  <a:lnTo>
                    <a:pt x="0" y="772"/>
                  </a:lnTo>
                  <a:lnTo>
                    <a:pt x="384" y="386"/>
                  </a:lnTo>
                  <a:lnTo>
                    <a:pt x="0" y="0"/>
                  </a:lnTo>
                </a:path>
              </a:pathLst>
            </a:custGeom>
            <a:solidFill>
              <a:srgbClr val="E52F3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20" name="textbox 920"/>
            <p:cNvSpPr/>
            <p:nvPr/>
          </p:nvSpPr>
          <p:spPr>
            <a:xfrm>
              <a:off x="-12700" y="-12700"/>
              <a:ext cx="2616200" cy="52768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7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906780" algn="l" rtl="0" eaLnBrk="0">
                <a:lnSpc>
                  <a:spcPct val="87000"/>
                </a:lnSpc>
                <a:spcBef>
                  <a:spcPts val="2"/>
                </a:spcBef>
                <a:tabLst/>
              </a:pPr>
              <a:r>
                <a:rPr sz="1500" b="1" kern="0" spc="8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入园预约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62" name="group 62"/>
          <p:cNvGrpSpPr/>
          <p:nvPr/>
        </p:nvGrpSpPr>
        <p:grpSpPr>
          <a:xfrm rot="21600000">
            <a:off x="4800600" y="3470148"/>
            <a:ext cx="2590800" cy="490727"/>
            <a:chOff x="0" y="0"/>
            <a:chExt cx="2590800" cy="490727"/>
          </a:xfrm>
        </p:grpSpPr>
        <p:sp>
          <p:nvSpPr>
            <p:cNvPr id="922" name="path 922"/>
            <p:cNvSpPr/>
            <p:nvPr/>
          </p:nvSpPr>
          <p:spPr>
            <a:xfrm>
              <a:off x="0" y="0"/>
              <a:ext cx="2590800" cy="490727"/>
            </a:xfrm>
            <a:custGeom>
              <a:avLst/>
              <a:gdLst/>
              <a:ahLst/>
              <a:cxnLst/>
              <a:rect l="0" t="0" r="0" b="0"/>
              <a:pathLst>
                <a:path w="4080" h="772">
                  <a:moveTo>
                    <a:pt x="0" y="0"/>
                  </a:moveTo>
                  <a:lnTo>
                    <a:pt x="3695" y="0"/>
                  </a:lnTo>
                  <a:lnTo>
                    <a:pt x="4080" y="386"/>
                  </a:lnTo>
                  <a:lnTo>
                    <a:pt x="3695" y="772"/>
                  </a:lnTo>
                  <a:lnTo>
                    <a:pt x="0" y="772"/>
                  </a:lnTo>
                  <a:lnTo>
                    <a:pt x="384" y="386"/>
                  </a:lnTo>
                  <a:lnTo>
                    <a:pt x="0" y="0"/>
                  </a:lnTo>
                </a:path>
              </a:pathLst>
            </a:custGeom>
            <a:solidFill>
              <a:srgbClr val="E52F3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24" name="textbox 924"/>
            <p:cNvSpPr/>
            <p:nvPr/>
          </p:nvSpPr>
          <p:spPr>
            <a:xfrm>
              <a:off x="-12700" y="-12700"/>
              <a:ext cx="2616200" cy="5270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5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601344" algn="l" rtl="0" eaLnBrk="0">
                <a:lnSpc>
                  <a:spcPct val="88000"/>
                </a:lnSpc>
                <a:spcBef>
                  <a:spcPts val="6"/>
                </a:spcBef>
                <a:tabLst/>
              </a:pPr>
              <a:r>
                <a:rPr sz="1500" b="1" kern="0" spc="9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签到及月台分配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64" name="group 64"/>
          <p:cNvGrpSpPr/>
          <p:nvPr/>
        </p:nvGrpSpPr>
        <p:grpSpPr>
          <a:xfrm rot="21600000">
            <a:off x="8221980" y="3470148"/>
            <a:ext cx="2590800" cy="490727"/>
            <a:chOff x="0" y="0"/>
            <a:chExt cx="2590800" cy="490727"/>
          </a:xfrm>
        </p:grpSpPr>
        <p:sp>
          <p:nvSpPr>
            <p:cNvPr id="926" name="path 926"/>
            <p:cNvSpPr/>
            <p:nvPr/>
          </p:nvSpPr>
          <p:spPr>
            <a:xfrm>
              <a:off x="0" y="0"/>
              <a:ext cx="2590800" cy="490727"/>
            </a:xfrm>
            <a:custGeom>
              <a:avLst/>
              <a:gdLst/>
              <a:ahLst/>
              <a:cxnLst/>
              <a:rect l="0" t="0" r="0" b="0"/>
              <a:pathLst>
                <a:path w="4080" h="772">
                  <a:moveTo>
                    <a:pt x="0" y="0"/>
                  </a:moveTo>
                  <a:lnTo>
                    <a:pt x="3695" y="0"/>
                  </a:lnTo>
                  <a:lnTo>
                    <a:pt x="4080" y="386"/>
                  </a:lnTo>
                  <a:lnTo>
                    <a:pt x="3695" y="772"/>
                  </a:lnTo>
                  <a:lnTo>
                    <a:pt x="0" y="772"/>
                  </a:lnTo>
                  <a:lnTo>
                    <a:pt x="383" y="386"/>
                  </a:lnTo>
                  <a:lnTo>
                    <a:pt x="0" y="0"/>
                  </a:lnTo>
                </a:path>
              </a:pathLst>
            </a:custGeom>
            <a:solidFill>
              <a:srgbClr val="E52F3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28" name="textbox 928"/>
            <p:cNvSpPr/>
            <p:nvPr/>
          </p:nvSpPr>
          <p:spPr>
            <a:xfrm>
              <a:off x="-12700" y="-12700"/>
              <a:ext cx="2616200" cy="5283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906780" algn="l" rtl="0" eaLnBrk="0">
                <a:lnSpc>
                  <a:spcPct val="86000"/>
                </a:lnSpc>
                <a:spcBef>
                  <a:spcPts val="4"/>
                </a:spcBef>
                <a:tabLst/>
              </a:pPr>
              <a:r>
                <a:rPr sz="1500" b="1" kern="0" spc="8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入园排队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930" name="textbox 930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66"/>
          <p:cNvGrpSpPr/>
          <p:nvPr/>
        </p:nvGrpSpPr>
        <p:grpSpPr>
          <a:xfrm rot="21600000">
            <a:off x="664463" y="1746504"/>
            <a:ext cx="10863071" cy="3714254"/>
            <a:chOff x="0" y="0"/>
            <a:chExt cx="10863071" cy="3714254"/>
          </a:xfrm>
        </p:grpSpPr>
        <p:pic>
          <p:nvPicPr>
            <p:cNvPr id="932" name="picture 93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10863071" cy="3714254"/>
            </a:xfrm>
            <a:prstGeom prst="rect">
              <a:avLst/>
            </a:prstGeom>
          </p:spPr>
        </p:pic>
        <p:sp>
          <p:nvSpPr>
            <p:cNvPr id="934" name="textbox 934"/>
            <p:cNvSpPr/>
            <p:nvPr/>
          </p:nvSpPr>
          <p:spPr>
            <a:xfrm>
              <a:off x="8592008" y="216568"/>
              <a:ext cx="2165985" cy="284035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503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6000"/>
                </a:lnSpc>
                <a:tabLst/>
              </a:pPr>
              <a:r>
                <a:rPr sz="1400" kern="0" spc="-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该园区时间节点可预约容量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47954" algn="l" rtl="0" eaLnBrk="0">
                <a:lnSpc>
                  <a:spcPct val="86000"/>
                </a:lnSpc>
                <a:spcBef>
                  <a:spcPts val="364"/>
                </a:spcBef>
                <a:tabLst/>
              </a:pPr>
              <a:r>
                <a:rPr sz="1200" kern="0" spc="-2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容量足够</a:t>
              </a:r>
              <a:r>
                <a:rPr sz="1200" kern="0" spc="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</a:t>
              </a:r>
              <a:r>
                <a:rPr sz="1200" kern="0" spc="-2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容量不足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74930" algn="l" rtl="0" eaLnBrk="0">
                <a:lnSpc>
                  <a:spcPct val="87000"/>
                </a:lnSpc>
                <a:tabLst/>
              </a:pPr>
              <a:r>
                <a:rPr sz="1200" kern="0" spc="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生成预约单         提</a:t>
              </a:r>
              <a:r>
                <a:rPr sz="1200" kern="0" spc="-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示不能预约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936" name="textbox 936"/>
            <p:cNvSpPr/>
            <p:nvPr/>
          </p:nvSpPr>
          <p:spPr>
            <a:xfrm>
              <a:off x="3161136" y="238899"/>
              <a:ext cx="1337310" cy="26619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19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310515" algn="l" rtl="0" eaLnBrk="0">
                <a:lnSpc>
                  <a:spcPct val="86000"/>
                </a:lnSpc>
                <a:tabLst/>
              </a:pPr>
              <a:r>
                <a:rPr sz="1500" b="1" i="1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预约方式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5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28600" algn="l" rtl="0" eaLnBrk="0">
                <a:lnSpc>
                  <a:spcPct val="87000"/>
                </a:lnSpc>
                <a:spcBef>
                  <a:spcPts val="432"/>
                </a:spcBef>
                <a:tabLst/>
              </a:pPr>
              <a:r>
                <a:rPr sz="1400" kern="0" spc="-2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小程序预约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6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6000"/>
                </a:lnSpc>
                <a:spcBef>
                  <a:spcPts val="427"/>
                </a:spcBef>
                <a:tabLst/>
              </a:pPr>
              <a:r>
                <a:rPr sz="1400" kern="0" spc="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WEB</a:t>
              </a:r>
              <a:r>
                <a:rPr sz="1400" kern="0" spc="4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端人工预约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6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45414" algn="l" rtl="0" eaLnBrk="0">
                <a:lnSpc>
                  <a:spcPct val="86000"/>
                </a:lnSpc>
                <a:spcBef>
                  <a:spcPts val="422"/>
                </a:spcBef>
                <a:tabLst/>
              </a:pPr>
              <a:r>
                <a:rPr sz="1400" kern="0" spc="-2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司机自助预约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6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18134" algn="l" rtl="0" eaLnBrk="0">
                <a:lnSpc>
                  <a:spcPct val="86000"/>
                </a:lnSpc>
                <a:spcBef>
                  <a:spcPts val="431"/>
                </a:spcBef>
                <a:tabLst/>
              </a:pPr>
              <a:r>
                <a:rPr sz="1400" kern="0" spc="-2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到场预约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6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9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231775" algn="l" rtl="0" eaLnBrk="0">
                <a:lnSpc>
                  <a:spcPct val="86000"/>
                </a:lnSpc>
                <a:spcBef>
                  <a:spcPts val="3"/>
                </a:spcBef>
                <a:tabLst/>
              </a:pPr>
              <a:r>
                <a:rPr sz="1400" kern="0" spc="-2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二维码预约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938" name="textbox 938"/>
            <p:cNvSpPr/>
            <p:nvPr/>
          </p:nvSpPr>
          <p:spPr>
            <a:xfrm>
              <a:off x="5835641" y="233819"/>
              <a:ext cx="1237614" cy="26663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720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57834" algn="l" rtl="0" eaLnBrk="0">
                <a:lnSpc>
                  <a:spcPct val="86000"/>
                </a:lnSpc>
                <a:tabLst/>
              </a:pPr>
              <a:r>
                <a:rPr sz="1500" b="1" i="1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填充信息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3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3334" algn="l" rtl="0" eaLnBrk="0">
                <a:lnSpc>
                  <a:spcPct val="83000"/>
                </a:lnSpc>
                <a:spcBef>
                  <a:spcPts val="513"/>
                </a:spcBef>
                <a:tabLst/>
              </a:pPr>
              <a:r>
                <a:rPr sz="17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入园目的地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marL="12700" indent="635" algn="l" rtl="0" eaLnBrk="0">
                <a:lnSpc>
                  <a:spcPct val="188000"/>
                </a:lnSpc>
                <a:spcBef>
                  <a:spcPts val="20"/>
                </a:spcBef>
                <a:tabLst/>
              </a:pPr>
              <a:r>
                <a:rPr sz="15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预计入园时间</a:t>
              </a:r>
              <a:r>
                <a:rPr sz="15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入园车辆信息</a:t>
              </a:r>
              <a:r>
                <a:rPr sz="14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随行人员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6000"/>
                </a:lnSpc>
                <a:spcBef>
                  <a:spcPts val="363"/>
                </a:spcBef>
                <a:tabLst/>
              </a:pPr>
              <a:r>
                <a:rPr sz="12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货品信息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4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69214" algn="l" rtl="0" eaLnBrk="0">
                <a:lnSpc>
                  <a:spcPts val="555"/>
                </a:lnSpc>
                <a:spcBef>
                  <a:spcPts val="1"/>
                </a:spcBef>
                <a:tabLst/>
              </a:pPr>
              <a:r>
                <a:rPr sz="1200" kern="0" spc="4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·</a:t>
              </a:r>
              <a:r>
                <a:rPr sz="1200" kern="0" spc="1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4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·</a:t>
              </a:r>
              <a:r>
                <a:rPr sz="1200" kern="0" spc="1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4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·</a:t>
              </a:r>
              <a:r>
                <a:rPr sz="12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200" kern="0" spc="4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·</a:t>
              </a:r>
              <a:r>
                <a:rPr sz="1200" kern="0" spc="1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4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·</a:t>
              </a:r>
              <a:r>
                <a:rPr sz="1200" kern="0" spc="1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4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·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940" name="textbox 940"/>
            <p:cNvSpPr/>
            <p:nvPr/>
          </p:nvSpPr>
          <p:spPr>
            <a:xfrm>
              <a:off x="638168" y="237375"/>
              <a:ext cx="787400" cy="241046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41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6000"/>
                </a:lnSpc>
                <a:tabLst/>
              </a:pPr>
              <a:r>
                <a:rPr sz="1500" b="1" i="1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预约用户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06045" algn="l" rtl="0" eaLnBrk="0">
                <a:lnSpc>
                  <a:spcPct val="87000"/>
                </a:lnSpc>
                <a:spcBef>
                  <a:spcPts val="427"/>
                </a:spcBef>
                <a:tabLst/>
              </a:pPr>
              <a:r>
                <a:rPr sz="14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供应商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6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07314" algn="l" rtl="0" eaLnBrk="0">
                <a:lnSpc>
                  <a:spcPct val="86000"/>
                </a:lnSpc>
                <a:spcBef>
                  <a:spcPts val="430"/>
                </a:spcBef>
                <a:tabLst/>
              </a:pPr>
              <a:r>
                <a:rPr sz="1400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承运商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6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11125" algn="l" rtl="0" eaLnBrk="0">
                <a:lnSpc>
                  <a:spcPct val="86000"/>
                </a:lnSpc>
                <a:spcBef>
                  <a:spcPts val="431"/>
                </a:spcBef>
                <a:tabLst/>
              </a:pPr>
              <a:r>
                <a:rPr sz="1400" kern="0" spc="-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业务员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6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203200" algn="l" rtl="0" eaLnBrk="0">
                <a:lnSpc>
                  <a:spcPct val="85000"/>
                </a:lnSpc>
                <a:spcBef>
                  <a:spcPts val="3"/>
                </a:spcBef>
                <a:tabLst/>
              </a:pPr>
              <a:r>
                <a:rPr sz="1400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司机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942" name="textbox 942"/>
          <p:cNvSpPr/>
          <p:nvPr/>
        </p:nvSpPr>
        <p:spPr>
          <a:xfrm>
            <a:off x="364439" y="346695"/>
            <a:ext cx="11233150" cy="5251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86000"/>
              </a:lnSpc>
              <a:spcBef>
                <a:spcPts val="1"/>
              </a:spcBef>
              <a:tabLst>
                <a:tab pos="772794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入园预约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       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944" name="picture 9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649852" y="381062"/>
            <a:ext cx="1931803" cy="412600"/>
          </a:xfrm>
          <a:prstGeom prst="rect">
            <a:avLst/>
          </a:prstGeom>
        </p:spPr>
      </p:pic>
      <p:pic>
        <p:nvPicPr>
          <p:cNvPr id="946" name="picture 9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77139" y="359395"/>
            <a:ext cx="584153" cy="473386"/>
          </a:xfrm>
          <a:prstGeom prst="rect">
            <a:avLst/>
          </a:prstGeom>
        </p:spPr>
      </p:pic>
      <p:sp>
        <p:nvSpPr>
          <p:cNvPr id="948" name="textbox 948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50" name="textbox 950"/>
          <p:cNvSpPr/>
          <p:nvPr/>
        </p:nvSpPr>
        <p:spPr>
          <a:xfrm>
            <a:off x="8423547" y="1507705"/>
            <a:ext cx="635000" cy="3676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200" b="1" i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校验园区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4604" algn="l" rtl="0" eaLnBrk="0">
              <a:lnSpc>
                <a:spcPct val="86000"/>
              </a:lnSpc>
              <a:spcBef>
                <a:spcPts val="220"/>
              </a:spcBef>
              <a:tabLst/>
            </a:pPr>
            <a:r>
              <a:rPr sz="1200" b="1" i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设置规则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52" name="textbox 952"/>
          <p:cNvSpPr/>
          <p:nvPr/>
        </p:nvSpPr>
        <p:spPr>
          <a:xfrm>
            <a:off x="5543134" y="5587212"/>
            <a:ext cx="328295" cy="1822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5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200" b="1" i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通知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rect 954"/>
          <p:cNvSpPr/>
          <p:nvPr/>
        </p:nvSpPr>
        <p:spPr>
          <a:xfrm>
            <a:off x="0" y="1321308"/>
            <a:ext cx="12192000" cy="4402835"/>
          </a:xfrm>
          <a:prstGeom prst="rect">
            <a:avLst/>
          </a:prstGeom>
          <a:solidFill>
            <a:srgbClr val="F5F5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68" name="group 68"/>
          <p:cNvGrpSpPr/>
          <p:nvPr/>
        </p:nvGrpSpPr>
        <p:grpSpPr>
          <a:xfrm rot="21600000">
            <a:off x="658095" y="1404754"/>
            <a:ext cx="10712881" cy="5019750"/>
            <a:chOff x="0" y="0"/>
            <a:chExt cx="10712881" cy="5019750"/>
          </a:xfrm>
        </p:grpSpPr>
        <p:pic>
          <p:nvPicPr>
            <p:cNvPr id="956" name="picture 95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10712881" cy="5019750"/>
            </a:xfrm>
            <a:prstGeom prst="rect">
              <a:avLst/>
            </a:prstGeom>
          </p:spPr>
        </p:pic>
        <p:sp>
          <p:nvSpPr>
            <p:cNvPr id="958" name="textbox 958"/>
            <p:cNvSpPr/>
            <p:nvPr/>
          </p:nvSpPr>
          <p:spPr>
            <a:xfrm>
              <a:off x="4516986" y="69689"/>
              <a:ext cx="4308475" cy="13023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84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099945" algn="l" rtl="0" eaLnBrk="0">
                <a:lnSpc>
                  <a:spcPct val="85000"/>
                </a:lnSpc>
                <a:tabLst/>
              </a:pPr>
              <a:r>
                <a:rPr sz="1400" b="1" kern="0" spc="-3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排队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9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432"/>
                </a:spcBef>
                <a:tabLst/>
              </a:pPr>
              <a:r>
                <a:rPr sz="1400" b="1" kern="0" spc="-2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有月台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7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9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ts val="1781"/>
                </a:lnSpc>
                <a:spcBef>
                  <a:spcPts val="3"/>
                </a:spcBef>
                <a:tabLst/>
              </a:pPr>
              <a:r>
                <a:rPr sz="1400" b="1" kern="0" spc="-7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通知WMS</a:t>
              </a:r>
              <a:r>
                <a:rPr sz="1400" kern="0" spc="-7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（生成到货通知单）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960" name="textbox 960"/>
            <p:cNvSpPr/>
            <p:nvPr/>
          </p:nvSpPr>
          <p:spPr>
            <a:xfrm>
              <a:off x="6261168" y="3855293"/>
              <a:ext cx="2985770" cy="95821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28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1200" b="1" kern="0" spc="-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月台匹配条件：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110489" indent="2540" algn="l" rtl="0" eaLnBrk="0">
                <a:lnSpc>
                  <a:spcPct val="170000"/>
                </a:lnSpc>
                <a:spcBef>
                  <a:spcPts val="185"/>
                </a:spcBef>
                <a:tabLst/>
              </a:pPr>
              <a:r>
                <a:rPr sz="1000" kern="0" spc="2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车辆型号/大小/规格         供应商</a:t>
              </a:r>
              <a:r>
                <a:rPr sz="1000" kern="0" spc="-10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000" kern="0" spc="2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、承运商</a:t>
              </a:r>
              <a:r>
                <a:rPr sz="1000" kern="0" spc="-1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000" kern="0" spc="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、客户</a:t>
              </a:r>
              <a:r>
                <a:rPr sz="1000" kern="0" spc="3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物料类型/数量          月台</a:t>
              </a:r>
              <a:r>
                <a:rPr sz="1000" kern="0" spc="2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型号/可作业数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25729" algn="l" rtl="0" eaLnBrk="0">
                <a:lnSpc>
                  <a:spcPct val="86000"/>
                </a:lnSpc>
                <a:spcBef>
                  <a:spcPts val="2"/>
                </a:spcBef>
                <a:tabLst/>
              </a:pPr>
              <a:r>
                <a:rPr sz="1000" kern="0" spc="2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自定义条件等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962" name="textbox 962"/>
            <p:cNvSpPr/>
            <p:nvPr/>
          </p:nvSpPr>
          <p:spPr>
            <a:xfrm>
              <a:off x="4518948" y="3135902"/>
              <a:ext cx="5858509" cy="4197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47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996564" algn="l" rtl="0" eaLnBrk="0">
                <a:lnSpc>
                  <a:spcPct val="86000"/>
                </a:lnSpc>
                <a:tabLst/>
              </a:pPr>
              <a:r>
                <a:rPr sz="1200" i="1" kern="0" spc="-4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匹配结果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r" rtl="0" eaLnBrk="0">
                <a:lnSpc>
                  <a:spcPts val="1781"/>
                </a:lnSpc>
                <a:spcBef>
                  <a:spcPts val="86"/>
                </a:spcBef>
                <a:tabLst/>
              </a:pPr>
              <a:r>
                <a:rPr sz="1400" b="1" kern="0" spc="-2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无月台              </a:t>
              </a:r>
              <a:r>
                <a:rPr sz="1400" b="1" kern="0" spc="-3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匹配月台                           通知WMS</a:t>
              </a:r>
              <a:r>
                <a:rPr sz="1400" kern="0" spc="-3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（确认月台）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964" name="textbox 964"/>
            <p:cNvSpPr/>
            <p:nvPr/>
          </p:nvSpPr>
          <p:spPr>
            <a:xfrm>
              <a:off x="279106" y="1766575"/>
              <a:ext cx="5060315" cy="4191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559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914014" algn="l" rtl="0" eaLnBrk="0">
                <a:lnSpc>
                  <a:spcPct val="85000"/>
                </a:lnSpc>
                <a:tabLst/>
              </a:pPr>
              <a:r>
                <a:rPr sz="1200" i="1" kern="0" spc="-2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签到成功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407"/>
                </a:spcBef>
                <a:tabLst/>
              </a:pPr>
              <a:r>
                <a:rPr sz="1400" b="1" kern="0" spc="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司机到场</a:t>
              </a:r>
              <a:r>
                <a:rPr sz="1400" b="1" kern="0" spc="2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</a:t>
              </a:r>
              <a:r>
                <a:rPr sz="1400" b="1" kern="0" spc="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</a:t>
              </a:r>
              <a:r>
                <a:rPr sz="1400" b="1" kern="0" spc="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GPS</a:t>
              </a:r>
              <a:r>
                <a:rPr sz="1400" b="1" kern="0" spc="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签到          </a:t>
              </a:r>
              <a:r>
                <a:rPr sz="1400" b="1" kern="0" spc="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确认装卸月台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966" name="textbox 966"/>
            <p:cNvSpPr/>
            <p:nvPr/>
          </p:nvSpPr>
          <p:spPr>
            <a:xfrm>
              <a:off x="2016397" y="2537338"/>
              <a:ext cx="1546225" cy="6413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2135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indent="4444" algn="l" rtl="0" eaLnBrk="0">
                <a:lnSpc>
                  <a:spcPct val="114000"/>
                </a:lnSpc>
                <a:tabLst/>
              </a:pPr>
              <a:r>
                <a:rPr sz="1200" kern="0" spc="-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判断当前司机坐标是否</a:t>
              </a:r>
              <a:r>
                <a:rPr sz="1200" kern="0" spc="-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在目标地点可签到的电</a:t>
              </a:r>
              <a:r>
                <a:rPr sz="1200" kern="0" spc="-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子围栏范围内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968" name="textbox 968"/>
          <p:cNvSpPr/>
          <p:nvPr/>
        </p:nvSpPr>
        <p:spPr>
          <a:xfrm>
            <a:off x="364439" y="346695"/>
            <a:ext cx="11233150" cy="523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87000"/>
              </a:lnSpc>
              <a:tabLst>
                <a:tab pos="773430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签到及月台分配                                    </a:t>
            </a:r>
            <a:r>
              <a:rPr sz="27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970" name="picture 9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603496" y="381062"/>
            <a:ext cx="1931803" cy="412600"/>
          </a:xfrm>
          <a:prstGeom prst="rect">
            <a:avLst/>
          </a:prstGeom>
        </p:spPr>
      </p:pic>
      <p:pic>
        <p:nvPicPr>
          <p:cNvPr id="972" name="picture 9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77139" y="359395"/>
            <a:ext cx="584153" cy="473386"/>
          </a:xfrm>
          <a:prstGeom prst="rect">
            <a:avLst/>
          </a:prstGeom>
        </p:spPr>
      </p:pic>
      <p:sp>
        <p:nvSpPr>
          <p:cNvPr id="974" name="textbox 974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rect 976"/>
          <p:cNvSpPr/>
          <p:nvPr/>
        </p:nvSpPr>
        <p:spPr>
          <a:xfrm>
            <a:off x="0" y="1763267"/>
            <a:ext cx="12192000" cy="3331463"/>
          </a:xfrm>
          <a:prstGeom prst="rect">
            <a:avLst/>
          </a:prstGeom>
          <a:solidFill>
            <a:srgbClr val="F5F5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978" name="picture 9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88585" y="3163297"/>
            <a:ext cx="11014828" cy="785455"/>
          </a:xfrm>
          <a:prstGeom prst="rect">
            <a:avLst/>
          </a:prstGeom>
        </p:spPr>
      </p:pic>
      <p:sp>
        <p:nvSpPr>
          <p:cNvPr id="980" name="textbox 980"/>
          <p:cNvSpPr/>
          <p:nvPr/>
        </p:nvSpPr>
        <p:spPr>
          <a:xfrm>
            <a:off x="364439" y="346695"/>
            <a:ext cx="11233150" cy="527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85000"/>
              </a:lnSpc>
              <a:spcBef>
                <a:spcPts val="4"/>
              </a:spcBef>
              <a:tabLst>
                <a:tab pos="772794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入园排队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       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982" name="picture 98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649852" y="381062"/>
            <a:ext cx="1931803" cy="412600"/>
          </a:xfrm>
          <a:prstGeom prst="rect">
            <a:avLst/>
          </a:prstGeom>
        </p:spPr>
      </p:pic>
      <p:pic>
        <p:nvPicPr>
          <p:cNvPr id="984" name="picture 98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77139" y="359395"/>
            <a:ext cx="584153" cy="473386"/>
          </a:xfrm>
          <a:prstGeom prst="rect">
            <a:avLst/>
          </a:prstGeom>
        </p:spPr>
      </p:pic>
      <p:sp>
        <p:nvSpPr>
          <p:cNvPr id="986" name="textbox 986"/>
          <p:cNvSpPr/>
          <p:nvPr/>
        </p:nvSpPr>
        <p:spPr>
          <a:xfrm>
            <a:off x="692382" y="2257265"/>
            <a:ext cx="6066790" cy="527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5000"/>
              </a:lnSpc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当司机签到，根据司机要去往的月台，进行排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队处理，根据顺序，依次叫号。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2520"/>
              </a:lnSpc>
              <a:tabLst/>
            </a:pP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特殊情况下，也可以手动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叫号，进行插队处理以应对突发情况。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88" name="textbox 988"/>
          <p:cNvSpPr/>
          <p:nvPr/>
        </p:nvSpPr>
        <p:spPr>
          <a:xfrm>
            <a:off x="7598334" y="3249675"/>
            <a:ext cx="2701925" cy="5511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4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90550" algn="l" rtl="0" eaLnBrk="0">
              <a:lnSpc>
                <a:spcPct val="86000"/>
              </a:lnSpc>
              <a:tabLst/>
            </a:pPr>
            <a:r>
              <a:rPr sz="1200" b="1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基于排队顺序</a:t>
            </a:r>
            <a:r>
              <a:rPr sz="1200" b="1" kern="0" spc="-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、园区容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1279"/>
              </a:lnSpc>
              <a:spcBef>
                <a:spcPts val="198"/>
              </a:spcBef>
              <a:tabLst/>
            </a:pPr>
            <a:r>
              <a:rPr sz="1700" kern="0" spc="-2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——</a:t>
            </a:r>
            <a:r>
              <a:rPr sz="1700" kern="0" spc="9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200" b="1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量</a:t>
            </a:r>
            <a:r>
              <a:rPr sz="1200" b="1" kern="0" spc="-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、月台容量是否空闲</a:t>
            </a:r>
            <a:r>
              <a:rPr sz="1200" b="1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049019" algn="l" rtl="0" eaLnBrk="0">
              <a:lnSpc>
                <a:spcPct val="86000"/>
              </a:lnSpc>
              <a:spcBef>
                <a:spcPts val="183"/>
              </a:spcBef>
              <a:tabLst/>
            </a:pPr>
            <a:r>
              <a:rPr sz="1200" b="1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进行叫号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990" name="picture 99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846322" y="3492500"/>
            <a:ext cx="438074" cy="76200"/>
          </a:xfrm>
          <a:prstGeom prst="rect">
            <a:avLst/>
          </a:prstGeom>
        </p:spPr>
      </p:pic>
      <p:grpSp>
        <p:nvGrpSpPr>
          <p:cNvPr id="70" name="group 70"/>
          <p:cNvGrpSpPr/>
          <p:nvPr/>
        </p:nvGrpSpPr>
        <p:grpSpPr>
          <a:xfrm rot="21600000">
            <a:off x="6873993" y="4443809"/>
            <a:ext cx="1912153" cy="427290"/>
            <a:chOff x="0" y="0"/>
            <a:chExt cx="1912153" cy="427290"/>
          </a:xfrm>
        </p:grpSpPr>
        <p:pic>
          <p:nvPicPr>
            <p:cNvPr id="992" name="picture 99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1912153" cy="427290"/>
            </a:xfrm>
            <a:prstGeom prst="rect">
              <a:avLst/>
            </a:prstGeom>
          </p:spPr>
        </p:pic>
        <p:sp>
          <p:nvSpPr>
            <p:cNvPr id="994" name="textbox 994"/>
            <p:cNvSpPr/>
            <p:nvPr/>
          </p:nvSpPr>
          <p:spPr>
            <a:xfrm>
              <a:off x="-12700" y="-12700"/>
              <a:ext cx="1938020" cy="4584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29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11454" algn="l" rtl="0" eaLnBrk="0">
                <a:lnSpc>
                  <a:spcPct val="87000"/>
                </a:lnSpc>
                <a:tabLst/>
              </a:pPr>
              <a:r>
                <a:rPr sz="1200" kern="0" spc="-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超时未进入，重新叫号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996" name="picture 99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679286" y="3884244"/>
            <a:ext cx="2285695" cy="319404"/>
          </a:xfrm>
          <a:prstGeom prst="rect">
            <a:avLst/>
          </a:prstGeom>
        </p:spPr>
      </p:pic>
      <p:sp>
        <p:nvSpPr>
          <p:cNvPr id="998" name="textbox 998"/>
          <p:cNvSpPr/>
          <p:nvPr/>
        </p:nvSpPr>
        <p:spPr>
          <a:xfrm>
            <a:off x="5938291" y="3341268"/>
            <a:ext cx="1550035" cy="3511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54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6370" indent="-153670" algn="l" rtl="0" eaLnBrk="0">
              <a:lnSpc>
                <a:spcPct val="92000"/>
              </a:lnSpc>
              <a:tabLst/>
            </a:pPr>
            <a:r>
              <a:rPr sz="1200" b="1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基于签到时间先后顺</a:t>
            </a:r>
            <a:r>
              <a:rPr sz="1200" b="1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序</a:t>
            </a:r>
            <a:r>
              <a:rPr sz="1200" b="1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赋予司机排队序号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00" name="textbox 1000"/>
          <p:cNvSpPr/>
          <p:nvPr/>
        </p:nvSpPr>
        <p:spPr>
          <a:xfrm>
            <a:off x="4272163" y="3311251"/>
            <a:ext cx="911225" cy="4248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7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400" b="1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执行不同的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01600" algn="l" rtl="0" eaLnBrk="0">
              <a:lnSpc>
                <a:spcPct val="86000"/>
              </a:lnSpc>
              <a:spcBef>
                <a:spcPts val="255"/>
              </a:spcBef>
              <a:tabLst/>
            </a:pPr>
            <a:r>
              <a:rPr sz="1400" b="1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排队模式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02" name="textbox 1002"/>
          <p:cNvSpPr/>
          <p:nvPr/>
        </p:nvSpPr>
        <p:spPr>
          <a:xfrm>
            <a:off x="2536130" y="3312857"/>
            <a:ext cx="913130" cy="4241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7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400" b="1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确认是否有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04139" algn="l" rtl="0" eaLnBrk="0">
              <a:lnSpc>
                <a:spcPct val="87000"/>
              </a:lnSpc>
              <a:spcBef>
                <a:spcPts val="225"/>
              </a:spcBef>
              <a:tabLst/>
            </a:pPr>
            <a:r>
              <a:rPr sz="1400" b="1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分配月台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04" name="textbox 1004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06" name="textbox 1006"/>
          <p:cNvSpPr/>
          <p:nvPr/>
        </p:nvSpPr>
        <p:spPr>
          <a:xfrm>
            <a:off x="888916" y="3315176"/>
            <a:ext cx="747394" cy="4197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400" b="1" kern="0" spc="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司机</a:t>
            </a:r>
            <a:r>
              <a:rPr sz="1400" b="1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GPS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7145" algn="l" rtl="0" eaLnBrk="0">
              <a:lnSpc>
                <a:spcPct val="85000"/>
              </a:lnSpc>
              <a:spcBef>
                <a:spcPts val="245"/>
              </a:spcBef>
              <a:tabLst/>
            </a:pPr>
            <a:r>
              <a:rPr sz="1400" b="1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签到到场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08" name="textbox 1008"/>
          <p:cNvSpPr/>
          <p:nvPr/>
        </p:nvSpPr>
        <p:spPr>
          <a:xfrm>
            <a:off x="10749810" y="3429338"/>
            <a:ext cx="376554" cy="2051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1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1400" b="1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入园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10" name="picture 10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638892" y="3492500"/>
            <a:ext cx="438074" cy="76200"/>
          </a:xfrm>
          <a:prstGeom prst="rect">
            <a:avLst/>
          </a:prstGeom>
        </p:spPr>
      </p:pic>
      <p:pic>
        <p:nvPicPr>
          <p:cNvPr id="1012" name="picture 10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372963" y="3492500"/>
            <a:ext cx="438074" cy="76200"/>
          </a:xfrm>
          <a:prstGeom prst="rect">
            <a:avLst/>
          </a:prstGeom>
        </p:spPr>
      </p:pic>
      <p:pic>
        <p:nvPicPr>
          <p:cNvPr id="1014" name="picture 10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904822" y="3492500"/>
            <a:ext cx="438073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textbox 1016"/>
          <p:cNvSpPr/>
          <p:nvPr/>
        </p:nvSpPr>
        <p:spPr>
          <a:xfrm>
            <a:off x="364439" y="346695"/>
            <a:ext cx="11233150" cy="527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86000"/>
              </a:lnSpc>
              <a:spcBef>
                <a:spcPts val="1"/>
              </a:spcBef>
              <a:tabLst>
                <a:tab pos="796290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园内作业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       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18" name="picture 10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647946" y="381062"/>
            <a:ext cx="1931803" cy="412600"/>
          </a:xfrm>
          <a:prstGeom prst="rect">
            <a:avLst/>
          </a:prstGeom>
        </p:spPr>
      </p:pic>
      <p:pic>
        <p:nvPicPr>
          <p:cNvPr id="1020" name="picture 10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77139" y="359395"/>
            <a:ext cx="584153" cy="473386"/>
          </a:xfrm>
          <a:prstGeom prst="rect">
            <a:avLst/>
          </a:prstGeom>
        </p:spPr>
      </p:pic>
      <p:sp>
        <p:nvSpPr>
          <p:cNvPr id="1022" name="textbox 1022"/>
          <p:cNvSpPr/>
          <p:nvPr/>
        </p:nvSpPr>
        <p:spPr>
          <a:xfrm>
            <a:off x="1468365" y="1819122"/>
            <a:ext cx="5701029" cy="899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74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129" algn="l" rtl="0" eaLnBrk="0">
              <a:lnSpc>
                <a:spcPct val="87000"/>
              </a:lnSpc>
              <a:tabLst/>
            </a:pPr>
            <a:r>
              <a:rPr sz="1700" b="1" kern="0" spc="60" dirty="0">
                <a:solidFill>
                  <a:srgbClr val="D81E0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园区物流协同管理：</a:t>
            </a:r>
            <a:r>
              <a:rPr sz="1700" b="1" kern="0" spc="-130" dirty="0">
                <a:solidFill>
                  <a:srgbClr val="D81E0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60" dirty="0">
                <a:solidFill>
                  <a:srgbClr val="D81E0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园内作业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0000"/>
              </a:lnSpc>
              <a:spcBef>
                <a:spcPts val="1"/>
              </a:spcBef>
              <a:tabLst/>
            </a:pP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管理司机在园内的活动，</a:t>
            </a:r>
            <a:r>
              <a:rPr sz="1500" kern="0" spc="-3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规范司机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行驶</a:t>
            </a:r>
            <a:r>
              <a:rPr sz="1500" kern="0" spc="-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、装卸等核心行为动作</a:t>
            </a:r>
            <a:r>
              <a:rPr sz="1500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72" name="group 72"/>
          <p:cNvGrpSpPr/>
          <p:nvPr/>
        </p:nvGrpSpPr>
        <p:grpSpPr>
          <a:xfrm rot="21600000">
            <a:off x="1379219" y="3480815"/>
            <a:ext cx="2590800" cy="490728"/>
            <a:chOff x="0" y="0"/>
            <a:chExt cx="2590800" cy="490728"/>
          </a:xfrm>
        </p:grpSpPr>
        <p:sp>
          <p:nvSpPr>
            <p:cNvPr id="1024" name="path 1024"/>
            <p:cNvSpPr/>
            <p:nvPr/>
          </p:nvSpPr>
          <p:spPr>
            <a:xfrm>
              <a:off x="0" y="0"/>
              <a:ext cx="2590800" cy="490728"/>
            </a:xfrm>
            <a:custGeom>
              <a:avLst/>
              <a:gdLst/>
              <a:ahLst/>
              <a:cxnLst/>
              <a:rect l="0" t="0" r="0" b="0"/>
              <a:pathLst>
                <a:path w="4080" h="772">
                  <a:moveTo>
                    <a:pt x="0" y="0"/>
                  </a:moveTo>
                  <a:lnTo>
                    <a:pt x="3695" y="0"/>
                  </a:lnTo>
                  <a:lnTo>
                    <a:pt x="4080" y="386"/>
                  </a:lnTo>
                  <a:lnTo>
                    <a:pt x="3695" y="772"/>
                  </a:lnTo>
                  <a:lnTo>
                    <a:pt x="0" y="772"/>
                  </a:lnTo>
                  <a:lnTo>
                    <a:pt x="384" y="386"/>
                  </a:lnTo>
                  <a:lnTo>
                    <a:pt x="0" y="0"/>
                  </a:lnTo>
                </a:path>
              </a:pathLst>
            </a:custGeom>
            <a:solidFill>
              <a:srgbClr val="E52F3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26" name="textbox 1026"/>
            <p:cNvSpPr/>
            <p:nvPr/>
          </p:nvSpPr>
          <p:spPr>
            <a:xfrm>
              <a:off x="-12700" y="-12700"/>
              <a:ext cx="2616200" cy="52514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605790" algn="l" rtl="0" eaLnBrk="0">
                <a:lnSpc>
                  <a:spcPct val="87000"/>
                </a:lnSpc>
                <a:spcBef>
                  <a:spcPts val="1"/>
                </a:spcBef>
                <a:tabLst/>
              </a:pPr>
              <a:r>
                <a:rPr sz="1500" b="1" kern="0" spc="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单</a:t>
              </a:r>
              <a:r>
                <a:rPr sz="1500" b="1" kern="0" spc="-1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500" b="1" kern="0" spc="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、多月台活动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74" name="group 74"/>
          <p:cNvGrpSpPr/>
          <p:nvPr/>
        </p:nvGrpSpPr>
        <p:grpSpPr>
          <a:xfrm rot="21600000">
            <a:off x="4800600" y="3470148"/>
            <a:ext cx="2590800" cy="490727"/>
            <a:chOff x="0" y="0"/>
            <a:chExt cx="2590800" cy="490727"/>
          </a:xfrm>
        </p:grpSpPr>
        <p:sp>
          <p:nvSpPr>
            <p:cNvPr id="1028" name="path 1028"/>
            <p:cNvSpPr/>
            <p:nvPr/>
          </p:nvSpPr>
          <p:spPr>
            <a:xfrm>
              <a:off x="0" y="0"/>
              <a:ext cx="2590800" cy="490727"/>
            </a:xfrm>
            <a:custGeom>
              <a:avLst/>
              <a:gdLst/>
              <a:ahLst/>
              <a:cxnLst/>
              <a:rect l="0" t="0" r="0" b="0"/>
              <a:pathLst>
                <a:path w="4080" h="772">
                  <a:moveTo>
                    <a:pt x="0" y="0"/>
                  </a:moveTo>
                  <a:lnTo>
                    <a:pt x="3695" y="0"/>
                  </a:lnTo>
                  <a:lnTo>
                    <a:pt x="4080" y="386"/>
                  </a:lnTo>
                  <a:lnTo>
                    <a:pt x="3695" y="772"/>
                  </a:lnTo>
                  <a:lnTo>
                    <a:pt x="0" y="772"/>
                  </a:lnTo>
                  <a:lnTo>
                    <a:pt x="384" y="386"/>
                  </a:lnTo>
                  <a:lnTo>
                    <a:pt x="0" y="0"/>
                  </a:lnTo>
                </a:path>
              </a:pathLst>
            </a:custGeom>
            <a:solidFill>
              <a:srgbClr val="E52F3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30" name="textbox 1030"/>
            <p:cNvSpPr/>
            <p:nvPr/>
          </p:nvSpPr>
          <p:spPr>
            <a:xfrm>
              <a:off x="-12700" y="-12700"/>
              <a:ext cx="2616200" cy="52768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7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908685" algn="l" rtl="0" eaLnBrk="0">
                <a:lnSpc>
                  <a:spcPct val="87000"/>
                </a:lnSpc>
                <a:spcBef>
                  <a:spcPts val="1"/>
                </a:spcBef>
                <a:tabLst/>
              </a:pPr>
              <a:r>
                <a:rPr sz="1500" b="1" kern="0" spc="8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导航指引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76" name="group 76"/>
          <p:cNvGrpSpPr/>
          <p:nvPr/>
        </p:nvGrpSpPr>
        <p:grpSpPr>
          <a:xfrm rot="21600000">
            <a:off x="8221980" y="3470148"/>
            <a:ext cx="2590800" cy="490727"/>
            <a:chOff x="0" y="0"/>
            <a:chExt cx="2590800" cy="490727"/>
          </a:xfrm>
        </p:grpSpPr>
        <p:sp>
          <p:nvSpPr>
            <p:cNvPr id="1032" name="path 1032"/>
            <p:cNvSpPr/>
            <p:nvPr/>
          </p:nvSpPr>
          <p:spPr>
            <a:xfrm>
              <a:off x="0" y="0"/>
              <a:ext cx="2590800" cy="490727"/>
            </a:xfrm>
            <a:custGeom>
              <a:avLst/>
              <a:gdLst/>
              <a:ahLst/>
              <a:cxnLst/>
              <a:rect l="0" t="0" r="0" b="0"/>
              <a:pathLst>
                <a:path w="4080" h="772">
                  <a:moveTo>
                    <a:pt x="0" y="0"/>
                  </a:moveTo>
                  <a:lnTo>
                    <a:pt x="3695" y="0"/>
                  </a:lnTo>
                  <a:lnTo>
                    <a:pt x="4080" y="386"/>
                  </a:lnTo>
                  <a:lnTo>
                    <a:pt x="3695" y="772"/>
                  </a:lnTo>
                  <a:lnTo>
                    <a:pt x="0" y="772"/>
                  </a:lnTo>
                  <a:lnTo>
                    <a:pt x="383" y="386"/>
                  </a:lnTo>
                  <a:lnTo>
                    <a:pt x="0" y="0"/>
                  </a:lnTo>
                </a:path>
              </a:pathLst>
            </a:custGeom>
            <a:solidFill>
              <a:srgbClr val="E52F3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34" name="textbox 1034"/>
            <p:cNvSpPr/>
            <p:nvPr/>
          </p:nvSpPr>
          <p:spPr>
            <a:xfrm>
              <a:off x="-12700" y="-12700"/>
              <a:ext cx="2616200" cy="5257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907414" algn="l" rtl="0" eaLnBrk="0">
                <a:lnSpc>
                  <a:spcPct val="87000"/>
                </a:lnSpc>
                <a:spcBef>
                  <a:spcPts val="5"/>
                </a:spcBef>
                <a:tabLst/>
              </a:pPr>
              <a:r>
                <a:rPr sz="1500" b="1" kern="0" spc="8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地磅称重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1036" name="textbox 1036"/>
          <p:cNvSpPr/>
          <p:nvPr/>
        </p:nvSpPr>
        <p:spPr>
          <a:xfrm>
            <a:off x="1463315" y="4310706"/>
            <a:ext cx="2331720" cy="5384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79000"/>
              </a:lnSpc>
              <a:tabLst/>
            </a:pP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记录并管控司机进入月台进行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2715"/>
              </a:lnSpc>
              <a:tabLst/>
            </a:pP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装/卸活动的行为。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38" name="textbox 1038"/>
          <p:cNvSpPr/>
          <p:nvPr/>
        </p:nvSpPr>
        <p:spPr>
          <a:xfrm>
            <a:off x="8305412" y="4310527"/>
            <a:ext cx="2332354" cy="5264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33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85000"/>
              </a:lnSpc>
              <a:tabLst/>
            </a:pP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连接地磅硬件设备</a:t>
            </a:r>
            <a:r>
              <a:rPr sz="14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，获取重量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2520"/>
              </a:lnSpc>
              <a:tabLst/>
            </a:pPr>
            <a:r>
              <a:rPr sz="1400" kern="0" spc="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信息，方便园区作业。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40" name="textbox 1040"/>
          <p:cNvSpPr/>
          <p:nvPr/>
        </p:nvSpPr>
        <p:spPr>
          <a:xfrm>
            <a:off x="4885880" y="4310527"/>
            <a:ext cx="2330450" cy="513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33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859" algn="l" rtl="0" eaLnBrk="0">
              <a:lnSpc>
                <a:spcPct val="85000"/>
              </a:lnSpc>
              <a:tabLst/>
            </a:pP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园内面积大</a:t>
            </a:r>
            <a:r>
              <a:rPr sz="1400" kern="0" spc="-1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、路线复杂，通过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2423"/>
              </a:lnSpc>
              <a:tabLst/>
            </a:pPr>
            <a:r>
              <a:rPr sz="1400" kern="0" spc="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定位指引方便司机驾驶</a:t>
            </a: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42" name="textbox 1042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78"/>
          <p:cNvGrpSpPr/>
          <p:nvPr/>
        </p:nvGrpSpPr>
        <p:grpSpPr>
          <a:xfrm rot="21600000">
            <a:off x="2969804" y="1687097"/>
            <a:ext cx="8694276" cy="3568113"/>
            <a:chOff x="0" y="0"/>
            <a:chExt cx="8694276" cy="3568113"/>
          </a:xfrm>
        </p:grpSpPr>
        <p:pic>
          <p:nvPicPr>
            <p:cNvPr id="1044" name="picture 104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8694276" cy="3568113"/>
            </a:xfrm>
            <a:prstGeom prst="rect">
              <a:avLst/>
            </a:prstGeom>
          </p:spPr>
        </p:pic>
        <p:sp>
          <p:nvSpPr>
            <p:cNvPr id="1046" name="textbox 1046"/>
            <p:cNvSpPr/>
            <p:nvPr/>
          </p:nvSpPr>
          <p:spPr>
            <a:xfrm>
              <a:off x="7919239" y="83194"/>
              <a:ext cx="781684" cy="33191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94310" algn="l" rtl="0" eaLnBrk="0">
                <a:lnSpc>
                  <a:spcPts val="1521"/>
                </a:lnSpc>
                <a:tabLst/>
              </a:pPr>
              <a:r>
                <a:rPr sz="1200" b="1" kern="0" spc="-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月台1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4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4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94310" algn="l" rtl="0" eaLnBrk="0">
                <a:lnSpc>
                  <a:spcPts val="1521"/>
                </a:lnSpc>
                <a:spcBef>
                  <a:spcPts val="362"/>
                </a:spcBef>
                <a:tabLst/>
              </a:pPr>
              <a:r>
                <a:rPr sz="1200" b="1" kern="0" spc="-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月台2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371"/>
                </a:spcBef>
                <a:tabLst/>
              </a:pPr>
              <a:r>
                <a:rPr sz="1200" b="1" kern="0" spc="8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月台</a:t>
              </a:r>
              <a:r>
                <a:rPr sz="1200" b="1" kern="0" spc="18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b="1" kern="0" spc="8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·</a:t>
              </a:r>
              <a:r>
                <a:rPr sz="1200" b="1" kern="0" spc="1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b="1" kern="0" spc="8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·</a:t>
              </a:r>
              <a:r>
                <a:rPr sz="1200" b="1" kern="0" spc="1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b="1" kern="0" spc="8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·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38759" algn="l" rtl="0" eaLnBrk="0">
                <a:lnSpc>
                  <a:spcPct val="86000"/>
                </a:lnSpc>
                <a:spcBef>
                  <a:spcPts val="362"/>
                </a:spcBef>
                <a:tabLst/>
              </a:pPr>
              <a:r>
                <a:rPr sz="1200" b="1" kern="0" spc="-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地磅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251459" algn="l" rtl="0" eaLnBrk="0">
                <a:lnSpc>
                  <a:spcPct val="85000"/>
                </a:lnSpc>
                <a:spcBef>
                  <a:spcPts val="2"/>
                </a:spcBef>
                <a:tabLst/>
              </a:pPr>
              <a:r>
                <a:rPr sz="1200" b="1" kern="0" spc="-8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出园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1048" name="textbox 1048"/>
            <p:cNvSpPr/>
            <p:nvPr/>
          </p:nvSpPr>
          <p:spPr>
            <a:xfrm>
              <a:off x="6265495" y="1143365"/>
              <a:ext cx="1393825" cy="41338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44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indent="3810" algn="l" rtl="0" eaLnBrk="0">
                <a:lnSpc>
                  <a:spcPct val="109000"/>
                </a:lnSpc>
                <a:tabLst/>
              </a:pPr>
              <a:r>
                <a:rPr sz="1200" kern="0" spc="-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不同地点之间的流转</a:t>
              </a:r>
              <a:r>
                <a:rPr sz="1200" kern="0" spc="-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启用特殊的排队规则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1050" name="textbox 1050"/>
          <p:cNvSpPr/>
          <p:nvPr/>
        </p:nvSpPr>
        <p:spPr>
          <a:xfrm>
            <a:off x="364439" y="346695"/>
            <a:ext cx="11233150" cy="523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88000"/>
              </a:lnSpc>
              <a:spcBef>
                <a:spcPts val="1"/>
              </a:spcBef>
              <a:tabLst>
                <a:tab pos="781050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单</a:t>
            </a:r>
            <a:r>
              <a:rPr sz="2700" kern="0" spc="-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、多月台活动             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52" name="picture 10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653026" y="381062"/>
            <a:ext cx="1931803" cy="412600"/>
          </a:xfrm>
          <a:prstGeom prst="rect">
            <a:avLst/>
          </a:prstGeom>
        </p:spPr>
      </p:pic>
      <p:pic>
        <p:nvPicPr>
          <p:cNvPr id="1054" name="picture 105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77139" y="359395"/>
            <a:ext cx="584153" cy="473386"/>
          </a:xfrm>
          <a:prstGeom prst="rect">
            <a:avLst/>
          </a:prstGeom>
        </p:spPr>
      </p:pic>
      <p:pic>
        <p:nvPicPr>
          <p:cNvPr id="1056" name="picture 105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05466" y="3733774"/>
            <a:ext cx="3253488" cy="1488073"/>
          </a:xfrm>
          <a:prstGeom prst="rect">
            <a:avLst/>
          </a:prstGeom>
        </p:spPr>
      </p:pic>
      <p:sp>
        <p:nvSpPr>
          <p:cNvPr id="1058" name="textbox 1058"/>
          <p:cNvSpPr/>
          <p:nvPr/>
        </p:nvSpPr>
        <p:spPr>
          <a:xfrm>
            <a:off x="611995" y="5341623"/>
            <a:ext cx="11205844" cy="396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7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按系统策略分配月台               生成多条任务流数据                                                                  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司机按照顺序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r" rtl="0" eaLnBrk="0">
              <a:lnSpc>
                <a:spcPct val="86000"/>
              </a:lnSpc>
              <a:spcBef>
                <a:spcPts val="210"/>
              </a:spcBef>
              <a:tabLst/>
            </a:pP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依次前往目标地点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60" name="picture 106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05466" y="1678964"/>
            <a:ext cx="2208047" cy="1488073"/>
          </a:xfrm>
          <a:prstGeom prst="rect">
            <a:avLst/>
          </a:prstGeom>
        </p:spPr>
      </p:pic>
      <p:sp>
        <p:nvSpPr>
          <p:cNvPr id="1062" name="textbox 1062"/>
          <p:cNvSpPr/>
          <p:nvPr/>
        </p:nvSpPr>
        <p:spPr>
          <a:xfrm>
            <a:off x="616099" y="3199241"/>
            <a:ext cx="1644014" cy="7994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5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3000"/>
              </a:lnSpc>
              <a:tabLst/>
            </a:pPr>
            <a:r>
              <a:rPr sz="1500" kern="0" spc="-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人为分配月台</a:t>
            </a:r>
            <a:r>
              <a:rPr sz="1500" kern="0" spc="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64" name="picture 106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827271" y="3256832"/>
            <a:ext cx="414037" cy="729052"/>
          </a:xfrm>
          <a:prstGeom prst="rect">
            <a:avLst/>
          </a:prstGeom>
        </p:spPr>
      </p:pic>
      <p:sp>
        <p:nvSpPr>
          <p:cNvPr id="1066" name="textbox 1066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8" name="picture 10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859269" y="1418259"/>
            <a:ext cx="2023833" cy="4272279"/>
          </a:xfrm>
          <a:prstGeom prst="rect">
            <a:avLst/>
          </a:prstGeom>
        </p:spPr>
      </p:pic>
      <p:pic>
        <p:nvPicPr>
          <p:cNvPr id="1070" name="picture 10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096333" y="1431026"/>
            <a:ext cx="1973238" cy="4234234"/>
          </a:xfrm>
          <a:prstGeom prst="rect">
            <a:avLst/>
          </a:prstGeom>
        </p:spPr>
      </p:pic>
      <p:sp>
        <p:nvSpPr>
          <p:cNvPr id="1072" name="textbox 1072"/>
          <p:cNvSpPr/>
          <p:nvPr/>
        </p:nvSpPr>
        <p:spPr>
          <a:xfrm>
            <a:off x="364439" y="346695"/>
            <a:ext cx="11233150" cy="5264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86000"/>
              </a:lnSpc>
              <a:spcBef>
                <a:spcPts val="3"/>
              </a:spcBef>
              <a:tabLst>
                <a:tab pos="77660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导航指引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       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74" name="picture 107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648582" y="381062"/>
            <a:ext cx="1931803" cy="412600"/>
          </a:xfrm>
          <a:prstGeom prst="rect">
            <a:avLst/>
          </a:prstGeom>
        </p:spPr>
      </p:pic>
      <p:pic>
        <p:nvPicPr>
          <p:cNvPr id="1076" name="picture 107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77139" y="359395"/>
            <a:ext cx="584153" cy="473386"/>
          </a:xfrm>
          <a:prstGeom prst="rect">
            <a:avLst/>
          </a:prstGeom>
        </p:spPr>
      </p:pic>
      <p:pic>
        <p:nvPicPr>
          <p:cNvPr id="1078" name="picture 107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01954" y="2621453"/>
            <a:ext cx="2504679" cy="1840689"/>
          </a:xfrm>
          <a:prstGeom prst="rect">
            <a:avLst/>
          </a:prstGeom>
        </p:spPr>
      </p:pic>
      <p:pic>
        <p:nvPicPr>
          <p:cNvPr id="1080" name="picture 108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929583" y="2746247"/>
            <a:ext cx="2457743" cy="1548384"/>
          </a:xfrm>
          <a:prstGeom prst="rect">
            <a:avLst/>
          </a:prstGeom>
        </p:spPr>
      </p:pic>
      <p:sp>
        <p:nvSpPr>
          <p:cNvPr id="1082" name="textbox 1082"/>
          <p:cNvSpPr/>
          <p:nvPr/>
        </p:nvSpPr>
        <p:spPr>
          <a:xfrm>
            <a:off x="800836" y="1582761"/>
            <a:ext cx="2680970" cy="5607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GPS</a:t>
            </a:r>
            <a:r>
              <a:rPr sz="1500" b="1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</a:t>
            </a: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RTK</a:t>
            </a:r>
            <a:r>
              <a:rPr sz="1500" b="1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基站导航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园内道路精准指引，偏航自动预警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4" name="textbox 1084"/>
          <p:cNvSpPr/>
          <p:nvPr/>
        </p:nvSpPr>
        <p:spPr>
          <a:xfrm>
            <a:off x="9278618" y="4450603"/>
            <a:ext cx="2499360" cy="384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7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电子围栏</a:t>
            </a:r>
            <a:r>
              <a:rPr sz="12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GPS</a:t>
            </a:r>
            <a:r>
              <a:rPr sz="12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动态捕捉车辆位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置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586740" algn="l" rtl="0" eaLnBrk="0">
              <a:lnSpc>
                <a:spcPct val="88000"/>
              </a:lnSpc>
              <a:spcBef>
                <a:spcPts val="307"/>
              </a:spcBef>
              <a:tabLst/>
            </a:pP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识别车辆进入月台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6" name="textbox 1086"/>
          <p:cNvSpPr/>
          <p:nvPr/>
        </p:nvSpPr>
        <p:spPr>
          <a:xfrm>
            <a:off x="6921758" y="5739443"/>
            <a:ext cx="1835785" cy="3848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2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60350" algn="l" rtl="0" eaLnBrk="0">
              <a:lnSpc>
                <a:spcPct val="89000"/>
              </a:lnSpc>
              <a:tabLst/>
            </a:pP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基于园区车流情况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8000"/>
              </a:lnSpc>
              <a:spcBef>
                <a:spcPts val="283"/>
              </a:spcBef>
              <a:tabLst/>
            </a:pP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进行路线指引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、偏航警告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textbox 1088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90" name="picture 109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6153774" y="3379551"/>
            <a:ext cx="617968" cy="293910"/>
          </a:xfrm>
          <a:prstGeom prst="rect">
            <a:avLst/>
          </a:prstGeom>
        </p:spPr>
      </p:pic>
      <p:pic>
        <p:nvPicPr>
          <p:cNvPr id="1092" name="picture 109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3378414" y="3379551"/>
            <a:ext cx="616620" cy="293910"/>
          </a:xfrm>
          <a:prstGeom prst="rect">
            <a:avLst/>
          </a:prstGeom>
        </p:spPr>
      </p:pic>
      <p:sp>
        <p:nvSpPr>
          <p:cNvPr id="1094" name="textbox 1094"/>
          <p:cNvSpPr/>
          <p:nvPr/>
        </p:nvSpPr>
        <p:spPr>
          <a:xfrm>
            <a:off x="4704936" y="5835120"/>
            <a:ext cx="725169" cy="2089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7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司机导肮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6" name="textbox 1096"/>
          <p:cNvSpPr/>
          <p:nvPr/>
        </p:nvSpPr>
        <p:spPr>
          <a:xfrm>
            <a:off x="1670118" y="4545692"/>
            <a:ext cx="725169" cy="207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6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司机入园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8" name="picture 10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378065" y="2059355"/>
            <a:ext cx="4094009" cy="2360638"/>
          </a:xfrm>
          <a:prstGeom prst="rect">
            <a:avLst/>
          </a:prstGeom>
        </p:spPr>
      </p:pic>
      <p:sp>
        <p:nvSpPr>
          <p:cNvPr id="1100" name="textbox 1100"/>
          <p:cNvSpPr/>
          <p:nvPr/>
        </p:nvSpPr>
        <p:spPr>
          <a:xfrm>
            <a:off x="364439" y="346695"/>
            <a:ext cx="11233150" cy="5226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87000"/>
              </a:lnSpc>
              <a:spcBef>
                <a:spcPts val="2"/>
              </a:spcBef>
              <a:tabLst>
                <a:tab pos="773430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地磅称重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       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102" name="picture 11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650486" y="381062"/>
            <a:ext cx="1931803" cy="412600"/>
          </a:xfrm>
          <a:prstGeom prst="rect">
            <a:avLst/>
          </a:prstGeom>
        </p:spPr>
      </p:pic>
      <p:pic>
        <p:nvPicPr>
          <p:cNvPr id="1104" name="picture 110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77139" y="359395"/>
            <a:ext cx="584153" cy="473386"/>
          </a:xfrm>
          <a:prstGeom prst="rect">
            <a:avLst/>
          </a:prstGeom>
        </p:spPr>
      </p:pic>
      <p:pic>
        <p:nvPicPr>
          <p:cNvPr id="1106" name="picture 110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89304" y="2294128"/>
            <a:ext cx="2542628" cy="1891118"/>
          </a:xfrm>
          <a:prstGeom prst="rect">
            <a:avLst/>
          </a:prstGeom>
        </p:spPr>
      </p:pic>
      <p:pic>
        <p:nvPicPr>
          <p:cNvPr id="1108" name="picture 110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096334" y="2306735"/>
            <a:ext cx="2492028" cy="1853296"/>
          </a:xfrm>
          <a:prstGeom prst="rect">
            <a:avLst/>
          </a:prstGeom>
        </p:spPr>
      </p:pic>
      <p:sp>
        <p:nvSpPr>
          <p:cNvPr id="1110" name="textbox 1110"/>
          <p:cNvSpPr/>
          <p:nvPr/>
        </p:nvSpPr>
        <p:spPr>
          <a:xfrm>
            <a:off x="7876729" y="4535178"/>
            <a:ext cx="3038475" cy="210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6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生成磅重记录，根据规则生成计算数据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12" name="textbox 1112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114" name="picture 11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672794" y="3064831"/>
            <a:ext cx="629204" cy="281664"/>
          </a:xfrm>
          <a:prstGeom prst="rect">
            <a:avLst/>
          </a:prstGeom>
        </p:spPr>
      </p:pic>
      <p:pic>
        <p:nvPicPr>
          <p:cNvPr id="1116" name="picture 11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378414" y="3064831"/>
            <a:ext cx="616620" cy="281664"/>
          </a:xfrm>
          <a:prstGeom prst="rect">
            <a:avLst/>
          </a:prstGeom>
        </p:spPr>
      </p:pic>
      <p:sp>
        <p:nvSpPr>
          <p:cNvPr id="1118" name="textbox 1118"/>
          <p:cNvSpPr/>
          <p:nvPr/>
        </p:nvSpPr>
        <p:spPr>
          <a:xfrm>
            <a:off x="4962000" y="4258357"/>
            <a:ext cx="727709" cy="2089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5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车辆称重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20" name="textbox 1120"/>
          <p:cNvSpPr/>
          <p:nvPr/>
        </p:nvSpPr>
        <p:spPr>
          <a:xfrm>
            <a:off x="1670118" y="4261212"/>
            <a:ext cx="725169" cy="207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6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司机入园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22" name="textbox 1122"/>
          <p:cNvSpPr/>
          <p:nvPr/>
        </p:nvSpPr>
        <p:spPr>
          <a:xfrm>
            <a:off x="6682363" y="3480965"/>
            <a:ext cx="578484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获取磅重</a:t>
            </a:r>
            <a:endParaRPr sz="11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24" name="textbox 1124"/>
          <p:cNvSpPr/>
          <p:nvPr/>
        </p:nvSpPr>
        <p:spPr>
          <a:xfrm>
            <a:off x="3385284" y="3483631"/>
            <a:ext cx="580390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3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指引称重</a:t>
            </a:r>
            <a:endParaRPr sz="11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textbox 1126"/>
          <p:cNvSpPr/>
          <p:nvPr/>
        </p:nvSpPr>
        <p:spPr>
          <a:xfrm>
            <a:off x="1462288" y="1819122"/>
            <a:ext cx="6316979" cy="899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9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0480" algn="l" rtl="0" eaLnBrk="0">
              <a:lnSpc>
                <a:spcPct val="87000"/>
              </a:lnSpc>
              <a:tabLst/>
            </a:pPr>
            <a:r>
              <a:rPr sz="1700" b="1" kern="0" spc="60" dirty="0">
                <a:solidFill>
                  <a:srgbClr val="D81E0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园区物流协同管理：</a:t>
            </a:r>
            <a:r>
              <a:rPr sz="1700" b="1" kern="0" spc="-130" dirty="0">
                <a:solidFill>
                  <a:srgbClr val="D81E0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60" dirty="0">
                <a:solidFill>
                  <a:srgbClr val="D81E0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出园作业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1000"/>
              </a:lnSpc>
              <a:spcBef>
                <a:spcPts val="1"/>
              </a:spcBef>
              <a:tabLst/>
            </a:pP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是司机完成作业后，</a:t>
            </a:r>
            <a:r>
              <a:rPr sz="1500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对以离开园区为目标时所产生的一切行为的管理</a:t>
            </a:r>
            <a:r>
              <a:rPr sz="1500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28" name="textbox 1128"/>
          <p:cNvSpPr/>
          <p:nvPr/>
        </p:nvSpPr>
        <p:spPr>
          <a:xfrm>
            <a:off x="364439" y="346695"/>
            <a:ext cx="11233150" cy="527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86000"/>
              </a:lnSpc>
              <a:spcBef>
                <a:spcPts val="1"/>
              </a:spcBef>
              <a:tabLst>
                <a:tab pos="80327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出园作业                                                                      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130" name="picture 11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644771" y="381062"/>
            <a:ext cx="1931803" cy="412600"/>
          </a:xfrm>
          <a:prstGeom prst="rect">
            <a:avLst/>
          </a:prstGeom>
        </p:spPr>
      </p:pic>
      <p:pic>
        <p:nvPicPr>
          <p:cNvPr id="1132" name="picture 11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77139" y="359395"/>
            <a:ext cx="584153" cy="473386"/>
          </a:xfrm>
          <a:prstGeom prst="rect">
            <a:avLst/>
          </a:prstGeom>
        </p:spPr>
      </p:pic>
      <p:sp>
        <p:nvSpPr>
          <p:cNvPr id="1134" name="textbox 1134"/>
          <p:cNvSpPr/>
          <p:nvPr/>
        </p:nvSpPr>
        <p:spPr>
          <a:xfrm>
            <a:off x="8305768" y="4309457"/>
            <a:ext cx="2475229" cy="8534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3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5000"/>
              </a:lnSpc>
              <a:tabLst/>
            </a:pPr>
            <a:r>
              <a:rPr sz="14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连接道闸</a:t>
            </a:r>
            <a:r>
              <a:rPr sz="1400" kern="0" spc="-1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，管理司机</a:t>
            </a:r>
            <a:r>
              <a:rPr sz="1400" kern="0" spc="-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出园行为，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2700" indent="3175" algn="l" rtl="0" eaLnBrk="0">
              <a:lnSpc>
                <a:spcPct val="151000"/>
              </a:lnSpc>
              <a:spcBef>
                <a:spcPts val="17"/>
              </a:spcBef>
              <a:tabLst/>
            </a:pP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不满足必要条件者</a:t>
            </a:r>
            <a:r>
              <a:rPr sz="1400" kern="0" spc="-1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，司机无法</a:t>
            </a:r>
            <a:r>
              <a:rPr sz="1400" kern="0" spc="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通过道闸出园。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36" name="textbox 1136"/>
          <p:cNvSpPr/>
          <p:nvPr/>
        </p:nvSpPr>
        <p:spPr>
          <a:xfrm>
            <a:off x="4883025" y="4310884"/>
            <a:ext cx="2333625" cy="8642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9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是发运业务中，装车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出园核查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3970" indent="10795" algn="l" rtl="0" eaLnBrk="0">
              <a:lnSpc>
                <a:spcPct val="154000"/>
              </a:lnSpc>
              <a:spcBef>
                <a:spcPts val="7"/>
              </a:spcBef>
              <a:tabLst/>
            </a:pP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的重要业务节点，</a:t>
            </a:r>
            <a:r>
              <a:rPr sz="1400" kern="0" spc="-2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同步多</a:t>
            </a: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个系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统</a:t>
            </a:r>
            <a:r>
              <a:rPr sz="14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，告知司机已经装车。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38" name="textbox 1138"/>
          <p:cNvSpPr/>
          <p:nvPr/>
        </p:nvSpPr>
        <p:spPr>
          <a:xfrm>
            <a:off x="1463493" y="4309814"/>
            <a:ext cx="2331720" cy="8515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8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79000"/>
              </a:lnSpc>
              <a:tabLst/>
            </a:pP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记录载货车辆出园信息的线上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154000"/>
              </a:lnSpc>
              <a:spcBef>
                <a:spcPts val="10"/>
              </a:spcBef>
              <a:tabLst/>
            </a:pP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凭证，有效管理司机携带货品</a:t>
            </a:r>
            <a:r>
              <a:rPr sz="1400" kern="0" spc="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及业务数据。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80" name="group 80"/>
          <p:cNvGrpSpPr/>
          <p:nvPr/>
        </p:nvGrpSpPr>
        <p:grpSpPr>
          <a:xfrm rot="21600000">
            <a:off x="1379219" y="3480815"/>
            <a:ext cx="2590800" cy="490728"/>
            <a:chOff x="0" y="0"/>
            <a:chExt cx="2590800" cy="490728"/>
          </a:xfrm>
        </p:grpSpPr>
        <p:sp>
          <p:nvSpPr>
            <p:cNvPr id="1140" name="path 1140"/>
            <p:cNvSpPr/>
            <p:nvPr/>
          </p:nvSpPr>
          <p:spPr>
            <a:xfrm>
              <a:off x="0" y="0"/>
              <a:ext cx="2590800" cy="490728"/>
            </a:xfrm>
            <a:custGeom>
              <a:avLst/>
              <a:gdLst/>
              <a:ahLst/>
              <a:cxnLst/>
              <a:rect l="0" t="0" r="0" b="0"/>
              <a:pathLst>
                <a:path w="4080" h="772">
                  <a:moveTo>
                    <a:pt x="0" y="0"/>
                  </a:moveTo>
                  <a:lnTo>
                    <a:pt x="3695" y="0"/>
                  </a:lnTo>
                  <a:lnTo>
                    <a:pt x="4080" y="386"/>
                  </a:lnTo>
                  <a:lnTo>
                    <a:pt x="3695" y="772"/>
                  </a:lnTo>
                  <a:lnTo>
                    <a:pt x="0" y="772"/>
                  </a:lnTo>
                  <a:lnTo>
                    <a:pt x="384" y="386"/>
                  </a:lnTo>
                  <a:lnTo>
                    <a:pt x="0" y="0"/>
                  </a:lnTo>
                </a:path>
              </a:pathLst>
            </a:custGeom>
            <a:solidFill>
              <a:srgbClr val="E52F3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42" name="textbox 1142"/>
            <p:cNvSpPr/>
            <p:nvPr/>
          </p:nvSpPr>
          <p:spPr>
            <a:xfrm>
              <a:off x="-12700" y="-12700"/>
              <a:ext cx="2616200" cy="52959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1025525" algn="l" rtl="0" eaLnBrk="0">
                <a:lnSpc>
                  <a:spcPct val="86000"/>
                </a:lnSpc>
                <a:spcBef>
                  <a:spcPts val="2"/>
                </a:spcBef>
                <a:tabLst/>
              </a:pPr>
              <a:r>
                <a:rPr sz="15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出门证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82" name="group 82"/>
          <p:cNvGrpSpPr/>
          <p:nvPr/>
        </p:nvGrpSpPr>
        <p:grpSpPr>
          <a:xfrm rot="21600000">
            <a:off x="4800600" y="3470148"/>
            <a:ext cx="2590800" cy="490727"/>
            <a:chOff x="0" y="0"/>
            <a:chExt cx="2590800" cy="490727"/>
          </a:xfrm>
        </p:grpSpPr>
        <p:sp>
          <p:nvSpPr>
            <p:cNvPr id="1144" name="path 1144"/>
            <p:cNvSpPr/>
            <p:nvPr/>
          </p:nvSpPr>
          <p:spPr>
            <a:xfrm>
              <a:off x="0" y="0"/>
              <a:ext cx="2590800" cy="490727"/>
            </a:xfrm>
            <a:custGeom>
              <a:avLst/>
              <a:gdLst/>
              <a:ahLst/>
              <a:cxnLst/>
              <a:rect l="0" t="0" r="0" b="0"/>
              <a:pathLst>
                <a:path w="4080" h="772">
                  <a:moveTo>
                    <a:pt x="0" y="0"/>
                  </a:moveTo>
                  <a:lnTo>
                    <a:pt x="3695" y="0"/>
                  </a:lnTo>
                  <a:lnTo>
                    <a:pt x="4080" y="386"/>
                  </a:lnTo>
                  <a:lnTo>
                    <a:pt x="3695" y="772"/>
                  </a:lnTo>
                  <a:lnTo>
                    <a:pt x="0" y="772"/>
                  </a:lnTo>
                  <a:lnTo>
                    <a:pt x="384" y="386"/>
                  </a:lnTo>
                  <a:lnTo>
                    <a:pt x="0" y="0"/>
                  </a:lnTo>
                </a:path>
              </a:pathLst>
            </a:custGeom>
            <a:solidFill>
              <a:srgbClr val="E52F3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46" name="textbox 1146"/>
            <p:cNvSpPr/>
            <p:nvPr/>
          </p:nvSpPr>
          <p:spPr>
            <a:xfrm>
              <a:off x="-12700" y="-12700"/>
              <a:ext cx="2616200" cy="5264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24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906780" algn="l" rtl="0" eaLnBrk="0">
                <a:lnSpc>
                  <a:spcPct val="87000"/>
                </a:lnSpc>
                <a:tabLst/>
              </a:pPr>
              <a:r>
                <a:rPr sz="1500" b="1" kern="0" spc="8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装车核准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84" name="group 84"/>
          <p:cNvGrpSpPr/>
          <p:nvPr/>
        </p:nvGrpSpPr>
        <p:grpSpPr>
          <a:xfrm rot="21600000">
            <a:off x="8221980" y="3470148"/>
            <a:ext cx="2590800" cy="490727"/>
            <a:chOff x="0" y="0"/>
            <a:chExt cx="2590800" cy="490727"/>
          </a:xfrm>
        </p:grpSpPr>
        <p:sp>
          <p:nvSpPr>
            <p:cNvPr id="1148" name="path 1148"/>
            <p:cNvSpPr/>
            <p:nvPr/>
          </p:nvSpPr>
          <p:spPr>
            <a:xfrm>
              <a:off x="0" y="0"/>
              <a:ext cx="2590800" cy="490727"/>
            </a:xfrm>
            <a:custGeom>
              <a:avLst/>
              <a:gdLst/>
              <a:ahLst/>
              <a:cxnLst/>
              <a:rect l="0" t="0" r="0" b="0"/>
              <a:pathLst>
                <a:path w="4080" h="772">
                  <a:moveTo>
                    <a:pt x="0" y="0"/>
                  </a:moveTo>
                  <a:lnTo>
                    <a:pt x="3695" y="0"/>
                  </a:lnTo>
                  <a:lnTo>
                    <a:pt x="4080" y="386"/>
                  </a:lnTo>
                  <a:lnTo>
                    <a:pt x="3695" y="772"/>
                  </a:lnTo>
                  <a:lnTo>
                    <a:pt x="0" y="772"/>
                  </a:lnTo>
                  <a:lnTo>
                    <a:pt x="383" y="386"/>
                  </a:lnTo>
                  <a:lnTo>
                    <a:pt x="0" y="0"/>
                  </a:lnTo>
                </a:path>
              </a:pathLst>
            </a:custGeom>
            <a:solidFill>
              <a:srgbClr val="E52F3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50" name="textbox 1150"/>
            <p:cNvSpPr/>
            <p:nvPr/>
          </p:nvSpPr>
          <p:spPr>
            <a:xfrm>
              <a:off x="-12700" y="-12700"/>
              <a:ext cx="2616200" cy="5264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5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906780" algn="l" rtl="0" eaLnBrk="0">
                <a:lnSpc>
                  <a:spcPct val="87000"/>
                </a:lnSpc>
                <a:spcBef>
                  <a:spcPts val="6"/>
                </a:spcBef>
                <a:tabLst/>
              </a:pPr>
              <a:r>
                <a:rPr sz="1500" b="1" kern="0" spc="8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道闸管控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1152" name="textbox 1152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4" name="picture 11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702936" y="1174469"/>
            <a:ext cx="2834942" cy="4917042"/>
          </a:xfrm>
          <a:prstGeom prst="rect">
            <a:avLst/>
          </a:prstGeom>
        </p:spPr>
      </p:pic>
      <p:grpSp>
        <p:nvGrpSpPr>
          <p:cNvPr id="86" name="group 86"/>
          <p:cNvGrpSpPr/>
          <p:nvPr/>
        </p:nvGrpSpPr>
        <p:grpSpPr>
          <a:xfrm rot="21600000">
            <a:off x="5764910" y="1936622"/>
            <a:ext cx="2931855" cy="3364229"/>
            <a:chOff x="0" y="0"/>
            <a:chExt cx="2931855" cy="3364229"/>
          </a:xfrm>
        </p:grpSpPr>
        <p:pic>
          <p:nvPicPr>
            <p:cNvPr id="1156" name="picture 115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2931855" cy="3364229"/>
            </a:xfrm>
            <a:prstGeom prst="rect">
              <a:avLst/>
            </a:prstGeom>
          </p:spPr>
        </p:pic>
        <p:sp>
          <p:nvSpPr>
            <p:cNvPr id="1158" name="textbox 1158"/>
            <p:cNvSpPr/>
            <p:nvPr/>
          </p:nvSpPr>
          <p:spPr>
            <a:xfrm>
              <a:off x="1721859" y="3121012"/>
              <a:ext cx="786130" cy="1822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049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6000"/>
                </a:lnSpc>
                <a:tabLst/>
              </a:pPr>
              <a:r>
                <a:rPr sz="1200" b="1" i="1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纸质出门证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1160" name="textbox 1160"/>
          <p:cNvSpPr/>
          <p:nvPr/>
        </p:nvSpPr>
        <p:spPr>
          <a:xfrm>
            <a:off x="364439" y="346695"/>
            <a:ext cx="11233150" cy="5283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86000"/>
              </a:lnSpc>
              <a:spcBef>
                <a:spcPts val="2"/>
              </a:spcBef>
              <a:tabLst>
                <a:tab pos="80327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出门证                        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162" name="picture 11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657471" y="381062"/>
            <a:ext cx="1931803" cy="412600"/>
          </a:xfrm>
          <a:prstGeom prst="rect">
            <a:avLst/>
          </a:prstGeom>
        </p:spPr>
      </p:pic>
      <p:pic>
        <p:nvPicPr>
          <p:cNvPr id="1164" name="picture 116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77139" y="359395"/>
            <a:ext cx="584153" cy="473386"/>
          </a:xfrm>
          <a:prstGeom prst="rect">
            <a:avLst/>
          </a:prstGeom>
        </p:spPr>
      </p:pic>
      <p:sp>
        <p:nvSpPr>
          <p:cNvPr id="1166" name="textbox 1166"/>
          <p:cNvSpPr/>
          <p:nvPr/>
        </p:nvSpPr>
        <p:spPr>
          <a:xfrm>
            <a:off x="799486" y="1703849"/>
            <a:ext cx="4620259" cy="815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839"/>
              </a:lnSpc>
              <a:tabLst/>
            </a:pPr>
            <a:r>
              <a:rPr sz="1400" kern="0" spc="-20" dirty="0">
                <a:solidFill>
                  <a:srgbClr val="FABE0A">
                    <a:alpha val="100000"/>
                  </a:srgbClr>
                </a:solidFill>
                <a:latin typeface="Arial"/>
                <a:ea typeface="Arial"/>
                <a:cs typeface="Arial"/>
              </a:rPr>
              <a:t>!</a:t>
            </a:r>
            <a:r>
              <a:rPr sz="1400" kern="0" spc="-20" dirty="0">
                <a:solidFill>
                  <a:srgbClr val="FABE0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园区对出园车辆物资核查严格，</a:t>
            </a: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传统纸质出门证易丢。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348615" indent="-147320" algn="l" rtl="0" eaLnBrk="0">
              <a:lnSpc>
                <a:spcPct val="114000"/>
              </a:lnSpc>
              <a:spcBef>
                <a:spcPts val="3"/>
              </a:spcBef>
              <a:tabLst>
                <a:tab pos="345440" algn="l"/>
              </a:tabLst>
            </a:pP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通过线上记录司机出园携带物料信息</a:t>
            </a:r>
            <a:r>
              <a:rPr sz="1400" kern="0" spc="-1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，生成电子出门，</a:t>
            </a: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实现数字化管理。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168" name="picture 116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12186" y="2093976"/>
            <a:ext cx="189186" cy="121920"/>
          </a:xfrm>
          <a:prstGeom prst="rect">
            <a:avLst/>
          </a:prstGeom>
        </p:spPr>
      </p:pic>
      <p:sp>
        <p:nvSpPr>
          <p:cNvPr id="1170" name="textbox 1170"/>
          <p:cNvSpPr/>
          <p:nvPr/>
        </p:nvSpPr>
        <p:spPr>
          <a:xfrm>
            <a:off x="1246929" y="3849563"/>
            <a:ext cx="4107179" cy="5308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6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87000"/>
              </a:lnSpc>
              <a:tabLst/>
            </a:pPr>
            <a:r>
              <a:rPr sz="15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高效性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spcBef>
                <a:spcPts val="1"/>
              </a:spcBef>
              <a:tabLst/>
            </a:pP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安防快速核查，减少排队等待时</a:t>
            </a:r>
            <a:r>
              <a:rPr sz="1400" kern="0" spc="-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间，提升通行效率。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72" name="textbox 1172"/>
          <p:cNvSpPr/>
          <p:nvPr/>
        </p:nvSpPr>
        <p:spPr>
          <a:xfrm>
            <a:off x="1244431" y="4707936"/>
            <a:ext cx="4109084" cy="5276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3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7000"/>
              </a:lnSpc>
              <a:tabLst/>
            </a:pP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可追溯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spcBef>
                <a:spcPts val="2"/>
              </a:spcBef>
              <a:tabLst/>
            </a:pP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物资出园历史全程留痕，便于后续审</a:t>
            </a:r>
            <a:r>
              <a:rPr sz="1400" kern="0" spc="-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计与问题追溯。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74" name="textbox 1174"/>
          <p:cNvSpPr/>
          <p:nvPr/>
        </p:nvSpPr>
        <p:spPr>
          <a:xfrm>
            <a:off x="1243655" y="2996254"/>
            <a:ext cx="3932554" cy="5264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34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5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便捷性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6"/>
              </a:spcBef>
              <a:tabLst/>
            </a:pPr>
            <a:r>
              <a:rPr sz="1400" kern="0" spc="-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司机一键查看电子证，无需携带和出示纸质单据。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76" name="textbox 1176"/>
          <p:cNvSpPr/>
          <p:nvPr/>
        </p:nvSpPr>
        <p:spPr>
          <a:xfrm>
            <a:off x="10399776" y="5698235"/>
            <a:ext cx="1080769" cy="277495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4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58445" algn="l" rtl="0" eaLnBrk="0">
              <a:lnSpc>
                <a:spcPct val="86000"/>
              </a:lnSpc>
              <a:spcBef>
                <a:spcPts val="1"/>
              </a:spcBef>
              <a:tabLst/>
            </a:pPr>
            <a:r>
              <a:rPr sz="1200" b="1" i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电子出门证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78" name="textbox 1178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180" name="picture 118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28381" y="3061165"/>
            <a:ext cx="397630" cy="372778"/>
          </a:xfrm>
          <a:prstGeom prst="rect">
            <a:avLst/>
          </a:prstGeom>
        </p:spPr>
      </p:pic>
      <p:pic>
        <p:nvPicPr>
          <p:cNvPr id="1182" name="picture 118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28381" y="3917311"/>
            <a:ext cx="397630" cy="372778"/>
          </a:xfrm>
          <a:prstGeom prst="rect">
            <a:avLst/>
          </a:prstGeom>
        </p:spPr>
      </p:pic>
      <p:pic>
        <p:nvPicPr>
          <p:cNvPr id="1184" name="picture 118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728381" y="4772181"/>
            <a:ext cx="397630" cy="36321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6" name="picture 11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01151" y="1733541"/>
            <a:ext cx="3560861" cy="1807649"/>
          </a:xfrm>
          <a:prstGeom prst="rect">
            <a:avLst/>
          </a:prstGeom>
        </p:spPr>
      </p:pic>
      <p:pic>
        <p:nvPicPr>
          <p:cNvPr id="1188" name="picture 11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01151" y="3673339"/>
            <a:ext cx="3560861" cy="1807612"/>
          </a:xfrm>
          <a:prstGeom prst="rect">
            <a:avLst/>
          </a:prstGeom>
        </p:spPr>
      </p:pic>
      <p:sp>
        <p:nvSpPr>
          <p:cNvPr id="1190" name="textbox 1190"/>
          <p:cNvSpPr/>
          <p:nvPr/>
        </p:nvSpPr>
        <p:spPr>
          <a:xfrm>
            <a:off x="6096741" y="1388449"/>
            <a:ext cx="1450339" cy="44221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54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954" algn="l" rtl="0" eaLnBrk="0">
              <a:lnSpc>
                <a:spcPct val="106000"/>
              </a:lnSpc>
              <a:tabLst/>
            </a:pPr>
            <a:r>
              <a:rPr sz="1400" kern="0" spc="-2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车辆装货完成后</a:t>
            </a:r>
            <a:r>
              <a:rPr sz="1400" kern="0" spc="1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1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告知TMS系统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0320" indent="-8254" algn="l" rtl="0" eaLnBrk="0">
              <a:lnSpc>
                <a:spcPct val="118000"/>
              </a:lnSpc>
              <a:spcBef>
                <a:spcPts val="423"/>
              </a:spcBef>
              <a:tabLst/>
            </a:pPr>
            <a:r>
              <a:rPr sz="1400" kern="0" spc="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TMS系统对出园 </a:t>
            </a:r>
            <a:r>
              <a:rPr sz="1400" kern="0" spc="-2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车辆进行核查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590" indent="-3175" algn="l" rtl="0" eaLnBrk="0">
              <a:lnSpc>
                <a:spcPct val="118000"/>
              </a:lnSpc>
              <a:spcBef>
                <a:spcPts val="424"/>
              </a:spcBef>
              <a:tabLst/>
            </a:pPr>
            <a:r>
              <a:rPr sz="1400" kern="0" spc="-1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核查通过告知车辆</a:t>
            </a:r>
            <a:r>
              <a:rPr sz="1400" kern="0" spc="-2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可以出园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1590" indent="-635" algn="l" rtl="0" eaLnBrk="0">
              <a:lnSpc>
                <a:spcPct val="118000"/>
              </a:lnSpc>
              <a:spcBef>
                <a:spcPts val="3"/>
              </a:spcBef>
              <a:tabLst/>
            </a:pPr>
            <a:r>
              <a:rPr sz="1400" kern="0" spc="-2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车辆可通过门闸</a:t>
            </a:r>
            <a:r>
              <a:rPr sz="1400" kern="0" spc="1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3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离开园区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88" name="group 88"/>
          <p:cNvGrpSpPr/>
          <p:nvPr/>
        </p:nvGrpSpPr>
        <p:grpSpPr>
          <a:xfrm rot="21600000">
            <a:off x="7976616" y="3278123"/>
            <a:ext cx="3511295" cy="1669127"/>
            <a:chOff x="0" y="0"/>
            <a:chExt cx="3511295" cy="1669127"/>
          </a:xfrm>
        </p:grpSpPr>
        <p:sp>
          <p:nvSpPr>
            <p:cNvPr id="1192" name="path 1192"/>
            <p:cNvSpPr/>
            <p:nvPr/>
          </p:nvSpPr>
          <p:spPr>
            <a:xfrm>
              <a:off x="0" y="0"/>
              <a:ext cx="3511295" cy="1871446"/>
            </a:xfrm>
            <a:custGeom>
              <a:avLst/>
              <a:gdLst/>
              <a:ahLst/>
              <a:cxnLst/>
              <a:rect l="0" t="0" r="0" b="0"/>
              <a:pathLst>
                <a:path w="5529" h="2947">
                  <a:moveTo>
                    <a:pt x="0" y="0"/>
                  </a:moveTo>
                  <a:moveTo>
                    <a:pt x="0" y="0"/>
                  </a:moveTo>
                  <a:lnTo>
                    <a:pt x="5529" y="0"/>
                  </a:lnTo>
                  <a:lnTo>
                    <a:pt x="5529" y="2133"/>
                  </a:lnTo>
                  <a:cubicBezTo>
                    <a:pt x="2765" y="2133"/>
                    <a:pt x="2765" y="2947"/>
                    <a:pt x="0" y="2483"/>
                  </a:cubicBezTo>
                  <a:lnTo>
                    <a:pt x="0" y="0"/>
                  </a:lnTo>
                </a:path>
              </a:pathLst>
            </a:custGeom>
            <a:solidFill>
              <a:srgbClr val="F5F5F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94" name="textbox 1194"/>
            <p:cNvSpPr/>
            <p:nvPr/>
          </p:nvSpPr>
          <p:spPr>
            <a:xfrm>
              <a:off x="-12700" y="-12700"/>
              <a:ext cx="3536950" cy="169926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6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09220" algn="l" rtl="0" eaLnBrk="0">
                <a:lnSpc>
                  <a:spcPct val="87000"/>
                </a:lnSpc>
                <a:spcBef>
                  <a:spcPts val="5"/>
                </a:spcBef>
                <a:tabLst/>
              </a:pPr>
              <a:r>
                <a:rPr sz="1400" b="1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核准信息：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  <a:p>
              <a:pPr marL="109220" algn="l" rtl="0" eaLnBrk="0">
                <a:lnSpc>
                  <a:spcPct val="87000"/>
                </a:lnSpc>
                <a:spcBef>
                  <a:spcPts val="786"/>
                </a:spcBef>
                <a:tabLst/>
              </a:pPr>
              <a:r>
                <a:rPr sz="1200" kern="0" spc="-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装车凭证：提货单</a:t>
              </a:r>
              <a:r>
                <a:rPr sz="1200" kern="0" spc="-20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、装车单上</a:t>
              </a:r>
              <a:r>
                <a:rPr sz="1200" kern="0" spc="-2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传同步；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109854" algn="l" rtl="0" eaLnBrk="0">
                <a:lnSpc>
                  <a:spcPct val="87000"/>
                </a:lnSpc>
                <a:spcBef>
                  <a:spcPts val="557"/>
                </a:spcBef>
                <a:tabLst/>
              </a:pPr>
              <a:r>
                <a:rPr sz="1200" kern="0" spc="-2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现场作业情况：装车照片</a:t>
              </a:r>
              <a:r>
                <a:rPr sz="1200" kern="0" spc="-8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、车辆照片；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09854" algn="l" rtl="0" eaLnBrk="0">
                <a:lnSpc>
                  <a:spcPct val="87000"/>
                </a:lnSpc>
                <a:spcBef>
                  <a:spcPts val="3"/>
                </a:spcBef>
                <a:tabLst/>
              </a:pPr>
              <a:r>
                <a:rPr sz="1200" kern="0" spc="-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物料情况：装车的物料情况，数量</a:t>
              </a:r>
              <a:r>
                <a:rPr sz="1200" kern="0" spc="-13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、实物照片等</a:t>
              </a:r>
              <a:r>
                <a:rPr sz="1200" kern="0" spc="-2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-2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1196" name="textbox 1196"/>
          <p:cNvSpPr/>
          <p:nvPr/>
        </p:nvSpPr>
        <p:spPr>
          <a:xfrm>
            <a:off x="364439" y="346695"/>
            <a:ext cx="11233150" cy="5232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87000"/>
              </a:lnSpc>
              <a:tabLst>
                <a:tab pos="772794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装车核准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       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198" name="picture 119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649852" y="381062"/>
            <a:ext cx="1931803" cy="412600"/>
          </a:xfrm>
          <a:prstGeom prst="rect">
            <a:avLst/>
          </a:prstGeom>
        </p:spPr>
      </p:pic>
      <p:pic>
        <p:nvPicPr>
          <p:cNvPr id="1200" name="picture 120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77139" y="359395"/>
            <a:ext cx="584153" cy="473386"/>
          </a:xfrm>
          <a:prstGeom prst="rect">
            <a:avLst/>
          </a:prstGeom>
        </p:spPr>
      </p:pic>
      <p:sp>
        <p:nvSpPr>
          <p:cNvPr id="1202" name="textbox 1202"/>
          <p:cNvSpPr/>
          <p:nvPr/>
        </p:nvSpPr>
        <p:spPr>
          <a:xfrm>
            <a:off x="8036907" y="2255460"/>
            <a:ext cx="3480434" cy="5010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9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575" indent="-16509" algn="l" rtl="0" eaLnBrk="0">
              <a:lnSpc>
                <a:spcPct val="114000"/>
              </a:lnSpc>
              <a:tabLst/>
            </a:pP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YMS系统将装车情况同步给上游/下游系统，</a:t>
            </a: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同步发运业务的装车情况并请求核实。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04" name="picture 120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888039" y="1286878"/>
            <a:ext cx="262001" cy="4585601"/>
          </a:xfrm>
          <a:prstGeom prst="rect">
            <a:avLst/>
          </a:prstGeom>
        </p:spPr>
      </p:pic>
      <p:pic>
        <p:nvPicPr>
          <p:cNvPr id="1206" name="picture 120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389245" y="2649093"/>
            <a:ext cx="557212" cy="532447"/>
          </a:xfrm>
          <a:prstGeom prst="rect">
            <a:avLst/>
          </a:prstGeom>
        </p:spPr>
      </p:pic>
      <p:pic>
        <p:nvPicPr>
          <p:cNvPr id="1208" name="picture 120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417820" y="1336547"/>
            <a:ext cx="539496" cy="539496"/>
          </a:xfrm>
          <a:prstGeom prst="rect">
            <a:avLst/>
          </a:prstGeom>
        </p:spPr>
      </p:pic>
      <p:pic>
        <p:nvPicPr>
          <p:cNvPr id="1210" name="picture 12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417820" y="3974591"/>
            <a:ext cx="539496" cy="539496"/>
          </a:xfrm>
          <a:prstGeom prst="rect">
            <a:avLst/>
          </a:prstGeom>
        </p:spPr>
      </p:pic>
      <p:pic>
        <p:nvPicPr>
          <p:cNvPr id="1212" name="picture 12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5416295" y="5289803"/>
            <a:ext cx="539496" cy="539496"/>
          </a:xfrm>
          <a:prstGeom prst="rect">
            <a:avLst/>
          </a:prstGeom>
        </p:spPr>
      </p:pic>
      <p:sp>
        <p:nvSpPr>
          <p:cNvPr id="1214" name="textbox 1214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16" name="textbox 1216"/>
          <p:cNvSpPr/>
          <p:nvPr/>
        </p:nvSpPr>
        <p:spPr>
          <a:xfrm>
            <a:off x="5447161" y="2721210"/>
            <a:ext cx="412115" cy="1924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3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sz="1400" b="1" kern="0" spc="-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TMS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" name="picture 12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550322" y="2243871"/>
            <a:ext cx="5685232" cy="2756877"/>
          </a:xfrm>
          <a:prstGeom prst="rect">
            <a:avLst/>
          </a:prstGeom>
        </p:spPr>
      </p:pic>
      <p:pic>
        <p:nvPicPr>
          <p:cNvPr id="1220" name="picture 12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11748" y="2367370"/>
            <a:ext cx="3652790" cy="2509957"/>
          </a:xfrm>
          <a:prstGeom prst="rect">
            <a:avLst/>
          </a:prstGeom>
        </p:spPr>
      </p:pic>
      <p:sp>
        <p:nvSpPr>
          <p:cNvPr id="1222" name="textbox 1222"/>
          <p:cNvSpPr/>
          <p:nvPr/>
        </p:nvSpPr>
        <p:spPr>
          <a:xfrm>
            <a:off x="364439" y="346695"/>
            <a:ext cx="11233150" cy="5226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87000"/>
              </a:lnSpc>
              <a:spcBef>
                <a:spcPts val="3"/>
              </a:spcBef>
              <a:tabLst>
                <a:tab pos="773430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道闸管控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       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24" name="picture 12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650486" y="381062"/>
            <a:ext cx="1931803" cy="412600"/>
          </a:xfrm>
          <a:prstGeom prst="rect">
            <a:avLst/>
          </a:prstGeom>
        </p:spPr>
      </p:pic>
      <p:pic>
        <p:nvPicPr>
          <p:cNvPr id="1226" name="picture 12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77139" y="359395"/>
            <a:ext cx="584153" cy="473386"/>
          </a:xfrm>
          <a:prstGeom prst="rect">
            <a:avLst/>
          </a:prstGeom>
        </p:spPr>
      </p:pic>
      <p:sp>
        <p:nvSpPr>
          <p:cNvPr id="1228" name="textbox 1228"/>
          <p:cNvSpPr/>
          <p:nvPr/>
        </p:nvSpPr>
        <p:spPr>
          <a:xfrm>
            <a:off x="7028547" y="5584605"/>
            <a:ext cx="269303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2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indent="-1270" algn="l" rtl="0" eaLnBrk="0">
              <a:lnSpc>
                <a:spcPct val="109000"/>
              </a:lnSpc>
              <a:tabLst/>
            </a:pPr>
            <a:r>
              <a:rPr sz="1400" kern="0" spc="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根据车辆作业情况，经过</a:t>
            </a:r>
            <a:r>
              <a:rPr sz="1400" kern="0" spc="-1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业务校验</a:t>
            </a:r>
            <a:r>
              <a:rPr sz="1400" kern="0" spc="-1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可自动 /</a:t>
            </a:r>
            <a:r>
              <a:rPr sz="1400" kern="0" spc="11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1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人工开闸门，放车辆出</a:t>
            </a:r>
            <a:r>
              <a:rPr sz="1400" kern="0" spc="-2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30" name="textbox 1230"/>
          <p:cNvSpPr/>
          <p:nvPr/>
        </p:nvSpPr>
        <p:spPr>
          <a:xfrm>
            <a:off x="8008807" y="1187340"/>
            <a:ext cx="1264919" cy="4673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6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400" kern="0" spc="-2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道闸识别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86000"/>
              </a:lnSpc>
              <a:spcBef>
                <a:spcPts val="2"/>
              </a:spcBef>
              <a:tabLst/>
            </a:pPr>
            <a:r>
              <a:rPr sz="1400" kern="0" spc="-2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生成出入园申请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32" name="picture 12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379207" y="1056132"/>
            <a:ext cx="646176" cy="576071"/>
          </a:xfrm>
          <a:prstGeom prst="rect">
            <a:avLst/>
          </a:prstGeom>
        </p:spPr>
      </p:pic>
      <p:sp>
        <p:nvSpPr>
          <p:cNvPr id="1234" name="textbox 1234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36" name="picture 123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267051" y="1790529"/>
            <a:ext cx="221419" cy="413475"/>
          </a:xfrm>
          <a:prstGeom prst="rect">
            <a:avLst/>
          </a:prstGeom>
        </p:spPr>
      </p:pic>
      <p:pic>
        <p:nvPicPr>
          <p:cNvPr id="1238" name="picture 123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267051" y="5048371"/>
            <a:ext cx="221419" cy="402873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textbox 1240"/>
          <p:cNvSpPr/>
          <p:nvPr/>
        </p:nvSpPr>
        <p:spPr>
          <a:xfrm>
            <a:off x="364439" y="346695"/>
            <a:ext cx="11233150" cy="520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4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88000"/>
              </a:lnSpc>
              <a:spcBef>
                <a:spcPts val="2"/>
              </a:spcBef>
              <a:tabLst>
                <a:tab pos="763269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YMS</a:t>
            </a:r>
            <a:r>
              <a:rPr sz="2700" kern="0" spc="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系统基础应用功能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42" name="picture 12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648263" y="381062"/>
            <a:ext cx="1931803" cy="412600"/>
          </a:xfrm>
          <a:prstGeom prst="rect">
            <a:avLst/>
          </a:prstGeom>
        </p:spPr>
      </p:pic>
      <p:pic>
        <p:nvPicPr>
          <p:cNvPr id="1244" name="picture 12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77139" y="359395"/>
            <a:ext cx="584153" cy="473386"/>
          </a:xfrm>
          <a:prstGeom prst="rect">
            <a:avLst/>
          </a:prstGeom>
        </p:spPr>
      </p:pic>
      <p:sp>
        <p:nvSpPr>
          <p:cNvPr id="1246" name="textbox 1246"/>
          <p:cNvSpPr/>
          <p:nvPr/>
        </p:nvSpPr>
        <p:spPr>
          <a:xfrm>
            <a:off x="1462895" y="1817751"/>
            <a:ext cx="3458209" cy="8947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7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844" algn="l" rtl="0" eaLnBrk="0">
              <a:lnSpc>
                <a:spcPct val="87000"/>
              </a:lnSpc>
              <a:tabLst/>
            </a:pPr>
            <a:r>
              <a:rPr sz="1700" b="1" kern="0" spc="80" dirty="0">
                <a:solidFill>
                  <a:srgbClr val="D81E0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园区物流协同管理：</a:t>
            </a:r>
            <a:r>
              <a:rPr sz="1700" b="1" kern="0" spc="-330" dirty="0">
                <a:solidFill>
                  <a:srgbClr val="D81E0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D81E0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基础应用功</a:t>
            </a:r>
            <a:r>
              <a:rPr sz="1700" b="1" kern="0" spc="70" dirty="0">
                <a:solidFill>
                  <a:srgbClr val="D81E0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保证系统基础运行的底层系统架构</a:t>
            </a:r>
            <a:r>
              <a:rPr sz="1500" kern="0" spc="-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48" name="textbox 1248"/>
          <p:cNvSpPr/>
          <p:nvPr/>
        </p:nvSpPr>
        <p:spPr>
          <a:xfrm>
            <a:off x="8305768" y="4309457"/>
            <a:ext cx="2475229" cy="8534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3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5000"/>
              </a:lnSpc>
              <a:tabLst/>
            </a:pPr>
            <a:r>
              <a:rPr sz="14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连接道闸</a:t>
            </a:r>
            <a:r>
              <a:rPr sz="1400" kern="0" spc="-1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，管理司机</a:t>
            </a:r>
            <a:r>
              <a:rPr sz="1400" kern="0" spc="-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出园行为，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2700" indent="3175" algn="l" rtl="0" eaLnBrk="0">
              <a:lnSpc>
                <a:spcPct val="151000"/>
              </a:lnSpc>
              <a:spcBef>
                <a:spcPts val="17"/>
              </a:spcBef>
              <a:tabLst/>
            </a:pP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不满足必要条件者</a:t>
            </a:r>
            <a:r>
              <a:rPr sz="1400" kern="0" spc="-1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，司机无法</a:t>
            </a:r>
            <a:r>
              <a:rPr sz="1400" kern="0" spc="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通过道闸出园。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50" name="textbox 1250"/>
          <p:cNvSpPr/>
          <p:nvPr/>
        </p:nvSpPr>
        <p:spPr>
          <a:xfrm>
            <a:off x="4883025" y="4310884"/>
            <a:ext cx="2333625" cy="8642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9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是发运业务中，装车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出园核查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3970" indent="10795" algn="l" rtl="0" eaLnBrk="0">
              <a:lnSpc>
                <a:spcPct val="154000"/>
              </a:lnSpc>
              <a:spcBef>
                <a:spcPts val="7"/>
              </a:spcBef>
              <a:tabLst/>
            </a:pP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的重要业务节点，</a:t>
            </a:r>
            <a:r>
              <a:rPr sz="1400" kern="0" spc="-2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同步多</a:t>
            </a: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个系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统</a:t>
            </a:r>
            <a:r>
              <a:rPr sz="14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，告知司机已经装车。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52" name="textbox 1252"/>
          <p:cNvSpPr/>
          <p:nvPr/>
        </p:nvSpPr>
        <p:spPr>
          <a:xfrm>
            <a:off x="1463493" y="4309814"/>
            <a:ext cx="2331720" cy="8515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8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79000"/>
              </a:lnSpc>
              <a:tabLst/>
            </a:pP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记录载货车辆出园信息的线上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154000"/>
              </a:lnSpc>
              <a:spcBef>
                <a:spcPts val="10"/>
              </a:spcBef>
              <a:tabLst/>
            </a:pP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凭证，有效管理司机携带货品</a:t>
            </a:r>
            <a:r>
              <a:rPr sz="1400" kern="0" spc="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及业务数据。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54" name="textbox 1254"/>
          <p:cNvSpPr/>
          <p:nvPr/>
        </p:nvSpPr>
        <p:spPr>
          <a:xfrm>
            <a:off x="1379219" y="3480815"/>
            <a:ext cx="2590800" cy="490855"/>
          </a:xfrm>
          <a:prstGeom prst="rect">
            <a:avLst/>
          </a:prstGeom>
          <a:solidFill>
            <a:srgbClr val="E52F3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894080" algn="l" rtl="0" eaLnBrk="0">
              <a:lnSpc>
                <a:spcPct val="87000"/>
              </a:lnSpc>
              <a:spcBef>
                <a:spcPts val="7"/>
              </a:spcBef>
              <a:tabLst/>
            </a:pPr>
            <a:r>
              <a:rPr sz="1500" b="1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基础功能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56" name="textbox 1256"/>
          <p:cNvSpPr/>
          <p:nvPr/>
        </p:nvSpPr>
        <p:spPr>
          <a:xfrm>
            <a:off x="4800600" y="3470148"/>
            <a:ext cx="2590800" cy="490855"/>
          </a:xfrm>
          <a:prstGeom prst="rect">
            <a:avLst/>
          </a:prstGeom>
          <a:solidFill>
            <a:srgbClr val="E52F3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89535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1500" b="1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策略配置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58" name="textbox 1258"/>
          <p:cNvSpPr/>
          <p:nvPr/>
        </p:nvSpPr>
        <p:spPr>
          <a:xfrm>
            <a:off x="8221980" y="3470148"/>
            <a:ext cx="2590800" cy="490855"/>
          </a:xfrm>
          <a:prstGeom prst="rect">
            <a:avLst/>
          </a:prstGeom>
          <a:solidFill>
            <a:srgbClr val="E52F3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897255" algn="l" rtl="0" eaLnBrk="0">
              <a:lnSpc>
                <a:spcPct val="86000"/>
              </a:lnSpc>
              <a:spcBef>
                <a:spcPts val="5"/>
              </a:spcBef>
              <a:tabLst/>
            </a:pPr>
            <a:r>
              <a:rPr sz="15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二次开发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60" name="textbox 1260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2" name="picture 12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351247" y="1926218"/>
            <a:ext cx="5248454" cy="3769276"/>
          </a:xfrm>
          <a:prstGeom prst="rect">
            <a:avLst/>
          </a:prstGeom>
        </p:spPr>
      </p:pic>
      <p:pic>
        <p:nvPicPr>
          <p:cNvPr id="1264" name="picture 12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20156" y="2268927"/>
            <a:ext cx="5248454" cy="3083859"/>
          </a:xfrm>
          <a:prstGeom prst="rect">
            <a:avLst/>
          </a:prstGeom>
        </p:spPr>
      </p:pic>
      <p:sp>
        <p:nvSpPr>
          <p:cNvPr id="1266" name="textbox 1266"/>
          <p:cNvSpPr/>
          <p:nvPr/>
        </p:nvSpPr>
        <p:spPr>
          <a:xfrm>
            <a:off x="364439" y="346695"/>
            <a:ext cx="11233150" cy="5276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87000"/>
              </a:lnSpc>
              <a:spcBef>
                <a:spcPts val="1"/>
              </a:spcBef>
              <a:tabLst>
                <a:tab pos="773430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基础功能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       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68" name="picture 126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650486" y="381062"/>
            <a:ext cx="1931803" cy="412600"/>
          </a:xfrm>
          <a:prstGeom prst="rect">
            <a:avLst/>
          </a:prstGeom>
        </p:spPr>
      </p:pic>
      <p:pic>
        <p:nvPicPr>
          <p:cNvPr id="1270" name="picture 127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77139" y="359395"/>
            <a:ext cx="584153" cy="473386"/>
          </a:xfrm>
          <a:prstGeom prst="rect">
            <a:avLst/>
          </a:prstGeom>
        </p:spPr>
      </p:pic>
      <p:sp>
        <p:nvSpPr>
          <p:cNvPr id="1272" name="textbox 1272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74" name="textbox 1274"/>
          <p:cNvSpPr/>
          <p:nvPr/>
        </p:nvSpPr>
        <p:spPr>
          <a:xfrm>
            <a:off x="6362722" y="1823575"/>
            <a:ext cx="1023619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2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500" b="1" kern="0" spc="6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系统配置 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76" name="picture 127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216479" y="1890826"/>
            <a:ext cx="144005" cy="113029"/>
          </a:xfrm>
          <a:prstGeom prst="rect">
            <a:avLst/>
          </a:prstGeom>
        </p:spPr>
      </p:pic>
      <p:sp>
        <p:nvSpPr>
          <p:cNvPr id="1278" name="textbox 1278"/>
          <p:cNvSpPr/>
          <p:nvPr/>
        </p:nvSpPr>
        <p:spPr>
          <a:xfrm>
            <a:off x="799569" y="1826005"/>
            <a:ext cx="1025525" cy="2241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2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500" b="1" kern="0" spc="6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基础资料 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80" name="picture 128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653327" y="1890826"/>
            <a:ext cx="144005" cy="113029"/>
          </a:xfrm>
          <a:prstGeom prst="rect">
            <a:avLst/>
          </a:prstGeom>
        </p:spPr>
      </p:pic>
      <p:pic>
        <p:nvPicPr>
          <p:cNvPr id="1282" name="picture 128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05180" y="2186165"/>
            <a:ext cx="1007999" cy="7620"/>
          </a:xfrm>
          <a:prstGeom prst="rect">
            <a:avLst/>
          </a:prstGeom>
        </p:spPr>
      </p:pic>
      <p:pic>
        <p:nvPicPr>
          <p:cNvPr id="1284" name="picture 128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6366509" y="2186165"/>
            <a:ext cx="1007998" cy="762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6" name="picture 12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787826" y="1595420"/>
            <a:ext cx="7993162" cy="3750503"/>
          </a:xfrm>
          <a:prstGeom prst="rect">
            <a:avLst/>
          </a:prstGeom>
        </p:spPr>
      </p:pic>
      <p:sp>
        <p:nvSpPr>
          <p:cNvPr id="1288" name="textbox 1288"/>
          <p:cNvSpPr/>
          <p:nvPr/>
        </p:nvSpPr>
        <p:spPr>
          <a:xfrm>
            <a:off x="364439" y="346695"/>
            <a:ext cx="11233150" cy="523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87000"/>
              </a:lnSpc>
              <a:spcBef>
                <a:spcPts val="1"/>
              </a:spcBef>
              <a:tabLst>
                <a:tab pos="77406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组织用户体系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90" name="picture 129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651121" y="381062"/>
            <a:ext cx="1931803" cy="412600"/>
          </a:xfrm>
          <a:prstGeom prst="rect">
            <a:avLst/>
          </a:prstGeom>
        </p:spPr>
      </p:pic>
      <p:pic>
        <p:nvPicPr>
          <p:cNvPr id="1292" name="picture 12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77139" y="359395"/>
            <a:ext cx="584153" cy="473386"/>
          </a:xfrm>
          <a:prstGeom prst="rect">
            <a:avLst/>
          </a:prstGeom>
        </p:spPr>
      </p:pic>
      <p:sp>
        <p:nvSpPr>
          <p:cNvPr id="1294" name="textbox 1294"/>
          <p:cNvSpPr/>
          <p:nvPr/>
        </p:nvSpPr>
        <p:spPr>
          <a:xfrm>
            <a:off x="553728" y="2952232"/>
            <a:ext cx="2932429" cy="15570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ts val="1781"/>
              </a:lnSpc>
              <a:tabLst/>
            </a:pP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支持50+子公司独立运营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1781"/>
              </a:lnSpc>
              <a:spcBef>
                <a:spcPts val="718"/>
              </a:spcBef>
              <a:tabLst/>
            </a:pPr>
            <a:r>
              <a:rPr sz="1400" b="1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集团</a:t>
            </a:r>
            <a:r>
              <a:rPr sz="1400" b="1" kern="0" spc="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</a:t>
            </a:r>
            <a:r>
              <a:rPr sz="1400" b="1" kern="0" spc="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园区</a:t>
            </a:r>
            <a:r>
              <a:rPr sz="1400" b="1" kern="0" spc="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</a:t>
            </a:r>
            <a:r>
              <a:rPr sz="1400" b="1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部门三级数据隔</a:t>
            </a:r>
            <a:r>
              <a:rPr sz="1400" b="1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离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3334" indent="-635" algn="l" rtl="0" eaLnBrk="0">
              <a:lnSpc>
                <a:spcPct val="122000"/>
              </a:lnSpc>
              <a:spcBef>
                <a:spcPts val="7"/>
              </a:spcBef>
              <a:tabLst/>
            </a:pP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一套组织管理体系</a:t>
            </a:r>
            <a:r>
              <a:rPr sz="1200" kern="0" spc="-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，可以容纳多层级的组织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关系</a:t>
            </a:r>
            <a:r>
              <a:rPr sz="1200" kern="0" spc="-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，可实现园区+组织的数据隔离</a:t>
            </a:r>
            <a:r>
              <a:rPr sz="1200" kern="0" spc="-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，做到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不同的组织和园区，只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见本身数据和流程</a:t>
            </a:r>
            <a:r>
              <a:rPr sz="1200" kern="0" spc="-1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实现“和而不同</a:t>
            </a:r>
            <a:r>
              <a:rPr sz="1200" kern="0" spc="-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”的管理</a:t>
            </a:r>
            <a:r>
              <a:rPr sz="12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效果</a:t>
            </a:r>
            <a:r>
              <a:rPr sz="1200" kern="0" spc="-2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96" name="textbox 1296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98" name="textbox 1298"/>
          <p:cNvSpPr/>
          <p:nvPr/>
        </p:nvSpPr>
        <p:spPr>
          <a:xfrm>
            <a:off x="1093523" y="2406780"/>
            <a:ext cx="1440180" cy="225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6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5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多层级组织管理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300" name="picture 130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42282" y="2306306"/>
            <a:ext cx="462866" cy="498301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roup 90"/>
          <p:cNvGrpSpPr/>
          <p:nvPr/>
        </p:nvGrpSpPr>
        <p:grpSpPr>
          <a:xfrm rot="21600000">
            <a:off x="3787826" y="1595420"/>
            <a:ext cx="7993162" cy="3750503"/>
            <a:chOff x="0" y="0"/>
            <a:chExt cx="7993162" cy="3750503"/>
          </a:xfrm>
        </p:grpSpPr>
        <p:pic>
          <p:nvPicPr>
            <p:cNvPr id="1302" name="picture 130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7993162" cy="3750503"/>
            </a:xfrm>
            <a:prstGeom prst="rect">
              <a:avLst/>
            </a:prstGeom>
          </p:spPr>
        </p:pic>
        <p:sp>
          <p:nvSpPr>
            <p:cNvPr id="1304" name="textbox 1304"/>
            <p:cNvSpPr/>
            <p:nvPr/>
          </p:nvSpPr>
          <p:spPr>
            <a:xfrm>
              <a:off x="1780630" y="1159954"/>
              <a:ext cx="6071870" cy="132524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65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4604" algn="l" rtl="0" eaLnBrk="0">
                <a:lnSpc>
                  <a:spcPct val="87000"/>
                </a:lnSpc>
                <a:tabLst/>
              </a:pPr>
              <a:r>
                <a:rPr sz="1400" b="1" kern="0" spc="-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排队策略</a:t>
              </a:r>
              <a:r>
                <a:rPr sz="1400" b="1" kern="0" spc="-13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400" kern="0" spc="-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：管控排队方式，如何排队</a:t>
              </a:r>
              <a:r>
                <a:rPr sz="1400" kern="0" spc="-24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400" kern="0" spc="-2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、超时过号等处理。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  <a:p>
              <a:pPr marL="14604" indent="2540" algn="l" rtl="0" eaLnBrk="0">
                <a:lnSpc>
                  <a:spcPct val="166000"/>
                </a:lnSpc>
                <a:spcBef>
                  <a:spcPts val="265"/>
                </a:spcBef>
                <a:tabLst/>
              </a:pPr>
              <a:r>
                <a:rPr sz="1400" b="1" kern="0" spc="-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业务类型策略：</a:t>
              </a:r>
              <a:r>
                <a:rPr sz="1400" b="1" kern="0" spc="-28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400" kern="0" spc="-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管控不同业务所需要填充数据的模板，可快速填充固定数据</a:t>
              </a:r>
              <a:r>
                <a:rPr sz="1400" kern="0" spc="-17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400" kern="0" spc="-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  <a:r>
                <a:rPr sz="1400" b="1" kern="0" spc="-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签到策略</a:t>
              </a:r>
              <a:r>
                <a:rPr sz="1400" b="1" kern="0" spc="-14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400" kern="0" spc="-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：管理司机的签</a:t>
              </a:r>
              <a:r>
                <a:rPr sz="1400" kern="0" spc="-2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到行为</a:t>
              </a:r>
              <a:r>
                <a:rPr sz="1400" kern="0" spc="-24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400" kern="0" spc="-2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、签到范围</a:t>
              </a:r>
              <a:r>
                <a:rPr sz="1400" kern="0" spc="-24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400" kern="0" spc="-2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、提前或超时签到的处理。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2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9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400" b="1" kern="0" spc="-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流程策略</a:t>
              </a:r>
              <a:r>
                <a:rPr sz="1400" b="1" kern="0" spc="-6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400" kern="0" spc="-10" dirty="0">
                  <a:solidFill>
                    <a:srgbClr val="40404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：不同园区，配置不同的园区管理流程。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1306" name="textbox 1306"/>
          <p:cNvSpPr/>
          <p:nvPr/>
        </p:nvSpPr>
        <p:spPr>
          <a:xfrm>
            <a:off x="529582" y="2293606"/>
            <a:ext cx="2980689" cy="22212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474980" algn="l" rtl="0" eaLnBrk="0">
              <a:lnSpc>
                <a:spcPct val="87000"/>
              </a:lnSpc>
              <a:spcBef>
                <a:spcPts val="5"/>
              </a:spcBef>
              <a:tabLst>
                <a:tab pos="574040" algn="l"/>
              </a:tabLst>
            </a:pP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灵活策略配置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9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6194" indent="635" algn="l" rtl="0" eaLnBrk="0">
              <a:lnSpc>
                <a:spcPct val="133000"/>
              </a:lnSpc>
              <a:spcBef>
                <a:spcPts val="371"/>
              </a:spcBef>
              <a:tabLst/>
            </a:pPr>
            <a:r>
              <a:rPr sz="1200" kern="0" spc="1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一套园区管理体系，</a:t>
            </a:r>
            <a:r>
              <a:rPr sz="1200" kern="0" spc="-1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可根据不同场景的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策略配置，</a:t>
            </a:r>
            <a:r>
              <a:rPr sz="1200" kern="0" spc="-2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实现不同园区的管理模式下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适用不同的作业模式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，做到和而不同</a:t>
            </a:r>
            <a:r>
              <a:rPr sz="1200" kern="0" spc="-1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35559" indent="1905" algn="l" rtl="0" eaLnBrk="0">
              <a:lnSpc>
                <a:spcPct val="131000"/>
              </a:lnSpc>
              <a:spcBef>
                <a:spcPts val="6"/>
              </a:spcBef>
              <a:tabLst/>
            </a:pPr>
            <a:r>
              <a:rPr sz="1200" kern="0" spc="1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让不同的园区和组织，</a:t>
            </a:r>
            <a:r>
              <a:rPr sz="1200" kern="0" spc="-2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根据业务实际需</a:t>
            </a:r>
            <a:r>
              <a:rPr sz="1200" kern="0" spc="1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要，</a:t>
            </a:r>
            <a:r>
              <a:rPr sz="1200" kern="0" spc="-1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实现不同的业务</a:t>
            </a:r>
            <a:r>
              <a:rPr sz="1200" kern="0" spc="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管理方式，</a:t>
            </a:r>
            <a:r>
              <a:rPr sz="1200" kern="0" spc="-2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但又不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脱离集团总部的管理</a:t>
            </a:r>
            <a:r>
              <a:rPr sz="1200" kern="0" spc="-1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308" name="picture 13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42282" y="2306306"/>
            <a:ext cx="462866" cy="498301"/>
          </a:xfrm>
          <a:prstGeom prst="rect">
            <a:avLst/>
          </a:prstGeom>
        </p:spPr>
      </p:pic>
      <p:sp>
        <p:nvSpPr>
          <p:cNvPr id="1310" name="textbox 1310"/>
          <p:cNvSpPr/>
          <p:nvPr/>
        </p:nvSpPr>
        <p:spPr>
          <a:xfrm>
            <a:off x="364439" y="346695"/>
            <a:ext cx="11233150" cy="5251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86000"/>
              </a:lnSpc>
              <a:spcBef>
                <a:spcPts val="1"/>
              </a:spcBef>
              <a:tabLst>
                <a:tab pos="775969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灵活策略配置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312" name="picture 13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645406" y="381062"/>
            <a:ext cx="1931803" cy="412600"/>
          </a:xfrm>
          <a:prstGeom prst="rect">
            <a:avLst/>
          </a:prstGeom>
        </p:spPr>
      </p:pic>
      <p:pic>
        <p:nvPicPr>
          <p:cNvPr id="1314" name="picture 13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77139" y="359395"/>
            <a:ext cx="584153" cy="473386"/>
          </a:xfrm>
          <a:prstGeom prst="rect">
            <a:avLst/>
          </a:prstGeom>
        </p:spPr>
      </p:pic>
      <p:sp>
        <p:nvSpPr>
          <p:cNvPr id="1316" name="textbox 1316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8" name="picture 13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93394" y="1325853"/>
            <a:ext cx="10847872" cy="4508100"/>
          </a:xfrm>
          <a:prstGeom prst="rect">
            <a:avLst/>
          </a:prstGeom>
        </p:spPr>
      </p:pic>
      <p:sp>
        <p:nvSpPr>
          <p:cNvPr id="1320" name="textbox 1320"/>
          <p:cNvSpPr/>
          <p:nvPr/>
        </p:nvSpPr>
        <p:spPr>
          <a:xfrm>
            <a:off x="364439" y="346695"/>
            <a:ext cx="11233150" cy="523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87000"/>
              </a:lnSpc>
              <a:spcBef>
                <a:spcPts val="1"/>
              </a:spcBef>
              <a:tabLst>
                <a:tab pos="779144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二次开发平台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322" name="picture 13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648581" y="381062"/>
            <a:ext cx="1931803" cy="412600"/>
          </a:xfrm>
          <a:prstGeom prst="rect">
            <a:avLst/>
          </a:prstGeom>
        </p:spPr>
      </p:pic>
      <p:pic>
        <p:nvPicPr>
          <p:cNvPr id="1324" name="picture 13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77139" y="359395"/>
            <a:ext cx="584153" cy="473386"/>
          </a:xfrm>
          <a:prstGeom prst="rect">
            <a:avLst/>
          </a:prstGeom>
        </p:spPr>
      </p:pic>
      <p:sp>
        <p:nvSpPr>
          <p:cNvPr id="1326" name="textbox 1326"/>
          <p:cNvSpPr/>
          <p:nvPr/>
        </p:nvSpPr>
        <p:spPr>
          <a:xfrm>
            <a:off x="786748" y="4656528"/>
            <a:ext cx="3100704" cy="982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42290" algn="l" rtl="0" eaLnBrk="0">
              <a:lnSpc>
                <a:spcPct val="86000"/>
              </a:lnSpc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个性化二次开发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3970" indent="-1905" algn="l" rtl="0" eaLnBrk="0">
              <a:lnSpc>
                <a:spcPct val="120000"/>
              </a:lnSpc>
              <a:spcBef>
                <a:spcPts val="1"/>
              </a:spcBef>
              <a:tabLst/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所有个性化模块均支持二次开发，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用户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可用于后续维护扩展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28" name="textbox 1328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0" name="picture 13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450847" y="2469375"/>
            <a:ext cx="9121140" cy="1485404"/>
          </a:xfrm>
          <a:prstGeom prst="rect">
            <a:avLst/>
          </a:prstGeom>
        </p:spPr>
      </p:pic>
      <p:sp>
        <p:nvSpPr>
          <p:cNvPr id="1332" name="rect 1332"/>
          <p:cNvSpPr/>
          <p:nvPr/>
        </p:nvSpPr>
        <p:spPr>
          <a:xfrm>
            <a:off x="1620011" y="2903220"/>
            <a:ext cx="9121140" cy="1225296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34" name="textbox 1334"/>
          <p:cNvSpPr/>
          <p:nvPr/>
        </p:nvSpPr>
        <p:spPr>
          <a:xfrm>
            <a:off x="5119684" y="3514398"/>
            <a:ext cx="2936239" cy="358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63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2700" kern="0" spc="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完善园区管理机制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336" name="picture 13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652785" y="381062"/>
            <a:ext cx="1931803" cy="412600"/>
          </a:xfrm>
          <a:prstGeom prst="rect">
            <a:avLst/>
          </a:prstGeom>
        </p:spPr>
      </p:pic>
      <p:sp>
        <p:nvSpPr>
          <p:cNvPr id="1338" name="textbox 1338"/>
          <p:cNvSpPr/>
          <p:nvPr/>
        </p:nvSpPr>
        <p:spPr>
          <a:xfrm>
            <a:off x="5114711" y="3078829"/>
            <a:ext cx="1979295" cy="342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9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400" b="1" kern="0" spc="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实施交付体系</a:t>
            </a:r>
            <a:endParaRPr sz="2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40" name="textbox 1340"/>
          <p:cNvSpPr/>
          <p:nvPr/>
        </p:nvSpPr>
        <p:spPr>
          <a:xfrm>
            <a:off x="3764140" y="3688067"/>
            <a:ext cx="575309" cy="762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800"/>
              </a:lnSpc>
              <a:tabLst/>
            </a:pPr>
            <a:r>
              <a:rPr sz="7700" kern="0" spc="30" dirty="0">
                <a:solidFill>
                  <a:srgbClr val="E1444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sz="7700" dirty="0">
              <a:latin typeface="Arial"/>
              <a:ea typeface="Arial"/>
              <a:cs typeface="Arial"/>
            </a:endParaRPr>
          </a:p>
        </p:txBody>
      </p:sp>
      <p:sp>
        <p:nvSpPr>
          <p:cNvPr id="1342" name="textbox 1342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44" name="path 1344"/>
          <p:cNvSpPr/>
          <p:nvPr/>
        </p:nvSpPr>
        <p:spPr>
          <a:xfrm>
            <a:off x="5085588" y="3482340"/>
            <a:ext cx="3348228" cy="18288"/>
          </a:xfrm>
          <a:custGeom>
            <a:avLst/>
            <a:gdLst/>
            <a:ahLst/>
            <a:cxnLst/>
            <a:rect l="0" t="0" r="0" b="0"/>
            <a:pathLst>
              <a:path w="5272" h="28">
                <a:moveTo>
                  <a:pt x="0" y="0"/>
                </a:moveTo>
                <a:lnTo>
                  <a:pt x="5272" y="0"/>
                </a:lnTo>
                <a:lnTo>
                  <a:pt x="527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9D9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textbox 1346"/>
          <p:cNvSpPr/>
          <p:nvPr/>
        </p:nvSpPr>
        <p:spPr>
          <a:xfrm>
            <a:off x="364439" y="346695"/>
            <a:ext cx="11233150" cy="5226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88000"/>
              </a:lnSpc>
              <a:spcBef>
                <a:spcPts val="1"/>
              </a:spcBef>
              <a:tabLst>
                <a:tab pos="78041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实施交付流程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348" name="picture 13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649851" y="381062"/>
            <a:ext cx="1931803" cy="412600"/>
          </a:xfrm>
          <a:prstGeom prst="rect">
            <a:avLst/>
          </a:prstGeom>
        </p:spPr>
      </p:pic>
      <p:pic>
        <p:nvPicPr>
          <p:cNvPr id="1350" name="picture 13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77139" y="359395"/>
            <a:ext cx="584153" cy="473386"/>
          </a:xfrm>
          <a:prstGeom prst="rect">
            <a:avLst/>
          </a:prstGeom>
        </p:spPr>
      </p:pic>
      <p:sp>
        <p:nvSpPr>
          <p:cNvPr id="1352" name="textbox 1352"/>
          <p:cNvSpPr/>
          <p:nvPr/>
        </p:nvSpPr>
        <p:spPr>
          <a:xfrm>
            <a:off x="883035" y="4191254"/>
            <a:ext cx="3213735" cy="11880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33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7000"/>
              </a:lnSpc>
              <a:tabLst/>
            </a:pP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上线培训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indent="2540" algn="l" rtl="0" eaLnBrk="0">
              <a:lnSpc>
                <a:spcPct val="122000"/>
              </a:lnSpc>
              <a:spcBef>
                <a:spcPts val="5"/>
              </a:spcBef>
              <a:tabLst/>
            </a:pP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开展流程培训</a:t>
            </a:r>
            <a:r>
              <a:rPr sz="1400" kern="0" spc="-2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、功能培训（覆盖运</a:t>
            </a: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营方</a:t>
            </a:r>
            <a:r>
              <a:rPr sz="1400" kern="0" spc="-2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400" kern="0" spc="-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入驻企业</a:t>
            </a:r>
            <a:r>
              <a:rPr sz="1400" kern="0" spc="-2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、物流商</a:t>
            </a:r>
            <a:r>
              <a:rPr sz="1400" kern="0" spc="-1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、司机等</a:t>
            </a:r>
            <a:r>
              <a:rPr sz="1400" kern="0" spc="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），</a:t>
            </a:r>
            <a:r>
              <a:rPr sz="1400" kern="0" spc="-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推动司</a:t>
            </a: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机端与物流端落地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54" name="textbox 1354"/>
          <p:cNvSpPr/>
          <p:nvPr/>
        </p:nvSpPr>
        <p:spPr>
          <a:xfrm>
            <a:off x="8237687" y="4193997"/>
            <a:ext cx="3185795" cy="11836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62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6000"/>
              </a:lnSpc>
              <a:tabLst/>
            </a:pP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正式上线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indent="-3175" algn="l" rtl="0" eaLnBrk="0">
              <a:lnSpc>
                <a:spcPct val="121000"/>
              </a:lnSpc>
              <a:spcBef>
                <a:spcPts val="3"/>
              </a:spcBef>
              <a:tabLst/>
            </a:pP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全面完善管理体系，推动落地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执行机制，</a:t>
            </a: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实现管理约束闭环</a:t>
            </a:r>
            <a:r>
              <a:rPr sz="1400" kern="0" spc="-1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，完成长效机制建设，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园区内确认正式上线应用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56" name="textbox 1356"/>
          <p:cNvSpPr/>
          <p:nvPr/>
        </p:nvSpPr>
        <p:spPr>
          <a:xfrm>
            <a:off x="4559023" y="4193997"/>
            <a:ext cx="3187700" cy="11830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4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6000"/>
              </a:lnSpc>
              <a:tabLst/>
            </a:pP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试运行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970" indent="-1270" algn="l" rtl="0" eaLnBrk="0">
              <a:lnSpc>
                <a:spcPct val="121000"/>
              </a:lnSpc>
              <a:spcBef>
                <a:spcPts val="1"/>
              </a:spcBef>
              <a:tabLst/>
            </a:pP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启动车辆与园区设备</a:t>
            </a:r>
            <a:r>
              <a:rPr sz="1400" kern="0" spc="-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、系统的集成运行，</a:t>
            </a: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验证全流程稳定性，整合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试运行中出现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的问题</a:t>
            </a:r>
            <a:r>
              <a:rPr sz="1400" kern="0" spc="-2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、输出试运行报</a:t>
            </a: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告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58" name="textbox 1358"/>
          <p:cNvSpPr/>
          <p:nvPr/>
        </p:nvSpPr>
        <p:spPr>
          <a:xfrm>
            <a:off x="849885" y="1951151"/>
            <a:ext cx="3041014" cy="12026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2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225" algn="l" rtl="0" eaLnBrk="0">
              <a:lnSpc>
                <a:spcPct val="86000"/>
              </a:lnSpc>
              <a:tabLst/>
            </a:pP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需求调研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indent="2540" algn="l" rtl="0" eaLnBrk="0">
              <a:lnSpc>
                <a:spcPct val="123000"/>
              </a:lnSpc>
              <a:spcBef>
                <a:spcPts val="3"/>
              </a:spcBef>
              <a:tabLst/>
            </a:pP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收集园区运营方</a:t>
            </a:r>
            <a:r>
              <a:rPr sz="1400" kern="0" spc="-1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、入驻企业等多方业务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诉求，</a:t>
            </a:r>
            <a:r>
              <a:rPr sz="1400" kern="0" spc="-2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明确核心需求与管理目标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；收集</a:t>
            </a: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园区内信息（月台</a:t>
            </a:r>
            <a:r>
              <a:rPr sz="1400" kern="0" spc="-2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、地图</a:t>
            </a:r>
            <a:r>
              <a:rPr sz="1400" kern="0" spc="-1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、车</a:t>
            </a:r>
            <a:r>
              <a:rPr sz="1400" kern="0" spc="-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辆等）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60" name="textbox 1360"/>
          <p:cNvSpPr/>
          <p:nvPr/>
        </p:nvSpPr>
        <p:spPr>
          <a:xfrm>
            <a:off x="4560986" y="1946808"/>
            <a:ext cx="3042920" cy="1200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6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87000"/>
              </a:lnSpc>
              <a:tabLst/>
            </a:pP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系统配置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83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1905" algn="l" rtl="0" eaLnBrk="0">
              <a:lnSpc>
                <a:spcPct val="124000"/>
              </a:lnSpc>
              <a:tabLst/>
            </a:pP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配置系统基础信息（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如园区资源</a:t>
            </a:r>
            <a:r>
              <a:rPr sz="1400" kern="0" spc="-2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、组织</a:t>
            </a:r>
            <a:r>
              <a:rPr sz="1400" kern="0" spc="-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架构</a:t>
            </a:r>
            <a:r>
              <a:rPr sz="1400" kern="0" spc="-1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、角色权限</a:t>
            </a:r>
            <a:r>
              <a:rPr sz="1400" kern="0" spc="-1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、业务策略等</a:t>
            </a:r>
            <a:r>
              <a:rPr sz="1400" kern="0" spc="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），</a:t>
            </a:r>
            <a:r>
              <a:rPr sz="1400" kern="0" spc="-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梳理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物流全流程，搭建配套管理体系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62" name="textbox 1362"/>
          <p:cNvSpPr/>
          <p:nvPr/>
        </p:nvSpPr>
        <p:spPr>
          <a:xfrm>
            <a:off x="8237687" y="1946808"/>
            <a:ext cx="3042285" cy="1186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33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87000"/>
              </a:lnSpc>
              <a:tabLst/>
            </a:pP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集成调测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indent="4444" algn="l" rtl="0" eaLnBrk="0">
              <a:lnSpc>
                <a:spcPct val="122000"/>
              </a:lnSpc>
              <a:spcBef>
                <a:spcPts val="2"/>
              </a:spcBef>
              <a:tabLst/>
            </a:pP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完成系统功能集成</a:t>
            </a:r>
            <a:r>
              <a:rPr sz="1400" kern="0" spc="-1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、设备集成（含园区</a:t>
            </a: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内叉车</a:t>
            </a:r>
            <a:r>
              <a:rPr sz="1400" kern="0" spc="-2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、地磅</a:t>
            </a:r>
            <a:r>
              <a:rPr sz="1400" kern="0" spc="-2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、摄像头等硬件</a:t>
            </a:r>
            <a:r>
              <a:rPr sz="1400" kern="0" spc="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），</a:t>
            </a:r>
            <a:r>
              <a:rPr sz="1400" kern="0" spc="-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开展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全场景联调测试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64" name="textbox 1364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366" name="picture 136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475988" y="1644395"/>
            <a:ext cx="3060192" cy="71628"/>
          </a:xfrm>
          <a:prstGeom prst="rect">
            <a:avLst/>
          </a:prstGeom>
        </p:spPr>
      </p:pic>
      <p:pic>
        <p:nvPicPr>
          <p:cNvPr id="1368" name="picture 136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475988" y="3887723"/>
            <a:ext cx="3060192" cy="71628"/>
          </a:xfrm>
          <a:prstGeom prst="rect">
            <a:avLst/>
          </a:prstGeom>
        </p:spPr>
      </p:pic>
      <p:pic>
        <p:nvPicPr>
          <p:cNvPr id="1370" name="picture 137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188452" y="1644395"/>
            <a:ext cx="3060191" cy="71628"/>
          </a:xfrm>
          <a:prstGeom prst="rect">
            <a:avLst/>
          </a:prstGeom>
        </p:spPr>
      </p:pic>
      <p:pic>
        <p:nvPicPr>
          <p:cNvPr id="1372" name="picture 137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151876" y="3887723"/>
            <a:ext cx="3060191" cy="71628"/>
          </a:xfrm>
          <a:prstGeom prst="rect">
            <a:avLst/>
          </a:prstGeom>
        </p:spPr>
      </p:pic>
      <p:pic>
        <p:nvPicPr>
          <p:cNvPr id="1374" name="picture 137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00100" y="1644395"/>
            <a:ext cx="3058667" cy="71628"/>
          </a:xfrm>
          <a:prstGeom prst="rect">
            <a:avLst/>
          </a:prstGeom>
        </p:spPr>
      </p:pic>
      <p:pic>
        <p:nvPicPr>
          <p:cNvPr id="1376" name="picture 137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800100" y="3887723"/>
            <a:ext cx="3058667" cy="71628"/>
          </a:xfrm>
          <a:prstGeom prst="rect">
            <a:avLst/>
          </a:prstGeom>
        </p:spPr>
      </p:pic>
      <p:grpSp>
        <p:nvGrpSpPr>
          <p:cNvPr id="92" name="group 92"/>
          <p:cNvGrpSpPr/>
          <p:nvPr/>
        </p:nvGrpSpPr>
        <p:grpSpPr>
          <a:xfrm rot="21600000">
            <a:off x="7388935" y="1525730"/>
            <a:ext cx="365379" cy="308640"/>
            <a:chOff x="0" y="0"/>
            <a:chExt cx="365379" cy="308640"/>
          </a:xfrm>
        </p:grpSpPr>
        <p:pic>
          <p:nvPicPr>
            <p:cNvPr id="1378" name="picture 1378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0" y="0"/>
              <a:ext cx="365379" cy="308640"/>
            </a:xfrm>
            <a:prstGeom prst="rect">
              <a:avLst/>
            </a:prstGeom>
          </p:spPr>
        </p:pic>
        <p:sp>
          <p:nvSpPr>
            <p:cNvPr id="1380" name="textbox 1380"/>
            <p:cNvSpPr/>
            <p:nvPr/>
          </p:nvSpPr>
          <p:spPr>
            <a:xfrm>
              <a:off x="-12700" y="-12700"/>
              <a:ext cx="391159" cy="3346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24460" algn="l" rtl="0" eaLnBrk="0">
                <a:lnSpc>
                  <a:spcPts val="1401"/>
                </a:lnSpc>
                <a:spcBef>
                  <a:spcPts val="2"/>
                </a:spcBef>
                <a:tabLst/>
              </a:pPr>
              <a:r>
                <a:rPr sz="1100" b="1" kern="0" spc="-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  <a:endParaRPr sz="11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94" name="group 94"/>
          <p:cNvGrpSpPr/>
          <p:nvPr/>
        </p:nvGrpSpPr>
        <p:grpSpPr>
          <a:xfrm rot="21600000">
            <a:off x="7388935" y="3769033"/>
            <a:ext cx="365379" cy="308640"/>
            <a:chOff x="0" y="0"/>
            <a:chExt cx="365379" cy="308640"/>
          </a:xfrm>
        </p:grpSpPr>
        <p:pic>
          <p:nvPicPr>
            <p:cNvPr id="1382" name="picture 1382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0" y="0"/>
              <a:ext cx="365379" cy="308640"/>
            </a:xfrm>
            <a:prstGeom prst="rect">
              <a:avLst/>
            </a:prstGeom>
          </p:spPr>
        </p:pic>
        <p:sp>
          <p:nvSpPr>
            <p:cNvPr id="1384" name="textbox 1384"/>
            <p:cNvSpPr/>
            <p:nvPr/>
          </p:nvSpPr>
          <p:spPr>
            <a:xfrm>
              <a:off x="98743" y="37693"/>
              <a:ext cx="104775" cy="203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1401"/>
                </a:lnSpc>
                <a:tabLst/>
              </a:pPr>
              <a:r>
                <a:rPr sz="1100" b="1" kern="0" spc="-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5</a:t>
              </a:r>
              <a:endParaRPr sz="11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96" name="group 96"/>
          <p:cNvGrpSpPr/>
          <p:nvPr/>
        </p:nvGrpSpPr>
        <p:grpSpPr>
          <a:xfrm rot="21600000">
            <a:off x="3712781" y="1525730"/>
            <a:ext cx="363902" cy="308640"/>
            <a:chOff x="0" y="0"/>
            <a:chExt cx="363902" cy="308640"/>
          </a:xfrm>
        </p:grpSpPr>
        <p:pic>
          <p:nvPicPr>
            <p:cNvPr id="1386" name="picture 1386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0" y="0"/>
              <a:ext cx="363902" cy="308640"/>
            </a:xfrm>
            <a:prstGeom prst="rect">
              <a:avLst/>
            </a:prstGeom>
          </p:spPr>
        </p:pic>
        <p:sp>
          <p:nvSpPr>
            <p:cNvPr id="1388" name="textbox 1388"/>
            <p:cNvSpPr/>
            <p:nvPr/>
          </p:nvSpPr>
          <p:spPr>
            <a:xfrm>
              <a:off x="-12700" y="-12700"/>
              <a:ext cx="389890" cy="3346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29539" algn="l" rtl="0" eaLnBrk="0">
                <a:lnSpc>
                  <a:spcPts val="1401"/>
                </a:lnSpc>
                <a:spcBef>
                  <a:spcPts val="2"/>
                </a:spcBef>
                <a:tabLst/>
              </a:pPr>
              <a:r>
                <a:rPr sz="1100" b="1" kern="0" spc="-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1</a:t>
              </a:r>
              <a:endParaRPr sz="11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98" name="group 98"/>
          <p:cNvGrpSpPr/>
          <p:nvPr/>
        </p:nvGrpSpPr>
        <p:grpSpPr>
          <a:xfrm rot="21600000">
            <a:off x="11101832" y="1525730"/>
            <a:ext cx="363902" cy="308640"/>
            <a:chOff x="0" y="0"/>
            <a:chExt cx="363902" cy="308640"/>
          </a:xfrm>
        </p:grpSpPr>
        <p:pic>
          <p:nvPicPr>
            <p:cNvPr id="1390" name="picture 1390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0" y="0"/>
              <a:ext cx="363902" cy="308640"/>
            </a:xfrm>
            <a:prstGeom prst="rect">
              <a:avLst/>
            </a:prstGeom>
          </p:spPr>
        </p:pic>
        <p:sp>
          <p:nvSpPr>
            <p:cNvPr id="1392" name="textbox 1392"/>
            <p:cNvSpPr/>
            <p:nvPr/>
          </p:nvSpPr>
          <p:spPr>
            <a:xfrm>
              <a:off x="-12700" y="-12700"/>
              <a:ext cx="389890" cy="3346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22554" algn="l" rtl="0" eaLnBrk="0">
                <a:lnSpc>
                  <a:spcPts val="1401"/>
                </a:lnSpc>
                <a:spcBef>
                  <a:spcPts val="2"/>
                </a:spcBef>
                <a:tabLst/>
              </a:pPr>
              <a:r>
                <a:rPr sz="1100" b="1" kern="0" spc="-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3</a:t>
              </a:r>
              <a:endParaRPr sz="11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00" name="group 100"/>
          <p:cNvGrpSpPr/>
          <p:nvPr/>
        </p:nvGrpSpPr>
        <p:grpSpPr>
          <a:xfrm rot="21600000">
            <a:off x="3712781" y="3769033"/>
            <a:ext cx="363902" cy="308640"/>
            <a:chOff x="0" y="0"/>
            <a:chExt cx="363902" cy="308640"/>
          </a:xfrm>
        </p:grpSpPr>
        <p:pic>
          <p:nvPicPr>
            <p:cNvPr id="1394" name="picture 1394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 rot="21600000">
              <a:off x="0" y="0"/>
              <a:ext cx="363902" cy="308640"/>
            </a:xfrm>
            <a:prstGeom prst="rect">
              <a:avLst/>
            </a:prstGeom>
          </p:spPr>
        </p:pic>
        <p:sp>
          <p:nvSpPr>
            <p:cNvPr id="1396" name="textbox 1396"/>
            <p:cNvSpPr/>
            <p:nvPr/>
          </p:nvSpPr>
          <p:spPr>
            <a:xfrm>
              <a:off x="-12700" y="-12700"/>
              <a:ext cx="389890" cy="3346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20650" algn="l" rtl="0" eaLnBrk="0">
                <a:lnSpc>
                  <a:spcPts val="1401"/>
                </a:lnSpc>
                <a:spcBef>
                  <a:spcPts val="2"/>
                </a:spcBef>
                <a:tabLst/>
              </a:pPr>
              <a:r>
                <a:rPr sz="1100" b="1" kern="0" spc="-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4</a:t>
              </a:r>
              <a:endParaRPr sz="11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02" name="group 102"/>
          <p:cNvGrpSpPr/>
          <p:nvPr/>
        </p:nvGrpSpPr>
        <p:grpSpPr>
          <a:xfrm rot="21600000">
            <a:off x="11065828" y="3769033"/>
            <a:ext cx="363902" cy="308640"/>
            <a:chOff x="0" y="0"/>
            <a:chExt cx="363902" cy="308640"/>
          </a:xfrm>
        </p:grpSpPr>
        <p:pic>
          <p:nvPicPr>
            <p:cNvPr id="1398" name="picture 1398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21600000">
              <a:off x="0" y="0"/>
              <a:ext cx="363902" cy="308640"/>
            </a:xfrm>
            <a:prstGeom prst="rect">
              <a:avLst/>
            </a:prstGeom>
          </p:spPr>
        </p:pic>
        <p:sp>
          <p:nvSpPr>
            <p:cNvPr id="1400" name="textbox 1400"/>
            <p:cNvSpPr/>
            <p:nvPr/>
          </p:nvSpPr>
          <p:spPr>
            <a:xfrm>
              <a:off x="-12700" y="-12700"/>
              <a:ext cx="389890" cy="3346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23825" algn="l" rtl="0" eaLnBrk="0">
                <a:lnSpc>
                  <a:spcPts val="1401"/>
                </a:lnSpc>
                <a:spcBef>
                  <a:spcPts val="2"/>
                </a:spcBef>
                <a:tabLst/>
              </a:pPr>
              <a:r>
                <a:rPr sz="1100" b="1" kern="0" spc="-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6</a:t>
              </a:r>
              <a:endParaRPr sz="1100" dirty="0">
                <a:latin typeface="Microsoft YaHei"/>
                <a:ea typeface="Microsoft YaHei"/>
                <a:cs typeface="Microsoft YaHei"/>
              </a:endParaRP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2" name="picture 14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404476" y="1472704"/>
            <a:ext cx="2599626" cy="4399622"/>
          </a:xfrm>
          <a:prstGeom prst="rect">
            <a:avLst/>
          </a:prstGeom>
        </p:spPr>
      </p:pic>
      <p:pic>
        <p:nvPicPr>
          <p:cNvPr id="1404" name="picture 14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187897" y="1472704"/>
            <a:ext cx="2599626" cy="4399622"/>
          </a:xfrm>
          <a:prstGeom prst="rect">
            <a:avLst/>
          </a:prstGeom>
        </p:spPr>
      </p:pic>
      <p:pic>
        <p:nvPicPr>
          <p:cNvPr id="1406" name="picture 140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21055" y="1472704"/>
            <a:ext cx="2599613" cy="4399622"/>
          </a:xfrm>
          <a:prstGeom prst="rect">
            <a:avLst/>
          </a:prstGeom>
        </p:spPr>
      </p:pic>
      <p:pic>
        <p:nvPicPr>
          <p:cNvPr id="1408" name="picture 140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971331" y="1472704"/>
            <a:ext cx="2599613" cy="4399622"/>
          </a:xfrm>
          <a:prstGeom prst="rect">
            <a:avLst/>
          </a:prstGeom>
        </p:spPr>
      </p:pic>
      <p:sp>
        <p:nvSpPr>
          <p:cNvPr id="1410" name="textbox 1410"/>
          <p:cNvSpPr/>
          <p:nvPr/>
        </p:nvSpPr>
        <p:spPr>
          <a:xfrm>
            <a:off x="364439" y="346695"/>
            <a:ext cx="11233150" cy="5200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87000"/>
              </a:lnSpc>
              <a:spcBef>
                <a:spcPts val="1"/>
              </a:spcBef>
              <a:tabLst>
                <a:tab pos="77660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系统部署方案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412" name="picture 14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646041" y="381062"/>
            <a:ext cx="1931803" cy="412600"/>
          </a:xfrm>
          <a:prstGeom prst="rect">
            <a:avLst/>
          </a:prstGeom>
        </p:spPr>
      </p:pic>
      <p:pic>
        <p:nvPicPr>
          <p:cNvPr id="1414" name="picture 14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77139" y="359395"/>
            <a:ext cx="584153" cy="473386"/>
          </a:xfrm>
          <a:prstGeom prst="rect">
            <a:avLst/>
          </a:prstGeom>
        </p:spPr>
      </p:pic>
      <p:sp>
        <p:nvSpPr>
          <p:cNvPr id="1416" name="textbox 1416"/>
          <p:cNvSpPr/>
          <p:nvPr/>
        </p:nvSpPr>
        <p:spPr>
          <a:xfrm>
            <a:off x="821999" y="2867131"/>
            <a:ext cx="2298064" cy="14935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2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79000"/>
              </a:lnSpc>
              <a:tabLst/>
            </a:pPr>
            <a:r>
              <a:rPr sz="1400" kern="0" spc="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通过智能调度系统实</a:t>
            </a:r>
            <a:r>
              <a:rPr sz="1400" kern="0" spc="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现车辆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2700" indent="3175" algn="l" rtl="0" eaLnBrk="0">
              <a:lnSpc>
                <a:spcPct val="152000"/>
              </a:lnSpc>
              <a:spcBef>
                <a:spcPts val="13"/>
              </a:spcBef>
              <a:tabLst/>
            </a:pP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与司机的实时联动</a:t>
            </a:r>
            <a:r>
              <a:rPr sz="1400" kern="0" spc="-1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，精准管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理停留时长，减少无效等待，</a:t>
            </a: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提升园区整体运转效率</a:t>
            </a:r>
            <a:r>
              <a:rPr sz="14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，确</a:t>
            </a:r>
            <a:r>
              <a:rPr sz="1400" kern="0" spc="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保车流有序畅通。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18" name="textbox 1418"/>
          <p:cNvSpPr/>
          <p:nvPr/>
        </p:nvSpPr>
        <p:spPr>
          <a:xfrm>
            <a:off x="3606503" y="2868380"/>
            <a:ext cx="2202179" cy="14916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3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8000"/>
              </a:lnSpc>
              <a:tabLst/>
            </a:pPr>
            <a:r>
              <a:rPr sz="1400" kern="0" spc="-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整合叉车搬运</a:t>
            </a:r>
            <a:r>
              <a:rPr sz="1400" kern="0" spc="-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、装卸人力</a:t>
            </a:r>
            <a:r>
              <a:rPr sz="1400" kern="0" spc="-2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2700" indent="635" algn="l" rtl="0" eaLnBrk="0">
              <a:lnSpc>
                <a:spcPct val="152000"/>
              </a:lnSpc>
              <a:spcBef>
                <a:spcPts val="12"/>
              </a:spcBef>
              <a:tabLst/>
            </a:pPr>
            <a:r>
              <a:rPr sz="1400" kern="0" spc="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运输发运等任务，</a:t>
            </a:r>
            <a:r>
              <a:rPr sz="1400" kern="0" spc="-3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</a:t>
            </a:r>
            <a:r>
              <a:rPr sz="1400" kern="0" spc="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现动态</a:t>
            </a: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调度与工作量统计</a:t>
            </a:r>
            <a:r>
              <a:rPr sz="1400" kern="0" spc="-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，灵活应</a:t>
            </a: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对业务波动</a:t>
            </a:r>
            <a:r>
              <a:rPr sz="1400" kern="0" spc="-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，最大化资源利</a:t>
            </a:r>
            <a:r>
              <a:rPr sz="1400" kern="0" spc="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用率与作业效率。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20" name="textbox 1420"/>
          <p:cNvSpPr/>
          <p:nvPr/>
        </p:nvSpPr>
        <p:spPr>
          <a:xfrm>
            <a:off x="9171930" y="2834478"/>
            <a:ext cx="2298700" cy="1217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781"/>
              </a:lnSpc>
              <a:tabLst/>
            </a:pPr>
            <a:r>
              <a:rPr sz="1400" kern="0" spc="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重车/轻车过磅数据自动同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2700" indent="4444" algn="l" rtl="0" eaLnBrk="0">
              <a:lnSpc>
                <a:spcPct val="150000"/>
              </a:lnSpc>
              <a:spcBef>
                <a:spcPts val="46"/>
              </a:spcBef>
              <a:tabLst/>
            </a:pPr>
            <a:r>
              <a:rPr sz="1400" kern="0" spc="-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步</a:t>
            </a:r>
            <a:r>
              <a:rPr sz="1400" kern="0" spc="-1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，实现全流程无人化称重</a:t>
            </a:r>
            <a:r>
              <a:rPr sz="1400" kern="0" spc="-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400" kern="0" spc="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提升数据准确性，</a:t>
            </a:r>
            <a:r>
              <a:rPr sz="1400" kern="0" spc="-2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降低人力</a:t>
            </a:r>
            <a:r>
              <a:rPr sz="1400" kern="0" spc="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成本，优化物流环节效率。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22" name="textbox 1422"/>
          <p:cNvSpPr/>
          <p:nvPr/>
        </p:nvSpPr>
        <p:spPr>
          <a:xfrm>
            <a:off x="6389924" y="2867131"/>
            <a:ext cx="2331720" cy="11728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2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765" algn="l" rtl="0" eaLnBrk="0">
              <a:lnSpc>
                <a:spcPct val="79000"/>
              </a:lnSpc>
              <a:tabLst/>
            </a:pPr>
            <a:r>
              <a:rPr sz="1400" kern="0" spc="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门禁系统与放行指令智能</a:t>
            </a:r>
            <a:r>
              <a:rPr sz="1400" kern="0" spc="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联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2700" indent="3175" algn="l" rtl="0" eaLnBrk="0">
              <a:lnSpc>
                <a:spcPct val="152000"/>
              </a:lnSpc>
              <a:spcBef>
                <a:spcPts val="42"/>
              </a:spcBef>
              <a:tabLst/>
            </a:pP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动</a:t>
            </a:r>
            <a:r>
              <a:rPr sz="1400" kern="0" spc="-1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，简化单据流程，</a:t>
            </a:r>
            <a:r>
              <a:rPr sz="1400" kern="0" spc="-3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强化安</a:t>
            </a: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全管控</a:t>
            </a:r>
            <a:r>
              <a:rPr sz="1400" kern="0" spc="-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，减少人为干预</a:t>
            </a:r>
            <a:r>
              <a:rPr sz="1400" kern="0" spc="-1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，打</a:t>
            </a: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造高效安全的园区运营环境。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104" name="group 104"/>
          <p:cNvGrpSpPr/>
          <p:nvPr/>
        </p:nvGrpSpPr>
        <p:grpSpPr>
          <a:xfrm rot="21600000">
            <a:off x="10586064" y="4970047"/>
            <a:ext cx="887070" cy="424087"/>
            <a:chOff x="0" y="0"/>
            <a:chExt cx="887070" cy="424087"/>
          </a:xfrm>
        </p:grpSpPr>
        <p:pic>
          <p:nvPicPr>
            <p:cNvPr id="1424" name="picture 142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887070" cy="424087"/>
            </a:xfrm>
            <a:prstGeom prst="rect">
              <a:avLst/>
            </a:prstGeom>
          </p:spPr>
        </p:pic>
        <p:sp>
          <p:nvSpPr>
            <p:cNvPr id="1426" name="textbox 1426"/>
            <p:cNvSpPr/>
            <p:nvPr/>
          </p:nvSpPr>
          <p:spPr>
            <a:xfrm>
              <a:off x="-12700" y="-12700"/>
              <a:ext cx="912494" cy="4495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370840" algn="l" rtl="0" eaLnBrk="0">
                <a:lnSpc>
                  <a:spcPts val="1781"/>
                </a:lnSpc>
                <a:tabLst/>
              </a:pPr>
              <a:r>
                <a:rPr sz="1400" b="1" i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04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06" name="group 106"/>
          <p:cNvGrpSpPr/>
          <p:nvPr/>
        </p:nvGrpSpPr>
        <p:grpSpPr>
          <a:xfrm rot="21600000">
            <a:off x="5020251" y="4970047"/>
            <a:ext cx="884989" cy="424087"/>
            <a:chOff x="0" y="0"/>
            <a:chExt cx="884989" cy="424087"/>
          </a:xfrm>
        </p:grpSpPr>
        <p:pic>
          <p:nvPicPr>
            <p:cNvPr id="1428" name="picture 1428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884989" cy="424087"/>
            </a:xfrm>
            <a:prstGeom prst="rect">
              <a:avLst/>
            </a:prstGeom>
          </p:spPr>
        </p:pic>
        <p:sp>
          <p:nvSpPr>
            <p:cNvPr id="1430" name="textbox 1430"/>
            <p:cNvSpPr/>
            <p:nvPr/>
          </p:nvSpPr>
          <p:spPr>
            <a:xfrm>
              <a:off x="-12700" y="-12700"/>
              <a:ext cx="910589" cy="4495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369570" algn="l" rtl="0" eaLnBrk="0">
                <a:lnSpc>
                  <a:spcPts val="1781"/>
                </a:lnSpc>
                <a:tabLst/>
              </a:pPr>
              <a:r>
                <a:rPr sz="1400" b="1" i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08" name="group 108"/>
          <p:cNvGrpSpPr/>
          <p:nvPr/>
        </p:nvGrpSpPr>
        <p:grpSpPr>
          <a:xfrm rot="21600000">
            <a:off x="2236818" y="4970047"/>
            <a:ext cx="884988" cy="424087"/>
            <a:chOff x="0" y="0"/>
            <a:chExt cx="884988" cy="424087"/>
          </a:xfrm>
        </p:grpSpPr>
        <p:pic>
          <p:nvPicPr>
            <p:cNvPr id="1432" name="picture 1432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0" y="0"/>
              <a:ext cx="884988" cy="424087"/>
            </a:xfrm>
            <a:prstGeom prst="rect">
              <a:avLst/>
            </a:prstGeom>
          </p:spPr>
        </p:pic>
        <p:sp>
          <p:nvSpPr>
            <p:cNvPr id="1434" name="textbox 1434"/>
            <p:cNvSpPr/>
            <p:nvPr/>
          </p:nvSpPr>
          <p:spPr>
            <a:xfrm>
              <a:off x="-12700" y="-12700"/>
              <a:ext cx="910589" cy="4495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369570" algn="l" rtl="0" eaLnBrk="0">
                <a:lnSpc>
                  <a:spcPts val="1781"/>
                </a:lnSpc>
                <a:tabLst/>
              </a:pPr>
              <a:r>
                <a:rPr sz="1400" b="1" i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10" name="group 110"/>
          <p:cNvGrpSpPr/>
          <p:nvPr/>
        </p:nvGrpSpPr>
        <p:grpSpPr>
          <a:xfrm rot="21600000">
            <a:off x="7815126" y="4970047"/>
            <a:ext cx="874576" cy="424087"/>
            <a:chOff x="0" y="0"/>
            <a:chExt cx="874576" cy="424087"/>
          </a:xfrm>
        </p:grpSpPr>
        <p:pic>
          <p:nvPicPr>
            <p:cNvPr id="1436" name="picture 1436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0" y="0"/>
              <a:ext cx="874576" cy="424087"/>
            </a:xfrm>
            <a:prstGeom prst="rect">
              <a:avLst/>
            </a:prstGeom>
          </p:spPr>
        </p:pic>
        <p:sp>
          <p:nvSpPr>
            <p:cNvPr id="1438" name="textbox 1438"/>
            <p:cNvSpPr/>
            <p:nvPr/>
          </p:nvSpPr>
          <p:spPr>
            <a:xfrm>
              <a:off x="-12700" y="-12700"/>
              <a:ext cx="900430" cy="4495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358140" algn="l" rtl="0" eaLnBrk="0">
                <a:lnSpc>
                  <a:spcPts val="1781"/>
                </a:lnSpc>
                <a:tabLst/>
              </a:pPr>
              <a:r>
                <a:rPr sz="1400" b="1" i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1440" name="textbox 1440"/>
          <p:cNvSpPr/>
          <p:nvPr/>
        </p:nvSpPr>
        <p:spPr>
          <a:xfrm>
            <a:off x="822909" y="2143506"/>
            <a:ext cx="1734820" cy="2216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7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5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车辆与司机协同管理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42" name="textbox 1442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44" name="textbox 1444"/>
          <p:cNvSpPr/>
          <p:nvPr/>
        </p:nvSpPr>
        <p:spPr>
          <a:xfrm>
            <a:off x="9171661" y="2142172"/>
            <a:ext cx="1545589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45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5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无人值守称重集成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46" name="textbox 1446"/>
          <p:cNvSpPr/>
          <p:nvPr/>
        </p:nvSpPr>
        <p:spPr>
          <a:xfrm>
            <a:off x="3606533" y="2142744"/>
            <a:ext cx="1352550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2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5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多任务协同调度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48" name="textbox 1448"/>
          <p:cNvSpPr/>
          <p:nvPr/>
        </p:nvSpPr>
        <p:spPr>
          <a:xfrm>
            <a:off x="6398526" y="2143506"/>
            <a:ext cx="1343660" cy="2209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5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园区安防一体化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450" name="picture 145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624865" y="2571051"/>
            <a:ext cx="2591993" cy="7619"/>
          </a:xfrm>
          <a:prstGeom prst="rect">
            <a:avLst/>
          </a:prstGeom>
        </p:spPr>
      </p:pic>
      <p:pic>
        <p:nvPicPr>
          <p:cNvPr id="1452" name="picture 145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3408286" y="2571051"/>
            <a:ext cx="2591993" cy="7619"/>
          </a:xfrm>
          <a:prstGeom prst="rect">
            <a:avLst/>
          </a:prstGeom>
        </p:spPr>
      </p:pic>
      <p:pic>
        <p:nvPicPr>
          <p:cNvPr id="1454" name="picture 145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6191707" y="2571051"/>
            <a:ext cx="2591993" cy="7619"/>
          </a:xfrm>
          <a:prstGeom prst="rect">
            <a:avLst/>
          </a:prstGeom>
        </p:spPr>
      </p:pic>
      <p:pic>
        <p:nvPicPr>
          <p:cNvPr id="1456" name="picture 145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8975141" y="2571051"/>
            <a:ext cx="2591993" cy="7619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textbox 1458"/>
          <p:cNvSpPr/>
          <p:nvPr/>
        </p:nvSpPr>
        <p:spPr>
          <a:xfrm>
            <a:off x="8393821" y="3131761"/>
            <a:ext cx="3034029" cy="21551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8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635" algn="l" rtl="0" eaLnBrk="0">
              <a:lnSpc>
                <a:spcPct val="117000"/>
              </a:lnSpc>
              <a:tabLst/>
            </a:pP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系统预设异常场景阈值，如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运输超时</a:t>
            </a:r>
            <a:r>
              <a:rPr sz="1400" kern="0" spc="-2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车辆偏离路线</a:t>
            </a:r>
            <a:r>
              <a:rPr sz="1400" kern="0" spc="-1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、仓库库存预警</a:t>
            </a:r>
            <a:r>
              <a:rPr sz="1400" kern="0" spc="-1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、突发</a:t>
            </a: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运力短缺等，触发预警后自动推送至</a:t>
            </a:r>
            <a:r>
              <a:rPr sz="1400" kern="0" spc="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园区调度中心进行干预</a:t>
            </a: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3675" indent="-179704" algn="l" rtl="0" eaLnBrk="0">
              <a:lnSpc>
                <a:spcPct val="109000"/>
              </a:lnSpc>
              <a:spcBef>
                <a:spcPts val="367"/>
              </a:spcBef>
              <a:tabLst/>
            </a:pPr>
            <a:r>
              <a:rPr sz="1200" kern="0" spc="20" dirty="0">
                <a:solidFill>
                  <a:srgbClr val="808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</a:t>
            </a:r>
            <a:r>
              <a:rPr sz="1200" kern="0" spc="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异常分级干预</a:t>
            </a:r>
            <a:r>
              <a:rPr sz="1200" kern="0" spc="-8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：根据异常级别通过系统</a:t>
            </a:r>
            <a:r>
              <a:rPr sz="1200" kern="0" spc="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实时沟通指引，协调</a:t>
            </a:r>
            <a:r>
              <a:rPr sz="12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园区内资源响应</a:t>
            </a:r>
            <a:r>
              <a:rPr sz="1200" kern="0" spc="-2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91135" indent="-177164" algn="l" rtl="0" eaLnBrk="0">
              <a:lnSpc>
                <a:spcPct val="110000"/>
              </a:lnSpc>
              <a:spcBef>
                <a:spcPts val="2"/>
              </a:spcBef>
              <a:tabLst/>
            </a:pPr>
            <a:r>
              <a:rPr sz="1200" kern="0" spc="20" dirty="0">
                <a:solidFill>
                  <a:srgbClr val="808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</a:t>
            </a:r>
            <a:r>
              <a:rPr sz="1200" kern="0" spc="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责任追溯与复盘：</a:t>
            </a:r>
            <a:r>
              <a:rPr sz="1200" kern="0" spc="-19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系统记录异常处理及</a:t>
            </a:r>
            <a:r>
              <a:rPr sz="1200" kern="0" spc="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损失情况</a:t>
            </a:r>
            <a:r>
              <a:rPr sz="1200" kern="0" spc="-8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，帮助分析根因并优化管理</a:t>
            </a:r>
            <a:r>
              <a:rPr sz="1200" kern="0" spc="-2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60" name="textbox 1460"/>
          <p:cNvSpPr/>
          <p:nvPr/>
        </p:nvSpPr>
        <p:spPr>
          <a:xfrm>
            <a:off x="926321" y="3131404"/>
            <a:ext cx="2879089" cy="21551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09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7000"/>
              </a:lnSpc>
              <a:tabLst/>
            </a:pP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基于系统所采集的业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务流程数据，</a:t>
            </a:r>
            <a:r>
              <a:rPr sz="1400" kern="0" spc="-3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以</a:t>
            </a:r>
            <a:r>
              <a:rPr sz="1400" kern="0" spc="-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履约率</a:t>
            </a:r>
            <a:r>
              <a:rPr sz="1400" kern="0" spc="-1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、违规记录</a:t>
            </a:r>
            <a:r>
              <a:rPr sz="1400" kern="0" spc="-2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、服务评价</a:t>
            </a:r>
            <a:r>
              <a:rPr sz="1400" kern="0" spc="-1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、安全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事故等为核心依据</a:t>
            </a:r>
            <a:r>
              <a:rPr sz="1400" kern="0" spc="-1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，设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定黑白名单准</a:t>
            </a:r>
            <a:r>
              <a:rPr sz="1400" kern="0" spc="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入与退出标准。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9864" indent="-175260" algn="l" rtl="0" eaLnBrk="0">
              <a:lnSpc>
                <a:spcPct val="110000"/>
              </a:lnSpc>
              <a:spcBef>
                <a:spcPts val="371"/>
              </a:spcBef>
              <a:tabLst/>
            </a:pPr>
            <a:r>
              <a:rPr sz="1200" kern="0" spc="10" dirty="0">
                <a:solidFill>
                  <a:srgbClr val="808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</a:t>
            </a:r>
            <a:r>
              <a:rPr sz="1200" kern="0" spc="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黑名单主体：</a:t>
            </a:r>
            <a:r>
              <a:rPr sz="1200" kern="0" spc="-2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限制接单</a:t>
            </a:r>
            <a:r>
              <a:rPr sz="1200" kern="0" spc="-8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、限</a:t>
            </a:r>
            <a:r>
              <a:rPr sz="1200" kern="0" spc="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制园区资源</a:t>
            </a:r>
            <a:r>
              <a:rPr sz="12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使用</a:t>
            </a:r>
            <a:r>
              <a:rPr sz="1200" kern="0" spc="-19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、永久禁止入驻等；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01295" indent="-186689" algn="l" rtl="0" eaLnBrk="0">
              <a:lnSpc>
                <a:spcPct val="110000"/>
              </a:lnSpc>
              <a:spcBef>
                <a:spcPts val="4"/>
              </a:spcBef>
              <a:tabLst/>
            </a:pPr>
            <a:r>
              <a:rPr sz="1200" kern="0" spc="0" dirty="0">
                <a:solidFill>
                  <a:srgbClr val="808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</a:t>
            </a:r>
            <a:r>
              <a:rPr sz="1200" kern="0" spc="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白名单主体</a:t>
            </a:r>
            <a:r>
              <a:rPr sz="1200" kern="0" spc="-4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：优先分配订单</a:t>
            </a:r>
            <a:r>
              <a:rPr sz="1200" kern="0" spc="-8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、优先使用</a:t>
            </a:r>
            <a:r>
              <a:rPr sz="1200" kern="0" spc="-3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园区资源</a:t>
            </a:r>
            <a:r>
              <a:rPr sz="1200" kern="0" spc="-1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、享受结算优惠等；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62" name="textbox 1462"/>
          <p:cNvSpPr/>
          <p:nvPr/>
        </p:nvSpPr>
        <p:spPr>
          <a:xfrm>
            <a:off x="4660339" y="3132475"/>
            <a:ext cx="2878454" cy="21539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8254" algn="l" rtl="0" eaLnBrk="0">
              <a:lnSpc>
                <a:spcPct val="117000"/>
              </a:lnSpc>
              <a:tabLst/>
            </a:pP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以履约时效</a:t>
            </a:r>
            <a:r>
              <a:rPr sz="1400" kern="0" spc="-2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、违规记</a:t>
            </a: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录</a:t>
            </a:r>
            <a:r>
              <a:rPr sz="1400" kern="0" spc="-2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、好评或恶意</a:t>
            </a: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投诉记录等作为依据，基于系统数据</a:t>
            </a: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自动判定奖惩，并建全通告</a:t>
            </a:r>
            <a:r>
              <a:rPr sz="1400" kern="0" spc="-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、兑现</a:t>
            </a:r>
            <a:r>
              <a:rPr sz="1400" kern="0" spc="-1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400" kern="0" spc="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申诉等环节。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2404" indent="-178435" algn="l" rtl="0" eaLnBrk="0">
              <a:lnSpc>
                <a:spcPct val="110000"/>
              </a:lnSpc>
              <a:spcBef>
                <a:spcPts val="362"/>
              </a:spcBef>
              <a:tabLst/>
            </a:pPr>
            <a:r>
              <a:rPr sz="1200" kern="0" spc="-10" dirty="0">
                <a:solidFill>
                  <a:srgbClr val="808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</a:t>
            </a:r>
            <a:r>
              <a:rPr sz="12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奖励形式</a:t>
            </a:r>
            <a:r>
              <a:rPr sz="1200" kern="0" spc="-8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：现金补贴</a:t>
            </a:r>
            <a:r>
              <a:rPr sz="1200" kern="0" spc="-8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、服务升级</a:t>
            </a:r>
            <a:r>
              <a:rPr sz="1200" kern="0" spc="-8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、荣誉</a:t>
            </a:r>
            <a:r>
              <a:rPr sz="1200" kern="0" spc="-3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认证</a:t>
            </a:r>
            <a:r>
              <a:rPr sz="1200" kern="0" spc="-13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、优先续约权等；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93039" indent="-179070" algn="l" rtl="0" eaLnBrk="0">
              <a:lnSpc>
                <a:spcPct val="110000"/>
              </a:lnSpc>
              <a:spcBef>
                <a:spcPts val="3"/>
              </a:spcBef>
              <a:tabLst/>
            </a:pPr>
            <a:r>
              <a:rPr sz="1200" kern="0" spc="-10" dirty="0">
                <a:solidFill>
                  <a:srgbClr val="808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</a:t>
            </a:r>
            <a:r>
              <a:rPr sz="12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惩罚形式</a:t>
            </a:r>
            <a:r>
              <a:rPr sz="1200" kern="0" spc="-8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：扣违约金</a:t>
            </a:r>
            <a:r>
              <a:rPr sz="1200" kern="0" spc="-8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、订单限流</a:t>
            </a:r>
            <a:r>
              <a:rPr sz="1200" kern="0" spc="-8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、限制</a:t>
            </a:r>
            <a:r>
              <a:rPr sz="12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或暂停服务权限</a:t>
            </a:r>
            <a:r>
              <a:rPr sz="1200" kern="0" spc="-15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、纳入黑名单；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64" name="textbox 1464"/>
          <p:cNvSpPr/>
          <p:nvPr/>
        </p:nvSpPr>
        <p:spPr>
          <a:xfrm>
            <a:off x="364439" y="346695"/>
            <a:ext cx="11233150" cy="5276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87000"/>
              </a:lnSpc>
              <a:spcBef>
                <a:spcPts val="1"/>
              </a:spcBef>
              <a:tabLst>
                <a:tab pos="779780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管理机制保障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466" name="picture 14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649216" y="381062"/>
            <a:ext cx="1931803" cy="412600"/>
          </a:xfrm>
          <a:prstGeom prst="rect">
            <a:avLst/>
          </a:prstGeom>
        </p:spPr>
      </p:pic>
      <p:pic>
        <p:nvPicPr>
          <p:cNvPr id="1468" name="picture 14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77139" y="359395"/>
            <a:ext cx="584153" cy="473386"/>
          </a:xfrm>
          <a:prstGeom prst="rect">
            <a:avLst/>
          </a:prstGeom>
        </p:spPr>
      </p:pic>
      <p:grpSp>
        <p:nvGrpSpPr>
          <p:cNvPr id="112" name="group 112"/>
          <p:cNvGrpSpPr/>
          <p:nvPr/>
        </p:nvGrpSpPr>
        <p:grpSpPr>
          <a:xfrm rot="21600000">
            <a:off x="1151248" y="1974903"/>
            <a:ext cx="2422550" cy="531571"/>
            <a:chOff x="0" y="0"/>
            <a:chExt cx="2422550" cy="531571"/>
          </a:xfrm>
        </p:grpSpPr>
        <p:pic>
          <p:nvPicPr>
            <p:cNvPr id="1470" name="picture 147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2422550" cy="531571"/>
            </a:xfrm>
            <a:prstGeom prst="rect">
              <a:avLst/>
            </a:prstGeom>
          </p:spPr>
        </p:pic>
        <p:sp>
          <p:nvSpPr>
            <p:cNvPr id="1472" name="textbox 1472"/>
            <p:cNvSpPr/>
            <p:nvPr/>
          </p:nvSpPr>
          <p:spPr>
            <a:xfrm>
              <a:off x="-12700" y="-12700"/>
              <a:ext cx="2448560" cy="5727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5000"/>
                </a:lnSpc>
                <a:tabLst/>
              </a:pPr>
              <a:endParaRPr sz="800" dirty="0">
                <a:latin typeface="Arial"/>
                <a:ea typeface="Arial"/>
                <a:cs typeface="Arial"/>
              </a:endParaRPr>
            </a:p>
            <a:p>
              <a:pPr marL="519430" algn="l" rtl="0" eaLnBrk="0">
                <a:lnSpc>
                  <a:spcPct val="86000"/>
                </a:lnSpc>
                <a:spcBef>
                  <a:spcPts val="4"/>
                </a:spcBef>
                <a:tabLst/>
              </a:pPr>
              <a:r>
                <a:rPr sz="1400" b="1" kern="0" spc="-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黑白名单管理机制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14" name="group 114"/>
          <p:cNvGrpSpPr/>
          <p:nvPr/>
        </p:nvGrpSpPr>
        <p:grpSpPr>
          <a:xfrm rot="21600000">
            <a:off x="4884731" y="1974903"/>
            <a:ext cx="2422550" cy="531571"/>
            <a:chOff x="0" y="0"/>
            <a:chExt cx="2422550" cy="531571"/>
          </a:xfrm>
        </p:grpSpPr>
        <p:pic>
          <p:nvPicPr>
            <p:cNvPr id="1474" name="picture 147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2422550" cy="531571"/>
            </a:xfrm>
            <a:prstGeom prst="rect">
              <a:avLst/>
            </a:prstGeom>
          </p:spPr>
        </p:pic>
        <p:sp>
          <p:nvSpPr>
            <p:cNvPr id="1476" name="textbox 1476"/>
            <p:cNvSpPr/>
            <p:nvPr/>
          </p:nvSpPr>
          <p:spPr>
            <a:xfrm>
              <a:off x="-12700" y="-12700"/>
              <a:ext cx="2448560" cy="5734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5000"/>
                </a:lnSpc>
                <a:tabLst/>
              </a:pPr>
              <a:endParaRPr sz="800" dirty="0">
                <a:latin typeface="Arial"/>
                <a:ea typeface="Arial"/>
                <a:cs typeface="Arial"/>
              </a:endParaRPr>
            </a:p>
            <a:p>
              <a:pPr marL="426719" algn="l" rtl="0" eaLnBrk="0">
                <a:lnSpc>
                  <a:spcPct val="86000"/>
                </a:lnSpc>
                <a:spcBef>
                  <a:spcPts val="4"/>
                </a:spcBef>
                <a:tabLst/>
              </a:pPr>
              <a:r>
                <a:rPr sz="1400" b="1" kern="0" spc="-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奖惩触发及实施机制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16" name="group 116"/>
          <p:cNvGrpSpPr/>
          <p:nvPr/>
        </p:nvGrpSpPr>
        <p:grpSpPr>
          <a:xfrm rot="21600000">
            <a:off x="8618201" y="1974903"/>
            <a:ext cx="2422550" cy="531571"/>
            <a:chOff x="0" y="0"/>
            <a:chExt cx="2422550" cy="531571"/>
          </a:xfrm>
        </p:grpSpPr>
        <p:pic>
          <p:nvPicPr>
            <p:cNvPr id="1478" name="picture 147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2422550" cy="531571"/>
            </a:xfrm>
            <a:prstGeom prst="rect">
              <a:avLst/>
            </a:prstGeom>
          </p:spPr>
        </p:pic>
        <p:sp>
          <p:nvSpPr>
            <p:cNvPr id="1480" name="textbox 1480"/>
            <p:cNvSpPr/>
            <p:nvPr/>
          </p:nvSpPr>
          <p:spPr>
            <a:xfrm>
              <a:off x="-12700" y="-12700"/>
              <a:ext cx="2448560" cy="5708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5000"/>
                </a:lnSpc>
                <a:tabLst/>
              </a:pPr>
              <a:endParaRPr sz="800" dirty="0">
                <a:latin typeface="Arial"/>
                <a:ea typeface="Arial"/>
                <a:cs typeface="Arial"/>
              </a:endParaRPr>
            </a:p>
            <a:p>
              <a:pPr marL="429259" algn="l" rtl="0" eaLnBrk="0">
                <a:lnSpc>
                  <a:spcPct val="86000"/>
                </a:lnSpc>
                <a:spcBef>
                  <a:spcPts val="4"/>
                </a:spcBef>
                <a:tabLst/>
              </a:pPr>
              <a:r>
                <a:rPr sz="1400" b="1" kern="0" spc="-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异常调度与干预机制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1482" name="textbox 1482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484" name="picture 148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375998" y="2721114"/>
            <a:ext cx="1440002" cy="7620"/>
          </a:xfrm>
          <a:prstGeom prst="rect">
            <a:avLst/>
          </a:prstGeom>
        </p:spPr>
      </p:pic>
      <p:pic>
        <p:nvPicPr>
          <p:cNvPr id="1486" name="picture 148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642516" y="2721114"/>
            <a:ext cx="1440002" cy="7620"/>
          </a:xfrm>
          <a:prstGeom prst="rect">
            <a:avLst/>
          </a:prstGeom>
        </p:spPr>
      </p:pic>
      <p:pic>
        <p:nvPicPr>
          <p:cNvPr id="1488" name="picture 148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9109481" y="2721114"/>
            <a:ext cx="1440002" cy="762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textbox 1490"/>
          <p:cNvSpPr/>
          <p:nvPr/>
        </p:nvSpPr>
        <p:spPr>
          <a:xfrm>
            <a:off x="364439" y="346695"/>
            <a:ext cx="11233150" cy="5264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87000"/>
              </a:lnSpc>
              <a:spcBef>
                <a:spcPts val="2"/>
              </a:spcBef>
              <a:tabLst>
                <a:tab pos="77025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标准监管框架                                                             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492" name="picture 14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609211" y="381062"/>
            <a:ext cx="1931803" cy="412600"/>
          </a:xfrm>
          <a:prstGeom prst="rect">
            <a:avLst/>
          </a:prstGeom>
        </p:spPr>
      </p:pic>
      <p:pic>
        <p:nvPicPr>
          <p:cNvPr id="1494" name="picture 14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77139" y="359395"/>
            <a:ext cx="584153" cy="473386"/>
          </a:xfrm>
          <a:prstGeom prst="rect">
            <a:avLst/>
          </a:prstGeom>
        </p:spPr>
      </p:pic>
      <p:sp>
        <p:nvSpPr>
          <p:cNvPr id="1496" name="textbox 1496"/>
          <p:cNvSpPr/>
          <p:nvPr/>
        </p:nvSpPr>
        <p:spPr>
          <a:xfrm>
            <a:off x="990807" y="3406321"/>
            <a:ext cx="3261359" cy="14928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7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标准化监管框架是现代物流园区高效运营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6509" indent="8254" algn="l" rtl="0" eaLnBrk="0">
              <a:lnSpc>
                <a:spcPct val="202000"/>
              </a:lnSpc>
              <a:spcBef>
                <a:spcPts val="40"/>
              </a:spcBef>
              <a:tabLst/>
            </a:pP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的核心，通过统一规则与智能协同，解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决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动态拥堵</a:t>
            </a:r>
            <a:r>
              <a:rPr sz="1400" kern="0" spc="-2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、信息孤岛等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痛点</a:t>
            </a:r>
            <a:r>
              <a:rPr sz="14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实现车流</a:t>
            </a:r>
            <a:r>
              <a:rPr sz="1400" b="1" kern="0" spc="-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货流</a:t>
            </a:r>
            <a:r>
              <a:rPr sz="1400" b="1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、人流的精准管控与效率提升</a:t>
            </a:r>
            <a:r>
              <a:rPr sz="1400" b="1" kern="0" spc="-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98" name="textbox 1498"/>
          <p:cNvSpPr/>
          <p:nvPr/>
        </p:nvSpPr>
        <p:spPr>
          <a:xfrm>
            <a:off x="5273881" y="2211507"/>
            <a:ext cx="5897879" cy="5035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67" rIns="0" bIns="0"/>
          <a:lstStyle/>
          <a:p>
            <a:pPr marL="12700" indent="1270" algn="l" rtl="0" eaLnBrk="0">
              <a:lnSpc>
                <a:spcPct val="115000"/>
              </a:lnSpc>
              <a:spcBef>
                <a:spcPts val="1"/>
              </a:spcBef>
              <a:tabLst/>
            </a:pP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采用预约机制与路径优化技术</a:t>
            </a:r>
            <a:r>
              <a:rPr sz="1400" kern="0" spc="-1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，实时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调控车辆进出节奏，减少高峰期拥堵，</a:t>
            </a: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确保“快进快出</a:t>
            </a:r>
            <a:r>
              <a:rPr sz="1400" kern="0" spc="-1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”，将平均停留时间压缩30%以上，提升园区周转效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率。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00" name="textbox 1500"/>
          <p:cNvSpPr/>
          <p:nvPr/>
        </p:nvSpPr>
        <p:spPr>
          <a:xfrm>
            <a:off x="5274952" y="3794066"/>
            <a:ext cx="5931534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743" rIns="0" bIns="0"/>
          <a:lstStyle/>
          <a:p>
            <a:pPr marL="13970" indent="-1270" algn="l" rtl="0" eaLnBrk="0">
              <a:lnSpc>
                <a:spcPct val="112000"/>
              </a:lnSpc>
              <a:spcBef>
                <a:spcPts val="6"/>
              </a:spcBef>
              <a:tabLst/>
            </a:pP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通过预知性调度与自动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化设备联动</a:t>
            </a:r>
            <a:r>
              <a:rPr sz="1400" kern="0" spc="-1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，消除场地资源浪费</a:t>
            </a:r>
            <a:r>
              <a:rPr sz="1400" kern="0" spc="-1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，实现叉车</a:t>
            </a:r>
            <a:r>
              <a:rPr sz="1400" kern="0" spc="-1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、月台等</a:t>
            </a:r>
            <a:r>
              <a:rPr sz="1400" kern="0" spc="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设备的无缝协同，最</a:t>
            </a: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大化仓储空间利用率与作业流畅度。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02" name="textbox 1502"/>
          <p:cNvSpPr/>
          <p:nvPr/>
        </p:nvSpPr>
        <p:spPr>
          <a:xfrm>
            <a:off x="5276023" y="5377159"/>
            <a:ext cx="593026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391" rIns="0" bIns="0"/>
          <a:lstStyle/>
          <a:p>
            <a:pPr marL="15875" indent="-3175" algn="l" rtl="0" eaLnBrk="0">
              <a:lnSpc>
                <a:spcPct val="112000"/>
              </a:lnSpc>
              <a:spcBef>
                <a:spcPts val="3"/>
              </a:spcBef>
              <a:tabLst/>
            </a:pP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整合门禁</a:t>
            </a:r>
            <a:r>
              <a:rPr sz="1400" kern="0" spc="-2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、称重</a:t>
            </a:r>
            <a:r>
              <a:rPr sz="1400" kern="0" spc="-1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、监控等子系统，构建“人技物</a:t>
            </a:r>
            <a:r>
              <a:rPr sz="1400" kern="0" spc="-1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”三位</a:t>
            </a: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一体安防网络</a:t>
            </a:r>
            <a:r>
              <a:rPr sz="1400" kern="0" spc="-1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，覆盖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人员</a:t>
            </a:r>
            <a:r>
              <a:rPr sz="1400" kern="0" spc="-1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、车辆</a:t>
            </a:r>
            <a:r>
              <a:rPr sz="1400" kern="0" spc="-1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、货品全流程，</a:t>
            </a:r>
            <a:r>
              <a:rPr sz="1400" kern="0" spc="-3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降低事故率并强化执</a:t>
            </a: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行可控性。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118" name="group 118"/>
          <p:cNvGrpSpPr/>
          <p:nvPr/>
        </p:nvGrpSpPr>
        <p:grpSpPr>
          <a:xfrm rot="21600000">
            <a:off x="5167229" y="1593075"/>
            <a:ext cx="2422550" cy="459102"/>
            <a:chOff x="0" y="0"/>
            <a:chExt cx="2422550" cy="459102"/>
          </a:xfrm>
        </p:grpSpPr>
        <p:pic>
          <p:nvPicPr>
            <p:cNvPr id="1504" name="picture 150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2422550" cy="459102"/>
            </a:xfrm>
            <a:prstGeom prst="rect">
              <a:avLst/>
            </a:prstGeom>
          </p:spPr>
        </p:pic>
        <p:sp>
          <p:nvSpPr>
            <p:cNvPr id="1506" name="textbox 1506"/>
            <p:cNvSpPr/>
            <p:nvPr/>
          </p:nvSpPr>
          <p:spPr>
            <a:xfrm>
              <a:off x="-12700" y="-12700"/>
              <a:ext cx="2448560" cy="5010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340359" algn="l" rtl="0" eaLnBrk="0">
                <a:lnSpc>
                  <a:spcPct val="86000"/>
                </a:lnSpc>
                <a:spcBef>
                  <a:spcPts val="2"/>
                </a:spcBef>
                <a:tabLst/>
              </a:pPr>
              <a:r>
                <a:rPr sz="1400" b="1" kern="0" spc="-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动态交通拥堵智能治理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20" name="group 120"/>
          <p:cNvGrpSpPr/>
          <p:nvPr/>
        </p:nvGrpSpPr>
        <p:grpSpPr>
          <a:xfrm rot="21600000">
            <a:off x="5167229" y="3175991"/>
            <a:ext cx="2422550" cy="459102"/>
            <a:chOff x="0" y="0"/>
            <a:chExt cx="2422550" cy="459102"/>
          </a:xfrm>
        </p:grpSpPr>
        <p:pic>
          <p:nvPicPr>
            <p:cNvPr id="1508" name="picture 150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2422550" cy="459102"/>
            </a:xfrm>
            <a:prstGeom prst="rect">
              <a:avLst/>
            </a:prstGeom>
          </p:spPr>
        </p:pic>
        <p:sp>
          <p:nvSpPr>
            <p:cNvPr id="1510" name="textbox 1510"/>
            <p:cNvSpPr/>
            <p:nvPr/>
          </p:nvSpPr>
          <p:spPr>
            <a:xfrm>
              <a:off x="-12700" y="-12700"/>
              <a:ext cx="2448560" cy="50228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337184" algn="l" rtl="0" eaLnBrk="0">
                <a:lnSpc>
                  <a:spcPct val="86000"/>
                </a:lnSpc>
                <a:spcBef>
                  <a:spcPts val="6"/>
                </a:spcBef>
                <a:tabLst/>
              </a:pPr>
              <a:r>
                <a:rPr sz="1400" b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仓储设备协同优化方</a:t>
              </a:r>
              <a:r>
                <a:rPr sz="1400" b="1" kern="0" spc="-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案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22" name="group 122"/>
          <p:cNvGrpSpPr/>
          <p:nvPr/>
        </p:nvGrpSpPr>
        <p:grpSpPr>
          <a:xfrm rot="21600000">
            <a:off x="5167229" y="4758907"/>
            <a:ext cx="2422550" cy="459102"/>
            <a:chOff x="0" y="0"/>
            <a:chExt cx="2422550" cy="459102"/>
          </a:xfrm>
        </p:grpSpPr>
        <p:pic>
          <p:nvPicPr>
            <p:cNvPr id="1512" name="picture 151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2422550" cy="459102"/>
            </a:xfrm>
            <a:prstGeom prst="rect">
              <a:avLst/>
            </a:prstGeom>
          </p:spPr>
        </p:pic>
        <p:sp>
          <p:nvSpPr>
            <p:cNvPr id="1514" name="textbox 1514"/>
            <p:cNvSpPr/>
            <p:nvPr/>
          </p:nvSpPr>
          <p:spPr>
            <a:xfrm>
              <a:off x="-12700" y="-12700"/>
              <a:ext cx="2448560" cy="5016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426719" algn="l" rtl="0" eaLnBrk="0">
                <a:lnSpc>
                  <a:spcPct val="86000"/>
                </a:lnSpc>
                <a:spcBef>
                  <a:spcPts val="3"/>
                </a:spcBef>
                <a:tabLst/>
              </a:pPr>
              <a:r>
                <a:rPr sz="1400" b="1" kern="0" spc="-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全场景安全协同体系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1516" name="picture 15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145080" y="2108974"/>
            <a:ext cx="1005230" cy="878052"/>
          </a:xfrm>
          <a:prstGeom prst="rect">
            <a:avLst/>
          </a:prstGeom>
        </p:spPr>
      </p:pic>
      <p:sp>
        <p:nvSpPr>
          <p:cNvPr id="1518" name="textbox 1518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0" name="picture 15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43522" y="2354898"/>
            <a:ext cx="2466642" cy="2453992"/>
          </a:xfrm>
          <a:prstGeom prst="rect">
            <a:avLst/>
          </a:prstGeom>
        </p:spPr>
      </p:pic>
      <p:sp>
        <p:nvSpPr>
          <p:cNvPr id="1522" name="textbox 1522"/>
          <p:cNvSpPr/>
          <p:nvPr/>
        </p:nvSpPr>
        <p:spPr>
          <a:xfrm>
            <a:off x="5297161" y="4701216"/>
            <a:ext cx="5524500" cy="10902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4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87000"/>
              </a:lnSpc>
              <a:tabLst/>
            </a:pPr>
            <a:r>
              <a:rPr sz="15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制度无法覆盖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24765" indent="-6985" algn="l" rtl="0" eaLnBrk="0">
              <a:lnSpc>
                <a:spcPct val="91000"/>
              </a:lnSpc>
              <a:spcBef>
                <a:spcPts val="887"/>
              </a:spcBef>
              <a:tabLst/>
            </a:pP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面临“制度无法覆盖</a:t>
            </a:r>
            <a:r>
              <a:rPr sz="1400" kern="0" spc="-1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”的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特殊情况，如出现不可抗力导致的执行偏差</a:t>
            </a:r>
            <a:r>
              <a:rPr sz="1400" kern="0" spc="-2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临时业务需求冲突</a:t>
            </a:r>
            <a:r>
              <a:rPr sz="1400" kern="0" spc="-2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、新旧流程衔接漏洞等。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1"/>
              </a:spcBef>
              <a:tabLst/>
            </a:pPr>
            <a:r>
              <a:rPr sz="1200" kern="0" spc="8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对策：</a:t>
            </a:r>
            <a:r>
              <a:rPr sz="1200" kern="0" spc="-23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充分预判特殊场景</a:t>
            </a:r>
            <a:r>
              <a:rPr sz="1200" kern="0" spc="-9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，建立特殊情况处理机制，</a:t>
            </a:r>
            <a:r>
              <a:rPr sz="1200" kern="0" spc="-24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定期复盘特殊</a:t>
            </a:r>
            <a:r>
              <a:rPr sz="1200" kern="0" spc="7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问题</a:t>
            </a:r>
            <a:r>
              <a:rPr sz="1200" kern="0" spc="-19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24" name="textbox 1524"/>
          <p:cNvSpPr/>
          <p:nvPr/>
        </p:nvSpPr>
        <p:spPr>
          <a:xfrm>
            <a:off x="5297161" y="1516668"/>
            <a:ext cx="5532754" cy="10217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9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954" algn="l" rtl="0" eaLnBrk="0">
              <a:lnSpc>
                <a:spcPct val="86000"/>
              </a:lnSpc>
              <a:tabLst/>
            </a:pPr>
            <a:r>
              <a:rPr sz="15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司机执行阻力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4604" indent="3810" algn="l" rtl="0" eaLnBrk="0">
              <a:lnSpc>
                <a:spcPct val="91000"/>
              </a:lnSpc>
              <a:spcBef>
                <a:spcPts val="879"/>
              </a:spcBef>
              <a:tabLst/>
            </a:pP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司机作为系统终端使用主体，可能存在“不配合</a:t>
            </a:r>
            <a:r>
              <a:rPr sz="1400" kern="0" spc="-1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”的情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况，如抵触使用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系统</a:t>
            </a:r>
            <a:r>
              <a:rPr sz="1400" kern="0" spc="-2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、操作不熟练</a:t>
            </a:r>
            <a:r>
              <a:rPr sz="1400" kern="0" spc="-2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、执行偏差等。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642"/>
              </a:lnSpc>
              <a:tabLst/>
            </a:pPr>
            <a:r>
              <a:rPr sz="1200" kern="0" spc="9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对策：</a:t>
            </a:r>
            <a:r>
              <a:rPr sz="1200" kern="0" spc="-23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9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加强实操培训；</a:t>
            </a:r>
            <a:r>
              <a:rPr sz="1200" kern="0" spc="-21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9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绑定司机利</a:t>
            </a:r>
            <a:r>
              <a:rPr sz="1200" kern="0" spc="8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益（设置奖惩</a:t>
            </a:r>
            <a:r>
              <a:rPr sz="1200" kern="0" spc="-3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</a:t>
            </a:r>
            <a:r>
              <a:rPr sz="1200" kern="0" spc="-17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；</a:t>
            </a:r>
            <a:r>
              <a:rPr sz="1200" kern="0" spc="-25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建立客服响应机制等</a:t>
            </a:r>
            <a:r>
              <a:rPr sz="1200" kern="0" spc="-19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26" name="textbox 1526"/>
          <p:cNvSpPr/>
          <p:nvPr/>
        </p:nvSpPr>
        <p:spPr>
          <a:xfrm>
            <a:off x="5297161" y="3126859"/>
            <a:ext cx="5532754" cy="10134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1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调度异常管理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25400" indent="-9525" algn="l" rtl="0" eaLnBrk="0">
              <a:lnSpc>
                <a:spcPct val="92000"/>
              </a:lnSpc>
              <a:spcBef>
                <a:spcPts val="844"/>
              </a:spcBef>
              <a:tabLst/>
            </a:pP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异常处理机制设置不当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，会导致异常识别滞后</a:t>
            </a:r>
            <a:r>
              <a:rPr sz="1400" kern="0" spc="-1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、干预流程不灵活</a:t>
            </a:r>
            <a:r>
              <a:rPr sz="1400" kern="0" spc="-2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、跨部</a:t>
            </a: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门协同效率低等问题。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0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1200" kern="0" spc="8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对策：</a:t>
            </a:r>
            <a:r>
              <a:rPr sz="1200" kern="0" spc="-20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加强数据支撑，</a:t>
            </a:r>
            <a:r>
              <a:rPr sz="1200" kern="0" spc="-21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完善动态调试异常机制，</a:t>
            </a:r>
            <a:r>
              <a:rPr sz="1200" kern="0" spc="-22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实行分类分级干预；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28" name="textbox 1528"/>
          <p:cNvSpPr/>
          <p:nvPr/>
        </p:nvSpPr>
        <p:spPr>
          <a:xfrm>
            <a:off x="364439" y="346695"/>
            <a:ext cx="11233150" cy="5276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86000"/>
              </a:lnSpc>
              <a:tabLst>
                <a:tab pos="77406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风险与挑战        </a:t>
            </a:r>
            <a:r>
              <a:rPr sz="27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530" name="picture 15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621911" y="381062"/>
            <a:ext cx="1931803" cy="412600"/>
          </a:xfrm>
          <a:prstGeom prst="rect">
            <a:avLst/>
          </a:prstGeom>
        </p:spPr>
      </p:pic>
      <p:pic>
        <p:nvPicPr>
          <p:cNvPr id="1532" name="picture 15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77139" y="359395"/>
            <a:ext cx="584153" cy="473386"/>
          </a:xfrm>
          <a:prstGeom prst="rect">
            <a:avLst/>
          </a:prstGeom>
        </p:spPr>
      </p:pic>
      <p:sp>
        <p:nvSpPr>
          <p:cNvPr id="1534" name="textbox 1534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536" name="picture 15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479017" y="3394147"/>
            <a:ext cx="479766" cy="477627"/>
          </a:xfrm>
          <a:prstGeom prst="rect">
            <a:avLst/>
          </a:prstGeom>
        </p:spPr>
      </p:pic>
      <p:pic>
        <p:nvPicPr>
          <p:cNvPr id="1538" name="picture 153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479017" y="1780918"/>
            <a:ext cx="467464" cy="477627"/>
          </a:xfrm>
          <a:prstGeom prst="rect">
            <a:avLst/>
          </a:prstGeom>
        </p:spPr>
      </p:pic>
      <p:pic>
        <p:nvPicPr>
          <p:cNvPr id="1540" name="picture 15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479017" y="5007378"/>
            <a:ext cx="479766" cy="439919"/>
          </a:xfrm>
          <a:prstGeom prst="rect">
            <a:avLst/>
          </a:prstGeom>
        </p:spPr>
      </p:pic>
      <p:sp>
        <p:nvSpPr>
          <p:cNvPr id="1542" name="path 1542"/>
          <p:cNvSpPr/>
          <p:nvPr/>
        </p:nvSpPr>
        <p:spPr>
          <a:xfrm>
            <a:off x="4168140" y="1333500"/>
            <a:ext cx="36576" cy="1371600"/>
          </a:xfrm>
          <a:custGeom>
            <a:avLst/>
            <a:gdLst/>
            <a:ahLst/>
            <a:cxnLst/>
            <a:rect l="0" t="0" r="0" b="0"/>
            <a:pathLst>
              <a:path w="57" h="2160">
                <a:moveTo>
                  <a:pt x="0" y="0"/>
                </a:moveTo>
                <a:lnTo>
                  <a:pt x="57" y="0"/>
                </a:lnTo>
                <a:lnTo>
                  <a:pt x="57" y="2160"/>
                </a:lnTo>
                <a:lnTo>
                  <a:pt x="0" y="2160"/>
                </a:lnTo>
                <a:lnTo>
                  <a:pt x="0" y="0"/>
                </a:lnTo>
                <a:close/>
              </a:path>
            </a:pathLst>
          </a:custGeom>
          <a:solidFill>
            <a:srgbClr val="E52F3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44" name="path 1544"/>
          <p:cNvSpPr/>
          <p:nvPr/>
        </p:nvSpPr>
        <p:spPr>
          <a:xfrm>
            <a:off x="4168140" y="2947416"/>
            <a:ext cx="36576" cy="1371600"/>
          </a:xfrm>
          <a:custGeom>
            <a:avLst/>
            <a:gdLst/>
            <a:ahLst/>
            <a:cxnLst/>
            <a:rect l="0" t="0" r="0" b="0"/>
            <a:pathLst>
              <a:path w="57" h="2160">
                <a:moveTo>
                  <a:pt x="0" y="0"/>
                </a:moveTo>
                <a:lnTo>
                  <a:pt x="57" y="0"/>
                </a:lnTo>
                <a:lnTo>
                  <a:pt x="57" y="2160"/>
                </a:lnTo>
                <a:lnTo>
                  <a:pt x="0" y="2160"/>
                </a:lnTo>
                <a:lnTo>
                  <a:pt x="0" y="0"/>
                </a:lnTo>
                <a:close/>
              </a:path>
            </a:pathLst>
          </a:custGeom>
          <a:solidFill>
            <a:srgbClr val="E52F3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46" name="path 1546"/>
          <p:cNvSpPr/>
          <p:nvPr/>
        </p:nvSpPr>
        <p:spPr>
          <a:xfrm>
            <a:off x="4168140" y="4559808"/>
            <a:ext cx="36576" cy="1371600"/>
          </a:xfrm>
          <a:custGeom>
            <a:avLst/>
            <a:gdLst/>
            <a:ahLst/>
            <a:cxnLst/>
            <a:rect l="0" t="0" r="0" b="0"/>
            <a:pathLst>
              <a:path w="57" h="2160">
                <a:moveTo>
                  <a:pt x="0" y="0"/>
                </a:moveTo>
                <a:lnTo>
                  <a:pt x="57" y="0"/>
                </a:lnTo>
                <a:lnTo>
                  <a:pt x="57" y="2160"/>
                </a:lnTo>
                <a:lnTo>
                  <a:pt x="0" y="2160"/>
                </a:lnTo>
                <a:lnTo>
                  <a:pt x="0" y="0"/>
                </a:lnTo>
                <a:close/>
              </a:path>
            </a:pathLst>
          </a:custGeom>
          <a:solidFill>
            <a:srgbClr val="E52F3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8" name="picture 15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450847" y="2469375"/>
            <a:ext cx="9290304" cy="1659140"/>
          </a:xfrm>
          <a:prstGeom prst="rect">
            <a:avLst/>
          </a:prstGeom>
        </p:spPr>
      </p:pic>
      <p:sp>
        <p:nvSpPr>
          <p:cNvPr id="1550" name="textbox 1550"/>
          <p:cNvSpPr/>
          <p:nvPr/>
        </p:nvSpPr>
        <p:spPr>
          <a:xfrm>
            <a:off x="5132463" y="3514753"/>
            <a:ext cx="2923539" cy="380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13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2700" kern="0" spc="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园区多方价值提升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552" name="picture 15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652785" y="381062"/>
            <a:ext cx="1931803" cy="412600"/>
          </a:xfrm>
          <a:prstGeom prst="rect">
            <a:avLst/>
          </a:prstGeom>
        </p:spPr>
      </p:pic>
      <p:sp>
        <p:nvSpPr>
          <p:cNvPr id="1554" name="textbox 1554"/>
          <p:cNvSpPr/>
          <p:nvPr/>
        </p:nvSpPr>
        <p:spPr>
          <a:xfrm>
            <a:off x="5108374" y="3080414"/>
            <a:ext cx="1985645" cy="34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4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400" b="1" kern="0" spc="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项目价值效益</a:t>
            </a:r>
            <a:endParaRPr sz="2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556" name="picture 15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798176" y="3700767"/>
            <a:ext cx="511047" cy="754888"/>
          </a:xfrm>
          <a:prstGeom prst="rect">
            <a:avLst/>
          </a:prstGeom>
        </p:spPr>
      </p:pic>
      <p:sp>
        <p:nvSpPr>
          <p:cNvPr id="1558" name="textbox 1558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60" name="path 1560"/>
          <p:cNvSpPr/>
          <p:nvPr/>
        </p:nvSpPr>
        <p:spPr>
          <a:xfrm>
            <a:off x="5085588" y="3482340"/>
            <a:ext cx="3348228" cy="18288"/>
          </a:xfrm>
          <a:custGeom>
            <a:avLst/>
            <a:gdLst/>
            <a:ahLst/>
            <a:cxnLst/>
            <a:rect l="0" t="0" r="0" b="0"/>
            <a:pathLst>
              <a:path w="5272" h="28">
                <a:moveTo>
                  <a:pt x="0" y="0"/>
                </a:moveTo>
                <a:lnTo>
                  <a:pt x="5272" y="0"/>
                </a:lnTo>
                <a:lnTo>
                  <a:pt x="527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9D9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roup 124"/>
          <p:cNvGrpSpPr/>
          <p:nvPr/>
        </p:nvGrpSpPr>
        <p:grpSpPr>
          <a:xfrm rot="21600000">
            <a:off x="4512563" y="1869947"/>
            <a:ext cx="3166872" cy="3244596"/>
            <a:chOff x="0" y="0"/>
            <a:chExt cx="3166872" cy="3244596"/>
          </a:xfrm>
        </p:grpSpPr>
        <p:sp>
          <p:nvSpPr>
            <p:cNvPr id="1562" name="path 1562"/>
            <p:cNvSpPr/>
            <p:nvPr/>
          </p:nvSpPr>
          <p:spPr>
            <a:xfrm>
              <a:off x="188976" y="399288"/>
              <a:ext cx="2575559" cy="1917192"/>
            </a:xfrm>
            <a:custGeom>
              <a:avLst/>
              <a:gdLst/>
              <a:ahLst/>
              <a:cxnLst/>
              <a:rect l="0" t="0" r="0" b="0"/>
              <a:pathLst>
                <a:path w="4055" h="3019">
                  <a:moveTo>
                    <a:pt x="1235" y="2433"/>
                  </a:moveTo>
                  <a:lnTo>
                    <a:pt x="2015" y="3019"/>
                  </a:lnTo>
                  <a:lnTo>
                    <a:pt x="2915" y="3019"/>
                  </a:lnTo>
                  <a:lnTo>
                    <a:pt x="2135" y="2433"/>
                  </a:lnTo>
                  <a:lnTo>
                    <a:pt x="1235" y="2433"/>
                  </a:lnTo>
                </a:path>
                <a:path w="4055" h="3019">
                  <a:moveTo>
                    <a:pt x="607" y="1216"/>
                  </a:moveTo>
                  <a:lnTo>
                    <a:pt x="1675" y="1804"/>
                  </a:lnTo>
                  <a:lnTo>
                    <a:pt x="3480" y="1804"/>
                  </a:lnTo>
                  <a:lnTo>
                    <a:pt x="2411" y="1216"/>
                  </a:lnTo>
                  <a:lnTo>
                    <a:pt x="607" y="1216"/>
                  </a:lnTo>
                </a:path>
                <a:path w="4055" h="3019">
                  <a:moveTo>
                    <a:pt x="0" y="0"/>
                  </a:moveTo>
                  <a:lnTo>
                    <a:pt x="1425" y="588"/>
                  </a:lnTo>
                  <a:lnTo>
                    <a:pt x="4055" y="588"/>
                  </a:lnTo>
                  <a:lnTo>
                    <a:pt x="2630" y="0"/>
                  </a:lnTo>
                  <a:lnTo>
                    <a:pt x="0" y="0"/>
                  </a:lnTo>
                </a:path>
              </a:pathLst>
            </a:custGeom>
            <a:solidFill>
              <a:srgbClr val="FFEBE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64" name="path 1564"/>
            <p:cNvSpPr/>
            <p:nvPr/>
          </p:nvSpPr>
          <p:spPr>
            <a:xfrm>
              <a:off x="0" y="0"/>
              <a:ext cx="3166872" cy="3244596"/>
            </a:xfrm>
            <a:custGeom>
              <a:avLst/>
              <a:gdLst/>
              <a:ahLst/>
              <a:cxnLst/>
              <a:rect l="0" t="0" r="0" b="0"/>
              <a:pathLst>
                <a:path w="4987" h="5109">
                  <a:moveTo>
                    <a:pt x="1783" y="3636"/>
                  </a:moveTo>
                  <a:lnTo>
                    <a:pt x="2493" y="5109"/>
                  </a:lnTo>
                  <a:lnTo>
                    <a:pt x="3204" y="3636"/>
                  </a:lnTo>
                  <a:lnTo>
                    <a:pt x="1783" y="3636"/>
                  </a:lnTo>
                </a:path>
                <a:path w="4987" h="5109">
                  <a:moveTo>
                    <a:pt x="1209" y="2433"/>
                  </a:moveTo>
                  <a:lnTo>
                    <a:pt x="1488" y="3062"/>
                  </a:lnTo>
                  <a:lnTo>
                    <a:pt x="3499" y="3062"/>
                  </a:lnTo>
                  <a:lnTo>
                    <a:pt x="3777" y="2433"/>
                  </a:lnTo>
                  <a:lnTo>
                    <a:pt x="1209" y="2433"/>
                  </a:lnTo>
                </a:path>
                <a:path w="4987" h="5109">
                  <a:moveTo>
                    <a:pt x="633" y="1216"/>
                  </a:moveTo>
                  <a:lnTo>
                    <a:pt x="914" y="1845"/>
                  </a:lnTo>
                  <a:lnTo>
                    <a:pt x="4072" y="1845"/>
                  </a:lnTo>
                  <a:lnTo>
                    <a:pt x="4353" y="1216"/>
                  </a:lnTo>
                  <a:lnTo>
                    <a:pt x="633" y="1216"/>
                  </a:lnTo>
                </a:path>
                <a:path w="4987" h="5109">
                  <a:moveTo>
                    <a:pt x="0" y="0"/>
                  </a:moveTo>
                  <a:lnTo>
                    <a:pt x="280" y="628"/>
                  </a:lnTo>
                  <a:lnTo>
                    <a:pt x="4706" y="628"/>
                  </a:lnTo>
                  <a:lnTo>
                    <a:pt x="4987" y="0"/>
                  </a:lnTo>
                  <a:lnTo>
                    <a:pt x="0" y="0"/>
                  </a:lnTo>
                </a:path>
              </a:pathLst>
            </a:custGeom>
            <a:solidFill>
              <a:srgbClr val="E52F3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566" name="textbox 1566"/>
          <p:cNvSpPr/>
          <p:nvPr/>
        </p:nvSpPr>
        <p:spPr>
          <a:xfrm>
            <a:off x="364439" y="346695"/>
            <a:ext cx="11233150" cy="5251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87000"/>
              </a:lnSpc>
              <a:spcBef>
                <a:spcPts val="1"/>
              </a:spcBef>
              <a:tabLst>
                <a:tab pos="791844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降低园区成本                                   </a:t>
            </a:r>
            <a:r>
              <a:rPr sz="27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568" name="picture 15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623181" y="381062"/>
            <a:ext cx="1931803" cy="412600"/>
          </a:xfrm>
          <a:prstGeom prst="rect">
            <a:avLst/>
          </a:prstGeom>
        </p:spPr>
      </p:pic>
      <p:pic>
        <p:nvPicPr>
          <p:cNvPr id="1570" name="picture 15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77139" y="359395"/>
            <a:ext cx="584153" cy="473386"/>
          </a:xfrm>
          <a:prstGeom prst="rect">
            <a:avLst/>
          </a:prstGeom>
        </p:spPr>
      </p:pic>
      <p:sp>
        <p:nvSpPr>
          <p:cNvPr id="1572" name="textbox 1572"/>
          <p:cNvSpPr/>
          <p:nvPr/>
        </p:nvSpPr>
        <p:spPr>
          <a:xfrm>
            <a:off x="8327087" y="2434771"/>
            <a:ext cx="3003550" cy="962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69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indent="-1270" algn="l" rtl="0" eaLnBrk="0">
              <a:lnSpc>
                <a:spcPct val="129000"/>
              </a:lnSpc>
              <a:tabLst/>
            </a:pP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运用物联网技术，</a:t>
            </a:r>
            <a:r>
              <a:rPr sz="1200" kern="0" spc="-2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联动叉车</a:t>
            </a:r>
            <a:r>
              <a:rPr sz="12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、月台等设备</a:t>
            </a:r>
            <a:r>
              <a:rPr sz="1200" kern="0" spc="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资源，</a:t>
            </a:r>
            <a:r>
              <a:rPr sz="1200" kern="0" spc="-2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预判作业需求并实现自动调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度，</a:t>
            </a:r>
            <a:r>
              <a:rPr sz="1200" kern="0" spc="-2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使</a:t>
            </a:r>
            <a:r>
              <a:rPr sz="1200" kern="0" spc="1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自动化设备利用率提</a:t>
            </a:r>
            <a:r>
              <a:rPr sz="1200" kern="0" spc="1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升40%</a:t>
            </a:r>
            <a:r>
              <a:rPr sz="1200" kern="0" spc="-2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-1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场地周转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率提高25%</a:t>
            </a:r>
            <a:r>
              <a:rPr sz="1200" kern="0" spc="-1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74" name="textbox 1574"/>
          <p:cNvSpPr/>
          <p:nvPr/>
        </p:nvSpPr>
        <p:spPr>
          <a:xfrm>
            <a:off x="865738" y="2434442"/>
            <a:ext cx="3004185" cy="9391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93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26000"/>
              </a:lnSpc>
              <a:tabLst/>
            </a:pPr>
            <a:r>
              <a:rPr sz="1200" kern="0" spc="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通过智能预约机制与路径</a:t>
            </a:r>
            <a:r>
              <a:rPr sz="1200" kern="0" spc="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优化技术，</a:t>
            </a:r>
            <a:r>
              <a:rPr sz="1200" kern="0" spc="-2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精准</a:t>
            </a:r>
            <a:r>
              <a:rPr sz="1200" kern="0" spc="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调控车辆进出节奏，</a:t>
            </a:r>
            <a:r>
              <a:rPr sz="1200" kern="0" spc="-2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将平均</a:t>
            </a:r>
            <a:r>
              <a:rPr sz="1200" kern="0" spc="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停留时间压缩</a:t>
            </a:r>
            <a:r>
              <a:rPr sz="1200" kern="0" spc="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30%以上</a:t>
            </a:r>
            <a:r>
              <a:rPr sz="1200" kern="0" spc="-1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-1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</a:t>
            </a:r>
            <a:r>
              <a:rPr sz="1200" kern="0" spc="-1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“</a:t>
            </a:r>
            <a:r>
              <a:rPr sz="1200" kern="0" spc="-2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快进快装快出 ”的高</a:t>
            </a:r>
            <a:r>
              <a:rPr sz="1200" kern="0" spc="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效循环</a:t>
            </a:r>
            <a:r>
              <a:rPr sz="1200" kern="0" spc="-2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76" name="textbox 1576"/>
          <p:cNvSpPr/>
          <p:nvPr/>
        </p:nvSpPr>
        <p:spPr>
          <a:xfrm>
            <a:off x="8325113" y="4442202"/>
            <a:ext cx="3005454" cy="7448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03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635" algn="l" rtl="0" eaLnBrk="0">
              <a:lnSpc>
                <a:spcPct val="133000"/>
              </a:lnSpc>
              <a:tabLst/>
            </a:pPr>
            <a:r>
              <a:rPr sz="1200" kern="0" spc="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针对B2</a:t>
            </a:r>
            <a:r>
              <a:rPr sz="1200" kern="0" spc="-2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B/</a:t>
            </a:r>
            <a:r>
              <a:rPr sz="1200" kern="0" spc="-2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B2C客户定</a:t>
            </a:r>
            <a:r>
              <a:rPr sz="1200" kern="0" spc="1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制分级服务方案</a:t>
            </a:r>
            <a:r>
              <a:rPr sz="1200" kern="0" spc="-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建立统一监管机制，</a:t>
            </a:r>
            <a:r>
              <a:rPr sz="1200" kern="0" spc="-2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使园区服</a:t>
            </a:r>
            <a:r>
              <a:rPr sz="1200" kern="0" spc="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务响应速度</a:t>
            </a:r>
            <a:r>
              <a:rPr sz="1200" kern="0" spc="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提升50%，</a:t>
            </a:r>
            <a:r>
              <a:rPr sz="1200" kern="0" spc="-2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客户投诉率下降60%</a:t>
            </a:r>
            <a:r>
              <a:rPr sz="1200" kern="0" spc="-1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78" name="textbox 1578"/>
          <p:cNvSpPr/>
          <p:nvPr/>
        </p:nvSpPr>
        <p:spPr>
          <a:xfrm>
            <a:off x="864587" y="4442202"/>
            <a:ext cx="3005454" cy="7448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03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1905" algn="l" rtl="0" eaLnBrk="0">
              <a:lnSpc>
                <a:spcPct val="133000"/>
              </a:lnSpc>
              <a:tabLst/>
            </a:pPr>
            <a:r>
              <a:rPr sz="1200" kern="0" spc="2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整合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WMS</a:t>
            </a:r>
            <a:r>
              <a:rPr sz="1200" kern="0" spc="2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TMS</a:t>
            </a:r>
            <a:r>
              <a:rPr sz="1200" kern="0" spc="2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等系统数据构建智能中</a:t>
            </a:r>
            <a:r>
              <a:rPr sz="1200" kern="0" spc="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枢，</a:t>
            </a:r>
            <a:r>
              <a:rPr sz="1200" kern="0" spc="-2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通过流量预测与仓容分</a:t>
            </a:r>
            <a:r>
              <a:rPr sz="1200" kern="0" spc="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析实现决策优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化，</a:t>
            </a:r>
            <a:r>
              <a:rPr sz="1200" kern="0" spc="-1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降低异常处理成本35%</a:t>
            </a:r>
            <a:r>
              <a:rPr sz="1200" kern="0" spc="-1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126" name="group 126"/>
          <p:cNvGrpSpPr/>
          <p:nvPr/>
        </p:nvGrpSpPr>
        <p:grpSpPr>
          <a:xfrm rot="21600000">
            <a:off x="781735" y="3876561"/>
            <a:ext cx="2750896" cy="361682"/>
            <a:chOff x="0" y="0"/>
            <a:chExt cx="2750896" cy="361682"/>
          </a:xfrm>
        </p:grpSpPr>
        <p:pic>
          <p:nvPicPr>
            <p:cNvPr id="1580" name="picture 158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2750896" cy="361682"/>
            </a:xfrm>
            <a:prstGeom prst="rect">
              <a:avLst/>
            </a:prstGeom>
          </p:spPr>
        </p:pic>
        <p:sp>
          <p:nvSpPr>
            <p:cNvPr id="1582" name="textbox 1582"/>
            <p:cNvSpPr/>
            <p:nvPr/>
          </p:nvSpPr>
          <p:spPr>
            <a:xfrm>
              <a:off x="-12700" y="-12700"/>
              <a:ext cx="2776854" cy="3873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120014" algn="l" rtl="0" eaLnBrk="0">
                <a:lnSpc>
                  <a:spcPct val="92000"/>
                </a:lnSpc>
                <a:spcBef>
                  <a:spcPts val="3"/>
                </a:spcBef>
                <a:tabLst/>
              </a:pPr>
              <a:r>
                <a:rPr sz="1500" kern="0" spc="-20" dirty="0">
                  <a:solidFill>
                    <a:srgbClr val="E52F30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1500" kern="0" spc="-260" dirty="0">
                  <a:solidFill>
                    <a:srgbClr val="E52F30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1500" b="1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全流程数字化协同平台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28" name="group 128"/>
          <p:cNvGrpSpPr/>
          <p:nvPr/>
        </p:nvGrpSpPr>
        <p:grpSpPr>
          <a:xfrm rot="21600000">
            <a:off x="8241792" y="3876561"/>
            <a:ext cx="2750819" cy="361682"/>
            <a:chOff x="0" y="0"/>
            <a:chExt cx="2750819" cy="361682"/>
          </a:xfrm>
        </p:grpSpPr>
        <p:pic>
          <p:nvPicPr>
            <p:cNvPr id="1584" name="picture 158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2750819" cy="361682"/>
            </a:xfrm>
            <a:prstGeom prst="rect">
              <a:avLst/>
            </a:prstGeom>
          </p:spPr>
        </p:pic>
        <p:sp>
          <p:nvSpPr>
            <p:cNvPr id="1586" name="textbox 1586"/>
            <p:cNvSpPr/>
            <p:nvPr/>
          </p:nvSpPr>
          <p:spPr>
            <a:xfrm>
              <a:off x="-12700" y="-12700"/>
              <a:ext cx="2776220" cy="3873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120014" algn="l" rtl="0" eaLnBrk="0">
                <a:lnSpc>
                  <a:spcPct val="92000"/>
                </a:lnSpc>
                <a:spcBef>
                  <a:spcPts val="3"/>
                </a:spcBef>
                <a:tabLst/>
              </a:pPr>
              <a:r>
                <a:rPr sz="1500" kern="0" spc="-20" dirty="0">
                  <a:solidFill>
                    <a:srgbClr val="E52F30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1500" kern="0" spc="-280" dirty="0">
                  <a:solidFill>
                    <a:srgbClr val="E52F30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1500" b="1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差异化服务标准体系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30" name="group 130"/>
          <p:cNvGrpSpPr/>
          <p:nvPr/>
        </p:nvGrpSpPr>
        <p:grpSpPr>
          <a:xfrm rot="21600000">
            <a:off x="781735" y="1851062"/>
            <a:ext cx="2750896" cy="360934"/>
            <a:chOff x="0" y="0"/>
            <a:chExt cx="2750896" cy="360934"/>
          </a:xfrm>
        </p:grpSpPr>
        <p:pic>
          <p:nvPicPr>
            <p:cNvPr id="1588" name="picture 158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2750896" cy="360934"/>
            </a:xfrm>
            <a:prstGeom prst="rect">
              <a:avLst/>
            </a:prstGeom>
          </p:spPr>
        </p:pic>
        <p:sp>
          <p:nvSpPr>
            <p:cNvPr id="1590" name="textbox 1590"/>
            <p:cNvSpPr/>
            <p:nvPr/>
          </p:nvSpPr>
          <p:spPr>
            <a:xfrm>
              <a:off x="-12700" y="-12700"/>
              <a:ext cx="2776854" cy="3867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120014" algn="l" rtl="0" eaLnBrk="0">
                <a:lnSpc>
                  <a:spcPct val="92000"/>
                </a:lnSpc>
                <a:spcBef>
                  <a:spcPts val="3"/>
                </a:spcBef>
                <a:tabLst/>
              </a:pPr>
              <a:r>
                <a:rPr sz="1500" kern="0" spc="-10" dirty="0">
                  <a:solidFill>
                    <a:srgbClr val="E52F30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1500" kern="0" spc="-300" dirty="0">
                  <a:solidFill>
                    <a:srgbClr val="E52F30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1500" b="1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动态拥堵智能调度</a:t>
              </a:r>
              <a:r>
                <a:rPr sz="1500" b="1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解决方案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32" name="group 132"/>
          <p:cNvGrpSpPr/>
          <p:nvPr/>
        </p:nvGrpSpPr>
        <p:grpSpPr>
          <a:xfrm rot="21600000">
            <a:off x="8241792" y="1851062"/>
            <a:ext cx="2750819" cy="360934"/>
            <a:chOff x="0" y="0"/>
            <a:chExt cx="2750819" cy="360934"/>
          </a:xfrm>
        </p:grpSpPr>
        <p:pic>
          <p:nvPicPr>
            <p:cNvPr id="1592" name="picture 159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2750819" cy="360934"/>
            </a:xfrm>
            <a:prstGeom prst="rect">
              <a:avLst/>
            </a:prstGeom>
          </p:spPr>
        </p:pic>
        <p:sp>
          <p:nvSpPr>
            <p:cNvPr id="1594" name="textbox 1594"/>
            <p:cNvSpPr/>
            <p:nvPr/>
          </p:nvSpPr>
          <p:spPr>
            <a:xfrm>
              <a:off x="-12700" y="-12700"/>
              <a:ext cx="2776220" cy="3867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120014" algn="l" rtl="0" eaLnBrk="0">
                <a:lnSpc>
                  <a:spcPct val="92000"/>
                </a:lnSpc>
                <a:spcBef>
                  <a:spcPts val="3"/>
                </a:spcBef>
                <a:tabLst/>
              </a:pPr>
              <a:r>
                <a:rPr sz="1500" kern="0" spc="-20" dirty="0">
                  <a:solidFill>
                    <a:srgbClr val="E52F30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1500" kern="0" spc="-260" dirty="0">
                  <a:solidFill>
                    <a:srgbClr val="E52F30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1500" b="1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仓储设备协同效能提升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1596" name="textbox 1596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textbox 1598"/>
          <p:cNvSpPr/>
          <p:nvPr/>
        </p:nvSpPr>
        <p:spPr>
          <a:xfrm>
            <a:off x="1140263" y="2717329"/>
            <a:ext cx="2639695" cy="26200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6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89000"/>
              </a:lnSpc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强化管理能力，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7000"/>
              </a:lnSpc>
              <a:spcBef>
                <a:spcPts val="308"/>
              </a:spcBef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提升园区核心竞争力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7000"/>
              </a:lnSpc>
              <a:spcBef>
                <a:spcPts val="365"/>
              </a:spcBef>
              <a:tabLst/>
            </a:pP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200" kern="0" spc="3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加强园区管理数据支撑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5240" algn="l" rtl="0" eaLnBrk="0">
              <a:lnSpc>
                <a:spcPct val="91000"/>
              </a:lnSpc>
              <a:spcBef>
                <a:spcPts val="1073"/>
              </a:spcBef>
              <a:tabLst/>
            </a:pP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优化资源利用率，</a:t>
            </a:r>
            <a:r>
              <a:rPr sz="1200" kern="0" spc="-1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降低管理</a:t>
            </a:r>
            <a:r>
              <a:rPr sz="1200" kern="0" spc="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成本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5240" algn="l" rtl="0" eaLnBrk="0">
              <a:lnSpc>
                <a:spcPct val="91000"/>
              </a:lnSpc>
              <a:spcBef>
                <a:spcPts val="1030"/>
              </a:spcBef>
              <a:tabLst/>
            </a:pP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200" kern="0" spc="2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提升园区服务能力，</a:t>
            </a:r>
            <a:r>
              <a:rPr sz="1200" kern="0" spc="-2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增加营收来源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5240" algn="l" rtl="0" eaLnBrk="0">
              <a:lnSpc>
                <a:spcPct val="91000"/>
              </a:lnSpc>
              <a:spcBef>
                <a:spcPts val="1030"/>
              </a:spcBef>
              <a:tabLst/>
            </a:pPr>
            <a:r>
              <a:rPr sz="1200" kern="0" spc="6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200" kern="0" spc="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智能化监管，</a:t>
            </a:r>
            <a:r>
              <a:rPr sz="1200" kern="0" spc="-1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降低运营风险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63905" algn="l" rtl="0" eaLnBrk="0">
              <a:lnSpc>
                <a:spcPts val="1521"/>
              </a:lnSpc>
              <a:spcBef>
                <a:spcPts val="365"/>
              </a:spcBef>
              <a:tabLst/>
            </a:pPr>
            <a:r>
              <a:rPr sz="1200" kern="0" spc="60" dirty="0">
                <a:solidFill>
                  <a:srgbClr val="BFBFB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管理者/服务者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775969" algn="l" rtl="0" eaLnBrk="0">
              <a:lnSpc>
                <a:spcPct val="87000"/>
              </a:lnSpc>
              <a:tabLst/>
            </a:pP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园区运营方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00" name="textbox 1600"/>
          <p:cNvSpPr/>
          <p:nvPr/>
        </p:nvSpPr>
        <p:spPr>
          <a:xfrm>
            <a:off x="8496090" y="2715100"/>
            <a:ext cx="2474595" cy="2624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4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提升运营效率，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3334" algn="l" rtl="0" eaLnBrk="0">
              <a:lnSpc>
                <a:spcPct val="87000"/>
              </a:lnSpc>
              <a:spcBef>
                <a:spcPts val="307"/>
              </a:spcBef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扩大服务业务规模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2000"/>
              </a:lnSpc>
              <a:spcBef>
                <a:spcPts val="362"/>
              </a:spcBef>
              <a:tabLst/>
            </a:pP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智能化作业流程，</a:t>
            </a:r>
            <a:r>
              <a:rPr sz="1200" kern="0" spc="-2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提升作业效率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5240" algn="l" rtl="0" eaLnBrk="0">
              <a:lnSpc>
                <a:spcPct val="91000"/>
              </a:lnSpc>
              <a:spcBef>
                <a:spcPts val="1030"/>
              </a:spcBef>
              <a:tabLst/>
            </a:pP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减少沟通成本，</a:t>
            </a:r>
            <a:r>
              <a:rPr sz="1200" kern="0" spc="-2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提升订单转化率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5240" algn="l" rtl="0" eaLnBrk="0">
              <a:lnSpc>
                <a:spcPct val="91000"/>
              </a:lnSpc>
              <a:spcBef>
                <a:spcPts val="1030"/>
              </a:spcBef>
              <a:tabLst/>
            </a:pP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优化运力调度，</a:t>
            </a:r>
            <a:r>
              <a:rPr sz="1200" kern="0" spc="-2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有助于加强服务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5240" algn="l" rtl="0" eaLnBrk="0">
              <a:lnSpc>
                <a:spcPct val="92000"/>
              </a:lnSpc>
              <a:spcBef>
                <a:spcPts val="1015"/>
              </a:spcBef>
              <a:tabLst/>
            </a:pP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简化结算流程，</a:t>
            </a:r>
            <a:r>
              <a:rPr sz="1200" kern="0" spc="-2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缓解现金流压力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60730" algn="l" rtl="0" eaLnBrk="0">
              <a:lnSpc>
                <a:spcPct val="86000"/>
              </a:lnSpc>
              <a:spcBef>
                <a:spcPts val="366"/>
              </a:spcBef>
              <a:tabLst/>
            </a:pPr>
            <a:r>
              <a:rPr sz="1200" kern="0" spc="160" dirty="0">
                <a:solidFill>
                  <a:srgbClr val="BFBFB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执行作业主体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762634" algn="l" rtl="0" eaLnBrk="0">
              <a:lnSpc>
                <a:spcPct val="88000"/>
              </a:lnSpc>
              <a:spcBef>
                <a:spcPts val="2"/>
              </a:spcBef>
              <a:tabLst/>
            </a:pP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物流服务商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02" name="textbox 1602"/>
          <p:cNvSpPr/>
          <p:nvPr/>
        </p:nvSpPr>
        <p:spPr>
          <a:xfrm>
            <a:off x="4818981" y="2714695"/>
            <a:ext cx="2473960" cy="2623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ct val="90000"/>
              </a:lnSpc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实现降本增效，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7000"/>
              </a:lnSpc>
              <a:spcBef>
                <a:spcPts val="283"/>
              </a:spcBef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优化企业供应链韧性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92000"/>
              </a:lnSpc>
              <a:spcBef>
                <a:spcPts val="361"/>
              </a:spcBef>
              <a:tabLst/>
            </a:pP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200" kern="0" spc="2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快速响应订单，</a:t>
            </a:r>
            <a:r>
              <a:rPr sz="1200" kern="0" spc="-2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缩短物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流周期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4604" algn="l" rtl="0" eaLnBrk="0">
              <a:lnSpc>
                <a:spcPct val="92000"/>
              </a:lnSpc>
              <a:spcBef>
                <a:spcPts val="1015"/>
              </a:spcBef>
              <a:tabLst/>
            </a:pP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降低物流成本，</a:t>
            </a:r>
            <a:r>
              <a:rPr sz="1200" kern="0" spc="-2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减少隐性损耗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4604" algn="l" rtl="0" eaLnBrk="0">
              <a:lnSpc>
                <a:spcPct val="91000"/>
              </a:lnSpc>
              <a:spcBef>
                <a:spcPts val="1030"/>
              </a:spcBef>
              <a:tabLst/>
            </a:pP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完善数据体系，</a:t>
            </a:r>
            <a:r>
              <a:rPr sz="1200" kern="0" spc="-2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支撑运营决策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4604" algn="l" rtl="0" eaLnBrk="0">
              <a:lnSpc>
                <a:spcPct val="87000"/>
              </a:lnSpc>
              <a:spcBef>
                <a:spcPts val="1019"/>
              </a:spcBef>
              <a:tabLst/>
            </a:pPr>
            <a:r>
              <a:rPr sz="1200" kern="0" spc="9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200" kern="0" spc="2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200" kern="0" spc="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提升供应链灵活性应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对市场变化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69925" algn="l" rtl="0" eaLnBrk="0">
              <a:lnSpc>
                <a:spcPct val="86000"/>
              </a:lnSpc>
              <a:spcBef>
                <a:spcPts val="367"/>
              </a:spcBef>
              <a:tabLst/>
            </a:pPr>
            <a:r>
              <a:rPr sz="1200" kern="0" spc="-40" dirty="0">
                <a:solidFill>
                  <a:srgbClr val="BFBFB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核</a:t>
            </a:r>
            <a:r>
              <a:rPr sz="1200" kern="0" spc="130" dirty="0">
                <a:solidFill>
                  <a:srgbClr val="BFBFB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kern="0" spc="-40" dirty="0">
                <a:solidFill>
                  <a:srgbClr val="BFBFB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心</a:t>
            </a:r>
            <a:r>
              <a:rPr sz="1200" kern="0" spc="110" dirty="0">
                <a:solidFill>
                  <a:srgbClr val="BFBFB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kern="0" spc="-40" dirty="0">
                <a:solidFill>
                  <a:srgbClr val="BFBFB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使</a:t>
            </a:r>
            <a:r>
              <a:rPr sz="1200" kern="0" spc="120" dirty="0">
                <a:solidFill>
                  <a:srgbClr val="BFBFB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kern="0" spc="-40" dirty="0">
                <a:solidFill>
                  <a:srgbClr val="BFBFB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</a:t>
            </a:r>
            <a:r>
              <a:rPr sz="1200" kern="0" spc="120" dirty="0">
                <a:solidFill>
                  <a:srgbClr val="BFBFB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kern="0" spc="-40" dirty="0">
                <a:solidFill>
                  <a:srgbClr val="BFBFB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者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686434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园区入驻企业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04" name="textbox 1604"/>
          <p:cNvSpPr/>
          <p:nvPr/>
        </p:nvSpPr>
        <p:spPr>
          <a:xfrm>
            <a:off x="364439" y="346695"/>
            <a:ext cx="11233150" cy="521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86000"/>
              </a:lnSpc>
              <a:spcBef>
                <a:spcPts val="1"/>
              </a:spcBef>
              <a:tabLst>
                <a:tab pos="78041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多方价值提升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606" name="picture 16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649851" y="381062"/>
            <a:ext cx="1931803" cy="412600"/>
          </a:xfrm>
          <a:prstGeom prst="rect">
            <a:avLst/>
          </a:prstGeom>
        </p:spPr>
      </p:pic>
      <p:pic>
        <p:nvPicPr>
          <p:cNvPr id="1608" name="picture 16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77139" y="359395"/>
            <a:ext cx="584153" cy="473386"/>
          </a:xfrm>
          <a:prstGeom prst="rect">
            <a:avLst/>
          </a:prstGeom>
        </p:spPr>
      </p:pic>
      <p:pic>
        <p:nvPicPr>
          <p:cNvPr id="1610" name="picture 16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139545" y="1785998"/>
            <a:ext cx="557093" cy="606613"/>
          </a:xfrm>
          <a:prstGeom prst="rect">
            <a:avLst/>
          </a:prstGeom>
        </p:spPr>
      </p:pic>
      <p:pic>
        <p:nvPicPr>
          <p:cNvPr id="1612" name="picture 16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805787" y="1785998"/>
            <a:ext cx="555189" cy="606613"/>
          </a:xfrm>
          <a:prstGeom prst="rect">
            <a:avLst/>
          </a:prstGeom>
        </p:spPr>
      </p:pic>
      <p:pic>
        <p:nvPicPr>
          <p:cNvPr id="1614" name="picture 16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482980" y="1835517"/>
            <a:ext cx="581853" cy="532334"/>
          </a:xfrm>
          <a:prstGeom prst="rect">
            <a:avLst/>
          </a:prstGeom>
        </p:spPr>
      </p:pic>
      <p:sp>
        <p:nvSpPr>
          <p:cNvPr id="1616" name="textbox 1616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textbox 1618"/>
          <p:cNvSpPr/>
          <p:nvPr/>
        </p:nvSpPr>
        <p:spPr>
          <a:xfrm>
            <a:off x="1823580" y="1899586"/>
            <a:ext cx="2886710" cy="34626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735" algn="l" rtl="0" eaLnBrk="0">
              <a:lnSpc>
                <a:spcPts val="3544"/>
              </a:lnSpc>
              <a:tabLst/>
            </a:pPr>
            <a:r>
              <a:rPr sz="26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30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%</a:t>
            </a:r>
            <a:r>
              <a:rPr sz="2700" kern="0" spc="8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月台利用率提高   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181000"/>
              </a:lnSpc>
              <a:spcBef>
                <a:spcPts val="63"/>
              </a:spcBef>
              <a:tabLst>
                <a:tab pos="180975" algn="l"/>
              </a:tabLst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司机等待时间减少</a:t>
            </a:r>
            <a:r>
              <a:rPr sz="1500" kern="0" spc="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26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40</a:t>
            </a:r>
            <a:r>
              <a:rPr sz="27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%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600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50</a:t>
            </a:r>
            <a:r>
              <a:rPr sz="2700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%</a:t>
            </a:r>
            <a:r>
              <a:rPr sz="2700" kern="0" spc="8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异常处理效率提升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司机等待时间减少    </a:t>
            </a:r>
            <a:r>
              <a:rPr sz="26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80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%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600" kern="0" spc="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95</a:t>
            </a:r>
            <a:r>
              <a:rPr sz="2700" kern="0" spc="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%</a:t>
            </a:r>
            <a:r>
              <a:rPr sz="2700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500" kern="0" spc="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违规行为识别率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620" name="picture 16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459945" y="4232898"/>
            <a:ext cx="235641" cy="310055"/>
          </a:xfrm>
          <a:prstGeom prst="rect">
            <a:avLst/>
          </a:prstGeom>
        </p:spPr>
      </p:pic>
      <p:pic>
        <p:nvPicPr>
          <p:cNvPr id="1622" name="picture 16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727761" y="3508833"/>
            <a:ext cx="199761" cy="274671"/>
          </a:xfrm>
          <a:prstGeom prst="rect">
            <a:avLst/>
          </a:prstGeom>
        </p:spPr>
      </p:pic>
      <p:pic>
        <p:nvPicPr>
          <p:cNvPr id="1624" name="picture 16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456135" y="2763762"/>
            <a:ext cx="235641" cy="310055"/>
          </a:xfrm>
          <a:prstGeom prst="rect">
            <a:avLst/>
          </a:prstGeom>
        </p:spPr>
      </p:pic>
      <p:pic>
        <p:nvPicPr>
          <p:cNvPr id="1626" name="picture 16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680387" y="2040297"/>
            <a:ext cx="199761" cy="276521"/>
          </a:xfrm>
          <a:prstGeom prst="rect">
            <a:avLst/>
          </a:prstGeom>
        </p:spPr>
      </p:pic>
      <p:sp>
        <p:nvSpPr>
          <p:cNvPr id="1628" name="textbox 1628"/>
          <p:cNvSpPr/>
          <p:nvPr/>
        </p:nvSpPr>
        <p:spPr>
          <a:xfrm>
            <a:off x="364439" y="346695"/>
            <a:ext cx="11233150" cy="5226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87000"/>
              </a:lnSpc>
              <a:spcBef>
                <a:spcPts val="2"/>
              </a:spcBef>
              <a:tabLst>
                <a:tab pos="786130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改善指标比较                                       </a:t>
            </a:r>
            <a:r>
              <a:rPr sz="27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630" name="picture 16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617466" y="381062"/>
            <a:ext cx="1931803" cy="412600"/>
          </a:xfrm>
          <a:prstGeom prst="rect">
            <a:avLst/>
          </a:prstGeom>
        </p:spPr>
      </p:pic>
      <p:pic>
        <p:nvPicPr>
          <p:cNvPr id="1632" name="picture 16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77139" y="359395"/>
            <a:ext cx="584153" cy="473386"/>
          </a:xfrm>
          <a:prstGeom prst="rect">
            <a:avLst/>
          </a:prstGeom>
        </p:spPr>
      </p:pic>
      <p:pic>
        <p:nvPicPr>
          <p:cNvPr id="1634" name="picture 16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0275519" y="2108517"/>
            <a:ext cx="859967" cy="3115843"/>
          </a:xfrm>
          <a:prstGeom prst="rect">
            <a:avLst/>
          </a:prstGeom>
        </p:spPr>
      </p:pic>
      <p:pic>
        <p:nvPicPr>
          <p:cNvPr id="1636" name="picture 163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265619" y="2974035"/>
            <a:ext cx="859967" cy="2250325"/>
          </a:xfrm>
          <a:prstGeom prst="rect">
            <a:avLst/>
          </a:prstGeom>
        </p:spPr>
      </p:pic>
      <p:sp>
        <p:nvSpPr>
          <p:cNvPr id="1638" name="textbox 1638"/>
          <p:cNvSpPr/>
          <p:nvPr/>
        </p:nvSpPr>
        <p:spPr>
          <a:xfrm>
            <a:off x="5673098" y="5338149"/>
            <a:ext cx="5602604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i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司机等待时长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</a:t>
            </a:r>
            <a:r>
              <a:rPr sz="1400" b="1" i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月台利用率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</a:t>
            </a:r>
            <a:r>
              <a:rPr sz="1400" b="1" i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人工成本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</a:t>
            </a:r>
            <a:r>
              <a:rPr sz="1400" b="1" i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异常处</a:t>
            </a:r>
            <a:r>
              <a:rPr sz="1400" b="1" i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理效率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640" name="picture 164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760669" y="3493338"/>
            <a:ext cx="429983" cy="1731022"/>
          </a:xfrm>
          <a:prstGeom prst="rect">
            <a:avLst/>
          </a:prstGeom>
        </p:spPr>
      </p:pic>
      <p:pic>
        <p:nvPicPr>
          <p:cNvPr id="1642" name="picture 164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8770569" y="3493338"/>
            <a:ext cx="429983" cy="1731022"/>
          </a:xfrm>
          <a:prstGeom prst="rect">
            <a:avLst/>
          </a:prstGeom>
        </p:spPr>
      </p:pic>
      <p:sp>
        <p:nvSpPr>
          <p:cNvPr id="1644" name="textbox 1644"/>
          <p:cNvSpPr/>
          <p:nvPr/>
        </p:nvSpPr>
        <p:spPr>
          <a:xfrm>
            <a:off x="5676524" y="1630883"/>
            <a:ext cx="2701289" cy="210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1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1400" i="1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YMS系统应用前后改善指标对比：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646" name="picture 164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6190652" y="4185754"/>
            <a:ext cx="429984" cy="1038606"/>
          </a:xfrm>
          <a:prstGeom prst="rect">
            <a:avLst/>
          </a:prstGeom>
        </p:spPr>
      </p:pic>
      <p:sp>
        <p:nvSpPr>
          <p:cNvPr id="1648" name="textbox 1648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650" name="picture 165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953563" y="3273759"/>
            <a:ext cx="464217" cy="465928"/>
          </a:xfrm>
          <a:prstGeom prst="rect">
            <a:avLst/>
          </a:prstGeom>
        </p:spPr>
      </p:pic>
      <p:pic>
        <p:nvPicPr>
          <p:cNvPr id="1652" name="picture 165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953563" y="2039458"/>
            <a:ext cx="451671" cy="453667"/>
          </a:xfrm>
          <a:prstGeom prst="rect">
            <a:avLst/>
          </a:prstGeom>
        </p:spPr>
      </p:pic>
      <p:pic>
        <p:nvPicPr>
          <p:cNvPr id="1654" name="picture 165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971122" y="4538806"/>
            <a:ext cx="430622" cy="430622"/>
          </a:xfrm>
          <a:prstGeom prst="rect">
            <a:avLst/>
          </a:prstGeom>
        </p:spPr>
      </p:pic>
      <p:pic>
        <p:nvPicPr>
          <p:cNvPr id="1656" name="picture 165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9200553" y="4878158"/>
            <a:ext cx="429983" cy="346202"/>
          </a:xfrm>
          <a:prstGeom prst="rect">
            <a:avLst/>
          </a:prstGeom>
        </p:spPr>
      </p:pic>
      <p:sp>
        <p:nvSpPr>
          <p:cNvPr id="1658" name="textbox 1658"/>
          <p:cNvSpPr/>
          <p:nvPr/>
        </p:nvSpPr>
        <p:spPr>
          <a:xfrm>
            <a:off x="821418" y="2600172"/>
            <a:ext cx="734059" cy="209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效率提升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60" name="textbox 1660"/>
          <p:cNvSpPr/>
          <p:nvPr/>
        </p:nvSpPr>
        <p:spPr>
          <a:xfrm>
            <a:off x="823410" y="5049821"/>
            <a:ext cx="730884" cy="209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4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安全保障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62" name="textbox 1662"/>
          <p:cNvSpPr/>
          <p:nvPr/>
        </p:nvSpPr>
        <p:spPr>
          <a:xfrm>
            <a:off x="825343" y="3865487"/>
            <a:ext cx="729615" cy="2082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94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管理提升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664" name="picture 166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1836280" y="2729204"/>
            <a:ext cx="1836000" cy="19050"/>
          </a:xfrm>
          <a:prstGeom prst="rect">
            <a:avLst/>
          </a:prstGeom>
        </p:spPr>
      </p:pic>
      <p:pic>
        <p:nvPicPr>
          <p:cNvPr id="1666" name="picture 166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1836280" y="4198124"/>
            <a:ext cx="1836000" cy="19050"/>
          </a:xfrm>
          <a:prstGeom prst="rect">
            <a:avLst/>
          </a:prstGeom>
        </p:spPr>
      </p:pic>
      <p:pic>
        <p:nvPicPr>
          <p:cNvPr id="1668" name="picture 166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2975470" y="1989315"/>
            <a:ext cx="1619999" cy="19050"/>
          </a:xfrm>
          <a:prstGeom prst="rect">
            <a:avLst/>
          </a:prstGeom>
        </p:spPr>
      </p:pic>
      <p:pic>
        <p:nvPicPr>
          <p:cNvPr id="1670" name="picture 167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2975470" y="3458222"/>
            <a:ext cx="1619999" cy="19050"/>
          </a:xfrm>
          <a:prstGeom prst="rect">
            <a:avLst/>
          </a:prstGeom>
        </p:spPr>
      </p:pic>
      <p:pic>
        <p:nvPicPr>
          <p:cNvPr id="1672" name="picture 167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2974162" y="4927142"/>
            <a:ext cx="1619999" cy="1905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" name="textbox 1674"/>
          <p:cNvSpPr/>
          <p:nvPr/>
        </p:nvSpPr>
        <p:spPr>
          <a:xfrm>
            <a:off x="1310779" y="1524406"/>
            <a:ext cx="4408170" cy="4203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86000"/>
              </a:lnSpc>
              <a:tabLst/>
            </a:pP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全流程服务响应时效显著提</a:t>
            </a:r>
            <a:r>
              <a:rPr sz="15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升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indent="10160" algn="l" rtl="0" eaLnBrk="0">
              <a:lnSpc>
                <a:spcPct val="119000"/>
              </a:lnSpc>
              <a:spcBef>
                <a:spcPts val="1015"/>
              </a:spcBef>
              <a:tabLst/>
            </a:pP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园区物流服务的订单响应时间从传统数天级压缩至小时级</a:t>
            </a:r>
            <a:r>
              <a:rPr sz="1200" kern="0" spc="-1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，货物</a:t>
            </a:r>
            <a:r>
              <a:rPr sz="1200" kern="0" spc="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从下单到完成装卸运输全链路周期缩短30%以上</a:t>
            </a:r>
            <a:r>
              <a:rPr sz="12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。入园车辆无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效等待时长减少，作业衔接效率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大幅提升</a:t>
            </a:r>
            <a:r>
              <a:rPr sz="1200" kern="0" spc="-2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7000"/>
              </a:lnSpc>
              <a:spcBef>
                <a:spcPts val="453"/>
              </a:spcBef>
              <a:tabLst/>
            </a:pPr>
            <a:r>
              <a:rPr sz="15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提升服务流程标准化</a:t>
            </a:r>
            <a:r>
              <a:rPr sz="1500" b="1" kern="0" spc="-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、透明化程度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indent="3175" algn="l" rtl="0" eaLnBrk="0">
              <a:lnSpc>
                <a:spcPct val="122000"/>
              </a:lnSpc>
              <a:spcBef>
                <a:spcPts val="947"/>
              </a:spcBef>
              <a:tabLst/>
            </a:pP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实现服务流程规范化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管控</a:t>
            </a:r>
            <a:r>
              <a:rPr sz="1200" kern="0" spc="-1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，多维度信息实时可视化，企业</a:t>
            </a:r>
            <a:r>
              <a:rPr sz="1200" kern="0" spc="-2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、物流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商</a:t>
            </a:r>
            <a:r>
              <a:rPr sz="1200" kern="0" spc="-1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、司机等主体可随时查询</a:t>
            </a:r>
            <a:r>
              <a:rPr sz="1200" kern="0" spc="-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，异常情况自动</a:t>
            </a:r>
            <a:r>
              <a:rPr sz="1200" kern="0" spc="-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预警并同步处理进度，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服务纠纷率降低80%，服务透明度与公信力显著增强</a:t>
            </a:r>
            <a:r>
              <a:rPr sz="1200" kern="0" spc="-1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86000"/>
              </a:lnSpc>
              <a:spcBef>
                <a:spcPts val="460"/>
              </a:spcBef>
              <a:tabLst/>
            </a:pP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资源利用与服务配置实</a:t>
            </a:r>
            <a:r>
              <a:rPr sz="15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现最优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3970" indent="1270" algn="l" rtl="0" eaLnBrk="0">
              <a:lnSpc>
                <a:spcPct val="123000"/>
              </a:lnSpc>
              <a:spcBef>
                <a:spcPts val="2"/>
              </a:spcBef>
              <a:tabLst/>
            </a:pP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实现资源动态优化调度，提升仓库空间利用率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，减少装卸设备闲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置时间</a:t>
            </a:r>
            <a:r>
              <a:rPr sz="1200" kern="0" spc="2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，高峰期资源紧张与低峰期资源闲置的矛盾得到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有效解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决</a:t>
            </a:r>
            <a:r>
              <a:rPr sz="1200" kern="0" spc="-1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，以有限资源承载更高业务量，服务承载力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显著增强</a:t>
            </a:r>
            <a:r>
              <a:rPr sz="1200" kern="0" spc="-2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76" name="textbox 1676"/>
          <p:cNvSpPr/>
          <p:nvPr/>
        </p:nvSpPr>
        <p:spPr>
          <a:xfrm>
            <a:off x="364439" y="346695"/>
            <a:ext cx="11233150" cy="5276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87000"/>
              </a:lnSpc>
              <a:spcBef>
                <a:spcPts val="2"/>
              </a:spcBef>
              <a:tabLst>
                <a:tab pos="772159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综合服务水平优化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678" name="picture 16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644136" y="381062"/>
            <a:ext cx="1931803" cy="412600"/>
          </a:xfrm>
          <a:prstGeom prst="rect">
            <a:avLst/>
          </a:prstGeom>
        </p:spPr>
      </p:pic>
      <p:pic>
        <p:nvPicPr>
          <p:cNvPr id="1680" name="picture 16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77139" y="359395"/>
            <a:ext cx="584153" cy="473386"/>
          </a:xfrm>
          <a:prstGeom prst="rect">
            <a:avLst/>
          </a:prstGeom>
        </p:spPr>
      </p:pic>
      <p:sp>
        <p:nvSpPr>
          <p:cNvPr id="1682" name="textbox 1682"/>
          <p:cNvSpPr/>
          <p:nvPr/>
        </p:nvSpPr>
        <p:spPr>
          <a:xfrm>
            <a:off x="7209497" y="3125812"/>
            <a:ext cx="4513579" cy="10026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87000"/>
              </a:lnSpc>
              <a:tabLst/>
            </a:pP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服务价值从基础操作向增值赋能延伸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7000"/>
              </a:lnSpc>
              <a:spcBef>
                <a:spcPts val="1200"/>
              </a:spcBef>
              <a:tabLst/>
            </a:pP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通过数据驾驶舱为园区运营提供科学决策依据，助力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优化资源布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5875" indent="-2540" algn="l" rtl="0" eaLnBrk="0">
              <a:lnSpc>
                <a:spcPct val="126000"/>
              </a:lnSpc>
              <a:spcBef>
                <a:spcPts val="54"/>
              </a:spcBef>
              <a:tabLst/>
            </a:pP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局与服务策略</a:t>
            </a:r>
            <a:r>
              <a:rPr sz="1200" kern="0" spc="-2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。推动园区服务从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“功能性服务</a:t>
            </a:r>
            <a:r>
              <a:rPr sz="1200" kern="0" spc="-1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”向“价值型服务</a:t>
            </a:r>
            <a:r>
              <a:rPr sz="1200" kern="0" spc="-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升级</a:t>
            </a:r>
            <a:r>
              <a:rPr sz="1200" kern="0" spc="-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，实现园区与入驻主体的协同发展</a:t>
            </a:r>
            <a:r>
              <a:rPr sz="1200" kern="0" spc="-2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84" name="textbox 1684"/>
          <p:cNvSpPr/>
          <p:nvPr/>
        </p:nvSpPr>
        <p:spPr>
          <a:xfrm>
            <a:off x="7209803" y="4725123"/>
            <a:ext cx="4287520" cy="10026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5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86000"/>
              </a:lnSpc>
              <a:tabLst/>
            </a:pPr>
            <a:r>
              <a:rPr sz="15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服务体系的灵活性</a:t>
            </a:r>
            <a:r>
              <a:rPr sz="1500" b="1" kern="0" spc="-2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5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适配性显著增强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indent="1270" algn="l" rtl="0" eaLnBrk="0">
              <a:lnSpc>
                <a:spcPct val="124000"/>
              </a:lnSpc>
              <a:spcBef>
                <a:spcPts val="4"/>
              </a:spcBef>
              <a:tabLst/>
            </a:pP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可根据园区业务类型</a:t>
            </a:r>
            <a:r>
              <a:rPr sz="1200" kern="0" spc="-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、高峰期业务波动</a:t>
            </a:r>
            <a:r>
              <a:rPr sz="1200" kern="0" spc="-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、节假日或极端天气等特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殊情况，灵活调整服务流程与资源配置，保障物流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服务的连续性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与稳定性</a:t>
            </a:r>
            <a:r>
              <a:rPr sz="1200" kern="0" spc="-1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，大幅提升园区服务的抗风险能力与客户满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意度</a:t>
            </a:r>
            <a:r>
              <a:rPr sz="1200" kern="0" spc="-2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86" name="textbox 1686"/>
          <p:cNvSpPr/>
          <p:nvPr/>
        </p:nvSpPr>
        <p:spPr>
          <a:xfrm>
            <a:off x="7209041" y="1527073"/>
            <a:ext cx="4288790" cy="10020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4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86000"/>
              </a:lnSpc>
              <a:tabLst/>
            </a:pP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强化服务异常处置与风险管</a:t>
            </a:r>
            <a:r>
              <a:rPr sz="15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控能力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indent="-635" algn="l" rtl="0" eaLnBrk="0">
              <a:lnSpc>
                <a:spcPct val="123000"/>
              </a:lnSpc>
              <a:spcBef>
                <a:spcPts val="6"/>
              </a:spcBef>
              <a:tabLst/>
            </a:pP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针对运输超时</a:t>
            </a:r>
            <a:r>
              <a:rPr sz="1200" kern="0" spc="-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、车辆偏离</a:t>
            </a:r>
            <a:r>
              <a:rPr sz="1200" kern="0" spc="-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、设备故障等情况自动触发预警，快速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调配备用资源或启动应急方案</a:t>
            </a:r>
            <a:r>
              <a:rPr sz="1200" kern="0" spc="-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。实现服务风险的前置管控</a:t>
            </a:r>
            <a:r>
              <a:rPr sz="1200" kern="0" spc="-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，降低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违规操作发生率</a:t>
            </a:r>
            <a:r>
              <a:rPr sz="1200" kern="0" spc="-13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，货物安全保障与合规运营水平大幅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提升</a:t>
            </a:r>
            <a:r>
              <a:rPr sz="1200" kern="0" spc="-2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88" name="textbox 1688"/>
          <p:cNvSpPr/>
          <p:nvPr/>
        </p:nvSpPr>
        <p:spPr>
          <a:xfrm>
            <a:off x="366420" y="6481330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690" name="picture 169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477441" y="1762554"/>
            <a:ext cx="478794" cy="543933"/>
          </a:xfrm>
          <a:prstGeom prst="rect">
            <a:avLst/>
          </a:prstGeom>
        </p:spPr>
      </p:pic>
      <p:pic>
        <p:nvPicPr>
          <p:cNvPr id="1692" name="picture 169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477441" y="3362055"/>
            <a:ext cx="478794" cy="543933"/>
          </a:xfrm>
          <a:prstGeom prst="rect">
            <a:avLst/>
          </a:prstGeom>
        </p:spPr>
      </p:pic>
      <p:pic>
        <p:nvPicPr>
          <p:cNvPr id="1694" name="picture 169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477441" y="4961570"/>
            <a:ext cx="478794" cy="543933"/>
          </a:xfrm>
          <a:prstGeom prst="rect">
            <a:avLst/>
          </a:prstGeom>
        </p:spPr>
      </p:pic>
      <p:pic>
        <p:nvPicPr>
          <p:cNvPr id="1696" name="picture 169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89421" y="1762554"/>
            <a:ext cx="469761" cy="543933"/>
          </a:xfrm>
          <a:prstGeom prst="rect">
            <a:avLst/>
          </a:prstGeom>
        </p:spPr>
      </p:pic>
      <p:pic>
        <p:nvPicPr>
          <p:cNvPr id="1698" name="picture 169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89421" y="3362055"/>
            <a:ext cx="469761" cy="543933"/>
          </a:xfrm>
          <a:prstGeom prst="rect">
            <a:avLst/>
          </a:prstGeom>
        </p:spPr>
      </p:pic>
      <p:pic>
        <p:nvPicPr>
          <p:cNvPr id="1700" name="picture 170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89421" y="4961570"/>
            <a:ext cx="469761" cy="543933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2" name="picture 17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77291" y="595858"/>
            <a:ext cx="4931904" cy="5276608"/>
          </a:xfrm>
          <a:prstGeom prst="rect">
            <a:avLst/>
          </a:prstGeom>
        </p:spPr>
      </p:pic>
      <p:pic>
        <p:nvPicPr>
          <p:cNvPr id="1704" name="picture 17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314112" y="5884113"/>
            <a:ext cx="298068" cy="305511"/>
          </a:xfrm>
          <a:prstGeom prst="rect">
            <a:avLst/>
          </a:prstGeom>
        </p:spPr>
      </p:pic>
      <p:pic>
        <p:nvPicPr>
          <p:cNvPr id="1706" name="picture 170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331604" y="3987431"/>
            <a:ext cx="2860395" cy="2870568"/>
          </a:xfrm>
          <a:prstGeom prst="rect">
            <a:avLst/>
          </a:prstGeom>
        </p:spPr>
      </p:pic>
      <p:pic>
        <p:nvPicPr>
          <p:cNvPr id="1708" name="picture 170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717741" y="0"/>
            <a:ext cx="2593950" cy="1019492"/>
          </a:xfrm>
          <a:prstGeom prst="rect">
            <a:avLst/>
          </a:prstGeom>
        </p:spPr>
      </p:pic>
      <p:sp>
        <p:nvSpPr>
          <p:cNvPr id="1710" name="textbox 1710"/>
          <p:cNvSpPr/>
          <p:nvPr/>
        </p:nvSpPr>
        <p:spPr>
          <a:xfrm>
            <a:off x="6396925" y="2705480"/>
            <a:ext cx="3268979" cy="5308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4200" b="1" kern="0" spc="-90" dirty="0">
                <a:solidFill>
                  <a:srgbClr val="E52F3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THANK </a:t>
            </a:r>
            <a:r>
              <a:rPr sz="4200" b="1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YOU</a:t>
            </a:r>
            <a:endParaRPr sz="4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12" name="textbox 1712"/>
          <p:cNvSpPr/>
          <p:nvPr/>
        </p:nvSpPr>
        <p:spPr>
          <a:xfrm>
            <a:off x="6388074" y="3820286"/>
            <a:ext cx="4344034" cy="252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74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服务第一   诚信负</a:t>
            </a:r>
            <a:r>
              <a:rPr sz="17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责</a:t>
            </a:r>
            <a:r>
              <a:rPr sz="1700" kern="0" spc="1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7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专注品质</a:t>
            </a:r>
            <a:r>
              <a:rPr sz="1700" kern="0" spc="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7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持续创新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714" name="picture 17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314389" y="3472484"/>
            <a:ext cx="5114495" cy="57150"/>
          </a:xfrm>
          <a:prstGeom prst="rect">
            <a:avLst/>
          </a:prstGeom>
        </p:spPr>
      </p:pic>
      <p:sp>
        <p:nvSpPr>
          <p:cNvPr id="1716" name="textbox 1716"/>
          <p:cNvSpPr/>
          <p:nvPr/>
        </p:nvSpPr>
        <p:spPr>
          <a:xfrm>
            <a:off x="366420" y="6453047"/>
            <a:ext cx="194310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1"/>
              </a:lnSpc>
              <a:tabLst/>
            </a:pP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巨沃科技</a:t>
            </a:r>
            <a:r>
              <a:rPr sz="900" kern="0" spc="10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 数字化供应链可视管理专</a:t>
            </a:r>
            <a:r>
              <a:rPr sz="900" kern="0" spc="-20" dirty="0">
                <a:solidFill>
                  <a:srgbClr val="80808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718" name="picture 17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043939" y="5945289"/>
            <a:ext cx="324078" cy="323431"/>
          </a:xfrm>
          <a:prstGeom prst="rect">
            <a:avLst/>
          </a:prstGeom>
        </p:spPr>
      </p:pic>
      <p:pic>
        <p:nvPicPr>
          <p:cNvPr id="1720" name="picture 17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1315522" y="595858"/>
            <a:ext cx="295250" cy="2309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Application>WPS 演示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2026-08-07T11:19:24Z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2026-08-28T15:23:25</vt:filetime>
  </property>
</Properties>
</file>