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0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148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3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08080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08080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12862" y="1246175"/>
            <a:ext cx="3530600" cy="4671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42732" y="1246175"/>
            <a:ext cx="3530600" cy="4671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08080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08080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08080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77145" y="392620"/>
            <a:ext cx="378460" cy="378460"/>
          </a:xfrm>
          <a:custGeom>
            <a:avLst/>
            <a:gdLst/>
            <a:ahLst/>
            <a:cxnLst/>
            <a:rect l="l" t="t" r="r" b="b"/>
            <a:pathLst>
              <a:path w="378459" h="378459">
                <a:moveTo>
                  <a:pt x="188969" y="377964"/>
                </a:moveTo>
                <a:lnTo>
                  <a:pt x="0" y="188982"/>
                </a:lnTo>
                <a:lnTo>
                  <a:pt x="188969" y="0"/>
                </a:lnTo>
                <a:lnTo>
                  <a:pt x="202444" y="13474"/>
                </a:lnTo>
                <a:lnTo>
                  <a:pt x="184486" y="13474"/>
                </a:lnTo>
                <a:lnTo>
                  <a:pt x="188976" y="17964"/>
                </a:lnTo>
                <a:lnTo>
                  <a:pt x="22447" y="184492"/>
                </a:lnTo>
                <a:lnTo>
                  <a:pt x="13468" y="184492"/>
                </a:lnTo>
                <a:lnTo>
                  <a:pt x="13468" y="193471"/>
                </a:lnTo>
                <a:lnTo>
                  <a:pt x="22447" y="193471"/>
                </a:lnTo>
                <a:lnTo>
                  <a:pt x="188976" y="360000"/>
                </a:lnTo>
                <a:lnTo>
                  <a:pt x="184486" y="364489"/>
                </a:lnTo>
                <a:lnTo>
                  <a:pt x="202445" y="364489"/>
                </a:lnTo>
                <a:lnTo>
                  <a:pt x="188969" y="377964"/>
                </a:lnTo>
                <a:close/>
              </a:path>
              <a:path w="378459" h="378459">
                <a:moveTo>
                  <a:pt x="188976" y="17964"/>
                </a:moveTo>
                <a:lnTo>
                  <a:pt x="184486" y="13474"/>
                </a:lnTo>
                <a:lnTo>
                  <a:pt x="193465" y="13474"/>
                </a:lnTo>
                <a:lnTo>
                  <a:pt x="188976" y="17964"/>
                </a:lnTo>
                <a:close/>
              </a:path>
              <a:path w="378459" h="378459">
                <a:moveTo>
                  <a:pt x="359994" y="188982"/>
                </a:moveTo>
                <a:lnTo>
                  <a:pt x="188976" y="17964"/>
                </a:lnTo>
                <a:lnTo>
                  <a:pt x="193465" y="13474"/>
                </a:lnTo>
                <a:lnTo>
                  <a:pt x="202444" y="13474"/>
                </a:lnTo>
                <a:lnTo>
                  <a:pt x="373462" y="184492"/>
                </a:lnTo>
                <a:lnTo>
                  <a:pt x="364483" y="184492"/>
                </a:lnTo>
                <a:lnTo>
                  <a:pt x="359994" y="188982"/>
                </a:lnTo>
                <a:close/>
              </a:path>
              <a:path w="378459" h="378459">
                <a:moveTo>
                  <a:pt x="13468" y="193471"/>
                </a:moveTo>
                <a:lnTo>
                  <a:pt x="13468" y="184492"/>
                </a:lnTo>
                <a:lnTo>
                  <a:pt x="17951" y="188988"/>
                </a:lnTo>
                <a:lnTo>
                  <a:pt x="13468" y="193471"/>
                </a:lnTo>
                <a:close/>
              </a:path>
              <a:path w="378459" h="378459">
                <a:moveTo>
                  <a:pt x="17957" y="188982"/>
                </a:moveTo>
                <a:lnTo>
                  <a:pt x="13468" y="184492"/>
                </a:lnTo>
                <a:lnTo>
                  <a:pt x="22447" y="184492"/>
                </a:lnTo>
                <a:lnTo>
                  <a:pt x="17957" y="188982"/>
                </a:lnTo>
                <a:close/>
              </a:path>
              <a:path w="378459" h="378459">
                <a:moveTo>
                  <a:pt x="364483" y="193471"/>
                </a:moveTo>
                <a:lnTo>
                  <a:pt x="359994" y="188982"/>
                </a:lnTo>
                <a:lnTo>
                  <a:pt x="364483" y="184492"/>
                </a:lnTo>
                <a:lnTo>
                  <a:pt x="364483" y="193471"/>
                </a:lnTo>
                <a:close/>
              </a:path>
              <a:path w="378459" h="378459">
                <a:moveTo>
                  <a:pt x="373474" y="193471"/>
                </a:moveTo>
                <a:lnTo>
                  <a:pt x="364483" y="193471"/>
                </a:lnTo>
                <a:lnTo>
                  <a:pt x="364483" y="184492"/>
                </a:lnTo>
                <a:lnTo>
                  <a:pt x="373462" y="184492"/>
                </a:lnTo>
                <a:lnTo>
                  <a:pt x="377958" y="188988"/>
                </a:lnTo>
                <a:lnTo>
                  <a:pt x="373474" y="193471"/>
                </a:lnTo>
                <a:close/>
              </a:path>
              <a:path w="378459" h="378459">
                <a:moveTo>
                  <a:pt x="22447" y="193471"/>
                </a:moveTo>
                <a:lnTo>
                  <a:pt x="13468" y="193471"/>
                </a:lnTo>
                <a:lnTo>
                  <a:pt x="17964" y="188988"/>
                </a:lnTo>
                <a:lnTo>
                  <a:pt x="22447" y="193471"/>
                </a:lnTo>
                <a:close/>
              </a:path>
              <a:path w="378459" h="378459">
                <a:moveTo>
                  <a:pt x="202445" y="364489"/>
                </a:moveTo>
                <a:lnTo>
                  <a:pt x="193465" y="364489"/>
                </a:lnTo>
                <a:lnTo>
                  <a:pt x="188976" y="360000"/>
                </a:lnTo>
                <a:lnTo>
                  <a:pt x="360000" y="188988"/>
                </a:lnTo>
                <a:lnTo>
                  <a:pt x="364483" y="193471"/>
                </a:lnTo>
                <a:lnTo>
                  <a:pt x="373474" y="193471"/>
                </a:lnTo>
                <a:lnTo>
                  <a:pt x="202445" y="364489"/>
                </a:lnTo>
                <a:close/>
              </a:path>
              <a:path w="378459" h="378459">
                <a:moveTo>
                  <a:pt x="193465" y="364489"/>
                </a:moveTo>
                <a:lnTo>
                  <a:pt x="184486" y="364489"/>
                </a:lnTo>
                <a:lnTo>
                  <a:pt x="188976" y="360000"/>
                </a:lnTo>
                <a:lnTo>
                  <a:pt x="193465" y="364489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62991" y="334479"/>
            <a:ext cx="548132" cy="5481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9526523" y="256031"/>
            <a:ext cx="2171700" cy="6126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2862" y="410373"/>
            <a:ext cx="9966274" cy="380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95132" y="2912782"/>
            <a:ext cx="9001734" cy="155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2132" y="6511314"/>
            <a:ext cx="195707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08080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4" Type="http://schemas.openxmlformats.org/officeDocument/2006/relationships/image" Target="../media/image48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26" Type="http://schemas.openxmlformats.org/officeDocument/2006/relationships/image" Target="../media/image115.png"/><Relationship Id="rId3" Type="http://schemas.openxmlformats.org/officeDocument/2006/relationships/image" Target="../media/image92.png"/><Relationship Id="rId21" Type="http://schemas.openxmlformats.org/officeDocument/2006/relationships/image" Target="../media/image110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5" Type="http://schemas.openxmlformats.org/officeDocument/2006/relationships/image" Target="../media/image114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24" Type="http://schemas.openxmlformats.org/officeDocument/2006/relationships/image" Target="../media/image113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23" Type="http://schemas.openxmlformats.org/officeDocument/2006/relationships/image" Target="../media/image112.png"/><Relationship Id="rId28" Type="http://schemas.openxmlformats.org/officeDocument/2006/relationships/image" Target="../media/image117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Relationship Id="rId22" Type="http://schemas.openxmlformats.org/officeDocument/2006/relationships/image" Target="../media/image111.png"/><Relationship Id="rId27" Type="http://schemas.openxmlformats.org/officeDocument/2006/relationships/image" Target="../media/image1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136.png"/><Relationship Id="rId21" Type="http://schemas.openxmlformats.org/officeDocument/2006/relationships/image" Target="../media/image154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5" Type="http://schemas.openxmlformats.org/officeDocument/2006/relationships/image" Target="../media/image138.png"/><Relationship Id="rId15" Type="http://schemas.openxmlformats.org/officeDocument/2006/relationships/image" Target="../media/image148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image" Target="../media/image171.jpg"/><Relationship Id="rId4" Type="http://schemas.openxmlformats.org/officeDocument/2006/relationships/image" Target="../media/image170.png"/><Relationship Id="rId9" Type="http://schemas.openxmlformats.org/officeDocument/2006/relationships/image" Target="../media/image15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0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7" Type="http://schemas.openxmlformats.org/officeDocument/2006/relationships/image" Target="../media/image18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190.png"/><Relationship Id="rId7" Type="http://schemas.openxmlformats.org/officeDocument/2006/relationships/image" Target="../media/image19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97.png"/><Relationship Id="rId7" Type="http://schemas.openxmlformats.org/officeDocument/2006/relationships/image" Target="../media/image20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3" Type="http://schemas.openxmlformats.org/officeDocument/2006/relationships/image" Target="../media/image208.png"/><Relationship Id="rId7" Type="http://schemas.openxmlformats.org/officeDocument/2006/relationships/image" Target="../media/image2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png"/><Relationship Id="rId5" Type="http://schemas.openxmlformats.org/officeDocument/2006/relationships/image" Target="../media/image221.png"/><Relationship Id="rId4" Type="http://schemas.openxmlformats.org/officeDocument/2006/relationships/image" Target="../media/image2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7" Type="http://schemas.openxmlformats.org/officeDocument/2006/relationships/image" Target="../media/image2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png"/><Relationship Id="rId5" Type="http://schemas.openxmlformats.org/officeDocument/2006/relationships/image" Target="../media/image225.png"/><Relationship Id="rId4" Type="http://schemas.openxmlformats.org/officeDocument/2006/relationships/image" Target="../media/image22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232.png"/><Relationship Id="rId7" Type="http://schemas.openxmlformats.org/officeDocument/2006/relationships/image" Target="../media/image2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5" Type="http://schemas.openxmlformats.org/officeDocument/2006/relationships/image" Target="../media/image234.png"/><Relationship Id="rId4" Type="http://schemas.openxmlformats.org/officeDocument/2006/relationships/image" Target="../media/image23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13" Type="http://schemas.openxmlformats.org/officeDocument/2006/relationships/image" Target="../media/image248.png"/><Relationship Id="rId3" Type="http://schemas.openxmlformats.org/officeDocument/2006/relationships/image" Target="../media/image238.png"/><Relationship Id="rId7" Type="http://schemas.openxmlformats.org/officeDocument/2006/relationships/image" Target="../media/image242.png"/><Relationship Id="rId12" Type="http://schemas.openxmlformats.org/officeDocument/2006/relationships/image" Target="../media/image2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1.png"/><Relationship Id="rId11" Type="http://schemas.openxmlformats.org/officeDocument/2006/relationships/image" Target="../media/image246.png"/><Relationship Id="rId5" Type="http://schemas.openxmlformats.org/officeDocument/2006/relationships/image" Target="../media/image240.png"/><Relationship Id="rId10" Type="http://schemas.openxmlformats.org/officeDocument/2006/relationships/image" Target="../media/image245.png"/><Relationship Id="rId4" Type="http://schemas.openxmlformats.org/officeDocument/2006/relationships/image" Target="../media/image239.png"/><Relationship Id="rId9" Type="http://schemas.openxmlformats.org/officeDocument/2006/relationships/image" Target="../media/image244.png"/><Relationship Id="rId14" Type="http://schemas.openxmlformats.org/officeDocument/2006/relationships/image" Target="../media/image24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3" Type="http://schemas.openxmlformats.org/officeDocument/2006/relationships/image" Target="../media/image250.png"/><Relationship Id="rId7" Type="http://schemas.openxmlformats.org/officeDocument/2006/relationships/image" Target="../media/image2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Relationship Id="rId9" Type="http://schemas.openxmlformats.org/officeDocument/2006/relationships/image" Target="../media/image2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15522" y="595858"/>
            <a:ext cx="295249" cy="2309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314112" y="5884113"/>
            <a:ext cx="298069" cy="3055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0293" y="733564"/>
            <a:ext cx="5446509" cy="5435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979" y="1443913"/>
            <a:ext cx="4113377" cy="41133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1121" y="1862531"/>
            <a:ext cx="3166110" cy="3166745"/>
          </a:xfrm>
          <a:custGeom>
            <a:avLst/>
            <a:gdLst/>
            <a:ahLst/>
            <a:cxnLst/>
            <a:rect l="l" t="t" r="r" b="b"/>
            <a:pathLst>
              <a:path w="3166110" h="3166745">
                <a:moveTo>
                  <a:pt x="1583118" y="3166237"/>
                </a:moveTo>
                <a:lnTo>
                  <a:pt x="1453278" y="3160989"/>
                </a:lnTo>
                <a:lnTo>
                  <a:pt x="1326328" y="3145516"/>
                </a:lnTo>
                <a:lnTo>
                  <a:pt x="1202677" y="3120227"/>
                </a:lnTo>
                <a:lnTo>
                  <a:pt x="1082730" y="3085528"/>
                </a:lnTo>
                <a:lnTo>
                  <a:pt x="966897" y="3041827"/>
                </a:lnTo>
                <a:lnTo>
                  <a:pt x="855584" y="2989532"/>
                </a:lnTo>
                <a:lnTo>
                  <a:pt x="749199" y="2929049"/>
                </a:lnTo>
                <a:lnTo>
                  <a:pt x="648149" y="2860786"/>
                </a:lnTo>
                <a:lnTo>
                  <a:pt x="552842" y="2785151"/>
                </a:lnTo>
                <a:lnTo>
                  <a:pt x="463684" y="2702552"/>
                </a:lnTo>
                <a:lnTo>
                  <a:pt x="381085" y="2613394"/>
                </a:lnTo>
                <a:lnTo>
                  <a:pt x="305450" y="2518087"/>
                </a:lnTo>
                <a:lnTo>
                  <a:pt x="237187" y="2417037"/>
                </a:lnTo>
                <a:lnTo>
                  <a:pt x="176704" y="2310652"/>
                </a:lnTo>
                <a:lnTo>
                  <a:pt x="124409" y="2199339"/>
                </a:lnTo>
                <a:lnTo>
                  <a:pt x="80708" y="2083506"/>
                </a:lnTo>
                <a:lnTo>
                  <a:pt x="46009" y="1963559"/>
                </a:lnTo>
                <a:lnTo>
                  <a:pt x="20720" y="1839908"/>
                </a:lnTo>
                <a:lnTo>
                  <a:pt x="5247" y="1712958"/>
                </a:lnTo>
                <a:lnTo>
                  <a:pt x="0" y="1583118"/>
                </a:lnTo>
                <a:lnTo>
                  <a:pt x="5247" y="1453278"/>
                </a:lnTo>
                <a:lnTo>
                  <a:pt x="20720" y="1326328"/>
                </a:lnTo>
                <a:lnTo>
                  <a:pt x="46009" y="1202677"/>
                </a:lnTo>
                <a:lnTo>
                  <a:pt x="80708" y="1082730"/>
                </a:lnTo>
                <a:lnTo>
                  <a:pt x="124409" y="966897"/>
                </a:lnTo>
                <a:lnTo>
                  <a:pt x="176704" y="855584"/>
                </a:lnTo>
                <a:lnTo>
                  <a:pt x="237187" y="749199"/>
                </a:lnTo>
                <a:lnTo>
                  <a:pt x="305450" y="648149"/>
                </a:lnTo>
                <a:lnTo>
                  <a:pt x="381085" y="552842"/>
                </a:lnTo>
                <a:lnTo>
                  <a:pt x="463684" y="463684"/>
                </a:lnTo>
                <a:lnTo>
                  <a:pt x="552842" y="381085"/>
                </a:lnTo>
                <a:lnTo>
                  <a:pt x="648149" y="305450"/>
                </a:lnTo>
                <a:lnTo>
                  <a:pt x="749199" y="237187"/>
                </a:lnTo>
                <a:lnTo>
                  <a:pt x="855584" y="176704"/>
                </a:lnTo>
                <a:lnTo>
                  <a:pt x="966897" y="124409"/>
                </a:lnTo>
                <a:lnTo>
                  <a:pt x="1082730" y="80708"/>
                </a:lnTo>
                <a:lnTo>
                  <a:pt x="1202677" y="46009"/>
                </a:lnTo>
                <a:lnTo>
                  <a:pt x="1326328" y="20720"/>
                </a:lnTo>
                <a:lnTo>
                  <a:pt x="1453278" y="5247"/>
                </a:lnTo>
                <a:lnTo>
                  <a:pt x="1583118" y="0"/>
                </a:lnTo>
                <a:lnTo>
                  <a:pt x="1712958" y="5248"/>
                </a:lnTo>
                <a:lnTo>
                  <a:pt x="1839907" y="20720"/>
                </a:lnTo>
                <a:lnTo>
                  <a:pt x="1963558" y="46010"/>
                </a:lnTo>
                <a:lnTo>
                  <a:pt x="2083501" y="80709"/>
                </a:lnTo>
                <a:lnTo>
                  <a:pt x="2199330" y="124411"/>
                </a:lnTo>
                <a:lnTo>
                  <a:pt x="2310637" y="176708"/>
                </a:lnTo>
                <a:lnTo>
                  <a:pt x="2417013" y="237192"/>
                </a:lnTo>
                <a:lnTo>
                  <a:pt x="2518051" y="305457"/>
                </a:lnTo>
                <a:lnTo>
                  <a:pt x="2613343" y="381095"/>
                </a:lnTo>
                <a:lnTo>
                  <a:pt x="2702482" y="463699"/>
                </a:lnTo>
                <a:lnTo>
                  <a:pt x="2785058" y="552861"/>
                </a:lnTo>
                <a:lnTo>
                  <a:pt x="2860666" y="648174"/>
                </a:lnTo>
                <a:lnTo>
                  <a:pt x="2928895" y="749230"/>
                </a:lnTo>
                <a:lnTo>
                  <a:pt x="2989340" y="855623"/>
                </a:lnTo>
                <a:lnTo>
                  <a:pt x="3041591" y="966945"/>
                </a:lnTo>
                <a:lnTo>
                  <a:pt x="3085242" y="1082789"/>
                </a:lnTo>
                <a:lnTo>
                  <a:pt x="3119884" y="1202747"/>
                </a:lnTo>
                <a:lnTo>
                  <a:pt x="3145109" y="1326411"/>
                </a:lnTo>
                <a:lnTo>
                  <a:pt x="3160509" y="1453376"/>
                </a:lnTo>
                <a:lnTo>
                  <a:pt x="3165678" y="1583232"/>
                </a:lnTo>
                <a:lnTo>
                  <a:pt x="3160509" y="1713056"/>
                </a:lnTo>
                <a:lnTo>
                  <a:pt x="3145109" y="1839991"/>
                </a:lnTo>
                <a:lnTo>
                  <a:pt x="3119884" y="1963630"/>
                </a:lnTo>
                <a:lnTo>
                  <a:pt x="3085242" y="2083564"/>
                </a:lnTo>
                <a:lnTo>
                  <a:pt x="3041591" y="2199387"/>
                </a:lnTo>
                <a:lnTo>
                  <a:pt x="2989340" y="2310691"/>
                </a:lnTo>
                <a:lnTo>
                  <a:pt x="2928895" y="2417068"/>
                </a:lnTo>
                <a:lnTo>
                  <a:pt x="2860666" y="2518112"/>
                </a:lnTo>
                <a:lnTo>
                  <a:pt x="2785058" y="2613413"/>
                </a:lnTo>
                <a:lnTo>
                  <a:pt x="2702482" y="2702566"/>
                </a:lnTo>
                <a:lnTo>
                  <a:pt x="2613343" y="2785162"/>
                </a:lnTo>
                <a:lnTo>
                  <a:pt x="2518051" y="2860794"/>
                </a:lnTo>
                <a:lnTo>
                  <a:pt x="2417013" y="2929054"/>
                </a:lnTo>
                <a:lnTo>
                  <a:pt x="2310637" y="2989535"/>
                </a:lnTo>
                <a:lnTo>
                  <a:pt x="2199330" y="3041829"/>
                </a:lnTo>
                <a:lnTo>
                  <a:pt x="2083501" y="3085529"/>
                </a:lnTo>
                <a:lnTo>
                  <a:pt x="1963558" y="3120227"/>
                </a:lnTo>
                <a:lnTo>
                  <a:pt x="1839907" y="3145516"/>
                </a:lnTo>
                <a:lnTo>
                  <a:pt x="1712958" y="3160989"/>
                </a:lnTo>
                <a:lnTo>
                  <a:pt x="1583118" y="31662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3636" y="1863598"/>
            <a:ext cx="3166211" cy="316623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06369" y="595858"/>
            <a:ext cx="323530" cy="3234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18559" y="607650"/>
            <a:ext cx="299874" cy="30026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43628" y="5028158"/>
            <a:ext cx="594639" cy="5948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64964" y="5049062"/>
            <a:ext cx="552411" cy="55309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7611" y="4185081"/>
            <a:ext cx="1276400" cy="12764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02791" y="4444669"/>
            <a:ext cx="361619" cy="3620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44340" y="1499806"/>
            <a:ext cx="628878" cy="62812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38840" y="1493558"/>
            <a:ext cx="640626" cy="64007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24711" y="1134643"/>
            <a:ext cx="943711" cy="9443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20724" y="1206830"/>
            <a:ext cx="878611" cy="87800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11274" y="4280636"/>
            <a:ext cx="1434185" cy="143418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43944" y="5945289"/>
            <a:ext cx="324073" cy="32342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56132" y="5957038"/>
            <a:ext cx="300425" cy="30031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726987" y="0"/>
            <a:ext cx="2581910" cy="1019810"/>
          </a:xfrm>
          <a:custGeom>
            <a:avLst/>
            <a:gdLst/>
            <a:ahLst/>
            <a:cxnLst/>
            <a:rect l="l" t="t" r="r" b="b"/>
            <a:pathLst>
              <a:path w="2581909" h="1019810">
                <a:moveTo>
                  <a:pt x="20866" y="85458"/>
                </a:moveTo>
                <a:lnTo>
                  <a:pt x="13284" y="55943"/>
                </a:lnTo>
                <a:lnTo>
                  <a:pt x="20662" y="54038"/>
                </a:lnTo>
                <a:lnTo>
                  <a:pt x="28244" y="83566"/>
                </a:lnTo>
                <a:lnTo>
                  <a:pt x="20866" y="85458"/>
                </a:lnTo>
              </a:path>
              <a:path w="2581909" h="1019810">
                <a:moveTo>
                  <a:pt x="7581" y="33807"/>
                </a:moveTo>
                <a:lnTo>
                  <a:pt x="0" y="4279"/>
                </a:lnTo>
                <a:lnTo>
                  <a:pt x="7378" y="2387"/>
                </a:lnTo>
                <a:lnTo>
                  <a:pt x="14973" y="31902"/>
                </a:lnTo>
                <a:lnTo>
                  <a:pt x="7581" y="33807"/>
                </a:lnTo>
              </a:path>
              <a:path w="2581909" h="1019810">
                <a:moveTo>
                  <a:pt x="2577122" y="17322"/>
                </a:moveTo>
                <a:lnTo>
                  <a:pt x="2569743" y="15430"/>
                </a:lnTo>
                <a:lnTo>
                  <a:pt x="2573707" y="0"/>
                </a:lnTo>
                <a:lnTo>
                  <a:pt x="2581572" y="0"/>
                </a:lnTo>
                <a:lnTo>
                  <a:pt x="2577122" y="17322"/>
                </a:lnTo>
              </a:path>
              <a:path w="2581909" h="1019810">
                <a:moveTo>
                  <a:pt x="2563837" y="68986"/>
                </a:moveTo>
                <a:lnTo>
                  <a:pt x="2556459" y="67094"/>
                </a:lnTo>
                <a:lnTo>
                  <a:pt x="2564053" y="37566"/>
                </a:lnTo>
                <a:lnTo>
                  <a:pt x="2571432" y="39471"/>
                </a:lnTo>
                <a:lnTo>
                  <a:pt x="2563837" y="68986"/>
                </a:lnTo>
              </a:path>
              <a:path w="2581909" h="1019810">
                <a:moveTo>
                  <a:pt x="2552181" y="108521"/>
                </a:moveTo>
                <a:lnTo>
                  <a:pt x="2544178" y="108521"/>
                </a:lnTo>
                <a:lnTo>
                  <a:pt x="2550490" y="88912"/>
                </a:lnTo>
                <a:lnTo>
                  <a:pt x="2557741" y="91249"/>
                </a:lnTo>
                <a:lnTo>
                  <a:pt x="2552181" y="108521"/>
                </a:lnTo>
              </a:path>
              <a:path w="2581909" h="1019810">
                <a:moveTo>
                  <a:pt x="2544190" y="108482"/>
                </a:moveTo>
              </a:path>
              <a:path w="2581909" h="1019810">
                <a:moveTo>
                  <a:pt x="2548191" y="120269"/>
                </a:moveTo>
                <a:lnTo>
                  <a:pt x="2540977" y="117792"/>
                </a:lnTo>
                <a:lnTo>
                  <a:pt x="2544190" y="108482"/>
                </a:lnTo>
                <a:lnTo>
                  <a:pt x="2552181" y="108521"/>
                </a:lnTo>
                <a:lnTo>
                  <a:pt x="2551417" y="110896"/>
                </a:lnTo>
                <a:lnTo>
                  <a:pt x="2548191" y="120269"/>
                </a:lnTo>
              </a:path>
              <a:path w="2581909" h="1019810">
                <a:moveTo>
                  <a:pt x="2534663" y="158064"/>
                </a:moveTo>
                <a:lnTo>
                  <a:pt x="2526550" y="158064"/>
                </a:lnTo>
                <a:lnTo>
                  <a:pt x="2533446" y="139293"/>
                </a:lnTo>
                <a:lnTo>
                  <a:pt x="2540596" y="141909"/>
                </a:lnTo>
                <a:lnTo>
                  <a:pt x="2534663" y="158064"/>
                </a:lnTo>
              </a:path>
              <a:path w="2581909" h="1019810">
                <a:moveTo>
                  <a:pt x="2529865" y="170522"/>
                </a:moveTo>
                <a:lnTo>
                  <a:pt x="2522778" y="167754"/>
                </a:lnTo>
                <a:lnTo>
                  <a:pt x="2526576" y="157988"/>
                </a:lnTo>
                <a:lnTo>
                  <a:pt x="2534663" y="158064"/>
                </a:lnTo>
                <a:lnTo>
                  <a:pt x="2533688" y="160718"/>
                </a:lnTo>
                <a:lnTo>
                  <a:pt x="2529865" y="170522"/>
                </a:lnTo>
              </a:path>
              <a:path w="2581909" h="1019810">
                <a:moveTo>
                  <a:pt x="2515278" y="206679"/>
                </a:moveTo>
                <a:lnTo>
                  <a:pt x="2507043" y="206679"/>
                </a:lnTo>
                <a:lnTo>
                  <a:pt x="2514371" y="188937"/>
                </a:lnTo>
                <a:lnTo>
                  <a:pt x="2521407" y="191846"/>
                </a:lnTo>
                <a:lnTo>
                  <a:pt x="2515278" y="206679"/>
                </a:lnTo>
              </a:path>
              <a:path w="2581909" h="1019810">
                <a:moveTo>
                  <a:pt x="2509532" y="219989"/>
                </a:moveTo>
                <a:lnTo>
                  <a:pt x="2502547" y="216941"/>
                </a:lnTo>
                <a:lnTo>
                  <a:pt x="2507068" y="206603"/>
                </a:lnTo>
                <a:lnTo>
                  <a:pt x="2515278" y="206679"/>
                </a:lnTo>
                <a:lnTo>
                  <a:pt x="2514066" y="209613"/>
                </a:lnTo>
                <a:lnTo>
                  <a:pt x="2509532" y="219989"/>
                </a:lnTo>
              </a:path>
              <a:path w="2581909" h="1019810">
                <a:moveTo>
                  <a:pt x="2487218" y="268605"/>
                </a:moveTo>
                <a:lnTo>
                  <a:pt x="2480360" y="265277"/>
                </a:lnTo>
                <a:lnTo>
                  <a:pt x="2485707" y="254241"/>
                </a:lnTo>
                <a:lnTo>
                  <a:pt x="2493289" y="237756"/>
                </a:lnTo>
                <a:lnTo>
                  <a:pt x="2500210" y="240944"/>
                </a:lnTo>
                <a:lnTo>
                  <a:pt x="2492578" y="257530"/>
                </a:lnTo>
                <a:lnTo>
                  <a:pt x="2487218" y="268605"/>
                </a:lnTo>
              </a:path>
              <a:path w="2581909" h="1019810">
                <a:moveTo>
                  <a:pt x="2485669" y="254304"/>
                </a:moveTo>
              </a:path>
              <a:path w="2581909" h="1019810">
                <a:moveTo>
                  <a:pt x="2462949" y="316268"/>
                </a:moveTo>
                <a:lnTo>
                  <a:pt x="2456230" y="312674"/>
                </a:lnTo>
                <a:lnTo>
                  <a:pt x="2462542" y="300863"/>
                </a:lnTo>
                <a:lnTo>
                  <a:pt x="2470264" y="285699"/>
                </a:lnTo>
                <a:lnTo>
                  <a:pt x="2477058" y="289153"/>
                </a:lnTo>
                <a:lnTo>
                  <a:pt x="2469286" y="304419"/>
                </a:lnTo>
                <a:lnTo>
                  <a:pt x="2462949" y="316268"/>
                </a:lnTo>
              </a:path>
              <a:path w="2581909" h="1019810">
                <a:moveTo>
                  <a:pt x="2462504" y="300926"/>
                </a:moveTo>
              </a:path>
              <a:path w="2581909" h="1019810">
                <a:moveTo>
                  <a:pt x="2436787" y="362915"/>
                </a:moveTo>
                <a:lnTo>
                  <a:pt x="2430208" y="359054"/>
                </a:lnTo>
                <a:lnTo>
                  <a:pt x="2437625" y="346417"/>
                </a:lnTo>
                <a:lnTo>
                  <a:pt x="2445321" y="332676"/>
                </a:lnTo>
                <a:lnTo>
                  <a:pt x="2451963" y="336397"/>
                </a:lnTo>
                <a:lnTo>
                  <a:pt x="2444216" y="350240"/>
                </a:lnTo>
                <a:lnTo>
                  <a:pt x="2436787" y="362915"/>
                </a:lnTo>
              </a:path>
              <a:path w="2581909" h="1019810">
                <a:moveTo>
                  <a:pt x="2437587" y="346481"/>
                </a:moveTo>
              </a:path>
              <a:path w="2581909" h="1019810">
                <a:moveTo>
                  <a:pt x="2419870" y="390931"/>
                </a:moveTo>
                <a:lnTo>
                  <a:pt x="2410942" y="390931"/>
                </a:lnTo>
                <a:lnTo>
                  <a:pt x="2418499" y="378599"/>
                </a:lnTo>
                <a:lnTo>
                  <a:pt x="2424988" y="382574"/>
                </a:lnTo>
                <a:lnTo>
                  <a:pt x="2419870" y="390931"/>
                </a:lnTo>
              </a:path>
              <a:path w="2581909" h="1019810">
                <a:moveTo>
                  <a:pt x="2408758" y="408470"/>
                </a:moveTo>
                <a:lnTo>
                  <a:pt x="2402344" y="404355"/>
                </a:lnTo>
                <a:lnTo>
                  <a:pt x="2410980" y="390867"/>
                </a:lnTo>
                <a:lnTo>
                  <a:pt x="2419870" y="390931"/>
                </a:lnTo>
                <a:lnTo>
                  <a:pt x="2417419" y="394931"/>
                </a:lnTo>
                <a:lnTo>
                  <a:pt x="2408758" y="408470"/>
                </a:lnTo>
              </a:path>
              <a:path w="2581909" h="1019810">
                <a:moveTo>
                  <a:pt x="2378925" y="452856"/>
                </a:moveTo>
                <a:lnTo>
                  <a:pt x="2372677" y="448500"/>
                </a:lnTo>
                <a:lnTo>
                  <a:pt x="2382672" y="434162"/>
                </a:lnTo>
                <a:lnTo>
                  <a:pt x="2389847" y="423405"/>
                </a:lnTo>
                <a:lnTo>
                  <a:pt x="2396185" y="427647"/>
                </a:lnTo>
                <a:lnTo>
                  <a:pt x="2388946" y="438480"/>
                </a:lnTo>
                <a:lnTo>
                  <a:pt x="2378925" y="452856"/>
                </a:lnTo>
              </a:path>
              <a:path w="2581909" h="1019810">
                <a:moveTo>
                  <a:pt x="2382634" y="434213"/>
                </a:moveTo>
              </a:path>
              <a:path w="2581909" h="1019810">
                <a:moveTo>
                  <a:pt x="2347341" y="496023"/>
                </a:moveTo>
                <a:lnTo>
                  <a:pt x="2341270" y="491426"/>
                </a:lnTo>
                <a:lnTo>
                  <a:pt x="2352738" y="476250"/>
                </a:lnTo>
                <a:lnTo>
                  <a:pt x="2359431" y="467042"/>
                </a:lnTo>
                <a:lnTo>
                  <a:pt x="2365590" y="471512"/>
                </a:lnTo>
                <a:lnTo>
                  <a:pt x="2358834" y="480822"/>
                </a:lnTo>
                <a:lnTo>
                  <a:pt x="2347341" y="496023"/>
                </a:lnTo>
              </a:path>
              <a:path w="2581909" h="1019810">
                <a:moveTo>
                  <a:pt x="2352687" y="476313"/>
                </a:moveTo>
              </a:path>
              <a:path w="2581909" h="1019810">
                <a:moveTo>
                  <a:pt x="2330867" y="517169"/>
                </a:moveTo>
                <a:lnTo>
                  <a:pt x="2321179" y="517169"/>
                </a:lnTo>
                <a:lnTo>
                  <a:pt x="2327275" y="509409"/>
                </a:lnTo>
                <a:lnTo>
                  <a:pt x="2333269" y="514121"/>
                </a:lnTo>
                <a:lnTo>
                  <a:pt x="2330867" y="517169"/>
                </a:lnTo>
              </a:path>
              <a:path w="2581909" h="1019810">
                <a:moveTo>
                  <a:pt x="2314054" y="537883"/>
                </a:moveTo>
                <a:lnTo>
                  <a:pt x="2308161" y="533057"/>
                </a:lnTo>
                <a:lnTo>
                  <a:pt x="2321217" y="517105"/>
                </a:lnTo>
                <a:lnTo>
                  <a:pt x="2330867" y="517169"/>
                </a:lnTo>
                <a:lnTo>
                  <a:pt x="2327135" y="521906"/>
                </a:lnTo>
                <a:lnTo>
                  <a:pt x="2314054" y="537883"/>
                </a:lnTo>
              </a:path>
              <a:path w="2581909" h="1019810">
                <a:moveTo>
                  <a:pt x="2279129" y="578383"/>
                </a:moveTo>
                <a:lnTo>
                  <a:pt x="2273414" y="573328"/>
                </a:lnTo>
                <a:lnTo>
                  <a:pt x="2288171" y="556679"/>
                </a:lnTo>
                <a:lnTo>
                  <a:pt x="2293467" y="550468"/>
                </a:lnTo>
                <a:lnTo>
                  <a:pt x="2299258" y="555409"/>
                </a:lnTo>
                <a:lnTo>
                  <a:pt x="2293899" y="561708"/>
                </a:lnTo>
                <a:lnTo>
                  <a:pt x="2279129" y="578383"/>
                </a:lnTo>
              </a:path>
              <a:path w="2581909" h="1019810">
                <a:moveTo>
                  <a:pt x="2288120" y="556729"/>
                </a:moveTo>
              </a:path>
              <a:path w="2581909" h="1019810">
                <a:moveTo>
                  <a:pt x="2242591" y="617448"/>
                </a:moveTo>
                <a:lnTo>
                  <a:pt x="2237092" y="612178"/>
                </a:lnTo>
                <a:lnTo>
                  <a:pt x="2253627" y="594918"/>
                </a:lnTo>
                <a:lnTo>
                  <a:pt x="2258034" y="590130"/>
                </a:lnTo>
                <a:lnTo>
                  <a:pt x="2263635" y="595299"/>
                </a:lnTo>
                <a:lnTo>
                  <a:pt x="2259152" y="600163"/>
                </a:lnTo>
                <a:lnTo>
                  <a:pt x="2242591" y="617448"/>
                </a:lnTo>
              </a:path>
              <a:path w="2581909" h="1019810">
                <a:moveTo>
                  <a:pt x="2253576" y="594969"/>
                </a:moveTo>
              </a:path>
              <a:path w="2581909" h="1019810">
                <a:moveTo>
                  <a:pt x="2224531" y="631825"/>
                </a:moveTo>
                <a:lnTo>
                  <a:pt x="2217585" y="631825"/>
                </a:lnTo>
                <a:lnTo>
                  <a:pt x="2221039" y="628357"/>
                </a:lnTo>
                <a:lnTo>
                  <a:pt x="2224531" y="631825"/>
                </a:lnTo>
              </a:path>
              <a:path w="2581909" h="1019810">
                <a:moveTo>
                  <a:pt x="2217630" y="631779"/>
                </a:moveTo>
              </a:path>
              <a:path w="2581909" h="1019810">
                <a:moveTo>
                  <a:pt x="2204542" y="655027"/>
                </a:moveTo>
                <a:lnTo>
                  <a:pt x="2199246" y="649541"/>
                </a:lnTo>
                <a:lnTo>
                  <a:pt x="2217630" y="631779"/>
                </a:lnTo>
                <a:lnTo>
                  <a:pt x="2224531" y="631825"/>
                </a:lnTo>
                <a:lnTo>
                  <a:pt x="2226449" y="633730"/>
                </a:lnTo>
                <a:lnTo>
                  <a:pt x="2222957" y="637235"/>
                </a:lnTo>
                <a:lnTo>
                  <a:pt x="2204542" y="655027"/>
                </a:lnTo>
              </a:path>
              <a:path w="2581909" h="1019810">
                <a:moveTo>
                  <a:pt x="2184607" y="667270"/>
                </a:moveTo>
                <a:lnTo>
                  <a:pt x="2180183" y="667270"/>
                </a:lnTo>
                <a:lnTo>
                  <a:pt x="2182558" y="665060"/>
                </a:lnTo>
                <a:lnTo>
                  <a:pt x="2184607" y="667270"/>
                </a:lnTo>
              </a:path>
              <a:path w="2581909" h="1019810">
                <a:moveTo>
                  <a:pt x="2164930" y="691083"/>
                </a:moveTo>
                <a:lnTo>
                  <a:pt x="2159965" y="685304"/>
                </a:lnTo>
                <a:lnTo>
                  <a:pt x="2161032" y="684390"/>
                </a:lnTo>
                <a:lnTo>
                  <a:pt x="2180234" y="667219"/>
                </a:lnTo>
                <a:lnTo>
                  <a:pt x="2184607" y="667270"/>
                </a:lnTo>
                <a:lnTo>
                  <a:pt x="2187740" y="670648"/>
                </a:lnTo>
                <a:lnTo>
                  <a:pt x="2185339" y="672871"/>
                </a:lnTo>
                <a:lnTo>
                  <a:pt x="2166023" y="690156"/>
                </a:lnTo>
                <a:lnTo>
                  <a:pt x="2164930" y="691083"/>
                </a:lnTo>
              </a:path>
              <a:path w="2581909" h="1019810">
                <a:moveTo>
                  <a:pt x="2160968" y="684441"/>
                </a:moveTo>
              </a:path>
              <a:path w="2581909" h="1019810">
                <a:moveTo>
                  <a:pt x="2133511" y="717677"/>
                </a:moveTo>
                <a:lnTo>
                  <a:pt x="2121560" y="717677"/>
                </a:lnTo>
                <a:lnTo>
                  <a:pt x="2141486" y="701205"/>
                </a:lnTo>
                <a:lnTo>
                  <a:pt x="2142629" y="700214"/>
                </a:lnTo>
                <a:lnTo>
                  <a:pt x="2147608" y="705993"/>
                </a:lnTo>
                <a:lnTo>
                  <a:pt x="2146363" y="707047"/>
                </a:lnTo>
                <a:lnTo>
                  <a:pt x="2133511" y="717677"/>
                </a:lnTo>
              </a:path>
              <a:path w="2581909" h="1019810">
                <a:moveTo>
                  <a:pt x="2141423" y="701243"/>
                </a:moveTo>
              </a:path>
              <a:path w="2581909" h="1019810">
                <a:moveTo>
                  <a:pt x="2123973" y="725474"/>
                </a:moveTo>
                <a:lnTo>
                  <a:pt x="2119236" y="719505"/>
                </a:lnTo>
                <a:lnTo>
                  <a:pt x="2121611" y="717626"/>
                </a:lnTo>
                <a:lnTo>
                  <a:pt x="2133511" y="717677"/>
                </a:lnTo>
                <a:lnTo>
                  <a:pt x="2126386" y="723569"/>
                </a:lnTo>
                <a:lnTo>
                  <a:pt x="2123973" y="725474"/>
                </a:lnTo>
              </a:path>
              <a:path w="2581909" h="1019810">
                <a:moveTo>
                  <a:pt x="2081669" y="758202"/>
                </a:moveTo>
                <a:lnTo>
                  <a:pt x="2077173" y="752055"/>
                </a:lnTo>
                <a:lnTo>
                  <a:pt x="2080907" y="749325"/>
                </a:lnTo>
                <a:lnTo>
                  <a:pt x="2101392" y="733679"/>
                </a:lnTo>
                <a:lnTo>
                  <a:pt x="2106015" y="739736"/>
                </a:lnTo>
                <a:lnTo>
                  <a:pt x="2085441" y="755446"/>
                </a:lnTo>
                <a:lnTo>
                  <a:pt x="2081669" y="758202"/>
                </a:lnTo>
              </a:path>
              <a:path w="2581909" h="1019810">
                <a:moveTo>
                  <a:pt x="2080844" y="749363"/>
                </a:moveTo>
              </a:path>
              <a:path w="2581909" h="1019810">
                <a:moveTo>
                  <a:pt x="2052130" y="779487"/>
                </a:moveTo>
                <a:lnTo>
                  <a:pt x="2038896" y="779487"/>
                </a:lnTo>
                <a:lnTo>
                  <a:pt x="2058771" y="765505"/>
                </a:lnTo>
                <a:lnTo>
                  <a:pt x="2063153" y="771740"/>
                </a:lnTo>
                <a:lnTo>
                  <a:pt x="2052130" y="779487"/>
                </a:lnTo>
              </a:path>
              <a:path w="2581909" h="1019810">
                <a:moveTo>
                  <a:pt x="2038096" y="789216"/>
                </a:moveTo>
                <a:lnTo>
                  <a:pt x="2033828" y="782891"/>
                </a:lnTo>
                <a:lnTo>
                  <a:pt x="2038946" y="779449"/>
                </a:lnTo>
                <a:lnTo>
                  <a:pt x="2052130" y="779487"/>
                </a:lnTo>
                <a:lnTo>
                  <a:pt x="2043239" y="785736"/>
                </a:lnTo>
                <a:lnTo>
                  <a:pt x="2038096" y="789216"/>
                </a:lnTo>
              </a:path>
              <a:path w="2581909" h="1019810">
                <a:moveTo>
                  <a:pt x="1993303" y="818451"/>
                </a:moveTo>
                <a:lnTo>
                  <a:pt x="1989302" y="811961"/>
                </a:lnTo>
                <a:lnTo>
                  <a:pt x="1995792" y="807948"/>
                </a:lnTo>
                <a:lnTo>
                  <a:pt x="2014918" y="795591"/>
                </a:lnTo>
                <a:lnTo>
                  <a:pt x="2019046" y="801979"/>
                </a:lnTo>
                <a:lnTo>
                  <a:pt x="1999830" y="814400"/>
                </a:lnTo>
                <a:lnTo>
                  <a:pt x="1993303" y="818451"/>
                </a:lnTo>
              </a:path>
              <a:path w="2581909" h="1019810">
                <a:moveTo>
                  <a:pt x="1995728" y="807986"/>
                </a:moveTo>
              </a:path>
              <a:path w="2581909" h="1019810">
                <a:moveTo>
                  <a:pt x="1966357" y="834821"/>
                </a:moveTo>
                <a:lnTo>
                  <a:pt x="1951418" y="834821"/>
                </a:lnTo>
                <a:lnTo>
                  <a:pt x="1969884" y="823887"/>
                </a:lnTo>
                <a:lnTo>
                  <a:pt x="1973757" y="830440"/>
                </a:lnTo>
                <a:lnTo>
                  <a:pt x="1966357" y="834821"/>
                </a:lnTo>
              </a:path>
              <a:path w="2581909" h="1019810">
                <a:moveTo>
                  <a:pt x="1947379" y="845858"/>
                </a:moveTo>
                <a:lnTo>
                  <a:pt x="1943633" y="839228"/>
                </a:lnTo>
                <a:lnTo>
                  <a:pt x="1951482" y="834783"/>
                </a:lnTo>
                <a:lnTo>
                  <a:pt x="1966357" y="834821"/>
                </a:lnTo>
                <a:lnTo>
                  <a:pt x="1955266" y="841387"/>
                </a:lnTo>
                <a:lnTo>
                  <a:pt x="1947379" y="845858"/>
                </a:lnTo>
              </a:path>
              <a:path w="2581909" h="1019810">
                <a:moveTo>
                  <a:pt x="1922005" y="859942"/>
                </a:moveTo>
                <a:lnTo>
                  <a:pt x="1905990" y="859942"/>
                </a:lnTo>
                <a:lnTo>
                  <a:pt x="1923745" y="850341"/>
                </a:lnTo>
                <a:lnTo>
                  <a:pt x="1927364" y="857046"/>
                </a:lnTo>
                <a:lnTo>
                  <a:pt x="1922005" y="859942"/>
                </a:lnTo>
              </a:path>
              <a:path w="2581909" h="1019810">
                <a:moveTo>
                  <a:pt x="1900389" y="871397"/>
                </a:moveTo>
                <a:lnTo>
                  <a:pt x="1896897" y="864616"/>
                </a:lnTo>
                <a:lnTo>
                  <a:pt x="1906054" y="859904"/>
                </a:lnTo>
                <a:lnTo>
                  <a:pt x="1922005" y="859942"/>
                </a:lnTo>
                <a:lnTo>
                  <a:pt x="1909572" y="866660"/>
                </a:lnTo>
                <a:lnTo>
                  <a:pt x="1900389" y="871397"/>
                </a:lnTo>
              </a:path>
              <a:path w="2581909" h="1019810">
                <a:moveTo>
                  <a:pt x="1876796" y="883310"/>
                </a:moveTo>
                <a:lnTo>
                  <a:pt x="1859483" y="883310"/>
                </a:lnTo>
                <a:lnTo>
                  <a:pt x="1876577" y="874928"/>
                </a:lnTo>
                <a:lnTo>
                  <a:pt x="1879930" y="881773"/>
                </a:lnTo>
                <a:lnTo>
                  <a:pt x="1876796" y="883310"/>
                </a:lnTo>
              </a:path>
              <a:path w="2581909" h="1019810">
                <a:moveTo>
                  <a:pt x="1852396" y="895019"/>
                </a:moveTo>
                <a:lnTo>
                  <a:pt x="1849183" y="888111"/>
                </a:lnTo>
                <a:lnTo>
                  <a:pt x="1859559" y="883272"/>
                </a:lnTo>
                <a:lnTo>
                  <a:pt x="1876796" y="883310"/>
                </a:lnTo>
                <a:lnTo>
                  <a:pt x="1862810" y="890168"/>
                </a:lnTo>
                <a:lnTo>
                  <a:pt x="1852396" y="895019"/>
                </a:lnTo>
              </a:path>
              <a:path w="2581909" h="1019810">
                <a:moveTo>
                  <a:pt x="1830796" y="904887"/>
                </a:moveTo>
                <a:lnTo>
                  <a:pt x="1811959" y="904887"/>
                </a:lnTo>
                <a:lnTo>
                  <a:pt x="1828469" y="897585"/>
                </a:lnTo>
                <a:lnTo>
                  <a:pt x="1831543" y="904557"/>
                </a:lnTo>
                <a:lnTo>
                  <a:pt x="1830796" y="904887"/>
                </a:lnTo>
              </a:path>
              <a:path w="2581909" h="1019810">
                <a:moveTo>
                  <a:pt x="1803501" y="916686"/>
                </a:moveTo>
                <a:lnTo>
                  <a:pt x="1800555" y="909650"/>
                </a:lnTo>
                <a:lnTo>
                  <a:pt x="1812036" y="904849"/>
                </a:lnTo>
                <a:lnTo>
                  <a:pt x="1830796" y="904887"/>
                </a:lnTo>
                <a:lnTo>
                  <a:pt x="1815007" y="911872"/>
                </a:lnTo>
                <a:lnTo>
                  <a:pt x="1803501" y="916686"/>
                </a:lnTo>
              </a:path>
              <a:path w="2581909" h="1019810">
                <a:moveTo>
                  <a:pt x="1753755" y="936345"/>
                </a:moveTo>
                <a:lnTo>
                  <a:pt x="1751101" y="929208"/>
                </a:lnTo>
                <a:lnTo>
                  <a:pt x="1763534" y="924585"/>
                </a:lnTo>
                <a:lnTo>
                  <a:pt x="1779473" y="918286"/>
                </a:lnTo>
                <a:lnTo>
                  <a:pt x="1782279" y="925372"/>
                </a:lnTo>
                <a:lnTo>
                  <a:pt x="1766227" y="931710"/>
                </a:lnTo>
                <a:lnTo>
                  <a:pt x="1753755" y="936345"/>
                </a:lnTo>
              </a:path>
              <a:path w="2581909" h="1019810">
                <a:moveTo>
                  <a:pt x="1763458" y="924610"/>
                </a:moveTo>
              </a:path>
              <a:path w="2581909" h="1019810">
                <a:moveTo>
                  <a:pt x="1731604" y="942454"/>
                </a:moveTo>
                <a:lnTo>
                  <a:pt x="1714030" y="942454"/>
                </a:lnTo>
                <a:lnTo>
                  <a:pt x="1729689" y="936980"/>
                </a:lnTo>
                <a:lnTo>
                  <a:pt x="1731604" y="942454"/>
                </a:lnTo>
              </a:path>
              <a:path w="2581909" h="1019810">
                <a:moveTo>
                  <a:pt x="1703260" y="953985"/>
                </a:moveTo>
                <a:lnTo>
                  <a:pt x="1700898" y="946746"/>
                </a:lnTo>
                <a:lnTo>
                  <a:pt x="1714093" y="942428"/>
                </a:lnTo>
                <a:lnTo>
                  <a:pt x="1731604" y="942454"/>
                </a:lnTo>
                <a:lnTo>
                  <a:pt x="1732203" y="944168"/>
                </a:lnTo>
                <a:lnTo>
                  <a:pt x="1716506" y="949655"/>
                </a:lnTo>
                <a:lnTo>
                  <a:pt x="1703260" y="953985"/>
                </a:lnTo>
              </a:path>
              <a:path w="2581909" h="1019810">
                <a:moveTo>
                  <a:pt x="1680621" y="958354"/>
                </a:moveTo>
                <a:lnTo>
                  <a:pt x="1663700" y="958354"/>
                </a:lnTo>
                <a:lnTo>
                  <a:pt x="1679181" y="953630"/>
                </a:lnTo>
                <a:lnTo>
                  <a:pt x="1680621" y="958354"/>
                </a:lnTo>
              </a:path>
              <a:path w="2581909" h="1019810">
                <a:moveTo>
                  <a:pt x="1652092" y="969556"/>
                </a:moveTo>
                <a:lnTo>
                  <a:pt x="1650022" y="962228"/>
                </a:lnTo>
                <a:lnTo>
                  <a:pt x="1663776" y="958329"/>
                </a:lnTo>
                <a:lnTo>
                  <a:pt x="1680621" y="958354"/>
                </a:lnTo>
                <a:lnTo>
                  <a:pt x="1681403" y="960920"/>
                </a:lnTo>
                <a:lnTo>
                  <a:pt x="1665884" y="965657"/>
                </a:lnTo>
                <a:lnTo>
                  <a:pt x="1652092" y="969556"/>
                </a:lnTo>
              </a:path>
              <a:path w="2581909" h="1019810">
                <a:moveTo>
                  <a:pt x="1600327" y="983043"/>
                </a:moveTo>
                <a:lnTo>
                  <a:pt x="1598561" y="975639"/>
                </a:lnTo>
                <a:lnTo>
                  <a:pt x="1612595" y="972273"/>
                </a:lnTo>
                <a:lnTo>
                  <a:pt x="1628038" y="968235"/>
                </a:lnTo>
                <a:lnTo>
                  <a:pt x="1629968" y="975601"/>
                </a:lnTo>
                <a:lnTo>
                  <a:pt x="1614411" y="979665"/>
                </a:lnTo>
                <a:lnTo>
                  <a:pt x="1600327" y="983043"/>
                </a:lnTo>
              </a:path>
              <a:path w="2581909" h="1019810">
                <a:moveTo>
                  <a:pt x="1612519" y="972286"/>
                </a:moveTo>
              </a:path>
              <a:path w="2581909" h="1019810">
                <a:moveTo>
                  <a:pt x="1548066" y="994422"/>
                </a:moveTo>
                <a:lnTo>
                  <a:pt x="1546593" y="986955"/>
                </a:lnTo>
                <a:lnTo>
                  <a:pt x="1560626" y="984186"/>
                </a:lnTo>
                <a:lnTo>
                  <a:pt x="1576349" y="980744"/>
                </a:lnTo>
                <a:lnTo>
                  <a:pt x="1577975" y="988187"/>
                </a:lnTo>
                <a:lnTo>
                  <a:pt x="1562138" y="991654"/>
                </a:lnTo>
                <a:lnTo>
                  <a:pt x="1548066" y="994422"/>
                </a:lnTo>
              </a:path>
              <a:path w="2581909" h="1019810">
                <a:moveTo>
                  <a:pt x="1560550" y="984199"/>
                </a:moveTo>
              </a:path>
              <a:path w="2581909" h="1019810">
                <a:moveTo>
                  <a:pt x="1524711" y="994041"/>
                </a:moveTo>
                <a:lnTo>
                  <a:pt x="1507820" y="994041"/>
                </a:lnTo>
                <a:lnTo>
                  <a:pt x="1524203" y="991158"/>
                </a:lnTo>
                <a:lnTo>
                  <a:pt x="1524711" y="994041"/>
                </a:lnTo>
              </a:path>
              <a:path w="2581909" h="1019810">
                <a:moveTo>
                  <a:pt x="1495374" y="1003744"/>
                </a:moveTo>
                <a:lnTo>
                  <a:pt x="1494243" y="996213"/>
                </a:lnTo>
                <a:lnTo>
                  <a:pt x="1507871" y="994029"/>
                </a:lnTo>
                <a:lnTo>
                  <a:pt x="1524711" y="994041"/>
                </a:lnTo>
                <a:lnTo>
                  <a:pt x="1525524" y="998651"/>
                </a:lnTo>
                <a:lnTo>
                  <a:pt x="1509115" y="1001547"/>
                </a:lnTo>
                <a:lnTo>
                  <a:pt x="1495374" y="1003744"/>
                </a:lnTo>
              </a:path>
              <a:path w="2581909" h="1019810">
                <a:moveTo>
                  <a:pt x="1471980" y="1001776"/>
                </a:moveTo>
                <a:lnTo>
                  <a:pt x="1454391" y="1001776"/>
                </a:lnTo>
                <a:lnTo>
                  <a:pt x="1467853" y="1000036"/>
                </a:lnTo>
                <a:lnTo>
                  <a:pt x="1471663" y="999502"/>
                </a:lnTo>
                <a:lnTo>
                  <a:pt x="1471980" y="1001776"/>
                </a:lnTo>
              </a:path>
              <a:path w="2581909" h="1019810">
                <a:moveTo>
                  <a:pt x="1442402" y="1010869"/>
                </a:moveTo>
                <a:lnTo>
                  <a:pt x="1441500" y="1003300"/>
                </a:lnTo>
                <a:lnTo>
                  <a:pt x="1454429" y="1001763"/>
                </a:lnTo>
                <a:lnTo>
                  <a:pt x="1471980" y="1001776"/>
                </a:lnTo>
                <a:lnTo>
                  <a:pt x="1472717" y="1007046"/>
                </a:lnTo>
                <a:lnTo>
                  <a:pt x="1468843" y="1007592"/>
                </a:lnTo>
                <a:lnTo>
                  <a:pt x="1455343" y="1009332"/>
                </a:lnTo>
                <a:lnTo>
                  <a:pt x="1442402" y="1010869"/>
                </a:lnTo>
              </a:path>
              <a:path w="2581909" h="1019810">
                <a:moveTo>
                  <a:pt x="1389138" y="1015860"/>
                </a:moveTo>
                <a:lnTo>
                  <a:pt x="1388554" y="1008253"/>
                </a:lnTo>
                <a:lnTo>
                  <a:pt x="1400314" y="1007351"/>
                </a:lnTo>
                <a:lnTo>
                  <a:pt x="1413903" y="1006157"/>
                </a:lnTo>
                <a:lnTo>
                  <a:pt x="1418844" y="1005674"/>
                </a:lnTo>
                <a:lnTo>
                  <a:pt x="1419580" y="1013256"/>
                </a:lnTo>
                <a:lnTo>
                  <a:pt x="1414589" y="1013752"/>
                </a:lnTo>
                <a:lnTo>
                  <a:pt x="1389138" y="1015860"/>
                </a:lnTo>
              </a:path>
              <a:path w="2581909" h="1019810">
                <a:moveTo>
                  <a:pt x="1335722" y="1018705"/>
                </a:moveTo>
                <a:lnTo>
                  <a:pt x="1335443" y="1011097"/>
                </a:lnTo>
                <a:lnTo>
                  <a:pt x="1345577" y="1010729"/>
                </a:lnTo>
                <a:lnTo>
                  <a:pt x="1359319" y="1010094"/>
                </a:lnTo>
                <a:lnTo>
                  <a:pt x="1365821" y="1009726"/>
                </a:lnTo>
                <a:lnTo>
                  <a:pt x="1366253" y="1017333"/>
                </a:lnTo>
                <a:lnTo>
                  <a:pt x="1345869" y="1018349"/>
                </a:lnTo>
                <a:lnTo>
                  <a:pt x="1335722" y="1018705"/>
                </a:lnTo>
              </a:path>
              <a:path w="2581909" h="1019810">
                <a:moveTo>
                  <a:pt x="1282230" y="1019441"/>
                </a:moveTo>
                <a:lnTo>
                  <a:pt x="1282268" y="1011821"/>
                </a:lnTo>
                <a:lnTo>
                  <a:pt x="1312672" y="1011669"/>
                </a:lnTo>
                <a:lnTo>
                  <a:pt x="1312786" y="1019276"/>
                </a:lnTo>
                <a:lnTo>
                  <a:pt x="1304201" y="1019416"/>
                </a:lnTo>
                <a:lnTo>
                  <a:pt x="1282230" y="1019441"/>
                </a:lnTo>
              </a:path>
              <a:path w="2581909" h="1019810">
                <a:moveTo>
                  <a:pt x="1259293" y="1019124"/>
                </a:moveTo>
                <a:lnTo>
                  <a:pt x="1234605" y="1018349"/>
                </a:lnTo>
                <a:lnTo>
                  <a:pt x="1228763" y="1018070"/>
                </a:lnTo>
                <a:lnTo>
                  <a:pt x="1229106" y="1010462"/>
                </a:lnTo>
                <a:lnTo>
                  <a:pt x="1234935" y="1010729"/>
                </a:lnTo>
                <a:lnTo>
                  <a:pt x="1248714" y="1011224"/>
                </a:lnTo>
                <a:lnTo>
                  <a:pt x="1259497" y="1011504"/>
                </a:lnTo>
                <a:lnTo>
                  <a:pt x="1259293" y="1019124"/>
                </a:lnTo>
              </a:path>
              <a:path w="2581909" h="1019810">
                <a:moveTo>
                  <a:pt x="1205852" y="1016850"/>
                </a:moveTo>
                <a:lnTo>
                  <a:pt x="1179550" y="1014945"/>
                </a:lnTo>
                <a:lnTo>
                  <a:pt x="1175385" y="1014577"/>
                </a:lnTo>
                <a:lnTo>
                  <a:pt x="1176045" y="1006983"/>
                </a:lnTo>
                <a:lnTo>
                  <a:pt x="1180198" y="1007351"/>
                </a:lnTo>
                <a:lnTo>
                  <a:pt x="1193825" y="1008405"/>
                </a:lnTo>
                <a:lnTo>
                  <a:pt x="1206360" y="1009243"/>
                </a:lnTo>
                <a:lnTo>
                  <a:pt x="1205852" y="1016850"/>
                </a:lnTo>
              </a:path>
              <a:path w="2581909" h="1019810">
                <a:moveTo>
                  <a:pt x="1152575" y="1012444"/>
                </a:moveTo>
                <a:lnTo>
                  <a:pt x="1138669" y="1010945"/>
                </a:lnTo>
                <a:lnTo>
                  <a:pt x="1125131" y="1009332"/>
                </a:lnTo>
                <a:lnTo>
                  <a:pt x="1122184" y="1008951"/>
                </a:lnTo>
                <a:lnTo>
                  <a:pt x="1123162" y="1001395"/>
                </a:lnTo>
                <a:lnTo>
                  <a:pt x="1126083" y="1001776"/>
                </a:lnTo>
                <a:lnTo>
                  <a:pt x="1139545" y="1003376"/>
                </a:lnTo>
                <a:lnTo>
                  <a:pt x="1153325" y="1004862"/>
                </a:lnTo>
                <a:lnTo>
                  <a:pt x="1152575" y="1012444"/>
                </a:lnTo>
              </a:path>
              <a:path w="2581909" h="1019810">
                <a:moveTo>
                  <a:pt x="1099489" y="1005890"/>
                </a:moveTo>
                <a:lnTo>
                  <a:pt x="1098156" y="1005713"/>
                </a:lnTo>
                <a:lnTo>
                  <a:pt x="1071359" y="1001547"/>
                </a:lnTo>
                <a:lnTo>
                  <a:pt x="1069238" y="1001179"/>
                </a:lnTo>
                <a:lnTo>
                  <a:pt x="1070559" y="993673"/>
                </a:lnTo>
                <a:lnTo>
                  <a:pt x="1072682" y="994041"/>
                </a:lnTo>
                <a:lnTo>
                  <a:pt x="1085972" y="996175"/>
                </a:lnTo>
                <a:lnTo>
                  <a:pt x="1099273" y="998169"/>
                </a:lnTo>
                <a:lnTo>
                  <a:pt x="1100543" y="998347"/>
                </a:lnTo>
                <a:lnTo>
                  <a:pt x="1099489" y="1005890"/>
                </a:lnTo>
              </a:path>
              <a:path w="2581909" h="1019810">
                <a:moveTo>
                  <a:pt x="1046734" y="997204"/>
                </a:moveTo>
                <a:lnTo>
                  <a:pt x="1044765" y="996861"/>
                </a:lnTo>
                <a:lnTo>
                  <a:pt x="1018336" y="991654"/>
                </a:lnTo>
                <a:lnTo>
                  <a:pt x="1016673" y="991285"/>
                </a:lnTo>
                <a:lnTo>
                  <a:pt x="1018298" y="983843"/>
                </a:lnTo>
                <a:lnTo>
                  <a:pt x="1019866" y="984186"/>
                </a:lnTo>
                <a:lnTo>
                  <a:pt x="1046136" y="989368"/>
                </a:lnTo>
                <a:lnTo>
                  <a:pt x="1048054" y="989711"/>
                </a:lnTo>
                <a:lnTo>
                  <a:pt x="1046734" y="997204"/>
                </a:lnTo>
              </a:path>
              <a:path w="2581909" h="1019810">
                <a:moveTo>
                  <a:pt x="994333" y="986409"/>
                </a:moveTo>
                <a:lnTo>
                  <a:pt x="992098" y="985913"/>
                </a:lnTo>
                <a:lnTo>
                  <a:pt x="966050" y="979665"/>
                </a:lnTo>
                <a:lnTo>
                  <a:pt x="964552" y="979271"/>
                </a:lnTo>
                <a:lnTo>
                  <a:pt x="966470" y="971905"/>
                </a:lnTo>
                <a:lnTo>
                  <a:pt x="967894" y="972273"/>
                </a:lnTo>
                <a:lnTo>
                  <a:pt x="993785" y="978484"/>
                </a:lnTo>
                <a:lnTo>
                  <a:pt x="995972" y="978966"/>
                </a:lnTo>
                <a:lnTo>
                  <a:pt x="994333" y="986409"/>
                </a:lnTo>
              </a:path>
              <a:path w="2581909" h="1019810">
                <a:moveTo>
                  <a:pt x="942428" y="973493"/>
                </a:moveTo>
                <a:lnTo>
                  <a:pt x="940219" y="972908"/>
                </a:lnTo>
                <a:lnTo>
                  <a:pt x="914254" y="965555"/>
                </a:lnTo>
                <a:lnTo>
                  <a:pt x="912952" y="965161"/>
                </a:lnTo>
                <a:lnTo>
                  <a:pt x="915174" y="957872"/>
                </a:lnTo>
                <a:lnTo>
                  <a:pt x="916788" y="958354"/>
                </a:lnTo>
                <a:lnTo>
                  <a:pt x="942206" y="965555"/>
                </a:lnTo>
                <a:lnTo>
                  <a:pt x="944359" y="966114"/>
                </a:lnTo>
                <a:lnTo>
                  <a:pt x="942428" y="973493"/>
                </a:lnTo>
              </a:path>
              <a:path w="2581909" h="1019810">
                <a:moveTo>
                  <a:pt x="891082" y="958481"/>
                </a:moveTo>
                <a:lnTo>
                  <a:pt x="889165" y="957897"/>
                </a:lnTo>
                <a:lnTo>
                  <a:pt x="863968" y="949655"/>
                </a:lnTo>
                <a:lnTo>
                  <a:pt x="861974" y="948956"/>
                </a:lnTo>
                <a:lnTo>
                  <a:pt x="864489" y="941768"/>
                </a:lnTo>
                <a:lnTo>
                  <a:pt x="866372" y="942428"/>
                </a:lnTo>
                <a:lnTo>
                  <a:pt x="891507" y="950645"/>
                </a:lnTo>
                <a:lnTo>
                  <a:pt x="893305" y="951204"/>
                </a:lnTo>
                <a:lnTo>
                  <a:pt x="891082" y="958481"/>
                </a:lnTo>
              </a:path>
              <a:path w="2581909" h="1019810">
                <a:moveTo>
                  <a:pt x="840397" y="941412"/>
                </a:moveTo>
                <a:lnTo>
                  <a:pt x="838987" y="940917"/>
                </a:lnTo>
                <a:lnTo>
                  <a:pt x="814247" y="931710"/>
                </a:lnTo>
                <a:lnTo>
                  <a:pt x="811695" y="930706"/>
                </a:lnTo>
                <a:lnTo>
                  <a:pt x="814501" y="923620"/>
                </a:lnTo>
                <a:lnTo>
                  <a:pt x="817008" y="924610"/>
                </a:lnTo>
                <a:lnTo>
                  <a:pt x="841548" y="933742"/>
                </a:lnTo>
                <a:lnTo>
                  <a:pt x="842911" y="934224"/>
                </a:lnTo>
                <a:lnTo>
                  <a:pt x="840397" y="941412"/>
                </a:lnTo>
              </a:path>
              <a:path w="2581909" h="1019810">
                <a:moveTo>
                  <a:pt x="790435" y="922299"/>
                </a:moveTo>
                <a:lnTo>
                  <a:pt x="765454" y="911872"/>
                </a:lnTo>
                <a:lnTo>
                  <a:pt x="762203" y="910424"/>
                </a:lnTo>
                <a:lnTo>
                  <a:pt x="765289" y="903452"/>
                </a:lnTo>
                <a:lnTo>
                  <a:pt x="768529" y="904887"/>
                </a:lnTo>
                <a:lnTo>
                  <a:pt x="793242" y="915212"/>
                </a:lnTo>
                <a:lnTo>
                  <a:pt x="790435" y="922299"/>
                </a:lnTo>
              </a:path>
              <a:path w="2581909" h="1019810">
                <a:moveTo>
                  <a:pt x="741222" y="901153"/>
                </a:moveTo>
                <a:lnTo>
                  <a:pt x="717664" y="890168"/>
                </a:lnTo>
                <a:lnTo>
                  <a:pt x="713574" y="888161"/>
                </a:lnTo>
                <a:lnTo>
                  <a:pt x="716927" y="881316"/>
                </a:lnTo>
                <a:lnTo>
                  <a:pt x="720997" y="883310"/>
                </a:lnTo>
                <a:lnTo>
                  <a:pt x="744448" y="894245"/>
                </a:lnTo>
                <a:lnTo>
                  <a:pt x="741222" y="901153"/>
                </a:lnTo>
              </a:path>
              <a:path w="2581909" h="1019810">
                <a:moveTo>
                  <a:pt x="692988" y="878039"/>
                </a:moveTo>
                <a:lnTo>
                  <a:pt x="670890" y="866660"/>
                </a:lnTo>
                <a:lnTo>
                  <a:pt x="665873" y="863955"/>
                </a:lnTo>
                <a:lnTo>
                  <a:pt x="669493" y="857250"/>
                </a:lnTo>
                <a:lnTo>
                  <a:pt x="674494" y="859942"/>
                </a:lnTo>
                <a:lnTo>
                  <a:pt x="696480" y="871270"/>
                </a:lnTo>
                <a:lnTo>
                  <a:pt x="692988" y="878039"/>
                </a:lnTo>
              </a:path>
              <a:path w="2581909" h="1019810">
                <a:moveTo>
                  <a:pt x="645718" y="853008"/>
                </a:moveTo>
                <a:lnTo>
                  <a:pt x="625208" y="841387"/>
                </a:lnTo>
                <a:lnTo>
                  <a:pt x="619201" y="837831"/>
                </a:lnTo>
                <a:lnTo>
                  <a:pt x="623087" y="831278"/>
                </a:lnTo>
                <a:lnTo>
                  <a:pt x="629060" y="834821"/>
                </a:lnTo>
                <a:lnTo>
                  <a:pt x="649478" y="846378"/>
                </a:lnTo>
                <a:lnTo>
                  <a:pt x="645718" y="853008"/>
                </a:lnTo>
              </a:path>
              <a:path w="2581909" h="1019810">
                <a:moveTo>
                  <a:pt x="599503" y="826084"/>
                </a:moveTo>
                <a:lnTo>
                  <a:pt x="580631" y="814400"/>
                </a:lnTo>
                <a:lnTo>
                  <a:pt x="573608" y="809866"/>
                </a:lnTo>
                <a:lnTo>
                  <a:pt x="577748" y="803465"/>
                </a:lnTo>
                <a:lnTo>
                  <a:pt x="584687" y="807948"/>
                </a:lnTo>
                <a:lnTo>
                  <a:pt x="603516" y="819607"/>
                </a:lnTo>
                <a:lnTo>
                  <a:pt x="599503" y="826084"/>
                </a:lnTo>
              </a:path>
              <a:path w="2581909" h="1019810">
                <a:moveTo>
                  <a:pt x="554405" y="797331"/>
                </a:moveTo>
                <a:lnTo>
                  <a:pt x="537222" y="785736"/>
                </a:lnTo>
                <a:lnTo>
                  <a:pt x="529183" y="780084"/>
                </a:lnTo>
                <a:lnTo>
                  <a:pt x="533565" y="773849"/>
                </a:lnTo>
                <a:lnTo>
                  <a:pt x="541524" y="779449"/>
                </a:lnTo>
                <a:lnTo>
                  <a:pt x="558673" y="791006"/>
                </a:lnTo>
                <a:lnTo>
                  <a:pt x="554405" y="797331"/>
                </a:lnTo>
              </a:path>
              <a:path w="2581909" h="1019810">
                <a:moveTo>
                  <a:pt x="510501" y="766787"/>
                </a:moveTo>
                <a:lnTo>
                  <a:pt x="495033" y="755446"/>
                </a:lnTo>
                <a:lnTo>
                  <a:pt x="485990" y="748550"/>
                </a:lnTo>
                <a:lnTo>
                  <a:pt x="490613" y="742492"/>
                </a:lnTo>
                <a:lnTo>
                  <a:pt x="499580" y="749325"/>
                </a:lnTo>
                <a:lnTo>
                  <a:pt x="515010" y="760641"/>
                </a:lnTo>
                <a:lnTo>
                  <a:pt x="510501" y="766787"/>
                </a:lnTo>
              </a:path>
              <a:path w="2581909" h="1019810">
                <a:moveTo>
                  <a:pt x="467855" y="734504"/>
                </a:moveTo>
                <a:lnTo>
                  <a:pt x="454088" y="723569"/>
                </a:lnTo>
                <a:lnTo>
                  <a:pt x="444093" y="715302"/>
                </a:lnTo>
                <a:lnTo>
                  <a:pt x="448945" y="709434"/>
                </a:lnTo>
                <a:lnTo>
                  <a:pt x="458927" y="717677"/>
                </a:lnTo>
                <a:lnTo>
                  <a:pt x="472605" y="728535"/>
                </a:lnTo>
                <a:lnTo>
                  <a:pt x="467855" y="734504"/>
                </a:lnTo>
              </a:path>
              <a:path w="2581909" h="1019810">
                <a:moveTo>
                  <a:pt x="426542" y="700544"/>
                </a:moveTo>
                <a:lnTo>
                  <a:pt x="414451" y="690156"/>
                </a:lnTo>
                <a:lnTo>
                  <a:pt x="403555" y="680415"/>
                </a:lnTo>
                <a:lnTo>
                  <a:pt x="408635" y="674738"/>
                </a:lnTo>
                <a:lnTo>
                  <a:pt x="419501" y="684441"/>
                </a:lnTo>
                <a:lnTo>
                  <a:pt x="431507" y="694766"/>
                </a:lnTo>
                <a:lnTo>
                  <a:pt x="426542" y="700544"/>
                </a:lnTo>
              </a:path>
              <a:path w="2581909" h="1019810">
                <a:moveTo>
                  <a:pt x="386613" y="664959"/>
                </a:moveTo>
                <a:lnTo>
                  <a:pt x="376148" y="655231"/>
                </a:lnTo>
                <a:lnTo>
                  <a:pt x="364451" y="643928"/>
                </a:lnTo>
                <a:lnTo>
                  <a:pt x="369747" y="638454"/>
                </a:lnTo>
                <a:lnTo>
                  <a:pt x="381422" y="649732"/>
                </a:lnTo>
                <a:lnTo>
                  <a:pt x="391807" y="659384"/>
                </a:lnTo>
                <a:lnTo>
                  <a:pt x="386613" y="664959"/>
                </a:lnTo>
              </a:path>
              <a:path w="2581909" h="1019810">
                <a:moveTo>
                  <a:pt x="348145" y="627811"/>
                </a:moveTo>
                <a:lnTo>
                  <a:pt x="339242" y="618871"/>
                </a:lnTo>
                <a:lnTo>
                  <a:pt x="326834" y="605917"/>
                </a:lnTo>
                <a:lnTo>
                  <a:pt x="332333" y="600646"/>
                </a:lnTo>
                <a:lnTo>
                  <a:pt x="344667" y="613524"/>
                </a:lnTo>
                <a:lnTo>
                  <a:pt x="353542" y="622439"/>
                </a:lnTo>
                <a:lnTo>
                  <a:pt x="348145" y="627811"/>
                </a:lnTo>
              </a:path>
              <a:path w="2581909" h="1019810">
                <a:moveTo>
                  <a:pt x="311175" y="589153"/>
                </a:moveTo>
                <a:lnTo>
                  <a:pt x="303758" y="581101"/>
                </a:lnTo>
                <a:lnTo>
                  <a:pt x="290766" y="566432"/>
                </a:lnTo>
                <a:lnTo>
                  <a:pt x="296468" y="561378"/>
                </a:lnTo>
                <a:lnTo>
                  <a:pt x="309390" y="575970"/>
                </a:lnTo>
                <a:lnTo>
                  <a:pt x="316788" y="583996"/>
                </a:lnTo>
                <a:lnTo>
                  <a:pt x="311175" y="589153"/>
                </a:lnTo>
              </a:path>
              <a:path w="2581909" h="1019810">
                <a:moveTo>
                  <a:pt x="275793" y="549059"/>
                </a:moveTo>
                <a:lnTo>
                  <a:pt x="269760" y="541972"/>
                </a:lnTo>
                <a:lnTo>
                  <a:pt x="256298" y="525526"/>
                </a:lnTo>
                <a:lnTo>
                  <a:pt x="262191" y="520700"/>
                </a:lnTo>
                <a:lnTo>
                  <a:pt x="275633" y="537108"/>
                </a:lnTo>
                <a:lnTo>
                  <a:pt x="281597" y="544106"/>
                </a:lnTo>
                <a:lnTo>
                  <a:pt x="275793" y="549059"/>
                </a:lnTo>
              </a:path>
              <a:path w="2581909" h="1019810">
                <a:moveTo>
                  <a:pt x="242036" y="507568"/>
                </a:moveTo>
                <a:lnTo>
                  <a:pt x="237286" y="501523"/>
                </a:lnTo>
                <a:lnTo>
                  <a:pt x="223494" y="483285"/>
                </a:lnTo>
                <a:lnTo>
                  <a:pt x="229577" y="478688"/>
                </a:lnTo>
                <a:lnTo>
                  <a:pt x="243296" y="496836"/>
                </a:lnTo>
                <a:lnTo>
                  <a:pt x="248031" y="502856"/>
                </a:lnTo>
                <a:lnTo>
                  <a:pt x="242036" y="507568"/>
                </a:lnTo>
              </a:path>
              <a:path w="2581909" h="1019810">
                <a:moveTo>
                  <a:pt x="209981" y="464756"/>
                </a:moveTo>
                <a:lnTo>
                  <a:pt x="206375" y="459803"/>
                </a:lnTo>
                <a:lnTo>
                  <a:pt x="192417" y="439762"/>
                </a:lnTo>
                <a:lnTo>
                  <a:pt x="198666" y="435406"/>
                </a:lnTo>
                <a:lnTo>
                  <a:pt x="212618" y="455422"/>
                </a:lnTo>
                <a:lnTo>
                  <a:pt x="216141" y="460286"/>
                </a:lnTo>
                <a:lnTo>
                  <a:pt x="209981" y="464756"/>
                </a:lnTo>
              </a:path>
              <a:path w="2581909" h="1019810">
                <a:moveTo>
                  <a:pt x="179654" y="420700"/>
                </a:moveTo>
                <a:lnTo>
                  <a:pt x="177076" y="416852"/>
                </a:lnTo>
                <a:lnTo>
                  <a:pt x="163106" y="395020"/>
                </a:lnTo>
                <a:lnTo>
                  <a:pt x="169519" y="390906"/>
                </a:lnTo>
                <a:lnTo>
                  <a:pt x="183444" y="412661"/>
                </a:lnTo>
                <a:lnTo>
                  <a:pt x="185991" y="416471"/>
                </a:lnTo>
                <a:lnTo>
                  <a:pt x="179654" y="420700"/>
                </a:lnTo>
              </a:path>
              <a:path w="2581909" h="1019810">
                <a:moveTo>
                  <a:pt x="151117" y="375462"/>
                </a:moveTo>
                <a:lnTo>
                  <a:pt x="149440" y="372732"/>
                </a:lnTo>
                <a:lnTo>
                  <a:pt x="136258" y="350240"/>
                </a:lnTo>
                <a:lnTo>
                  <a:pt x="135597" y="349059"/>
                </a:lnTo>
                <a:lnTo>
                  <a:pt x="142252" y="345338"/>
                </a:lnTo>
                <a:lnTo>
                  <a:pt x="142852" y="346417"/>
                </a:lnTo>
                <a:lnTo>
                  <a:pt x="155956" y="368782"/>
                </a:lnTo>
                <a:lnTo>
                  <a:pt x="157619" y="371487"/>
                </a:lnTo>
                <a:lnTo>
                  <a:pt x="151117" y="375462"/>
                </a:lnTo>
              </a:path>
              <a:path w="2581909" h="1019810">
                <a:moveTo>
                  <a:pt x="124434" y="329120"/>
                </a:moveTo>
                <a:lnTo>
                  <a:pt x="123507" y="327469"/>
                </a:lnTo>
                <a:lnTo>
                  <a:pt x="111188" y="304419"/>
                </a:lnTo>
                <a:lnTo>
                  <a:pt x="110007" y="302094"/>
                </a:lnTo>
                <a:lnTo>
                  <a:pt x="116801" y="298640"/>
                </a:lnTo>
                <a:lnTo>
                  <a:pt x="117966" y="300926"/>
                </a:lnTo>
                <a:lnTo>
                  <a:pt x="130179" y="323773"/>
                </a:lnTo>
                <a:lnTo>
                  <a:pt x="131076" y="325386"/>
                </a:lnTo>
                <a:lnTo>
                  <a:pt x="124434" y="329120"/>
                </a:lnTo>
              </a:path>
              <a:path w="2581909" h="1019810">
                <a:moveTo>
                  <a:pt x="99631" y="281724"/>
                </a:moveTo>
                <a:lnTo>
                  <a:pt x="87896" y="257530"/>
                </a:lnTo>
                <a:lnTo>
                  <a:pt x="86321" y="254139"/>
                </a:lnTo>
                <a:lnTo>
                  <a:pt x="93243" y="250952"/>
                </a:lnTo>
                <a:lnTo>
                  <a:pt x="94798" y="254304"/>
                </a:lnTo>
                <a:lnTo>
                  <a:pt x="106128" y="277685"/>
                </a:lnTo>
                <a:lnTo>
                  <a:pt x="106426" y="278269"/>
                </a:lnTo>
                <a:lnTo>
                  <a:pt x="99631" y="281724"/>
                </a:lnTo>
              </a:path>
              <a:path w="2581909" h="1019810">
                <a:moveTo>
                  <a:pt x="76746" y="233299"/>
                </a:moveTo>
                <a:lnTo>
                  <a:pt x="66408" y="209613"/>
                </a:lnTo>
                <a:lnTo>
                  <a:pt x="64604" y="205257"/>
                </a:lnTo>
                <a:lnTo>
                  <a:pt x="71653" y="202349"/>
                </a:lnTo>
                <a:lnTo>
                  <a:pt x="73439" y="206679"/>
                </a:lnTo>
                <a:lnTo>
                  <a:pt x="83731" y="230251"/>
                </a:lnTo>
                <a:lnTo>
                  <a:pt x="76746" y="233299"/>
                </a:lnTo>
              </a:path>
              <a:path w="2581909" h="1019810">
                <a:moveTo>
                  <a:pt x="55867" y="184048"/>
                </a:moveTo>
                <a:lnTo>
                  <a:pt x="46774" y="160718"/>
                </a:lnTo>
                <a:lnTo>
                  <a:pt x="44881" y="155536"/>
                </a:lnTo>
                <a:lnTo>
                  <a:pt x="52031" y="152920"/>
                </a:lnTo>
                <a:lnTo>
                  <a:pt x="53896" y="157988"/>
                </a:lnTo>
                <a:lnTo>
                  <a:pt x="62966" y="181279"/>
                </a:lnTo>
                <a:lnTo>
                  <a:pt x="55867" y="184048"/>
                </a:lnTo>
              </a:path>
              <a:path w="2581909" h="1019810">
                <a:moveTo>
                  <a:pt x="37007" y="133997"/>
                </a:moveTo>
                <a:lnTo>
                  <a:pt x="29057" y="110896"/>
                </a:lnTo>
                <a:lnTo>
                  <a:pt x="27178" y="105067"/>
                </a:lnTo>
                <a:lnTo>
                  <a:pt x="34429" y="102730"/>
                </a:lnTo>
                <a:lnTo>
                  <a:pt x="36272" y="108445"/>
                </a:lnTo>
                <a:lnTo>
                  <a:pt x="44221" y="131508"/>
                </a:lnTo>
                <a:lnTo>
                  <a:pt x="37007" y="133997"/>
                </a:lnTo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331708" y="3988108"/>
            <a:ext cx="2860675" cy="2870200"/>
          </a:xfrm>
          <a:custGeom>
            <a:avLst/>
            <a:gdLst/>
            <a:ahLst/>
            <a:cxnLst/>
            <a:rect l="l" t="t" r="r" b="b"/>
            <a:pathLst>
              <a:path w="2860675" h="2870200">
                <a:moveTo>
                  <a:pt x="2751579" y="10369"/>
                </a:moveTo>
                <a:lnTo>
                  <a:pt x="2751363" y="6574"/>
                </a:lnTo>
                <a:lnTo>
                  <a:pt x="2751261" y="2752"/>
                </a:lnTo>
                <a:lnTo>
                  <a:pt x="2781741" y="1990"/>
                </a:lnTo>
                <a:lnTo>
                  <a:pt x="2781932" y="9610"/>
                </a:lnTo>
                <a:lnTo>
                  <a:pt x="2751579" y="10369"/>
                </a:lnTo>
              </a:path>
              <a:path w="2860675" h="2870200">
                <a:moveTo>
                  <a:pt x="2748912" y="10524"/>
                </a:moveTo>
                <a:lnTo>
                  <a:pt x="2748480" y="2917"/>
                </a:lnTo>
                <a:lnTo>
                  <a:pt x="2751147" y="2765"/>
                </a:lnTo>
                <a:lnTo>
                  <a:pt x="2751363" y="6574"/>
                </a:lnTo>
                <a:lnTo>
                  <a:pt x="2751465" y="10372"/>
                </a:lnTo>
                <a:lnTo>
                  <a:pt x="2748912" y="10524"/>
                </a:lnTo>
              </a:path>
              <a:path w="2860675" h="2870200">
                <a:moveTo>
                  <a:pt x="2751465" y="10372"/>
                </a:moveTo>
                <a:lnTo>
                  <a:pt x="2751363" y="6574"/>
                </a:lnTo>
                <a:lnTo>
                  <a:pt x="2751536" y="9610"/>
                </a:lnTo>
                <a:lnTo>
                  <a:pt x="2751465" y="10372"/>
                </a:lnTo>
              </a:path>
              <a:path w="2860675" h="2870200">
                <a:moveTo>
                  <a:pt x="2804779" y="9026"/>
                </a:moveTo>
                <a:lnTo>
                  <a:pt x="2804589" y="1406"/>
                </a:lnTo>
                <a:lnTo>
                  <a:pt x="2835056" y="644"/>
                </a:lnTo>
                <a:lnTo>
                  <a:pt x="2835259" y="8251"/>
                </a:lnTo>
                <a:lnTo>
                  <a:pt x="2804779" y="9026"/>
                </a:lnTo>
              </a:path>
              <a:path w="2860675" h="2870200">
                <a:moveTo>
                  <a:pt x="2858106" y="7680"/>
                </a:moveTo>
                <a:lnTo>
                  <a:pt x="2857916" y="60"/>
                </a:lnTo>
                <a:lnTo>
                  <a:pt x="2860291" y="0"/>
                </a:lnTo>
                <a:lnTo>
                  <a:pt x="2860291" y="7625"/>
                </a:lnTo>
                <a:lnTo>
                  <a:pt x="2858106" y="7680"/>
                </a:lnTo>
              </a:path>
              <a:path w="2860675" h="2870200">
                <a:moveTo>
                  <a:pt x="7624" y="2869891"/>
                </a:moveTo>
                <a:lnTo>
                  <a:pt x="0" y="2869891"/>
                </a:lnTo>
                <a:lnTo>
                  <a:pt x="670" y="2843513"/>
                </a:lnTo>
                <a:lnTo>
                  <a:pt x="8290" y="2843717"/>
                </a:lnTo>
                <a:lnTo>
                  <a:pt x="7624" y="2869891"/>
                </a:lnTo>
              </a:path>
              <a:path w="2860675" h="2870200">
                <a:moveTo>
                  <a:pt x="8861" y="2820857"/>
                </a:moveTo>
                <a:lnTo>
                  <a:pt x="1254" y="2820666"/>
                </a:lnTo>
                <a:lnTo>
                  <a:pt x="2016" y="2790199"/>
                </a:lnTo>
                <a:lnTo>
                  <a:pt x="9636" y="2790389"/>
                </a:lnTo>
                <a:lnTo>
                  <a:pt x="8861" y="2820857"/>
                </a:lnTo>
              </a:path>
              <a:path w="2860675" h="2870200">
                <a:moveTo>
                  <a:pt x="10220" y="2767529"/>
                </a:moveTo>
                <a:lnTo>
                  <a:pt x="2600" y="2767339"/>
                </a:lnTo>
                <a:lnTo>
                  <a:pt x="3007" y="2750956"/>
                </a:lnTo>
                <a:lnTo>
                  <a:pt x="3820" y="2736770"/>
                </a:lnTo>
                <a:lnTo>
                  <a:pt x="11427" y="2737202"/>
                </a:lnTo>
                <a:lnTo>
                  <a:pt x="10624" y="2751324"/>
                </a:lnTo>
                <a:lnTo>
                  <a:pt x="10220" y="2767529"/>
                </a:lnTo>
              </a:path>
              <a:path w="2860675" h="2870200">
                <a:moveTo>
                  <a:pt x="12735" y="2714431"/>
                </a:moveTo>
                <a:lnTo>
                  <a:pt x="5140" y="2713910"/>
                </a:lnTo>
                <a:lnTo>
                  <a:pt x="7223" y="2683493"/>
                </a:lnTo>
                <a:lnTo>
                  <a:pt x="14830" y="2684014"/>
                </a:lnTo>
                <a:lnTo>
                  <a:pt x="12735" y="2714431"/>
                </a:lnTo>
              </a:path>
              <a:path w="2860675" h="2870200">
                <a:moveTo>
                  <a:pt x="16634" y="2661268"/>
                </a:moveTo>
                <a:lnTo>
                  <a:pt x="9039" y="2660659"/>
                </a:lnTo>
                <a:lnTo>
                  <a:pt x="10131" y="2647108"/>
                </a:lnTo>
                <a:lnTo>
                  <a:pt x="11681" y="2630255"/>
                </a:lnTo>
                <a:lnTo>
                  <a:pt x="19275" y="2630953"/>
                </a:lnTo>
                <a:lnTo>
                  <a:pt x="17723" y="2647781"/>
                </a:lnTo>
                <a:lnTo>
                  <a:pt x="16634" y="2661268"/>
                </a:lnTo>
              </a:path>
              <a:path w="2860675" h="2870200">
                <a:moveTo>
                  <a:pt x="17723" y="2647781"/>
                </a:moveTo>
              </a:path>
              <a:path w="2860675" h="2870200">
                <a:moveTo>
                  <a:pt x="21434" y="2608246"/>
                </a:moveTo>
                <a:lnTo>
                  <a:pt x="13853" y="2607446"/>
                </a:lnTo>
                <a:lnTo>
                  <a:pt x="16935" y="2577969"/>
                </a:lnTo>
                <a:lnTo>
                  <a:pt x="17040" y="2577093"/>
                </a:lnTo>
                <a:lnTo>
                  <a:pt x="24609" y="2577969"/>
                </a:lnTo>
                <a:lnTo>
                  <a:pt x="24452" y="2579328"/>
                </a:lnTo>
                <a:lnTo>
                  <a:pt x="21434" y="2608246"/>
                </a:lnTo>
              </a:path>
              <a:path w="2860675" h="2870200">
                <a:moveTo>
                  <a:pt x="24452" y="2579328"/>
                </a:moveTo>
              </a:path>
              <a:path w="2860675" h="2870200">
                <a:moveTo>
                  <a:pt x="27251" y="2555261"/>
                </a:moveTo>
                <a:lnTo>
                  <a:pt x="19682" y="2554385"/>
                </a:lnTo>
                <a:lnTo>
                  <a:pt x="20850" y="2544327"/>
                </a:lnTo>
                <a:lnTo>
                  <a:pt x="23441" y="2524096"/>
                </a:lnTo>
                <a:lnTo>
                  <a:pt x="30998" y="2525061"/>
                </a:lnTo>
                <a:lnTo>
                  <a:pt x="28414" y="2545279"/>
                </a:lnTo>
                <a:lnTo>
                  <a:pt x="27251" y="2555261"/>
                </a:lnTo>
              </a:path>
              <a:path w="2860675" h="2870200">
                <a:moveTo>
                  <a:pt x="28414" y="2545279"/>
                </a:moveTo>
              </a:path>
              <a:path w="2860675" h="2870200">
                <a:moveTo>
                  <a:pt x="34007" y="2502455"/>
                </a:moveTo>
                <a:lnTo>
                  <a:pt x="26464" y="2501388"/>
                </a:lnTo>
                <a:lnTo>
                  <a:pt x="29969" y="2476420"/>
                </a:lnTo>
                <a:lnTo>
                  <a:pt x="30769" y="2471175"/>
                </a:lnTo>
                <a:lnTo>
                  <a:pt x="38300" y="2472318"/>
                </a:lnTo>
                <a:lnTo>
                  <a:pt x="37507" y="2477537"/>
                </a:lnTo>
                <a:lnTo>
                  <a:pt x="34007" y="2502455"/>
                </a:lnTo>
              </a:path>
              <a:path w="2860675" h="2870200">
                <a:moveTo>
                  <a:pt x="41742" y="2449724"/>
                </a:moveTo>
                <a:lnTo>
                  <a:pt x="34211" y="2448569"/>
                </a:lnTo>
                <a:lnTo>
                  <a:pt x="35112" y="2442651"/>
                </a:lnTo>
                <a:lnTo>
                  <a:pt x="39100" y="2418444"/>
                </a:lnTo>
                <a:lnTo>
                  <a:pt x="46619" y="2419676"/>
                </a:lnTo>
                <a:lnTo>
                  <a:pt x="42638" y="2443857"/>
                </a:lnTo>
                <a:lnTo>
                  <a:pt x="41742" y="2449724"/>
                </a:lnTo>
              </a:path>
              <a:path w="2860675" h="2870200">
                <a:moveTo>
                  <a:pt x="50479" y="2397185"/>
                </a:moveTo>
                <a:lnTo>
                  <a:pt x="42974" y="2395864"/>
                </a:lnTo>
                <a:lnTo>
                  <a:pt x="46568" y="2375493"/>
                </a:lnTo>
                <a:lnTo>
                  <a:pt x="48397" y="2365828"/>
                </a:lnTo>
                <a:lnTo>
                  <a:pt x="55877" y="2367238"/>
                </a:lnTo>
                <a:lnTo>
                  <a:pt x="54064" y="2376890"/>
                </a:lnTo>
                <a:lnTo>
                  <a:pt x="50479" y="2397185"/>
                </a:lnTo>
              </a:path>
              <a:path w="2860675" h="2870200">
                <a:moveTo>
                  <a:pt x="54064" y="2376890"/>
                </a:moveTo>
              </a:path>
              <a:path w="2860675" h="2870200">
                <a:moveTo>
                  <a:pt x="60119" y="2344772"/>
                </a:moveTo>
                <a:lnTo>
                  <a:pt x="52638" y="2343362"/>
                </a:lnTo>
                <a:lnTo>
                  <a:pt x="52867" y="2342117"/>
                </a:lnTo>
                <a:lnTo>
                  <a:pt x="58633" y="2313428"/>
                </a:lnTo>
                <a:lnTo>
                  <a:pt x="66100" y="2314939"/>
                </a:lnTo>
                <a:lnTo>
                  <a:pt x="60338" y="2343603"/>
                </a:lnTo>
                <a:lnTo>
                  <a:pt x="60119" y="2344772"/>
                </a:lnTo>
              </a:path>
              <a:path w="2860675" h="2870200">
                <a:moveTo>
                  <a:pt x="70812" y="2292613"/>
                </a:moveTo>
                <a:lnTo>
                  <a:pt x="63357" y="2291025"/>
                </a:lnTo>
                <a:lnTo>
                  <a:pt x="66608" y="2275773"/>
                </a:lnTo>
                <a:lnTo>
                  <a:pt x="69898" y="2261206"/>
                </a:lnTo>
                <a:lnTo>
                  <a:pt x="77327" y="2262882"/>
                </a:lnTo>
                <a:lnTo>
                  <a:pt x="74040" y="2277436"/>
                </a:lnTo>
                <a:lnTo>
                  <a:pt x="70812" y="2292613"/>
                </a:lnTo>
              </a:path>
              <a:path w="2860675" h="2870200">
                <a:moveTo>
                  <a:pt x="74040" y="2277436"/>
                </a:moveTo>
              </a:path>
              <a:path w="2860675" h="2870200">
                <a:moveTo>
                  <a:pt x="82394" y="2240632"/>
                </a:moveTo>
                <a:lnTo>
                  <a:pt x="74978" y="2238866"/>
                </a:lnTo>
                <a:lnTo>
                  <a:pt x="82052" y="2209174"/>
                </a:lnTo>
                <a:lnTo>
                  <a:pt x="89443" y="2211028"/>
                </a:lnTo>
                <a:lnTo>
                  <a:pt x="82394" y="2240632"/>
                </a:lnTo>
              </a:path>
              <a:path w="2860675" h="2870200">
                <a:moveTo>
                  <a:pt x="89249" y="2211790"/>
                </a:moveTo>
              </a:path>
              <a:path w="2860675" h="2870200">
                <a:moveTo>
                  <a:pt x="89240" y="2211828"/>
                </a:moveTo>
              </a:path>
              <a:path w="2860675" h="2870200">
                <a:moveTo>
                  <a:pt x="94993" y="2188854"/>
                </a:moveTo>
                <a:lnTo>
                  <a:pt x="87601" y="2187000"/>
                </a:lnTo>
                <a:lnTo>
                  <a:pt x="90014" y="2177322"/>
                </a:lnTo>
                <a:lnTo>
                  <a:pt x="95247" y="2157447"/>
                </a:lnTo>
                <a:lnTo>
                  <a:pt x="102613" y="2159390"/>
                </a:lnTo>
                <a:lnTo>
                  <a:pt x="97396" y="2179240"/>
                </a:lnTo>
                <a:lnTo>
                  <a:pt x="94993" y="2188854"/>
                </a:lnTo>
              </a:path>
              <a:path w="2860675" h="2870200">
                <a:moveTo>
                  <a:pt x="97396" y="2179240"/>
                </a:moveTo>
              </a:path>
              <a:path w="2860675" h="2870200">
                <a:moveTo>
                  <a:pt x="108518" y="2137355"/>
                </a:moveTo>
                <a:lnTo>
                  <a:pt x="101165" y="2135323"/>
                </a:lnTo>
                <a:lnTo>
                  <a:pt x="107477" y="2112425"/>
                </a:lnTo>
                <a:lnTo>
                  <a:pt x="109344" y="2105923"/>
                </a:lnTo>
                <a:lnTo>
                  <a:pt x="116672" y="2108031"/>
                </a:lnTo>
                <a:lnTo>
                  <a:pt x="114807" y="2114508"/>
                </a:lnTo>
                <a:lnTo>
                  <a:pt x="108518" y="2137355"/>
                </a:lnTo>
              </a:path>
              <a:path w="2860675" h="2870200">
                <a:moveTo>
                  <a:pt x="114807" y="2114508"/>
                </a:moveTo>
              </a:path>
              <a:path w="2860675" h="2870200">
                <a:moveTo>
                  <a:pt x="122996" y="2086060"/>
                </a:moveTo>
                <a:lnTo>
                  <a:pt x="115668" y="2083952"/>
                </a:lnTo>
                <a:lnTo>
                  <a:pt x="116748" y="2080205"/>
                </a:lnTo>
                <a:lnTo>
                  <a:pt x="124406" y="2054704"/>
                </a:lnTo>
                <a:lnTo>
                  <a:pt x="131709" y="2056901"/>
                </a:lnTo>
                <a:lnTo>
                  <a:pt x="124049" y="2082377"/>
                </a:lnTo>
                <a:lnTo>
                  <a:pt x="122996" y="2086060"/>
                </a:lnTo>
              </a:path>
              <a:path w="2860675" h="2870200">
                <a:moveTo>
                  <a:pt x="124050" y="2082377"/>
                </a:moveTo>
              </a:path>
              <a:path w="2860675" h="2870200">
                <a:moveTo>
                  <a:pt x="138452" y="2035095"/>
                </a:moveTo>
                <a:lnTo>
                  <a:pt x="131175" y="2032822"/>
                </a:lnTo>
                <a:lnTo>
                  <a:pt x="136369" y="2016223"/>
                </a:lnTo>
                <a:lnTo>
                  <a:pt x="140446" y="2003739"/>
                </a:lnTo>
                <a:lnTo>
                  <a:pt x="147685" y="2006101"/>
                </a:lnTo>
                <a:lnTo>
                  <a:pt x="143634" y="2018521"/>
                </a:lnTo>
                <a:lnTo>
                  <a:pt x="138452" y="2035095"/>
                </a:lnTo>
              </a:path>
              <a:path w="2860675" h="2870200">
                <a:moveTo>
                  <a:pt x="143635" y="2018559"/>
                </a:moveTo>
              </a:path>
              <a:path w="2860675" h="2870200">
                <a:moveTo>
                  <a:pt x="154784" y="1984422"/>
                </a:moveTo>
                <a:lnTo>
                  <a:pt x="147571" y="1981971"/>
                </a:lnTo>
                <a:lnTo>
                  <a:pt x="157350" y="1953104"/>
                </a:lnTo>
                <a:lnTo>
                  <a:pt x="164563" y="1955555"/>
                </a:lnTo>
                <a:lnTo>
                  <a:pt x="154784" y="1984422"/>
                </a:lnTo>
              </a:path>
              <a:path w="2860675" h="2870200">
                <a:moveTo>
                  <a:pt x="172133" y="1934028"/>
                </a:moveTo>
                <a:lnTo>
                  <a:pt x="164944" y="1931501"/>
                </a:lnTo>
                <a:lnTo>
                  <a:pt x="168488" y="1921455"/>
                </a:lnTo>
                <a:lnTo>
                  <a:pt x="175295" y="1902786"/>
                </a:lnTo>
                <a:lnTo>
                  <a:pt x="182458" y="1905390"/>
                </a:lnTo>
                <a:lnTo>
                  <a:pt x="175645" y="1924046"/>
                </a:lnTo>
                <a:lnTo>
                  <a:pt x="172133" y="1934028"/>
                </a:lnTo>
              </a:path>
              <a:path w="2860675" h="2870200">
                <a:moveTo>
                  <a:pt x="175651" y="1924046"/>
                </a:moveTo>
              </a:path>
              <a:path w="2860675" h="2870200">
                <a:moveTo>
                  <a:pt x="190383" y="1883990"/>
                </a:moveTo>
                <a:lnTo>
                  <a:pt x="183245" y="1881298"/>
                </a:lnTo>
                <a:lnTo>
                  <a:pt x="191640" y="1859098"/>
                </a:lnTo>
                <a:lnTo>
                  <a:pt x="194116" y="1852774"/>
                </a:lnTo>
                <a:lnTo>
                  <a:pt x="201216" y="1855555"/>
                </a:lnTo>
                <a:lnTo>
                  <a:pt x="198750" y="1861854"/>
                </a:lnTo>
                <a:lnTo>
                  <a:pt x="190383" y="1883990"/>
                </a:lnTo>
              </a:path>
              <a:path w="2860675" h="2870200">
                <a:moveTo>
                  <a:pt x="198752" y="1861854"/>
                </a:moveTo>
              </a:path>
              <a:path w="2860675" h="2870200">
                <a:moveTo>
                  <a:pt x="209534" y="1834270"/>
                </a:moveTo>
                <a:lnTo>
                  <a:pt x="202448" y="1831488"/>
                </a:lnTo>
                <a:lnTo>
                  <a:pt x="203743" y="1828174"/>
                </a:lnTo>
                <a:lnTo>
                  <a:pt x="213852" y="1803180"/>
                </a:lnTo>
                <a:lnTo>
                  <a:pt x="220913" y="1806038"/>
                </a:lnTo>
                <a:lnTo>
                  <a:pt x="210810" y="1831019"/>
                </a:lnTo>
                <a:lnTo>
                  <a:pt x="209534" y="1834270"/>
                </a:lnTo>
              </a:path>
              <a:path w="2860675" h="2870200">
                <a:moveTo>
                  <a:pt x="210817" y="1831019"/>
                </a:moveTo>
              </a:path>
              <a:path w="2860675" h="2870200">
                <a:moveTo>
                  <a:pt x="229651" y="1784956"/>
                </a:moveTo>
                <a:lnTo>
                  <a:pt x="222615" y="1782022"/>
                </a:lnTo>
                <a:lnTo>
                  <a:pt x="228952" y="1766858"/>
                </a:lnTo>
                <a:lnTo>
                  <a:pt x="234540" y="1753917"/>
                </a:lnTo>
                <a:lnTo>
                  <a:pt x="241538" y="1756939"/>
                </a:lnTo>
                <a:lnTo>
                  <a:pt x="235960" y="1769855"/>
                </a:lnTo>
                <a:lnTo>
                  <a:pt x="229651" y="1784956"/>
                </a:lnTo>
              </a:path>
              <a:path w="2860675" h="2870200">
                <a:moveTo>
                  <a:pt x="235963" y="1769855"/>
                </a:moveTo>
              </a:path>
              <a:path w="2860675" h="2870200">
                <a:moveTo>
                  <a:pt x="250619" y="1736010"/>
                </a:moveTo>
                <a:lnTo>
                  <a:pt x="243659" y="1732911"/>
                </a:lnTo>
                <a:lnTo>
                  <a:pt x="255521" y="1706254"/>
                </a:lnTo>
                <a:lnTo>
                  <a:pt x="256080" y="1705035"/>
                </a:lnTo>
                <a:lnTo>
                  <a:pt x="263014" y="1708210"/>
                </a:lnTo>
                <a:lnTo>
                  <a:pt x="262463" y="1709403"/>
                </a:lnTo>
                <a:lnTo>
                  <a:pt x="250619" y="1736010"/>
                </a:lnTo>
              </a:path>
              <a:path w="2860675" h="2870200">
                <a:moveTo>
                  <a:pt x="262463" y="1709403"/>
                </a:moveTo>
              </a:path>
              <a:path w="2860675" h="2870200">
                <a:moveTo>
                  <a:pt x="272552" y="1687432"/>
                </a:moveTo>
                <a:lnTo>
                  <a:pt x="265617" y="1684257"/>
                </a:lnTo>
                <a:lnTo>
                  <a:pt x="269313" y="1676218"/>
                </a:lnTo>
                <a:lnTo>
                  <a:pt x="278584" y="1656622"/>
                </a:lnTo>
                <a:lnTo>
                  <a:pt x="285467" y="1659873"/>
                </a:lnTo>
                <a:lnTo>
                  <a:pt x="276204" y="1679457"/>
                </a:lnTo>
                <a:lnTo>
                  <a:pt x="272552" y="1687432"/>
                </a:lnTo>
              </a:path>
              <a:path w="2860675" h="2870200">
                <a:moveTo>
                  <a:pt x="276209" y="1679457"/>
                </a:moveTo>
              </a:path>
              <a:path w="2860675" h="2870200">
                <a:moveTo>
                  <a:pt x="295348" y="1639312"/>
                </a:moveTo>
                <a:lnTo>
                  <a:pt x="288490" y="1635972"/>
                </a:lnTo>
                <a:lnTo>
                  <a:pt x="297875" y="1616719"/>
                </a:lnTo>
                <a:lnTo>
                  <a:pt x="301952" y="1608578"/>
                </a:lnTo>
                <a:lnTo>
                  <a:pt x="308759" y="1611994"/>
                </a:lnTo>
                <a:lnTo>
                  <a:pt x="304689" y="1620110"/>
                </a:lnTo>
                <a:lnTo>
                  <a:pt x="295348" y="1639312"/>
                </a:lnTo>
              </a:path>
              <a:path w="2860675" h="2870200">
                <a:moveTo>
                  <a:pt x="304695" y="1620110"/>
                </a:moveTo>
              </a:path>
              <a:path w="2860675" h="2870200">
                <a:moveTo>
                  <a:pt x="319008" y="1591547"/>
                </a:moveTo>
                <a:lnTo>
                  <a:pt x="312188" y="1588144"/>
                </a:lnTo>
                <a:lnTo>
                  <a:pt x="326171" y="1561004"/>
                </a:lnTo>
                <a:lnTo>
                  <a:pt x="332940" y="1564496"/>
                </a:lnTo>
                <a:lnTo>
                  <a:pt x="319008" y="1591547"/>
                </a:lnTo>
              </a:path>
              <a:path w="2860675" h="2870200">
                <a:moveTo>
                  <a:pt x="319427" y="1590722"/>
                </a:moveTo>
              </a:path>
              <a:path w="2860675" h="2870200">
                <a:moveTo>
                  <a:pt x="343595" y="1544316"/>
                </a:moveTo>
                <a:lnTo>
                  <a:pt x="336864" y="1540747"/>
                </a:lnTo>
                <a:lnTo>
                  <a:pt x="343151" y="1528886"/>
                </a:lnTo>
                <a:lnTo>
                  <a:pt x="351330" y="1513874"/>
                </a:lnTo>
                <a:lnTo>
                  <a:pt x="358023" y="1517519"/>
                </a:lnTo>
                <a:lnTo>
                  <a:pt x="349849" y="1532518"/>
                </a:lnTo>
                <a:lnTo>
                  <a:pt x="343595" y="1544316"/>
                </a:lnTo>
              </a:path>
              <a:path w="2860675" h="2870200">
                <a:moveTo>
                  <a:pt x="349856" y="1532518"/>
                </a:moveTo>
              </a:path>
              <a:path w="2860675" h="2870200">
                <a:moveTo>
                  <a:pt x="369008" y="1497517"/>
                </a:moveTo>
                <a:lnTo>
                  <a:pt x="362353" y="1493795"/>
                </a:lnTo>
                <a:lnTo>
                  <a:pt x="374926" y="1471316"/>
                </a:lnTo>
                <a:lnTo>
                  <a:pt x="377301" y="1467189"/>
                </a:lnTo>
                <a:lnTo>
                  <a:pt x="383918" y="1470986"/>
                </a:lnTo>
                <a:lnTo>
                  <a:pt x="381547" y="1475101"/>
                </a:lnTo>
                <a:lnTo>
                  <a:pt x="369008" y="1497517"/>
                </a:lnTo>
              </a:path>
              <a:path w="2860675" h="2870200">
                <a:moveTo>
                  <a:pt x="381556" y="1475101"/>
                </a:moveTo>
              </a:path>
              <a:path w="2860675" h="2870200">
                <a:moveTo>
                  <a:pt x="395297" y="1451162"/>
                </a:moveTo>
                <a:lnTo>
                  <a:pt x="388693" y="1447364"/>
                </a:lnTo>
                <a:lnTo>
                  <a:pt x="391297" y="1442830"/>
                </a:lnTo>
                <a:lnTo>
                  <a:pt x="404149" y="1421050"/>
                </a:lnTo>
                <a:lnTo>
                  <a:pt x="410715" y="1424911"/>
                </a:lnTo>
                <a:lnTo>
                  <a:pt x="397866" y="1446691"/>
                </a:lnTo>
                <a:lnTo>
                  <a:pt x="395297" y="1451162"/>
                </a:lnTo>
              </a:path>
              <a:path w="2860675" h="2870200">
                <a:moveTo>
                  <a:pt x="397875" y="1446691"/>
                </a:moveTo>
              </a:path>
              <a:path w="2860675" h="2870200">
                <a:moveTo>
                  <a:pt x="422450" y="1405353"/>
                </a:moveTo>
                <a:lnTo>
                  <a:pt x="415935" y="1401403"/>
                </a:lnTo>
                <a:lnTo>
                  <a:pt x="424964" y="1386480"/>
                </a:lnTo>
                <a:lnTo>
                  <a:pt x="431860" y="1375368"/>
                </a:lnTo>
                <a:lnTo>
                  <a:pt x="438325" y="1379381"/>
                </a:lnTo>
                <a:lnTo>
                  <a:pt x="431444" y="1390481"/>
                </a:lnTo>
                <a:lnTo>
                  <a:pt x="422450" y="1405353"/>
                </a:lnTo>
              </a:path>
              <a:path w="2860675" h="2870200">
                <a:moveTo>
                  <a:pt x="431444" y="1390481"/>
                </a:moveTo>
              </a:path>
              <a:path w="2860675" h="2870200">
                <a:moveTo>
                  <a:pt x="450390" y="1360014"/>
                </a:moveTo>
                <a:lnTo>
                  <a:pt x="443963" y="1355924"/>
                </a:lnTo>
                <a:lnTo>
                  <a:pt x="460359" y="1330181"/>
                </a:lnTo>
                <a:lnTo>
                  <a:pt x="466747" y="1334347"/>
                </a:lnTo>
                <a:lnTo>
                  <a:pt x="466240" y="1335109"/>
                </a:lnTo>
                <a:lnTo>
                  <a:pt x="450390" y="1360014"/>
                </a:lnTo>
              </a:path>
              <a:path w="2860675" h="2870200">
                <a:moveTo>
                  <a:pt x="466240" y="1335109"/>
                </a:moveTo>
              </a:path>
              <a:path w="2860675" h="2870200">
                <a:moveTo>
                  <a:pt x="479231" y="1315195"/>
                </a:moveTo>
                <a:lnTo>
                  <a:pt x="472843" y="1311030"/>
                </a:lnTo>
                <a:lnTo>
                  <a:pt x="477745" y="1303524"/>
                </a:lnTo>
                <a:lnTo>
                  <a:pt x="489722" y="1285604"/>
                </a:lnTo>
                <a:lnTo>
                  <a:pt x="496059" y="1289833"/>
                </a:lnTo>
                <a:lnTo>
                  <a:pt x="484096" y="1307740"/>
                </a:lnTo>
                <a:lnTo>
                  <a:pt x="479231" y="1315195"/>
                </a:lnTo>
              </a:path>
              <a:path w="2860675" h="2870200">
                <a:moveTo>
                  <a:pt x="484119" y="1307706"/>
                </a:moveTo>
              </a:path>
              <a:path w="2860675" h="2870200">
                <a:moveTo>
                  <a:pt x="484096" y="1307740"/>
                </a:moveTo>
              </a:path>
              <a:path w="2860675" h="2870200">
                <a:moveTo>
                  <a:pt x="508848" y="1270949"/>
                </a:moveTo>
                <a:lnTo>
                  <a:pt x="502561" y="1266631"/>
                </a:lnTo>
                <a:lnTo>
                  <a:pt x="514448" y="1249295"/>
                </a:lnTo>
                <a:lnTo>
                  <a:pt x="519897" y="1241510"/>
                </a:lnTo>
                <a:lnTo>
                  <a:pt x="526132" y="1245891"/>
                </a:lnTo>
                <a:lnTo>
                  <a:pt x="520696" y="1253651"/>
                </a:lnTo>
                <a:lnTo>
                  <a:pt x="508848" y="1270949"/>
                </a:lnTo>
              </a:path>
              <a:path w="2860675" h="2870200">
                <a:moveTo>
                  <a:pt x="520697" y="1253651"/>
                </a:moveTo>
              </a:path>
              <a:path w="2860675" h="2870200">
                <a:moveTo>
                  <a:pt x="539264" y="1227172"/>
                </a:moveTo>
                <a:lnTo>
                  <a:pt x="533029" y="1222803"/>
                </a:lnTo>
                <a:lnTo>
                  <a:pt x="550834" y="1198012"/>
                </a:lnTo>
                <a:lnTo>
                  <a:pt x="557032" y="1202457"/>
                </a:lnTo>
                <a:lnTo>
                  <a:pt x="539264" y="1227172"/>
                </a:lnTo>
              </a:path>
              <a:path w="2860675" h="2870200">
                <a:moveTo>
                  <a:pt x="539442" y="1226930"/>
                </a:moveTo>
              </a:path>
              <a:path w="2860675" h="2870200">
                <a:moveTo>
                  <a:pt x="570519" y="1184055"/>
                </a:moveTo>
                <a:lnTo>
                  <a:pt x="564385" y="1179547"/>
                </a:lnTo>
                <a:lnTo>
                  <a:pt x="571700" y="1169603"/>
                </a:lnTo>
                <a:lnTo>
                  <a:pt x="582635" y="1155086"/>
                </a:lnTo>
                <a:lnTo>
                  <a:pt x="588718" y="1159671"/>
                </a:lnTo>
                <a:lnTo>
                  <a:pt x="577803" y="1174162"/>
                </a:lnTo>
                <a:lnTo>
                  <a:pt x="570519" y="1184055"/>
                </a:lnTo>
              </a:path>
              <a:path w="2860675" h="2870200">
                <a:moveTo>
                  <a:pt x="577803" y="1174162"/>
                </a:moveTo>
              </a:path>
              <a:path w="2860675" h="2870200">
                <a:moveTo>
                  <a:pt x="602523" y="1141497"/>
                </a:moveTo>
                <a:lnTo>
                  <a:pt x="596490" y="1136849"/>
                </a:lnTo>
                <a:lnTo>
                  <a:pt x="611324" y="1117609"/>
                </a:lnTo>
                <a:lnTo>
                  <a:pt x="615185" y="1112707"/>
                </a:lnTo>
                <a:lnTo>
                  <a:pt x="621167" y="1117431"/>
                </a:lnTo>
                <a:lnTo>
                  <a:pt x="617314" y="1122308"/>
                </a:lnTo>
                <a:lnTo>
                  <a:pt x="602523" y="1141497"/>
                </a:lnTo>
              </a:path>
              <a:path w="2860675" h="2870200">
                <a:moveTo>
                  <a:pt x="617318" y="1122308"/>
                </a:moveTo>
              </a:path>
              <a:path w="2860675" h="2870200">
                <a:moveTo>
                  <a:pt x="635314" y="1099486"/>
                </a:moveTo>
                <a:lnTo>
                  <a:pt x="629333" y="1094761"/>
                </a:lnTo>
                <a:lnTo>
                  <a:pt x="631555" y="1091955"/>
                </a:lnTo>
                <a:lnTo>
                  <a:pt x="648484" y="1070987"/>
                </a:lnTo>
                <a:lnTo>
                  <a:pt x="654402" y="1075775"/>
                </a:lnTo>
                <a:lnTo>
                  <a:pt x="637494" y="1096730"/>
                </a:lnTo>
                <a:lnTo>
                  <a:pt x="635314" y="1099486"/>
                </a:lnTo>
              </a:path>
              <a:path w="2860675" h="2870200">
                <a:moveTo>
                  <a:pt x="637499" y="1096730"/>
                </a:moveTo>
              </a:path>
              <a:path w="2860675" h="2870200">
                <a:moveTo>
                  <a:pt x="668893" y="1058147"/>
                </a:moveTo>
                <a:lnTo>
                  <a:pt x="663013" y="1053296"/>
                </a:lnTo>
                <a:lnTo>
                  <a:pt x="672868" y="1041358"/>
                </a:lnTo>
                <a:lnTo>
                  <a:pt x="682584" y="1029864"/>
                </a:lnTo>
                <a:lnTo>
                  <a:pt x="688400" y="1034779"/>
                </a:lnTo>
                <a:lnTo>
                  <a:pt x="678702" y="1046260"/>
                </a:lnTo>
                <a:lnTo>
                  <a:pt x="668893" y="1058147"/>
                </a:lnTo>
              </a:path>
              <a:path w="2860675" h="2870200">
                <a:moveTo>
                  <a:pt x="678702" y="1046260"/>
                </a:moveTo>
              </a:path>
              <a:path w="2860675" h="2870200">
                <a:moveTo>
                  <a:pt x="703170" y="1017393"/>
                </a:moveTo>
                <a:lnTo>
                  <a:pt x="697405" y="1012415"/>
                </a:lnTo>
                <a:lnTo>
                  <a:pt x="715286" y="991726"/>
                </a:lnTo>
                <a:lnTo>
                  <a:pt x="717394" y="989339"/>
                </a:lnTo>
                <a:lnTo>
                  <a:pt x="723097" y="994381"/>
                </a:lnTo>
                <a:lnTo>
                  <a:pt x="721006" y="996756"/>
                </a:lnTo>
                <a:lnTo>
                  <a:pt x="703170" y="1017393"/>
                </a:lnTo>
              </a:path>
              <a:path w="2860675" h="2870200">
                <a:moveTo>
                  <a:pt x="721006" y="996756"/>
                </a:moveTo>
              </a:path>
              <a:path w="2860675" h="2870200">
                <a:moveTo>
                  <a:pt x="738235" y="977261"/>
                </a:moveTo>
                <a:lnTo>
                  <a:pt x="732533" y="972206"/>
                </a:lnTo>
                <a:lnTo>
                  <a:pt x="736902" y="967266"/>
                </a:lnTo>
                <a:lnTo>
                  <a:pt x="752942" y="949524"/>
                </a:lnTo>
                <a:lnTo>
                  <a:pt x="758593" y="954630"/>
                </a:lnTo>
                <a:lnTo>
                  <a:pt x="742569" y="972359"/>
                </a:lnTo>
                <a:lnTo>
                  <a:pt x="738235" y="977261"/>
                </a:lnTo>
              </a:path>
              <a:path w="2860675" h="2870200">
                <a:moveTo>
                  <a:pt x="742569" y="972359"/>
                </a:moveTo>
              </a:path>
              <a:path w="2860675" h="2870200">
                <a:moveTo>
                  <a:pt x="774024" y="937815"/>
                </a:moveTo>
                <a:lnTo>
                  <a:pt x="768423" y="932646"/>
                </a:lnTo>
                <a:lnTo>
                  <a:pt x="780945" y="919095"/>
                </a:lnTo>
                <a:lnTo>
                  <a:pt x="789238" y="910319"/>
                </a:lnTo>
                <a:lnTo>
                  <a:pt x="794776" y="915564"/>
                </a:lnTo>
                <a:lnTo>
                  <a:pt x="786485" y="924327"/>
                </a:lnTo>
                <a:lnTo>
                  <a:pt x="774024" y="937815"/>
                </a:lnTo>
              </a:path>
              <a:path w="2860675" h="2870200">
                <a:moveTo>
                  <a:pt x="786495" y="924327"/>
                </a:moveTo>
              </a:path>
              <a:path w="2860675" h="2870200">
                <a:moveTo>
                  <a:pt x="810473" y="899004"/>
                </a:moveTo>
                <a:lnTo>
                  <a:pt x="804999" y="893695"/>
                </a:lnTo>
                <a:lnTo>
                  <a:pt x="826221" y="871762"/>
                </a:lnTo>
                <a:lnTo>
                  <a:pt x="831631" y="877122"/>
                </a:lnTo>
                <a:lnTo>
                  <a:pt x="810473" y="899004"/>
                </a:lnTo>
              </a:path>
              <a:path w="2860675" h="2870200">
                <a:moveTo>
                  <a:pt x="831479" y="877274"/>
                </a:moveTo>
              </a:path>
              <a:path w="2860675" h="2870200">
                <a:moveTo>
                  <a:pt x="847709" y="860866"/>
                </a:moveTo>
                <a:lnTo>
                  <a:pt x="842299" y="855506"/>
                </a:lnTo>
                <a:lnTo>
                  <a:pt x="848992" y="848737"/>
                </a:lnTo>
                <a:lnTo>
                  <a:pt x="863927" y="833967"/>
                </a:lnTo>
                <a:lnTo>
                  <a:pt x="869274" y="839390"/>
                </a:lnTo>
                <a:lnTo>
                  <a:pt x="854364" y="854135"/>
                </a:lnTo>
                <a:lnTo>
                  <a:pt x="847709" y="860866"/>
                </a:lnTo>
              </a:path>
              <a:path w="2860675" h="2870200">
                <a:moveTo>
                  <a:pt x="854377" y="854122"/>
                </a:moveTo>
              </a:path>
              <a:path w="2860675" h="2870200">
                <a:moveTo>
                  <a:pt x="854364" y="854135"/>
                </a:moveTo>
              </a:path>
              <a:path w="2860675" h="2870200">
                <a:moveTo>
                  <a:pt x="885593" y="823439"/>
                </a:moveTo>
                <a:lnTo>
                  <a:pt x="880297" y="817952"/>
                </a:lnTo>
                <a:lnTo>
                  <a:pt x="895639" y="803106"/>
                </a:lnTo>
                <a:lnTo>
                  <a:pt x="902306" y="796807"/>
                </a:lnTo>
                <a:lnTo>
                  <a:pt x="907539" y="802344"/>
                </a:lnTo>
                <a:lnTo>
                  <a:pt x="900896" y="808630"/>
                </a:lnTo>
                <a:lnTo>
                  <a:pt x="885593" y="823439"/>
                </a:lnTo>
              </a:path>
              <a:path w="2860675" h="2870200">
                <a:moveTo>
                  <a:pt x="900897" y="808630"/>
                </a:moveTo>
              </a:path>
              <a:path w="2860675" h="2870200">
                <a:moveTo>
                  <a:pt x="924150" y="786647"/>
                </a:moveTo>
                <a:lnTo>
                  <a:pt x="918918" y="781110"/>
                </a:lnTo>
                <a:lnTo>
                  <a:pt x="919350" y="780690"/>
                </a:lnTo>
                <a:lnTo>
                  <a:pt x="941321" y="760383"/>
                </a:lnTo>
                <a:lnTo>
                  <a:pt x="946490" y="765971"/>
                </a:lnTo>
                <a:lnTo>
                  <a:pt x="924543" y="786266"/>
                </a:lnTo>
                <a:lnTo>
                  <a:pt x="924150" y="786647"/>
                </a:lnTo>
              </a:path>
              <a:path w="2860675" h="2870200">
                <a:moveTo>
                  <a:pt x="924544" y="786266"/>
                </a:moveTo>
              </a:path>
              <a:path w="2860675" h="2870200">
                <a:moveTo>
                  <a:pt x="963393" y="750642"/>
                </a:moveTo>
                <a:lnTo>
                  <a:pt x="958288" y="744991"/>
                </a:lnTo>
                <a:lnTo>
                  <a:pt x="967521" y="736647"/>
                </a:lnTo>
                <a:lnTo>
                  <a:pt x="981059" y="724671"/>
                </a:lnTo>
                <a:lnTo>
                  <a:pt x="986114" y="730386"/>
                </a:lnTo>
                <a:lnTo>
                  <a:pt x="972571" y="742349"/>
                </a:lnTo>
                <a:lnTo>
                  <a:pt x="963393" y="750642"/>
                </a:lnTo>
              </a:path>
              <a:path w="2860675" h="2870200">
                <a:moveTo>
                  <a:pt x="972588" y="742349"/>
                </a:moveTo>
              </a:path>
              <a:path w="2860675" h="2870200">
                <a:moveTo>
                  <a:pt x="1003271" y="715349"/>
                </a:moveTo>
                <a:lnTo>
                  <a:pt x="998280" y="709583"/>
                </a:lnTo>
                <a:lnTo>
                  <a:pt x="1016670" y="693683"/>
                </a:lnTo>
                <a:lnTo>
                  <a:pt x="1021420" y="689670"/>
                </a:lnTo>
                <a:lnTo>
                  <a:pt x="1026347" y="695499"/>
                </a:lnTo>
                <a:lnTo>
                  <a:pt x="1021606" y="699487"/>
                </a:lnTo>
                <a:lnTo>
                  <a:pt x="1003271" y="715349"/>
                </a:lnTo>
              </a:path>
              <a:path w="2860675" h="2870200">
                <a:moveTo>
                  <a:pt x="1021610" y="699487"/>
                </a:moveTo>
              </a:path>
              <a:path w="2860675" h="2870200">
                <a:moveTo>
                  <a:pt x="1043797" y="680741"/>
                </a:moveTo>
                <a:lnTo>
                  <a:pt x="1038882" y="674912"/>
                </a:lnTo>
                <a:lnTo>
                  <a:pt x="1041613" y="672613"/>
                </a:lnTo>
                <a:lnTo>
                  <a:pt x="1062390" y="655456"/>
                </a:lnTo>
                <a:lnTo>
                  <a:pt x="1067241" y="661323"/>
                </a:lnTo>
                <a:lnTo>
                  <a:pt x="1046485" y="678468"/>
                </a:lnTo>
                <a:lnTo>
                  <a:pt x="1043797" y="680741"/>
                </a:lnTo>
              </a:path>
              <a:path w="2860675" h="2870200">
                <a:moveTo>
                  <a:pt x="1046490" y="678468"/>
                </a:moveTo>
              </a:path>
              <a:path w="2860675" h="2870200">
                <a:moveTo>
                  <a:pt x="1084958" y="646947"/>
                </a:moveTo>
                <a:lnTo>
                  <a:pt x="1080170" y="641016"/>
                </a:lnTo>
                <a:lnTo>
                  <a:pt x="1092210" y="631300"/>
                </a:lnTo>
                <a:lnTo>
                  <a:pt x="1104033" y="621979"/>
                </a:lnTo>
                <a:lnTo>
                  <a:pt x="1108745" y="627960"/>
                </a:lnTo>
                <a:lnTo>
                  <a:pt x="1096953" y="637269"/>
                </a:lnTo>
                <a:lnTo>
                  <a:pt x="1084958" y="646947"/>
                </a:lnTo>
              </a:path>
              <a:path w="2860675" h="2870200">
                <a:moveTo>
                  <a:pt x="1096953" y="637269"/>
                </a:moveTo>
              </a:path>
              <a:path w="2860675" h="2870200">
                <a:moveTo>
                  <a:pt x="1126703" y="613876"/>
                </a:moveTo>
                <a:lnTo>
                  <a:pt x="1122042" y="607843"/>
                </a:lnTo>
                <a:lnTo>
                  <a:pt x="1143746" y="591118"/>
                </a:lnTo>
                <a:lnTo>
                  <a:pt x="1146248" y="589225"/>
                </a:lnTo>
                <a:lnTo>
                  <a:pt x="1150833" y="595321"/>
                </a:lnTo>
                <a:lnTo>
                  <a:pt x="1148349" y="597188"/>
                </a:lnTo>
                <a:lnTo>
                  <a:pt x="1126703" y="613876"/>
                </a:lnTo>
              </a:path>
              <a:path w="2860675" h="2870200">
                <a:moveTo>
                  <a:pt x="1148349" y="597188"/>
                </a:moveTo>
              </a:path>
              <a:path w="2860675" h="2870200">
                <a:moveTo>
                  <a:pt x="1169083" y="581567"/>
                </a:moveTo>
                <a:lnTo>
                  <a:pt x="1164498" y="575484"/>
                </a:lnTo>
                <a:lnTo>
                  <a:pt x="1169857" y="571445"/>
                </a:lnTo>
                <a:lnTo>
                  <a:pt x="1189047" y="557336"/>
                </a:lnTo>
                <a:lnTo>
                  <a:pt x="1193556" y="563470"/>
                </a:lnTo>
                <a:lnTo>
                  <a:pt x="1174383" y="577579"/>
                </a:lnTo>
                <a:lnTo>
                  <a:pt x="1169083" y="581567"/>
                </a:lnTo>
              </a:path>
              <a:path w="2860675" h="2870200">
                <a:moveTo>
                  <a:pt x="1174391" y="577579"/>
                </a:moveTo>
              </a:path>
              <a:path w="2860675" h="2870200">
                <a:moveTo>
                  <a:pt x="1212034" y="550071"/>
                </a:moveTo>
                <a:lnTo>
                  <a:pt x="1207589" y="543886"/>
                </a:lnTo>
                <a:lnTo>
                  <a:pt x="1222753" y="532990"/>
                </a:lnTo>
                <a:lnTo>
                  <a:pt x="1232456" y="526182"/>
                </a:lnTo>
                <a:lnTo>
                  <a:pt x="1236824" y="532418"/>
                </a:lnTo>
                <a:lnTo>
                  <a:pt x="1227150" y="539213"/>
                </a:lnTo>
                <a:lnTo>
                  <a:pt x="1212034" y="550071"/>
                </a:lnTo>
              </a:path>
              <a:path w="2860675" h="2870200">
                <a:moveTo>
                  <a:pt x="1227150" y="539213"/>
                </a:moveTo>
              </a:path>
              <a:path w="2860675" h="2870200">
                <a:moveTo>
                  <a:pt x="1255519" y="519337"/>
                </a:moveTo>
                <a:lnTo>
                  <a:pt x="1251214" y="513051"/>
                </a:lnTo>
                <a:lnTo>
                  <a:pt x="1276360" y="495829"/>
                </a:lnTo>
                <a:lnTo>
                  <a:pt x="1280665" y="502116"/>
                </a:lnTo>
                <a:lnTo>
                  <a:pt x="1255519" y="519337"/>
                </a:lnTo>
              </a:path>
              <a:path w="2860675" h="2870200">
                <a:moveTo>
                  <a:pt x="1299639" y="489429"/>
                </a:moveTo>
                <a:lnTo>
                  <a:pt x="1295397" y="483091"/>
                </a:lnTo>
                <a:lnTo>
                  <a:pt x="1303779" y="477491"/>
                </a:lnTo>
                <a:lnTo>
                  <a:pt x="1320898" y="466327"/>
                </a:lnTo>
                <a:lnTo>
                  <a:pt x="1325064" y="472703"/>
                </a:lnTo>
                <a:lnTo>
                  <a:pt x="1307957" y="483866"/>
                </a:lnTo>
                <a:lnTo>
                  <a:pt x="1299639" y="489429"/>
                </a:lnTo>
              </a:path>
              <a:path w="2860675" h="2870200">
                <a:moveTo>
                  <a:pt x="1307962" y="483863"/>
                </a:moveTo>
              </a:path>
              <a:path w="2860675" h="2870200">
                <a:moveTo>
                  <a:pt x="1307957" y="483866"/>
                </a:moveTo>
              </a:path>
              <a:path w="2860675" h="2870200">
                <a:moveTo>
                  <a:pt x="1344241" y="460346"/>
                </a:moveTo>
                <a:lnTo>
                  <a:pt x="1340152" y="453907"/>
                </a:lnTo>
                <a:lnTo>
                  <a:pt x="1358871" y="441994"/>
                </a:lnTo>
                <a:lnTo>
                  <a:pt x="1365945" y="437600"/>
                </a:lnTo>
                <a:lnTo>
                  <a:pt x="1369971" y="444077"/>
                </a:lnTo>
                <a:lnTo>
                  <a:pt x="1362908" y="448458"/>
                </a:lnTo>
                <a:lnTo>
                  <a:pt x="1344241" y="460346"/>
                </a:lnTo>
              </a:path>
              <a:path w="2860675" h="2870200">
                <a:moveTo>
                  <a:pt x="1362910" y="448458"/>
                </a:moveTo>
              </a:path>
              <a:path w="2860675" h="2870200">
                <a:moveTo>
                  <a:pt x="1389390" y="432025"/>
                </a:moveTo>
                <a:lnTo>
                  <a:pt x="1385376" y="425548"/>
                </a:lnTo>
                <a:lnTo>
                  <a:pt x="1386735" y="424709"/>
                </a:lnTo>
                <a:lnTo>
                  <a:pt x="1411475" y="409736"/>
                </a:lnTo>
                <a:lnTo>
                  <a:pt x="1415425" y="416251"/>
                </a:lnTo>
                <a:lnTo>
                  <a:pt x="1390695" y="431212"/>
                </a:lnTo>
                <a:lnTo>
                  <a:pt x="1389390" y="432025"/>
                </a:lnTo>
              </a:path>
              <a:path w="2860675" h="2870200">
                <a:moveTo>
                  <a:pt x="1390698" y="431212"/>
                </a:moveTo>
              </a:path>
              <a:path w="2860675" h="2870200">
                <a:moveTo>
                  <a:pt x="1435059" y="404631"/>
                </a:moveTo>
                <a:lnTo>
                  <a:pt x="1431185" y="398065"/>
                </a:lnTo>
                <a:lnTo>
                  <a:pt x="1443085" y="391042"/>
                </a:lnTo>
                <a:lnTo>
                  <a:pt x="1457576" y="382723"/>
                </a:lnTo>
                <a:lnTo>
                  <a:pt x="1461373" y="389327"/>
                </a:lnTo>
                <a:lnTo>
                  <a:pt x="1446903" y="397646"/>
                </a:lnTo>
                <a:lnTo>
                  <a:pt x="1435059" y="404631"/>
                </a:lnTo>
              </a:path>
              <a:path w="2860675" h="2870200">
                <a:moveTo>
                  <a:pt x="1446908" y="397646"/>
                </a:moveTo>
              </a:path>
              <a:path w="2860675" h="2870200">
                <a:moveTo>
                  <a:pt x="1481185" y="378024"/>
                </a:moveTo>
                <a:lnTo>
                  <a:pt x="1477464" y="371382"/>
                </a:lnTo>
                <a:lnTo>
                  <a:pt x="1500261" y="358631"/>
                </a:lnTo>
                <a:lnTo>
                  <a:pt x="1504134" y="356523"/>
                </a:lnTo>
                <a:lnTo>
                  <a:pt x="1507779" y="363216"/>
                </a:lnTo>
                <a:lnTo>
                  <a:pt x="1503911" y="365312"/>
                </a:lnTo>
                <a:lnTo>
                  <a:pt x="1481185" y="378024"/>
                </a:lnTo>
              </a:path>
              <a:path w="2860675" h="2870200">
                <a:moveTo>
                  <a:pt x="1503918" y="365312"/>
                </a:moveTo>
              </a:path>
              <a:path w="2860675" h="2870200">
                <a:moveTo>
                  <a:pt x="1527845" y="352281"/>
                </a:moveTo>
                <a:lnTo>
                  <a:pt x="1524200" y="345588"/>
                </a:lnTo>
                <a:lnTo>
                  <a:pt x="1529140" y="342896"/>
                </a:lnTo>
                <a:lnTo>
                  <a:pt x="1551149" y="331237"/>
                </a:lnTo>
                <a:lnTo>
                  <a:pt x="1554718" y="337968"/>
                </a:lnTo>
                <a:lnTo>
                  <a:pt x="1532749" y="349614"/>
                </a:lnTo>
                <a:lnTo>
                  <a:pt x="1527845" y="352281"/>
                </a:lnTo>
              </a:path>
              <a:path w="2860675" h="2870200">
                <a:moveTo>
                  <a:pt x="1532749" y="349614"/>
                </a:moveTo>
              </a:path>
              <a:path w="2860675" h="2870200">
                <a:moveTo>
                  <a:pt x="1574949" y="327427"/>
                </a:moveTo>
                <a:lnTo>
                  <a:pt x="1571457" y="320658"/>
                </a:lnTo>
                <a:lnTo>
                  <a:pt x="1587497" y="312391"/>
                </a:lnTo>
                <a:lnTo>
                  <a:pt x="1598647" y="306803"/>
                </a:lnTo>
                <a:lnTo>
                  <a:pt x="1602064" y="313610"/>
                </a:lnTo>
                <a:lnTo>
                  <a:pt x="1590952" y="319185"/>
                </a:lnTo>
                <a:lnTo>
                  <a:pt x="1574949" y="327427"/>
                </a:lnTo>
              </a:path>
              <a:path w="2860675" h="2870200">
                <a:moveTo>
                  <a:pt x="1590952" y="319185"/>
                </a:moveTo>
              </a:path>
              <a:path w="2860675" h="2870200">
                <a:moveTo>
                  <a:pt x="1622473" y="303412"/>
                </a:moveTo>
                <a:lnTo>
                  <a:pt x="1619145" y="296554"/>
                </a:lnTo>
                <a:lnTo>
                  <a:pt x="1646539" y="283219"/>
                </a:lnTo>
                <a:lnTo>
                  <a:pt x="1649879" y="290064"/>
                </a:lnTo>
                <a:lnTo>
                  <a:pt x="1622473" y="303412"/>
                </a:lnTo>
              </a:path>
              <a:path w="2860675" h="2870200">
                <a:moveTo>
                  <a:pt x="1670504" y="280310"/>
                </a:moveTo>
                <a:lnTo>
                  <a:pt x="1667253" y="273414"/>
                </a:lnTo>
                <a:lnTo>
                  <a:pt x="1676473" y="269058"/>
                </a:lnTo>
                <a:lnTo>
                  <a:pt x="1694939" y="260575"/>
                </a:lnTo>
                <a:lnTo>
                  <a:pt x="1698114" y="267509"/>
                </a:lnTo>
                <a:lnTo>
                  <a:pt x="1679658" y="275980"/>
                </a:lnTo>
                <a:lnTo>
                  <a:pt x="1670504" y="280310"/>
                </a:lnTo>
              </a:path>
              <a:path w="2860675" h="2870200">
                <a:moveTo>
                  <a:pt x="1679673" y="275980"/>
                </a:moveTo>
              </a:path>
              <a:path w="2860675" h="2870200">
                <a:moveTo>
                  <a:pt x="1718904" y="258098"/>
                </a:moveTo>
                <a:lnTo>
                  <a:pt x="1715805" y="251126"/>
                </a:lnTo>
                <a:lnTo>
                  <a:pt x="1736722" y="241817"/>
                </a:lnTo>
                <a:lnTo>
                  <a:pt x="1743720" y="238794"/>
                </a:lnTo>
                <a:lnTo>
                  <a:pt x="1746742" y="245792"/>
                </a:lnTo>
                <a:lnTo>
                  <a:pt x="1739738" y="248814"/>
                </a:lnTo>
                <a:lnTo>
                  <a:pt x="1718904" y="258098"/>
                </a:lnTo>
              </a:path>
              <a:path w="2860675" h="2870200">
                <a:moveTo>
                  <a:pt x="1739757" y="248814"/>
                </a:moveTo>
              </a:path>
              <a:path w="2860675" h="2870200">
                <a:moveTo>
                  <a:pt x="1767735" y="236737"/>
                </a:moveTo>
                <a:lnTo>
                  <a:pt x="1764713" y="229739"/>
                </a:lnTo>
                <a:lnTo>
                  <a:pt x="1767113" y="228710"/>
                </a:lnTo>
                <a:lnTo>
                  <a:pt x="1792869" y="217941"/>
                </a:lnTo>
                <a:lnTo>
                  <a:pt x="1795802" y="224964"/>
                </a:lnTo>
                <a:lnTo>
                  <a:pt x="1770081" y="235721"/>
                </a:lnTo>
                <a:lnTo>
                  <a:pt x="1767735" y="236737"/>
                </a:lnTo>
              </a:path>
              <a:path w="2860675" h="2870200">
                <a:moveTo>
                  <a:pt x="1770081" y="235721"/>
                </a:moveTo>
              </a:path>
              <a:path w="2860675" h="2870200">
                <a:moveTo>
                  <a:pt x="1816935" y="216353"/>
                </a:moveTo>
                <a:lnTo>
                  <a:pt x="1814078" y="209292"/>
                </a:lnTo>
                <a:lnTo>
                  <a:pt x="1828429" y="203488"/>
                </a:lnTo>
                <a:lnTo>
                  <a:pt x="1842437" y="198002"/>
                </a:lnTo>
                <a:lnTo>
                  <a:pt x="1845205" y="205101"/>
                </a:lnTo>
                <a:lnTo>
                  <a:pt x="1831229" y="210575"/>
                </a:lnTo>
                <a:lnTo>
                  <a:pt x="1816935" y="216353"/>
                </a:lnTo>
              </a:path>
              <a:path w="2860675" h="2870200">
                <a:moveTo>
                  <a:pt x="1831229" y="210575"/>
                </a:moveTo>
              </a:path>
              <a:path w="2860675" h="2870200">
                <a:moveTo>
                  <a:pt x="1866478" y="196846"/>
                </a:moveTo>
                <a:lnTo>
                  <a:pt x="1863785" y="189709"/>
                </a:lnTo>
                <a:lnTo>
                  <a:pt x="1890443" y="179638"/>
                </a:lnTo>
                <a:lnTo>
                  <a:pt x="1892348" y="178939"/>
                </a:lnTo>
                <a:lnTo>
                  <a:pt x="1894951" y="186102"/>
                </a:lnTo>
                <a:lnTo>
                  <a:pt x="1893076" y="186788"/>
                </a:lnTo>
                <a:lnTo>
                  <a:pt x="1866478" y="196846"/>
                </a:lnTo>
              </a:path>
              <a:path w="2860675" h="2870200">
                <a:moveTo>
                  <a:pt x="1893076" y="186788"/>
                </a:moveTo>
              </a:path>
              <a:path w="2860675" h="2870200">
                <a:moveTo>
                  <a:pt x="1916427" y="178266"/>
                </a:moveTo>
                <a:lnTo>
                  <a:pt x="1913811" y="171103"/>
                </a:lnTo>
                <a:lnTo>
                  <a:pt x="1921697" y="168233"/>
                </a:lnTo>
                <a:lnTo>
                  <a:pt x="1942576" y="160892"/>
                </a:lnTo>
                <a:lnTo>
                  <a:pt x="1945103" y="168081"/>
                </a:lnTo>
                <a:lnTo>
                  <a:pt x="1924253" y="175408"/>
                </a:lnTo>
                <a:lnTo>
                  <a:pt x="1916427" y="178266"/>
                </a:lnTo>
              </a:path>
              <a:path w="2860675" h="2870200">
                <a:moveTo>
                  <a:pt x="1924253" y="175408"/>
                </a:moveTo>
              </a:path>
              <a:path w="2860675" h="2870200">
                <a:moveTo>
                  <a:pt x="1966668" y="160638"/>
                </a:moveTo>
                <a:lnTo>
                  <a:pt x="1964230" y="153412"/>
                </a:lnTo>
                <a:lnTo>
                  <a:pt x="1984715" y="146478"/>
                </a:lnTo>
                <a:lnTo>
                  <a:pt x="1993173" y="143722"/>
                </a:lnTo>
                <a:lnTo>
                  <a:pt x="1995535" y="150961"/>
                </a:lnTo>
                <a:lnTo>
                  <a:pt x="1987103" y="153704"/>
                </a:lnTo>
                <a:lnTo>
                  <a:pt x="1966668" y="160638"/>
                </a:lnTo>
              </a:path>
              <a:path w="2860675" h="2870200">
                <a:moveTo>
                  <a:pt x="1987119" y="153699"/>
                </a:moveTo>
              </a:path>
              <a:path w="2860675" h="2870200">
                <a:moveTo>
                  <a:pt x="1987103" y="153704"/>
                </a:moveTo>
              </a:path>
              <a:path w="2860675" h="2870200">
                <a:moveTo>
                  <a:pt x="2017265" y="143874"/>
                </a:moveTo>
                <a:lnTo>
                  <a:pt x="2014903" y="136635"/>
                </a:lnTo>
                <a:lnTo>
                  <a:pt x="2044024" y="127491"/>
                </a:lnTo>
                <a:lnTo>
                  <a:pt x="2046310" y="134768"/>
                </a:lnTo>
                <a:lnTo>
                  <a:pt x="2017265" y="143874"/>
                </a:lnTo>
              </a:path>
              <a:path w="2860675" h="2870200">
                <a:moveTo>
                  <a:pt x="2018776" y="143392"/>
                </a:moveTo>
              </a:path>
              <a:path w="2860675" h="2870200">
                <a:moveTo>
                  <a:pt x="2068141" y="128152"/>
                </a:moveTo>
                <a:lnTo>
                  <a:pt x="2065944" y="120849"/>
                </a:lnTo>
                <a:lnTo>
                  <a:pt x="2080460" y="116493"/>
                </a:lnTo>
                <a:lnTo>
                  <a:pt x="2095230" y="112239"/>
                </a:lnTo>
                <a:lnTo>
                  <a:pt x="2097338" y="119567"/>
                </a:lnTo>
                <a:lnTo>
                  <a:pt x="2082577" y="123808"/>
                </a:lnTo>
                <a:lnTo>
                  <a:pt x="2068141" y="128152"/>
                </a:lnTo>
              </a:path>
              <a:path w="2860675" h="2870200">
                <a:moveTo>
                  <a:pt x="2082581" y="123808"/>
                </a:moveTo>
              </a:path>
              <a:path w="2860675" h="2870200">
                <a:moveTo>
                  <a:pt x="2119284" y="113305"/>
                </a:moveTo>
                <a:lnTo>
                  <a:pt x="2117265" y="105965"/>
                </a:lnTo>
                <a:lnTo>
                  <a:pt x="2145052" y="98307"/>
                </a:lnTo>
                <a:lnTo>
                  <a:pt x="2146691" y="97875"/>
                </a:lnTo>
                <a:lnTo>
                  <a:pt x="2148634" y="105254"/>
                </a:lnTo>
                <a:lnTo>
                  <a:pt x="2147013" y="105673"/>
                </a:lnTo>
                <a:lnTo>
                  <a:pt x="2119284" y="113305"/>
                </a:lnTo>
              </a:path>
              <a:path w="2860675" h="2870200">
                <a:moveTo>
                  <a:pt x="2147013" y="105673"/>
                </a:moveTo>
              </a:path>
              <a:path w="2860675" h="2870200">
                <a:moveTo>
                  <a:pt x="2170744" y="99437"/>
                </a:moveTo>
                <a:lnTo>
                  <a:pt x="2168801" y="92071"/>
                </a:lnTo>
                <a:lnTo>
                  <a:pt x="2177577" y="89772"/>
                </a:lnTo>
                <a:lnTo>
                  <a:pt x="2198392" y="84553"/>
                </a:lnTo>
                <a:lnTo>
                  <a:pt x="2200234" y="91957"/>
                </a:lnTo>
                <a:lnTo>
                  <a:pt x="2179446" y="97151"/>
                </a:lnTo>
                <a:lnTo>
                  <a:pt x="2170744" y="99437"/>
                </a:lnTo>
              </a:path>
              <a:path w="2860675" h="2870200">
                <a:moveTo>
                  <a:pt x="2179457" y="97151"/>
                </a:moveTo>
              </a:path>
              <a:path w="2860675" h="2870200">
                <a:moveTo>
                  <a:pt x="2222408" y="86534"/>
                </a:moveTo>
                <a:lnTo>
                  <a:pt x="2220643" y="79117"/>
                </a:lnTo>
                <a:lnTo>
                  <a:pt x="2243071" y="73783"/>
                </a:lnTo>
                <a:lnTo>
                  <a:pt x="2250361" y="72145"/>
                </a:lnTo>
                <a:lnTo>
                  <a:pt x="2252037" y="79574"/>
                </a:lnTo>
                <a:lnTo>
                  <a:pt x="2244757" y="81213"/>
                </a:lnTo>
                <a:lnTo>
                  <a:pt x="2222408" y="86534"/>
                </a:lnTo>
              </a:path>
              <a:path w="2860675" h="2870200">
                <a:moveTo>
                  <a:pt x="2244773" y="81213"/>
                </a:moveTo>
              </a:path>
              <a:path w="2860675" h="2870200">
                <a:moveTo>
                  <a:pt x="2274326" y="74545"/>
                </a:moveTo>
                <a:lnTo>
                  <a:pt x="2272649" y="67116"/>
                </a:lnTo>
                <a:lnTo>
                  <a:pt x="2276027" y="66354"/>
                </a:lnTo>
                <a:lnTo>
                  <a:pt x="2302494" y="60715"/>
                </a:lnTo>
                <a:lnTo>
                  <a:pt x="2304094" y="68157"/>
                </a:lnTo>
                <a:lnTo>
                  <a:pt x="2277640" y="73796"/>
                </a:lnTo>
                <a:lnTo>
                  <a:pt x="2274326" y="74545"/>
                </a:lnTo>
              </a:path>
              <a:path w="2860675" h="2870200">
                <a:moveTo>
                  <a:pt x="2326446" y="63585"/>
                </a:moveTo>
                <a:lnTo>
                  <a:pt x="2324935" y="56117"/>
                </a:lnTo>
                <a:lnTo>
                  <a:pt x="2342372" y="52612"/>
                </a:lnTo>
                <a:lnTo>
                  <a:pt x="2354894" y="50250"/>
                </a:lnTo>
                <a:lnTo>
                  <a:pt x="2356304" y="57743"/>
                </a:lnTo>
                <a:lnTo>
                  <a:pt x="2343795" y="60105"/>
                </a:lnTo>
                <a:lnTo>
                  <a:pt x="2326446" y="63585"/>
                </a:lnTo>
              </a:path>
              <a:path w="2860675" h="2870200">
                <a:moveTo>
                  <a:pt x="2343807" y="60105"/>
                </a:moveTo>
              </a:path>
              <a:path w="2860675" h="2870200">
                <a:moveTo>
                  <a:pt x="2378732" y="53527"/>
                </a:moveTo>
                <a:lnTo>
                  <a:pt x="2377411" y="46021"/>
                </a:lnTo>
                <a:lnTo>
                  <a:pt x="2407422" y="40725"/>
                </a:lnTo>
                <a:lnTo>
                  <a:pt x="2408742" y="48231"/>
                </a:lnTo>
                <a:lnTo>
                  <a:pt x="2378732" y="53527"/>
                </a:lnTo>
              </a:path>
              <a:path w="2860675" h="2870200">
                <a:moveTo>
                  <a:pt x="2431259" y="44497"/>
                </a:moveTo>
                <a:lnTo>
                  <a:pt x="2430015" y="36978"/>
                </a:lnTo>
                <a:lnTo>
                  <a:pt x="2442893" y="34870"/>
                </a:lnTo>
                <a:lnTo>
                  <a:pt x="2460177" y="32229"/>
                </a:lnTo>
                <a:lnTo>
                  <a:pt x="2461320" y="39760"/>
                </a:lnTo>
                <a:lnTo>
                  <a:pt x="2444074" y="42389"/>
                </a:lnTo>
                <a:lnTo>
                  <a:pt x="2431259" y="44497"/>
                </a:lnTo>
              </a:path>
              <a:path w="2860675" h="2870200">
                <a:moveTo>
                  <a:pt x="2483888" y="36394"/>
                </a:moveTo>
                <a:lnTo>
                  <a:pt x="2482821" y="28850"/>
                </a:lnTo>
                <a:lnTo>
                  <a:pt x="2510558" y="24964"/>
                </a:lnTo>
                <a:lnTo>
                  <a:pt x="2513060" y="24647"/>
                </a:lnTo>
                <a:lnTo>
                  <a:pt x="2514025" y="32203"/>
                </a:lnTo>
                <a:lnTo>
                  <a:pt x="2511509" y="32521"/>
                </a:lnTo>
                <a:lnTo>
                  <a:pt x="2483888" y="36394"/>
                </a:lnTo>
              </a:path>
              <a:path w="2860675" h="2870200">
                <a:moveTo>
                  <a:pt x="2511549" y="32521"/>
                </a:moveTo>
              </a:path>
              <a:path w="2860675" h="2870200">
                <a:moveTo>
                  <a:pt x="2536708" y="29295"/>
                </a:moveTo>
                <a:lnTo>
                  <a:pt x="2535730" y="21726"/>
                </a:lnTo>
                <a:lnTo>
                  <a:pt x="2544582" y="20595"/>
                </a:lnTo>
                <a:lnTo>
                  <a:pt x="2566045" y="18106"/>
                </a:lnTo>
                <a:lnTo>
                  <a:pt x="2566921" y="25675"/>
                </a:lnTo>
                <a:lnTo>
                  <a:pt x="2545436" y="28165"/>
                </a:lnTo>
                <a:lnTo>
                  <a:pt x="2536708" y="29295"/>
                </a:lnTo>
              </a:path>
              <a:path w="2860675" h="2870200">
                <a:moveTo>
                  <a:pt x="2545483" y="28165"/>
                </a:moveTo>
              </a:path>
              <a:path w="2860675" h="2870200">
                <a:moveTo>
                  <a:pt x="2589590" y="23148"/>
                </a:moveTo>
                <a:lnTo>
                  <a:pt x="2588803" y="15579"/>
                </a:lnTo>
                <a:lnTo>
                  <a:pt x="2612984" y="13052"/>
                </a:lnTo>
                <a:lnTo>
                  <a:pt x="2619169" y="12480"/>
                </a:lnTo>
                <a:lnTo>
                  <a:pt x="2619880" y="20062"/>
                </a:lnTo>
                <a:lnTo>
                  <a:pt x="2613708" y="20634"/>
                </a:lnTo>
                <a:lnTo>
                  <a:pt x="2589590" y="23148"/>
                </a:lnTo>
              </a:path>
              <a:path w="2860675" h="2870200">
                <a:moveTo>
                  <a:pt x="2642638" y="17967"/>
                </a:moveTo>
                <a:lnTo>
                  <a:pt x="2641940" y="10372"/>
                </a:lnTo>
                <a:lnTo>
                  <a:pt x="2647363" y="9877"/>
                </a:lnTo>
                <a:lnTo>
                  <a:pt x="2672356" y="7857"/>
                </a:lnTo>
                <a:lnTo>
                  <a:pt x="2672966" y="15465"/>
                </a:lnTo>
                <a:lnTo>
                  <a:pt x="2648156" y="17459"/>
                </a:lnTo>
                <a:lnTo>
                  <a:pt x="2642638" y="17967"/>
                </a:lnTo>
              </a:path>
              <a:path w="2860675" h="2870200">
                <a:moveTo>
                  <a:pt x="2647998" y="17471"/>
                </a:moveTo>
                <a:lnTo>
                  <a:pt x="2648156" y="17459"/>
                </a:lnTo>
                <a:lnTo>
                  <a:pt x="2647998" y="17471"/>
                </a:lnTo>
              </a:path>
              <a:path w="2860675" h="2870200">
                <a:moveTo>
                  <a:pt x="2695724" y="13788"/>
                </a:moveTo>
                <a:lnTo>
                  <a:pt x="2695204" y="6181"/>
                </a:lnTo>
                <a:lnTo>
                  <a:pt x="2716451" y="4733"/>
                </a:lnTo>
                <a:lnTo>
                  <a:pt x="2725658" y="4200"/>
                </a:lnTo>
                <a:lnTo>
                  <a:pt x="2726090" y="11820"/>
                </a:lnTo>
                <a:lnTo>
                  <a:pt x="2716908" y="12328"/>
                </a:lnTo>
                <a:lnTo>
                  <a:pt x="2695724" y="13788"/>
                </a:lnTo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766942" y="2509196"/>
            <a:ext cx="595122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b="1" spc="60" dirty="0">
                <a:solidFill>
                  <a:srgbClr val="E42E2F"/>
                </a:solidFill>
                <a:latin typeface="Microsoft JhengHei"/>
                <a:cs typeface="Microsoft JhengHei"/>
              </a:rPr>
              <a:t>YMS</a:t>
            </a:r>
            <a:r>
              <a:rPr sz="4600" b="1" spc="-50" dirty="0">
                <a:latin typeface="Microsoft JhengHei"/>
                <a:cs typeface="Microsoft JhengHei"/>
              </a:rPr>
              <a:t>园区物流管理系统</a:t>
            </a:r>
            <a:endParaRPr sz="4600">
              <a:latin typeface="Microsoft JhengHei"/>
              <a:cs typeface="Microsoft JhengHe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85393" y="4271140"/>
            <a:ext cx="2167255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数字化供应链可视管理</a:t>
            </a:r>
            <a:r>
              <a:rPr sz="1400" dirty="0">
                <a:solidFill>
                  <a:srgbClr val="404040"/>
                </a:solidFill>
                <a:latin typeface="微软雅黑"/>
                <a:cs typeface="微软雅黑"/>
              </a:rPr>
              <a:t>方案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50533" y="3905440"/>
            <a:ext cx="5471998" cy="127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50533" y="3911790"/>
            <a:ext cx="775335" cy="0"/>
          </a:xfrm>
          <a:custGeom>
            <a:avLst/>
            <a:gdLst/>
            <a:ahLst/>
            <a:cxnLst/>
            <a:rect l="l" t="t" r="r" b="b"/>
            <a:pathLst>
              <a:path w="775334">
                <a:moveTo>
                  <a:pt x="0" y="0"/>
                </a:moveTo>
                <a:lnTo>
                  <a:pt x="774865" y="0"/>
                </a:lnTo>
              </a:path>
            </a:pathLst>
          </a:custGeom>
          <a:ln w="58419">
            <a:solidFill>
              <a:srgbClr val="E42E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2132" y="6477417"/>
            <a:ext cx="1397635" cy="14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808080"/>
                </a:solidFill>
                <a:latin typeface="Arial Unicode MS"/>
                <a:cs typeface="Arial Unicode MS"/>
              </a:rPr>
              <a:t>数字化供应链可视管理</a:t>
            </a:r>
            <a:r>
              <a:rPr sz="900" dirty="0">
                <a:solidFill>
                  <a:srgbClr val="808080"/>
                </a:solidFill>
                <a:latin typeface="微软雅黑"/>
                <a:cs typeface="微软雅黑"/>
              </a:rPr>
              <a:t>方案</a:t>
            </a:r>
            <a:endParaRPr sz="9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92631" y="1562430"/>
            <a:ext cx="3883025" cy="387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35341" y="2277440"/>
            <a:ext cx="3014192" cy="30141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50948" y="2598089"/>
            <a:ext cx="1977936" cy="19777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8562" y="1362252"/>
            <a:ext cx="4471162" cy="4470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92249" y="1998091"/>
            <a:ext cx="3197631" cy="3187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36317" y="3154055"/>
            <a:ext cx="1423035" cy="899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spc="-25" dirty="0">
                <a:solidFill>
                  <a:srgbClr val="FFFFFF"/>
                </a:solidFill>
                <a:latin typeface="Microsoft JhengHei"/>
                <a:cs typeface="Microsoft JhengHei"/>
              </a:rPr>
              <a:t>目</a:t>
            </a:r>
            <a:r>
              <a:rPr sz="3400" b="1" spc="-35" dirty="0">
                <a:solidFill>
                  <a:srgbClr val="FFFFFF"/>
                </a:solidFill>
                <a:latin typeface="Microsoft JhengHei"/>
                <a:cs typeface="Microsoft JhengHei"/>
              </a:rPr>
              <a:t>录</a:t>
            </a:r>
            <a:endParaRPr sz="34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1265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02780" y="1834895"/>
            <a:ext cx="3599815" cy="504825"/>
          </a:xfrm>
          <a:custGeom>
            <a:avLst/>
            <a:gdLst/>
            <a:ahLst/>
            <a:cxnLst/>
            <a:rect l="l" t="t" r="r" b="b"/>
            <a:pathLst>
              <a:path w="3599815" h="504825">
                <a:moveTo>
                  <a:pt x="82296" y="504443"/>
                </a:moveTo>
                <a:lnTo>
                  <a:pt x="41433" y="493842"/>
                </a:lnTo>
                <a:lnTo>
                  <a:pt x="12082" y="465484"/>
                </a:lnTo>
                <a:lnTo>
                  <a:pt x="44" y="425173"/>
                </a:lnTo>
                <a:lnTo>
                  <a:pt x="0" y="82295"/>
                </a:lnTo>
                <a:lnTo>
                  <a:pt x="1231" y="67950"/>
                </a:lnTo>
                <a:lnTo>
                  <a:pt x="18514" y="30563"/>
                </a:lnTo>
                <a:lnTo>
                  <a:pt x="51634" y="6199"/>
                </a:lnTo>
                <a:lnTo>
                  <a:pt x="3517392" y="0"/>
                </a:lnTo>
                <a:lnTo>
                  <a:pt x="3531973" y="1463"/>
                </a:lnTo>
                <a:lnTo>
                  <a:pt x="3569720" y="19094"/>
                </a:lnTo>
                <a:lnTo>
                  <a:pt x="3593925" y="52041"/>
                </a:lnTo>
                <a:lnTo>
                  <a:pt x="3599688" y="422147"/>
                </a:lnTo>
                <a:lnTo>
                  <a:pt x="3598471" y="436707"/>
                </a:lnTo>
                <a:lnTo>
                  <a:pt x="3581293" y="474402"/>
                </a:lnTo>
                <a:lnTo>
                  <a:pt x="3548333" y="498615"/>
                </a:lnTo>
                <a:lnTo>
                  <a:pt x="82296" y="504443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98726" y="1967051"/>
            <a:ext cx="1400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latin typeface="Microsoft JhengHei"/>
                <a:cs typeface="Microsoft JhengHei"/>
              </a:rPr>
              <a:t>行业洞察分</a:t>
            </a:r>
            <a:r>
              <a:rPr sz="1800" b="1" dirty="0">
                <a:latin typeface="Microsoft JhengHei"/>
                <a:cs typeface="Microsoft JhengHei"/>
              </a:rPr>
              <a:t>析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82676" y="1777492"/>
            <a:ext cx="620128" cy="6201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14235" y="1977566"/>
            <a:ext cx="28003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40" dirty="0">
                <a:solidFill>
                  <a:srgbClr val="FFFFFF"/>
                </a:solidFill>
                <a:latin typeface="Microsoft JhengHei"/>
                <a:cs typeface="Microsoft JhengHei"/>
              </a:rPr>
              <a:t>0</a:t>
            </a:r>
            <a:r>
              <a:rPr sz="1600" b="1" spc="35" dirty="0">
                <a:solidFill>
                  <a:srgbClr val="FFFFFF"/>
                </a:solidFill>
                <a:latin typeface="Microsoft JhengHei"/>
                <a:cs typeface="Microsoft JhengHei"/>
              </a:rPr>
              <a:t>1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09916" y="1997964"/>
            <a:ext cx="106680" cy="180340"/>
          </a:xfrm>
          <a:custGeom>
            <a:avLst/>
            <a:gdLst/>
            <a:ahLst/>
            <a:cxnLst/>
            <a:rect l="l" t="t" r="r" b="b"/>
            <a:pathLst>
              <a:path w="106679" h="180339">
                <a:moveTo>
                  <a:pt x="0" y="179831"/>
                </a:moveTo>
                <a:lnTo>
                  <a:pt x="0" y="0"/>
                </a:lnTo>
                <a:lnTo>
                  <a:pt x="106679" y="89916"/>
                </a:lnTo>
                <a:lnTo>
                  <a:pt x="0" y="179831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02780" y="2590800"/>
            <a:ext cx="3599815" cy="502920"/>
          </a:xfrm>
          <a:custGeom>
            <a:avLst/>
            <a:gdLst/>
            <a:ahLst/>
            <a:cxnLst/>
            <a:rect l="l" t="t" r="r" b="b"/>
            <a:pathLst>
              <a:path w="3599815" h="502919">
                <a:moveTo>
                  <a:pt x="82296" y="502919"/>
                </a:moveTo>
                <a:lnTo>
                  <a:pt x="41267" y="492529"/>
                </a:lnTo>
                <a:lnTo>
                  <a:pt x="11882" y="464320"/>
                </a:lnTo>
                <a:lnTo>
                  <a:pt x="26" y="424498"/>
                </a:lnTo>
                <a:lnTo>
                  <a:pt x="0" y="82295"/>
                </a:lnTo>
                <a:lnTo>
                  <a:pt x="1216" y="67700"/>
                </a:lnTo>
                <a:lnTo>
                  <a:pt x="18311" y="29969"/>
                </a:lnTo>
                <a:lnTo>
                  <a:pt x="51103" y="5788"/>
                </a:lnTo>
                <a:lnTo>
                  <a:pt x="3517392" y="0"/>
                </a:lnTo>
                <a:lnTo>
                  <a:pt x="3531890" y="1116"/>
                </a:lnTo>
                <a:lnTo>
                  <a:pt x="3569471" y="18048"/>
                </a:lnTo>
                <a:lnTo>
                  <a:pt x="3593713" y="50887"/>
                </a:lnTo>
                <a:lnTo>
                  <a:pt x="3599688" y="422148"/>
                </a:lnTo>
                <a:lnTo>
                  <a:pt x="3598459" y="436437"/>
                </a:lnTo>
                <a:lnTo>
                  <a:pt x="3581132" y="473628"/>
                </a:lnTo>
                <a:lnTo>
                  <a:pt x="3547913" y="497483"/>
                </a:lnTo>
                <a:lnTo>
                  <a:pt x="82296" y="502919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98726" y="2721812"/>
            <a:ext cx="1400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latin typeface="Microsoft JhengHei"/>
                <a:cs typeface="Microsoft JhengHei"/>
              </a:rPr>
              <a:t>产品功能概</a:t>
            </a:r>
            <a:r>
              <a:rPr sz="1800" b="1" dirty="0">
                <a:latin typeface="Microsoft JhengHei"/>
                <a:cs typeface="Microsoft JhengHei"/>
              </a:rPr>
              <a:t>述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82676" y="2532252"/>
            <a:ext cx="620128" cy="6201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14235" y="2732327"/>
            <a:ext cx="28003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40" dirty="0">
                <a:solidFill>
                  <a:srgbClr val="FFFFFF"/>
                </a:solidFill>
                <a:latin typeface="Microsoft JhengHei"/>
                <a:cs typeface="Microsoft JhengHei"/>
              </a:rPr>
              <a:t>0</a:t>
            </a:r>
            <a:r>
              <a:rPr sz="1600" b="1" spc="35" dirty="0">
                <a:solidFill>
                  <a:srgbClr val="FFFFFF"/>
                </a:solidFill>
                <a:latin typeface="Microsoft JhengHei"/>
                <a:cs typeface="Microsoft JhengHei"/>
              </a:rPr>
              <a:t>2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09916" y="2752344"/>
            <a:ext cx="106680" cy="180340"/>
          </a:xfrm>
          <a:custGeom>
            <a:avLst/>
            <a:gdLst/>
            <a:ahLst/>
            <a:cxnLst/>
            <a:rect l="l" t="t" r="r" b="b"/>
            <a:pathLst>
              <a:path w="106679" h="180339">
                <a:moveTo>
                  <a:pt x="0" y="179831"/>
                </a:moveTo>
                <a:lnTo>
                  <a:pt x="0" y="0"/>
                </a:lnTo>
                <a:lnTo>
                  <a:pt x="106679" y="89915"/>
                </a:lnTo>
                <a:lnTo>
                  <a:pt x="0" y="179831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02780" y="4099559"/>
            <a:ext cx="3599815" cy="504825"/>
          </a:xfrm>
          <a:custGeom>
            <a:avLst/>
            <a:gdLst/>
            <a:ahLst/>
            <a:cxnLst/>
            <a:rect l="l" t="t" r="r" b="b"/>
            <a:pathLst>
              <a:path w="3599815" h="504825">
                <a:moveTo>
                  <a:pt x="82296" y="504443"/>
                </a:moveTo>
                <a:lnTo>
                  <a:pt x="41339" y="493534"/>
                </a:lnTo>
                <a:lnTo>
                  <a:pt x="11969" y="465035"/>
                </a:lnTo>
                <a:lnTo>
                  <a:pt x="33" y="424802"/>
                </a:lnTo>
                <a:lnTo>
                  <a:pt x="0" y="82295"/>
                </a:lnTo>
                <a:lnTo>
                  <a:pt x="1231" y="67839"/>
                </a:lnTo>
                <a:lnTo>
                  <a:pt x="18514" y="30282"/>
                </a:lnTo>
                <a:lnTo>
                  <a:pt x="51634" y="5992"/>
                </a:lnTo>
                <a:lnTo>
                  <a:pt x="3517392" y="0"/>
                </a:lnTo>
                <a:lnTo>
                  <a:pt x="3531973" y="1352"/>
                </a:lnTo>
                <a:lnTo>
                  <a:pt x="3569720" y="18813"/>
                </a:lnTo>
                <a:lnTo>
                  <a:pt x="3593925" y="51833"/>
                </a:lnTo>
                <a:lnTo>
                  <a:pt x="3599688" y="422148"/>
                </a:lnTo>
                <a:lnTo>
                  <a:pt x="3598464" y="436630"/>
                </a:lnTo>
                <a:lnTo>
                  <a:pt x="3581202" y="474227"/>
                </a:lnTo>
                <a:lnTo>
                  <a:pt x="3548095" y="498500"/>
                </a:lnTo>
                <a:lnTo>
                  <a:pt x="82296" y="504443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098726" y="4231334"/>
            <a:ext cx="1400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latin typeface="Microsoft JhengHei"/>
                <a:cs typeface="Microsoft JhengHei"/>
              </a:rPr>
              <a:t>实施交付体</a:t>
            </a:r>
            <a:r>
              <a:rPr sz="1800" b="1" dirty="0">
                <a:latin typeface="Microsoft JhengHei"/>
                <a:cs typeface="Microsoft JhengHei"/>
              </a:rPr>
              <a:t>系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82676" y="4041775"/>
            <a:ext cx="620128" cy="6201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14235" y="4241849"/>
            <a:ext cx="28003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40" dirty="0">
                <a:solidFill>
                  <a:srgbClr val="FFFFFF"/>
                </a:solidFill>
                <a:latin typeface="Microsoft JhengHei"/>
                <a:cs typeface="Microsoft JhengHei"/>
              </a:rPr>
              <a:t>0</a:t>
            </a:r>
            <a:r>
              <a:rPr sz="1600" b="1" spc="35" dirty="0">
                <a:solidFill>
                  <a:srgbClr val="FFFFFF"/>
                </a:solidFill>
                <a:latin typeface="Microsoft JhengHei"/>
                <a:cs typeface="Microsoft JhengHei"/>
              </a:rPr>
              <a:t>4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709916" y="4261103"/>
            <a:ext cx="106680" cy="181610"/>
          </a:xfrm>
          <a:custGeom>
            <a:avLst/>
            <a:gdLst/>
            <a:ahLst/>
            <a:cxnLst/>
            <a:rect l="l" t="t" r="r" b="b"/>
            <a:pathLst>
              <a:path w="106679" h="181610">
                <a:moveTo>
                  <a:pt x="0" y="181356"/>
                </a:moveTo>
                <a:lnTo>
                  <a:pt x="0" y="0"/>
                </a:lnTo>
                <a:lnTo>
                  <a:pt x="106679" y="91440"/>
                </a:lnTo>
                <a:lnTo>
                  <a:pt x="0" y="181356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02780" y="3345179"/>
            <a:ext cx="3599815" cy="504825"/>
          </a:xfrm>
          <a:custGeom>
            <a:avLst/>
            <a:gdLst/>
            <a:ahLst/>
            <a:cxnLst/>
            <a:rect l="l" t="t" r="r" b="b"/>
            <a:pathLst>
              <a:path w="3599815" h="504825">
                <a:moveTo>
                  <a:pt x="82296" y="504444"/>
                </a:moveTo>
                <a:lnTo>
                  <a:pt x="41339" y="493283"/>
                </a:lnTo>
                <a:lnTo>
                  <a:pt x="11969" y="464776"/>
                </a:lnTo>
                <a:lnTo>
                  <a:pt x="33" y="424780"/>
                </a:lnTo>
                <a:lnTo>
                  <a:pt x="0" y="82296"/>
                </a:lnTo>
                <a:lnTo>
                  <a:pt x="1228" y="67745"/>
                </a:lnTo>
                <a:lnTo>
                  <a:pt x="18471" y="30053"/>
                </a:lnTo>
                <a:lnTo>
                  <a:pt x="51522" y="5829"/>
                </a:lnTo>
                <a:lnTo>
                  <a:pt x="3517392" y="0"/>
                </a:lnTo>
                <a:lnTo>
                  <a:pt x="3531956" y="1238"/>
                </a:lnTo>
                <a:lnTo>
                  <a:pt x="3569668" y="18489"/>
                </a:lnTo>
                <a:lnTo>
                  <a:pt x="3593881" y="51514"/>
                </a:lnTo>
                <a:lnTo>
                  <a:pt x="3599688" y="422148"/>
                </a:lnTo>
                <a:lnTo>
                  <a:pt x="3598464" y="436519"/>
                </a:lnTo>
                <a:lnTo>
                  <a:pt x="3581202" y="473946"/>
                </a:lnTo>
                <a:lnTo>
                  <a:pt x="3548095" y="498293"/>
                </a:lnTo>
                <a:lnTo>
                  <a:pt x="82296" y="504444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098726" y="3476573"/>
            <a:ext cx="1400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latin typeface="Microsoft JhengHei"/>
                <a:cs typeface="Microsoft JhengHei"/>
              </a:rPr>
              <a:t>系统业务说</a:t>
            </a:r>
            <a:r>
              <a:rPr sz="1800" b="1" dirty="0">
                <a:latin typeface="Microsoft JhengHei"/>
                <a:cs typeface="Microsoft JhengHei"/>
              </a:rPr>
              <a:t>明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982676" y="3287014"/>
            <a:ext cx="620128" cy="62012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114235" y="3487088"/>
            <a:ext cx="28003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40" dirty="0">
                <a:solidFill>
                  <a:srgbClr val="FFFFFF"/>
                </a:solidFill>
                <a:latin typeface="Microsoft JhengHei"/>
                <a:cs typeface="Microsoft JhengHei"/>
              </a:rPr>
              <a:t>0</a:t>
            </a:r>
            <a:r>
              <a:rPr sz="1600" b="1" spc="35" dirty="0">
                <a:solidFill>
                  <a:srgbClr val="FFFFFF"/>
                </a:solidFill>
                <a:latin typeface="Microsoft JhengHei"/>
                <a:cs typeface="Microsoft JhengHei"/>
              </a:rPr>
              <a:t>3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709916" y="3506723"/>
            <a:ext cx="106680" cy="180340"/>
          </a:xfrm>
          <a:custGeom>
            <a:avLst/>
            <a:gdLst/>
            <a:ahLst/>
            <a:cxnLst/>
            <a:rect l="l" t="t" r="r" b="b"/>
            <a:pathLst>
              <a:path w="106679" h="180339">
                <a:moveTo>
                  <a:pt x="0" y="179831"/>
                </a:moveTo>
                <a:lnTo>
                  <a:pt x="0" y="0"/>
                </a:lnTo>
                <a:lnTo>
                  <a:pt x="106679" y="89915"/>
                </a:lnTo>
                <a:lnTo>
                  <a:pt x="0" y="179831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02780" y="4853940"/>
            <a:ext cx="3599815" cy="504825"/>
          </a:xfrm>
          <a:custGeom>
            <a:avLst/>
            <a:gdLst/>
            <a:ahLst/>
            <a:cxnLst/>
            <a:rect l="l" t="t" r="r" b="b"/>
            <a:pathLst>
              <a:path w="3599815" h="504825">
                <a:moveTo>
                  <a:pt x="82296" y="504444"/>
                </a:moveTo>
                <a:lnTo>
                  <a:pt x="41433" y="493839"/>
                </a:lnTo>
                <a:lnTo>
                  <a:pt x="12082" y="465479"/>
                </a:lnTo>
                <a:lnTo>
                  <a:pt x="44" y="425172"/>
                </a:lnTo>
                <a:lnTo>
                  <a:pt x="0" y="82296"/>
                </a:lnTo>
                <a:lnTo>
                  <a:pt x="1231" y="67950"/>
                </a:lnTo>
                <a:lnTo>
                  <a:pt x="18514" y="30563"/>
                </a:lnTo>
                <a:lnTo>
                  <a:pt x="51634" y="6199"/>
                </a:lnTo>
                <a:lnTo>
                  <a:pt x="3517392" y="0"/>
                </a:lnTo>
                <a:lnTo>
                  <a:pt x="3531973" y="1463"/>
                </a:lnTo>
                <a:lnTo>
                  <a:pt x="3569720" y="19094"/>
                </a:lnTo>
                <a:lnTo>
                  <a:pt x="3593925" y="52041"/>
                </a:lnTo>
                <a:lnTo>
                  <a:pt x="3599688" y="422148"/>
                </a:lnTo>
                <a:lnTo>
                  <a:pt x="3598471" y="436703"/>
                </a:lnTo>
                <a:lnTo>
                  <a:pt x="3581293" y="474397"/>
                </a:lnTo>
                <a:lnTo>
                  <a:pt x="3548333" y="498613"/>
                </a:lnTo>
                <a:lnTo>
                  <a:pt x="82296" y="504444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098726" y="4986095"/>
            <a:ext cx="1400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latin typeface="Microsoft JhengHei"/>
                <a:cs typeface="Microsoft JhengHei"/>
              </a:rPr>
              <a:t>项目价值效</a:t>
            </a:r>
            <a:r>
              <a:rPr sz="1800" b="1" dirty="0">
                <a:latin typeface="Microsoft JhengHei"/>
                <a:cs typeface="Microsoft JhengHei"/>
              </a:rPr>
              <a:t>益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982676" y="4796535"/>
            <a:ext cx="620128" cy="62012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14235" y="4996610"/>
            <a:ext cx="28003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40" dirty="0">
                <a:solidFill>
                  <a:srgbClr val="FFFFFF"/>
                </a:solidFill>
                <a:latin typeface="Microsoft JhengHei"/>
                <a:cs typeface="Microsoft JhengHei"/>
              </a:rPr>
              <a:t>0</a:t>
            </a:r>
            <a:r>
              <a:rPr sz="1600" b="1" spc="35" dirty="0">
                <a:solidFill>
                  <a:srgbClr val="FFFFFF"/>
                </a:solidFill>
                <a:latin typeface="Microsoft JhengHei"/>
                <a:cs typeface="Microsoft JhengHei"/>
              </a:rPr>
              <a:t>5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709916" y="5017008"/>
            <a:ext cx="106680" cy="180340"/>
          </a:xfrm>
          <a:custGeom>
            <a:avLst/>
            <a:gdLst/>
            <a:ahLst/>
            <a:cxnLst/>
            <a:rect l="l" t="t" r="r" b="b"/>
            <a:pathLst>
              <a:path w="106679" h="180339">
                <a:moveTo>
                  <a:pt x="0" y="179831"/>
                </a:moveTo>
                <a:lnTo>
                  <a:pt x="0" y="0"/>
                </a:lnTo>
                <a:lnTo>
                  <a:pt x="106679" y="89915"/>
                </a:lnTo>
                <a:lnTo>
                  <a:pt x="0" y="179831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6523" y="256031"/>
            <a:ext cx="2171700" cy="612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50847" y="2729483"/>
            <a:ext cx="9121140" cy="1225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0011" y="2903220"/>
            <a:ext cx="9121140" cy="1225550"/>
          </a:xfrm>
          <a:custGeom>
            <a:avLst/>
            <a:gdLst/>
            <a:ahLst/>
            <a:cxnLst/>
            <a:rect l="l" t="t" r="r" b="b"/>
            <a:pathLst>
              <a:path w="9121140" h="1225550">
                <a:moveTo>
                  <a:pt x="0" y="0"/>
                </a:moveTo>
                <a:lnTo>
                  <a:pt x="9121140" y="0"/>
                </a:lnTo>
                <a:lnTo>
                  <a:pt x="9121140" y="1225295"/>
                </a:lnTo>
                <a:lnTo>
                  <a:pt x="0" y="1225295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96967" y="3103649"/>
            <a:ext cx="1996439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b="1" spc="85" dirty="0">
                <a:latin typeface="Microsoft JhengHei"/>
                <a:cs typeface="Microsoft JhengHei"/>
              </a:rPr>
              <a:t>行业洞察分</a:t>
            </a:r>
            <a:r>
              <a:rPr sz="2500" b="1" spc="-25" dirty="0">
                <a:latin typeface="Microsoft JhengHei"/>
                <a:cs typeface="Microsoft JhengHei"/>
              </a:rPr>
              <a:t>析</a:t>
            </a:r>
            <a:endParaRPr sz="25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6967" y="3561764"/>
            <a:ext cx="3442335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95" dirty="0">
                <a:latin typeface="Arial Unicode MS"/>
                <a:cs typeface="Arial Unicode MS"/>
              </a:rPr>
              <a:t>物流园区管理转型背</a:t>
            </a:r>
            <a:r>
              <a:rPr sz="2600" dirty="0">
                <a:latin typeface="Arial Unicode MS"/>
                <a:cs typeface="Arial Unicode MS"/>
              </a:rPr>
              <a:t>景</a:t>
            </a:r>
            <a:endParaRPr sz="26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85588" y="3502152"/>
            <a:ext cx="3456940" cy="0"/>
          </a:xfrm>
          <a:custGeom>
            <a:avLst/>
            <a:gdLst/>
            <a:ahLst/>
            <a:cxnLst/>
            <a:rect l="l" t="t" r="r" b="b"/>
            <a:pathLst>
              <a:path w="3456940">
                <a:moveTo>
                  <a:pt x="0" y="0"/>
                </a:moveTo>
                <a:lnTo>
                  <a:pt x="3456432" y="0"/>
                </a:lnTo>
              </a:path>
            </a:pathLst>
          </a:custGeom>
          <a:ln w="19557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33600" y="3045460"/>
            <a:ext cx="527303" cy="767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88743" y="3060699"/>
            <a:ext cx="264160" cy="736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传统物业向供应链协同转</a:t>
            </a:r>
            <a:r>
              <a:rPr spc="-30" dirty="0"/>
              <a:t>变</a:t>
            </a:r>
          </a:p>
        </p:txBody>
      </p:sp>
      <p:sp>
        <p:nvSpPr>
          <p:cNvPr id="3" name="object 3"/>
          <p:cNvSpPr/>
          <p:nvPr/>
        </p:nvSpPr>
        <p:spPr>
          <a:xfrm>
            <a:off x="686320" y="3457575"/>
            <a:ext cx="3427183" cy="2347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7033" y="5163273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889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2652" y="3729620"/>
            <a:ext cx="2768600" cy="1277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600" b="1" spc="-10" dirty="0">
                <a:solidFill>
                  <a:srgbClr val="E42E2F"/>
                </a:solidFill>
                <a:latin typeface="Microsoft JhengHei"/>
                <a:cs typeface="Microsoft JhengHei"/>
              </a:rPr>
              <a:t>传统物业管理的局限</a:t>
            </a:r>
            <a:r>
              <a:rPr sz="1600" b="1" spc="-20" dirty="0">
                <a:solidFill>
                  <a:srgbClr val="E42E2F"/>
                </a:solidFill>
                <a:latin typeface="Microsoft JhengHei"/>
                <a:cs typeface="Microsoft JhengHei"/>
              </a:rPr>
              <a:t>性</a:t>
            </a:r>
            <a:endParaRPr sz="1600"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25000"/>
              </a:lnSpc>
              <a:spcBef>
                <a:spcPts val="1075"/>
              </a:spcBef>
            </a:pP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传统物业管理模式难以应对现代物流园区 的动态需求，存在车辆拥堵、资源浪费和 信息孤岛等问题，导致运营效率低下，亟 需向供应链协同转型。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2652" y="5337352"/>
            <a:ext cx="26930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资源浪费、信息孤岛、运营效率</a:t>
            </a:r>
            <a:r>
              <a:rPr sz="1400" dirty="0">
                <a:latin typeface="Arial Unicode MS"/>
                <a:cs typeface="Arial Unicode MS"/>
              </a:rPr>
              <a:t>低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82414" y="3457575"/>
            <a:ext cx="3427183" cy="23471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03127" y="5163273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79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889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98746" y="3729620"/>
            <a:ext cx="2921000" cy="1277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E42E2F"/>
                </a:solidFill>
                <a:latin typeface="Microsoft JhengHei"/>
                <a:cs typeface="Microsoft JhengHei"/>
              </a:rPr>
              <a:t>智能技术驱动的协同升</a:t>
            </a:r>
            <a:r>
              <a:rPr sz="1600" b="1" spc="-20" dirty="0">
                <a:solidFill>
                  <a:srgbClr val="E42E2F"/>
                </a:solidFill>
                <a:latin typeface="Microsoft JhengHei"/>
                <a:cs typeface="Microsoft JhengHei"/>
              </a:rPr>
              <a:t>级</a:t>
            </a:r>
            <a:endParaRPr sz="1600">
              <a:latin typeface="Microsoft JhengHei"/>
              <a:cs typeface="Microsoft JhengHei"/>
            </a:endParaRPr>
          </a:p>
          <a:p>
            <a:pPr marL="12700" marR="5080">
              <a:lnSpc>
                <a:spcPct val="125000"/>
              </a:lnSpc>
              <a:spcBef>
                <a:spcPts val="1075"/>
              </a:spcBef>
            </a:pP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借助预约机制、路径优化和智能调度等技 术，供应链协同平台可动态管理车流、货 流，压缩车辆停留时间，实</a:t>
            </a:r>
            <a:r>
              <a:rPr sz="1200" spc="-5" dirty="0">
                <a:solidFill>
                  <a:srgbClr val="808080"/>
                </a:solidFill>
                <a:latin typeface="Arial Unicode MS"/>
                <a:cs typeface="Arial Unicode MS"/>
              </a:rPr>
              <a:t>现</a:t>
            </a:r>
            <a:r>
              <a:rPr sz="1200" spc="795" dirty="0">
                <a:solidFill>
                  <a:srgbClr val="808080"/>
                </a:solidFill>
                <a:latin typeface="Arial Unicode MS"/>
                <a:cs typeface="Arial Unicode MS"/>
              </a:rPr>
              <a:t>“</a:t>
            </a: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快进快出</a:t>
            </a:r>
            <a:r>
              <a:rPr sz="1200" spc="795" dirty="0">
                <a:solidFill>
                  <a:srgbClr val="808080"/>
                </a:solidFill>
                <a:latin typeface="Arial Unicode MS"/>
                <a:cs typeface="Arial Unicode MS"/>
              </a:rPr>
              <a:t>”</a:t>
            </a:r>
            <a:r>
              <a:rPr sz="1200" spc="665" dirty="0">
                <a:solidFill>
                  <a:srgbClr val="808080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的高效运营目标。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98746" y="5337352"/>
            <a:ext cx="2515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在线预约、路径优化、智能调</a:t>
            </a:r>
            <a:r>
              <a:rPr sz="1400" dirty="0">
                <a:latin typeface="Arial Unicode MS"/>
                <a:cs typeface="Arial Unicode MS"/>
              </a:rPr>
              <a:t>度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78495" y="3457575"/>
            <a:ext cx="3427183" cy="23471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99221" y="5163273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79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889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394827" y="3729620"/>
            <a:ext cx="2768600" cy="1277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600" b="1" spc="-10" dirty="0">
                <a:solidFill>
                  <a:srgbClr val="E42E2F"/>
                </a:solidFill>
                <a:latin typeface="Microsoft JhengHei"/>
                <a:cs typeface="Microsoft JhengHei"/>
              </a:rPr>
              <a:t>数据整合与决策优</a:t>
            </a:r>
            <a:r>
              <a:rPr sz="1600" b="1" spc="-20" dirty="0">
                <a:solidFill>
                  <a:srgbClr val="E42E2F"/>
                </a:solidFill>
                <a:latin typeface="Microsoft JhengHei"/>
                <a:cs typeface="Microsoft JhengHei"/>
              </a:rPr>
              <a:t>化</a:t>
            </a:r>
            <a:endParaRPr sz="1600"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25000"/>
              </a:lnSpc>
              <a:spcBef>
                <a:spcPts val="1075"/>
              </a:spcBef>
            </a:pP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打破信息孤岛，构建统一数字平台，通过 大数据分析预测流量、仓容等关键指标， 赋能智慧决策，进而提升园区整体协同管 理水平。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94827" y="5337352"/>
            <a:ext cx="2515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多维分析、数据支撑、智慧决</a:t>
            </a:r>
            <a:r>
              <a:rPr sz="1400" dirty="0">
                <a:latin typeface="Arial Unicode MS"/>
                <a:cs typeface="Arial Unicode MS"/>
              </a:rPr>
              <a:t>策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6320" y="1376400"/>
            <a:ext cx="10819358" cy="18431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70788" y="1738883"/>
            <a:ext cx="2304415" cy="367665"/>
          </a:xfrm>
          <a:custGeom>
            <a:avLst/>
            <a:gdLst/>
            <a:ahLst/>
            <a:cxnLst/>
            <a:rect l="l" t="t" r="r" b="b"/>
            <a:pathLst>
              <a:path w="2304415" h="367664">
                <a:moveTo>
                  <a:pt x="2121408" y="367284"/>
                </a:moveTo>
                <a:lnTo>
                  <a:pt x="184403" y="367284"/>
                </a:lnTo>
                <a:lnTo>
                  <a:pt x="169261" y="366610"/>
                </a:lnTo>
                <a:lnTo>
                  <a:pt x="126084" y="357702"/>
                </a:lnTo>
                <a:lnTo>
                  <a:pt x="87261" y="339440"/>
                </a:lnTo>
                <a:lnTo>
                  <a:pt x="54049" y="313081"/>
                </a:lnTo>
                <a:lnTo>
                  <a:pt x="27704" y="279883"/>
                </a:lnTo>
                <a:lnTo>
                  <a:pt x="9484" y="241101"/>
                </a:lnTo>
                <a:lnTo>
                  <a:pt x="644" y="197993"/>
                </a:lnTo>
                <a:lnTo>
                  <a:pt x="0" y="182880"/>
                </a:lnTo>
                <a:lnTo>
                  <a:pt x="644" y="167891"/>
                </a:lnTo>
                <a:lnTo>
                  <a:pt x="9484" y="125089"/>
                </a:lnTo>
                <a:lnTo>
                  <a:pt x="27704" y="86536"/>
                </a:lnTo>
                <a:lnTo>
                  <a:pt x="54049" y="53520"/>
                </a:lnTo>
                <a:lnTo>
                  <a:pt x="87261" y="27330"/>
                </a:lnTo>
                <a:lnTo>
                  <a:pt x="126084" y="9253"/>
                </a:lnTo>
                <a:lnTo>
                  <a:pt x="169261" y="579"/>
                </a:lnTo>
                <a:lnTo>
                  <a:pt x="184403" y="0"/>
                </a:lnTo>
                <a:lnTo>
                  <a:pt x="2121408" y="0"/>
                </a:lnTo>
                <a:lnTo>
                  <a:pt x="2165251" y="5255"/>
                </a:lnTo>
                <a:lnTo>
                  <a:pt x="2205304" y="20351"/>
                </a:lnTo>
                <a:lnTo>
                  <a:pt x="2240278" y="44008"/>
                </a:lnTo>
                <a:lnTo>
                  <a:pt x="2268887" y="74946"/>
                </a:lnTo>
                <a:lnTo>
                  <a:pt x="2289839" y="111885"/>
                </a:lnTo>
                <a:lnTo>
                  <a:pt x="2301848" y="153546"/>
                </a:lnTo>
                <a:lnTo>
                  <a:pt x="2304249" y="183311"/>
                </a:lnTo>
                <a:lnTo>
                  <a:pt x="2303641" y="198363"/>
                </a:lnTo>
                <a:lnTo>
                  <a:pt x="2294900" y="241322"/>
                </a:lnTo>
                <a:lnTo>
                  <a:pt x="2276785" y="280002"/>
                </a:lnTo>
                <a:lnTo>
                  <a:pt x="2250586" y="313135"/>
                </a:lnTo>
                <a:lnTo>
                  <a:pt x="2217590" y="339459"/>
                </a:lnTo>
                <a:lnTo>
                  <a:pt x="2179086" y="357705"/>
                </a:lnTo>
                <a:lnTo>
                  <a:pt x="2136363" y="366610"/>
                </a:lnTo>
                <a:lnTo>
                  <a:pt x="2121408" y="367284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66647" y="1818157"/>
            <a:ext cx="6071235" cy="1008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50825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供应链协同的核心价值</a:t>
            </a:r>
            <a:endParaRPr sz="1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8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1400" spc="-5" dirty="0">
                <a:latin typeface="Arial Unicode MS"/>
                <a:cs typeface="Arial Unicode MS"/>
              </a:rPr>
              <a:t>供应链协同，通过整合仓储、物流、车辆等资源，实现高效调度与信息共享</a:t>
            </a:r>
            <a:r>
              <a:rPr sz="1400" dirty="0">
                <a:latin typeface="Arial Unicode MS"/>
                <a:cs typeface="Arial Unicode MS"/>
              </a:rPr>
              <a:t>， </a:t>
            </a:r>
            <a:r>
              <a:rPr sz="1400" spc="-5" dirty="0">
                <a:latin typeface="Arial Unicode MS"/>
                <a:cs typeface="Arial Unicode MS"/>
              </a:rPr>
              <a:t>显著提升园区运营效率，降低管理成本，满足多样化客户需求</a:t>
            </a:r>
            <a:r>
              <a:rPr sz="1400" dirty="0"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660892" y="1577339"/>
            <a:ext cx="2560320" cy="14401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91243" y="1402080"/>
            <a:ext cx="1356359" cy="9768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80888" y="1402080"/>
            <a:ext cx="1356360" cy="9768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行业当前管理痛点分</a:t>
            </a:r>
            <a:r>
              <a:rPr spc="-30" dirty="0"/>
              <a:t>析</a:t>
            </a:r>
          </a:p>
        </p:txBody>
      </p:sp>
      <p:sp>
        <p:nvSpPr>
          <p:cNvPr id="5" name="object 5"/>
          <p:cNvSpPr/>
          <p:nvPr/>
        </p:nvSpPr>
        <p:spPr>
          <a:xfrm>
            <a:off x="5751753" y="1244409"/>
            <a:ext cx="1015187" cy="10151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89637" y="2464028"/>
            <a:ext cx="7391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E42E2F"/>
                </a:solidFill>
                <a:latin typeface="Microsoft JhengHei"/>
                <a:cs typeface="Microsoft JhengHei"/>
              </a:rPr>
              <a:t>运营管理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18087" y="3073157"/>
            <a:ext cx="151574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客户业务需求多样</a:t>
            </a:r>
            <a:r>
              <a:rPr sz="1300" b="1" spc="-15" dirty="0">
                <a:latin typeface="Microsoft JhengHei"/>
                <a:cs typeface="Microsoft JhengHei"/>
              </a:rPr>
              <a:t>化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8087" y="3367207"/>
            <a:ext cx="3212465" cy="1177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marR="5080" indent="-215900">
              <a:lnSpc>
                <a:spcPct val="113799"/>
              </a:lnSpc>
              <a:tabLst>
                <a:tab pos="227965" algn="l"/>
              </a:tabLst>
            </a:pPr>
            <a:r>
              <a:rPr sz="1300" spc="-5" dirty="0">
                <a:solidFill>
                  <a:srgbClr val="585858"/>
                </a:solidFill>
                <a:latin typeface="Arial"/>
                <a:cs typeface="Arial"/>
              </a:rPr>
              <a:t>•	</a:t>
            </a:r>
            <a:r>
              <a:rPr sz="1300" spc="0" dirty="0">
                <a:solidFill>
                  <a:srgbClr val="585858"/>
                </a:solidFill>
                <a:latin typeface="Arial Unicode MS"/>
                <a:cs typeface="Arial Unicode MS"/>
              </a:rPr>
              <a:t>园区内可能同时存在零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散物流、大货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物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0" dirty="0">
                <a:solidFill>
                  <a:srgbClr val="585858"/>
                </a:solidFill>
                <a:latin typeface="Arial Unicode MS"/>
                <a:cs typeface="Arial Unicode MS"/>
              </a:rPr>
              <a:t>流；承接提货、送货业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务以及大客户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定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制化服务、中小客户标准化服务体系等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  <a:p>
            <a:pPr marL="228600" marR="136525" indent="-215900">
              <a:lnSpc>
                <a:spcPct val="113799"/>
              </a:lnSpc>
              <a:spcBef>
                <a:spcPts val="600"/>
              </a:spcBef>
              <a:tabLst>
                <a:tab pos="227965" algn="l"/>
              </a:tabLst>
            </a:pPr>
            <a:r>
              <a:rPr sz="1300" spc="-5" dirty="0">
                <a:solidFill>
                  <a:srgbClr val="585858"/>
                </a:solidFill>
                <a:latin typeface="Arial"/>
                <a:cs typeface="Arial"/>
              </a:rPr>
              <a:t>•	</a:t>
            </a:r>
            <a:r>
              <a:rPr sz="1300" spc="0" dirty="0">
                <a:solidFill>
                  <a:srgbClr val="585858"/>
                </a:solidFill>
                <a:latin typeface="Arial Unicode MS"/>
                <a:cs typeface="Arial Unicode MS"/>
              </a:rPr>
              <a:t>参与到园区管理的物流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公司水平不一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，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影响整体服务能力和服务效率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18087" y="4813883"/>
            <a:ext cx="3225800" cy="88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E42E2F"/>
                </a:solidFill>
                <a:latin typeface="Arial Unicode MS"/>
                <a:cs typeface="Arial Unicode MS"/>
              </a:rPr>
              <a:t>思考</a:t>
            </a:r>
            <a:endParaRPr sz="1200">
              <a:latin typeface="Arial Unicode MS"/>
              <a:cs typeface="Arial Unicode MS"/>
            </a:endParaRPr>
          </a:p>
          <a:p>
            <a:pPr marL="12700" marR="5080">
              <a:lnSpc>
                <a:spcPct val="113900"/>
              </a:lnSpc>
              <a:spcBef>
                <a:spcPts val="610"/>
              </a:spcBef>
            </a:pP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如何提供差</a:t>
            </a:r>
            <a:r>
              <a:rPr sz="1200" spc="5" dirty="0">
                <a:solidFill>
                  <a:srgbClr val="585858"/>
                </a:solidFill>
                <a:latin typeface="Arial Unicode MS"/>
                <a:cs typeface="Arial Unicode MS"/>
              </a:rPr>
              <a:t>异化的服务和产品，建立统一的</a:t>
            </a: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服 务标准和监管机制，提升整个园区的服务下限， 进而提高园区运营管理水平。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99353" y="2752013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>
                <a:moveTo>
                  <a:pt x="0" y="0"/>
                </a:moveTo>
                <a:lnTo>
                  <a:pt x="720001" y="0"/>
                </a:lnTo>
              </a:path>
            </a:pathLst>
          </a:custGeom>
          <a:ln w="20320">
            <a:solidFill>
              <a:srgbClr val="D71E0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42659" y="1459991"/>
            <a:ext cx="431291" cy="4312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62033" y="1236675"/>
            <a:ext cx="1015187" cy="10151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328367" y="3073157"/>
            <a:ext cx="217868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信息孤岛，数据价值挖掘不</a:t>
            </a:r>
            <a:r>
              <a:rPr sz="1300" b="1" spc="-15" dirty="0">
                <a:latin typeface="Microsoft JhengHei"/>
                <a:cs typeface="Microsoft JhengHei"/>
              </a:rPr>
              <a:t>足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28367" y="3367207"/>
            <a:ext cx="3082290" cy="1177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marR="5080" indent="-215900" algn="just">
              <a:lnSpc>
                <a:spcPct val="113799"/>
              </a:lnSpc>
            </a:pPr>
            <a:r>
              <a:rPr sz="1300" spc="-5" dirty="0">
                <a:solidFill>
                  <a:srgbClr val="585858"/>
                </a:solidFill>
                <a:latin typeface="Arial"/>
                <a:cs typeface="Arial"/>
              </a:rPr>
              <a:t>•  </a:t>
            </a:r>
            <a:r>
              <a:rPr sz="1300" spc="16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585858"/>
                </a:solidFill>
                <a:latin typeface="Arial Unicode MS"/>
                <a:cs typeface="Arial Unicode MS"/>
              </a:rPr>
              <a:t>园区管理系统、</a:t>
            </a:r>
            <a:r>
              <a:rPr sz="1300" spc="140" dirty="0">
                <a:solidFill>
                  <a:srgbClr val="585858"/>
                </a:solidFill>
                <a:latin typeface="Arial Unicode MS"/>
                <a:cs typeface="Arial Unicode MS"/>
              </a:rPr>
              <a:t>W</a:t>
            </a:r>
            <a:r>
              <a:rPr sz="1300" spc="165" dirty="0">
                <a:solidFill>
                  <a:srgbClr val="585858"/>
                </a:solidFill>
                <a:latin typeface="Arial Unicode MS"/>
                <a:cs typeface="Arial Unicode MS"/>
              </a:rPr>
              <a:t>M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S</a:t>
            </a:r>
            <a:r>
              <a:rPr sz="1300" spc="20" dirty="0">
                <a:solidFill>
                  <a:srgbClr val="585858"/>
                </a:solidFill>
                <a:latin typeface="Arial Unicode MS"/>
                <a:cs typeface="Arial Unicode MS"/>
              </a:rPr>
              <a:t>仓储系统、</a:t>
            </a:r>
            <a:r>
              <a:rPr sz="1300" spc="-30" dirty="0">
                <a:solidFill>
                  <a:srgbClr val="585858"/>
                </a:solidFill>
                <a:latin typeface="Arial Unicode MS"/>
                <a:cs typeface="Arial Unicode MS"/>
              </a:rPr>
              <a:t>T</a:t>
            </a:r>
            <a:r>
              <a:rPr sz="1300" spc="170" dirty="0">
                <a:solidFill>
                  <a:srgbClr val="585858"/>
                </a:solidFill>
                <a:latin typeface="Arial Unicode MS"/>
                <a:cs typeface="Arial Unicode MS"/>
              </a:rPr>
              <a:t>M</a:t>
            </a:r>
            <a:r>
              <a:rPr sz="1300" spc="-20" dirty="0">
                <a:solidFill>
                  <a:srgbClr val="585858"/>
                </a:solidFill>
                <a:latin typeface="Arial Unicode MS"/>
                <a:cs typeface="Arial Unicode MS"/>
              </a:rPr>
              <a:t>S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0" dirty="0">
                <a:solidFill>
                  <a:srgbClr val="585858"/>
                </a:solidFill>
                <a:latin typeface="Arial Unicode MS"/>
                <a:cs typeface="Arial Unicode MS"/>
              </a:rPr>
              <a:t>物流系统、车辆管理系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统、门禁安防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系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统等联通性不足，形成</a:t>
            </a:r>
            <a:r>
              <a:rPr sz="1300" spc="865" dirty="0">
                <a:solidFill>
                  <a:srgbClr val="585858"/>
                </a:solidFill>
                <a:latin typeface="Arial Unicode MS"/>
                <a:cs typeface="Arial Unicode MS"/>
              </a:rPr>
              <a:t>“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信息孤岛</a:t>
            </a:r>
            <a:r>
              <a:rPr sz="1300" spc="865" dirty="0">
                <a:solidFill>
                  <a:srgbClr val="585858"/>
                </a:solidFill>
                <a:latin typeface="Arial Unicode MS"/>
                <a:cs typeface="Arial Unicode MS"/>
              </a:rPr>
              <a:t>”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  <a:p>
            <a:pPr marL="228600" marR="5080" indent="-215900" algn="just">
              <a:lnSpc>
                <a:spcPct val="113799"/>
              </a:lnSpc>
              <a:spcBef>
                <a:spcPts val="600"/>
              </a:spcBef>
            </a:pPr>
            <a:r>
              <a:rPr sz="1300" spc="-5" dirty="0">
                <a:solidFill>
                  <a:srgbClr val="585858"/>
                </a:solidFill>
                <a:latin typeface="Arial"/>
                <a:cs typeface="Arial"/>
              </a:rPr>
              <a:t>•  </a:t>
            </a:r>
            <a:r>
              <a:rPr sz="1300" spc="16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300" spc="0" dirty="0">
                <a:solidFill>
                  <a:srgbClr val="585858"/>
                </a:solidFill>
                <a:latin typeface="Arial Unicode MS"/>
                <a:cs typeface="Arial Unicode MS"/>
              </a:rPr>
              <a:t>车流、货流、人流等海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量运营数据无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法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有效整合分析，用于优化决策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28367" y="4813883"/>
            <a:ext cx="3225800" cy="88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E42E2F"/>
                </a:solidFill>
                <a:latin typeface="Arial Unicode MS"/>
                <a:cs typeface="Arial Unicode MS"/>
              </a:rPr>
              <a:t>思考</a:t>
            </a:r>
            <a:endParaRPr sz="1200">
              <a:latin typeface="Arial Unicode MS"/>
              <a:cs typeface="Arial Unicode MS"/>
            </a:endParaRPr>
          </a:p>
          <a:p>
            <a:pPr marL="12700" marR="5080">
              <a:lnSpc>
                <a:spcPct val="113900"/>
              </a:lnSpc>
              <a:spcBef>
                <a:spcPts val="610"/>
              </a:spcBef>
            </a:pP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如何构建统</a:t>
            </a:r>
            <a:r>
              <a:rPr sz="1200" spc="5" dirty="0">
                <a:solidFill>
                  <a:srgbClr val="585858"/>
                </a:solidFill>
                <a:latin typeface="Arial Unicode MS"/>
                <a:cs typeface="Arial Unicode MS"/>
              </a:rPr>
              <a:t>一的数字平台，打通内外数据，</a:t>
            </a: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并 利用大数据技术进行信息分析，实现智慧预测、 决策等，达到协同高效管理目标；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636252" y="1434083"/>
            <a:ext cx="467868" cy="4678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499917" y="2456294"/>
            <a:ext cx="7391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E42E2F"/>
                </a:solidFill>
                <a:latin typeface="Microsoft JhengHei"/>
                <a:cs typeface="Microsoft JhengHei"/>
              </a:rPr>
              <a:t>数据管理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632" y="2744292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>
                <a:moveTo>
                  <a:pt x="0" y="0"/>
                </a:moveTo>
                <a:lnTo>
                  <a:pt x="720001" y="0"/>
                </a:lnTo>
              </a:path>
            </a:pathLst>
          </a:custGeom>
          <a:ln w="20320">
            <a:solidFill>
              <a:srgbClr val="D71E0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81113" y="3526497"/>
            <a:ext cx="3226435" cy="1003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5000"/>
              </a:lnSpc>
            </a:pPr>
            <a:r>
              <a:rPr sz="1400" spc="10" dirty="0">
                <a:solidFill>
                  <a:srgbClr val="404040"/>
                </a:solidFill>
                <a:latin typeface="Arial Unicode MS"/>
                <a:cs typeface="Arial Unicode MS"/>
              </a:rPr>
              <a:t>现代物流园区管理正</a:t>
            </a:r>
            <a:r>
              <a:rPr sz="1400" spc="15" dirty="0">
                <a:solidFill>
                  <a:srgbClr val="404040"/>
                </a:solidFill>
                <a:latin typeface="Arial Unicode MS"/>
                <a:cs typeface="Arial Unicode MS"/>
              </a:rPr>
              <a:t>在从传统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的</a:t>
            </a:r>
            <a:r>
              <a:rPr sz="1400" spc="100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400" spc="950" dirty="0">
                <a:solidFill>
                  <a:srgbClr val="404040"/>
                </a:solidFill>
                <a:latin typeface="Arial Unicode MS"/>
                <a:cs typeface="Arial Unicode MS"/>
              </a:rPr>
              <a:t>“</a:t>
            </a:r>
            <a:r>
              <a:rPr sz="1400" spc="15" dirty="0">
                <a:solidFill>
                  <a:srgbClr val="404040"/>
                </a:solidFill>
                <a:latin typeface="Arial Unicode MS"/>
                <a:cs typeface="Arial Unicode MS"/>
              </a:rPr>
              <a:t>物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业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管理</a:t>
            </a:r>
            <a:r>
              <a:rPr sz="1400" spc="930" dirty="0">
                <a:solidFill>
                  <a:srgbClr val="404040"/>
                </a:solidFill>
                <a:latin typeface="Arial Unicode MS"/>
                <a:cs typeface="Arial Unicode MS"/>
              </a:rPr>
              <a:t>”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向</a:t>
            </a:r>
            <a:r>
              <a:rPr sz="1400" spc="930" dirty="0">
                <a:solidFill>
                  <a:srgbClr val="404040"/>
                </a:solidFill>
                <a:latin typeface="Arial Unicode MS"/>
                <a:cs typeface="Arial Unicode MS"/>
              </a:rPr>
              <a:t>“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供应链协同平台运营</a:t>
            </a:r>
            <a:r>
              <a:rPr sz="1400" spc="930" dirty="0">
                <a:solidFill>
                  <a:srgbClr val="404040"/>
                </a:solidFill>
                <a:latin typeface="Arial Unicode MS"/>
                <a:cs typeface="Arial Unicode MS"/>
              </a:rPr>
              <a:t>”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转变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40" dirty="0">
                <a:solidFill>
                  <a:srgbClr val="404040"/>
                </a:solidFill>
                <a:latin typeface="Arial Unicode MS"/>
                <a:cs typeface="Arial Unicode MS"/>
              </a:rPr>
              <a:t>园区管理能力进一步体</a:t>
            </a:r>
            <a:r>
              <a:rPr sz="1400" spc="45" dirty="0">
                <a:solidFill>
                  <a:srgbClr val="404040"/>
                </a:solidFill>
                <a:latin typeface="Arial Unicode MS"/>
                <a:cs typeface="Arial Unicode MS"/>
              </a:rPr>
              <a:t>现现代仓储物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流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的管理高度与水平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1113" y="2393313"/>
            <a:ext cx="2566035" cy="717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5" dirty="0">
                <a:latin typeface="Microsoft JhengHei"/>
                <a:cs typeface="Microsoft JhengHei"/>
              </a:rPr>
              <a:t>聚焦行业痛</a:t>
            </a:r>
            <a:r>
              <a:rPr sz="2400" b="1" dirty="0">
                <a:latin typeface="Microsoft JhengHei"/>
                <a:cs typeface="Microsoft JhengHei"/>
              </a:rPr>
              <a:t>点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000" spc="-5" dirty="0">
                <a:solidFill>
                  <a:srgbClr val="E42E2F"/>
                </a:solidFill>
                <a:latin typeface="Arial Unicode MS"/>
                <a:cs typeface="Arial Unicode MS"/>
              </a:rPr>
              <a:t>实现园区运营管理提</a:t>
            </a:r>
            <a:r>
              <a:rPr sz="2000" dirty="0">
                <a:solidFill>
                  <a:srgbClr val="E42E2F"/>
                </a:solidFill>
                <a:latin typeface="Arial Unicode MS"/>
                <a:cs typeface="Arial Unicode MS"/>
              </a:rPr>
              <a:t>升</a:t>
            </a:r>
            <a:endParaRPr sz="20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91844" y="3236671"/>
            <a:ext cx="2520315" cy="0"/>
          </a:xfrm>
          <a:custGeom>
            <a:avLst/>
            <a:gdLst/>
            <a:ahLst/>
            <a:cxnLst/>
            <a:rect l="l" t="t" r="r" b="b"/>
            <a:pathLst>
              <a:path w="2520315">
                <a:moveTo>
                  <a:pt x="0" y="0"/>
                </a:moveTo>
                <a:lnTo>
                  <a:pt x="2519997" y="0"/>
                </a:lnTo>
              </a:path>
            </a:pathLst>
          </a:custGeom>
          <a:ln w="8889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数字化供应链可视管理专家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行业当前管理痛点分</a:t>
            </a:r>
            <a:r>
              <a:rPr spc="-30" dirty="0"/>
              <a:t>析</a:t>
            </a:r>
          </a:p>
        </p:txBody>
      </p:sp>
      <p:sp>
        <p:nvSpPr>
          <p:cNvPr id="3" name="object 3"/>
          <p:cNvSpPr/>
          <p:nvPr/>
        </p:nvSpPr>
        <p:spPr>
          <a:xfrm>
            <a:off x="1647444" y="1592580"/>
            <a:ext cx="1356359" cy="9997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18424" y="1425371"/>
            <a:ext cx="1015187" cy="10151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92451" y="1624583"/>
            <a:ext cx="467868" cy="4678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50275" y="2705658"/>
            <a:ext cx="7391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E42E2F"/>
                </a:solidFill>
                <a:latin typeface="Microsoft JhengHei"/>
                <a:cs typeface="Microsoft JhengHei"/>
              </a:rPr>
              <a:t>场站管理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4402" y="3032023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5">
                <a:moveTo>
                  <a:pt x="0" y="0"/>
                </a:moveTo>
                <a:lnTo>
                  <a:pt x="432003" y="0"/>
                </a:lnTo>
              </a:path>
            </a:pathLst>
          </a:custGeom>
          <a:ln w="20320">
            <a:solidFill>
              <a:srgbClr val="D71E0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9144" y="3389057"/>
            <a:ext cx="201295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解决“动态交通拥堵”难</a:t>
            </a:r>
            <a:r>
              <a:rPr sz="1300" b="1" spc="-15" dirty="0">
                <a:latin typeface="Microsoft JhengHei"/>
                <a:cs typeface="Microsoft JhengHei"/>
              </a:rPr>
              <a:t>题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9144" y="3683094"/>
            <a:ext cx="3212465" cy="95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965" marR="5080" indent="-215900">
              <a:lnSpc>
                <a:spcPct val="113799"/>
              </a:lnSpc>
              <a:tabLst>
                <a:tab pos="227965" algn="l"/>
              </a:tabLst>
            </a:pPr>
            <a:r>
              <a:rPr sz="1300" spc="-5" dirty="0">
                <a:solidFill>
                  <a:srgbClr val="585858"/>
                </a:solidFill>
                <a:latin typeface="Arial"/>
                <a:cs typeface="Arial"/>
              </a:rPr>
              <a:t>•	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车辆到达时间不规律，高峰期集中到达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，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导致园区外道路和入口严重拥堵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  <a:p>
            <a:pPr marL="227965" marR="135890" indent="-215900">
              <a:lnSpc>
                <a:spcPct val="113799"/>
              </a:lnSpc>
              <a:spcBef>
                <a:spcPts val="600"/>
              </a:spcBef>
              <a:tabLst>
                <a:tab pos="227965" algn="l"/>
              </a:tabLst>
            </a:pPr>
            <a:r>
              <a:rPr sz="1300" spc="-5" dirty="0">
                <a:solidFill>
                  <a:srgbClr val="585858"/>
                </a:solidFill>
                <a:latin typeface="Arial"/>
                <a:cs typeface="Arial"/>
              </a:rPr>
              <a:t>•	</a:t>
            </a:r>
            <a:r>
              <a:rPr sz="1300" spc="0" dirty="0">
                <a:solidFill>
                  <a:srgbClr val="585858"/>
                </a:solidFill>
                <a:latin typeface="Arial Unicode MS"/>
                <a:cs typeface="Arial Unicode MS"/>
              </a:rPr>
              <a:t>场内车辆停放难，无法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协同仓配环节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，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装卸效率低下，造成内部循环堵塞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144" y="4904345"/>
            <a:ext cx="3082290" cy="88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200" dirty="0">
                <a:solidFill>
                  <a:srgbClr val="E42E2F"/>
                </a:solidFill>
                <a:latin typeface="Arial Unicode MS"/>
                <a:cs typeface="Arial Unicode MS"/>
              </a:rPr>
              <a:t>思考</a:t>
            </a:r>
            <a:endParaRPr sz="1200">
              <a:latin typeface="Arial Unicode MS"/>
              <a:cs typeface="Arial Unicode MS"/>
            </a:endParaRPr>
          </a:p>
          <a:p>
            <a:pPr marL="12700" marR="5080" algn="just">
              <a:lnSpc>
                <a:spcPct val="113900"/>
              </a:lnSpc>
              <a:spcBef>
                <a:spcPts val="610"/>
              </a:spcBef>
            </a:pP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如何通过预</a:t>
            </a:r>
            <a:r>
              <a:rPr sz="1200" spc="5" dirty="0">
                <a:solidFill>
                  <a:srgbClr val="585858"/>
                </a:solidFill>
                <a:latin typeface="Arial Unicode MS"/>
                <a:cs typeface="Arial Unicode MS"/>
              </a:rPr>
              <a:t>约机制、路径优化、智能导引等</a:t>
            </a: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手 段，实现</a:t>
            </a:r>
            <a:r>
              <a:rPr sz="1200" spc="795" dirty="0">
                <a:solidFill>
                  <a:srgbClr val="585858"/>
                </a:solidFill>
                <a:latin typeface="Arial Unicode MS"/>
                <a:cs typeface="Arial Unicode MS"/>
              </a:rPr>
              <a:t>“</a:t>
            </a:r>
            <a:r>
              <a:rPr sz="1200" spc="5" dirty="0">
                <a:solidFill>
                  <a:srgbClr val="585858"/>
                </a:solidFill>
                <a:latin typeface="Arial Unicode MS"/>
                <a:cs typeface="Arial Unicode MS"/>
              </a:rPr>
              <a:t>快进快出、高效装卸</a:t>
            </a:r>
            <a:r>
              <a:rPr sz="1200" spc="800" dirty="0">
                <a:solidFill>
                  <a:srgbClr val="585858"/>
                </a:solidFill>
                <a:latin typeface="Arial Unicode MS"/>
                <a:cs typeface="Arial Unicode MS"/>
              </a:rPr>
              <a:t>”</a:t>
            </a:r>
            <a:r>
              <a:rPr sz="1200" spc="5" dirty="0">
                <a:solidFill>
                  <a:srgbClr val="585858"/>
                </a:solidFill>
                <a:latin typeface="Arial Unicode MS"/>
                <a:cs typeface="Arial Unicode MS"/>
              </a:rPr>
              <a:t>，压缩平</a:t>
            </a: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均 停留时间至最短。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17820" y="1592580"/>
            <a:ext cx="1356359" cy="9997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88406" y="1425371"/>
            <a:ext cx="1015187" cy="10151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61303" y="1624583"/>
            <a:ext cx="467868" cy="4678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725871" y="2703690"/>
            <a:ext cx="7391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E42E2F"/>
                </a:solidFill>
                <a:latin typeface="Microsoft JhengHei"/>
                <a:cs typeface="Microsoft JhengHei"/>
              </a:rPr>
              <a:t>安全管理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79998" y="3030054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5">
                <a:moveTo>
                  <a:pt x="0" y="0"/>
                </a:moveTo>
                <a:lnTo>
                  <a:pt x="432003" y="0"/>
                </a:lnTo>
              </a:path>
            </a:pathLst>
          </a:custGeom>
          <a:ln w="20320">
            <a:solidFill>
              <a:srgbClr val="D71E0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54740" y="3389057"/>
            <a:ext cx="1847214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安全管理风险点多且复</a:t>
            </a:r>
            <a:r>
              <a:rPr sz="1300" b="1" spc="-15" dirty="0">
                <a:latin typeface="Microsoft JhengHei"/>
                <a:cs typeface="Microsoft JhengHei"/>
              </a:rPr>
              <a:t>杂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54740" y="3683094"/>
            <a:ext cx="3081655" cy="95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marR="5080" indent="-215900">
              <a:lnSpc>
                <a:spcPct val="113799"/>
              </a:lnSpc>
              <a:tabLst>
                <a:tab pos="227965" algn="l"/>
              </a:tabLst>
            </a:pPr>
            <a:r>
              <a:rPr sz="1300" spc="-5" dirty="0">
                <a:solidFill>
                  <a:srgbClr val="585858"/>
                </a:solidFill>
                <a:latin typeface="Arial"/>
                <a:cs typeface="Arial"/>
              </a:rPr>
              <a:t>•	</a:t>
            </a:r>
            <a:r>
              <a:rPr sz="1300" spc="0" dirty="0">
                <a:solidFill>
                  <a:srgbClr val="585858"/>
                </a:solidFill>
                <a:latin typeface="Arial Unicode MS"/>
                <a:cs typeface="Arial Unicode MS"/>
              </a:rPr>
              <a:t>园区内司机、库管、门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卫、搬运、物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流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等人员复杂，内部管理混乱且难度高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  <a:p>
            <a:pPr marL="228600" marR="5080" indent="-215900">
              <a:lnSpc>
                <a:spcPct val="113799"/>
              </a:lnSpc>
              <a:spcBef>
                <a:spcPts val="600"/>
              </a:spcBef>
              <a:tabLst>
                <a:tab pos="227965" algn="l"/>
              </a:tabLst>
            </a:pPr>
            <a:r>
              <a:rPr sz="1300" spc="-5" dirty="0">
                <a:solidFill>
                  <a:srgbClr val="585858"/>
                </a:solidFill>
                <a:latin typeface="Arial"/>
                <a:cs typeface="Arial"/>
              </a:rPr>
              <a:t>•	</a:t>
            </a:r>
            <a:r>
              <a:rPr sz="1300" spc="0" dirty="0">
                <a:solidFill>
                  <a:srgbClr val="585858"/>
                </a:solidFill>
                <a:latin typeface="Arial Unicode MS"/>
                <a:cs typeface="Arial Unicode MS"/>
              </a:rPr>
              <a:t>园区内叉车、托盘、月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台、车辆及设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备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等协同难度大，且落地执行不可控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4740" y="4904345"/>
            <a:ext cx="3082290" cy="88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200" dirty="0">
                <a:solidFill>
                  <a:srgbClr val="E42E2F"/>
                </a:solidFill>
                <a:latin typeface="Arial Unicode MS"/>
                <a:cs typeface="Arial Unicode MS"/>
              </a:rPr>
              <a:t>思考</a:t>
            </a:r>
            <a:endParaRPr sz="1200">
              <a:latin typeface="Arial Unicode MS"/>
              <a:cs typeface="Arial Unicode MS"/>
            </a:endParaRPr>
          </a:p>
          <a:p>
            <a:pPr marL="12700" marR="5080" algn="just">
              <a:lnSpc>
                <a:spcPct val="113900"/>
              </a:lnSpc>
              <a:spcBef>
                <a:spcPts val="610"/>
              </a:spcBef>
            </a:pPr>
            <a:r>
              <a:rPr sz="1200" spc="25" dirty="0">
                <a:solidFill>
                  <a:srgbClr val="585858"/>
                </a:solidFill>
                <a:latin typeface="Arial Unicode MS"/>
                <a:cs typeface="Arial Unicode MS"/>
              </a:rPr>
              <a:t>如何建立全覆盖、无死</a:t>
            </a:r>
            <a:r>
              <a:rPr sz="1200" spc="30" dirty="0">
                <a:solidFill>
                  <a:srgbClr val="585858"/>
                </a:solidFill>
                <a:latin typeface="Arial Unicode MS"/>
                <a:cs typeface="Arial Unicode MS"/>
              </a:rPr>
              <a:t>角、智能的</a:t>
            </a:r>
            <a:r>
              <a:rPr sz="1200" spc="825" dirty="0">
                <a:solidFill>
                  <a:srgbClr val="585858"/>
                </a:solidFill>
                <a:latin typeface="Arial Unicode MS"/>
                <a:cs typeface="Arial Unicode MS"/>
              </a:rPr>
              <a:t>“</a:t>
            </a:r>
            <a:r>
              <a:rPr sz="1200" spc="30" dirty="0">
                <a:solidFill>
                  <a:srgbClr val="585858"/>
                </a:solidFill>
                <a:latin typeface="Arial Unicode MS"/>
                <a:cs typeface="Arial Unicode MS"/>
              </a:rPr>
              <a:t>人协</a:t>
            </a:r>
            <a:r>
              <a:rPr sz="1200" spc="70" dirty="0">
                <a:solidFill>
                  <a:srgbClr val="585858"/>
                </a:solidFill>
                <a:latin typeface="Arial Unicode MS"/>
                <a:cs typeface="Arial Unicode MS"/>
              </a:rPr>
              <a:t>+</a:t>
            </a: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技 </a:t>
            </a:r>
            <a:r>
              <a:rPr sz="1200" spc="25" dirty="0">
                <a:solidFill>
                  <a:srgbClr val="585858"/>
                </a:solidFill>
                <a:latin typeface="Arial Unicode MS"/>
                <a:cs typeface="Arial Unicode MS"/>
              </a:rPr>
              <a:t>协</a:t>
            </a:r>
            <a:r>
              <a:rPr sz="1200" spc="65" dirty="0">
                <a:solidFill>
                  <a:srgbClr val="585858"/>
                </a:solidFill>
                <a:latin typeface="Arial Unicode MS"/>
                <a:cs typeface="Arial Unicode MS"/>
              </a:rPr>
              <a:t>+</a:t>
            </a:r>
            <a:r>
              <a:rPr sz="1200" spc="25" dirty="0">
                <a:solidFill>
                  <a:srgbClr val="585858"/>
                </a:solidFill>
                <a:latin typeface="Arial Unicode MS"/>
                <a:cs typeface="Arial Unicode MS"/>
              </a:rPr>
              <a:t>物协</a:t>
            </a:r>
            <a:r>
              <a:rPr sz="1200" spc="819" dirty="0">
                <a:solidFill>
                  <a:srgbClr val="585858"/>
                </a:solidFill>
                <a:latin typeface="Arial Unicode MS"/>
                <a:cs typeface="Arial Unicode MS"/>
              </a:rPr>
              <a:t>”</a:t>
            </a:r>
            <a:r>
              <a:rPr sz="1200" spc="25" dirty="0">
                <a:solidFill>
                  <a:srgbClr val="585858"/>
                </a:solidFill>
                <a:latin typeface="Arial Unicode MS"/>
                <a:cs typeface="Arial Unicode MS"/>
              </a:rPr>
              <a:t>一体化协同</a:t>
            </a:r>
            <a:r>
              <a:rPr sz="1200" spc="30" dirty="0">
                <a:solidFill>
                  <a:srgbClr val="585858"/>
                </a:solidFill>
                <a:latin typeface="Arial Unicode MS"/>
                <a:cs typeface="Arial Unicode MS"/>
              </a:rPr>
              <a:t>体系，并落实到每一</a:t>
            </a: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个 业务环节。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88195" y="1592580"/>
            <a:ext cx="1356359" cy="9997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358388" y="1425371"/>
            <a:ext cx="1015187" cy="10151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31680" y="1624583"/>
            <a:ext cx="467868" cy="4678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501466" y="2709023"/>
            <a:ext cx="7391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E42E2F"/>
                </a:solidFill>
                <a:latin typeface="Microsoft JhengHei"/>
                <a:cs typeface="Microsoft JhengHei"/>
              </a:rPr>
              <a:t>设备管理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655594" y="3035388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4">
                <a:moveTo>
                  <a:pt x="0" y="0"/>
                </a:moveTo>
                <a:lnTo>
                  <a:pt x="432003" y="0"/>
                </a:lnTo>
              </a:path>
            </a:pathLst>
          </a:custGeom>
          <a:ln w="20320">
            <a:solidFill>
              <a:srgbClr val="D71E0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330336" y="3389057"/>
            <a:ext cx="168148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智能仓储设备协同不</a:t>
            </a:r>
            <a:r>
              <a:rPr sz="1300" b="1" spc="-15" dirty="0">
                <a:latin typeface="Microsoft JhengHei"/>
                <a:cs typeface="Microsoft JhengHei"/>
              </a:rPr>
              <a:t>足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330336" y="3683094"/>
            <a:ext cx="3081655" cy="95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marR="5080" indent="-215900">
              <a:lnSpc>
                <a:spcPct val="113799"/>
              </a:lnSpc>
              <a:tabLst>
                <a:tab pos="227965" algn="l"/>
              </a:tabLst>
            </a:pPr>
            <a:r>
              <a:rPr sz="1300" spc="-5" dirty="0">
                <a:solidFill>
                  <a:srgbClr val="585858"/>
                </a:solidFill>
                <a:latin typeface="Arial"/>
                <a:cs typeface="Arial"/>
              </a:rPr>
              <a:t>•	</a:t>
            </a:r>
            <a:r>
              <a:rPr sz="1300" spc="0" dirty="0">
                <a:solidFill>
                  <a:srgbClr val="585858"/>
                </a:solidFill>
                <a:latin typeface="Arial Unicode MS"/>
                <a:cs typeface="Arial Unicode MS"/>
              </a:rPr>
              <a:t>大型仓储物流园区逐步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向高智能化升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级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与改造，要求充分发挥设备价值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  <a:p>
            <a:pPr marL="228600" marR="5080" indent="-215900">
              <a:lnSpc>
                <a:spcPct val="113799"/>
              </a:lnSpc>
              <a:spcBef>
                <a:spcPts val="600"/>
              </a:spcBef>
              <a:tabLst>
                <a:tab pos="227965" algn="l"/>
              </a:tabLst>
            </a:pPr>
            <a:r>
              <a:rPr sz="1300" spc="-5" dirty="0">
                <a:solidFill>
                  <a:srgbClr val="585858"/>
                </a:solidFill>
                <a:latin typeface="Arial"/>
                <a:cs typeface="Arial"/>
              </a:rPr>
              <a:t>•	</a:t>
            </a:r>
            <a:r>
              <a:rPr sz="1300" spc="0" dirty="0">
                <a:solidFill>
                  <a:srgbClr val="585858"/>
                </a:solidFill>
                <a:latin typeface="Arial Unicode MS"/>
                <a:cs typeface="Arial Unicode MS"/>
              </a:rPr>
              <a:t>需同时兼顾预知性和协</a:t>
            </a:r>
            <a:r>
              <a:rPr sz="1300" spc="10" dirty="0">
                <a:solidFill>
                  <a:srgbClr val="585858"/>
                </a:solidFill>
                <a:latin typeface="Arial Unicode MS"/>
                <a:cs typeface="Arial Unicode MS"/>
              </a:rPr>
              <a:t>同性，避免园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区</a:t>
            </a:r>
            <a:r>
              <a:rPr sz="1300" spc="-5" dirty="0">
                <a:solidFill>
                  <a:srgbClr val="585858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585858"/>
                </a:solidFill>
                <a:latin typeface="Arial Unicode MS"/>
                <a:cs typeface="Arial Unicode MS"/>
              </a:rPr>
              <a:t>仓库资源与场地等的浪费</a:t>
            </a:r>
            <a:r>
              <a:rPr sz="1300" spc="-15" dirty="0">
                <a:solidFill>
                  <a:srgbClr val="585858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30336" y="4904345"/>
            <a:ext cx="3082290" cy="88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200" dirty="0">
                <a:solidFill>
                  <a:srgbClr val="E42E2F"/>
                </a:solidFill>
                <a:latin typeface="Arial Unicode MS"/>
                <a:cs typeface="Arial Unicode MS"/>
              </a:rPr>
              <a:t>思考</a:t>
            </a:r>
            <a:endParaRPr sz="1200">
              <a:latin typeface="Arial Unicode MS"/>
              <a:cs typeface="Arial Unicode MS"/>
            </a:endParaRPr>
          </a:p>
          <a:p>
            <a:pPr marL="12700" marR="5080" algn="just">
              <a:lnSpc>
                <a:spcPct val="113900"/>
              </a:lnSpc>
              <a:spcBef>
                <a:spcPts val="610"/>
              </a:spcBef>
            </a:pP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如何达到设</a:t>
            </a:r>
            <a:r>
              <a:rPr sz="1200" spc="5" dirty="0">
                <a:solidFill>
                  <a:srgbClr val="585858"/>
                </a:solidFill>
                <a:latin typeface="Arial Unicode MS"/>
                <a:cs typeface="Arial Unicode MS"/>
              </a:rPr>
              <a:t>备运行与转运能力的高效协同，</a:t>
            </a: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利 用自动化周</a:t>
            </a:r>
            <a:r>
              <a:rPr sz="1200" spc="5" dirty="0">
                <a:solidFill>
                  <a:srgbClr val="585858"/>
                </a:solidFill>
                <a:latin typeface="Arial Unicode MS"/>
                <a:cs typeface="Arial Unicode MS"/>
              </a:rPr>
              <a:t>边空间避免场地拥堵，减少计划</a:t>
            </a:r>
            <a:r>
              <a:rPr sz="1200" dirty="0">
                <a:solidFill>
                  <a:srgbClr val="585858"/>
                </a:solidFill>
                <a:latin typeface="Arial Unicode MS"/>
                <a:cs typeface="Arial Unicode MS"/>
              </a:rPr>
              <a:t>不 确定性和临时性对仓储能力的影响；</a:t>
            </a:r>
            <a:endParaRPr sz="12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2862" y="410373"/>
            <a:ext cx="251396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5" dirty="0">
                <a:latin typeface="Arial Unicode MS"/>
                <a:cs typeface="Arial Unicode MS"/>
              </a:rPr>
              <a:t>核心诉求与目</a:t>
            </a:r>
            <a:r>
              <a:rPr sz="2800" spc="-30" dirty="0">
                <a:latin typeface="Arial Unicode MS"/>
                <a:cs typeface="Arial Unicode MS"/>
              </a:rPr>
              <a:t>标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40808" y="2973323"/>
            <a:ext cx="2311908" cy="2697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21499" y="3602812"/>
            <a:ext cx="931544" cy="931544"/>
          </a:xfrm>
          <a:custGeom>
            <a:avLst/>
            <a:gdLst/>
            <a:ahLst/>
            <a:cxnLst/>
            <a:rect l="l" t="t" r="r" b="b"/>
            <a:pathLst>
              <a:path w="931545" h="931545">
                <a:moveTo>
                  <a:pt x="465493" y="930986"/>
                </a:moveTo>
                <a:lnTo>
                  <a:pt x="427339" y="929441"/>
                </a:lnTo>
                <a:lnTo>
                  <a:pt x="353687" y="917447"/>
                </a:lnTo>
                <a:lnTo>
                  <a:pt x="284376" y="894380"/>
                </a:lnTo>
                <a:lnTo>
                  <a:pt x="220369" y="861202"/>
                </a:lnTo>
                <a:lnTo>
                  <a:pt x="162627" y="818874"/>
                </a:lnTo>
                <a:lnTo>
                  <a:pt x="112111" y="768358"/>
                </a:lnTo>
                <a:lnTo>
                  <a:pt x="69783" y="710616"/>
                </a:lnTo>
                <a:lnTo>
                  <a:pt x="36605" y="646609"/>
                </a:lnTo>
                <a:lnTo>
                  <a:pt x="13538" y="577299"/>
                </a:lnTo>
                <a:lnTo>
                  <a:pt x="1544" y="503646"/>
                </a:lnTo>
                <a:lnTo>
                  <a:pt x="0" y="465493"/>
                </a:lnTo>
                <a:lnTo>
                  <a:pt x="1544" y="427339"/>
                </a:lnTo>
                <a:lnTo>
                  <a:pt x="13538" y="353687"/>
                </a:lnTo>
                <a:lnTo>
                  <a:pt x="36605" y="284376"/>
                </a:lnTo>
                <a:lnTo>
                  <a:pt x="69783" y="220369"/>
                </a:lnTo>
                <a:lnTo>
                  <a:pt x="112111" y="162627"/>
                </a:lnTo>
                <a:lnTo>
                  <a:pt x="162627" y="112111"/>
                </a:lnTo>
                <a:lnTo>
                  <a:pt x="220369" y="69783"/>
                </a:lnTo>
                <a:lnTo>
                  <a:pt x="284376" y="36605"/>
                </a:lnTo>
                <a:lnTo>
                  <a:pt x="353687" y="13538"/>
                </a:lnTo>
                <a:lnTo>
                  <a:pt x="427339" y="1544"/>
                </a:lnTo>
                <a:lnTo>
                  <a:pt x="465493" y="0"/>
                </a:lnTo>
                <a:lnTo>
                  <a:pt x="503646" y="1544"/>
                </a:lnTo>
                <a:lnTo>
                  <a:pt x="577299" y="13538"/>
                </a:lnTo>
                <a:lnTo>
                  <a:pt x="646609" y="36605"/>
                </a:lnTo>
                <a:lnTo>
                  <a:pt x="710616" y="69783"/>
                </a:lnTo>
                <a:lnTo>
                  <a:pt x="768358" y="112111"/>
                </a:lnTo>
                <a:lnTo>
                  <a:pt x="818874" y="162627"/>
                </a:lnTo>
                <a:lnTo>
                  <a:pt x="861202" y="220369"/>
                </a:lnTo>
                <a:lnTo>
                  <a:pt x="894380" y="284376"/>
                </a:lnTo>
                <a:lnTo>
                  <a:pt x="917447" y="353687"/>
                </a:lnTo>
                <a:lnTo>
                  <a:pt x="929441" y="427339"/>
                </a:lnTo>
                <a:lnTo>
                  <a:pt x="930986" y="465493"/>
                </a:lnTo>
                <a:lnTo>
                  <a:pt x="929441" y="503646"/>
                </a:lnTo>
                <a:lnTo>
                  <a:pt x="917447" y="577299"/>
                </a:lnTo>
                <a:lnTo>
                  <a:pt x="894380" y="646609"/>
                </a:lnTo>
                <a:lnTo>
                  <a:pt x="861202" y="710616"/>
                </a:lnTo>
                <a:lnTo>
                  <a:pt x="818874" y="768358"/>
                </a:lnTo>
                <a:lnTo>
                  <a:pt x="768358" y="818874"/>
                </a:lnTo>
                <a:lnTo>
                  <a:pt x="710616" y="861202"/>
                </a:lnTo>
                <a:lnTo>
                  <a:pt x="646609" y="894380"/>
                </a:lnTo>
                <a:lnTo>
                  <a:pt x="577299" y="917447"/>
                </a:lnTo>
                <a:lnTo>
                  <a:pt x="503646" y="929441"/>
                </a:lnTo>
                <a:lnTo>
                  <a:pt x="465493" y="930986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23608" y="2903982"/>
            <a:ext cx="1094105" cy="1094105"/>
          </a:xfrm>
          <a:custGeom>
            <a:avLst/>
            <a:gdLst/>
            <a:ahLst/>
            <a:cxnLst/>
            <a:rect l="l" t="t" r="r" b="b"/>
            <a:pathLst>
              <a:path w="1094104" h="1094104">
                <a:moveTo>
                  <a:pt x="546823" y="1093660"/>
                </a:moveTo>
                <a:lnTo>
                  <a:pt x="502002" y="1091846"/>
                </a:lnTo>
                <a:lnTo>
                  <a:pt x="458174" y="1086497"/>
                </a:lnTo>
                <a:lnTo>
                  <a:pt x="415480" y="1077756"/>
                </a:lnTo>
                <a:lnTo>
                  <a:pt x="374061" y="1065762"/>
                </a:lnTo>
                <a:lnTo>
                  <a:pt x="334059" y="1050658"/>
                </a:lnTo>
                <a:lnTo>
                  <a:pt x="295614" y="1032584"/>
                </a:lnTo>
                <a:lnTo>
                  <a:pt x="258868" y="1011682"/>
                </a:lnTo>
                <a:lnTo>
                  <a:pt x="223963" y="988093"/>
                </a:lnTo>
                <a:lnTo>
                  <a:pt x="191038" y="961958"/>
                </a:lnTo>
                <a:lnTo>
                  <a:pt x="160235" y="933418"/>
                </a:lnTo>
                <a:lnTo>
                  <a:pt x="131697" y="902614"/>
                </a:lnTo>
                <a:lnTo>
                  <a:pt x="105562" y="869689"/>
                </a:lnTo>
                <a:lnTo>
                  <a:pt x="81974" y="834782"/>
                </a:lnTo>
                <a:lnTo>
                  <a:pt x="61073" y="798035"/>
                </a:lnTo>
                <a:lnTo>
                  <a:pt x="43000" y="759590"/>
                </a:lnTo>
                <a:lnTo>
                  <a:pt x="27896" y="719587"/>
                </a:lnTo>
                <a:lnTo>
                  <a:pt x="15903" y="678167"/>
                </a:lnTo>
                <a:lnTo>
                  <a:pt x="7162" y="635473"/>
                </a:lnTo>
                <a:lnTo>
                  <a:pt x="1814" y="591645"/>
                </a:lnTo>
                <a:lnTo>
                  <a:pt x="0" y="546823"/>
                </a:lnTo>
                <a:lnTo>
                  <a:pt x="1814" y="502002"/>
                </a:lnTo>
                <a:lnTo>
                  <a:pt x="7162" y="458174"/>
                </a:lnTo>
                <a:lnTo>
                  <a:pt x="15903" y="415480"/>
                </a:lnTo>
                <a:lnTo>
                  <a:pt x="27896" y="374061"/>
                </a:lnTo>
                <a:lnTo>
                  <a:pt x="43000" y="334059"/>
                </a:lnTo>
                <a:lnTo>
                  <a:pt x="61073" y="295614"/>
                </a:lnTo>
                <a:lnTo>
                  <a:pt x="81974" y="258868"/>
                </a:lnTo>
                <a:lnTo>
                  <a:pt x="105562" y="223963"/>
                </a:lnTo>
                <a:lnTo>
                  <a:pt x="131697" y="191038"/>
                </a:lnTo>
                <a:lnTo>
                  <a:pt x="160235" y="160235"/>
                </a:lnTo>
                <a:lnTo>
                  <a:pt x="191038" y="131697"/>
                </a:lnTo>
                <a:lnTo>
                  <a:pt x="223963" y="105562"/>
                </a:lnTo>
                <a:lnTo>
                  <a:pt x="258868" y="81974"/>
                </a:lnTo>
                <a:lnTo>
                  <a:pt x="295614" y="61073"/>
                </a:lnTo>
                <a:lnTo>
                  <a:pt x="334059" y="43000"/>
                </a:lnTo>
                <a:lnTo>
                  <a:pt x="374061" y="27896"/>
                </a:lnTo>
                <a:lnTo>
                  <a:pt x="415480" y="15903"/>
                </a:lnTo>
                <a:lnTo>
                  <a:pt x="458174" y="7162"/>
                </a:lnTo>
                <a:lnTo>
                  <a:pt x="502002" y="1814"/>
                </a:lnTo>
                <a:lnTo>
                  <a:pt x="546823" y="0"/>
                </a:lnTo>
                <a:lnTo>
                  <a:pt x="591645" y="1814"/>
                </a:lnTo>
                <a:lnTo>
                  <a:pt x="635473" y="7162"/>
                </a:lnTo>
                <a:lnTo>
                  <a:pt x="678167" y="15903"/>
                </a:lnTo>
                <a:lnTo>
                  <a:pt x="719587" y="27896"/>
                </a:lnTo>
                <a:lnTo>
                  <a:pt x="759590" y="43000"/>
                </a:lnTo>
                <a:lnTo>
                  <a:pt x="798035" y="61073"/>
                </a:lnTo>
                <a:lnTo>
                  <a:pt x="834782" y="81974"/>
                </a:lnTo>
                <a:lnTo>
                  <a:pt x="869689" y="105562"/>
                </a:lnTo>
                <a:lnTo>
                  <a:pt x="902614" y="131697"/>
                </a:lnTo>
                <a:lnTo>
                  <a:pt x="933418" y="160235"/>
                </a:lnTo>
                <a:lnTo>
                  <a:pt x="961958" y="191038"/>
                </a:lnTo>
                <a:lnTo>
                  <a:pt x="988093" y="223963"/>
                </a:lnTo>
                <a:lnTo>
                  <a:pt x="1011682" y="258868"/>
                </a:lnTo>
                <a:lnTo>
                  <a:pt x="1032584" y="295614"/>
                </a:lnTo>
                <a:lnTo>
                  <a:pt x="1050658" y="334059"/>
                </a:lnTo>
                <a:lnTo>
                  <a:pt x="1065762" y="374061"/>
                </a:lnTo>
                <a:lnTo>
                  <a:pt x="1077756" y="415480"/>
                </a:lnTo>
                <a:lnTo>
                  <a:pt x="1086497" y="458174"/>
                </a:lnTo>
                <a:lnTo>
                  <a:pt x="1091846" y="502002"/>
                </a:lnTo>
                <a:lnTo>
                  <a:pt x="1093660" y="546823"/>
                </a:lnTo>
                <a:lnTo>
                  <a:pt x="1091846" y="591645"/>
                </a:lnTo>
                <a:lnTo>
                  <a:pt x="1086497" y="635473"/>
                </a:lnTo>
                <a:lnTo>
                  <a:pt x="1077756" y="678167"/>
                </a:lnTo>
                <a:lnTo>
                  <a:pt x="1065762" y="719587"/>
                </a:lnTo>
                <a:lnTo>
                  <a:pt x="1050658" y="759590"/>
                </a:lnTo>
                <a:lnTo>
                  <a:pt x="1032584" y="798035"/>
                </a:lnTo>
                <a:lnTo>
                  <a:pt x="1011682" y="834782"/>
                </a:lnTo>
                <a:lnTo>
                  <a:pt x="988093" y="869689"/>
                </a:lnTo>
                <a:lnTo>
                  <a:pt x="961958" y="902614"/>
                </a:lnTo>
                <a:lnTo>
                  <a:pt x="933418" y="933418"/>
                </a:lnTo>
                <a:lnTo>
                  <a:pt x="902614" y="961958"/>
                </a:lnTo>
                <a:lnTo>
                  <a:pt x="869689" y="988093"/>
                </a:lnTo>
                <a:lnTo>
                  <a:pt x="834782" y="1011682"/>
                </a:lnTo>
                <a:lnTo>
                  <a:pt x="798035" y="1032584"/>
                </a:lnTo>
                <a:lnTo>
                  <a:pt x="759590" y="1050658"/>
                </a:lnTo>
                <a:lnTo>
                  <a:pt x="719587" y="1065762"/>
                </a:lnTo>
                <a:lnTo>
                  <a:pt x="678167" y="1077756"/>
                </a:lnTo>
                <a:lnTo>
                  <a:pt x="635473" y="1086497"/>
                </a:lnTo>
                <a:lnTo>
                  <a:pt x="591645" y="1091846"/>
                </a:lnTo>
                <a:lnTo>
                  <a:pt x="546823" y="10936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74765" y="2196439"/>
            <a:ext cx="1383030" cy="1383030"/>
          </a:xfrm>
          <a:custGeom>
            <a:avLst/>
            <a:gdLst/>
            <a:ahLst/>
            <a:cxnLst/>
            <a:rect l="l" t="t" r="r" b="b"/>
            <a:pathLst>
              <a:path w="1383029" h="1383029">
                <a:moveTo>
                  <a:pt x="691502" y="1382991"/>
                </a:moveTo>
                <a:lnTo>
                  <a:pt x="634823" y="1380697"/>
                </a:lnTo>
                <a:lnTo>
                  <a:pt x="579399" y="1373934"/>
                </a:lnTo>
                <a:lnTo>
                  <a:pt x="525410" y="1362880"/>
                </a:lnTo>
                <a:lnTo>
                  <a:pt x="473033" y="1347715"/>
                </a:lnTo>
                <a:lnTo>
                  <a:pt x="422447" y="1328615"/>
                </a:lnTo>
                <a:lnTo>
                  <a:pt x="373831" y="1305761"/>
                </a:lnTo>
                <a:lnTo>
                  <a:pt x="327363" y="1279330"/>
                </a:lnTo>
                <a:lnTo>
                  <a:pt x="283221" y="1249502"/>
                </a:lnTo>
                <a:lnTo>
                  <a:pt x="241585" y="1216453"/>
                </a:lnTo>
                <a:lnTo>
                  <a:pt x="202633" y="1180364"/>
                </a:lnTo>
                <a:lnTo>
                  <a:pt x="166543" y="1141413"/>
                </a:lnTo>
                <a:lnTo>
                  <a:pt x="133494" y="1099778"/>
                </a:lnTo>
                <a:lnTo>
                  <a:pt x="103664" y="1055637"/>
                </a:lnTo>
                <a:lnTo>
                  <a:pt x="77233" y="1009170"/>
                </a:lnTo>
                <a:lnTo>
                  <a:pt x="54378" y="960555"/>
                </a:lnTo>
                <a:lnTo>
                  <a:pt x="35278" y="909969"/>
                </a:lnTo>
                <a:lnTo>
                  <a:pt x="20111" y="857593"/>
                </a:lnTo>
                <a:lnTo>
                  <a:pt x="9057" y="803604"/>
                </a:lnTo>
                <a:lnTo>
                  <a:pt x="2294" y="748181"/>
                </a:lnTo>
                <a:lnTo>
                  <a:pt x="0" y="691502"/>
                </a:lnTo>
                <a:lnTo>
                  <a:pt x="2294" y="634823"/>
                </a:lnTo>
                <a:lnTo>
                  <a:pt x="9057" y="579399"/>
                </a:lnTo>
                <a:lnTo>
                  <a:pt x="20111" y="525410"/>
                </a:lnTo>
                <a:lnTo>
                  <a:pt x="35278" y="473033"/>
                </a:lnTo>
                <a:lnTo>
                  <a:pt x="54378" y="422447"/>
                </a:lnTo>
                <a:lnTo>
                  <a:pt x="77233" y="373831"/>
                </a:lnTo>
                <a:lnTo>
                  <a:pt x="103664" y="327363"/>
                </a:lnTo>
                <a:lnTo>
                  <a:pt x="133494" y="283221"/>
                </a:lnTo>
                <a:lnTo>
                  <a:pt x="166543" y="241585"/>
                </a:lnTo>
                <a:lnTo>
                  <a:pt x="202633" y="202633"/>
                </a:lnTo>
                <a:lnTo>
                  <a:pt x="241585" y="166543"/>
                </a:lnTo>
                <a:lnTo>
                  <a:pt x="283221" y="133494"/>
                </a:lnTo>
                <a:lnTo>
                  <a:pt x="327363" y="103664"/>
                </a:lnTo>
                <a:lnTo>
                  <a:pt x="373831" y="77233"/>
                </a:lnTo>
                <a:lnTo>
                  <a:pt x="422447" y="54378"/>
                </a:lnTo>
                <a:lnTo>
                  <a:pt x="473033" y="35278"/>
                </a:lnTo>
                <a:lnTo>
                  <a:pt x="525410" y="20111"/>
                </a:lnTo>
                <a:lnTo>
                  <a:pt x="579399" y="9057"/>
                </a:lnTo>
                <a:lnTo>
                  <a:pt x="634823" y="2294"/>
                </a:lnTo>
                <a:lnTo>
                  <a:pt x="691502" y="0"/>
                </a:lnTo>
                <a:lnTo>
                  <a:pt x="748181" y="2294"/>
                </a:lnTo>
                <a:lnTo>
                  <a:pt x="803604" y="9057"/>
                </a:lnTo>
                <a:lnTo>
                  <a:pt x="857593" y="20111"/>
                </a:lnTo>
                <a:lnTo>
                  <a:pt x="909969" y="35278"/>
                </a:lnTo>
                <a:lnTo>
                  <a:pt x="960555" y="54378"/>
                </a:lnTo>
                <a:lnTo>
                  <a:pt x="1009170" y="77233"/>
                </a:lnTo>
                <a:lnTo>
                  <a:pt x="1055637" y="103664"/>
                </a:lnTo>
                <a:lnTo>
                  <a:pt x="1099778" y="133494"/>
                </a:lnTo>
                <a:lnTo>
                  <a:pt x="1141413" y="166543"/>
                </a:lnTo>
                <a:lnTo>
                  <a:pt x="1180364" y="202633"/>
                </a:lnTo>
                <a:lnTo>
                  <a:pt x="1216453" y="241585"/>
                </a:lnTo>
                <a:lnTo>
                  <a:pt x="1249502" y="283221"/>
                </a:lnTo>
                <a:lnTo>
                  <a:pt x="1279330" y="327363"/>
                </a:lnTo>
                <a:lnTo>
                  <a:pt x="1305761" y="373831"/>
                </a:lnTo>
                <a:lnTo>
                  <a:pt x="1328615" y="422447"/>
                </a:lnTo>
                <a:lnTo>
                  <a:pt x="1347715" y="473033"/>
                </a:lnTo>
                <a:lnTo>
                  <a:pt x="1362880" y="525410"/>
                </a:lnTo>
                <a:lnTo>
                  <a:pt x="1373934" y="579399"/>
                </a:lnTo>
                <a:lnTo>
                  <a:pt x="1380697" y="634823"/>
                </a:lnTo>
                <a:lnTo>
                  <a:pt x="1382991" y="691502"/>
                </a:lnTo>
                <a:lnTo>
                  <a:pt x="1380697" y="748181"/>
                </a:lnTo>
                <a:lnTo>
                  <a:pt x="1373934" y="803604"/>
                </a:lnTo>
                <a:lnTo>
                  <a:pt x="1362880" y="857593"/>
                </a:lnTo>
                <a:lnTo>
                  <a:pt x="1347715" y="909969"/>
                </a:lnTo>
                <a:lnTo>
                  <a:pt x="1328615" y="960555"/>
                </a:lnTo>
                <a:lnTo>
                  <a:pt x="1305761" y="1009170"/>
                </a:lnTo>
                <a:lnTo>
                  <a:pt x="1279330" y="1055637"/>
                </a:lnTo>
                <a:lnTo>
                  <a:pt x="1249502" y="1099778"/>
                </a:lnTo>
                <a:lnTo>
                  <a:pt x="1216453" y="1141413"/>
                </a:lnTo>
                <a:lnTo>
                  <a:pt x="1180364" y="1180364"/>
                </a:lnTo>
                <a:lnTo>
                  <a:pt x="1141413" y="1216453"/>
                </a:lnTo>
                <a:lnTo>
                  <a:pt x="1099778" y="1249502"/>
                </a:lnTo>
                <a:lnTo>
                  <a:pt x="1055637" y="1279330"/>
                </a:lnTo>
                <a:lnTo>
                  <a:pt x="1009170" y="1305761"/>
                </a:lnTo>
                <a:lnTo>
                  <a:pt x="960555" y="1328615"/>
                </a:lnTo>
                <a:lnTo>
                  <a:pt x="909969" y="1347715"/>
                </a:lnTo>
                <a:lnTo>
                  <a:pt x="857593" y="1362880"/>
                </a:lnTo>
                <a:lnTo>
                  <a:pt x="803604" y="1373934"/>
                </a:lnTo>
                <a:lnTo>
                  <a:pt x="748181" y="1380697"/>
                </a:lnTo>
                <a:lnTo>
                  <a:pt x="691502" y="1382991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79759" y="1810562"/>
            <a:ext cx="1762125" cy="1762125"/>
          </a:xfrm>
          <a:custGeom>
            <a:avLst/>
            <a:gdLst/>
            <a:ahLst/>
            <a:cxnLst/>
            <a:rect l="l" t="t" r="r" b="b"/>
            <a:pathLst>
              <a:path w="1762125" h="1762125">
                <a:moveTo>
                  <a:pt x="880884" y="1761769"/>
                </a:moveTo>
                <a:lnTo>
                  <a:pt x="808683" y="1758847"/>
                </a:lnTo>
                <a:lnTo>
                  <a:pt x="738080" y="1750231"/>
                </a:lnTo>
                <a:lnTo>
                  <a:pt x="669305" y="1736150"/>
                </a:lnTo>
                <a:lnTo>
                  <a:pt x="602583" y="1716830"/>
                </a:lnTo>
                <a:lnTo>
                  <a:pt x="538144" y="1692500"/>
                </a:lnTo>
                <a:lnTo>
                  <a:pt x="476213" y="1663386"/>
                </a:lnTo>
                <a:lnTo>
                  <a:pt x="417018" y="1629716"/>
                </a:lnTo>
                <a:lnTo>
                  <a:pt x="360788" y="1591718"/>
                </a:lnTo>
                <a:lnTo>
                  <a:pt x="307749" y="1549618"/>
                </a:lnTo>
                <a:lnTo>
                  <a:pt x="258129" y="1503645"/>
                </a:lnTo>
                <a:lnTo>
                  <a:pt x="212155" y="1454025"/>
                </a:lnTo>
                <a:lnTo>
                  <a:pt x="170054" y="1400986"/>
                </a:lnTo>
                <a:lnTo>
                  <a:pt x="132055" y="1344756"/>
                </a:lnTo>
                <a:lnTo>
                  <a:pt x="98385" y="1285561"/>
                </a:lnTo>
                <a:lnTo>
                  <a:pt x="69270" y="1223630"/>
                </a:lnTo>
                <a:lnTo>
                  <a:pt x="44939" y="1159190"/>
                </a:lnTo>
                <a:lnTo>
                  <a:pt x="25619" y="1092468"/>
                </a:lnTo>
                <a:lnTo>
                  <a:pt x="11538" y="1023691"/>
                </a:lnTo>
                <a:lnTo>
                  <a:pt x="2922" y="953087"/>
                </a:lnTo>
                <a:lnTo>
                  <a:pt x="0" y="880884"/>
                </a:lnTo>
                <a:lnTo>
                  <a:pt x="2922" y="808683"/>
                </a:lnTo>
                <a:lnTo>
                  <a:pt x="11538" y="738080"/>
                </a:lnTo>
                <a:lnTo>
                  <a:pt x="25619" y="669305"/>
                </a:lnTo>
                <a:lnTo>
                  <a:pt x="44939" y="602583"/>
                </a:lnTo>
                <a:lnTo>
                  <a:pt x="69270" y="538144"/>
                </a:lnTo>
                <a:lnTo>
                  <a:pt x="98385" y="476213"/>
                </a:lnTo>
                <a:lnTo>
                  <a:pt x="132055" y="417018"/>
                </a:lnTo>
                <a:lnTo>
                  <a:pt x="170054" y="360788"/>
                </a:lnTo>
                <a:lnTo>
                  <a:pt x="212155" y="307749"/>
                </a:lnTo>
                <a:lnTo>
                  <a:pt x="258129" y="258129"/>
                </a:lnTo>
                <a:lnTo>
                  <a:pt x="307749" y="212155"/>
                </a:lnTo>
                <a:lnTo>
                  <a:pt x="360788" y="170054"/>
                </a:lnTo>
                <a:lnTo>
                  <a:pt x="417018" y="132055"/>
                </a:lnTo>
                <a:lnTo>
                  <a:pt x="476213" y="98385"/>
                </a:lnTo>
                <a:lnTo>
                  <a:pt x="538144" y="69270"/>
                </a:lnTo>
                <a:lnTo>
                  <a:pt x="602583" y="44939"/>
                </a:lnTo>
                <a:lnTo>
                  <a:pt x="669305" y="25619"/>
                </a:lnTo>
                <a:lnTo>
                  <a:pt x="738080" y="11538"/>
                </a:lnTo>
                <a:lnTo>
                  <a:pt x="808683" y="2922"/>
                </a:lnTo>
                <a:lnTo>
                  <a:pt x="880884" y="0"/>
                </a:lnTo>
                <a:lnTo>
                  <a:pt x="953087" y="2922"/>
                </a:lnTo>
                <a:lnTo>
                  <a:pt x="1023691" y="11538"/>
                </a:lnTo>
                <a:lnTo>
                  <a:pt x="1092468" y="25619"/>
                </a:lnTo>
                <a:lnTo>
                  <a:pt x="1159190" y="44939"/>
                </a:lnTo>
                <a:lnTo>
                  <a:pt x="1223630" y="69270"/>
                </a:lnTo>
                <a:lnTo>
                  <a:pt x="1285561" y="98385"/>
                </a:lnTo>
                <a:lnTo>
                  <a:pt x="1344756" y="132055"/>
                </a:lnTo>
                <a:lnTo>
                  <a:pt x="1400986" y="170054"/>
                </a:lnTo>
                <a:lnTo>
                  <a:pt x="1454025" y="212155"/>
                </a:lnTo>
                <a:lnTo>
                  <a:pt x="1503645" y="258129"/>
                </a:lnTo>
                <a:lnTo>
                  <a:pt x="1549618" y="307749"/>
                </a:lnTo>
                <a:lnTo>
                  <a:pt x="1591718" y="360788"/>
                </a:lnTo>
                <a:lnTo>
                  <a:pt x="1629716" y="417018"/>
                </a:lnTo>
                <a:lnTo>
                  <a:pt x="1663386" y="476213"/>
                </a:lnTo>
                <a:lnTo>
                  <a:pt x="1692500" y="538144"/>
                </a:lnTo>
                <a:lnTo>
                  <a:pt x="1716830" y="602583"/>
                </a:lnTo>
                <a:lnTo>
                  <a:pt x="1736150" y="669305"/>
                </a:lnTo>
                <a:lnTo>
                  <a:pt x="1750231" y="738080"/>
                </a:lnTo>
                <a:lnTo>
                  <a:pt x="1758847" y="808683"/>
                </a:lnTo>
                <a:lnTo>
                  <a:pt x="1761769" y="880884"/>
                </a:lnTo>
                <a:lnTo>
                  <a:pt x="1758847" y="953087"/>
                </a:lnTo>
                <a:lnTo>
                  <a:pt x="1750231" y="1023691"/>
                </a:lnTo>
                <a:lnTo>
                  <a:pt x="1736150" y="1092468"/>
                </a:lnTo>
                <a:lnTo>
                  <a:pt x="1716830" y="1159190"/>
                </a:lnTo>
                <a:lnTo>
                  <a:pt x="1692500" y="1223630"/>
                </a:lnTo>
                <a:lnTo>
                  <a:pt x="1663386" y="1285561"/>
                </a:lnTo>
                <a:lnTo>
                  <a:pt x="1629716" y="1344756"/>
                </a:lnTo>
                <a:lnTo>
                  <a:pt x="1591718" y="1400986"/>
                </a:lnTo>
                <a:lnTo>
                  <a:pt x="1549618" y="1454025"/>
                </a:lnTo>
                <a:lnTo>
                  <a:pt x="1503645" y="1503645"/>
                </a:lnTo>
                <a:lnTo>
                  <a:pt x="1454025" y="1549618"/>
                </a:lnTo>
                <a:lnTo>
                  <a:pt x="1400986" y="1591718"/>
                </a:lnTo>
                <a:lnTo>
                  <a:pt x="1344756" y="1629716"/>
                </a:lnTo>
                <a:lnTo>
                  <a:pt x="1285561" y="1663386"/>
                </a:lnTo>
                <a:lnTo>
                  <a:pt x="1223630" y="1692500"/>
                </a:lnTo>
                <a:lnTo>
                  <a:pt x="1159190" y="1716830"/>
                </a:lnTo>
                <a:lnTo>
                  <a:pt x="1092468" y="1736150"/>
                </a:lnTo>
                <a:lnTo>
                  <a:pt x="1023691" y="1750231"/>
                </a:lnTo>
                <a:lnTo>
                  <a:pt x="953087" y="1758847"/>
                </a:lnTo>
                <a:lnTo>
                  <a:pt x="880884" y="176176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95051" y="2995879"/>
            <a:ext cx="1279525" cy="1279525"/>
          </a:xfrm>
          <a:custGeom>
            <a:avLst/>
            <a:gdLst/>
            <a:ahLst/>
            <a:cxnLst/>
            <a:rect l="l" t="t" r="r" b="b"/>
            <a:pathLst>
              <a:path w="1279525" h="1279525">
                <a:moveTo>
                  <a:pt x="639457" y="1278915"/>
                </a:moveTo>
                <a:lnTo>
                  <a:pt x="587045" y="1276793"/>
                </a:lnTo>
                <a:lnTo>
                  <a:pt x="535793" y="1270539"/>
                </a:lnTo>
                <a:lnTo>
                  <a:pt x="485867" y="1260317"/>
                </a:lnTo>
                <a:lnTo>
                  <a:pt x="437432" y="1246292"/>
                </a:lnTo>
                <a:lnTo>
                  <a:pt x="390654" y="1228629"/>
                </a:lnTo>
                <a:lnTo>
                  <a:pt x="345696" y="1207494"/>
                </a:lnTo>
                <a:lnTo>
                  <a:pt x="302726" y="1183052"/>
                </a:lnTo>
                <a:lnTo>
                  <a:pt x="261907" y="1155467"/>
                </a:lnTo>
                <a:lnTo>
                  <a:pt x="223404" y="1124905"/>
                </a:lnTo>
                <a:lnTo>
                  <a:pt x="187383" y="1091531"/>
                </a:lnTo>
                <a:lnTo>
                  <a:pt x="154009" y="1055510"/>
                </a:lnTo>
                <a:lnTo>
                  <a:pt x="123448" y="1017008"/>
                </a:lnTo>
                <a:lnTo>
                  <a:pt x="95863" y="976189"/>
                </a:lnTo>
                <a:lnTo>
                  <a:pt x="71420" y="933218"/>
                </a:lnTo>
                <a:lnTo>
                  <a:pt x="50285" y="888261"/>
                </a:lnTo>
                <a:lnTo>
                  <a:pt x="32623" y="841482"/>
                </a:lnTo>
                <a:lnTo>
                  <a:pt x="18598" y="793047"/>
                </a:lnTo>
                <a:lnTo>
                  <a:pt x="8375" y="743122"/>
                </a:lnTo>
                <a:lnTo>
                  <a:pt x="2121" y="691870"/>
                </a:lnTo>
                <a:lnTo>
                  <a:pt x="0" y="639457"/>
                </a:lnTo>
                <a:lnTo>
                  <a:pt x="2121" y="587045"/>
                </a:lnTo>
                <a:lnTo>
                  <a:pt x="8375" y="535793"/>
                </a:lnTo>
                <a:lnTo>
                  <a:pt x="18598" y="485867"/>
                </a:lnTo>
                <a:lnTo>
                  <a:pt x="32623" y="437432"/>
                </a:lnTo>
                <a:lnTo>
                  <a:pt x="50285" y="390654"/>
                </a:lnTo>
                <a:lnTo>
                  <a:pt x="71420" y="345696"/>
                </a:lnTo>
                <a:lnTo>
                  <a:pt x="95863" y="302726"/>
                </a:lnTo>
                <a:lnTo>
                  <a:pt x="123448" y="261907"/>
                </a:lnTo>
                <a:lnTo>
                  <a:pt x="154009" y="223404"/>
                </a:lnTo>
                <a:lnTo>
                  <a:pt x="187383" y="187383"/>
                </a:lnTo>
                <a:lnTo>
                  <a:pt x="223404" y="154009"/>
                </a:lnTo>
                <a:lnTo>
                  <a:pt x="261907" y="123448"/>
                </a:lnTo>
                <a:lnTo>
                  <a:pt x="302726" y="95863"/>
                </a:lnTo>
                <a:lnTo>
                  <a:pt x="345696" y="71420"/>
                </a:lnTo>
                <a:lnTo>
                  <a:pt x="390654" y="50285"/>
                </a:lnTo>
                <a:lnTo>
                  <a:pt x="437432" y="32623"/>
                </a:lnTo>
                <a:lnTo>
                  <a:pt x="485867" y="18598"/>
                </a:lnTo>
                <a:lnTo>
                  <a:pt x="535793" y="8375"/>
                </a:lnTo>
                <a:lnTo>
                  <a:pt x="587045" y="2121"/>
                </a:lnTo>
                <a:lnTo>
                  <a:pt x="639457" y="0"/>
                </a:lnTo>
                <a:lnTo>
                  <a:pt x="691872" y="2121"/>
                </a:lnTo>
                <a:lnTo>
                  <a:pt x="743125" y="8375"/>
                </a:lnTo>
                <a:lnTo>
                  <a:pt x="793052" y="18598"/>
                </a:lnTo>
                <a:lnTo>
                  <a:pt x="841487" y="32623"/>
                </a:lnTo>
                <a:lnTo>
                  <a:pt x="888266" y="50285"/>
                </a:lnTo>
                <a:lnTo>
                  <a:pt x="933224" y="71420"/>
                </a:lnTo>
                <a:lnTo>
                  <a:pt x="976194" y="95863"/>
                </a:lnTo>
                <a:lnTo>
                  <a:pt x="1017013" y="123448"/>
                </a:lnTo>
                <a:lnTo>
                  <a:pt x="1055516" y="154009"/>
                </a:lnTo>
                <a:lnTo>
                  <a:pt x="1091536" y="187383"/>
                </a:lnTo>
                <a:lnTo>
                  <a:pt x="1124909" y="223404"/>
                </a:lnTo>
                <a:lnTo>
                  <a:pt x="1155470" y="261907"/>
                </a:lnTo>
                <a:lnTo>
                  <a:pt x="1183055" y="302726"/>
                </a:lnTo>
                <a:lnTo>
                  <a:pt x="1207496" y="345696"/>
                </a:lnTo>
                <a:lnTo>
                  <a:pt x="1228631" y="390654"/>
                </a:lnTo>
                <a:lnTo>
                  <a:pt x="1246293" y="437432"/>
                </a:lnTo>
                <a:lnTo>
                  <a:pt x="1260317" y="485867"/>
                </a:lnTo>
                <a:lnTo>
                  <a:pt x="1270539" y="535793"/>
                </a:lnTo>
                <a:lnTo>
                  <a:pt x="1276793" y="587045"/>
                </a:lnTo>
                <a:lnTo>
                  <a:pt x="1278915" y="639457"/>
                </a:lnTo>
                <a:lnTo>
                  <a:pt x="1276793" y="691870"/>
                </a:lnTo>
                <a:lnTo>
                  <a:pt x="1270539" y="743122"/>
                </a:lnTo>
                <a:lnTo>
                  <a:pt x="1260317" y="793047"/>
                </a:lnTo>
                <a:lnTo>
                  <a:pt x="1246293" y="841482"/>
                </a:lnTo>
                <a:lnTo>
                  <a:pt x="1228631" y="888261"/>
                </a:lnTo>
                <a:lnTo>
                  <a:pt x="1207496" y="933218"/>
                </a:lnTo>
                <a:lnTo>
                  <a:pt x="1183055" y="976189"/>
                </a:lnTo>
                <a:lnTo>
                  <a:pt x="1155470" y="1017008"/>
                </a:lnTo>
                <a:lnTo>
                  <a:pt x="1124909" y="1055510"/>
                </a:lnTo>
                <a:lnTo>
                  <a:pt x="1091536" y="1091531"/>
                </a:lnTo>
                <a:lnTo>
                  <a:pt x="1055516" y="1124905"/>
                </a:lnTo>
                <a:lnTo>
                  <a:pt x="1017013" y="1155467"/>
                </a:lnTo>
                <a:lnTo>
                  <a:pt x="976194" y="1183052"/>
                </a:lnTo>
                <a:lnTo>
                  <a:pt x="933224" y="1207494"/>
                </a:lnTo>
                <a:lnTo>
                  <a:pt x="888266" y="1228629"/>
                </a:lnTo>
                <a:lnTo>
                  <a:pt x="841487" y="1246292"/>
                </a:lnTo>
                <a:lnTo>
                  <a:pt x="793052" y="1260317"/>
                </a:lnTo>
                <a:lnTo>
                  <a:pt x="743125" y="1270539"/>
                </a:lnTo>
                <a:lnTo>
                  <a:pt x="691872" y="1276793"/>
                </a:lnTo>
                <a:lnTo>
                  <a:pt x="639457" y="1278915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17237" y="3499949"/>
            <a:ext cx="43688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29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3200" b="1" spc="-3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242369" y="2527022"/>
            <a:ext cx="635635" cy="532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37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4000" b="1" spc="36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39458" y="2769156"/>
            <a:ext cx="45275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26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2800" b="1" spc="254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4115" y="3346558"/>
            <a:ext cx="3917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22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2400" b="1" spc="215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5398" y="2219107"/>
            <a:ext cx="332676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30800"/>
              </a:lnSpc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物流园区正从传统物业管理升级为供应链协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同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平台，需解决动态拥堵、智能仓储、安全管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理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等痛点，实现高效协同与数字化决策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5398" y="4114303"/>
            <a:ext cx="28778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智能仓储升级的价值与协同需</a:t>
            </a:r>
            <a:r>
              <a:rPr sz="1600" b="1" spc="-20" dirty="0">
                <a:latin typeface="Microsoft JhengHei"/>
                <a:cs typeface="Microsoft JhengHei"/>
              </a:rPr>
              <a:t>求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5398" y="1757234"/>
            <a:ext cx="26739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现代物流园区管理的核心诉</a:t>
            </a:r>
            <a:r>
              <a:rPr sz="1600" b="1" spc="-20" dirty="0">
                <a:latin typeface="Microsoft JhengHei"/>
                <a:cs typeface="Microsoft JhengHei"/>
              </a:rPr>
              <a:t>求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5398" y="4530444"/>
            <a:ext cx="332676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30800"/>
              </a:lnSpc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高度智能化设备需兼具预知性与协同性，避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免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资源浪费；通过设备运行与转运能力协同，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提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升仓储效率与空间利用率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63838" y="2219107"/>
            <a:ext cx="332676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30800"/>
              </a:lnSpc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车辆高峰期集中到达导致内外拥堵，需通过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预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约机制、智能导引和路径优化，实现</a:t>
            </a:r>
            <a:r>
              <a:rPr sz="1300" spc="865" dirty="0">
                <a:solidFill>
                  <a:srgbClr val="404040"/>
                </a:solidFill>
                <a:latin typeface="Arial Unicode MS"/>
                <a:cs typeface="Arial Unicode MS"/>
              </a:rPr>
              <a:t>“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快进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快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出</a:t>
            </a:r>
            <a:r>
              <a:rPr sz="1300" spc="865" dirty="0">
                <a:solidFill>
                  <a:srgbClr val="404040"/>
                </a:solidFill>
                <a:latin typeface="Arial Unicode MS"/>
                <a:cs typeface="Arial Unicode MS"/>
              </a:rPr>
              <a:t>”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，压缩停留时间至最短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3838" y="1757234"/>
            <a:ext cx="28778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车场与交通管理的动态拥堵挑</a:t>
            </a:r>
            <a:r>
              <a:rPr sz="1600" b="1" spc="-20" dirty="0">
                <a:latin typeface="Microsoft JhengHei"/>
                <a:cs typeface="Microsoft JhengHei"/>
              </a:rPr>
              <a:t>战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63838" y="4114303"/>
            <a:ext cx="226631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安全管理一体化协同体</a:t>
            </a:r>
            <a:r>
              <a:rPr sz="1600" b="1" spc="-20" dirty="0">
                <a:latin typeface="Microsoft JhengHei"/>
                <a:cs typeface="Microsoft JhengHei"/>
              </a:rPr>
              <a:t>系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63838" y="4530444"/>
            <a:ext cx="332676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30800"/>
              </a:lnSpc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园区人员与设备协同复杂，需建立</a:t>
            </a:r>
            <a:r>
              <a:rPr sz="1300" spc="865" dirty="0">
                <a:solidFill>
                  <a:srgbClr val="404040"/>
                </a:solidFill>
                <a:latin typeface="Arial Unicode MS"/>
                <a:cs typeface="Arial Unicode MS"/>
              </a:rPr>
              <a:t>“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人技物</a:t>
            </a:r>
            <a:r>
              <a:rPr sz="1300" spc="860" dirty="0">
                <a:solidFill>
                  <a:srgbClr val="404040"/>
                </a:solidFill>
                <a:latin typeface="Arial Unicode MS"/>
                <a:cs typeface="Arial Unicode MS"/>
              </a:rPr>
              <a:t>”</a:t>
            </a:r>
            <a:r>
              <a:rPr sz="1300" spc="71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一体化体系，覆盖全业务环节，确保安全与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执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行可控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核心诉求与目</a:t>
            </a:r>
            <a:r>
              <a:rPr spc="-30" dirty="0"/>
              <a:t>标</a:t>
            </a:r>
          </a:p>
        </p:txBody>
      </p:sp>
      <p:sp>
        <p:nvSpPr>
          <p:cNvPr id="3" name="object 3"/>
          <p:cNvSpPr/>
          <p:nvPr/>
        </p:nvSpPr>
        <p:spPr>
          <a:xfrm>
            <a:off x="5842228" y="2956191"/>
            <a:ext cx="2009546" cy="8623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15900" y="3233318"/>
            <a:ext cx="96393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服</a:t>
            </a:r>
            <a:r>
              <a:rPr sz="1400" dirty="0">
                <a:latin typeface="Arial Unicode MS"/>
                <a:cs typeface="Arial Unicode MS"/>
              </a:rPr>
              <a:t>务</a:t>
            </a:r>
            <a:r>
              <a:rPr sz="1400" spc="60" dirty="0">
                <a:latin typeface="Arial Unicode MS"/>
                <a:cs typeface="Arial Unicode MS"/>
              </a:rPr>
              <a:t> </a:t>
            </a:r>
            <a:r>
              <a:rPr sz="1400" spc="55" dirty="0">
                <a:latin typeface="Arial Unicode MS"/>
                <a:cs typeface="Arial Unicode MS"/>
              </a:rPr>
              <a:t>×</a:t>
            </a:r>
            <a:r>
              <a:rPr sz="1400" spc="60" dirty="0">
                <a:latin typeface="Arial Unicode MS"/>
                <a:cs typeface="Arial Unicode MS"/>
              </a:rPr>
              <a:t> </a:t>
            </a:r>
            <a:r>
              <a:rPr sz="1400" spc="-5" dirty="0">
                <a:latin typeface="Arial Unicode MS"/>
                <a:cs typeface="Arial Unicode MS"/>
              </a:rPr>
              <a:t>能</a:t>
            </a:r>
            <a:r>
              <a:rPr sz="1400" dirty="0">
                <a:latin typeface="Arial Unicode MS"/>
                <a:cs typeface="Arial Unicode MS"/>
              </a:rPr>
              <a:t>力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06225" y="2385745"/>
            <a:ext cx="2009546" cy="8623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78005" y="2662872"/>
            <a:ext cx="9677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仓库</a:t>
            </a:r>
            <a:r>
              <a:rPr sz="1400" b="1" spc="105" dirty="0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sz="1400" b="1" spc="-180" dirty="0">
                <a:solidFill>
                  <a:srgbClr val="FFFFFF"/>
                </a:solidFill>
                <a:latin typeface="Microsoft JhengHei"/>
                <a:cs typeface="Microsoft JhengHei"/>
              </a:rPr>
              <a:t>×</a:t>
            </a:r>
            <a:r>
              <a:rPr sz="1400" b="1" spc="110" dirty="0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配送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74259" y="4755870"/>
            <a:ext cx="2009546" cy="8623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47943" y="5032997"/>
            <a:ext cx="96393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时</a:t>
            </a:r>
            <a:r>
              <a:rPr sz="1400" dirty="0">
                <a:latin typeface="Arial Unicode MS"/>
                <a:cs typeface="Arial Unicode MS"/>
              </a:rPr>
              <a:t>间</a:t>
            </a:r>
            <a:r>
              <a:rPr sz="1400" spc="60" dirty="0">
                <a:latin typeface="Arial Unicode MS"/>
                <a:cs typeface="Arial Unicode MS"/>
              </a:rPr>
              <a:t> </a:t>
            </a:r>
            <a:r>
              <a:rPr sz="1400" spc="55" dirty="0">
                <a:latin typeface="Arial Unicode MS"/>
                <a:cs typeface="Arial Unicode MS"/>
              </a:rPr>
              <a:t>×</a:t>
            </a:r>
            <a:r>
              <a:rPr sz="1400" spc="60" dirty="0">
                <a:latin typeface="Arial Unicode MS"/>
                <a:cs typeface="Arial Unicode MS"/>
              </a:rPr>
              <a:t> </a:t>
            </a:r>
            <a:r>
              <a:rPr sz="1400" spc="-5" dirty="0">
                <a:latin typeface="Arial Unicode MS"/>
                <a:cs typeface="Arial Unicode MS"/>
              </a:rPr>
              <a:t>效</a:t>
            </a:r>
            <a:r>
              <a:rPr sz="1400" dirty="0">
                <a:latin typeface="Arial Unicode MS"/>
                <a:cs typeface="Arial Unicode MS"/>
              </a:rPr>
              <a:t>率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38192" y="4181881"/>
            <a:ext cx="2009546" cy="8623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09959" y="4459007"/>
            <a:ext cx="9677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司机</a:t>
            </a:r>
            <a:r>
              <a:rPr sz="1400" b="1" spc="110" dirty="0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sz="1400" b="1" spc="-180" dirty="0">
                <a:solidFill>
                  <a:srgbClr val="FFFFFF"/>
                </a:solidFill>
                <a:latin typeface="Microsoft JhengHei"/>
                <a:cs typeface="Microsoft JhengHei"/>
              </a:rPr>
              <a:t>×</a:t>
            </a:r>
            <a:r>
              <a:rPr sz="1400" b="1" spc="110" dirty="0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月台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10170" y="2405893"/>
            <a:ext cx="3887470" cy="75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2570" marR="170180" indent="-230504">
              <a:lnSpc>
                <a:spcPct val="119900"/>
              </a:lnSpc>
              <a:tabLst>
                <a:tab pos="242570" algn="l"/>
              </a:tabLst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	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打通仓储与物流环节信息交互，支撑业务决策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以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降低作业异常率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；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  <a:tabLst>
                <a:tab pos="242570" algn="l"/>
              </a:tabLst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	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打通货品、订单、物流时效信息以提高服务水平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；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51305" y="4896058"/>
            <a:ext cx="3887470" cy="513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2570" algn="l"/>
              </a:tabLst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	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通过地图导航、排队叫号，实现车型与月台联动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；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  <a:tabLst>
                <a:tab pos="242570" algn="l"/>
              </a:tabLst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	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人、货、场，车、时、效，空间与时间均衡管理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；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379" y="4322069"/>
            <a:ext cx="3722370" cy="513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2570" algn="l"/>
              </a:tabLst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	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减少车辆、司机在园停留时长，实现高效装卸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；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  <a:tabLst>
                <a:tab pos="242570" algn="l"/>
              </a:tabLst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	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完善园区规范，建立预约排号机制，提升效率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；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59102" y="2973024"/>
            <a:ext cx="3722370" cy="75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2570" algn="l"/>
              </a:tabLst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	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一体化集成安防体系、门禁系统、称重设备等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；</a:t>
            </a:r>
            <a:endParaRPr sz="1300">
              <a:latin typeface="Arial Unicode MS"/>
              <a:cs typeface="Arial Unicode MS"/>
            </a:endParaRPr>
          </a:p>
          <a:p>
            <a:pPr marL="242570" marR="170180" indent="-230504">
              <a:lnSpc>
                <a:spcPct val="119900"/>
              </a:lnSpc>
              <a:spcBef>
                <a:spcPts val="600"/>
              </a:spcBef>
              <a:tabLst>
                <a:tab pos="242570" algn="l"/>
              </a:tabLst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	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通过信息与科技技术应用，完善管理体系及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智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能化业务流程，实现降本增效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；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48707" y="1427783"/>
            <a:ext cx="26739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协同提效，提升信息决策能</a:t>
            </a:r>
            <a:r>
              <a:rPr sz="1600" b="1" spc="-20" dirty="0">
                <a:latin typeface="Microsoft JhengHei"/>
                <a:cs typeface="Microsoft JhengHei"/>
              </a:rPr>
              <a:t>力</a:t>
            </a:r>
            <a:endParaRPr sz="16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企业客户画</a:t>
            </a:r>
            <a:r>
              <a:rPr spc="-30" dirty="0"/>
              <a:t>像</a:t>
            </a:r>
          </a:p>
        </p:txBody>
      </p:sp>
      <p:sp>
        <p:nvSpPr>
          <p:cNvPr id="3" name="object 3"/>
          <p:cNvSpPr/>
          <p:nvPr/>
        </p:nvSpPr>
        <p:spPr>
          <a:xfrm>
            <a:off x="1592580" y="1513332"/>
            <a:ext cx="3816350" cy="1007744"/>
          </a:xfrm>
          <a:custGeom>
            <a:avLst/>
            <a:gdLst/>
            <a:ahLst/>
            <a:cxnLst/>
            <a:rect l="l" t="t" r="r" b="b"/>
            <a:pathLst>
              <a:path w="3816350" h="1007744">
                <a:moveTo>
                  <a:pt x="0" y="0"/>
                </a:moveTo>
                <a:lnTo>
                  <a:pt x="3816096" y="0"/>
                </a:lnTo>
                <a:lnTo>
                  <a:pt x="3816096" y="1007364"/>
                </a:lnTo>
                <a:lnTo>
                  <a:pt x="0" y="100736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2527" y="1621764"/>
            <a:ext cx="943190" cy="9431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44319" y="1692744"/>
            <a:ext cx="3037205" cy="69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175">
              <a:lnSpc>
                <a:spcPct val="100000"/>
              </a:lnSpc>
            </a:pPr>
            <a:r>
              <a:rPr sz="1400" b="1" spc="-70" dirty="0">
                <a:solidFill>
                  <a:srgbClr val="E42E2F"/>
                </a:solidFill>
                <a:latin typeface="Microsoft JhengHei"/>
                <a:cs typeface="Microsoft JhengHei"/>
              </a:rPr>
              <a:t>|</a:t>
            </a:r>
            <a:r>
              <a:rPr sz="1400" b="1" spc="114" dirty="0">
                <a:solidFill>
                  <a:srgbClr val="E42E2F"/>
                </a:solidFill>
                <a:latin typeface="Microsoft JhengHei"/>
                <a:cs typeface="Microsoft JhengHei"/>
              </a:rPr>
              <a:t> </a:t>
            </a:r>
            <a:r>
              <a:rPr sz="1400" b="1" dirty="0">
                <a:latin typeface="Microsoft JhengHei"/>
                <a:cs typeface="Microsoft JhengHei"/>
              </a:rPr>
              <a:t>园区车辆</a:t>
            </a:r>
            <a:endParaRPr sz="14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同时在园车辆超过</a:t>
            </a:r>
            <a:r>
              <a:rPr sz="1300" spc="75" dirty="0">
                <a:solidFill>
                  <a:srgbClr val="404040"/>
                </a:solidFill>
                <a:latin typeface="Arial Unicode MS"/>
                <a:cs typeface="Arial Unicode MS"/>
              </a:rPr>
              <a:t>10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台，日吞吐车辆达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到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75" dirty="0">
                <a:solidFill>
                  <a:srgbClr val="404040"/>
                </a:solidFill>
                <a:latin typeface="Arial Unicode MS"/>
                <a:cs typeface="Arial Unicode MS"/>
              </a:rPr>
              <a:t>25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车次及以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上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9763" y="1783079"/>
            <a:ext cx="467868" cy="467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7852" y="1513332"/>
            <a:ext cx="3816350" cy="1007744"/>
          </a:xfrm>
          <a:custGeom>
            <a:avLst/>
            <a:gdLst/>
            <a:ahLst/>
            <a:cxnLst/>
            <a:rect l="l" t="t" r="r" b="b"/>
            <a:pathLst>
              <a:path w="3816350" h="1007744">
                <a:moveTo>
                  <a:pt x="0" y="0"/>
                </a:moveTo>
                <a:lnTo>
                  <a:pt x="3816096" y="0"/>
                </a:lnTo>
                <a:lnTo>
                  <a:pt x="3816096" y="1007364"/>
                </a:lnTo>
                <a:lnTo>
                  <a:pt x="0" y="100736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28320" y="1621764"/>
            <a:ext cx="943190" cy="9431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50124" y="1692744"/>
            <a:ext cx="2996565" cy="69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175">
              <a:lnSpc>
                <a:spcPct val="100000"/>
              </a:lnSpc>
            </a:pPr>
            <a:r>
              <a:rPr sz="1400" b="1" spc="-70" dirty="0">
                <a:solidFill>
                  <a:srgbClr val="E42E2F"/>
                </a:solidFill>
                <a:latin typeface="Microsoft JhengHei"/>
                <a:cs typeface="Microsoft JhengHei"/>
              </a:rPr>
              <a:t>|</a:t>
            </a:r>
            <a:r>
              <a:rPr sz="1400" b="1" spc="114" dirty="0">
                <a:solidFill>
                  <a:srgbClr val="E42E2F"/>
                </a:solidFill>
                <a:latin typeface="Microsoft JhengHei"/>
                <a:cs typeface="Microsoft JhengHei"/>
              </a:rPr>
              <a:t> </a:t>
            </a:r>
            <a:r>
              <a:rPr sz="1400" b="1" dirty="0">
                <a:latin typeface="Microsoft JhengHei"/>
                <a:cs typeface="Microsoft JhengHei"/>
              </a:rPr>
              <a:t>园区类型</a:t>
            </a:r>
            <a:endParaRPr sz="14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仓配协同型，供应链中生产协同型，流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通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领域内仓配一体体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系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48271" y="1764792"/>
            <a:ext cx="504444" cy="5044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92580" y="3014472"/>
            <a:ext cx="3816350" cy="1009015"/>
          </a:xfrm>
          <a:custGeom>
            <a:avLst/>
            <a:gdLst/>
            <a:ahLst/>
            <a:cxnLst/>
            <a:rect l="l" t="t" r="r" b="b"/>
            <a:pathLst>
              <a:path w="3816350" h="1009014">
                <a:moveTo>
                  <a:pt x="0" y="0"/>
                </a:moveTo>
                <a:lnTo>
                  <a:pt x="3816096" y="0"/>
                </a:lnTo>
                <a:lnTo>
                  <a:pt x="3816096" y="1008888"/>
                </a:lnTo>
                <a:lnTo>
                  <a:pt x="0" y="1008888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2527" y="3123780"/>
            <a:ext cx="943190" cy="9431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44319" y="3194748"/>
            <a:ext cx="3161665" cy="69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175">
              <a:lnSpc>
                <a:spcPct val="100000"/>
              </a:lnSpc>
            </a:pPr>
            <a:r>
              <a:rPr sz="1400" b="1" spc="-70" dirty="0">
                <a:solidFill>
                  <a:srgbClr val="E42E2F"/>
                </a:solidFill>
                <a:latin typeface="Microsoft JhengHei"/>
                <a:cs typeface="Microsoft JhengHei"/>
              </a:rPr>
              <a:t>|</a:t>
            </a:r>
            <a:r>
              <a:rPr sz="1400" b="1" spc="114" dirty="0">
                <a:solidFill>
                  <a:srgbClr val="E42E2F"/>
                </a:solidFill>
                <a:latin typeface="Microsoft JhengHei"/>
                <a:cs typeface="Microsoft JhengHei"/>
              </a:rPr>
              <a:t> </a:t>
            </a:r>
            <a:r>
              <a:rPr sz="1400" b="1" dirty="0">
                <a:latin typeface="Microsoft JhengHei"/>
                <a:cs typeface="Microsoft JhengHei"/>
              </a:rPr>
              <a:t>园区规模</a:t>
            </a:r>
            <a:endParaRPr sz="14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园区面积较大，原料供应物流、生产物流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、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成品物流未统一管理的生产制造园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区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59763" y="3285744"/>
            <a:ext cx="467868" cy="4678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97852" y="3014472"/>
            <a:ext cx="3816350" cy="1009015"/>
          </a:xfrm>
          <a:custGeom>
            <a:avLst/>
            <a:gdLst/>
            <a:ahLst/>
            <a:cxnLst/>
            <a:rect l="l" t="t" r="r" b="b"/>
            <a:pathLst>
              <a:path w="3816350" h="1009014">
                <a:moveTo>
                  <a:pt x="0" y="0"/>
                </a:moveTo>
                <a:lnTo>
                  <a:pt x="3816096" y="0"/>
                </a:lnTo>
                <a:lnTo>
                  <a:pt x="3816096" y="1008888"/>
                </a:lnTo>
                <a:lnTo>
                  <a:pt x="0" y="1008888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28320" y="3123780"/>
            <a:ext cx="943190" cy="94319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650124" y="3194748"/>
            <a:ext cx="3161665" cy="69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175">
              <a:lnSpc>
                <a:spcPct val="100000"/>
              </a:lnSpc>
            </a:pPr>
            <a:r>
              <a:rPr sz="1400" b="1" spc="-70" dirty="0">
                <a:solidFill>
                  <a:srgbClr val="E42E2F"/>
                </a:solidFill>
                <a:latin typeface="Microsoft JhengHei"/>
                <a:cs typeface="Microsoft JhengHei"/>
              </a:rPr>
              <a:t>|</a:t>
            </a:r>
            <a:r>
              <a:rPr sz="1400" b="1" spc="114" dirty="0">
                <a:solidFill>
                  <a:srgbClr val="E42E2F"/>
                </a:solidFill>
                <a:latin typeface="Microsoft JhengHei"/>
                <a:cs typeface="Microsoft JhengHei"/>
              </a:rPr>
              <a:t> </a:t>
            </a:r>
            <a:r>
              <a:rPr sz="1400" b="1" dirty="0">
                <a:latin typeface="Microsoft JhengHei"/>
                <a:cs typeface="Microsoft JhengHei"/>
              </a:rPr>
              <a:t>仓储协同</a:t>
            </a:r>
            <a:endParaRPr sz="14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对仓库协同效率要求高，仓库中空间优先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，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承载业务体系大的独立物流分拨中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心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48271" y="3267455"/>
            <a:ext cx="504444" cy="5044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92580" y="4517135"/>
            <a:ext cx="3816350" cy="1007744"/>
          </a:xfrm>
          <a:custGeom>
            <a:avLst/>
            <a:gdLst/>
            <a:ahLst/>
            <a:cxnLst/>
            <a:rect l="l" t="t" r="r" b="b"/>
            <a:pathLst>
              <a:path w="3816350" h="1007745">
                <a:moveTo>
                  <a:pt x="0" y="0"/>
                </a:moveTo>
                <a:lnTo>
                  <a:pt x="3816096" y="0"/>
                </a:lnTo>
                <a:lnTo>
                  <a:pt x="3816096" y="1007363"/>
                </a:lnTo>
                <a:lnTo>
                  <a:pt x="0" y="1007363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22527" y="4625797"/>
            <a:ext cx="943190" cy="9431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44319" y="4696764"/>
            <a:ext cx="3020060" cy="69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175">
              <a:lnSpc>
                <a:spcPct val="100000"/>
              </a:lnSpc>
            </a:pPr>
            <a:r>
              <a:rPr sz="1400" b="1" spc="-70" dirty="0">
                <a:solidFill>
                  <a:srgbClr val="E42E2F"/>
                </a:solidFill>
                <a:latin typeface="Microsoft JhengHei"/>
                <a:cs typeface="Microsoft JhengHei"/>
              </a:rPr>
              <a:t>|</a:t>
            </a:r>
            <a:r>
              <a:rPr sz="1400" b="1" spc="114" dirty="0">
                <a:solidFill>
                  <a:srgbClr val="E42E2F"/>
                </a:solidFill>
                <a:latin typeface="Microsoft JhengHei"/>
                <a:cs typeface="Microsoft JhengHei"/>
              </a:rPr>
              <a:t> </a:t>
            </a:r>
            <a:r>
              <a:rPr sz="1400" b="1" dirty="0">
                <a:latin typeface="Microsoft JhengHei"/>
                <a:cs typeface="Microsoft JhengHei"/>
              </a:rPr>
              <a:t>硬件集成</a:t>
            </a:r>
            <a:endParaRPr sz="14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sz="1300" spc="30" dirty="0">
                <a:solidFill>
                  <a:srgbClr val="404040"/>
                </a:solidFill>
                <a:latin typeface="Arial Unicode MS"/>
                <a:cs typeface="Arial Unicode MS"/>
              </a:rPr>
              <a:t>A</a:t>
            </a:r>
            <a:r>
              <a:rPr sz="1300" spc="10" dirty="0">
                <a:solidFill>
                  <a:srgbClr val="404040"/>
                </a:solidFill>
                <a:latin typeface="Arial Unicode MS"/>
                <a:cs typeface="Arial Unicode MS"/>
              </a:rPr>
              <a:t>G</a:t>
            </a:r>
            <a:r>
              <a:rPr sz="1300" spc="-30" dirty="0">
                <a:solidFill>
                  <a:srgbClr val="404040"/>
                </a:solidFill>
                <a:latin typeface="Arial Unicode MS"/>
                <a:cs typeface="Arial Unicode MS"/>
              </a:rPr>
              <a:t>V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、智能输送、自动化立库应用等高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自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动化的智能仓储物流中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心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41475" y="4768596"/>
            <a:ext cx="504444" cy="5044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97852" y="4517135"/>
            <a:ext cx="3816350" cy="1007744"/>
          </a:xfrm>
          <a:custGeom>
            <a:avLst/>
            <a:gdLst/>
            <a:ahLst/>
            <a:cxnLst/>
            <a:rect l="l" t="t" r="r" b="b"/>
            <a:pathLst>
              <a:path w="3816350" h="1007745">
                <a:moveTo>
                  <a:pt x="0" y="0"/>
                </a:moveTo>
                <a:lnTo>
                  <a:pt x="3816096" y="0"/>
                </a:lnTo>
                <a:lnTo>
                  <a:pt x="3816096" y="1007363"/>
                </a:lnTo>
                <a:lnTo>
                  <a:pt x="0" y="1007363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28320" y="4625797"/>
            <a:ext cx="943190" cy="94319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650124" y="4696764"/>
            <a:ext cx="2996565" cy="69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175">
              <a:lnSpc>
                <a:spcPct val="100000"/>
              </a:lnSpc>
            </a:pPr>
            <a:r>
              <a:rPr sz="1400" b="1" spc="-70" dirty="0">
                <a:solidFill>
                  <a:srgbClr val="E42E2F"/>
                </a:solidFill>
                <a:latin typeface="Microsoft JhengHei"/>
                <a:cs typeface="Microsoft JhengHei"/>
              </a:rPr>
              <a:t>|</a:t>
            </a:r>
            <a:r>
              <a:rPr sz="1400" b="1" spc="114" dirty="0">
                <a:solidFill>
                  <a:srgbClr val="E42E2F"/>
                </a:solidFill>
                <a:latin typeface="Microsoft JhengHei"/>
                <a:cs typeface="Microsoft JhengHei"/>
              </a:rPr>
              <a:t> </a:t>
            </a:r>
            <a:r>
              <a:rPr sz="1400" b="1" dirty="0">
                <a:latin typeface="Microsoft JhengHei"/>
                <a:cs typeface="Microsoft JhengHei"/>
              </a:rPr>
              <a:t>特殊品类</a:t>
            </a:r>
            <a:endParaRPr sz="14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对产品管理要求高，如医药类、危化品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、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冷链类、活鲜类等仓储物流园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区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783323" y="4805171"/>
            <a:ext cx="431292" cy="43129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6523" y="256031"/>
            <a:ext cx="2171700" cy="612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50847" y="2729483"/>
            <a:ext cx="9121140" cy="1225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0011" y="2903220"/>
            <a:ext cx="9121140" cy="1225550"/>
          </a:xfrm>
          <a:custGeom>
            <a:avLst/>
            <a:gdLst/>
            <a:ahLst/>
            <a:cxnLst/>
            <a:rect l="l" t="t" r="r" b="b"/>
            <a:pathLst>
              <a:path w="9121140" h="1225550">
                <a:moveTo>
                  <a:pt x="0" y="0"/>
                </a:moveTo>
                <a:lnTo>
                  <a:pt x="9121140" y="0"/>
                </a:lnTo>
                <a:lnTo>
                  <a:pt x="9121140" y="1225295"/>
                </a:lnTo>
                <a:lnTo>
                  <a:pt x="0" y="1225295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96967" y="3103649"/>
            <a:ext cx="1996439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b="1" spc="85" dirty="0">
                <a:latin typeface="Microsoft JhengHei"/>
                <a:cs typeface="Microsoft JhengHei"/>
              </a:rPr>
              <a:t>产品功能概</a:t>
            </a:r>
            <a:r>
              <a:rPr sz="2500" b="1" spc="-25" dirty="0">
                <a:latin typeface="Microsoft JhengHei"/>
                <a:cs typeface="Microsoft JhengHei"/>
              </a:rPr>
              <a:t>述</a:t>
            </a:r>
            <a:endParaRPr sz="25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6967" y="3540428"/>
            <a:ext cx="295846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75" dirty="0">
                <a:latin typeface="Arial Unicode MS"/>
                <a:cs typeface="Arial Unicode MS"/>
              </a:rPr>
              <a:t>智慧园区管理平</a:t>
            </a:r>
            <a:r>
              <a:rPr sz="2800" spc="-30" dirty="0">
                <a:latin typeface="Arial Unicode MS"/>
                <a:cs typeface="Arial Unicode MS"/>
              </a:rPr>
              <a:t>台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85588" y="3491484"/>
            <a:ext cx="3348354" cy="0"/>
          </a:xfrm>
          <a:custGeom>
            <a:avLst/>
            <a:gdLst/>
            <a:ahLst/>
            <a:cxnLst/>
            <a:rect l="l" t="t" r="r" b="b"/>
            <a:pathLst>
              <a:path w="3348354">
                <a:moveTo>
                  <a:pt x="0" y="0"/>
                </a:moveTo>
                <a:lnTo>
                  <a:pt x="3348227" y="0"/>
                </a:lnTo>
              </a:path>
            </a:pathLst>
          </a:custGeom>
          <a:ln w="19557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53109" y="3045460"/>
            <a:ext cx="527303" cy="767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67000" y="3045460"/>
            <a:ext cx="505968" cy="7487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高度灵活配</a:t>
            </a:r>
            <a:r>
              <a:rPr spc="-30" dirty="0"/>
              <a:t>置</a:t>
            </a:r>
          </a:p>
        </p:txBody>
      </p:sp>
      <p:sp>
        <p:nvSpPr>
          <p:cNvPr id="3" name="object 3"/>
          <p:cNvSpPr/>
          <p:nvPr/>
        </p:nvSpPr>
        <p:spPr>
          <a:xfrm>
            <a:off x="637031" y="2753867"/>
            <a:ext cx="2592705" cy="3095625"/>
          </a:xfrm>
          <a:custGeom>
            <a:avLst/>
            <a:gdLst/>
            <a:ahLst/>
            <a:cxnLst/>
            <a:rect l="l" t="t" r="r" b="b"/>
            <a:pathLst>
              <a:path w="2592705" h="3095625">
                <a:moveTo>
                  <a:pt x="0" y="0"/>
                </a:moveTo>
                <a:lnTo>
                  <a:pt x="2592324" y="0"/>
                </a:lnTo>
                <a:lnTo>
                  <a:pt x="2592324" y="3095243"/>
                </a:lnTo>
                <a:lnTo>
                  <a:pt x="0" y="3095243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3655" y="3892257"/>
            <a:ext cx="19881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Microsoft JhengHei"/>
                <a:cs typeface="Microsoft JhengHei"/>
              </a:rPr>
              <a:t>动态预约与智能调度系统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3655" y="4336426"/>
            <a:ext cx="2171065" cy="108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通过智能预约机制和实时调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度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算法，精准匹配车辆到达时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间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与月台资源，将园区平均停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留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时间压缩</a:t>
            </a:r>
            <a:r>
              <a:rPr sz="1300" spc="75" dirty="0">
                <a:solidFill>
                  <a:srgbClr val="404040"/>
                </a:solidFill>
                <a:latin typeface="Arial Unicode MS"/>
                <a:cs typeface="Arial Unicode MS"/>
              </a:rPr>
              <a:t>30</a:t>
            </a:r>
            <a:r>
              <a:rPr sz="1300" spc="3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以上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7051" y="3148583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69" h="433070">
                <a:moveTo>
                  <a:pt x="42672" y="432816"/>
                </a:moveTo>
                <a:lnTo>
                  <a:pt x="6777" y="413547"/>
                </a:lnTo>
                <a:lnTo>
                  <a:pt x="0" y="42672"/>
                </a:lnTo>
                <a:lnTo>
                  <a:pt x="2524" y="28731"/>
                </a:lnTo>
                <a:lnTo>
                  <a:pt x="9180" y="16743"/>
                </a:lnTo>
                <a:lnTo>
                  <a:pt x="19215" y="7462"/>
                </a:lnTo>
                <a:lnTo>
                  <a:pt x="31877" y="1641"/>
                </a:lnTo>
                <a:lnTo>
                  <a:pt x="390144" y="0"/>
                </a:lnTo>
                <a:lnTo>
                  <a:pt x="404204" y="2722"/>
                </a:lnTo>
                <a:lnTo>
                  <a:pt x="416248" y="9472"/>
                </a:lnTo>
                <a:lnTo>
                  <a:pt x="425522" y="19496"/>
                </a:lnTo>
                <a:lnTo>
                  <a:pt x="431270" y="32039"/>
                </a:lnTo>
                <a:lnTo>
                  <a:pt x="432816" y="391668"/>
                </a:lnTo>
                <a:lnTo>
                  <a:pt x="430127" y="405384"/>
                </a:lnTo>
                <a:lnTo>
                  <a:pt x="423211" y="417214"/>
                </a:lnTo>
                <a:lnTo>
                  <a:pt x="412865" y="426273"/>
                </a:lnTo>
                <a:lnTo>
                  <a:pt x="399884" y="431678"/>
                </a:lnTo>
                <a:lnTo>
                  <a:pt x="42672" y="432816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7051" y="3148583"/>
            <a:ext cx="431292" cy="4312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12235" y="2279904"/>
            <a:ext cx="2592705" cy="3095625"/>
          </a:xfrm>
          <a:custGeom>
            <a:avLst/>
            <a:gdLst/>
            <a:ahLst/>
            <a:cxnLst/>
            <a:rect l="l" t="t" r="r" b="b"/>
            <a:pathLst>
              <a:path w="2592704" h="3095625">
                <a:moveTo>
                  <a:pt x="0" y="0"/>
                </a:moveTo>
                <a:lnTo>
                  <a:pt x="2592324" y="0"/>
                </a:lnTo>
                <a:lnTo>
                  <a:pt x="2592324" y="3095244"/>
                </a:lnTo>
                <a:lnTo>
                  <a:pt x="0" y="309524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78555" y="3417937"/>
            <a:ext cx="19881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Microsoft JhengHei"/>
                <a:cs typeface="Microsoft JhengHei"/>
              </a:rPr>
              <a:t>多维度资源协同配置平台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8555" y="3862106"/>
            <a:ext cx="2363470" cy="108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整合月台、车型、库位等园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区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要素，实现叉车、月台、车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辆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秒级联动响应，实现设备利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用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率提升</a:t>
            </a:r>
            <a:r>
              <a:rPr sz="1300" spc="75" dirty="0">
                <a:solidFill>
                  <a:srgbClr val="404040"/>
                </a:solidFill>
                <a:latin typeface="Arial Unicode MS"/>
                <a:cs typeface="Arial Unicode MS"/>
              </a:rPr>
              <a:t>40</a:t>
            </a:r>
            <a:r>
              <a:rPr sz="1300" spc="3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，场地周转率翻倍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2255" y="2674620"/>
            <a:ext cx="431800" cy="433070"/>
          </a:xfrm>
          <a:custGeom>
            <a:avLst/>
            <a:gdLst/>
            <a:ahLst/>
            <a:cxnLst/>
            <a:rect l="l" t="t" r="r" b="b"/>
            <a:pathLst>
              <a:path w="431800" h="433069">
                <a:moveTo>
                  <a:pt x="41148" y="432815"/>
                </a:moveTo>
                <a:lnTo>
                  <a:pt x="6498" y="412891"/>
                </a:lnTo>
                <a:lnTo>
                  <a:pt x="0" y="42671"/>
                </a:lnTo>
                <a:lnTo>
                  <a:pt x="2441" y="28316"/>
                </a:lnTo>
                <a:lnTo>
                  <a:pt x="9144" y="16096"/>
                </a:lnTo>
                <a:lnTo>
                  <a:pt x="19225" y="6807"/>
                </a:lnTo>
                <a:lnTo>
                  <a:pt x="31800" y="1245"/>
                </a:lnTo>
                <a:lnTo>
                  <a:pt x="390144" y="0"/>
                </a:lnTo>
                <a:lnTo>
                  <a:pt x="404046" y="2547"/>
                </a:lnTo>
                <a:lnTo>
                  <a:pt x="415924" y="9222"/>
                </a:lnTo>
                <a:lnTo>
                  <a:pt x="424939" y="19268"/>
                </a:lnTo>
                <a:lnTo>
                  <a:pt x="430247" y="31929"/>
                </a:lnTo>
                <a:lnTo>
                  <a:pt x="431292" y="390143"/>
                </a:lnTo>
                <a:lnTo>
                  <a:pt x="429309" y="404231"/>
                </a:lnTo>
                <a:lnTo>
                  <a:pt x="422991" y="416289"/>
                </a:lnTo>
                <a:lnTo>
                  <a:pt x="413178" y="425562"/>
                </a:lnTo>
                <a:lnTo>
                  <a:pt x="400713" y="431295"/>
                </a:lnTo>
                <a:lnTo>
                  <a:pt x="41148" y="432815"/>
                </a:lnTo>
                <a:close/>
              </a:path>
            </a:pathLst>
          </a:custGeom>
          <a:solidFill>
            <a:srgbClr val="FA7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90544" y="2692907"/>
            <a:ext cx="396239" cy="3962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62643" y="2279904"/>
            <a:ext cx="2592705" cy="3095625"/>
          </a:xfrm>
          <a:custGeom>
            <a:avLst/>
            <a:gdLst/>
            <a:ahLst/>
            <a:cxnLst/>
            <a:rect l="l" t="t" r="r" b="b"/>
            <a:pathLst>
              <a:path w="2592704" h="3095625">
                <a:moveTo>
                  <a:pt x="0" y="0"/>
                </a:moveTo>
                <a:lnTo>
                  <a:pt x="2592324" y="0"/>
                </a:lnTo>
                <a:lnTo>
                  <a:pt x="2592324" y="3095244"/>
                </a:lnTo>
                <a:lnTo>
                  <a:pt x="0" y="309524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28341" y="3417937"/>
            <a:ext cx="19881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Microsoft JhengHei"/>
                <a:cs typeface="Microsoft JhengHei"/>
              </a:rPr>
              <a:t>全链路数据可视化驾驶舱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28341" y="3862106"/>
            <a:ext cx="2363470" cy="108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300" spc="25" dirty="0">
                <a:solidFill>
                  <a:srgbClr val="404040"/>
                </a:solidFill>
                <a:latin typeface="Arial Unicode MS"/>
                <a:cs typeface="Arial Unicode MS"/>
              </a:rPr>
              <a:t>打通</a:t>
            </a:r>
            <a:r>
              <a:rPr sz="1300" spc="150" dirty="0">
                <a:solidFill>
                  <a:srgbClr val="404040"/>
                </a:solidFill>
                <a:latin typeface="Arial Unicode MS"/>
                <a:cs typeface="Arial Unicode MS"/>
              </a:rPr>
              <a:t>W</a:t>
            </a:r>
            <a:r>
              <a:rPr sz="1300" spc="175" dirty="0">
                <a:solidFill>
                  <a:srgbClr val="404040"/>
                </a:solidFill>
                <a:latin typeface="Arial Unicode MS"/>
                <a:cs typeface="Arial Unicode MS"/>
              </a:rPr>
              <a:t>M</a:t>
            </a:r>
            <a:r>
              <a:rPr sz="1300" spc="20" dirty="0">
                <a:solidFill>
                  <a:srgbClr val="404040"/>
                </a:solidFill>
                <a:latin typeface="Arial Unicode MS"/>
                <a:cs typeface="Arial Unicode MS"/>
              </a:rPr>
              <a:t>S</a:t>
            </a:r>
            <a:r>
              <a:rPr sz="1300" spc="25" dirty="0">
                <a:solidFill>
                  <a:srgbClr val="404040"/>
                </a:solidFill>
                <a:latin typeface="Arial Unicode MS"/>
                <a:cs typeface="Arial Unicode MS"/>
              </a:rPr>
              <a:t>、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T</a:t>
            </a:r>
            <a:r>
              <a:rPr sz="1300" spc="180" dirty="0">
                <a:solidFill>
                  <a:srgbClr val="404040"/>
                </a:solidFill>
                <a:latin typeface="Arial Unicode MS"/>
                <a:cs typeface="Arial Unicode MS"/>
              </a:rPr>
              <a:t>M</a:t>
            </a:r>
            <a:r>
              <a:rPr sz="1300" spc="25" dirty="0">
                <a:solidFill>
                  <a:srgbClr val="404040"/>
                </a:solidFill>
                <a:latin typeface="Arial Unicode MS"/>
                <a:cs typeface="Arial Unicode MS"/>
              </a:rPr>
              <a:t>S</a:t>
            </a:r>
            <a:r>
              <a:rPr sz="1300" spc="35" dirty="0">
                <a:solidFill>
                  <a:srgbClr val="404040"/>
                </a:solidFill>
                <a:latin typeface="Arial Unicode MS"/>
                <a:cs typeface="Arial Unicode MS"/>
              </a:rPr>
              <a:t>等多业务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系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15" dirty="0">
                <a:solidFill>
                  <a:srgbClr val="404040"/>
                </a:solidFill>
                <a:latin typeface="Arial Unicode MS"/>
                <a:cs typeface="Arial Unicode MS"/>
              </a:rPr>
              <a:t>统数据孤岛，实时监控</a:t>
            </a:r>
            <a:r>
              <a:rPr sz="1300" spc="20" dirty="0">
                <a:solidFill>
                  <a:srgbClr val="404040"/>
                </a:solidFill>
                <a:latin typeface="Arial Unicode MS"/>
                <a:cs typeface="Arial Unicode MS"/>
              </a:rPr>
              <a:t>车流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、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15" dirty="0">
                <a:solidFill>
                  <a:srgbClr val="404040"/>
                </a:solidFill>
                <a:latin typeface="Arial Unicode MS"/>
                <a:cs typeface="Arial Unicode MS"/>
              </a:rPr>
              <a:t>货流等核心指标，预测</a:t>
            </a:r>
            <a:r>
              <a:rPr sz="1300" spc="20" dirty="0">
                <a:solidFill>
                  <a:srgbClr val="404040"/>
                </a:solidFill>
                <a:latin typeface="Arial Unicode MS"/>
                <a:cs typeface="Arial Unicode MS"/>
              </a:rPr>
              <a:t>准确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率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达</a:t>
            </a:r>
            <a:r>
              <a:rPr sz="1300" spc="75" dirty="0">
                <a:solidFill>
                  <a:srgbClr val="404040"/>
                </a:solidFill>
                <a:latin typeface="Arial Unicode MS"/>
                <a:cs typeface="Arial Unicode MS"/>
              </a:rPr>
              <a:t>92</a:t>
            </a:r>
            <a:r>
              <a:rPr sz="1300" spc="3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，助力管理层智慧决策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22664" y="2674620"/>
            <a:ext cx="431800" cy="433070"/>
          </a:xfrm>
          <a:custGeom>
            <a:avLst/>
            <a:gdLst/>
            <a:ahLst/>
            <a:cxnLst/>
            <a:rect l="l" t="t" r="r" b="b"/>
            <a:pathLst>
              <a:path w="431800" h="433069">
                <a:moveTo>
                  <a:pt x="41147" y="432815"/>
                </a:moveTo>
                <a:lnTo>
                  <a:pt x="6378" y="413381"/>
                </a:lnTo>
                <a:lnTo>
                  <a:pt x="0" y="42671"/>
                </a:lnTo>
                <a:lnTo>
                  <a:pt x="2066" y="28503"/>
                </a:lnTo>
                <a:lnTo>
                  <a:pt x="8456" y="16399"/>
                </a:lnTo>
                <a:lnTo>
                  <a:pt x="18321" y="7125"/>
                </a:lnTo>
                <a:lnTo>
                  <a:pt x="30811" y="1442"/>
                </a:lnTo>
                <a:lnTo>
                  <a:pt x="390143" y="0"/>
                </a:lnTo>
                <a:lnTo>
                  <a:pt x="403928" y="2617"/>
                </a:lnTo>
                <a:lnTo>
                  <a:pt x="415783" y="9473"/>
                </a:lnTo>
                <a:lnTo>
                  <a:pt x="424830" y="19776"/>
                </a:lnTo>
                <a:lnTo>
                  <a:pt x="430195" y="32739"/>
                </a:lnTo>
                <a:lnTo>
                  <a:pt x="431291" y="390143"/>
                </a:lnTo>
                <a:lnTo>
                  <a:pt x="428933" y="404425"/>
                </a:lnTo>
                <a:lnTo>
                  <a:pt x="422295" y="416605"/>
                </a:lnTo>
                <a:lnTo>
                  <a:pt x="412255" y="425895"/>
                </a:lnTo>
                <a:lnTo>
                  <a:pt x="399688" y="431505"/>
                </a:lnTo>
                <a:lnTo>
                  <a:pt x="41147" y="432815"/>
                </a:lnTo>
                <a:close/>
              </a:path>
            </a:pathLst>
          </a:custGeom>
          <a:solidFill>
            <a:srgbClr val="FA7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157716" y="2711195"/>
            <a:ext cx="359664" cy="3596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87440" y="2753867"/>
            <a:ext cx="2592705" cy="3095625"/>
          </a:xfrm>
          <a:custGeom>
            <a:avLst/>
            <a:gdLst/>
            <a:ahLst/>
            <a:cxnLst/>
            <a:rect l="l" t="t" r="r" b="b"/>
            <a:pathLst>
              <a:path w="2592704" h="3095625">
                <a:moveTo>
                  <a:pt x="0" y="0"/>
                </a:moveTo>
                <a:lnTo>
                  <a:pt x="2592323" y="0"/>
                </a:lnTo>
                <a:lnTo>
                  <a:pt x="2592323" y="3095243"/>
                </a:lnTo>
                <a:lnTo>
                  <a:pt x="0" y="3095243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353454" y="3892257"/>
            <a:ext cx="180975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Microsoft JhengHei"/>
                <a:cs typeface="Microsoft JhengHei"/>
              </a:rPr>
              <a:t>可定制的服务规则引擎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53454" y="4336426"/>
            <a:ext cx="2210435" cy="1378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1300" spc="65" dirty="0">
                <a:solidFill>
                  <a:srgbClr val="404040"/>
                </a:solidFill>
                <a:latin typeface="Arial Unicode MS"/>
                <a:cs typeface="Arial Unicode MS"/>
              </a:rPr>
              <a:t>支持</a:t>
            </a:r>
            <a:r>
              <a:rPr sz="1300" spc="75" dirty="0">
                <a:solidFill>
                  <a:srgbClr val="404040"/>
                </a:solidFill>
                <a:latin typeface="Arial Unicode MS"/>
                <a:cs typeface="Arial Unicode MS"/>
              </a:rPr>
              <a:t>B</a:t>
            </a:r>
            <a:r>
              <a:rPr sz="1300" spc="155" dirty="0">
                <a:solidFill>
                  <a:srgbClr val="404040"/>
                </a:solidFill>
                <a:latin typeface="Arial Unicode MS"/>
                <a:cs typeface="Arial Unicode MS"/>
              </a:rPr>
              <a:t>2</a:t>
            </a:r>
            <a:r>
              <a:rPr sz="1300" spc="80" dirty="0">
                <a:solidFill>
                  <a:srgbClr val="404040"/>
                </a:solidFill>
                <a:latin typeface="Arial Unicode MS"/>
                <a:cs typeface="Arial Unicode MS"/>
              </a:rPr>
              <a:t>B</a:t>
            </a:r>
            <a:r>
              <a:rPr sz="1300" spc="215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300" spc="80" dirty="0">
                <a:solidFill>
                  <a:srgbClr val="404040"/>
                </a:solidFill>
                <a:latin typeface="Arial Unicode MS"/>
                <a:cs typeface="Arial Unicode MS"/>
              </a:rPr>
              <a:t>B</a:t>
            </a:r>
            <a:r>
              <a:rPr sz="1300" spc="155" dirty="0">
                <a:solidFill>
                  <a:srgbClr val="404040"/>
                </a:solidFill>
                <a:latin typeface="Arial Unicode MS"/>
                <a:cs typeface="Arial Unicode MS"/>
              </a:rPr>
              <a:t>2</a:t>
            </a:r>
            <a:r>
              <a:rPr sz="1300" spc="70" dirty="0">
                <a:solidFill>
                  <a:srgbClr val="404040"/>
                </a:solidFill>
                <a:latin typeface="Arial Unicode MS"/>
                <a:cs typeface="Arial Unicode MS"/>
              </a:rPr>
              <a:t>C等差异化场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景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60" dirty="0">
                <a:solidFill>
                  <a:srgbClr val="404040"/>
                </a:solidFill>
                <a:latin typeface="Arial Unicode MS"/>
                <a:cs typeface="Arial Unicode MS"/>
              </a:rPr>
              <a:t>的</a:t>
            </a:r>
            <a:r>
              <a:rPr sz="1300" spc="150" dirty="0">
                <a:solidFill>
                  <a:srgbClr val="404040"/>
                </a:solidFill>
                <a:latin typeface="Arial Unicode MS"/>
                <a:cs typeface="Arial Unicode MS"/>
              </a:rPr>
              <a:t>200</a:t>
            </a:r>
            <a:r>
              <a:rPr sz="1300" spc="120" dirty="0">
                <a:solidFill>
                  <a:srgbClr val="404040"/>
                </a:solidFill>
                <a:latin typeface="Arial Unicode MS"/>
                <a:cs typeface="Arial Unicode MS"/>
              </a:rPr>
              <a:t>+</a:t>
            </a:r>
            <a:r>
              <a:rPr sz="1300" spc="65" dirty="0">
                <a:solidFill>
                  <a:srgbClr val="404040"/>
                </a:solidFill>
                <a:latin typeface="Arial Unicode MS"/>
                <a:cs typeface="Arial Unicode MS"/>
              </a:rPr>
              <a:t>参数配置，既能满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足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15" dirty="0">
                <a:solidFill>
                  <a:srgbClr val="404040"/>
                </a:solidFill>
                <a:latin typeface="Arial Unicode MS"/>
                <a:cs typeface="Arial Unicode MS"/>
              </a:rPr>
              <a:t>大客户定制化需求，又</a:t>
            </a:r>
            <a:r>
              <a:rPr sz="1300" spc="20" dirty="0">
                <a:solidFill>
                  <a:srgbClr val="404040"/>
                </a:solidFill>
                <a:latin typeface="Arial Unicode MS"/>
                <a:cs typeface="Arial Unicode MS"/>
              </a:rPr>
              <a:t>能为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中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15" dirty="0">
                <a:solidFill>
                  <a:srgbClr val="404040"/>
                </a:solidFill>
                <a:latin typeface="Arial Unicode MS"/>
                <a:cs typeface="Arial Unicode MS"/>
              </a:rPr>
              <a:t>小客户提供标准化高效</a:t>
            </a:r>
            <a:r>
              <a:rPr sz="1300" spc="20" dirty="0">
                <a:solidFill>
                  <a:srgbClr val="404040"/>
                </a:solidFill>
                <a:latin typeface="Arial Unicode MS"/>
                <a:cs typeface="Arial Unicode MS"/>
              </a:rPr>
              <a:t>服务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框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架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47459" y="3148583"/>
            <a:ext cx="431800" cy="433070"/>
          </a:xfrm>
          <a:custGeom>
            <a:avLst/>
            <a:gdLst/>
            <a:ahLst/>
            <a:cxnLst/>
            <a:rect l="l" t="t" r="r" b="b"/>
            <a:pathLst>
              <a:path w="431800" h="433070">
                <a:moveTo>
                  <a:pt x="41148" y="432816"/>
                </a:moveTo>
                <a:lnTo>
                  <a:pt x="6032" y="413140"/>
                </a:lnTo>
                <a:lnTo>
                  <a:pt x="0" y="42672"/>
                </a:lnTo>
                <a:lnTo>
                  <a:pt x="2257" y="28582"/>
                </a:lnTo>
                <a:lnTo>
                  <a:pt x="8809" y="16499"/>
                </a:lnTo>
                <a:lnTo>
                  <a:pt x="18789" y="7202"/>
                </a:lnTo>
                <a:lnTo>
                  <a:pt x="31332" y="1471"/>
                </a:lnTo>
                <a:lnTo>
                  <a:pt x="390143" y="0"/>
                </a:lnTo>
                <a:lnTo>
                  <a:pt x="403989" y="2761"/>
                </a:lnTo>
                <a:lnTo>
                  <a:pt x="415855" y="9610"/>
                </a:lnTo>
                <a:lnTo>
                  <a:pt x="424884" y="19773"/>
                </a:lnTo>
                <a:lnTo>
                  <a:pt x="430218" y="32477"/>
                </a:lnTo>
                <a:lnTo>
                  <a:pt x="431291" y="391668"/>
                </a:lnTo>
                <a:lnTo>
                  <a:pt x="429036" y="405492"/>
                </a:lnTo>
                <a:lnTo>
                  <a:pt x="422331" y="417391"/>
                </a:lnTo>
                <a:lnTo>
                  <a:pt x="412082" y="426457"/>
                </a:lnTo>
                <a:lnTo>
                  <a:pt x="399194" y="431786"/>
                </a:lnTo>
                <a:lnTo>
                  <a:pt x="41148" y="432816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84035" y="3185160"/>
            <a:ext cx="359663" cy="3596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34744" y="1549589"/>
            <a:ext cx="132016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105" dirty="0">
                <a:latin typeface="Microsoft JhengHei"/>
                <a:cs typeface="Microsoft JhengHei"/>
              </a:rPr>
              <a:t>车辆快进快</a:t>
            </a:r>
            <a:r>
              <a:rPr sz="1600" b="1" spc="-20" dirty="0">
                <a:latin typeface="Microsoft JhengHei"/>
                <a:cs typeface="Microsoft JhengHei"/>
              </a:rPr>
              <a:t>出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07945" y="1549589"/>
            <a:ext cx="263969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9395" algn="l"/>
              </a:tabLst>
            </a:pPr>
            <a:r>
              <a:rPr sz="1600" b="1" spc="-80" dirty="0">
                <a:latin typeface="Microsoft JhengHei"/>
                <a:cs typeface="Microsoft JhengHei"/>
              </a:rPr>
              <a:t>|	</a:t>
            </a:r>
            <a:r>
              <a:rPr sz="1600" b="1" spc="105" dirty="0">
                <a:latin typeface="Microsoft JhengHei"/>
                <a:cs typeface="Microsoft JhengHei"/>
              </a:rPr>
              <a:t>仓储运输全链路高效联</a:t>
            </a:r>
            <a:r>
              <a:rPr sz="1600" b="1" spc="-20" dirty="0">
                <a:latin typeface="Microsoft JhengHei"/>
                <a:cs typeface="Microsoft JhengHei"/>
              </a:rPr>
              <a:t>动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00675" y="1549589"/>
            <a:ext cx="263969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9395" algn="l"/>
              </a:tabLst>
            </a:pPr>
            <a:r>
              <a:rPr sz="1600" b="1" spc="-80" dirty="0">
                <a:latin typeface="Microsoft JhengHei"/>
                <a:cs typeface="Microsoft JhengHei"/>
              </a:rPr>
              <a:t>|	</a:t>
            </a:r>
            <a:r>
              <a:rPr sz="1600" b="1" spc="105" dirty="0">
                <a:latin typeface="Microsoft JhengHei"/>
                <a:cs typeface="Microsoft JhengHei"/>
              </a:rPr>
              <a:t>客户多业务需求快速响</a:t>
            </a:r>
            <a:r>
              <a:rPr sz="1600" b="1" spc="-20" dirty="0">
                <a:latin typeface="Microsoft JhengHei"/>
                <a:cs typeface="Microsoft JhengHei"/>
              </a:rPr>
              <a:t>应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93405" y="1549589"/>
            <a:ext cx="286258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9395" algn="l"/>
              </a:tabLst>
            </a:pPr>
            <a:r>
              <a:rPr sz="1600" b="1" spc="-80" dirty="0">
                <a:latin typeface="Microsoft JhengHei"/>
                <a:cs typeface="Microsoft JhengHei"/>
              </a:rPr>
              <a:t>|	</a:t>
            </a:r>
            <a:r>
              <a:rPr sz="1600" b="1" spc="105" dirty="0">
                <a:latin typeface="Microsoft JhengHei"/>
                <a:cs typeface="Microsoft JhengHei"/>
              </a:rPr>
              <a:t>数据驱动</a:t>
            </a:r>
            <a:r>
              <a:rPr sz="1600" b="1" spc="110" dirty="0">
                <a:latin typeface="Microsoft JhengHei"/>
                <a:cs typeface="Microsoft JhengHei"/>
              </a:rPr>
              <a:t>园区运营管理决</a:t>
            </a:r>
            <a:r>
              <a:rPr sz="1600" b="1" spc="-20" dirty="0">
                <a:latin typeface="Microsoft JhengHei"/>
                <a:cs typeface="Microsoft JhengHei"/>
              </a:rPr>
              <a:t>策</a:t>
            </a:r>
            <a:endParaRPr sz="16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多维数据体</a:t>
            </a:r>
            <a:r>
              <a:rPr spc="-30" dirty="0"/>
              <a:t>系</a:t>
            </a:r>
          </a:p>
        </p:txBody>
      </p:sp>
      <p:sp>
        <p:nvSpPr>
          <p:cNvPr id="3" name="object 3"/>
          <p:cNvSpPr/>
          <p:nvPr/>
        </p:nvSpPr>
        <p:spPr>
          <a:xfrm>
            <a:off x="1216126" y="4056398"/>
            <a:ext cx="1788160" cy="0"/>
          </a:xfrm>
          <a:custGeom>
            <a:avLst/>
            <a:gdLst/>
            <a:ahLst/>
            <a:cxnLst/>
            <a:rect l="l" t="t" r="r" b="b"/>
            <a:pathLst>
              <a:path w="1788160">
                <a:moveTo>
                  <a:pt x="0" y="0"/>
                </a:moveTo>
                <a:lnTo>
                  <a:pt x="1787588" y="0"/>
                </a:lnTo>
              </a:path>
            </a:pathLst>
          </a:custGeom>
          <a:ln w="9944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73512" y="4056398"/>
            <a:ext cx="1788160" cy="0"/>
          </a:xfrm>
          <a:custGeom>
            <a:avLst/>
            <a:gdLst/>
            <a:ahLst/>
            <a:cxnLst/>
            <a:rect l="l" t="t" r="r" b="b"/>
            <a:pathLst>
              <a:path w="1788160">
                <a:moveTo>
                  <a:pt x="0" y="0"/>
                </a:moveTo>
                <a:lnTo>
                  <a:pt x="1787588" y="0"/>
                </a:lnTo>
              </a:path>
            </a:pathLst>
          </a:custGeom>
          <a:ln w="9944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30899" y="4056398"/>
            <a:ext cx="1788160" cy="0"/>
          </a:xfrm>
          <a:custGeom>
            <a:avLst/>
            <a:gdLst/>
            <a:ahLst/>
            <a:cxnLst/>
            <a:rect l="l" t="t" r="r" b="b"/>
            <a:pathLst>
              <a:path w="1788159">
                <a:moveTo>
                  <a:pt x="0" y="0"/>
                </a:moveTo>
                <a:lnTo>
                  <a:pt x="1787588" y="0"/>
                </a:lnTo>
              </a:path>
            </a:pathLst>
          </a:custGeom>
          <a:ln w="9944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88284" y="4056398"/>
            <a:ext cx="1788160" cy="0"/>
          </a:xfrm>
          <a:custGeom>
            <a:avLst/>
            <a:gdLst/>
            <a:ahLst/>
            <a:cxnLst/>
            <a:rect l="l" t="t" r="r" b="b"/>
            <a:pathLst>
              <a:path w="1788159">
                <a:moveTo>
                  <a:pt x="0" y="0"/>
                </a:moveTo>
                <a:lnTo>
                  <a:pt x="1787588" y="0"/>
                </a:lnTo>
              </a:path>
            </a:pathLst>
          </a:custGeom>
          <a:ln w="9944">
            <a:solidFill>
              <a:srgbClr val="E0E0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5300" y="2616200"/>
            <a:ext cx="11201400" cy="76200"/>
          </a:xfrm>
          <a:custGeom>
            <a:avLst/>
            <a:gdLst/>
            <a:ahLst/>
            <a:cxnLst/>
            <a:rect l="l" t="t" r="r" b="b"/>
            <a:pathLst>
              <a:path w="11201400" h="76200">
                <a:moveTo>
                  <a:pt x="0" y="0"/>
                </a:moveTo>
                <a:lnTo>
                  <a:pt x="11201400" y="0"/>
                </a:lnTo>
                <a:lnTo>
                  <a:pt x="11201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59915" y="2181339"/>
            <a:ext cx="900430" cy="900430"/>
          </a:xfrm>
          <a:custGeom>
            <a:avLst/>
            <a:gdLst/>
            <a:ahLst/>
            <a:cxnLst/>
            <a:rect l="l" t="t" r="r" b="b"/>
            <a:pathLst>
              <a:path w="900430" h="900430">
                <a:moveTo>
                  <a:pt x="449999" y="900010"/>
                </a:moveTo>
                <a:lnTo>
                  <a:pt x="377047" y="894116"/>
                </a:lnTo>
                <a:lnTo>
                  <a:pt x="307828" y="877053"/>
                </a:lnTo>
                <a:lnTo>
                  <a:pt x="243272" y="849751"/>
                </a:lnTo>
                <a:lnTo>
                  <a:pt x="184307" y="813139"/>
                </a:lnTo>
                <a:lnTo>
                  <a:pt x="131864" y="768146"/>
                </a:lnTo>
                <a:lnTo>
                  <a:pt x="86871" y="715703"/>
                </a:lnTo>
                <a:lnTo>
                  <a:pt x="50259" y="656738"/>
                </a:lnTo>
                <a:lnTo>
                  <a:pt x="22957" y="592182"/>
                </a:lnTo>
                <a:lnTo>
                  <a:pt x="5894" y="522963"/>
                </a:lnTo>
                <a:lnTo>
                  <a:pt x="0" y="450011"/>
                </a:lnTo>
                <a:lnTo>
                  <a:pt x="1492" y="413127"/>
                </a:lnTo>
                <a:lnTo>
                  <a:pt x="13087" y="341925"/>
                </a:lnTo>
                <a:lnTo>
                  <a:pt x="35386" y="274920"/>
                </a:lnTo>
                <a:lnTo>
                  <a:pt x="67459" y="213041"/>
                </a:lnTo>
                <a:lnTo>
                  <a:pt x="108378" y="157219"/>
                </a:lnTo>
                <a:lnTo>
                  <a:pt x="157212" y="108383"/>
                </a:lnTo>
                <a:lnTo>
                  <a:pt x="213032" y="67463"/>
                </a:lnTo>
                <a:lnTo>
                  <a:pt x="274909" y="35388"/>
                </a:lnTo>
                <a:lnTo>
                  <a:pt x="341913" y="13088"/>
                </a:lnTo>
                <a:lnTo>
                  <a:pt x="413114" y="1493"/>
                </a:lnTo>
                <a:lnTo>
                  <a:pt x="449999" y="0"/>
                </a:lnTo>
                <a:lnTo>
                  <a:pt x="486885" y="1493"/>
                </a:lnTo>
                <a:lnTo>
                  <a:pt x="558089" y="13088"/>
                </a:lnTo>
                <a:lnTo>
                  <a:pt x="625096" y="35388"/>
                </a:lnTo>
                <a:lnTo>
                  <a:pt x="686974" y="67463"/>
                </a:lnTo>
                <a:lnTo>
                  <a:pt x="742796" y="108383"/>
                </a:lnTo>
                <a:lnTo>
                  <a:pt x="791631" y="157219"/>
                </a:lnTo>
                <a:lnTo>
                  <a:pt x="832550" y="213041"/>
                </a:lnTo>
                <a:lnTo>
                  <a:pt x="864624" y="274920"/>
                </a:lnTo>
                <a:lnTo>
                  <a:pt x="886923" y="341925"/>
                </a:lnTo>
                <a:lnTo>
                  <a:pt x="898517" y="413127"/>
                </a:lnTo>
                <a:lnTo>
                  <a:pt x="900010" y="450011"/>
                </a:lnTo>
                <a:lnTo>
                  <a:pt x="898517" y="486896"/>
                </a:lnTo>
                <a:lnTo>
                  <a:pt x="886923" y="558097"/>
                </a:lnTo>
                <a:lnTo>
                  <a:pt x="864624" y="625101"/>
                </a:lnTo>
                <a:lnTo>
                  <a:pt x="832550" y="686978"/>
                </a:lnTo>
                <a:lnTo>
                  <a:pt x="791631" y="742798"/>
                </a:lnTo>
                <a:lnTo>
                  <a:pt x="742796" y="791632"/>
                </a:lnTo>
                <a:lnTo>
                  <a:pt x="686974" y="832550"/>
                </a:lnTo>
                <a:lnTo>
                  <a:pt x="625096" y="864624"/>
                </a:lnTo>
                <a:lnTo>
                  <a:pt x="558089" y="886923"/>
                </a:lnTo>
                <a:lnTo>
                  <a:pt x="486885" y="898517"/>
                </a:lnTo>
                <a:lnTo>
                  <a:pt x="449999" y="900010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39467" y="2360676"/>
            <a:ext cx="539495" cy="5394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17301" y="2184425"/>
            <a:ext cx="900430" cy="900430"/>
          </a:xfrm>
          <a:custGeom>
            <a:avLst/>
            <a:gdLst/>
            <a:ahLst/>
            <a:cxnLst/>
            <a:rect l="l" t="t" r="r" b="b"/>
            <a:pathLst>
              <a:path w="900429" h="900430">
                <a:moveTo>
                  <a:pt x="450011" y="899998"/>
                </a:moveTo>
                <a:lnTo>
                  <a:pt x="377059" y="894103"/>
                </a:lnTo>
                <a:lnTo>
                  <a:pt x="307839" y="877040"/>
                </a:lnTo>
                <a:lnTo>
                  <a:pt x="243281" y="849738"/>
                </a:lnTo>
                <a:lnTo>
                  <a:pt x="184315" y="813126"/>
                </a:lnTo>
                <a:lnTo>
                  <a:pt x="131870" y="768134"/>
                </a:lnTo>
                <a:lnTo>
                  <a:pt x="86876" y="715690"/>
                </a:lnTo>
                <a:lnTo>
                  <a:pt x="50262" y="656726"/>
                </a:lnTo>
                <a:lnTo>
                  <a:pt x="22958" y="592169"/>
                </a:lnTo>
                <a:lnTo>
                  <a:pt x="5894" y="522950"/>
                </a:lnTo>
                <a:lnTo>
                  <a:pt x="0" y="449999"/>
                </a:lnTo>
                <a:lnTo>
                  <a:pt x="1493" y="413114"/>
                </a:lnTo>
                <a:lnTo>
                  <a:pt x="13088" y="341913"/>
                </a:lnTo>
                <a:lnTo>
                  <a:pt x="35388" y="274909"/>
                </a:lnTo>
                <a:lnTo>
                  <a:pt x="67463" y="213032"/>
                </a:lnTo>
                <a:lnTo>
                  <a:pt x="108383" y="157212"/>
                </a:lnTo>
                <a:lnTo>
                  <a:pt x="157219" y="108378"/>
                </a:lnTo>
                <a:lnTo>
                  <a:pt x="213041" y="67459"/>
                </a:lnTo>
                <a:lnTo>
                  <a:pt x="274920" y="35386"/>
                </a:lnTo>
                <a:lnTo>
                  <a:pt x="341925" y="13087"/>
                </a:lnTo>
                <a:lnTo>
                  <a:pt x="413127" y="1492"/>
                </a:lnTo>
                <a:lnTo>
                  <a:pt x="450011" y="0"/>
                </a:lnTo>
                <a:lnTo>
                  <a:pt x="486896" y="1492"/>
                </a:lnTo>
                <a:lnTo>
                  <a:pt x="558097" y="13087"/>
                </a:lnTo>
                <a:lnTo>
                  <a:pt x="625101" y="35386"/>
                </a:lnTo>
                <a:lnTo>
                  <a:pt x="686978" y="67459"/>
                </a:lnTo>
                <a:lnTo>
                  <a:pt x="742798" y="108378"/>
                </a:lnTo>
                <a:lnTo>
                  <a:pt x="791632" y="157212"/>
                </a:lnTo>
                <a:lnTo>
                  <a:pt x="832550" y="213032"/>
                </a:lnTo>
                <a:lnTo>
                  <a:pt x="864624" y="274909"/>
                </a:lnTo>
                <a:lnTo>
                  <a:pt x="886923" y="341913"/>
                </a:lnTo>
                <a:lnTo>
                  <a:pt x="898517" y="413114"/>
                </a:lnTo>
                <a:lnTo>
                  <a:pt x="900010" y="449999"/>
                </a:lnTo>
                <a:lnTo>
                  <a:pt x="898517" y="486883"/>
                </a:lnTo>
                <a:lnTo>
                  <a:pt x="886923" y="558084"/>
                </a:lnTo>
                <a:lnTo>
                  <a:pt x="864624" y="625088"/>
                </a:lnTo>
                <a:lnTo>
                  <a:pt x="832550" y="686965"/>
                </a:lnTo>
                <a:lnTo>
                  <a:pt x="791632" y="742785"/>
                </a:lnTo>
                <a:lnTo>
                  <a:pt x="742798" y="791619"/>
                </a:lnTo>
                <a:lnTo>
                  <a:pt x="686978" y="832538"/>
                </a:lnTo>
                <a:lnTo>
                  <a:pt x="625101" y="864611"/>
                </a:lnTo>
                <a:lnTo>
                  <a:pt x="558097" y="886910"/>
                </a:lnTo>
                <a:lnTo>
                  <a:pt x="486896" y="898505"/>
                </a:lnTo>
                <a:lnTo>
                  <a:pt x="450011" y="899998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50664" y="2419299"/>
            <a:ext cx="431291" cy="4312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632086" y="2184425"/>
            <a:ext cx="900430" cy="900430"/>
          </a:xfrm>
          <a:custGeom>
            <a:avLst/>
            <a:gdLst/>
            <a:ahLst/>
            <a:cxnLst/>
            <a:rect l="l" t="t" r="r" b="b"/>
            <a:pathLst>
              <a:path w="900429" h="900430">
                <a:moveTo>
                  <a:pt x="449999" y="899998"/>
                </a:moveTo>
                <a:lnTo>
                  <a:pt x="377047" y="894103"/>
                </a:lnTo>
                <a:lnTo>
                  <a:pt x="307828" y="877040"/>
                </a:lnTo>
                <a:lnTo>
                  <a:pt x="243272" y="849738"/>
                </a:lnTo>
                <a:lnTo>
                  <a:pt x="184307" y="813126"/>
                </a:lnTo>
                <a:lnTo>
                  <a:pt x="131864" y="768134"/>
                </a:lnTo>
                <a:lnTo>
                  <a:pt x="86871" y="715690"/>
                </a:lnTo>
                <a:lnTo>
                  <a:pt x="50259" y="656726"/>
                </a:lnTo>
                <a:lnTo>
                  <a:pt x="22957" y="592169"/>
                </a:lnTo>
                <a:lnTo>
                  <a:pt x="5894" y="522950"/>
                </a:lnTo>
                <a:lnTo>
                  <a:pt x="0" y="449999"/>
                </a:lnTo>
                <a:lnTo>
                  <a:pt x="1492" y="413114"/>
                </a:lnTo>
                <a:lnTo>
                  <a:pt x="13087" y="341913"/>
                </a:lnTo>
                <a:lnTo>
                  <a:pt x="35386" y="274909"/>
                </a:lnTo>
                <a:lnTo>
                  <a:pt x="67459" y="213032"/>
                </a:lnTo>
                <a:lnTo>
                  <a:pt x="108378" y="157212"/>
                </a:lnTo>
                <a:lnTo>
                  <a:pt x="157212" y="108378"/>
                </a:lnTo>
                <a:lnTo>
                  <a:pt x="213032" y="67459"/>
                </a:lnTo>
                <a:lnTo>
                  <a:pt x="274909" y="35386"/>
                </a:lnTo>
                <a:lnTo>
                  <a:pt x="341913" y="13087"/>
                </a:lnTo>
                <a:lnTo>
                  <a:pt x="413114" y="1492"/>
                </a:lnTo>
                <a:lnTo>
                  <a:pt x="449999" y="0"/>
                </a:lnTo>
                <a:lnTo>
                  <a:pt x="486883" y="1492"/>
                </a:lnTo>
                <a:lnTo>
                  <a:pt x="558084" y="13087"/>
                </a:lnTo>
                <a:lnTo>
                  <a:pt x="625088" y="35386"/>
                </a:lnTo>
                <a:lnTo>
                  <a:pt x="686965" y="67459"/>
                </a:lnTo>
                <a:lnTo>
                  <a:pt x="742785" y="108378"/>
                </a:lnTo>
                <a:lnTo>
                  <a:pt x="791619" y="157212"/>
                </a:lnTo>
                <a:lnTo>
                  <a:pt x="832538" y="213032"/>
                </a:lnTo>
                <a:lnTo>
                  <a:pt x="864611" y="274909"/>
                </a:lnTo>
                <a:lnTo>
                  <a:pt x="886910" y="341913"/>
                </a:lnTo>
                <a:lnTo>
                  <a:pt x="898505" y="413114"/>
                </a:lnTo>
                <a:lnTo>
                  <a:pt x="899998" y="449999"/>
                </a:lnTo>
                <a:lnTo>
                  <a:pt x="898505" y="486883"/>
                </a:lnTo>
                <a:lnTo>
                  <a:pt x="886910" y="558084"/>
                </a:lnTo>
                <a:lnTo>
                  <a:pt x="864611" y="625088"/>
                </a:lnTo>
                <a:lnTo>
                  <a:pt x="832538" y="686965"/>
                </a:lnTo>
                <a:lnTo>
                  <a:pt x="791619" y="742785"/>
                </a:lnTo>
                <a:lnTo>
                  <a:pt x="742785" y="791619"/>
                </a:lnTo>
                <a:lnTo>
                  <a:pt x="686965" y="832538"/>
                </a:lnTo>
                <a:lnTo>
                  <a:pt x="625088" y="864611"/>
                </a:lnTo>
                <a:lnTo>
                  <a:pt x="558084" y="886910"/>
                </a:lnTo>
                <a:lnTo>
                  <a:pt x="486883" y="898505"/>
                </a:lnTo>
                <a:lnTo>
                  <a:pt x="449999" y="899998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811511" y="2363723"/>
            <a:ext cx="539496" cy="5394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74687" y="2184425"/>
            <a:ext cx="900430" cy="900430"/>
          </a:xfrm>
          <a:custGeom>
            <a:avLst/>
            <a:gdLst/>
            <a:ahLst/>
            <a:cxnLst/>
            <a:rect l="l" t="t" r="r" b="b"/>
            <a:pathLst>
              <a:path w="900429" h="900430">
                <a:moveTo>
                  <a:pt x="450011" y="899998"/>
                </a:moveTo>
                <a:lnTo>
                  <a:pt x="377059" y="894103"/>
                </a:lnTo>
                <a:lnTo>
                  <a:pt x="307839" y="877040"/>
                </a:lnTo>
                <a:lnTo>
                  <a:pt x="243281" y="849738"/>
                </a:lnTo>
                <a:lnTo>
                  <a:pt x="184315" y="813126"/>
                </a:lnTo>
                <a:lnTo>
                  <a:pt x="131870" y="768134"/>
                </a:lnTo>
                <a:lnTo>
                  <a:pt x="86876" y="715690"/>
                </a:lnTo>
                <a:lnTo>
                  <a:pt x="50262" y="656726"/>
                </a:lnTo>
                <a:lnTo>
                  <a:pt x="22958" y="592169"/>
                </a:lnTo>
                <a:lnTo>
                  <a:pt x="5894" y="522950"/>
                </a:lnTo>
                <a:lnTo>
                  <a:pt x="0" y="449999"/>
                </a:lnTo>
                <a:lnTo>
                  <a:pt x="1493" y="413114"/>
                </a:lnTo>
                <a:lnTo>
                  <a:pt x="13088" y="341913"/>
                </a:lnTo>
                <a:lnTo>
                  <a:pt x="35388" y="274909"/>
                </a:lnTo>
                <a:lnTo>
                  <a:pt x="67463" y="213032"/>
                </a:lnTo>
                <a:lnTo>
                  <a:pt x="108383" y="157212"/>
                </a:lnTo>
                <a:lnTo>
                  <a:pt x="157219" y="108378"/>
                </a:lnTo>
                <a:lnTo>
                  <a:pt x="213041" y="67459"/>
                </a:lnTo>
                <a:lnTo>
                  <a:pt x="274920" y="35386"/>
                </a:lnTo>
                <a:lnTo>
                  <a:pt x="341925" y="13087"/>
                </a:lnTo>
                <a:lnTo>
                  <a:pt x="413127" y="1492"/>
                </a:lnTo>
                <a:lnTo>
                  <a:pt x="450011" y="0"/>
                </a:lnTo>
                <a:lnTo>
                  <a:pt x="486896" y="1492"/>
                </a:lnTo>
                <a:lnTo>
                  <a:pt x="558097" y="13087"/>
                </a:lnTo>
                <a:lnTo>
                  <a:pt x="625101" y="35386"/>
                </a:lnTo>
                <a:lnTo>
                  <a:pt x="686978" y="67459"/>
                </a:lnTo>
                <a:lnTo>
                  <a:pt x="742798" y="108378"/>
                </a:lnTo>
                <a:lnTo>
                  <a:pt x="791632" y="157212"/>
                </a:lnTo>
                <a:lnTo>
                  <a:pt x="832550" y="213032"/>
                </a:lnTo>
                <a:lnTo>
                  <a:pt x="864624" y="274909"/>
                </a:lnTo>
                <a:lnTo>
                  <a:pt x="886923" y="341913"/>
                </a:lnTo>
                <a:lnTo>
                  <a:pt x="898517" y="413114"/>
                </a:lnTo>
                <a:lnTo>
                  <a:pt x="900010" y="449999"/>
                </a:lnTo>
                <a:lnTo>
                  <a:pt x="898517" y="486883"/>
                </a:lnTo>
                <a:lnTo>
                  <a:pt x="886923" y="558084"/>
                </a:lnTo>
                <a:lnTo>
                  <a:pt x="864624" y="625088"/>
                </a:lnTo>
                <a:lnTo>
                  <a:pt x="832550" y="686965"/>
                </a:lnTo>
                <a:lnTo>
                  <a:pt x="791632" y="742785"/>
                </a:lnTo>
                <a:lnTo>
                  <a:pt x="742798" y="791619"/>
                </a:lnTo>
                <a:lnTo>
                  <a:pt x="686978" y="832538"/>
                </a:lnTo>
                <a:lnTo>
                  <a:pt x="625101" y="864611"/>
                </a:lnTo>
                <a:lnTo>
                  <a:pt x="558097" y="886910"/>
                </a:lnTo>
                <a:lnTo>
                  <a:pt x="486896" y="898505"/>
                </a:lnTo>
                <a:lnTo>
                  <a:pt x="450011" y="899998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10043" y="2385060"/>
            <a:ext cx="431292" cy="5394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36746" y="1553793"/>
            <a:ext cx="491617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全流程数据贯通，实时数据可视化，园区智慧决策支</a:t>
            </a:r>
            <a:r>
              <a:rPr sz="1600" b="1" spc="-20" dirty="0">
                <a:latin typeface="Microsoft JhengHei"/>
                <a:cs typeface="Microsoft JhengHei"/>
              </a:rPr>
              <a:t>持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990825" y="4346244"/>
            <a:ext cx="2183130" cy="109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</a:pPr>
            <a:r>
              <a:rPr sz="1200" spc="10" dirty="0">
                <a:latin typeface="Arial Unicode MS"/>
                <a:cs typeface="Arial Unicode MS"/>
              </a:rPr>
              <a:t>精准</a:t>
            </a:r>
            <a:r>
              <a:rPr sz="1200" spc="15" dirty="0">
                <a:latin typeface="Arial Unicode MS"/>
                <a:cs typeface="Arial Unicode MS"/>
              </a:rPr>
              <a:t>追踪车辆停留、等待及装</a:t>
            </a:r>
            <a:r>
              <a:rPr sz="1200" dirty="0">
                <a:latin typeface="Arial Unicode MS"/>
                <a:cs typeface="Arial Unicode MS"/>
              </a:rPr>
              <a:t>卸 </a:t>
            </a:r>
            <a:r>
              <a:rPr sz="1200" spc="10" dirty="0">
                <a:latin typeface="Arial Unicode MS"/>
                <a:cs typeface="Arial Unicode MS"/>
              </a:rPr>
              <a:t>全流</a:t>
            </a:r>
            <a:r>
              <a:rPr sz="1200" spc="15" dirty="0">
                <a:latin typeface="Arial Unicode MS"/>
                <a:cs typeface="Arial Unicode MS"/>
              </a:rPr>
              <a:t>程时长，提前预警高峰期</a:t>
            </a:r>
            <a:r>
              <a:rPr sz="1200" dirty="0">
                <a:latin typeface="Arial Unicode MS"/>
                <a:cs typeface="Arial Unicode MS"/>
              </a:rPr>
              <a:t>车 </a:t>
            </a:r>
            <a:r>
              <a:rPr sz="1200" spc="10" dirty="0">
                <a:latin typeface="Arial Unicode MS"/>
                <a:cs typeface="Arial Unicode MS"/>
              </a:rPr>
              <a:t>辆积</a:t>
            </a:r>
            <a:r>
              <a:rPr sz="1200" spc="15" dirty="0">
                <a:latin typeface="Arial Unicode MS"/>
                <a:cs typeface="Arial Unicode MS"/>
              </a:rPr>
              <a:t>压风险，结合路径优化算</a:t>
            </a:r>
            <a:r>
              <a:rPr sz="1200" dirty="0">
                <a:latin typeface="Arial Unicode MS"/>
                <a:cs typeface="Arial Unicode MS"/>
              </a:rPr>
              <a:t>法 </a:t>
            </a:r>
            <a:r>
              <a:rPr sz="1200" spc="25" dirty="0">
                <a:latin typeface="Arial Unicode MS"/>
                <a:cs typeface="Arial Unicode MS"/>
              </a:rPr>
              <a:t>推</a:t>
            </a:r>
            <a:r>
              <a:rPr sz="1200" spc="30" dirty="0">
                <a:latin typeface="Arial Unicode MS"/>
                <a:cs typeface="Arial Unicode MS"/>
              </a:rPr>
              <a:t>荐分流方案，实现</a:t>
            </a:r>
            <a:r>
              <a:rPr sz="1200" spc="80" dirty="0">
                <a:latin typeface="Arial Unicode MS"/>
                <a:cs typeface="Arial Unicode MS"/>
              </a:rPr>
              <a:t>"</a:t>
            </a:r>
            <a:r>
              <a:rPr sz="1200" spc="30" dirty="0">
                <a:latin typeface="Arial Unicode MS"/>
                <a:cs typeface="Arial Unicode MS"/>
              </a:rPr>
              <a:t>快进快出</a:t>
            </a:r>
            <a:r>
              <a:rPr sz="1200" spc="55" dirty="0">
                <a:latin typeface="Arial Unicode MS"/>
                <a:cs typeface="Arial Unicode MS"/>
              </a:rPr>
              <a:t>"</a:t>
            </a:r>
            <a:r>
              <a:rPr sz="1200" spc="45" dirty="0">
                <a:latin typeface="Arial Unicode MS"/>
                <a:cs typeface="Arial Unicode MS"/>
              </a:rPr>
              <a:t> </a:t>
            </a:r>
            <a:r>
              <a:rPr sz="1200" dirty="0">
                <a:latin typeface="Arial Unicode MS"/>
                <a:cs typeface="Arial Unicode MS"/>
              </a:rPr>
              <a:t>的园区协同管理目标。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8654" y="4346244"/>
            <a:ext cx="2311400" cy="109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5000"/>
              </a:lnSpc>
            </a:pPr>
            <a:r>
              <a:rPr sz="1200" spc="10" dirty="0">
                <a:latin typeface="Arial Unicode MS"/>
                <a:cs typeface="Arial Unicode MS"/>
              </a:rPr>
              <a:t>通过</a:t>
            </a:r>
            <a:r>
              <a:rPr sz="1200" spc="15" dirty="0">
                <a:latin typeface="Arial Unicode MS"/>
                <a:cs typeface="Arial Unicode MS"/>
              </a:rPr>
              <a:t>入仓、提货、车型等多维</a:t>
            </a:r>
            <a:r>
              <a:rPr sz="1200" dirty="0">
                <a:latin typeface="Arial Unicode MS"/>
                <a:cs typeface="Arial Unicode MS"/>
              </a:rPr>
              <a:t>度 </a:t>
            </a:r>
            <a:r>
              <a:rPr sz="1200" spc="25" dirty="0">
                <a:latin typeface="Arial Unicode MS"/>
                <a:cs typeface="Arial Unicode MS"/>
              </a:rPr>
              <a:t>数据采</a:t>
            </a:r>
            <a:r>
              <a:rPr sz="1200" spc="30" dirty="0">
                <a:latin typeface="Arial Unicode MS"/>
                <a:cs typeface="Arial Unicode MS"/>
              </a:rPr>
              <a:t>集，集成</a:t>
            </a:r>
            <a:r>
              <a:rPr sz="1200" spc="130" dirty="0">
                <a:latin typeface="Arial Unicode MS"/>
                <a:cs typeface="Arial Unicode MS"/>
              </a:rPr>
              <a:t>W</a:t>
            </a:r>
            <a:r>
              <a:rPr sz="1200" spc="150" dirty="0">
                <a:latin typeface="Arial Unicode MS"/>
                <a:cs typeface="Arial Unicode MS"/>
              </a:rPr>
              <a:t>M</a:t>
            </a:r>
            <a:r>
              <a:rPr sz="1200" spc="20" dirty="0">
                <a:latin typeface="Arial Unicode MS"/>
                <a:cs typeface="Arial Unicode MS"/>
              </a:rPr>
              <a:t>S</a:t>
            </a:r>
            <a:r>
              <a:rPr sz="1200" spc="30" dirty="0">
                <a:latin typeface="Arial Unicode MS"/>
                <a:cs typeface="Arial Unicode MS"/>
              </a:rPr>
              <a:t>、</a:t>
            </a:r>
            <a:r>
              <a:rPr sz="1200" spc="-30" dirty="0">
                <a:latin typeface="Arial Unicode MS"/>
                <a:cs typeface="Arial Unicode MS"/>
              </a:rPr>
              <a:t>T</a:t>
            </a:r>
            <a:r>
              <a:rPr sz="1200" spc="150" dirty="0">
                <a:latin typeface="Arial Unicode MS"/>
                <a:cs typeface="Arial Unicode MS"/>
              </a:rPr>
              <a:t>M</a:t>
            </a:r>
            <a:r>
              <a:rPr sz="1200" spc="20" dirty="0">
                <a:latin typeface="Arial Unicode MS"/>
                <a:cs typeface="Arial Unicode MS"/>
              </a:rPr>
              <a:t>S</a:t>
            </a:r>
            <a:r>
              <a:rPr sz="1200" dirty="0">
                <a:latin typeface="Arial Unicode MS"/>
                <a:cs typeface="Arial Unicode MS"/>
              </a:rPr>
              <a:t>等 系统数据，构建统一可视化平台， </a:t>
            </a:r>
            <a:r>
              <a:rPr sz="1200" spc="10" dirty="0">
                <a:latin typeface="Arial Unicode MS"/>
                <a:cs typeface="Arial Unicode MS"/>
              </a:rPr>
              <a:t>实时</a:t>
            </a:r>
            <a:r>
              <a:rPr sz="1200" spc="15" dirty="0">
                <a:latin typeface="Arial Unicode MS"/>
                <a:cs typeface="Arial Unicode MS"/>
              </a:rPr>
              <a:t>监控各项关键指标，打破</a:t>
            </a:r>
            <a:r>
              <a:rPr sz="1200" dirty="0">
                <a:latin typeface="Arial Unicode MS"/>
                <a:cs typeface="Arial Unicode MS"/>
              </a:rPr>
              <a:t>信 息孤岛，支撑精准调度。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33439" y="4346244"/>
            <a:ext cx="2334260" cy="109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5000"/>
              </a:lnSpc>
            </a:pPr>
            <a:r>
              <a:rPr sz="1200" dirty="0">
                <a:latin typeface="Arial Unicode MS"/>
                <a:cs typeface="Arial Unicode MS"/>
              </a:rPr>
              <a:t>集成叉车、装箱工具等使用数据， 自动调度叉车、</a:t>
            </a:r>
            <a:r>
              <a:rPr sz="1200" spc="30" dirty="0">
                <a:latin typeface="Arial Unicode MS"/>
                <a:cs typeface="Arial Unicode MS"/>
              </a:rPr>
              <a:t>A</a:t>
            </a:r>
            <a:r>
              <a:rPr sz="1200" spc="15" dirty="0">
                <a:latin typeface="Arial Unicode MS"/>
                <a:cs typeface="Arial Unicode MS"/>
              </a:rPr>
              <a:t>G</a:t>
            </a:r>
            <a:r>
              <a:rPr sz="1200" spc="-25" dirty="0">
                <a:latin typeface="Arial Unicode MS"/>
                <a:cs typeface="Arial Unicode MS"/>
              </a:rPr>
              <a:t>V等设备资源， </a:t>
            </a:r>
            <a:r>
              <a:rPr sz="1200" spc="10" dirty="0">
                <a:latin typeface="Arial Unicode MS"/>
                <a:cs typeface="Arial Unicode MS"/>
              </a:rPr>
              <a:t>量化</a:t>
            </a:r>
            <a:r>
              <a:rPr sz="1200" spc="15" dirty="0">
                <a:latin typeface="Arial Unicode MS"/>
                <a:cs typeface="Arial Unicode MS"/>
              </a:rPr>
              <a:t>设备运行效率，优化协同</a:t>
            </a:r>
            <a:r>
              <a:rPr sz="1200" dirty="0">
                <a:latin typeface="Arial Unicode MS"/>
                <a:cs typeface="Arial Unicode MS"/>
              </a:rPr>
              <a:t>调 </a:t>
            </a:r>
            <a:r>
              <a:rPr sz="1200" spc="10" dirty="0">
                <a:latin typeface="Arial Unicode MS"/>
                <a:cs typeface="Arial Unicode MS"/>
              </a:rPr>
              <a:t>度策</a:t>
            </a:r>
            <a:r>
              <a:rPr sz="1200" spc="15" dirty="0">
                <a:latin typeface="Arial Unicode MS"/>
                <a:cs typeface="Arial Unicode MS"/>
              </a:rPr>
              <a:t>略，消除闲置浪费，实现</a:t>
            </a:r>
            <a:r>
              <a:rPr sz="1200" dirty="0">
                <a:latin typeface="Arial Unicode MS"/>
                <a:cs typeface="Arial Unicode MS"/>
              </a:rPr>
              <a:t>空 间与效能的动态平衡。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7030" y="3608373"/>
            <a:ext cx="174498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多维度数据统计体</a:t>
            </a:r>
            <a:r>
              <a:rPr sz="1500" b="1" dirty="0">
                <a:latin typeface="Microsoft JhengHei"/>
                <a:cs typeface="Microsoft JhengHei"/>
              </a:rPr>
              <a:t>系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94416" y="3608373"/>
            <a:ext cx="174498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月台与货量效能分</a:t>
            </a:r>
            <a:r>
              <a:rPr sz="1500" b="1" dirty="0">
                <a:latin typeface="Microsoft JhengHei"/>
                <a:cs typeface="Microsoft JhengHei"/>
              </a:rPr>
              <a:t>析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1803" y="3608373"/>
            <a:ext cx="174498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工具与设备效能统</a:t>
            </a:r>
            <a:r>
              <a:rPr sz="1500" b="1" dirty="0">
                <a:latin typeface="Microsoft JhengHei"/>
                <a:cs typeface="Microsoft JhengHei"/>
              </a:rPr>
              <a:t>计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04439" y="3608373"/>
            <a:ext cx="155384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园区动态时长管</a:t>
            </a:r>
            <a:r>
              <a:rPr sz="1500" b="1" dirty="0">
                <a:latin typeface="Microsoft JhengHei"/>
                <a:cs typeface="Microsoft JhengHei"/>
              </a:rPr>
              <a:t>理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76053" y="4346244"/>
            <a:ext cx="2182495" cy="109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</a:pPr>
            <a:r>
              <a:rPr sz="1200" spc="10" dirty="0">
                <a:latin typeface="Arial Unicode MS"/>
                <a:cs typeface="Arial Unicode MS"/>
              </a:rPr>
              <a:t>实时</a:t>
            </a:r>
            <a:r>
              <a:rPr sz="1200" spc="15" dirty="0">
                <a:latin typeface="Arial Unicode MS"/>
                <a:cs typeface="Arial Unicode MS"/>
              </a:rPr>
              <a:t>统计月台货量、订单及方</a:t>
            </a:r>
            <a:r>
              <a:rPr sz="1200" dirty="0">
                <a:latin typeface="Arial Unicode MS"/>
                <a:cs typeface="Arial Unicode MS"/>
              </a:rPr>
              <a:t>量 </a:t>
            </a:r>
            <a:r>
              <a:rPr sz="1200" spc="114" dirty="0">
                <a:latin typeface="Arial Unicode MS"/>
                <a:cs typeface="Arial Unicode MS"/>
              </a:rPr>
              <a:t>数据</a:t>
            </a:r>
            <a:r>
              <a:rPr sz="1200" dirty="0">
                <a:latin typeface="Arial Unicode MS"/>
                <a:cs typeface="Arial Unicode MS"/>
              </a:rPr>
              <a:t>，</a:t>
            </a:r>
            <a:r>
              <a:rPr sz="1200" spc="-220" dirty="0">
                <a:latin typeface="Arial Unicode MS"/>
                <a:cs typeface="Arial Unicode MS"/>
              </a:rPr>
              <a:t> </a:t>
            </a:r>
            <a:r>
              <a:rPr sz="1200" spc="114" dirty="0">
                <a:latin typeface="Arial Unicode MS"/>
                <a:cs typeface="Arial Unicode MS"/>
              </a:rPr>
              <a:t>动态评估资源利用</a:t>
            </a:r>
            <a:r>
              <a:rPr sz="1200" spc="120" dirty="0">
                <a:latin typeface="Arial Unicode MS"/>
                <a:cs typeface="Arial Unicode MS"/>
              </a:rPr>
              <a:t>率</a:t>
            </a:r>
            <a:r>
              <a:rPr sz="1200" dirty="0">
                <a:latin typeface="Arial Unicode MS"/>
                <a:cs typeface="Arial Unicode MS"/>
              </a:rPr>
              <a:t>， </a:t>
            </a:r>
            <a:r>
              <a:rPr sz="1200" spc="75" dirty="0">
                <a:latin typeface="Arial Unicode MS"/>
                <a:cs typeface="Arial Unicode MS"/>
              </a:rPr>
              <a:t>实现运营状态透明化</a:t>
            </a:r>
            <a:r>
              <a:rPr sz="1200" dirty="0">
                <a:latin typeface="Arial Unicode MS"/>
                <a:cs typeface="Arial Unicode MS"/>
              </a:rPr>
              <a:t>， </a:t>
            </a:r>
            <a:r>
              <a:rPr sz="1200" spc="-120" dirty="0">
                <a:latin typeface="Arial Unicode MS"/>
                <a:cs typeface="Arial Unicode MS"/>
              </a:rPr>
              <a:t> </a:t>
            </a:r>
            <a:r>
              <a:rPr sz="1200" spc="80" dirty="0">
                <a:latin typeface="Arial Unicode MS"/>
                <a:cs typeface="Arial Unicode MS"/>
              </a:rPr>
              <a:t>为月</a:t>
            </a:r>
            <a:r>
              <a:rPr sz="1200" dirty="0">
                <a:latin typeface="Arial Unicode MS"/>
                <a:cs typeface="Arial Unicode MS"/>
              </a:rPr>
              <a:t>台 </a:t>
            </a:r>
            <a:r>
              <a:rPr sz="1200" spc="10" dirty="0">
                <a:latin typeface="Arial Unicode MS"/>
                <a:cs typeface="Arial Unicode MS"/>
              </a:rPr>
              <a:t>调度</a:t>
            </a:r>
            <a:r>
              <a:rPr sz="1200" spc="15" dirty="0">
                <a:latin typeface="Arial Unicode MS"/>
                <a:cs typeface="Arial Unicode MS"/>
              </a:rPr>
              <a:t>与仓储规划等提供数据驱</a:t>
            </a:r>
            <a:r>
              <a:rPr sz="1200" dirty="0">
                <a:latin typeface="Arial Unicode MS"/>
                <a:cs typeface="Arial Unicode MS"/>
              </a:rPr>
              <a:t>动 的科学依据。</a:t>
            </a:r>
            <a:endParaRPr sz="12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6523" y="256031"/>
            <a:ext cx="2171700" cy="612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50847" y="2729483"/>
            <a:ext cx="9121140" cy="1225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0011" y="2903220"/>
            <a:ext cx="9121140" cy="1225550"/>
          </a:xfrm>
          <a:custGeom>
            <a:avLst/>
            <a:gdLst/>
            <a:ahLst/>
            <a:cxnLst/>
            <a:rect l="l" t="t" r="r" b="b"/>
            <a:pathLst>
              <a:path w="9121140" h="1225550">
                <a:moveTo>
                  <a:pt x="0" y="0"/>
                </a:moveTo>
                <a:lnTo>
                  <a:pt x="9121140" y="0"/>
                </a:lnTo>
                <a:lnTo>
                  <a:pt x="9121140" y="1225295"/>
                </a:lnTo>
                <a:lnTo>
                  <a:pt x="0" y="1225295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96967" y="3103649"/>
            <a:ext cx="1996439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b="1" spc="85" dirty="0">
                <a:latin typeface="Microsoft JhengHei"/>
                <a:cs typeface="Microsoft JhengHei"/>
              </a:rPr>
              <a:t>系统业务说</a:t>
            </a:r>
            <a:r>
              <a:rPr sz="2500" b="1" spc="-25" dirty="0">
                <a:latin typeface="Microsoft JhengHei"/>
                <a:cs typeface="Microsoft JhengHei"/>
              </a:rPr>
              <a:t>明</a:t>
            </a:r>
            <a:endParaRPr sz="25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6967" y="3540428"/>
            <a:ext cx="295846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75" dirty="0">
                <a:latin typeface="Arial Unicode MS"/>
                <a:cs typeface="Arial Unicode MS"/>
              </a:rPr>
              <a:t>园区物流协同管</a:t>
            </a:r>
            <a:r>
              <a:rPr sz="2800" spc="-30" dirty="0">
                <a:latin typeface="Arial Unicode MS"/>
                <a:cs typeface="Arial Unicode MS"/>
              </a:rPr>
              <a:t>理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85588" y="3491484"/>
            <a:ext cx="3348354" cy="0"/>
          </a:xfrm>
          <a:custGeom>
            <a:avLst/>
            <a:gdLst/>
            <a:ahLst/>
            <a:cxnLst/>
            <a:rect l="l" t="t" r="r" b="b"/>
            <a:pathLst>
              <a:path w="3348354">
                <a:moveTo>
                  <a:pt x="0" y="0"/>
                </a:moveTo>
                <a:lnTo>
                  <a:pt x="3348227" y="0"/>
                </a:lnTo>
              </a:path>
            </a:pathLst>
          </a:custGeom>
          <a:ln w="19557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53109" y="3065147"/>
            <a:ext cx="527303" cy="767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89987" y="3065147"/>
            <a:ext cx="515112" cy="7670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Y</a:t>
            </a:r>
            <a:r>
              <a:rPr spc="280" dirty="0"/>
              <a:t>M</a:t>
            </a:r>
            <a:r>
              <a:rPr spc="-40" dirty="0"/>
              <a:t>S</a:t>
            </a:r>
            <a:r>
              <a:rPr spc="-25" dirty="0"/>
              <a:t>系统架构</a:t>
            </a:r>
            <a:r>
              <a:rPr spc="-30" dirty="0"/>
              <a:t>图</a:t>
            </a:r>
          </a:p>
        </p:txBody>
      </p:sp>
      <p:sp>
        <p:nvSpPr>
          <p:cNvPr id="3" name="object 3"/>
          <p:cNvSpPr/>
          <p:nvPr/>
        </p:nvSpPr>
        <p:spPr>
          <a:xfrm>
            <a:off x="1019555" y="1018032"/>
            <a:ext cx="10153015" cy="504825"/>
          </a:xfrm>
          <a:custGeom>
            <a:avLst/>
            <a:gdLst/>
            <a:ahLst/>
            <a:cxnLst/>
            <a:rect l="l" t="t" r="r" b="b"/>
            <a:pathLst>
              <a:path w="10153015" h="504825">
                <a:moveTo>
                  <a:pt x="18287" y="504444"/>
                </a:moveTo>
                <a:lnTo>
                  <a:pt x="5870" y="499043"/>
                </a:lnTo>
                <a:lnTo>
                  <a:pt x="31" y="486681"/>
                </a:lnTo>
                <a:lnTo>
                  <a:pt x="0" y="18288"/>
                </a:lnTo>
                <a:lnTo>
                  <a:pt x="5514" y="5646"/>
                </a:lnTo>
                <a:lnTo>
                  <a:pt x="17770" y="15"/>
                </a:lnTo>
                <a:lnTo>
                  <a:pt x="10134600" y="0"/>
                </a:lnTo>
                <a:lnTo>
                  <a:pt x="10147017" y="5290"/>
                </a:lnTo>
                <a:lnTo>
                  <a:pt x="10152856" y="17754"/>
                </a:lnTo>
                <a:lnTo>
                  <a:pt x="10152888" y="486156"/>
                </a:lnTo>
                <a:lnTo>
                  <a:pt x="10147373" y="498688"/>
                </a:lnTo>
                <a:lnTo>
                  <a:pt x="10135117" y="504420"/>
                </a:lnTo>
                <a:lnTo>
                  <a:pt x="18287" y="50444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2084" y="1165453"/>
            <a:ext cx="96139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30" dirty="0">
                <a:latin typeface="Microsoft JhengHei"/>
                <a:cs typeface="Microsoft JhengHei"/>
              </a:rPr>
              <a:t>Y</a:t>
            </a:r>
            <a:r>
              <a:rPr sz="1400" b="1" spc="-75" dirty="0">
                <a:latin typeface="Microsoft JhengHei"/>
                <a:cs typeface="Microsoft JhengHei"/>
              </a:rPr>
              <a:t>M</a:t>
            </a:r>
            <a:r>
              <a:rPr sz="1400" b="1" spc="105" dirty="0">
                <a:latin typeface="Microsoft JhengHei"/>
                <a:cs typeface="Microsoft JhengHei"/>
              </a:rPr>
              <a:t>S</a:t>
            </a:r>
            <a:r>
              <a:rPr sz="1400" b="1" dirty="0">
                <a:latin typeface="Microsoft JhengHei"/>
                <a:cs typeface="Microsoft JhengHei"/>
              </a:rPr>
              <a:t>操作端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1048" y="1126236"/>
            <a:ext cx="136906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B</a:t>
            </a:r>
            <a:r>
              <a:rPr sz="1200" spc="130" dirty="0">
                <a:latin typeface="Arial Unicode MS"/>
                <a:cs typeface="Arial Unicode MS"/>
              </a:rPr>
              <a:t>/</a:t>
            </a:r>
            <a:r>
              <a:rPr sz="1200" spc="-10" dirty="0">
                <a:latin typeface="Arial Unicode MS"/>
                <a:cs typeface="Arial Unicode MS"/>
              </a:rPr>
              <a:t>S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12580" y="1126236"/>
            <a:ext cx="136906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79730">
              <a:lnSpc>
                <a:spcPct val="100000"/>
              </a:lnSpc>
            </a:pPr>
            <a:r>
              <a:rPr sz="1200" spc="25" dirty="0">
                <a:latin typeface="Arial Unicode MS"/>
                <a:cs typeface="Arial Unicode MS"/>
              </a:rPr>
              <a:t>L</a:t>
            </a:r>
            <a:r>
              <a:rPr sz="1200" dirty="0">
                <a:latin typeface="Arial Unicode MS"/>
                <a:cs typeface="Arial Unicode MS"/>
              </a:rPr>
              <a:t>E</a:t>
            </a:r>
            <a:r>
              <a:rPr sz="1200" spc="5" dirty="0">
                <a:latin typeface="Arial Unicode MS"/>
                <a:cs typeface="Arial Unicode MS"/>
              </a:rPr>
              <a:t>D</a:t>
            </a:r>
            <a:r>
              <a:rPr sz="1200" dirty="0">
                <a:latin typeface="Arial Unicode MS"/>
                <a:cs typeface="Arial Unicode MS"/>
              </a:rPr>
              <a:t>大屏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1811" y="1126236"/>
            <a:ext cx="290830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576580">
              <a:lnSpc>
                <a:spcPct val="100000"/>
              </a:lnSpc>
              <a:tabLst>
                <a:tab pos="1995170" algn="l"/>
              </a:tabLst>
            </a:pPr>
            <a:r>
              <a:rPr sz="1200" spc="50" dirty="0">
                <a:latin typeface="Arial Unicode MS"/>
                <a:cs typeface="Arial Unicode MS"/>
              </a:rPr>
              <a:t>H</a:t>
            </a:r>
            <a:r>
              <a:rPr sz="1200" spc="80" dirty="0">
                <a:latin typeface="Arial Unicode MS"/>
                <a:cs typeface="Arial Unicode MS"/>
              </a:rPr>
              <a:t>5	小程序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71816" y="1126236"/>
            <a:ext cx="136906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1200" spc="30" dirty="0">
                <a:latin typeface="Arial Unicode MS"/>
                <a:cs typeface="Arial Unicode MS"/>
              </a:rPr>
              <a:t>A</a:t>
            </a:r>
            <a:r>
              <a:rPr sz="1200" spc="-25" dirty="0">
                <a:latin typeface="Arial Unicode MS"/>
                <a:cs typeface="Arial Unicode MS"/>
              </a:rPr>
              <a:t>P</a:t>
            </a:r>
            <a:r>
              <a:rPr sz="1200" spc="-20" dirty="0">
                <a:latin typeface="Arial Unicode MS"/>
                <a:cs typeface="Arial Unicode MS"/>
              </a:rPr>
              <a:t>P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34788" y="1598675"/>
            <a:ext cx="1007744" cy="3456940"/>
          </a:xfrm>
          <a:custGeom>
            <a:avLst/>
            <a:gdLst/>
            <a:ahLst/>
            <a:cxnLst/>
            <a:rect l="l" t="t" r="r" b="b"/>
            <a:pathLst>
              <a:path w="1007744" h="3456940">
                <a:moveTo>
                  <a:pt x="36583" y="3456432"/>
                </a:moveTo>
                <a:lnTo>
                  <a:pt x="22446" y="3453633"/>
                </a:lnTo>
                <a:lnTo>
                  <a:pt x="10934" y="3446256"/>
                </a:lnTo>
                <a:lnTo>
                  <a:pt x="3101" y="3435355"/>
                </a:lnTo>
                <a:lnTo>
                  <a:pt x="0" y="3421987"/>
                </a:lnTo>
                <a:lnTo>
                  <a:pt x="7" y="36575"/>
                </a:lnTo>
                <a:lnTo>
                  <a:pt x="20544" y="3630"/>
                </a:lnTo>
                <a:lnTo>
                  <a:pt x="970795" y="0"/>
                </a:lnTo>
                <a:lnTo>
                  <a:pt x="984772" y="2896"/>
                </a:lnTo>
                <a:lnTo>
                  <a:pt x="996269" y="10524"/>
                </a:lnTo>
                <a:lnTo>
                  <a:pt x="1004168" y="21766"/>
                </a:lnTo>
                <a:lnTo>
                  <a:pt x="1007353" y="35506"/>
                </a:lnTo>
                <a:lnTo>
                  <a:pt x="1007371" y="3419856"/>
                </a:lnTo>
                <a:lnTo>
                  <a:pt x="1004573" y="3433734"/>
                </a:lnTo>
                <a:lnTo>
                  <a:pt x="996980" y="3445196"/>
                </a:lnTo>
                <a:lnTo>
                  <a:pt x="985708" y="3453125"/>
                </a:lnTo>
                <a:lnTo>
                  <a:pt x="971874" y="3456404"/>
                </a:lnTo>
                <a:lnTo>
                  <a:pt x="36583" y="345643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1475" y="1764792"/>
            <a:ext cx="7924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30504">
              <a:lnSpc>
                <a:spcPct val="100000"/>
              </a:lnSpc>
            </a:pPr>
            <a:r>
              <a:rPr sz="1200" spc="-60" dirty="0">
                <a:latin typeface="Arial Unicode MS"/>
                <a:cs typeface="Arial Unicode MS"/>
              </a:rPr>
              <a:t>T</a:t>
            </a:r>
            <a:r>
              <a:rPr sz="1200" spc="120" dirty="0">
                <a:latin typeface="Arial Unicode MS"/>
                <a:cs typeface="Arial Unicode MS"/>
              </a:rPr>
              <a:t>M</a:t>
            </a:r>
            <a:r>
              <a:rPr sz="1200" spc="-10" dirty="0">
                <a:latin typeface="Arial Unicode MS"/>
                <a:cs typeface="Arial Unicode MS"/>
              </a:rPr>
              <a:t>S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1475" y="3400044"/>
            <a:ext cx="7924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15" dirty="0">
                <a:latin typeface="Arial Unicode MS"/>
                <a:cs typeface="Arial Unicode MS"/>
              </a:rPr>
              <a:t>O</a:t>
            </a:r>
            <a:r>
              <a:rPr sz="1200" spc="30" dirty="0">
                <a:latin typeface="Arial Unicode MS"/>
                <a:cs typeface="Arial Unicode MS"/>
              </a:rPr>
              <a:t>A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1475" y="2173223"/>
            <a:ext cx="7924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4384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E</a:t>
            </a:r>
            <a:r>
              <a:rPr sz="1200" spc="-65" dirty="0">
                <a:latin typeface="Arial Unicode MS"/>
                <a:cs typeface="Arial Unicode MS"/>
              </a:rPr>
              <a:t>R</a:t>
            </a:r>
            <a:r>
              <a:rPr sz="1200" spc="-20" dirty="0">
                <a:latin typeface="Arial Unicode MS"/>
                <a:cs typeface="Arial Unicode MS"/>
              </a:rPr>
              <a:t>P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1475" y="2991611"/>
            <a:ext cx="7924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4945">
              <a:lnSpc>
                <a:spcPct val="100000"/>
              </a:lnSpc>
            </a:pPr>
            <a:r>
              <a:rPr sz="1200" spc="100" dirty="0">
                <a:latin typeface="Arial Unicode MS"/>
                <a:cs typeface="Arial Unicode MS"/>
              </a:rPr>
              <a:t>W</a:t>
            </a:r>
            <a:r>
              <a:rPr sz="1200" spc="120" dirty="0">
                <a:latin typeface="Arial Unicode MS"/>
                <a:cs typeface="Arial Unicode MS"/>
              </a:rPr>
              <a:t>M</a:t>
            </a:r>
            <a:r>
              <a:rPr sz="1200" spc="-10" dirty="0">
                <a:latin typeface="Arial Unicode MS"/>
                <a:cs typeface="Arial Unicode MS"/>
              </a:rPr>
              <a:t>S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1475" y="2583179"/>
            <a:ext cx="7924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19075">
              <a:lnSpc>
                <a:spcPct val="100000"/>
              </a:lnSpc>
            </a:pPr>
            <a:r>
              <a:rPr sz="1200" spc="-10" dirty="0">
                <a:latin typeface="Arial Unicode MS"/>
                <a:cs typeface="Arial Unicode MS"/>
              </a:rPr>
              <a:t>S</a:t>
            </a:r>
            <a:r>
              <a:rPr sz="1200" spc="-5" dirty="0">
                <a:latin typeface="Arial Unicode MS"/>
                <a:cs typeface="Arial Unicode MS"/>
              </a:rPr>
              <a:t>C</a:t>
            </a:r>
            <a:r>
              <a:rPr sz="1200" spc="120" dirty="0">
                <a:latin typeface="Arial Unicode MS"/>
                <a:cs typeface="Arial Unicode MS"/>
              </a:rPr>
              <a:t>M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1475" y="4626864"/>
            <a:ext cx="7924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22885">
              <a:lnSpc>
                <a:spcPct val="100000"/>
              </a:lnSpc>
            </a:pPr>
            <a:r>
              <a:rPr sz="1200" spc="120" dirty="0">
                <a:latin typeface="Arial Unicode MS"/>
                <a:cs typeface="Arial Unicode MS"/>
              </a:rPr>
              <a:t>ME</a:t>
            </a:r>
            <a:r>
              <a:rPr sz="1200" spc="-10" dirty="0">
                <a:latin typeface="Arial Unicode MS"/>
                <a:cs typeface="Arial Unicode MS"/>
              </a:rPr>
              <a:t>S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1475" y="4218432"/>
            <a:ext cx="7924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42570">
              <a:lnSpc>
                <a:spcPct val="100000"/>
              </a:lnSpc>
            </a:pPr>
            <a:r>
              <a:rPr sz="1200" spc="-10" dirty="0">
                <a:latin typeface="Arial Unicode MS"/>
                <a:cs typeface="Arial Unicode MS"/>
              </a:rPr>
              <a:t>S</a:t>
            </a:r>
            <a:r>
              <a:rPr sz="1200" spc="30" dirty="0">
                <a:latin typeface="Arial Unicode MS"/>
                <a:cs typeface="Arial Unicode MS"/>
              </a:rPr>
              <a:t>A</a:t>
            </a:r>
            <a:r>
              <a:rPr sz="1200" spc="-20" dirty="0">
                <a:latin typeface="Arial Unicode MS"/>
                <a:cs typeface="Arial Unicode MS"/>
              </a:rPr>
              <a:t>P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1475" y="3810000"/>
            <a:ext cx="792480" cy="2870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15265">
              <a:lnSpc>
                <a:spcPct val="100000"/>
              </a:lnSpc>
            </a:pPr>
            <a:r>
              <a:rPr sz="1200" spc="-15" dirty="0">
                <a:latin typeface="Arial Unicode MS"/>
                <a:cs typeface="Arial Unicode MS"/>
              </a:rPr>
              <a:t>O</a:t>
            </a:r>
            <a:r>
              <a:rPr sz="1200" spc="120" dirty="0">
                <a:latin typeface="Arial Unicode MS"/>
                <a:cs typeface="Arial Unicode MS"/>
              </a:rPr>
              <a:t>M</a:t>
            </a:r>
            <a:r>
              <a:rPr sz="1200" spc="-10" dirty="0">
                <a:latin typeface="Arial Unicode MS"/>
                <a:cs typeface="Arial Unicode MS"/>
              </a:rPr>
              <a:t>S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931907" y="1598675"/>
            <a:ext cx="1240790" cy="3456940"/>
          </a:xfrm>
          <a:custGeom>
            <a:avLst/>
            <a:gdLst/>
            <a:ahLst/>
            <a:cxnLst/>
            <a:rect l="l" t="t" r="r" b="b"/>
            <a:pathLst>
              <a:path w="1240790" h="3456940">
                <a:moveTo>
                  <a:pt x="45720" y="3456432"/>
                </a:moveTo>
                <a:lnTo>
                  <a:pt x="9590" y="3438302"/>
                </a:lnTo>
                <a:lnTo>
                  <a:pt x="0" y="45719"/>
                </a:lnTo>
                <a:lnTo>
                  <a:pt x="2490" y="31490"/>
                </a:lnTo>
                <a:lnTo>
                  <a:pt x="30456" y="2740"/>
                </a:lnTo>
                <a:lnTo>
                  <a:pt x="1194816" y="0"/>
                </a:lnTo>
                <a:lnTo>
                  <a:pt x="1208936" y="2322"/>
                </a:lnTo>
                <a:lnTo>
                  <a:pt x="1237680" y="30276"/>
                </a:lnTo>
                <a:lnTo>
                  <a:pt x="1240536" y="3410712"/>
                </a:lnTo>
                <a:lnTo>
                  <a:pt x="1238105" y="3424941"/>
                </a:lnTo>
                <a:lnTo>
                  <a:pt x="1210143" y="3453691"/>
                </a:lnTo>
                <a:lnTo>
                  <a:pt x="45720" y="345643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041635" y="1764792"/>
            <a:ext cx="10210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5104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数字大屏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41635" y="3403091"/>
            <a:ext cx="10210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5104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智能道闸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41635" y="2174748"/>
            <a:ext cx="10210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ct val="100000"/>
              </a:lnSpc>
            </a:pPr>
            <a:r>
              <a:rPr sz="1200" spc="-30" dirty="0">
                <a:latin typeface="Arial Unicode MS"/>
                <a:cs typeface="Arial Unicode MS"/>
              </a:rPr>
              <a:t>I</a:t>
            </a:r>
            <a:r>
              <a:rPr sz="1200" spc="-15" dirty="0">
                <a:latin typeface="Arial Unicode MS"/>
                <a:cs typeface="Arial Unicode MS"/>
              </a:rPr>
              <a:t>O</a:t>
            </a:r>
            <a:r>
              <a:rPr sz="1200" spc="-60" dirty="0">
                <a:latin typeface="Arial Unicode MS"/>
                <a:cs typeface="Arial Unicode MS"/>
              </a:rPr>
              <a:t>T</a:t>
            </a:r>
            <a:r>
              <a:rPr sz="1200" dirty="0">
                <a:latin typeface="Arial Unicode MS"/>
                <a:cs typeface="Arial Unicode MS"/>
              </a:rPr>
              <a:t>地磅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41635" y="2994660"/>
            <a:ext cx="1021080" cy="2870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6850">
              <a:lnSpc>
                <a:spcPct val="100000"/>
              </a:lnSpc>
            </a:pPr>
            <a:r>
              <a:rPr sz="1200" spc="15" dirty="0">
                <a:latin typeface="Arial Unicode MS"/>
                <a:cs typeface="Arial Unicode MS"/>
              </a:rPr>
              <a:t>G</a:t>
            </a:r>
            <a:r>
              <a:rPr sz="1200" spc="-25" dirty="0">
                <a:latin typeface="Arial Unicode MS"/>
                <a:cs typeface="Arial Unicode MS"/>
              </a:rPr>
              <a:t>P</a:t>
            </a:r>
            <a:r>
              <a:rPr sz="1200" spc="-10" dirty="0">
                <a:latin typeface="Arial Unicode MS"/>
                <a:cs typeface="Arial Unicode MS"/>
              </a:rPr>
              <a:t>S</a:t>
            </a:r>
            <a:r>
              <a:rPr sz="1200" dirty="0">
                <a:latin typeface="Arial Unicode MS"/>
                <a:cs typeface="Arial Unicode MS"/>
              </a:rPr>
              <a:t>导航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41635" y="2584704"/>
            <a:ext cx="10210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6850">
              <a:lnSpc>
                <a:spcPct val="100000"/>
              </a:lnSpc>
            </a:pPr>
            <a:r>
              <a:rPr sz="1200" spc="15" dirty="0">
                <a:latin typeface="Arial Unicode MS"/>
                <a:cs typeface="Arial Unicode MS"/>
              </a:rPr>
              <a:t>G</a:t>
            </a:r>
            <a:r>
              <a:rPr sz="1200" spc="-25" dirty="0">
                <a:latin typeface="Arial Unicode MS"/>
                <a:cs typeface="Arial Unicode MS"/>
              </a:rPr>
              <a:t>P</a:t>
            </a:r>
            <a:r>
              <a:rPr sz="1200" spc="-10" dirty="0">
                <a:latin typeface="Arial Unicode MS"/>
                <a:cs typeface="Arial Unicode MS"/>
              </a:rPr>
              <a:t>S</a:t>
            </a:r>
            <a:r>
              <a:rPr sz="1200" dirty="0">
                <a:latin typeface="Arial Unicode MS"/>
                <a:cs typeface="Arial Unicode MS"/>
              </a:rPr>
              <a:t>定位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41635" y="4632959"/>
            <a:ext cx="10210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5104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电子围栏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41635" y="4223003"/>
            <a:ext cx="10210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5104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园区音柱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41635" y="3813047"/>
            <a:ext cx="102108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5104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访客门禁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19555" y="5131308"/>
            <a:ext cx="5039995" cy="541020"/>
          </a:xfrm>
          <a:custGeom>
            <a:avLst/>
            <a:gdLst/>
            <a:ahLst/>
            <a:cxnLst/>
            <a:rect l="l" t="t" r="r" b="b"/>
            <a:pathLst>
              <a:path w="5039995" h="541020">
                <a:moveTo>
                  <a:pt x="19812" y="541019"/>
                </a:moveTo>
                <a:lnTo>
                  <a:pt x="7135" y="535679"/>
                </a:lnTo>
                <a:lnTo>
                  <a:pt x="337" y="524053"/>
                </a:lnTo>
                <a:lnTo>
                  <a:pt x="0" y="19812"/>
                </a:lnTo>
                <a:lnTo>
                  <a:pt x="5132" y="7021"/>
                </a:lnTo>
                <a:lnTo>
                  <a:pt x="16895" y="298"/>
                </a:lnTo>
                <a:lnTo>
                  <a:pt x="5021580" y="0"/>
                </a:lnTo>
                <a:lnTo>
                  <a:pt x="5033832" y="5107"/>
                </a:lnTo>
                <a:lnTo>
                  <a:pt x="5039816" y="17128"/>
                </a:lnTo>
                <a:lnTo>
                  <a:pt x="5039868" y="521207"/>
                </a:lnTo>
                <a:lnTo>
                  <a:pt x="5035550" y="533776"/>
                </a:lnTo>
                <a:lnTo>
                  <a:pt x="5024109" y="540666"/>
                </a:lnTo>
                <a:lnTo>
                  <a:pt x="19812" y="54101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323555" y="5297042"/>
            <a:ext cx="41338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25" dirty="0">
                <a:latin typeface="Microsoft JhengHei"/>
                <a:cs typeface="Microsoft JhengHei"/>
              </a:rPr>
              <a:t>T</a:t>
            </a:r>
            <a:r>
              <a:rPr sz="1400" b="1" spc="-75" dirty="0">
                <a:latin typeface="Microsoft JhengHei"/>
                <a:cs typeface="Microsoft JhengHei"/>
              </a:rPr>
              <a:t>M</a:t>
            </a:r>
            <a:r>
              <a:rPr sz="1400" b="1" spc="105" dirty="0">
                <a:latin typeface="Microsoft JhengHei"/>
                <a:cs typeface="Microsoft JhengHei"/>
              </a:rPr>
              <a:t>S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18360" y="5257800"/>
            <a:ext cx="115062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3675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承运商司机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64991" y="5257800"/>
            <a:ext cx="1152525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7051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装车发运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11623" y="5257800"/>
            <a:ext cx="1152525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71145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到园管理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132576" y="5135879"/>
            <a:ext cx="5039995" cy="541020"/>
          </a:xfrm>
          <a:custGeom>
            <a:avLst/>
            <a:gdLst/>
            <a:ahLst/>
            <a:cxnLst/>
            <a:rect l="l" t="t" r="r" b="b"/>
            <a:pathLst>
              <a:path w="5039995" h="541020">
                <a:moveTo>
                  <a:pt x="18287" y="541020"/>
                </a:moveTo>
                <a:lnTo>
                  <a:pt x="6030" y="535629"/>
                </a:lnTo>
                <a:lnTo>
                  <a:pt x="50" y="523802"/>
                </a:lnTo>
                <a:lnTo>
                  <a:pt x="0" y="19812"/>
                </a:lnTo>
                <a:lnTo>
                  <a:pt x="4313" y="6959"/>
                </a:lnTo>
                <a:lnTo>
                  <a:pt x="15756" y="264"/>
                </a:lnTo>
                <a:lnTo>
                  <a:pt x="5020056" y="0"/>
                </a:lnTo>
                <a:lnTo>
                  <a:pt x="5032732" y="5057"/>
                </a:lnTo>
                <a:lnTo>
                  <a:pt x="5039530" y="16869"/>
                </a:lnTo>
                <a:lnTo>
                  <a:pt x="5039868" y="521208"/>
                </a:lnTo>
                <a:lnTo>
                  <a:pt x="5034735" y="533714"/>
                </a:lnTo>
                <a:lnTo>
                  <a:pt x="5022972" y="540624"/>
                </a:lnTo>
                <a:lnTo>
                  <a:pt x="18287" y="5410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435559" y="5301665"/>
            <a:ext cx="49593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Microsoft JhengHei"/>
                <a:cs typeface="Microsoft JhengHei"/>
              </a:rPr>
              <a:t>W</a:t>
            </a:r>
            <a:r>
              <a:rPr sz="1400" b="1" spc="-75" dirty="0">
                <a:latin typeface="Microsoft JhengHei"/>
                <a:cs typeface="Microsoft JhengHei"/>
              </a:rPr>
              <a:t>M</a:t>
            </a:r>
            <a:r>
              <a:rPr sz="1400" b="1" spc="105" dirty="0">
                <a:latin typeface="Microsoft JhengHei"/>
                <a:cs typeface="Microsoft JhengHei"/>
              </a:rPr>
              <a:t>S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29856" y="5262371"/>
            <a:ext cx="1152525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7051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预约到货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76488" y="5268467"/>
            <a:ext cx="1152525" cy="2762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71145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月台装卸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24643" y="5262371"/>
            <a:ext cx="115062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69875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装卸称重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19555" y="5753104"/>
            <a:ext cx="10153015" cy="504825"/>
          </a:xfrm>
          <a:custGeom>
            <a:avLst/>
            <a:gdLst/>
            <a:ahLst/>
            <a:cxnLst/>
            <a:rect l="l" t="t" r="r" b="b"/>
            <a:pathLst>
              <a:path w="10153015" h="504825">
                <a:moveTo>
                  <a:pt x="18287" y="504439"/>
                </a:moveTo>
                <a:lnTo>
                  <a:pt x="5870" y="498810"/>
                </a:lnTo>
                <a:lnTo>
                  <a:pt x="31" y="486660"/>
                </a:lnTo>
                <a:lnTo>
                  <a:pt x="0" y="18283"/>
                </a:lnTo>
                <a:lnTo>
                  <a:pt x="5428" y="5497"/>
                </a:lnTo>
                <a:lnTo>
                  <a:pt x="17517" y="0"/>
                </a:lnTo>
                <a:lnTo>
                  <a:pt x="10134611" y="0"/>
                </a:lnTo>
                <a:lnTo>
                  <a:pt x="10146928" y="4966"/>
                </a:lnTo>
                <a:lnTo>
                  <a:pt x="10152835" y="17465"/>
                </a:lnTo>
                <a:lnTo>
                  <a:pt x="10152888" y="486151"/>
                </a:lnTo>
                <a:lnTo>
                  <a:pt x="10147373" y="498455"/>
                </a:lnTo>
                <a:lnTo>
                  <a:pt x="10135117" y="504400"/>
                </a:lnTo>
                <a:lnTo>
                  <a:pt x="18287" y="50443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348574" y="5900216"/>
            <a:ext cx="11652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Microsoft JhengHei"/>
                <a:cs typeface="Microsoft JhengHei"/>
              </a:rPr>
              <a:t>架构平台</a:t>
            </a:r>
            <a:r>
              <a:rPr sz="1400" b="1" spc="-75" dirty="0">
                <a:latin typeface="Microsoft JhengHei"/>
                <a:cs typeface="Microsoft JhengHei"/>
              </a:rPr>
              <a:t>/服务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49879" y="5861303"/>
            <a:ext cx="104394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16535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基础框架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12691" y="5861303"/>
            <a:ext cx="104394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1717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二开平台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77028" y="5861303"/>
            <a:ext cx="104394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E</a:t>
            </a:r>
            <a:r>
              <a:rPr sz="1200" spc="5" dirty="0">
                <a:latin typeface="Arial Unicode MS"/>
                <a:cs typeface="Arial Unicode MS"/>
              </a:rPr>
              <a:t>D</a:t>
            </a:r>
            <a:r>
              <a:rPr sz="1200" spc="-25" dirty="0">
                <a:latin typeface="Arial Unicode MS"/>
                <a:cs typeface="Arial Unicode MS"/>
              </a:rPr>
              <a:t>I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41364" y="5861303"/>
            <a:ext cx="104394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159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作业调度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04176" y="5861303"/>
            <a:ext cx="104394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ct val="100000"/>
              </a:lnSpc>
            </a:pPr>
            <a:r>
              <a:rPr sz="1050" spc="-5" dirty="0">
                <a:latin typeface="Arial Unicode MS"/>
                <a:cs typeface="Arial Unicode MS"/>
              </a:rPr>
              <a:t>用户权限体</a:t>
            </a:r>
            <a:r>
              <a:rPr sz="1050" dirty="0">
                <a:latin typeface="Arial Unicode MS"/>
                <a:cs typeface="Arial Unicode MS"/>
              </a:rPr>
              <a:t>系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668511" y="5861303"/>
            <a:ext cx="104394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16535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部署服务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831323" y="5861303"/>
            <a:ext cx="1043940" cy="2882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1717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日志记录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113788" y="1962911"/>
            <a:ext cx="7740650" cy="3096895"/>
          </a:xfrm>
          <a:custGeom>
            <a:avLst/>
            <a:gdLst/>
            <a:ahLst/>
            <a:cxnLst/>
            <a:rect l="l" t="t" r="r" b="b"/>
            <a:pathLst>
              <a:path w="7740650" h="3096895">
                <a:moveTo>
                  <a:pt x="0" y="0"/>
                </a:moveTo>
                <a:lnTo>
                  <a:pt x="7740396" y="0"/>
                </a:lnTo>
                <a:lnTo>
                  <a:pt x="7740396" y="3096768"/>
                </a:lnTo>
                <a:lnTo>
                  <a:pt x="0" y="3096768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57044" y="3915155"/>
            <a:ext cx="7454265" cy="1043940"/>
          </a:xfrm>
          <a:custGeom>
            <a:avLst/>
            <a:gdLst/>
            <a:ahLst/>
            <a:cxnLst/>
            <a:rect l="l" t="t" r="r" b="b"/>
            <a:pathLst>
              <a:path w="7454265" h="1043939">
                <a:moveTo>
                  <a:pt x="0" y="0"/>
                </a:moveTo>
                <a:lnTo>
                  <a:pt x="7453883" y="0"/>
                </a:lnTo>
                <a:lnTo>
                  <a:pt x="7453883" y="1043939"/>
                </a:lnTo>
                <a:lnTo>
                  <a:pt x="0" y="10439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666359" y="3968355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基础数据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467355" y="4253484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1" y="251460"/>
                </a:moveTo>
                <a:lnTo>
                  <a:pt x="7316" y="233175"/>
                </a:lnTo>
                <a:lnTo>
                  <a:pt x="0" y="42671"/>
                </a:lnTo>
                <a:lnTo>
                  <a:pt x="2655" y="28457"/>
                </a:lnTo>
                <a:lnTo>
                  <a:pt x="9388" y="16330"/>
                </a:lnTo>
                <a:lnTo>
                  <a:pt x="19429" y="7056"/>
                </a:lnTo>
                <a:lnTo>
                  <a:pt x="32008" y="1402"/>
                </a:lnTo>
                <a:lnTo>
                  <a:pt x="1037844" y="0"/>
                </a:lnTo>
                <a:lnTo>
                  <a:pt x="1052121" y="2419"/>
                </a:lnTo>
                <a:lnTo>
                  <a:pt x="1064278" y="9025"/>
                </a:lnTo>
                <a:lnTo>
                  <a:pt x="1073547" y="19052"/>
                </a:lnTo>
                <a:lnTo>
                  <a:pt x="1079162" y="31739"/>
                </a:lnTo>
                <a:lnTo>
                  <a:pt x="1080516" y="210312"/>
                </a:lnTo>
                <a:lnTo>
                  <a:pt x="1078171" y="224142"/>
                </a:lnTo>
                <a:lnTo>
                  <a:pt x="1071571" y="236002"/>
                </a:lnTo>
                <a:lnTo>
                  <a:pt x="1061489" y="245035"/>
                </a:lnTo>
                <a:lnTo>
                  <a:pt x="1048695" y="250382"/>
                </a:lnTo>
                <a:lnTo>
                  <a:pt x="42671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690418" y="4294059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产品数据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659123" y="4253484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34" y="233175"/>
                </a:lnTo>
                <a:lnTo>
                  <a:pt x="0" y="42671"/>
                </a:lnTo>
                <a:lnTo>
                  <a:pt x="2668" y="28457"/>
                </a:lnTo>
                <a:lnTo>
                  <a:pt x="9407" y="16330"/>
                </a:lnTo>
                <a:lnTo>
                  <a:pt x="19446" y="7056"/>
                </a:lnTo>
                <a:lnTo>
                  <a:pt x="32018" y="1402"/>
                </a:lnTo>
                <a:lnTo>
                  <a:pt x="1037843" y="0"/>
                </a:lnTo>
                <a:lnTo>
                  <a:pt x="1052129" y="2418"/>
                </a:lnTo>
                <a:lnTo>
                  <a:pt x="1064286" y="9020"/>
                </a:lnTo>
                <a:lnTo>
                  <a:pt x="1073552" y="19042"/>
                </a:lnTo>
                <a:lnTo>
                  <a:pt x="1079164" y="31723"/>
                </a:lnTo>
                <a:lnTo>
                  <a:pt x="1080515" y="210312"/>
                </a:lnTo>
                <a:lnTo>
                  <a:pt x="1078180" y="224138"/>
                </a:lnTo>
                <a:lnTo>
                  <a:pt x="1071590" y="235996"/>
                </a:lnTo>
                <a:lnTo>
                  <a:pt x="1061514" y="245028"/>
                </a:lnTo>
                <a:lnTo>
                  <a:pt x="1048721" y="250378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882212" y="4294059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产品分类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850891" y="4253484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49" y="233175"/>
                </a:lnTo>
                <a:lnTo>
                  <a:pt x="0" y="42671"/>
                </a:lnTo>
                <a:lnTo>
                  <a:pt x="2679" y="28457"/>
                </a:lnTo>
                <a:lnTo>
                  <a:pt x="9421" y="16330"/>
                </a:lnTo>
                <a:lnTo>
                  <a:pt x="19458" y="7056"/>
                </a:lnTo>
                <a:lnTo>
                  <a:pt x="32024" y="1402"/>
                </a:lnTo>
                <a:lnTo>
                  <a:pt x="1039368" y="0"/>
                </a:lnTo>
                <a:lnTo>
                  <a:pt x="1053109" y="2499"/>
                </a:lnTo>
                <a:lnTo>
                  <a:pt x="1064961" y="9315"/>
                </a:lnTo>
                <a:lnTo>
                  <a:pt x="1074027" y="19645"/>
                </a:lnTo>
                <a:lnTo>
                  <a:pt x="1079412" y="32685"/>
                </a:lnTo>
                <a:lnTo>
                  <a:pt x="1080516" y="210312"/>
                </a:lnTo>
                <a:lnTo>
                  <a:pt x="1078125" y="224365"/>
                </a:lnTo>
                <a:lnTo>
                  <a:pt x="1071426" y="236365"/>
                </a:lnTo>
                <a:lnTo>
                  <a:pt x="1061320" y="245408"/>
                </a:lnTo>
                <a:lnTo>
                  <a:pt x="1048709" y="250592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5150193" y="4294059"/>
            <a:ext cx="482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时间窗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042659" y="4253484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61" y="233175"/>
                </a:lnTo>
                <a:lnTo>
                  <a:pt x="0" y="42671"/>
                </a:lnTo>
                <a:lnTo>
                  <a:pt x="2687" y="28457"/>
                </a:lnTo>
                <a:lnTo>
                  <a:pt x="9434" y="16330"/>
                </a:lnTo>
                <a:lnTo>
                  <a:pt x="19473" y="7056"/>
                </a:lnTo>
                <a:lnTo>
                  <a:pt x="32033" y="1402"/>
                </a:lnTo>
                <a:lnTo>
                  <a:pt x="1039367" y="0"/>
                </a:lnTo>
                <a:lnTo>
                  <a:pt x="1053115" y="2496"/>
                </a:lnTo>
                <a:lnTo>
                  <a:pt x="1064967" y="9305"/>
                </a:lnTo>
                <a:lnTo>
                  <a:pt x="1074031" y="19624"/>
                </a:lnTo>
                <a:lnTo>
                  <a:pt x="1079414" y="32651"/>
                </a:lnTo>
                <a:lnTo>
                  <a:pt x="1080515" y="210312"/>
                </a:lnTo>
                <a:lnTo>
                  <a:pt x="1078141" y="224357"/>
                </a:lnTo>
                <a:lnTo>
                  <a:pt x="1071455" y="236352"/>
                </a:lnTo>
                <a:lnTo>
                  <a:pt x="1061358" y="245395"/>
                </a:lnTo>
                <a:lnTo>
                  <a:pt x="1048751" y="250585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6418186" y="4294059"/>
            <a:ext cx="330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园区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234428" y="4253484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78" y="233175"/>
                </a:lnTo>
                <a:lnTo>
                  <a:pt x="0" y="42671"/>
                </a:lnTo>
                <a:lnTo>
                  <a:pt x="2700" y="28457"/>
                </a:lnTo>
                <a:lnTo>
                  <a:pt x="9453" y="16330"/>
                </a:lnTo>
                <a:lnTo>
                  <a:pt x="19491" y="7056"/>
                </a:lnTo>
                <a:lnTo>
                  <a:pt x="32043" y="1402"/>
                </a:lnTo>
                <a:lnTo>
                  <a:pt x="1039368" y="0"/>
                </a:lnTo>
                <a:lnTo>
                  <a:pt x="1053122" y="2495"/>
                </a:lnTo>
                <a:lnTo>
                  <a:pt x="1064975" y="9300"/>
                </a:lnTo>
                <a:lnTo>
                  <a:pt x="1074037" y="19614"/>
                </a:lnTo>
                <a:lnTo>
                  <a:pt x="1079416" y="32635"/>
                </a:lnTo>
                <a:lnTo>
                  <a:pt x="1080516" y="210312"/>
                </a:lnTo>
                <a:lnTo>
                  <a:pt x="1078150" y="224353"/>
                </a:lnTo>
                <a:lnTo>
                  <a:pt x="1071473" y="236346"/>
                </a:lnTo>
                <a:lnTo>
                  <a:pt x="1061383" y="245388"/>
                </a:lnTo>
                <a:lnTo>
                  <a:pt x="1048776" y="250582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7609979" y="4294059"/>
            <a:ext cx="330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仓库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426195" y="4253484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93" y="233175"/>
                </a:lnTo>
                <a:lnTo>
                  <a:pt x="0" y="42671"/>
                </a:lnTo>
                <a:lnTo>
                  <a:pt x="2711" y="28457"/>
                </a:lnTo>
                <a:lnTo>
                  <a:pt x="9468" y="16330"/>
                </a:lnTo>
                <a:lnTo>
                  <a:pt x="19503" y="7056"/>
                </a:lnTo>
                <a:lnTo>
                  <a:pt x="32049" y="1402"/>
                </a:lnTo>
                <a:lnTo>
                  <a:pt x="1039368" y="0"/>
                </a:lnTo>
                <a:lnTo>
                  <a:pt x="1053122" y="2492"/>
                </a:lnTo>
                <a:lnTo>
                  <a:pt x="1064976" y="9290"/>
                </a:lnTo>
                <a:lnTo>
                  <a:pt x="1074038" y="19593"/>
                </a:lnTo>
                <a:lnTo>
                  <a:pt x="1079417" y="32601"/>
                </a:lnTo>
                <a:lnTo>
                  <a:pt x="1080515" y="210312"/>
                </a:lnTo>
                <a:lnTo>
                  <a:pt x="1078164" y="224345"/>
                </a:lnTo>
                <a:lnTo>
                  <a:pt x="1071498" y="236333"/>
                </a:lnTo>
                <a:lnTo>
                  <a:pt x="1061415" y="245375"/>
                </a:lnTo>
                <a:lnTo>
                  <a:pt x="1048814" y="250575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8649360" y="4294059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月台地点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67355" y="4573523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1" y="251460"/>
                </a:moveTo>
                <a:lnTo>
                  <a:pt x="7330" y="233212"/>
                </a:lnTo>
                <a:lnTo>
                  <a:pt x="0" y="42672"/>
                </a:lnTo>
                <a:lnTo>
                  <a:pt x="2655" y="28469"/>
                </a:lnTo>
                <a:lnTo>
                  <a:pt x="9388" y="16344"/>
                </a:lnTo>
                <a:lnTo>
                  <a:pt x="19429" y="7068"/>
                </a:lnTo>
                <a:lnTo>
                  <a:pt x="32008" y="1408"/>
                </a:lnTo>
                <a:lnTo>
                  <a:pt x="1037844" y="0"/>
                </a:lnTo>
                <a:lnTo>
                  <a:pt x="1052121" y="2427"/>
                </a:lnTo>
                <a:lnTo>
                  <a:pt x="1064278" y="9038"/>
                </a:lnTo>
                <a:lnTo>
                  <a:pt x="1073547" y="19067"/>
                </a:lnTo>
                <a:lnTo>
                  <a:pt x="1079162" y="31748"/>
                </a:lnTo>
                <a:lnTo>
                  <a:pt x="1080516" y="210312"/>
                </a:lnTo>
                <a:lnTo>
                  <a:pt x="1078174" y="224147"/>
                </a:lnTo>
                <a:lnTo>
                  <a:pt x="1071581" y="236008"/>
                </a:lnTo>
                <a:lnTo>
                  <a:pt x="1061509" y="245039"/>
                </a:lnTo>
                <a:lnTo>
                  <a:pt x="1048728" y="250384"/>
                </a:lnTo>
                <a:lnTo>
                  <a:pt x="42671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766618" y="4614125"/>
            <a:ext cx="482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承运商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659123" y="4573523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48" y="233212"/>
                </a:lnTo>
                <a:lnTo>
                  <a:pt x="0" y="42672"/>
                </a:lnTo>
                <a:lnTo>
                  <a:pt x="2668" y="28469"/>
                </a:lnTo>
                <a:lnTo>
                  <a:pt x="9407" y="16344"/>
                </a:lnTo>
                <a:lnTo>
                  <a:pt x="19446" y="7068"/>
                </a:lnTo>
                <a:lnTo>
                  <a:pt x="32018" y="1408"/>
                </a:lnTo>
                <a:lnTo>
                  <a:pt x="1037843" y="0"/>
                </a:lnTo>
                <a:lnTo>
                  <a:pt x="1052129" y="2425"/>
                </a:lnTo>
                <a:lnTo>
                  <a:pt x="1064286" y="9033"/>
                </a:lnTo>
                <a:lnTo>
                  <a:pt x="1073552" y="19057"/>
                </a:lnTo>
                <a:lnTo>
                  <a:pt x="1079164" y="31732"/>
                </a:lnTo>
                <a:lnTo>
                  <a:pt x="1080515" y="210312"/>
                </a:lnTo>
                <a:lnTo>
                  <a:pt x="1078183" y="224143"/>
                </a:lnTo>
                <a:lnTo>
                  <a:pt x="1071600" y="236002"/>
                </a:lnTo>
                <a:lnTo>
                  <a:pt x="1061534" y="245033"/>
                </a:lnTo>
                <a:lnTo>
                  <a:pt x="1048754" y="250380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4034612" y="4614125"/>
            <a:ext cx="330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司机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850891" y="4573523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62" y="233212"/>
                </a:lnTo>
                <a:lnTo>
                  <a:pt x="0" y="42672"/>
                </a:lnTo>
                <a:lnTo>
                  <a:pt x="2679" y="28469"/>
                </a:lnTo>
                <a:lnTo>
                  <a:pt x="9421" y="16344"/>
                </a:lnTo>
                <a:lnTo>
                  <a:pt x="19458" y="7068"/>
                </a:lnTo>
                <a:lnTo>
                  <a:pt x="32024" y="1408"/>
                </a:lnTo>
                <a:lnTo>
                  <a:pt x="1039368" y="0"/>
                </a:lnTo>
                <a:lnTo>
                  <a:pt x="1053109" y="2507"/>
                </a:lnTo>
                <a:lnTo>
                  <a:pt x="1064961" y="9329"/>
                </a:lnTo>
                <a:lnTo>
                  <a:pt x="1074027" y="19660"/>
                </a:lnTo>
                <a:lnTo>
                  <a:pt x="1079412" y="32694"/>
                </a:lnTo>
                <a:lnTo>
                  <a:pt x="1080516" y="210312"/>
                </a:lnTo>
                <a:lnTo>
                  <a:pt x="1078128" y="224370"/>
                </a:lnTo>
                <a:lnTo>
                  <a:pt x="1071436" y="236370"/>
                </a:lnTo>
                <a:lnTo>
                  <a:pt x="1061341" y="245412"/>
                </a:lnTo>
                <a:lnTo>
                  <a:pt x="1048742" y="250594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226393" y="4614125"/>
            <a:ext cx="330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车辆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042659" y="4573523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74" y="233212"/>
                </a:lnTo>
                <a:lnTo>
                  <a:pt x="0" y="42672"/>
                </a:lnTo>
                <a:lnTo>
                  <a:pt x="2687" y="28469"/>
                </a:lnTo>
                <a:lnTo>
                  <a:pt x="9434" y="16344"/>
                </a:lnTo>
                <a:lnTo>
                  <a:pt x="19473" y="7068"/>
                </a:lnTo>
                <a:lnTo>
                  <a:pt x="32033" y="1408"/>
                </a:lnTo>
                <a:lnTo>
                  <a:pt x="1039367" y="0"/>
                </a:lnTo>
                <a:lnTo>
                  <a:pt x="1053115" y="2504"/>
                </a:lnTo>
                <a:lnTo>
                  <a:pt x="1064967" y="9318"/>
                </a:lnTo>
                <a:lnTo>
                  <a:pt x="1074031" y="19639"/>
                </a:lnTo>
                <a:lnTo>
                  <a:pt x="1079414" y="32660"/>
                </a:lnTo>
                <a:lnTo>
                  <a:pt x="1080515" y="210312"/>
                </a:lnTo>
                <a:lnTo>
                  <a:pt x="1078144" y="224362"/>
                </a:lnTo>
                <a:lnTo>
                  <a:pt x="1071465" y="236358"/>
                </a:lnTo>
                <a:lnTo>
                  <a:pt x="1061379" y="245399"/>
                </a:lnTo>
                <a:lnTo>
                  <a:pt x="1048784" y="250587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6341986" y="4614125"/>
            <a:ext cx="482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供应商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234428" y="4573523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92" y="233212"/>
                </a:lnTo>
                <a:lnTo>
                  <a:pt x="0" y="42672"/>
                </a:lnTo>
                <a:lnTo>
                  <a:pt x="2700" y="28469"/>
                </a:lnTo>
                <a:lnTo>
                  <a:pt x="9453" y="16344"/>
                </a:lnTo>
                <a:lnTo>
                  <a:pt x="19491" y="7068"/>
                </a:lnTo>
                <a:lnTo>
                  <a:pt x="32043" y="1408"/>
                </a:lnTo>
                <a:lnTo>
                  <a:pt x="1039368" y="0"/>
                </a:lnTo>
                <a:lnTo>
                  <a:pt x="1053122" y="2503"/>
                </a:lnTo>
                <a:lnTo>
                  <a:pt x="1064975" y="9313"/>
                </a:lnTo>
                <a:lnTo>
                  <a:pt x="1074037" y="19628"/>
                </a:lnTo>
                <a:lnTo>
                  <a:pt x="1079416" y="32643"/>
                </a:lnTo>
                <a:lnTo>
                  <a:pt x="1080516" y="210312"/>
                </a:lnTo>
                <a:lnTo>
                  <a:pt x="1078153" y="224358"/>
                </a:lnTo>
                <a:lnTo>
                  <a:pt x="1071484" y="236351"/>
                </a:lnTo>
                <a:lnTo>
                  <a:pt x="1061404" y="245393"/>
                </a:lnTo>
                <a:lnTo>
                  <a:pt x="1048809" y="250584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533779" y="4614125"/>
            <a:ext cx="482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定位卡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426195" y="4573523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407" y="233212"/>
                </a:lnTo>
                <a:lnTo>
                  <a:pt x="0" y="42672"/>
                </a:lnTo>
                <a:lnTo>
                  <a:pt x="2711" y="28469"/>
                </a:lnTo>
                <a:lnTo>
                  <a:pt x="9468" y="16344"/>
                </a:lnTo>
                <a:lnTo>
                  <a:pt x="19503" y="7068"/>
                </a:lnTo>
                <a:lnTo>
                  <a:pt x="32049" y="1408"/>
                </a:lnTo>
                <a:lnTo>
                  <a:pt x="1039368" y="0"/>
                </a:lnTo>
                <a:lnTo>
                  <a:pt x="1053122" y="2500"/>
                </a:lnTo>
                <a:lnTo>
                  <a:pt x="1064976" y="9303"/>
                </a:lnTo>
                <a:lnTo>
                  <a:pt x="1074038" y="19607"/>
                </a:lnTo>
                <a:lnTo>
                  <a:pt x="1079417" y="32610"/>
                </a:lnTo>
                <a:lnTo>
                  <a:pt x="1080515" y="210312"/>
                </a:lnTo>
                <a:lnTo>
                  <a:pt x="1078167" y="224350"/>
                </a:lnTo>
                <a:lnTo>
                  <a:pt x="1071509" y="236338"/>
                </a:lnTo>
                <a:lnTo>
                  <a:pt x="1061436" y="245380"/>
                </a:lnTo>
                <a:lnTo>
                  <a:pt x="1048847" y="250577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8801760" y="4614125"/>
            <a:ext cx="330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班组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257044" y="2060448"/>
            <a:ext cx="2449195" cy="1765300"/>
          </a:xfrm>
          <a:custGeom>
            <a:avLst/>
            <a:gdLst/>
            <a:ahLst/>
            <a:cxnLst/>
            <a:rect l="l" t="t" r="r" b="b"/>
            <a:pathLst>
              <a:path w="2449195" h="1765300">
                <a:moveTo>
                  <a:pt x="0" y="0"/>
                </a:moveTo>
                <a:lnTo>
                  <a:pt x="2449068" y="0"/>
                </a:lnTo>
                <a:lnTo>
                  <a:pt x="2449068" y="1764792"/>
                </a:lnTo>
                <a:lnTo>
                  <a:pt x="0" y="17647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163823" y="2114155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单据管理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378964" y="2389632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6664" y="232359"/>
                </a:lnTo>
                <a:lnTo>
                  <a:pt x="0" y="41148"/>
                </a:lnTo>
                <a:lnTo>
                  <a:pt x="2430" y="27337"/>
                </a:lnTo>
                <a:lnTo>
                  <a:pt x="9134" y="15473"/>
                </a:lnTo>
                <a:lnTo>
                  <a:pt x="19324" y="6428"/>
                </a:lnTo>
                <a:lnTo>
                  <a:pt x="32213" y="1076"/>
                </a:lnTo>
                <a:lnTo>
                  <a:pt x="1037844" y="0"/>
                </a:lnTo>
                <a:lnTo>
                  <a:pt x="1051980" y="2168"/>
                </a:lnTo>
                <a:lnTo>
                  <a:pt x="1064090" y="8655"/>
                </a:lnTo>
                <a:lnTo>
                  <a:pt x="1073387" y="18588"/>
                </a:lnTo>
                <a:lnTo>
                  <a:pt x="1079085" y="31092"/>
                </a:lnTo>
                <a:lnTo>
                  <a:pt x="1080515" y="210312"/>
                </a:lnTo>
                <a:lnTo>
                  <a:pt x="1077842" y="224053"/>
                </a:lnTo>
                <a:lnTo>
                  <a:pt x="1070944" y="235905"/>
                </a:lnTo>
                <a:lnTo>
                  <a:pt x="1060627" y="244971"/>
                </a:lnTo>
                <a:lnTo>
                  <a:pt x="1047698" y="250356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2525306" y="2429661"/>
            <a:ext cx="7874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用车需求单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06723" y="2389632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6827" y="232359"/>
                </a:lnTo>
                <a:lnTo>
                  <a:pt x="0" y="41148"/>
                </a:lnTo>
                <a:lnTo>
                  <a:pt x="2550" y="27337"/>
                </a:lnTo>
                <a:lnTo>
                  <a:pt x="9307" y="15473"/>
                </a:lnTo>
                <a:lnTo>
                  <a:pt x="19486" y="6428"/>
                </a:lnTo>
                <a:lnTo>
                  <a:pt x="32303" y="1076"/>
                </a:lnTo>
                <a:lnTo>
                  <a:pt x="1037843" y="0"/>
                </a:lnTo>
                <a:lnTo>
                  <a:pt x="1052095" y="2168"/>
                </a:lnTo>
                <a:lnTo>
                  <a:pt x="1064258" y="8655"/>
                </a:lnTo>
                <a:lnTo>
                  <a:pt x="1073546" y="18588"/>
                </a:lnTo>
                <a:lnTo>
                  <a:pt x="1079173" y="31092"/>
                </a:lnTo>
                <a:lnTo>
                  <a:pt x="1080515" y="210312"/>
                </a:lnTo>
                <a:lnTo>
                  <a:pt x="1077957" y="224053"/>
                </a:lnTo>
                <a:lnTo>
                  <a:pt x="1071112" y="235905"/>
                </a:lnTo>
                <a:lnTo>
                  <a:pt x="1060785" y="244971"/>
                </a:lnTo>
                <a:lnTo>
                  <a:pt x="1047783" y="250356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3805694" y="2429661"/>
            <a:ext cx="482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装配单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375916" y="2731007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1" y="251460"/>
                </a:moveTo>
                <a:lnTo>
                  <a:pt x="7144" y="232966"/>
                </a:lnTo>
                <a:lnTo>
                  <a:pt x="0" y="42672"/>
                </a:lnTo>
                <a:lnTo>
                  <a:pt x="2581" y="28398"/>
                </a:lnTo>
                <a:lnTo>
                  <a:pt x="9271" y="16243"/>
                </a:lnTo>
                <a:lnTo>
                  <a:pt x="19300" y="6973"/>
                </a:lnTo>
                <a:lnTo>
                  <a:pt x="31903" y="1355"/>
                </a:lnTo>
                <a:lnTo>
                  <a:pt x="1037844" y="0"/>
                </a:lnTo>
                <a:lnTo>
                  <a:pt x="1052059" y="2347"/>
                </a:lnTo>
                <a:lnTo>
                  <a:pt x="1064185" y="8927"/>
                </a:lnTo>
                <a:lnTo>
                  <a:pt x="1073457" y="18972"/>
                </a:lnTo>
                <a:lnTo>
                  <a:pt x="1079110" y="31715"/>
                </a:lnTo>
                <a:lnTo>
                  <a:pt x="1080516" y="210312"/>
                </a:lnTo>
                <a:lnTo>
                  <a:pt x="1078074" y="224134"/>
                </a:lnTo>
                <a:lnTo>
                  <a:pt x="1071383" y="236001"/>
                </a:lnTo>
                <a:lnTo>
                  <a:pt x="1061222" y="245042"/>
                </a:lnTo>
                <a:lnTo>
                  <a:pt x="1048374" y="250388"/>
                </a:lnTo>
                <a:lnTo>
                  <a:pt x="42671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2675039" y="2771444"/>
            <a:ext cx="482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预约单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3503676" y="2731007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03" y="232966"/>
                </a:lnTo>
                <a:lnTo>
                  <a:pt x="0" y="42672"/>
                </a:lnTo>
                <a:lnTo>
                  <a:pt x="2695" y="28398"/>
                </a:lnTo>
                <a:lnTo>
                  <a:pt x="9438" y="16243"/>
                </a:lnTo>
                <a:lnTo>
                  <a:pt x="19460" y="6973"/>
                </a:lnTo>
                <a:lnTo>
                  <a:pt x="31995" y="1355"/>
                </a:lnTo>
                <a:lnTo>
                  <a:pt x="1039368" y="0"/>
                </a:lnTo>
                <a:lnTo>
                  <a:pt x="1053110" y="2415"/>
                </a:lnTo>
                <a:lnTo>
                  <a:pt x="1064956" y="9176"/>
                </a:lnTo>
                <a:lnTo>
                  <a:pt x="1074016" y="19481"/>
                </a:lnTo>
                <a:lnTo>
                  <a:pt x="1079404" y="32530"/>
                </a:lnTo>
                <a:lnTo>
                  <a:pt x="1080515" y="210312"/>
                </a:lnTo>
                <a:lnTo>
                  <a:pt x="1078134" y="224327"/>
                </a:lnTo>
                <a:lnTo>
                  <a:pt x="1071416" y="236315"/>
                </a:lnTo>
                <a:lnTo>
                  <a:pt x="1061266" y="245366"/>
                </a:lnTo>
                <a:lnTo>
                  <a:pt x="1048592" y="250571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3803027" y="2771444"/>
            <a:ext cx="482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磅重单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375916" y="3078479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1" y="251460"/>
                </a:moveTo>
                <a:lnTo>
                  <a:pt x="7178" y="233061"/>
                </a:lnTo>
                <a:lnTo>
                  <a:pt x="0" y="42672"/>
                </a:lnTo>
                <a:lnTo>
                  <a:pt x="2586" y="28418"/>
                </a:lnTo>
                <a:lnTo>
                  <a:pt x="9286" y="16270"/>
                </a:lnTo>
                <a:lnTo>
                  <a:pt x="19331" y="6997"/>
                </a:lnTo>
                <a:lnTo>
                  <a:pt x="31952" y="1367"/>
                </a:lnTo>
                <a:lnTo>
                  <a:pt x="1037844" y="0"/>
                </a:lnTo>
                <a:lnTo>
                  <a:pt x="1052070" y="2383"/>
                </a:lnTo>
                <a:lnTo>
                  <a:pt x="1064204" y="8989"/>
                </a:lnTo>
                <a:lnTo>
                  <a:pt x="1073477" y="19047"/>
                </a:lnTo>
                <a:lnTo>
                  <a:pt x="1079123" y="31790"/>
                </a:lnTo>
                <a:lnTo>
                  <a:pt x="1080516" y="210312"/>
                </a:lnTo>
                <a:lnTo>
                  <a:pt x="1078081" y="224147"/>
                </a:lnTo>
                <a:lnTo>
                  <a:pt x="1071408" y="236016"/>
                </a:lnTo>
                <a:lnTo>
                  <a:pt x="1061274" y="245054"/>
                </a:lnTo>
                <a:lnTo>
                  <a:pt x="1048457" y="250394"/>
                </a:lnTo>
                <a:lnTo>
                  <a:pt x="42671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2675039" y="3118979"/>
            <a:ext cx="482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出门证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503676" y="3078479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337" y="233061"/>
                </a:lnTo>
                <a:lnTo>
                  <a:pt x="0" y="42672"/>
                </a:lnTo>
                <a:lnTo>
                  <a:pt x="2700" y="28418"/>
                </a:lnTo>
                <a:lnTo>
                  <a:pt x="9453" y="16270"/>
                </a:lnTo>
                <a:lnTo>
                  <a:pt x="19491" y="6997"/>
                </a:lnTo>
                <a:lnTo>
                  <a:pt x="32043" y="1367"/>
                </a:lnTo>
                <a:lnTo>
                  <a:pt x="1039368" y="0"/>
                </a:lnTo>
                <a:lnTo>
                  <a:pt x="1053122" y="2451"/>
                </a:lnTo>
                <a:lnTo>
                  <a:pt x="1064975" y="9239"/>
                </a:lnTo>
                <a:lnTo>
                  <a:pt x="1074037" y="19558"/>
                </a:lnTo>
                <a:lnTo>
                  <a:pt x="1079416" y="32605"/>
                </a:lnTo>
                <a:lnTo>
                  <a:pt x="1080515" y="210312"/>
                </a:lnTo>
                <a:lnTo>
                  <a:pt x="1078142" y="224339"/>
                </a:lnTo>
                <a:lnTo>
                  <a:pt x="1071442" y="236329"/>
                </a:lnTo>
                <a:lnTo>
                  <a:pt x="1061319" y="245376"/>
                </a:lnTo>
                <a:lnTo>
                  <a:pt x="1048676" y="250576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3650627" y="3118979"/>
            <a:ext cx="7874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月台分配单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2375916" y="3424428"/>
            <a:ext cx="2186940" cy="251460"/>
          </a:xfrm>
          <a:custGeom>
            <a:avLst/>
            <a:gdLst/>
            <a:ahLst/>
            <a:cxnLst/>
            <a:rect l="l" t="t" r="r" b="b"/>
            <a:pathLst>
              <a:path w="2186940" h="251460">
                <a:moveTo>
                  <a:pt x="42671" y="251460"/>
                </a:moveTo>
                <a:lnTo>
                  <a:pt x="7281" y="232323"/>
                </a:lnTo>
                <a:lnTo>
                  <a:pt x="0" y="41148"/>
                </a:lnTo>
                <a:lnTo>
                  <a:pt x="2593" y="27288"/>
                </a:lnTo>
                <a:lnTo>
                  <a:pt x="9311" y="15413"/>
                </a:lnTo>
                <a:lnTo>
                  <a:pt x="19382" y="6382"/>
                </a:lnTo>
                <a:lnTo>
                  <a:pt x="32033" y="1053"/>
                </a:lnTo>
                <a:lnTo>
                  <a:pt x="2145792" y="0"/>
                </a:lnTo>
                <a:lnTo>
                  <a:pt x="2159606" y="2057"/>
                </a:lnTo>
                <a:lnTo>
                  <a:pt x="2171480" y="8534"/>
                </a:lnTo>
                <a:lnTo>
                  <a:pt x="2180530" y="18545"/>
                </a:lnTo>
                <a:lnTo>
                  <a:pt x="2185874" y="31207"/>
                </a:lnTo>
                <a:lnTo>
                  <a:pt x="2186939" y="208787"/>
                </a:lnTo>
                <a:lnTo>
                  <a:pt x="2184711" y="223109"/>
                </a:lnTo>
                <a:lnTo>
                  <a:pt x="2178174" y="235309"/>
                </a:lnTo>
                <a:lnTo>
                  <a:pt x="2168205" y="244597"/>
                </a:lnTo>
                <a:lnTo>
                  <a:pt x="2155683" y="250180"/>
                </a:lnTo>
                <a:lnTo>
                  <a:pt x="42671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2999511" y="3464203"/>
            <a:ext cx="939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出入园申请单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4786884" y="2060448"/>
            <a:ext cx="2520950" cy="1765300"/>
          </a:xfrm>
          <a:custGeom>
            <a:avLst/>
            <a:gdLst/>
            <a:ahLst/>
            <a:cxnLst/>
            <a:rect l="l" t="t" r="r" b="b"/>
            <a:pathLst>
              <a:path w="2520950" h="1765300">
                <a:moveTo>
                  <a:pt x="0" y="0"/>
                </a:moveTo>
                <a:lnTo>
                  <a:pt x="2520695" y="0"/>
                </a:lnTo>
                <a:lnTo>
                  <a:pt x="2520695" y="1764792"/>
                </a:lnTo>
                <a:lnTo>
                  <a:pt x="0" y="17647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5729427" y="2114155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园区管理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933188" y="2389632"/>
            <a:ext cx="1080770" cy="251460"/>
          </a:xfrm>
          <a:custGeom>
            <a:avLst/>
            <a:gdLst/>
            <a:ahLst/>
            <a:cxnLst/>
            <a:rect l="l" t="t" r="r" b="b"/>
            <a:pathLst>
              <a:path w="1080770" h="251460">
                <a:moveTo>
                  <a:pt x="42672" y="251460"/>
                </a:moveTo>
                <a:lnTo>
                  <a:pt x="7049" y="232359"/>
                </a:lnTo>
                <a:lnTo>
                  <a:pt x="0" y="41148"/>
                </a:lnTo>
                <a:lnTo>
                  <a:pt x="2710" y="27337"/>
                </a:lnTo>
                <a:lnTo>
                  <a:pt x="9543" y="15473"/>
                </a:lnTo>
                <a:lnTo>
                  <a:pt x="19712" y="6428"/>
                </a:lnTo>
                <a:lnTo>
                  <a:pt x="32429" y="1076"/>
                </a:lnTo>
                <a:lnTo>
                  <a:pt x="1039367" y="0"/>
                </a:lnTo>
                <a:lnTo>
                  <a:pt x="1053212" y="2240"/>
                </a:lnTo>
                <a:lnTo>
                  <a:pt x="1065126" y="8926"/>
                </a:lnTo>
                <a:lnTo>
                  <a:pt x="1074197" y="19141"/>
                </a:lnTo>
                <a:lnTo>
                  <a:pt x="1079510" y="31967"/>
                </a:lnTo>
                <a:lnTo>
                  <a:pt x="1080515" y="210312"/>
                </a:lnTo>
                <a:lnTo>
                  <a:pt x="1078056" y="224266"/>
                </a:lnTo>
                <a:lnTo>
                  <a:pt x="1071187" y="236252"/>
                </a:lnTo>
                <a:lnTo>
                  <a:pt x="1060845" y="245329"/>
                </a:lnTo>
                <a:lnTo>
                  <a:pt x="1047968" y="250560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5041988" y="2435567"/>
            <a:ext cx="86423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预约容量看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板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6083808" y="2389632"/>
            <a:ext cx="1079500" cy="251460"/>
          </a:xfrm>
          <a:custGeom>
            <a:avLst/>
            <a:gdLst/>
            <a:ahLst/>
            <a:cxnLst/>
            <a:rect l="l" t="t" r="r" b="b"/>
            <a:pathLst>
              <a:path w="1079500" h="251460">
                <a:moveTo>
                  <a:pt x="41147" y="251460"/>
                </a:moveTo>
                <a:lnTo>
                  <a:pt x="6031" y="232348"/>
                </a:lnTo>
                <a:lnTo>
                  <a:pt x="0" y="41148"/>
                </a:lnTo>
                <a:lnTo>
                  <a:pt x="2015" y="27333"/>
                </a:lnTo>
                <a:lnTo>
                  <a:pt x="8433" y="15467"/>
                </a:lnTo>
                <a:lnTo>
                  <a:pt x="18381" y="6421"/>
                </a:lnTo>
                <a:lnTo>
                  <a:pt x="30987" y="1073"/>
                </a:lnTo>
                <a:lnTo>
                  <a:pt x="1037843" y="0"/>
                </a:lnTo>
                <a:lnTo>
                  <a:pt x="1051715" y="2222"/>
                </a:lnTo>
                <a:lnTo>
                  <a:pt x="1063635" y="8859"/>
                </a:lnTo>
                <a:lnTo>
                  <a:pt x="1072697" y="19004"/>
                </a:lnTo>
                <a:lnTo>
                  <a:pt x="1077996" y="31751"/>
                </a:lnTo>
                <a:lnTo>
                  <a:pt x="1078991" y="210312"/>
                </a:lnTo>
                <a:lnTo>
                  <a:pt x="1076634" y="224213"/>
                </a:lnTo>
                <a:lnTo>
                  <a:pt x="1069850" y="236166"/>
                </a:lnTo>
                <a:lnTo>
                  <a:pt x="1059569" y="245242"/>
                </a:lnTo>
                <a:lnTo>
                  <a:pt x="1046718" y="250511"/>
                </a:lnTo>
                <a:lnTo>
                  <a:pt x="41147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6191237" y="2435567"/>
            <a:ext cx="86423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月台排队看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板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4931664" y="2731007"/>
            <a:ext cx="1079500" cy="251460"/>
          </a:xfrm>
          <a:custGeom>
            <a:avLst/>
            <a:gdLst/>
            <a:ahLst/>
            <a:cxnLst/>
            <a:rect l="l" t="t" r="r" b="b"/>
            <a:pathLst>
              <a:path w="1079500" h="251460">
                <a:moveTo>
                  <a:pt x="41148" y="251460"/>
                </a:moveTo>
                <a:lnTo>
                  <a:pt x="6277" y="232781"/>
                </a:lnTo>
                <a:lnTo>
                  <a:pt x="0" y="42672"/>
                </a:lnTo>
                <a:lnTo>
                  <a:pt x="2108" y="28327"/>
                </a:lnTo>
                <a:lnTo>
                  <a:pt x="8536" y="16127"/>
                </a:lnTo>
                <a:lnTo>
                  <a:pt x="18419" y="6851"/>
                </a:lnTo>
                <a:lnTo>
                  <a:pt x="30892" y="1280"/>
                </a:lnTo>
                <a:lnTo>
                  <a:pt x="1037844" y="0"/>
                </a:lnTo>
                <a:lnTo>
                  <a:pt x="1051647" y="2379"/>
                </a:lnTo>
                <a:lnTo>
                  <a:pt x="1063505" y="9043"/>
                </a:lnTo>
                <a:lnTo>
                  <a:pt x="1072547" y="19210"/>
                </a:lnTo>
                <a:lnTo>
                  <a:pt x="1077905" y="32095"/>
                </a:lnTo>
                <a:lnTo>
                  <a:pt x="1078991" y="210312"/>
                </a:lnTo>
                <a:lnTo>
                  <a:pt x="1076812" y="224224"/>
                </a:lnTo>
                <a:lnTo>
                  <a:pt x="1070263" y="236148"/>
                </a:lnTo>
                <a:lnTo>
                  <a:pt x="1060235" y="245194"/>
                </a:lnTo>
                <a:lnTo>
                  <a:pt x="1047613" y="250476"/>
                </a:lnTo>
                <a:lnTo>
                  <a:pt x="41148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5039309" y="2777350"/>
            <a:ext cx="86423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月台排版看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板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080759" y="2731007"/>
            <a:ext cx="1079500" cy="251460"/>
          </a:xfrm>
          <a:custGeom>
            <a:avLst/>
            <a:gdLst/>
            <a:ahLst/>
            <a:cxnLst/>
            <a:rect l="l" t="t" r="r" b="b"/>
            <a:pathLst>
              <a:path w="1079500" h="251460">
                <a:moveTo>
                  <a:pt x="41148" y="251460"/>
                </a:moveTo>
                <a:lnTo>
                  <a:pt x="6306" y="232656"/>
                </a:lnTo>
                <a:lnTo>
                  <a:pt x="0" y="42672"/>
                </a:lnTo>
                <a:lnTo>
                  <a:pt x="2202" y="28279"/>
                </a:lnTo>
                <a:lnTo>
                  <a:pt x="8711" y="16049"/>
                </a:lnTo>
                <a:lnTo>
                  <a:pt x="18652" y="6771"/>
                </a:lnTo>
                <a:lnTo>
                  <a:pt x="31148" y="1231"/>
                </a:lnTo>
                <a:lnTo>
                  <a:pt x="1037843" y="0"/>
                </a:lnTo>
                <a:lnTo>
                  <a:pt x="1051679" y="2361"/>
                </a:lnTo>
                <a:lnTo>
                  <a:pt x="1063544" y="8977"/>
                </a:lnTo>
                <a:lnTo>
                  <a:pt x="1072577" y="19075"/>
                </a:lnTo>
                <a:lnTo>
                  <a:pt x="1077920" y="31880"/>
                </a:lnTo>
                <a:lnTo>
                  <a:pt x="1078991" y="210312"/>
                </a:lnTo>
                <a:lnTo>
                  <a:pt x="1076912" y="224173"/>
                </a:lnTo>
                <a:lnTo>
                  <a:pt x="1070450" y="236065"/>
                </a:lnTo>
                <a:lnTo>
                  <a:pt x="1060483" y="245109"/>
                </a:lnTo>
                <a:lnTo>
                  <a:pt x="1047889" y="250426"/>
                </a:lnTo>
                <a:lnTo>
                  <a:pt x="41148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6302870" y="2771444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园区看板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4931664" y="3078479"/>
            <a:ext cx="1079500" cy="251460"/>
          </a:xfrm>
          <a:custGeom>
            <a:avLst/>
            <a:gdLst/>
            <a:ahLst/>
            <a:cxnLst/>
            <a:rect l="l" t="t" r="r" b="b"/>
            <a:pathLst>
              <a:path w="1079500" h="251460">
                <a:moveTo>
                  <a:pt x="41148" y="251460"/>
                </a:moveTo>
                <a:lnTo>
                  <a:pt x="6310" y="232876"/>
                </a:lnTo>
                <a:lnTo>
                  <a:pt x="0" y="42672"/>
                </a:lnTo>
                <a:lnTo>
                  <a:pt x="2112" y="28346"/>
                </a:lnTo>
                <a:lnTo>
                  <a:pt x="8551" y="16154"/>
                </a:lnTo>
                <a:lnTo>
                  <a:pt x="18449" y="6875"/>
                </a:lnTo>
                <a:lnTo>
                  <a:pt x="30941" y="1292"/>
                </a:lnTo>
                <a:lnTo>
                  <a:pt x="1037844" y="0"/>
                </a:lnTo>
                <a:lnTo>
                  <a:pt x="1051659" y="2415"/>
                </a:lnTo>
                <a:lnTo>
                  <a:pt x="1063524" y="9105"/>
                </a:lnTo>
                <a:lnTo>
                  <a:pt x="1072567" y="19285"/>
                </a:lnTo>
                <a:lnTo>
                  <a:pt x="1077917" y="32170"/>
                </a:lnTo>
                <a:lnTo>
                  <a:pt x="1078991" y="210312"/>
                </a:lnTo>
                <a:lnTo>
                  <a:pt x="1076819" y="224237"/>
                </a:lnTo>
                <a:lnTo>
                  <a:pt x="1070289" y="236163"/>
                </a:lnTo>
                <a:lnTo>
                  <a:pt x="1060286" y="245205"/>
                </a:lnTo>
                <a:lnTo>
                  <a:pt x="1047695" y="250481"/>
                </a:lnTo>
                <a:lnTo>
                  <a:pt x="41148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5077409" y="3118979"/>
            <a:ext cx="7874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出入园申请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6080759" y="3078479"/>
            <a:ext cx="1079500" cy="251460"/>
          </a:xfrm>
          <a:custGeom>
            <a:avLst/>
            <a:gdLst/>
            <a:ahLst/>
            <a:cxnLst/>
            <a:rect l="l" t="t" r="r" b="b"/>
            <a:pathLst>
              <a:path w="1079500" h="251460">
                <a:moveTo>
                  <a:pt x="41148" y="251460"/>
                </a:moveTo>
                <a:lnTo>
                  <a:pt x="6339" y="232752"/>
                </a:lnTo>
                <a:lnTo>
                  <a:pt x="0" y="42672"/>
                </a:lnTo>
                <a:lnTo>
                  <a:pt x="2206" y="28299"/>
                </a:lnTo>
                <a:lnTo>
                  <a:pt x="8726" y="16076"/>
                </a:lnTo>
                <a:lnTo>
                  <a:pt x="18683" y="6794"/>
                </a:lnTo>
                <a:lnTo>
                  <a:pt x="31197" y="1243"/>
                </a:lnTo>
                <a:lnTo>
                  <a:pt x="1037843" y="0"/>
                </a:lnTo>
                <a:lnTo>
                  <a:pt x="1051691" y="2397"/>
                </a:lnTo>
                <a:lnTo>
                  <a:pt x="1063563" y="9039"/>
                </a:lnTo>
                <a:lnTo>
                  <a:pt x="1072597" y="19150"/>
                </a:lnTo>
                <a:lnTo>
                  <a:pt x="1077932" y="31955"/>
                </a:lnTo>
                <a:lnTo>
                  <a:pt x="1078991" y="210312"/>
                </a:lnTo>
                <a:lnTo>
                  <a:pt x="1076919" y="224186"/>
                </a:lnTo>
                <a:lnTo>
                  <a:pt x="1070475" y="236080"/>
                </a:lnTo>
                <a:lnTo>
                  <a:pt x="1060535" y="245120"/>
                </a:lnTo>
                <a:lnTo>
                  <a:pt x="1047971" y="250432"/>
                </a:lnTo>
                <a:lnTo>
                  <a:pt x="41148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6302870" y="3118979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车辆看板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4931664" y="3424428"/>
            <a:ext cx="1079500" cy="251460"/>
          </a:xfrm>
          <a:custGeom>
            <a:avLst/>
            <a:gdLst/>
            <a:ahLst/>
            <a:cxnLst/>
            <a:rect l="l" t="t" r="r" b="b"/>
            <a:pathLst>
              <a:path w="1079500" h="251460">
                <a:moveTo>
                  <a:pt x="41148" y="251460"/>
                </a:moveTo>
                <a:lnTo>
                  <a:pt x="6410" y="232148"/>
                </a:lnTo>
                <a:lnTo>
                  <a:pt x="0" y="41148"/>
                </a:lnTo>
                <a:lnTo>
                  <a:pt x="2113" y="27221"/>
                </a:lnTo>
                <a:lnTo>
                  <a:pt x="8566" y="15305"/>
                </a:lnTo>
                <a:lnTo>
                  <a:pt x="18487" y="6271"/>
                </a:lnTo>
                <a:lnTo>
                  <a:pt x="31006" y="989"/>
                </a:lnTo>
                <a:lnTo>
                  <a:pt x="1037844" y="0"/>
                </a:lnTo>
                <a:lnTo>
                  <a:pt x="1051678" y="2044"/>
                </a:lnTo>
                <a:lnTo>
                  <a:pt x="1063556" y="8484"/>
                </a:lnTo>
                <a:lnTo>
                  <a:pt x="1072601" y="18443"/>
                </a:lnTo>
                <a:lnTo>
                  <a:pt x="1077936" y="31044"/>
                </a:lnTo>
                <a:lnTo>
                  <a:pt x="1078991" y="208787"/>
                </a:lnTo>
                <a:lnTo>
                  <a:pt x="1076839" y="223069"/>
                </a:lnTo>
                <a:lnTo>
                  <a:pt x="1070365" y="235245"/>
                </a:lnTo>
                <a:lnTo>
                  <a:pt x="1060441" y="244529"/>
                </a:lnTo>
                <a:lnTo>
                  <a:pt x="1047941" y="250138"/>
                </a:lnTo>
                <a:lnTo>
                  <a:pt x="41148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5039309" y="3470109"/>
            <a:ext cx="86423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园区排队看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板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6083808" y="3424428"/>
            <a:ext cx="1079500" cy="251460"/>
          </a:xfrm>
          <a:custGeom>
            <a:avLst/>
            <a:gdLst/>
            <a:ahLst/>
            <a:cxnLst/>
            <a:rect l="l" t="t" r="r" b="b"/>
            <a:pathLst>
              <a:path w="1079500" h="251460">
                <a:moveTo>
                  <a:pt x="41147" y="251460"/>
                </a:moveTo>
                <a:lnTo>
                  <a:pt x="6370" y="232313"/>
                </a:lnTo>
                <a:lnTo>
                  <a:pt x="0" y="41148"/>
                </a:lnTo>
                <a:lnTo>
                  <a:pt x="1989" y="27284"/>
                </a:lnTo>
                <a:lnTo>
                  <a:pt x="8334" y="15407"/>
                </a:lnTo>
                <a:lnTo>
                  <a:pt x="18178" y="6376"/>
                </a:lnTo>
                <a:lnTo>
                  <a:pt x="30663" y="1049"/>
                </a:lnTo>
                <a:lnTo>
                  <a:pt x="1037843" y="0"/>
                </a:lnTo>
                <a:lnTo>
                  <a:pt x="1051636" y="2067"/>
                </a:lnTo>
                <a:lnTo>
                  <a:pt x="1063505" y="8569"/>
                </a:lnTo>
                <a:lnTo>
                  <a:pt x="1072563" y="18617"/>
                </a:lnTo>
                <a:lnTo>
                  <a:pt x="1077919" y="31322"/>
                </a:lnTo>
                <a:lnTo>
                  <a:pt x="1078991" y="208787"/>
                </a:lnTo>
                <a:lnTo>
                  <a:pt x="1076708" y="223137"/>
                </a:lnTo>
                <a:lnTo>
                  <a:pt x="1070121" y="235355"/>
                </a:lnTo>
                <a:lnTo>
                  <a:pt x="1060119" y="244644"/>
                </a:lnTo>
                <a:lnTo>
                  <a:pt x="1047585" y="250208"/>
                </a:lnTo>
                <a:lnTo>
                  <a:pt x="41147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6305537" y="3464203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异常事件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7394447" y="2060448"/>
            <a:ext cx="1117600" cy="1765300"/>
          </a:xfrm>
          <a:custGeom>
            <a:avLst/>
            <a:gdLst/>
            <a:ahLst/>
            <a:cxnLst/>
            <a:rect l="l" t="t" r="r" b="b"/>
            <a:pathLst>
              <a:path w="1117600" h="1765300">
                <a:moveTo>
                  <a:pt x="0" y="0"/>
                </a:moveTo>
                <a:lnTo>
                  <a:pt x="1117092" y="0"/>
                </a:lnTo>
                <a:lnTo>
                  <a:pt x="1117092" y="1764792"/>
                </a:lnTo>
                <a:lnTo>
                  <a:pt x="0" y="17647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7634858" y="2114155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策略管理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7482840" y="2389632"/>
            <a:ext cx="937260" cy="251460"/>
          </a:xfrm>
          <a:custGeom>
            <a:avLst/>
            <a:gdLst/>
            <a:ahLst/>
            <a:cxnLst/>
            <a:rect l="l" t="t" r="r" b="b"/>
            <a:pathLst>
              <a:path w="937259" h="251460">
                <a:moveTo>
                  <a:pt x="42671" y="251460"/>
                </a:moveTo>
                <a:lnTo>
                  <a:pt x="7081" y="232359"/>
                </a:lnTo>
                <a:lnTo>
                  <a:pt x="0" y="41148"/>
                </a:lnTo>
                <a:lnTo>
                  <a:pt x="2735" y="27337"/>
                </a:lnTo>
                <a:lnTo>
                  <a:pt x="9577" y="15473"/>
                </a:lnTo>
                <a:lnTo>
                  <a:pt x="19742" y="6428"/>
                </a:lnTo>
                <a:lnTo>
                  <a:pt x="32445" y="1076"/>
                </a:lnTo>
                <a:lnTo>
                  <a:pt x="894587" y="0"/>
                </a:lnTo>
                <a:lnTo>
                  <a:pt x="908653" y="2168"/>
                </a:lnTo>
                <a:lnTo>
                  <a:pt x="920728" y="8655"/>
                </a:lnTo>
                <a:lnTo>
                  <a:pt x="930029" y="18588"/>
                </a:lnTo>
                <a:lnTo>
                  <a:pt x="935771" y="31092"/>
                </a:lnTo>
                <a:lnTo>
                  <a:pt x="937259" y="210312"/>
                </a:lnTo>
                <a:lnTo>
                  <a:pt x="934510" y="224053"/>
                </a:lnTo>
                <a:lnTo>
                  <a:pt x="927580" y="235905"/>
                </a:lnTo>
                <a:lnTo>
                  <a:pt x="917272" y="244971"/>
                </a:lnTo>
                <a:lnTo>
                  <a:pt x="904390" y="250356"/>
                </a:lnTo>
                <a:lnTo>
                  <a:pt x="42671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7633589" y="2429661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签到策略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7481316" y="2731007"/>
            <a:ext cx="935990" cy="251460"/>
          </a:xfrm>
          <a:custGeom>
            <a:avLst/>
            <a:gdLst/>
            <a:ahLst/>
            <a:cxnLst/>
            <a:rect l="l" t="t" r="r" b="b"/>
            <a:pathLst>
              <a:path w="935990" h="251460">
                <a:moveTo>
                  <a:pt x="41148" y="251460"/>
                </a:moveTo>
                <a:lnTo>
                  <a:pt x="6287" y="232750"/>
                </a:lnTo>
                <a:lnTo>
                  <a:pt x="0" y="42672"/>
                </a:lnTo>
                <a:lnTo>
                  <a:pt x="2133" y="28315"/>
                </a:lnTo>
                <a:lnTo>
                  <a:pt x="8583" y="16107"/>
                </a:lnTo>
                <a:lnTo>
                  <a:pt x="18481" y="6831"/>
                </a:lnTo>
                <a:lnTo>
                  <a:pt x="30960" y="1268"/>
                </a:lnTo>
                <a:lnTo>
                  <a:pt x="893063" y="0"/>
                </a:lnTo>
                <a:lnTo>
                  <a:pt x="907204" y="2347"/>
                </a:lnTo>
                <a:lnTo>
                  <a:pt x="919297" y="8927"/>
                </a:lnTo>
                <a:lnTo>
                  <a:pt x="928576" y="18972"/>
                </a:lnTo>
                <a:lnTo>
                  <a:pt x="934273" y="31715"/>
                </a:lnTo>
                <a:lnTo>
                  <a:pt x="935735" y="210312"/>
                </a:lnTo>
                <a:lnTo>
                  <a:pt x="933223" y="224134"/>
                </a:lnTo>
                <a:lnTo>
                  <a:pt x="926496" y="236001"/>
                </a:lnTo>
                <a:lnTo>
                  <a:pt x="916340" y="245042"/>
                </a:lnTo>
                <a:lnTo>
                  <a:pt x="903535" y="250388"/>
                </a:lnTo>
                <a:lnTo>
                  <a:pt x="41148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7630921" y="2771444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排队策略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7481316" y="3078479"/>
            <a:ext cx="935990" cy="251460"/>
          </a:xfrm>
          <a:custGeom>
            <a:avLst/>
            <a:gdLst/>
            <a:ahLst/>
            <a:cxnLst/>
            <a:rect l="l" t="t" r="r" b="b"/>
            <a:pathLst>
              <a:path w="935990" h="251460">
                <a:moveTo>
                  <a:pt x="41148" y="251460"/>
                </a:moveTo>
                <a:lnTo>
                  <a:pt x="6320" y="232845"/>
                </a:lnTo>
                <a:lnTo>
                  <a:pt x="0" y="42672"/>
                </a:lnTo>
                <a:lnTo>
                  <a:pt x="2137" y="28334"/>
                </a:lnTo>
                <a:lnTo>
                  <a:pt x="8598" y="16134"/>
                </a:lnTo>
                <a:lnTo>
                  <a:pt x="18512" y="6855"/>
                </a:lnTo>
                <a:lnTo>
                  <a:pt x="31008" y="1280"/>
                </a:lnTo>
                <a:lnTo>
                  <a:pt x="893063" y="0"/>
                </a:lnTo>
                <a:lnTo>
                  <a:pt x="907216" y="2383"/>
                </a:lnTo>
                <a:lnTo>
                  <a:pt x="919316" y="8989"/>
                </a:lnTo>
                <a:lnTo>
                  <a:pt x="928596" y="19047"/>
                </a:lnTo>
                <a:lnTo>
                  <a:pt x="934286" y="31790"/>
                </a:lnTo>
                <a:lnTo>
                  <a:pt x="935735" y="210312"/>
                </a:lnTo>
                <a:lnTo>
                  <a:pt x="933230" y="224147"/>
                </a:lnTo>
                <a:lnTo>
                  <a:pt x="926522" y="236016"/>
                </a:lnTo>
                <a:lnTo>
                  <a:pt x="916391" y="245054"/>
                </a:lnTo>
                <a:lnTo>
                  <a:pt x="903618" y="250394"/>
                </a:lnTo>
                <a:lnTo>
                  <a:pt x="41148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7592821" y="3137496"/>
            <a:ext cx="71120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404040"/>
                </a:solidFill>
                <a:latin typeface="Arial Unicode MS"/>
                <a:cs typeface="Arial Unicode MS"/>
              </a:rPr>
              <a:t>月台分配策略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7482840" y="3424428"/>
            <a:ext cx="937260" cy="251460"/>
          </a:xfrm>
          <a:custGeom>
            <a:avLst/>
            <a:gdLst/>
            <a:ahLst/>
            <a:cxnLst/>
            <a:rect l="l" t="t" r="r" b="b"/>
            <a:pathLst>
              <a:path w="937259" h="251460">
                <a:moveTo>
                  <a:pt x="42671" y="251460"/>
                </a:moveTo>
                <a:lnTo>
                  <a:pt x="7437" y="232323"/>
                </a:lnTo>
                <a:lnTo>
                  <a:pt x="0" y="41148"/>
                </a:lnTo>
                <a:lnTo>
                  <a:pt x="2705" y="27288"/>
                </a:lnTo>
                <a:lnTo>
                  <a:pt x="9474" y="15413"/>
                </a:lnTo>
                <a:lnTo>
                  <a:pt x="19536" y="6382"/>
                </a:lnTo>
                <a:lnTo>
                  <a:pt x="32120" y="1053"/>
                </a:lnTo>
                <a:lnTo>
                  <a:pt x="894587" y="0"/>
                </a:lnTo>
                <a:lnTo>
                  <a:pt x="908574" y="2014"/>
                </a:lnTo>
                <a:lnTo>
                  <a:pt x="920599" y="8370"/>
                </a:lnTo>
                <a:lnTo>
                  <a:pt x="929892" y="18209"/>
                </a:lnTo>
                <a:lnTo>
                  <a:pt x="935681" y="30672"/>
                </a:lnTo>
                <a:lnTo>
                  <a:pt x="937259" y="208787"/>
                </a:lnTo>
                <a:lnTo>
                  <a:pt x="934586" y="222978"/>
                </a:lnTo>
                <a:lnTo>
                  <a:pt x="927847" y="235096"/>
                </a:lnTo>
                <a:lnTo>
                  <a:pt x="917809" y="244374"/>
                </a:lnTo>
                <a:lnTo>
                  <a:pt x="905240" y="250041"/>
                </a:lnTo>
                <a:lnTo>
                  <a:pt x="42671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7633589" y="3464203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预约策略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8595359" y="2060448"/>
            <a:ext cx="1115695" cy="1765300"/>
          </a:xfrm>
          <a:custGeom>
            <a:avLst/>
            <a:gdLst/>
            <a:ahLst/>
            <a:cxnLst/>
            <a:rect l="l" t="t" r="r" b="b"/>
            <a:pathLst>
              <a:path w="1115695" h="1765300">
                <a:moveTo>
                  <a:pt x="0" y="0"/>
                </a:moveTo>
                <a:lnTo>
                  <a:pt x="1115568" y="0"/>
                </a:lnTo>
                <a:lnTo>
                  <a:pt x="1115568" y="1764792"/>
                </a:lnTo>
                <a:lnTo>
                  <a:pt x="0" y="17647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8835135" y="2114155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数据中心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8686800" y="2389632"/>
            <a:ext cx="935990" cy="251460"/>
          </a:xfrm>
          <a:custGeom>
            <a:avLst/>
            <a:gdLst/>
            <a:ahLst/>
            <a:cxnLst/>
            <a:rect l="l" t="t" r="r" b="b"/>
            <a:pathLst>
              <a:path w="935990" h="251460">
                <a:moveTo>
                  <a:pt x="41148" y="251460"/>
                </a:moveTo>
                <a:lnTo>
                  <a:pt x="6095" y="232029"/>
                </a:lnTo>
                <a:lnTo>
                  <a:pt x="0" y="41148"/>
                </a:lnTo>
                <a:lnTo>
                  <a:pt x="2248" y="27215"/>
                </a:lnTo>
                <a:lnTo>
                  <a:pt x="8869" y="15274"/>
                </a:lnTo>
                <a:lnTo>
                  <a:pt x="18962" y="6222"/>
                </a:lnTo>
                <a:lnTo>
                  <a:pt x="31630" y="959"/>
                </a:lnTo>
                <a:lnTo>
                  <a:pt x="893064" y="0"/>
                </a:lnTo>
                <a:lnTo>
                  <a:pt x="907383" y="2168"/>
                </a:lnTo>
                <a:lnTo>
                  <a:pt x="919576" y="8655"/>
                </a:lnTo>
                <a:lnTo>
                  <a:pt x="928857" y="18588"/>
                </a:lnTo>
                <a:lnTo>
                  <a:pt x="934443" y="31092"/>
                </a:lnTo>
                <a:lnTo>
                  <a:pt x="935735" y="210312"/>
                </a:lnTo>
                <a:lnTo>
                  <a:pt x="933242" y="224053"/>
                </a:lnTo>
                <a:lnTo>
                  <a:pt x="926429" y="235905"/>
                </a:lnTo>
                <a:lnTo>
                  <a:pt x="916099" y="244971"/>
                </a:lnTo>
                <a:lnTo>
                  <a:pt x="903055" y="250356"/>
                </a:lnTo>
                <a:lnTo>
                  <a:pt x="41148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8836532" y="2429661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人效报表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8683752" y="2731007"/>
            <a:ext cx="935990" cy="251460"/>
          </a:xfrm>
          <a:custGeom>
            <a:avLst/>
            <a:gdLst/>
            <a:ahLst/>
            <a:cxnLst/>
            <a:rect l="l" t="t" r="r" b="b"/>
            <a:pathLst>
              <a:path w="935990" h="251460">
                <a:moveTo>
                  <a:pt x="42672" y="251460"/>
                </a:moveTo>
                <a:lnTo>
                  <a:pt x="6853" y="232966"/>
                </a:lnTo>
                <a:lnTo>
                  <a:pt x="0" y="42672"/>
                </a:lnTo>
                <a:lnTo>
                  <a:pt x="2373" y="28398"/>
                </a:lnTo>
                <a:lnTo>
                  <a:pt x="8964" y="16243"/>
                </a:lnTo>
                <a:lnTo>
                  <a:pt x="19008" y="6973"/>
                </a:lnTo>
                <a:lnTo>
                  <a:pt x="31735" y="1355"/>
                </a:lnTo>
                <a:lnTo>
                  <a:pt x="894588" y="0"/>
                </a:lnTo>
                <a:lnTo>
                  <a:pt x="908353" y="2400"/>
                </a:lnTo>
                <a:lnTo>
                  <a:pt x="920204" y="9120"/>
                </a:lnTo>
                <a:lnTo>
                  <a:pt x="929258" y="19366"/>
                </a:lnTo>
                <a:lnTo>
                  <a:pt x="934633" y="32345"/>
                </a:lnTo>
                <a:lnTo>
                  <a:pt x="935736" y="210312"/>
                </a:lnTo>
                <a:lnTo>
                  <a:pt x="933439" y="224284"/>
                </a:lnTo>
                <a:lnTo>
                  <a:pt x="926791" y="236244"/>
                </a:lnTo>
                <a:lnTo>
                  <a:pt x="916691" y="245293"/>
                </a:lnTo>
                <a:lnTo>
                  <a:pt x="904040" y="250531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8795766" y="2789960"/>
            <a:ext cx="71120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404040"/>
                </a:solidFill>
                <a:latin typeface="Arial Unicode MS"/>
                <a:cs typeface="Arial Unicode MS"/>
              </a:rPr>
              <a:t>月台效率报表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8683752" y="3078479"/>
            <a:ext cx="935990" cy="251460"/>
          </a:xfrm>
          <a:custGeom>
            <a:avLst/>
            <a:gdLst/>
            <a:ahLst/>
            <a:cxnLst/>
            <a:rect l="l" t="t" r="r" b="b"/>
            <a:pathLst>
              <a:path w="935990" h="251460">
                <a:moveTo>
                  <a:pt x="42672" y="251460"/>
                </a:moveTo>
                <a:lnTo>
                  <a:pt x="6887" y="233061"/>
                </a:lnTo>
                <a:lnTo>
                  <a:pt x="0" y="42672"/>
                </a:lnTo>
                <a:lnTo>
                  <a:pt x="2377" y="28418"/>
                </a:lnTo>
                <a:lnTo>
                  <a:pt x="8979" y="16270"/>
                </a:lnTo>
                <a:lnTo>
                  <a:pt x="19038" y="6997"/>
                </a:lnTo>
                <a:lnTo>
                  <a:pt x="31785" y="1367"/>
                </a:lnTo>
                <a:lnTo>
                  <a:pt x="894588" y="0"/>
                </a:lnTo>
                <a:lnTo>
                  <a:pt x="908365" y="2436"/>
                </a:lnTo>
                <a:lnTo>
                  <a:pt x="920223" y="9182"/>
                </a:lnTo>
                <a:lnTo>
                  <a:pt x="929278" y="19442"/>
                </a:lnTo>
                <a:lnTo>
                  <a:pt x="934645" y="32421"/>
                </a:lnTo>
                <a:lnTo>
                  <a:pt x="935736" y="210312"/>
                </a:lnTo>
                <a:lnTo>
                  <a:pt x="933446" y="224296"/>
                </a:lnTo>
                <a:lnTo>
                  <a:pt x="926817" y="236258"/>
                </a:lnTo>
                <a:lnTo>
                  <a:pt x="916744" y="245304"/>
                </a:lnTo>
                <a:lnTo>
                  <a:pt x="904123" y="250536"/>
                </a:lnTo>
                <a:lnTo>
                  <a:pt x="42672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8833866" y="3118979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园区报表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8686800" y="3424428"/>
            <a:ext cx="935990" cy="251460"/>
          </a:xfrm>
          <a:custGeom>
            <a:avLst/>
            <a:gdLst/>
            <a:ahLst/>
            <a:cxnLst/>
            <a:rect l="l" t="t" r="r" b="b"/>
            <a:pathLst>
              <a:path w="935990" h="251460">
                <a:moveTo>
                  <a:pt x="41148" y="251460"/>
                </a:moveTo>
                <a:lnTo>
                  <a:pt x="6442" y="232002"/>
                </a:lnTo>
                <a:lnTo>
                  <a:pt x="0" y="41148"/>
                </a:lnTo>
                <a:lnTo>
                  <a:pt x="2221" y="27167"/>
                </a:lnTo>
                <a:lnTo>
                  <a:pt x="8766" y="15217"/>
                </a:lnTo>
                <a:lnTo>
                  <a:pt x="18753" y="6179"/>
                </a:lnTo>
                <a:lnTo>
                  <a:pt x="31300" y="938"/>
                </a:lnTo>
                <a:lnTo>
                  <a:pt x="893064" y="0"/>
                </a:lnTo>
                <a:lnTo>
                  <a:pt x="907304" y="2014"/>
                </a:lnTo>
                <a:lnTo>
                  <a:pt x="919447" y="8370"/>
                </a:lnTo>
                <a:lnTo>
                  <a:pt x="928722" y="18209"/>
                </a:lnTo>
                <a:lnTo>
                  <a:pt x="934359" y="30672"/>
                </a:lnTo>
                <a:lnTo>
                  <a:pt x="935735" y="208787"/>
                </a:lnTo>
                <a:lnTo>
                  <a:pt x="933315" y="222978"/>
                </a:lnTo>
                <a:lnTo>
                  <a:pt x="926695" y="235096"/>
                </a:lnTo>
                <a:lnTo>
                  <a:pt x="916640" y="244374"/>
                </a:lnTo>
                <a:lnTo>
                  <a:pt x="903919" y="250041"/>
                </a:lnTo>
                <a:lnTo>
                  <a:pt x="41148" y="251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8836532" y="3464203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预约报表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2113788" y="1603247"/>
            <a:ext cx="7740650" cy="360045"/>
          </a:xfrm>
          <a:custGeom>
            <a:avLst/>
            <a:gdLst/>
            <a:ahLst/>
            <a:cxnLst/>
            <a:rect l="l" t="t" r="r" b="b"/>
            <a:pathLst>
              <a:path w="7740650" h="360044">
                <a:moveTo>
                  <a:pt x="0" y="0"/>
                </a:moveTo>
                <a:lnTo>
                  <a:pt x="7740396" y="0"/>
                </a:lnTo>
                <a:lnTo>
                  <a:pt x="7740396" y="359663"/>
                </a:lnTo>
                <a:lnTo>
                  <a:pt x="0" y="359663"/>
                </a:lnTo>
                <a:lnTo>
                  <a:pt x="0" y="0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 txBox="1"/>
          <p:nvPr/>
        </p:nvSpPr>
        <p:spPr>
          <a:xfrm>
            <a:off x="4504525" y="1678165"/>
            <a:ext cx="295846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55" dirty="0">
                <a:solidFill>
                  <a:srgbClr val="FFFFFF"/>
                </a:solidFill>
                <a:latin typeface="Microsoft JhengHei"/>
                <a:cs typeface="Microsoft JhengHei"/>
              </a:rPr>
              <a:t>G</a:t>
            </a:r>
            <a:r>
              <a:rPr sz="1400" b="1" spc="-5" dirty="0">
                <a:solidFill>
                  <a:srgbClr val="FFFFFF"/>
                </a:solidFill>
                <a:latin typeface="Microsoft JhengHei"/>
                <a:cs typeface="Microsoft JhengHei"/>
              </a:rPr>
              <a:t>W</a:t>
            </a:r>
            <a:r>
              <a:rPr sz="1400" b="1" spc="-40" dirty="0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sz="1400" b="1" spc="85" dirty="0">
                <a:solidFill>
                  <a:srgbClr val="FFFFFF"/>
                </a:solidFill>
                <a:latin typeface="Microsoft JhengHei"/>
                <a:cs typeface="Microsoft JhengHei"/>
              </a:rPr>
              <a:t>LL</a:t>
            </a:r>
            <a:r>
              <a:rPr sz="1400" b="1" spc="75" dirty="0">
                <a:solidFill>
                  <a:srgbClr val="FFFFFF"/>
                </a:solidFill>
                <a:latin typeface="Microsoft JhengHei"/>
                <a:cs typeface="Microsoft JhengHei"/>
              </a:rPr>
              <a:t>-</a:t>
            </a:r>
            <a:r>
              <a:rPr sz="1400" b="1" spc="30" dirty="0">
                <a:solidFill>
                  <a:srgbClr val="FFFFFF"/>
                </a:solidFill>
                <a:latin typeface="Microsoft JhengHei"/>
                <a:cs typeface="Microsoft JhengHei"/>
              </a:rPr>
              <a:t>Y</a:t>
            </a:r>
            <a:r>
              <a:rPr sz="1400" b="1" spc="-75" dirty="0">
                <a:solidFill>
                  <a:srgbClr val="FFFFFF"/>
                </a:solidFill>
                <a:latin typeface="Microsoft JhengHei"/>
                <a:cs typeface="Microsoft JhengHei"/>
              </a:rPr>
              <a:t>M</a:t>
            </a:r>
            <a:r>
              <a:rPr sz="1400" b="1" spc="105" dirty="0">
                <a:solidFill>
                  <a:srgbClr val="FFFFFF"/>
                </a:solidFill>
                <a:latin typeface="Microsoft JhengHei"/>
                <a:cs typeface="Microsoft JhengHei"/>
              </a:rPr>
              <a:t>S</a:t>
            </a: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园区仓储物流管理系统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1985772" y="4201464"/>
            <a:ext cx="245363" cy="30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985772" y="2621076"/>
            <a:ext cx="245363" cy="30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3387852" y="4969764"/>
            <a:ext cx="304800" cy="2453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499347" y="4969764"/>
            <a:ext cx="304800" cy="2453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Y</a:t>
            </a:r>
            <a:r>
              <a:rPr spc="280" dirty="0"/>
              <a:t>M</a:t>
            </a:r>
            <a:r>
              <a:rPr spc="-40" dirty="0"/>
              <a:t>S</a:t>
            </a:r>
            <a:r>
              <a:rPr spc="-25" dirty="0"/>
              <a:t>系统核心能</a:t>
            </a:r>
            <a:r>
              <a:rPr spc="-30" dirty="0"/>
              <a:t>力</a:t>
            </a:r>
          </a:p>
        </p:txBody>
      </p:sp>
      <p:sp>
        <p:nvSpPr>
          <p:cNvPr id="3" name="object 3"/>
          <p:cNvSpPr/>
          <p:nvPr/>
        </p:nvSpPr>
        <p:spPr>
          <a:xfrm>
            <a:off x="1019555" y="1667255"/>
            <a:ext cx="10153015" cy="576580"/>
          </a:xfrm>
          <a:custGeom>
            <a:avLst/>
            <a:gdLst/>
            <a:ahLst/>
            <a:cxnLst/>
            <a:rect l="l" t="t" r="r" b="b"/>
            <a:pathLst>
              <a:path w="10153015" h="576580">
                <a:moveTo>
                  <a:pt x="0" y="0"/>
                </a:moveTo>
                <a:lnTo>
                  <a:pt x="10152888" y="0"/>
                </a:lnTo>
                <a:lnTo>
                  <a:pt x="10152888" y="576072"/>
                </a:lnTo>
                <a:lnTo>
                  <a:pt x="0" y="576072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93875" y="1816607"/>
            <a:ext cx="1079500" cy="277495"/>
          </a:xfrm>
          <a:custGeom>
            <a:avLst/>
            <a:gdLst/>
            <a:ahLst/>
            <a:cxnLst/>
            <a:rect l="l" t="t" r="r" b="b"/>
            <a:pathLst>
              <a:path w="1079500" h="277494">
                <a:moveTo>
                  <a:pt x="0" y="0"/>
                </a:moveTo>
                <a:lnTo>
                  <a:pt x="1078991" y="0"/>
                </a:lnTo>
                <a:lnTo>
                  <a:pt x="1078991" y="277368"/>
                </a:lnTo>
                <a:lnTo>
                  <a:pt x="0" y="277368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77632" y="1849386"/>
            <a:ext cx="528929" cy="2018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51760" y="1816607"/>
            <a:ext cx="1248410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100" dirty="0">
                <a:latin typeface="Arial Unicode MS"/>
                <a:cs typeface="Arial Unicode MS"/>
              </a:rPr>
              <a:t>W</a:t>
            </a:r>
            <a:r>
              <a:rPr sz="1200" spc="120" dirty="0">
                <a:latin typeface="Arial Unicode MS"/>
                <a:cs typeface="Arial Unicode MS"/>
              </a:rPr>
              <a:t>M</a:t>
            </a:r>
            <a:r>
              <a:rPr sz="1200" spc="-10" dirty="0">
                <a:latin typeface="Arial Unicode MS"/>
                <a:cs typeface="Arial Unicode MS"/>
              </a:rPr>
              <a:t>S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94547" y="1816607"/>
            <a:ext cx="1248410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15" dirty="0">
                <a:latin typeface="Arial Unicode MS"/>
                <a:cs typeface="Arial Unicode MS"/>
              </a:rPr>
              <a:t>O</a:t>
            </a:r>
            <a:r>
              <a:rPr sz="1200" spc="120" dirty="0">
                <a:latin typeface="Arial Unicode MS"/>
                <a:cs typeface="Arial Unicode MS"/>
              </a:rPr>
              <a:t>M</a:t>
            </a:r>
            <a:r>
              <a:rPr sz="1200" spc="-10" dirty="0">
                <a:latin typeface="Arial Unicode MS"/>
                <a:cs typeface="Arial Unicode MS"/>
              </a:rPr>
              <a:t>S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7076" y="1816607"/>
            <a:ext cx="1248410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60" dirty="0">
                <a:latin typeface="Arial Unicode MS"/>
                <a:cs typeface="Arial Unicode MS"/>
              </a:rPr>
              <a:t>T</a:t>
            </a:r>
            <a:r>
              <a:rPr sz="1200" spc="120" dirty="0">
                <a:latin typeface="Arial Unicode MS"/>
                <a:cs typeface="Arial Unicode MS"/>
              </a:rPr>
              <a:t>M</a:t>
            </a:r>
            <a:r>
              <a:rPr sz="1200" spc="-10" dirty="0">
                <a:latin typeface="Arial Unicode MS"/>
                <a:cs typeface="Arial Unicode MS"/>
              </a:rPr>
              <a:t>S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9231" y="1816607"/>
            <a:ext cx="1248410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E</a:t>
            </a:r>
            <a:r>
              <a:rPr sz="1200" spc="-65" dirty="0">
                <a:latin typeface="Arial Unicode MS"/>
                <a:cs typeface="Arial Unicode MS"/>
              </a:rPr>
              <a:t>R</a:t>
            </a:r>
            <a:r>
              <a:rPr sz="1200" spc="-20" dirty="0">
                <a:latin typeface="Arial Unicode MS"/>
                <a:cs typeface="Arial Unicode MS"/>
              </a:rPr>
              <a:t>P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23915" y="1816607"/>
            <a:ext cx="1247140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10" dirty="0">
                <a:latin typeface="Arial Unicode MS"/>
                <a:cs typeface="Arial Unicode MS"/>
              </a:rPr>
              <a:t>S</a:t>
            </a:r>
            <a:r>
              <a:rPr sz="1200" spc="-5" dirty="0">
                <a:latin typeface="Arial Unicode MS"/>
                <a:cs typeface="Arial Unicode MS"/>
              </a:rPr>
              <a:t>C</a:t>
            </a:r>
            <a:r>
              <a:rPr sz="1200" spc="120" dirty="0">
                <a:latin typeface="Arial Unicode MS"/>
                <a:cs typeface="Arial Unicode MS"/>
              </a:rPr>
              <a:t>M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81388" y="1816607"/>
            <a:ext cx="1247140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18135">
              <a:lnSpc>
                <a:spcPct val="100000"/>
              </a:lnSpc>
            </a:pPr>
            <a:r>
              <a:rPr sz="1200" spc="860" dirty="0">
                <a:latin typeface="Arial Unicode MS"/>
                <a:cs typeface="Arial Unicode MS"/>
              </a:rPr>
              <a:t>····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19555" y="2561844"/>
            <a:ext cx="10153015" cy="1369060"/>
          </a:xfrm>
          <a:custGeom>
            <a:avLst/>
            <a:gdLst/>
            <a:ahLst/>
            <a:cxnLst/>
            <a:rect l="l" t="t" r="r" b="b"/>
            <a:pathLst>
              <a:path w="10153015" h="1369060">
                <a:moveTo>
                  <a:pt x="0" y="0"/>
                </a:moveTo>
                <a:lnTo>
                  <a:pt x="10152888" y="0"/>
                </a:lnTo>
                <a:lnTo>
                  <a:pt x="10152888" y="1368552"/>
                </a:lnTo>
                <a:lnTo>
                  <a:pt x="0" y="1368552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93875" y="2711195"/>
            <a:ext cx="1079500" cy="1068705"/>
          </a:xfrm>
          <a:custGeom>
            <a:avLst/>
            <a:gdLst/>
            <a:ahLst/>
            <a:cxnLst/>
            <a:rect l="l" t="t" r="r" b="b"/>
            <a:pathLst>
              <a:path w="1079500" h="1068704">
                <a:moveTo>
                  <a:pt x="0" y="0"/>
                </a:moveTo>
                <a:lnTo>
                  <a:pt x="1078991" y="0"/>
                </a:lnTo>
                <a:lnTo>
                  <a:pt x="1078991" y="1068324"/>
                </a:lnTo>
                <a:lnTo>
                  <a:pt x="0" y="1068324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95082" y="3138258"/>
            <a:ext cx="692873" cy="2023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51760" y="2711195"/>
            <a:ext cx="8176259" cy="325120"/>
          </a:xfrm>
          <a:prstGeom prst="rect">
            <a:avLst/>
          </a:prstGeom>
          <a:solidFill>
            <a:srgbClr val="E42E2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基于园区物流管控的系统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19555" y="4247388"/>
            <a:ext cx="10153015" cy="1295400"/>
          </a:xfrm>
          <a:custGeom>
            <a:avLst/>
            <a:gdLst/>
            <a:ahLst/>
            <a:cxnLst/>
            <a:rect l="l" t="t" r="r" b="b"/>
            <a:pathLst>
              <a:path w="10153015" h="1295400">
                <a:moveTo>
                  <a:pt x="0" y="0"/>
                </a:moveTo>
                <a:lnTo>
                  <a:pt x="10152888" y="0"/>
                </a:lnTo>
                <a:lnTo>
                  <a:pt x="10152888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93875" y="4450079"/>
            <a:ext cx="1079500" cy="931544"/>
          </a:xfrm>
          <a:custGeom>
            <a:avLst/>
            <a:gdLst/>
            <a:ahLst/>
            <a:cxnLst/>
            <a:rect l="l" t="t" r="r" b="b"/>
            <a:pathLst>
              <a:path w="1079500" h="931545">
                <a:moveTo>
                  <a:pt x="0" y="0"/>
                </a:moveTo>
                <a:lnTo>
                  <a:pt x="1078991" y="0"/>
                </a:lnTo>
                <a:lnTo>
                  <a:pt x="1078991" y="931163"/>
                </a:lnTo>
                <a:lnTo>
                  <a:pt x="0" y="931163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95082" y="4810252"/>
            <a:ext cx="693534" cy="2002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70314" y="4372076"/>
            <a:ext cx="1077569" cy="10922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07257" y="4372076"/>
            <a:ext cx="1077569" cy="10922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44212" y="4372076"/>
            <a:ext cx="1077569" cy="10922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18096" y="4372076"/>
            <a:ext cx="1077569" cy="10922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81154" y="4372076"/>
            <a:ext cx="1077569" cy="109226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755039" y="4372076"/>
            <a:ext cx="1077569" cy="10922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791981" y="4372076"/>
            <a:ext cx="1077569" cy="10922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828924" y="4372076"/>
            <a:ext cx="1077569" cy="10922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19555" y="4247388"/>
            <a:ext cx="10153015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114">
              <a:lnSpc>
                <a:spcPct val="100000"/>
              </a:lnSpc>
              <a:tabLst>
                <a:tab pos="2846070" algn="l"/>
                <a:tab pos="3883025" algn="l"/>
                <a:tab pos="4919980" algn="l"/>
                <a:tab pos="5956935" algn="l"/>
                <a:tab pos="6993890" algn="l"/>
                <a:tab pos="8030845" algn="l"/>
                <a:tab pos="9067800" algn="l"/>
              </a:tabLst>
            </a:pPr>
            <a:r>
              <a:rPr sz="1100" spc="-5" dirty="0">
                <a:latin typeface="Arial Unicode MS"/>
                <a:cs typeface="Arial Unicode MS"/>
              </a:rPr>
              <a:t>预约管</a:t>
            </a:r>
            <a:r>
              <a:rPr sz="1100" dirty="0">
                <a:latin typeface="Arial Unicode MS"/>
                <a:cs typeface="Arial Unicode MS"/>
              </a:rPr>
              <a:t>理	</a:t>
            </a:r>
            <a:r>
              <a:rPr sz="1100" spc="-5" dirty="0">
                <a:latin typeface="Arial Unicode MS"/>
                <a:cs typeface="Arial Unicode MS"/>
              </a:rPr>
              <a:t>到场签</a:t>
            </a:r>
            <a:r>
              <a:rPr sz="1100" dirty="0">
                <a:latin typeface="Arial Unicode MS"/>
                <a:cs typeface="Arial Unicode MS"/>
              </a:rPr>
              <a:t>到	</a:t>
            </a:r>
            <a:r>
              <a:rPr sz="1100" spc="-5" dirty="0">
                <a:latin typeface="Arial Unicode MS"/>
                <a:cs typeface="Arial Unicode MS"/>
              </a:rPr>
              <a:t>电子围</a:t>
            </a:r>
            <a:r>
              <a:rPr sz="1100" dirty="0">
                <a:latin typeface="Arial Unicode MS"/>
                <a:cs typeface="Arial Unicode MS"/>
              </a:rPr>
              <a:t>栏	</a:t>
            </a:r>
            <a:r>
              <a:rPr sz="1100" spc="-5" dirty="0">
                <a:latin typeface="Arial Unicode MS"/>
                <a:cs typeface="Arial Unicode MS"/>
              </a:rPr>
              <a:t>门闸入</a:t>
            </a:r>
            <a:r>
              <a:rPr sz="1100" dirty="0">
                <a:latin typeface="Arial Unicode MS"/>
                <a:cs typeface="Arial Unicode MS"/>
              </a:rPr>
              <a:t>园	</a:t>
            </a:r>
            <a:r>
              <a:rPr sz="1100" spc="-5" dirty="0">
                <a:latin typeface="Arial Unicode MS"/>
                <a:cs typeface="Arial Unicode MS"/>
              </a:rPr>
              <a:t>月台装</a:t>
            </a:r>
            <a:r>
              <a:rPr sz="1100" dirty="0">
                <a:latin typeface="Arial Unicode MS"/>
                <a:cs typeface="Arial Unicode MS"/>
              </a:rPr>
              <a:t>卸	</a:t>
            </a:r>
            <a:r>
              <a:rPr sz="1100" spc="-5" dirty="0">
                <a:latin typeface="Arial Unicode MS"/>
                <a:cs typeface="Arial Unicode MS"/>
              </a:rPr>
              <a:t>地磅称</a:t>
            </a:r>
            <a:r>
              <a:rPr sz="1100" dirty="0">
                <a:latin typeface="Arial Unicode MS"/>
                <a:cs typeface="Arial Unicode MS"/>
              </a:rPr>
              <a:t>重	</a:t>
            </a:r>
            <a:r>
              <a:rPr sz="1100" spc="-5" dirty="0">
                <a:latin typeface="Arial Unicode MS"/>
                <a:cs typeface="Arial Unicode MS"/>
              </a:rPr>
              <a:t>核查出</a:t>
            </a:r>
            <a:r>
              <a:rPr sz="1100" dirty="0">
                <a:latin typeface="Arial Unicode MS"/>
                <a:cs typeface="Arial Unicode MS"/>
              </a:rPr>
              <a:t>园	</a:t>
            </a:r>
            <a:r>
              <a:rPr sz="1100" spc="-5" dirty="0">
                <a:latin typeface="Arial Unicode MS"/>
                <a:cs typeface="Arial Unicode MS"/>
              </a:rPr>
              <a:t>智慧大</a:t>
            </a:r>
            <a:r>
              <a:rPr sz="1100" dirty="0">
                <a:latin typeface="Arial Unicode MS"/>
                <a:cs typeface="Arial Unicode MS"/>
              </a:rPr>
              <a:t>屏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014716" y="2264664"/>
            <a:ext cx="180340" cy="288290"/>
          </a:xfrm>
          <a:custGeom>
            <a:avLst/>
            <a:gdLst/>
            <a:ahLst/>
            <a:cxnLst/>
            <a:rect l="l" t="t" r="r" b="b"/>
            <a:pathLst>
              <a:path w="180340" h="288289">
                <a:moveTo>
                  <a:pt x="179831" y="126492"/>
                </a:moveTo>
                <a:lnTo>
                  <a:pt x="0" y="126492"/>
                </a:lnTo>
                <a:lnTo>
                  <a:pt x="89915" y="0"/>
                </a:lnTo>
                <a:lnTo>
                  <a:pt x="179831" y="126492"/>
                </a:lnTo>
                <a:close/>
              </a:path>
              <a:path w="180340" h="288289">
                <a:moveTo>
                  <a:pt x="135635" y="288036"/>
                </a:moveTo>
                <a:lnTo>
                  <a:pt x="45719" y="288036"/>
                </a:lnTo>
                <a:lnTo>
                  <a:pt x="45719" y="126492"/>
                </a:lnTo>
                <a:lnTo>
                  <a:pt x="135635" y="126492"/>
                </a:lnTo>
                <a:lnTo>
                  <a:pt x="135635" y="288036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47159" y="2264664"/>
            <a:ext cx="181610" cy="288290"/>
          </a:xfrm>
          <a:custGeom>
            <a:avLst/>
            <a:gdLst/>
            <a:ahLst/>
            <a:cxnLst/>
            <a:rect l="l" t="t" r="r" b="b"/>
            <a:pathLst>
              <a:path w="181610" h="288289">
                <a:moveTo>
                  <a:pt x="135636" y="160019"/>
                </a:moveTo>
                <a:lnTo>
                  <a:pt x="45719" y="160019"/>
                </a:lnTo>
                <a:lnTo>
                  <a:pt x="45719" y="0"/>
                </a:lnTo>
                <a:lnTo>
                  <a:pt x="135636" y="0"/>
                </a:lnTo>
                <a:lnTo>
                  <a:pt x="135636" y="160019"/>
                </a:lnTo>
                <a:close/>
              </a:path>
              <a:path w="181610" h="288289">
                <a:moveTo>
                  <a:pt x="89915" y="288036"/>
                </a:moveTo>
                <a:lnTo>
                  <a:pt x="0" y="160019"/>
                </a:lnTo>
                <a:lnTo>
                  <a:pt x="181355" y="160019"/>
                </a:lnTo>
                <a:lnTo>
                  <a:pt x="89915" y="288036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011668" y="3938015"/>
            <a:ext cx="180340" cy="288290"/>
          </a:xfrm>
          <a:custGeom>
            <a:avLst/>
            <a:gdLst/>
            <a:ahLst/>
            <a:cxnLst/>
            <a:rect l="l" t="t" r="r" b="b"/>
            <a:pathLst>
              <a:path w="180340" h="288289">
                <a:moveTo>
                  <a:pt x="179831" y="128016"/>
                </a:moveTo>
                <a:lnTo>
                  <a:pt x="0" y="128016"/>
                </a:lnTo>
                <a:lnTo>
                  <a:pt x="89915" y="0"/>
                </a:lnTo>
                <a:lnTo>
                  <a:pt x="179831" y="128016"/>
                </a:lnTo>
                <a:close/>
              </a:path>
              <a:path w="180340" h="288289">
                <a:moveTo>
                  <a:pt x="134111" y="288036"/>
                </a:moveTo>
                <a:lnTo>
                  <a:pt x="44196" y="288036"/>
                </a:lnTo>
                <a:lnTo>
                  <a:pt x="44196" y="128016"/>
                </a:lnTo>
                <a:lnTo>
                  <a:pt x="134111" y="128016"/>
                </a:lnTo>
                <a:lnTo>
                  <a:pt x="134111" y="288036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44111" y="3938015"/>
            <a:ext cx="180340" cy="288290"/>
          </a:xfrm>
          <a:custGeom>
            <a:avLst/>
            <a:gdLst/>
            <a:ahLst/>
            <a:cxnLst/>
            <a:rect l="l" t="t" r="r" b="b"/>
            <a:pathLst>
              <a:path w="180339" h="288289">
                <a:moveTo>
                  <a:pt x="135636" y="161544"/>
                </a:moveTo>
                <a:lnTo>
                  <a:pt x="45720" y="161544"/>
                </a:lnTo>
                <a:lnTo>
                  <a:pt x="45720" y="0"/>
                </a:lnTo>
                <a:lnTo>
                  <a:pt x="135636" y="0"/>
                </a:lnTo>
                <a:lnTo>
                  <a:pt x="135636" y="161544"/>
                </a:lnTo>
                <a:close/>
              </a:path>
              <a:path w="180339" h="288289">
                <a:moveTo>
                  <a:pt x="89915" y="288036"/>
                </a:moveTo>
                <a:lnTo>
                  <a:pt x="0" y="161544"/>
                </a:lnTo>
                <a:lnTo>
                  <a:pt x="179832" y="161544"/>
                </a:lnTo>
                <a:lnTo>
                  <a:pt x="89915" y="288036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651760" y="3130295"/>
          <a:ext cx="8176259" cy="649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8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3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5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7367">
                <a:tc>
                  <a:txBody>
                    <a:bodyPr/>
                    <a:lstStyle/>
                    <a:p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</a:pPr>
                      <a:r>
                        <a:rPr sz="1300" spc="5" dirty="0">
                          <a:solidFill>
                            <a:srgbClr val="404040"/>
                          </a:solidFill>
                          <a:latin typeface="Arial Unicode MS"/>
                          <a:cs typeface="Arial Unicode MS"/>
                        </a:rPr>
                        <a:t>发运业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Arial Unicode MS"/>
                          <a:cs typeface="Arial Unicode MS"/>
                        </a:rPr>
                        <a:t>务</a:t>
                      </a:r>
                      <a:endParaRPr sz="13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sz="13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sz="13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</a:pPr>
                      <a:r>
                        <a:rPr sz="1300" spc="5" dirty="0">
                          <a:solidFill>
                            <a:srgbClr val="404040"/>
                          </a:solidFill>
                          <a:latin typeface="Arial Unicode MS"/>
                          <a:cs typeface="Arial Unicode MS"/>
                        </a:rPr>
                        <a:t>送货业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Arial Unicode MS"/>
                          <a:cs typeface="Arial Unicode MS"/>
                        </a:rPr>
                        <a:t>务</a:t>
                      </a:r>
                      <a:endParaRPr sz="13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sz="13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Unicode MS"/>
                          <a:cs typeface="Arial Unicode MS"/>
                        </a:rPr>
                        <a:t>用车需求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Unicode MS"/>
                          <a:cs typeface="Arial Unicode MS"/>
                        </a:rPr>
                        <a:t>司机预约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Unicode MS"/>
                          <a:cs typeface="Arial Unicode MS"/>
                        </a:rPr>
                        <a:t>路线指引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Unicode MS"/>
                          <a:cs typeface="Arial Unicode MS"/>
                        </a:rPr>
                        <a:t>月台调配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Unicode MS"/>
                          <a:cs typeface="Arial Unicode MS"/>
                        </a:rPr>
                        <a:t>策略管控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Unicode MS"/>
                          <a:cs typeface="Arial Unicode MS"/>
                        </a:rPr>
                        <a:t>预约管理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业务场</a:t>
            </a:r>
            <a:r>
              <a:rPr spc="-30" dirty="0"/>
              <a:t>景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b="0" dirty="0">
                <a:solidFill>
                  <a:srgbClr val="D71E06"/>
                </a:solidFill>
                <a:latin typeface="Arial"/>
                <a:cs typeface="Arial"/>
              </a:rPr>
              <a:t>•	</a:t>
            </a:r>
            <a:r>
              <a:rPr dirty="0"/>
              <a:t>园区能力</a:t>
            </a:r>
          </a:p>
          <a:p>
            <a:pPr marL="12700" marR="5080">
              <a:lnSpc>
                <a:spcPct val="119800"/>
              </a:lnSpc>
              <a:spcBef>
                <a:spcPts val="575"/>
              </a:spcBef>
            </a:pP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涵盖月台、车辆、库位、车型等园区管理核心维度， 统一管理各类基础信息与资源配置。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b="0" dirty="0">
                <a:solidFill>
                  <a:srgbClr val="D71E06"/>
                </a:solidFill>
                <a:latin typeface="Arial"/>
                <a:cs typeface="Arial"/>
              </a:rPr>
              <a:t>•	</a:t>
            </a:r>
            <a:r>
              <a:rPr dirty="0"/>
              <a:t>送货预约</a:t>
            </a:r>
          </a:p>
          <a:p>
            <a:pPr marL="12700" marR="157480">
              <a:lnSpc>
                <a:spcPct val="119800"/>
              </a:lnSpc>
              <a:spcBef>
                <a:spcPts val="575"/>
              </a:spcBef>
            </a:pP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通过送货预约、排队、审批全流程管理，联动仓库 协同，满足高效送货业务诉求。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b="0" dirty="0">
                <a:solidFill>
                  <a:srgbClr val="D71E06"/>
                </a:solidFill>
                <a:latin typeface="Arial"/>
                <a:cs typeface="Arial"/>
              </a:rPr>
              <a:t>•	</a:t>
            </a:r>
            <a:r>
              <a:rPr dirty="0"/>
              <a:t>提货预约</a:t>
            </a:r>
          </a:p>
          <a:p>
            <a:pPr marL="12700" marR="157480">
              <a:lnSpc>
                <a:spcPct val="119800"/>
              </a:lnSpc>
              <a:spcBef>
                <a:spcPts val="575"/>
              </a:spcBef>
            </a:pP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联动仓库与园区车辆，支持多种备货、调车流程及 场地、月台与货品周转管理。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b="0" dirty="0">
                <a:solidFill>
                  <a:srgbClr val="D71E06"/>
                </a:solidFill>
                <a:latin typeface="Arial"/>
                <a:cs typeface="Arial"/>
              </a:rPr>
              <a:t>•	</a:t>
            </a:r>
            <a:r>
              <a:rPr dirty="0"/>
              <a:t>称重集成</a:t>
            </a:r>
          </a:p>
          <a:p>
            <a:pPr marL="12700" marR="157480">
              <a:lnSpc>
                <a:spcPct val="119800"/>
              </a:lnSpc>
              <a:spcBef>
                <a:spcPts val="575"/>
              </a:spcBef>
            </a:pP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集成无人值守称重设备，支持重车、轻车过磅等操 作，确保重量信息实时同步至相关系统。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b="0" dirty="0">
                <a:solidFill>
                  <a:srgbClr val="D71E06"/>
                </a:solidFill>
                <a:latin typeface="Arial"/>
                <a:cs typeface="Arial"/>
              </a:rPr>
              <a:t>•	</a:t>
            </a:r>
            <a:r>
              <a:rPr dirty="0"/>
              <a:t>提货预约</a:t>
            </a:r>
          </a:p>
          <a:p>
            <a:pPr marL="12700" marR="157480">
              <a:lnSpc>
                <a:spcPct val="119800"/>
              </a:lnSpc>
              <a:spcBef>
                <a:spcPts val="575"/>
              </a:spcBef>
            </a:pP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联动仓库与园区车辆，支持多种备货、调车流程及 场地、月台与货品周转管理。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b="0" dirty="0">
                <a:solidFill>
                  <a:srgbClr val="D71E06"/>
                </a:solidFill>
                <a:latin typeface="Arial"/>
                <a:cs typeface="Arial"/>
              </a:rPr>
              <a:t>•	</a:t>
            </a:r>
            <a:r>
              <a:rPr dirty="0"/>
              <a:t>月台管理</a:t>
            </a:r>
          </a:p>
          <a:p>
            <a:pPr marL="12700" marR="146685">
              <a:lnSpc>
                <a:spcPct val="119800"/>
              </a:lnSpc>
              <a:spcBef>
                <a:spcPts val="575"/>
              </a:spcBef>
            </a:pP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覆盖单边</a:t>
            </a:r>
            <a:r>
              <a:rPr sz="1200" b="0" spc="5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200" b="0" spc="130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200" b="0" spc="5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双边、提货</a:t>
            </a:r>
            <a:r>
              <a:rPr sz="1200" b="0" spc="5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200" b="0" spc="130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200" b="0" spc="5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送货等各类月台及无月台 场景，支持一车多月台等多模式业务场景。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b="0" dirty="0">
                <a:solidFill>
                  <a:srgbClr val="D71E06"/>
                </a:solidFill>
                <a:latin typeface="Arial"/>
                <a:cs typeface="Arial"/>
              </a:rPr>
              <a:t>•	</a:t>
            </a:r>
            <a:r>
              <a:rPr dirty="0"/>
              <a:t>司机协同</a:t>
            </a:r>
          </a:p>
          <a:p>
            <a:pPr marL="12700" marR="157480">
              <a:lnSpc>
                <a:spcPct val="119800"/>
              </a:lnSpc>
              <a:spcBef>
                <a:spcPts val="575"/>
              </a:spcBef>
            </a:pP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包含派车、调度、月台分配及消息通知功能，联动 调度需求与司机，管控车辆停留时长。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b="0" dirty="0">
                <a:solidFill>
                  <a:srgbClr val="D71E06"/>
                </a:solidFill>
                <a:latin typeface="Arial"/>
                <a:cs typeface="Arial"/>
              </a:rPr>
              <a:t>•	</a:t>
            </a:r>
            <a:r>
              <a:rPr dirty="0"/>
              <a:t>协同任务</a:t>
            </a:r>
          </a:p>
          <a:p>
            <a:pPr marL="12700" marR="157480">
              <a:lnSpc>
                <a:spcPct val="119800"/>
              </a:lnSpc>
              <a:spcBef>
                <a:spcPts val="575"/>
              </a:spcBef>
            </a:pP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协同叉车、搬运、装卸人力等任务调度，及运输发 运安排，支持工作量统计与实时调整。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b="0" dirty="0">
                <a:solidFill>
                  <a:srgbClr val="D71E06"/>
                </a:solidFill>
                <a:latin typeface="Arial"/>
                <a:cs typeface="Arial"/>
              </a:rPr>
              <a:t>•	</a:t>
            </a:r>
            <a:r>
              <a:rPr dirty="0"/>
              <a:t>园区安防</a:t>
            </a:r>
          </a:p>
          <a:p>
            <a:pPr marL="12700" marR="157480">
              <a:lnSpc>
                <a:spcPct val="119800"/>
              </a:lnSpc>
              <a:spcBef>
                <a:spcPts val="575"/>
              </a:spcBef>
            </a:pP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联动园区门禁系统，优化进出园区放行指令，减少 不必要的人员放行单据流转。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7815" algn="l"/>
              </a:tabLst>
            </a:pPr>
            <a:r>
              <a:rPr b="0" dirty="0">
                <a:solidFill>
                  <a:srgbClr val="D71E06"/>
                </a:solidFill>
                <a:latin typeface="Arial"/>
                <a:cs typeface="Arial"/>
              </a:rPr>
              <a:t>•	</a:t>
            </a:r>
            <a:r>
              <a:rPr dirty="0"/>
              <a:t>数据统计</a:t>
            </a:r>
          </a:p>
          <a:p>
            <a:pPr marL="12700" marR="5080">
              <a:lnSpc>
                <a:spcPct val="119800"/>
              </a:lnSpc>
              <a:spcBef>
                <a:spcPts val="575"/>
              </a:spcBef>
            </a:pPr>
            <a:r>
              <a:rPr sz="1200" b="0" dirty="0">
                <a:solidFill>
                  <a:srgbClr val="404040"/>
                </a:solidFill>
                <a:latin typeface="Arial Unicode MS"/>
                <a:cs typeface="Arial Unicode MS"/>
              </a:rPr>
              <a:t>实现多维度统计车辆在园时长，月台、货量、订单、 工具使用等核心数据，提供统计分析支持。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0500" y="1450124"/>
            <a:ext cx="0" cy="1003300"/>
          </a:xfrm>
          <a:custGeom>
            <a:avLst/>
            <a:gdLst/>
            <a:ahLst/>
            <a:cxnLst/>
            <a:rect l="l" t="t" r="r" b="b"/>
            <a:pathLst>
              <a:path h="1003300">
                <a:moveTo>
                  <a:pt x="0" y="0"/>
                </a:moveTo>
                <a:lnTo>
                  <a:pt x="0" y="1003198"/>
                </a:lnTo>
              </a:path>
            </a:pathLst>
          </a:custGeom>
          <a:ln w="889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16652" y="2728048"/>
            <a:ext cx="1947697" cy="34230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90500" y="4701590"/>
            <a:ext cx="0" cy="1003300"/>
          </a:xfrm>
          <a:custGeom>
            <a:avLst/>
            <a:gdLst/>
            <a:ahLst/>
            <a:cxnLst/>
            <a:rect l="l" t="t" r="r" b="b"/>
            <a:pathLst>
              <a:path h="1003300">
                <a:moveTo>
                  <a:pt x="0" y="0"/>
                </a:moveTo>
                <a:lnTo>
                  <a:pt x="0" y="1003211"/>
                </a:lnTo>
              </a:path>
            </a:pathLst>
          </a:custGeom>
          <a:ln w="889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系统蓝</a:t>
            </a:r>
            <a:r>
              <a:rPr spc="-30" dirty="0"/>
              <a:t>图</a:t>
            </a:r>
          </a:p>
        </p:txBody>
      </p:sp>
      <p:sp>
        <p:nvSpPr>
          <p:cNvPr id="3" name="object 3"/>
          <p:cNvSpPr/>
          <p:nvPr/>
        </p:nvSpPr>
        <p:spPr>
          <a:xfrm>
            <a:off x="3079305" y="1488808"/>
            <a:ext cx="1130300" cy="639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250" y="1590445"/>
            <a:ext cx="685165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0" marR="5080" indent="-82550">
              <a:lnSpc>
                <a:spcPct val="100000"/>
              </a:lnSpc>
            </a:pPr>
            <a:r>
              <a:rPr sz="1300" spc="-10" dirty="0">
                <a:latin typeface="Arial Unicode MS"/>
                <a:cs typeface="Arial Unicode MS"/>
              </a:rPr>
              <a:t>建立用</a:t>
            </a:r>
            <a:r>
              <a:rPr sz="1300" spc="-15" dirty="0">
                <a:latin typeface="Arial Unicode MS"/>
                <a:cs typeface="Arial Unicode MS"/>
              </a:rPr>
              <a:t>车</a:t>
            </a:r>
            <a:r>
              <a:rPr sz="1300" spc="-5" dirty="0">
                <a:latin typeface="Arial Unicode MS"/>
                <a:cs typeface="Arial Unicode MS"/>
              </a:rPr>
              <a:t> </a:t>
            </a:r>
            <a:r>
              <a:rPr sz="1300" spc="-10" dirty="0">
                <a:latin typeface="Arial Unicode MS"/>
                <a:cs typeface="Arial Unicode MS"/>
              </a:rPr>
              <a:t>需求</a:t>
            </a:r>
            <a:r>
              <a:rPr sz="1300" spc="-15" dirty="0">
                <a:latin typeface="Arial Unicode MS"/>
                <a:cs typeface="Arial Unicode MS"/>
              </a:rPr>
              <a:t>单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86714" y="1596529"/>
            <a:ext cx="1016126" cy="4238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02322" y="1695817"/>
            <a:ext cx="330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预约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9305" y="2480843"/>
            <a:ext cx="1124127" cy="4238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96475" y="2580131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分配月台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86714" y="2480843"/>
            <a:ext cx="1016126" cy="4238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126122" y="2580131"/>
            <a:ext cx="482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预约单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72361" y="2388501"/>
            <a:ext cx="1376133" cy="6085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563508" y="2487802"/>
            <a:ext cx="93980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查看教育视频 签字入园须知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873374" y="2480843"/>
            <a:ext cx="1016126" cy="4238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188968" y="2580131"/>
            <a:ext cx="330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签到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973016" y="2480843"/>
            <a:ext cx="1016126" cy="4238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36210" y="2580131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入园排队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79305" y="3265817"/>
            <a:ext cx="1412125" cy="4238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58375" y="3365105"/>
            <a:ext cx="99885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手动</a:t>
            </a:r>
            <a:r>
              <a:rPr sz="1200" spc="130" dirty="0">
                <a:latin typeface="Arial Unicode MS"/>
                <a:cs typeface="Arial Unicode MS"/>
              </a:rPr>
              <a:t>/自动叫号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86714" y="3265817"/>
            <a:ext cx="1376133" cy="4238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077862" y="3365105"/>
            <a:ext cx="939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接收通知入园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79305" y="4088904"/>
            <a:ext cx="1016127" cy="4238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242500" y="4188205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排队信息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43971" y="4088904"/>
            <a:ext cx="1016126" cy="4238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07166" y="4188205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安全检查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08638" y="4088904"/>
            <a:ext cx="1016126" cy="4238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571832" y="4188205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入园放行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886714" y="3996575"/>
            <a:ext cx="1376133" cy="60854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30262" y="4095876"/>
            <a:ext cx="63500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入园园内 路线导航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72361" y="4088904"/>
            <a:ext cx="1016126" cy="4238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535568" y="4188205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到达月台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79305" y="4973561"/>
            <a:ext cx="1016127" cy="4238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242500" y="5072862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开始作业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243971" y="4973561"/>
            <a:ext cx="1016126" cy="4238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407166" y="5072862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结束作业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079305" y="5781281"/>
            <a:ext cx="1016127" cy="4238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242500" y="5880569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安全检查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243971" y="5781281"/>
            <a:ext cx="1016126" cy="4238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407166" y="5880569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出园放行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886714" y="4973561"/>
            <a:ext cx="1376133" cy="4238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154062" y="5072862"/>
            <a:ext cx="7874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出门证办理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886714" y="5781281"/>
            <a:ext cx="1016126" cy="4238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202322" y="5880569"/>
            <a:ext cx="330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出园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124591" y="1743430"/>
            <a:ext cx="2793365" cy="76200"/>
          </a:xfrm>
          <a:custGeom>
            <a:avLst/>
            <a:gdLst/>
            <a:ahLst/>
            <a:cxnLst/>
            <a:rect l="l" t="t" r="r" b="b"/>
            <a:pathLst>
              <a:path w="2793365" h="76200">
                <a:moveTo>
                  <a:pt x="2717050" y="76199"/>
                </a:moveTo>
                <a:lnTo>
                  <a:pt x="2717050" y="0"/>
                </a:lnTo>
                <a:lnTo>
                  <a:pt x="2785630" y="34289"/>
                </a:lnTo>
                <a:lnTo>
                  <a:pt x="2736100" y="34289"/>
                </a:lnTo>
                <a:lnTo>
                  <a:pt x="2736100" y="41909"/>
                </a:lnTo>
                <a:lnTo>
                  <a:pt x="2785630" y="41909"/>
                </a:lnTo>
                <a:lnTo>
                  <a:pt x="2717050" y="76199"/>
                </a:lnTo>
                <a:close/>
              </a:path>
              <a:path w="2793365" h="76200">
                <a:moveTo>
                  <a:pt x="2717050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2717050" y="34289"/>
                </a:lnTo>
                <a:lnTo>
                  <a:pt x="2717050" y="41909"/>
                </a:lnTo>
                <a:close/>
              </a:path>
              <a:path w="2793365" h="76200">
                <a:moveTo>
                  <a:pt x="2785630" y="41909"/>
                </a:moveTo>
                <a:lnTo>
                  <a:pt x="2736100" y="41909"/>
                </a:lnTo>
                <a:lnTo>
                  <a:pt x="2736100" y="34289"/>
                </a:lnTo>
                <a:lnTo>
                  <a:pt x="2785630" y="34289"/>
                </a:lnTo>
                <a:lnTo>
                  <a:pt x="2793250" y="38099"/>
                </a:lnTo>
                <a:lnTo>
                  <a:pt x="2785630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76332" y="1935403"/>
            <a:ext cx="3795395" cy="576580"/>
          </a:xfrm>
          <a:custGeom>
            <a:avLst/>
            <a:gdLst/>
            <a:ahLst/>
            <a:cxnLst/>
            <a:rect l="l" t="t" r="r" b="b"/>
            <a:pathLst>
              <a:path w="3795395" h="576580">
                <a:moveTo>
                  <a:pt x="3787698" y="288277"/>
                </a:moveTo>
                <a:lnTo>
                  <a:pt x="3787698" y="0"/>
                </a:lnTo>
                <a:lnTo>
                  <a:pt x="3795318" y="0"/>
                </a:lnTo>
                <a:lnTo>
                  <a:pt x="3795318" y="284467"/>
                </a:lnTo>
                <a:lnTo>
                  <a:pt x="3791508" y="284467"/>
                </a:lnTo>
                <a:lnTo>
                  <a:pt x="3787698" y="288277"/>
                </a:lnTo>
                <a:close/>
              </a:path>
              <a:path w="3795395" h="576580">
                <a:moveTo>
                  <a:pt x="41910" y="519404"/>
                </a:moveTo>
                <a:lnTo>
                  <a:pt x="34289" y="519404"/>
                </a:lnTo>
                <a:lnTo>
                  <a:pt x="34289" y="284467"/>
                </a:lnTo>
                <a:lnTo>
                  <a:pt x="3787698" y="284467"/>
                </a:lnTo>
                <a:lnTo>
                  <a:pt x="3787698" y="288277"/>
                </a:lnTo>
                <a:lnTo>
                  <a:pt x="41910" y="288277"/>
                </a:lnTo>
                <a:lnTo>
                  <a:pt x="38100" y="292087"/>
                </a:lnTo>
                <a:lnTo>
                  <a:pt x="41910" y="292087"/>
                </a:lnTo>
                <a:lnTo>
                  <a:pt x="41910" y="519404"/>
                </a:lnTo>
                <a:close/>
              </a:path>
              <a:path w="3795395" h="576580">
                <a:moveTo>
                  <a:pt x="3795318" y="292087"/>
                </a:moveTo>
                <a:lnTo>
                  <a:pt x="41910" y="292087"/>
                </a:lnTo>
                <a:lnTo>
                  <a:pt x="41910" y="288277"/>
                </a:lnTo>
                <a:lnTo>
                  <a:pt x="3787698" y="288277"/>
                </a:lnTo>
                <a:lnTo>
                  <a:pt x="3791508" y="284467"/>
                </a:lnTo>
                <a:lnTo>
                  <a:pt x="3795318" y="284467"/>
                </a:lnTo>
                <a:lnTo>
                  <a:pt x="3795318" y="292087"/>
                </a:lnTo>
                <a:close/>
              </a:path>
              <a:path w="3795395" h="576580">
                <a:moveTo>
                  <a:pt x="41910" y="292087"/>
                </a:moveTo>
                <a:lnTo>
                  <a:pt x="38100" y="292087"/>
                </a:lnTo>
                <a:lnTo>
                  <a:pt x="41910" y="288277"/>
                </a:lnTo>
                <a:lnTo>
                  <a:pt x="41910" y="292087"/>
                </a:lnTo>
                <a:close/>
              </a:path>
              <a:path w="3795395" h="576580">
                <a:moveTo>
                  <a:pt x="38100" y="576554"/>
                </a:moveTo>
                <a:lnTo>
                  <a:pt x="0" y="500354"/>
                </a:lnTo>
                <a:lnTo>
                  <a:pt x="34289" y="500354"/>
                </a:lnTo>
                <a:lnTo>
                  <a:pt x="34289" y="519404"/>
                </a:lnTo>
                <a:lnTo>
                  <a:pt x="66675" y="519404"/>
                </a:lnTo>
                <a:lnTo>
                  <a:pt x="38100" y="576554"/>
                </a:lnTo>
                <a:close/>
              </a:path>
              <a:path w="3795395" h="576580">
                <a:moveTo>
                  <a:pt x="66675" y="519404"/>
                </a:moveTo>
                <a:lnTo>
                  <a:pt x="41910" y="519404"/>
                </a:lnTo>
                <a:lnTo>
                  <a:pt x="41910" y="500354"/>
                </a:lnTo>
                <a:lnTo>
                  <a:pt x="76200" y="500354"/>
                </a:lnTo>
                <a:lnTo>
                  <a:pt x="66675" y="51940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118419" y="2627731"/>
            <a:ext cx="2799715" cy="76200"/>
          </a:xfrm>
          <a:custGeom>
            <a:avLst/>
            <a:gdLst/>
            <a:ahLst/>
            <a:cxnLst/>
            <a:rect l="l" t="t" r="r" b="b"/>
            <a:pathLst>
              <a:path w="2799715" h="76200">
                <a:moveTo>
                  <a:pt x="2723222" y="76199"/>
                </a:moveTo>
                <a:lnTo>
                  <a:pt x="2723222" y="0"/>
                </a:lnTo>
                <a:lnTo>
                  <a:pt x="2791802" y="34289"/>
                </a:lnTo>
                <a:lnTo>
                  <a:pt x="2742272" y="34289"/>
                </a:lnTo>
                <a:lnTo>
                  <a:pt x="2742272" y="41909"/>
                </a:lnTo>
                <a:lnTo>
                  <a:pt x="2791802" y="41909"/>
                </a:lnTo>
                <a:lnTo>
                  <a:pt x="2723222" y="76199"/>
                </a:lnTo>
                <a:close/>
              </a:path>
              <a:path w="2799715" h="76200">
                <a:moveTo>
                  <a:pt x="2723222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2723222" y="34289"/>
                </a:lnTo>
                <a:lnTo>
                  <a:pt x="2723222" y="41909"/>
                </a:lnTo>
                <a:close/>
              </a:path>
              <a:path w="2799715" h="76200">
                <a:moveTo>
                  <a:pt x="2791802" y="41909"/>
                </a:moveTo>
                <a:lnTo>
                  <a:pt x="2742272" y="41909"/>
                </a:lnTo>
                <a:lnTo>
                  <a:pt x="2742272" y="34289"/>
                </a:lnTo>
                <a:lnTo>
                  <a:pt x="2791802" y="34289"/>
                </a:lnTo>
                <a:lnTo>
                  <a:pt x="2799422" y="38099"/>
                </a:lnTo>
                <a:lnTo>
                  <a:pt x="2791802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817840" y="2627731"/>
            <a:ext cx="586105" cy="76200"/>
          </a:xfrm>
          <a:custGeom>
            <a:avLst/>
            <a:gdLst/>
            <a:ahLst/>
            <a:cxnLst/>
            <a:rect l="l" t="t" r="r" b="b"/>
            <a:pathLst>
              <a:path w="586104" h="76200">
                <a:moveTo>
                  <a:pt x="509447" y="76199"/>
                </a:moveTo>
                <a:lnTo>
                  <a:pt x="509447" y="0"/>
                </a:lnTo>
                <a:lnTo>
                  <a:pt x="578027" y="34289"/>
                </a:lnTo>
                <a:lnTo>
                  <a:pt x="528497" y="34289"/>
                </a:lnTo>
                <a:lnTo>
                  <a:pt x="528497" y="41909"/>
                </a:lnTo>
                <a:lnTo>
                  <a:pt x="578027" y="41909"/>
                </a:lnTo>
                <a:lnTo>
                  <a:pt x="509447" y="76199"/>
                </a:lnTo>
                <a:close/>
              </a:path>
              <a:path w="586104" h="76200">
                <a:moveTo>
                  <a:pt x="509447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509447" y="34289"/>
                </a:lnTo>
                <a:lnTo>
                  <a:pt x="509447" y="41909"/>
                </a:lnTo>
                <a:close/>
              </a:path>
              <a:path w="586104" h="76200">
                <a:moveTo>
                  <a:pt x="578027" y="41909"/>
                </a:moveTo>
                <a:lnTo>
                  <a:pt x="528497" y="41909"/>
                </a:lnTo>
                <a:lnTo>
                  <a:pt x="528497" y="34289"/>
                </a:lnTo>
                <a:lnTo>
                  <a:pt x="578027" y="34289"/>
                </a:lnTo>
                <a:lnTo>
                  <a:pt x="585647" y="38099"/>
                </a:lnTo>
                <a:lnTo>
                  <a:pt x="578027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663480" y="2627731"/>
            <a:ext cx="241300" cy="76200"/>
          </a:xfrm>
          <a:custGeom>
            <a:avLst/>
            <a:gdLst/>
            <a:ahLst/>
            <a:cxnLst/>
            <a:rect l="l" t="t" r="r" b="b"/>
            <a:pathLst>
              <a:path w="241300" h="76200">
                <a:moveTo>
                  <a:pt x="164807" y="76199"/>
                </a:moveTo>
                <a:lnTo>
                  <a:pt x="164807" y="0"/>
                </a:lnTo>
                <a:lnTo>
                  <a:pt x="233387" y="34289"/>
                </a:lnTo>
                <a:lnTo>
                  <a:pt x="183857" y="34289"/>
                </a:lnTo>
                <a:lnTo>
                  <a:pt x="183857" y="41909"/>
                </a:lnTo>
                <a:lnTo>
                  <a:pt x="233387" y="41909"/>
                </a:lnTo>
                <a:lnTo>
                  <a:pt x="164807" y="76199"/>
                </a:lnTo>
                <a:close/>
              </a:path>
              <a:path w="241300" h="76200">
                <a:moveTo>
                  <a:pt x="164807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164807" y="34289"/>
                </a:lnTo>
                <a:lnTo>
                  <a:pt x="164807" y="41909"/>
                </a:lnTo>
                <a:close/>
              </a:path>
              <a:path w="241300" h="76200">
                <a:moveTo>
                  <a:pt x="233387" y="41909"/>
                </a:moveTo>
                <a:lnTo>
                  <a:pt x="183857" y="41909"/>
                </a:lnTo>
                <a:lnTo>
                  <a:pt x="183857" y="34289"/>
                </a:lnTo>
                <a:lnTo>
                  <a:pt x="233387" y="34289"/>
                </a:lnTo>
                <a:lnTo>
                  <a:pt x="241007" y="38099"/>
                </a:lnTo>
                <a:lnTo>
                  <a:pt x="233387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0804487" y="2627731"/>
            <a:ext cx="200025" cy="76200"/>
          </a:xfrm>
          <a:custGeom>
            <a:avLst/>
            <a:gdLst/>
            <a:ahLst/>
            <a:cxnLst/>
            <a:rect l="l" t="t" r="r" b="b"/>
            <a:pathLst>
              <a:path w="200025" h="76200">
                <a:moveTo>
                  <a:pt x="123444" y="76199"/>
                </a:moveTo>
                <a:lnTo>
                  <a:pt x="123444" y="0"/>
                </a:lnTo>
                <a:lnTo>
                  <a:pt x="192024" y="34289"/>
                </a:lnTo>
                <a:lnTo>
                  <a:pt x="142494" y="34289"/>
                </a:lnTo>
                <a:lnTo>
                  <a:pt x="142494" y="41909"/>
                </a:lnTo>
                <a:lnTo>
                  <a:pt x="192024" y="41909"/>
                </a:lnTo>
                <a:lnTo>
                  <a:pt x="123444" y="76199"/>
                </a:lnTo>
                <a:close/>
              </a:path>
              <a:path w="200025" h="76200">
                <a:moveTo>
                  <a:pt x="123444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123444" y="34289"/>
                </a:lnTo>
                <a:lnTo>
                  <a:pt x="123444" y="41909"/>
                </a:lnTo>
                <a:close/>
              </a:path>
              <a:path w="200025" h="76200">
                <a:moveTo>
                  <a:pt x="192024" y="41909"/>
                </a:moveTo>
                <a:lnTo>
                  <a:pt x="142494" y="41909"/>
                </a:lnTo>
                <a:lnTo>
                  <a:pt x="142494" y="34289"/>
                </a:lnTo>
                <a:lnTo>
                  <a:pt x="192024" y="34289"/>
                </a:lnTo>
                <a:lnTo>
                  <a:pt x="199644" y="38099"/>
                </a:lnTo>
                <a:lnTo>
                  <a:pt x="192024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720325" y="2819717"/>
            <a:ext cx="7738109" cy="477520"/>
          </a:xfrm>
          <a:custGeom>
            <a:avLst/>
            <a:gdLst/>
            <a:ahLst/>
            <a:cxnLst/>
            <a:rect l="l" t="t" r="r" b="b"/>
            <a:pathLst>
              <a:path w="7738109" h="477520">
                <a:moveTo>
                  <a:pt x="7729994" y="238607"/>
                </a:moveTo>
                <a:lnTo>
                  <a:pt x="7729994" y="0"/>
                </a:lnTo>
                <a:lnTo>
                  <a:pt x="7737614" y="0"/>
                </a:lnTo>
                <a:lnTo>
                  <a:pt x="7737614" y="234797"/>
                </a:lnTo>
                <a:lnTo>
                  <a:pt x="7733804" y="234797"/>
                </a:lnTo>
                <a:lnTo>
                  <a:pt x="7729994" y="238607"/>
                </a:lnTo>
                <a:close/>
              </a:path>
              <a:path w="7738109" h="477520">
                <a:moveTo>
                  <a:pt x="41909" y="420065"/>
                </a:moveTo>
                <a:lnTo>
                  <a:pt x="34289" y="420065"/>
                </a:lnTo>
                <a:lnTo>
                  <a:pt x="34289" y="234797"/>
                </a:lnTo>
                <a:lnTo>
                  <a:pt x="7729994" y="234797"/>
                </a:lnTo>
                <a:lnTo>
                  <a:pt x="7729994" y="238607"/>
                </a:lnTo>
                <a:lnTo>
                  <a:pt x="41909" y="238607"/>
                </a:lnTo>
                <a:lnTo>
                  <a:pt x="38100" y="242417"/>
                </a:lnTo>
                <a:lnTo>
                  <a:pt x="41909" y="242417"/>
                </a:lnTo>
                <a:lnTo>
                  <a:pt x="41909" y="420065"/>
                </a:lnTo>
                <a:close/>
              </a:path>
              <a:path w="7738109" h="477520">
                <a:moveTo>
                  <a:pt x="7737614" y="242417"/>
                </a:moveTo>
                <a:lnTo>
                  <a:pt x="41909" y="242417"/>
                </a:lnTo>
                <a:lnTo>
                  <a:pt x="41909" y="238607"/>
                </a:lnTo>
                <a:lnTo>
                  <a:pt x="7729994" y="238607"/>
                </a:lnTo>
                <a:lnTo>
                  <a:pt x="7733804" y="234797"/>
                </a:lnTo>
                <a:lnTo>
                  <a:pt x="7737614" y="234797"/>
                </a:lnTo>
                <a:lnTo>
                  <a:pt x="7737614" y="242417"/>
                </a:lnTo>
                <a:close/>
              </a:path>
              <a:path w="7738109" h="477520">
                <a:moveTo>
                  <a:pt x="41909" y="242417"/>
                </a:moveTo>
                <a:lnTo>
                  <a:pt x="38100" y="242417"/>
                </a:lnTo>
                <a:lnTo>
                  <a:pt x="41909" y="238607"/>
                </a:lnTo>
                <a:lnTo>
                  <a:pt x="41909" y="242417"/>
                </a:lnTo>
                <a:close/>
              </a:path>
              <a:path w="7738109" h="477520">
                <a:moveTo>
                  <a:pt x="38100" y="477215"/>
                </a:moveTo>
                <a:lnTo>
                  <a:pt x="0" y="401015"/>
                </a:lnTo>
                <a:lnTo>
                  <a:pt x="34289" y="401015"/>
                </a:lnTo>
                <a:lnTo>
                  <a:pt x="34289" y="420065"/>
                </a:lnTo>
                <a:lnTo>
                  <a:pt x="66675" y="420065"/>
                </a:lnTo>
                <a:lnTo>
                  <a:pt x="38100" y="477215"/>
                </a:lnTo>
                <a:close/>
              </a:path>
              <a:path w="7738109" h="477520">
                <a:moveTo>
                  <a:pt x="66675" y="420065"/>
                </a:moveTo>
                <a:lnTo>
                  <a:pt x="41909" y="420065"/>
                </a:lnTo>
                <a:lnTo>
                  <a:pt x="41909" y="401015"/>
                </a:lnTo>
                <a:lnTo>
                  <a:pt x="76200" y="401015"/>
                </a:lnTo>
                <a:lnTo>
                  <a:pt x="66675" y="42006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06430" y="3412706"/>
            <a:ext cx="2511425" cy="76200"/>
          </a:xfrm>
          <a:custGeom>
            <a:avLst/>
            <a:gdLst/>
            <a:ahLst/>
            <a:cxnLst/>
            <a:rect l="l" t="t" r="r" b="b"/>
            <a:pathLst>
              <a:path w="2511425" h="76200">
                <a:moveTo>
                  <a:pt x="2435212" y="76200"/>
                </a:moveTo>
                <a:lnTo>
                  <a:pt x="2435212" y="0"/>
                </a:lnTo>
                <a:lnTo>
                  <a:pt x="2503792" y="34289"/>
                </a:lnTo>
                <a:lnTo>
                  <a:pt x="2454262" y="34289"/>
                </a:lnTo>
                <a:lnTo>
                  <a:pt x="2454262" y="41910"/>
                </a:lnTo>
                <a:lnTo>
                  <a:pt x="2503792" y="41910"/>
                </a:lnTo>
                <a:lnTo>
                  <a:pt x="2435212" y="76200"/>
                </a:lnTo>
                <a:close/>
              </a:path>
              <a:path w="2511425" h="76200">
                <a:moveTo>
                  <a:pt x="2435212" y="41910"/>
                </a:moveTo>
                <a:lnTo>
                  <a:pt x="0" y="41910"/>
                </a:lnTo>
                <a:lnTo>
                  <a:pt x="0" y="34289"/>
                </a:lnTo>
                <a:lnTo>
                  <a:pt x="2435212" y="34289"/>
                </a:lnTo>
                <a:lnTo>
                  <a:pt x="2435212" y="41910"/>
                </a:lnTo>
                <a:close/>
              </a:path>
              <a:path w="2511425" h="76200">
                <a:moveTo>
                  <a:pt x="2503792" y="41910"/>
                </a:moveTo>
                <a:lnTo>
                  <a:pt x="2454262" y="41910"/>
                </a:lnTo>
                <a:lnTo>
                  <a:pt x="2454262" y="34289"/>
                </a:lnTo>
                <a:lnTo>
                  <a:pt x="2503792" y="34289"/>
                </a:lnTo>
                <a:lnTo>
                  <a:pt x="2511412" y="38100"/>
                </a:lnTo>
                <a:lnTo>
                  <a:pt x="2503792" y="4191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22332" y="3604679"/>
            <a:ext cx="4029710" cy="515620"/>
          </a:xfrm>
          <a:custGeom>
            <a:avLst/>
            <a:gdLst/>
            <a:ahLst/>
            <a:cxnLst/>
            <a:rect l="l" t="t" r="r" b="b"/>
            <a:pathLst>
              <a:path w="4029709" h="515620">
                <a:moveTo>
                  <a:pt x="4021696" y="257682"/>
                </a:moveTo>
                <a:lnTo>
                  <a:pt x="4021696" y="0"/>
                </a:lnTo>
                <a:lnTo>
                  <a:pt x="4029316" y="0"/>
                </a:lnTo>
                <a:lnTo>
                  <a:pt x="4029316" y="253872"/>
                </a:lnTo>
                <a:lnTo>
                  <a:pt x="4025506" y="253872"/>
                </a:lnTo>
                <a:lnTo>
                  <a:pt x="4021696" y="257682"/>
                </a:lnTo>
                <a:close/>
              </a:path>
              <a:path w="4029709" h="515620">
                <a:moveTo>
                  <a:pt x="41910" y="458203"/>
                </a:moveTo>
                <a:lnTo>
                  <a:pt x="34289" y="458203"/>
                </a:lnTo>
                <a:lnTo>
                  <a:pt x="34289" y="253872"/>
                </a:lnTo>
                <a:lnTo>
                  <a:pt x="4021696" y="253872"/>
                </a:lnTo>
                <a:lnTo>
                  <a:pt x="4021696" y="257682"/>
                </a:lnTo>
                <a:lnTo>
                  <a:pt x="41910" y="257682"/>
                </a:lnTo>
                <a:lnTo>
                  <a:pt x="38100" y="261492"/>
                </a:lnTo>
                <a:lnTo>
                  <a:pt x="41910" y="261492"/>
                </a:lnTo>
                <a:lnTo>
                  <a:pt x="41910" y="458203"/>
                </a:lnTo>
                <a:close/>
              </a:path>
              <a:path w="4029709" h="515620">
                <a:moveTo>
                  <a:pt x="4029316" y="261492"/>
                </a:moveTo>
                <a:lnTo>
                  <a:pt x="41910" y="261492"/>
                </a:lnTo>
                <a:lnTo>
                  <a:pt x="41910" y="257682"/>
                </a:lnTo>
                <a:lnTo>
                  <a:pt x="4021696" y="257682"/>
                </a:lnTo>
                <a:lnTo>
                  <a:pt x="4025506" y="253872"/>
                </a:lnTo>
                <a:lnTo>
                  <a:pt x="4029316" y="253872"/>
                </a:lnTo>
                <a:lnTo>
                  <a:pt x="4029316" y="261492"/>
                </a:lnTo>
                <a:close/>
              </a:path>
              <a:path w="4029709" h="515620">
                <a:moveTo>
                  <a:pt x="41910" y="261492"/>
                </a:moveTo>
                <a:lnTo>
                  <a:pt x="38100" y="261492"/>
                </a:lnTo>
                <a:lnTo>
                  <a:pt x="41910" y="257682"/>
                </a:lnTo>
                <a:lnTo>
                  <a:pt x="41910" y="261492"/>
                </a:lnTo>
                <a:close/>
              </a:path>
              <a:path w="4029709" h="515620">
                <a:moveTo>
                  <a:pt x="38100" y="515353"/>
                </a:moveTo>
                <a:lnTo>
                  <a:pt x="0" y="439153"/>
                </a:lnTo>
                <a:lnTo>
                  <a:pt x="34289" y="439153"/>
                </a:lnTo>
                <a:lnTo>
                  <a:pt x="34289" y="458203"/>
                </a:lnTo>
                <a:lnTo>
                  <a:pt x="66675" y="458203"/>
                </a:lnTo>
                <a:lnTo>
                  <a:pt x="38100" y="515353"/>
                </a:lnTo>
                <a:close/>
              </a:path>
              <a:path w="4029709" h="515620">
                <a:moveTo>
                  <a:pt x="66675" y="458203"/>
                </a:moveTo>
                <a:lnTo>
                  <a:pt x="41910" y="458203"/>
                </a:lnTo>
                <a:lnTo>
                  <a:pt x="41910" y="439153"/>
                </a:lnTo>
                <a:lnTo>
                  <a:pt x="76200" y="439153"/>
                </a:lnTo>
                <a:lnTo>
                  <a:pt x="66675" y="458203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010431" y="4235805"/>
            <a:ext cx="264795" cy="76200"/>
          </a:xfrm>
          <a:custGeom>
            <a:avLst/>
            <a:gdLst/>
            <a:ahLst/>
            <a:cxnLst/>
            <a:rect l="l" t="t" r="r" b="b"/>
            <a:pathLst>
              <a:path w="264795" h="76200">
                <a:moveTo>
                  <a:pt x="188455" y="76200"/>
                </a:moveTo>
                <a:lnTo>
                  <a:pt x="188455" y="0"/>
                </a:lnTo>
                <a:lnTo>
                  <a:pt x="257035" y="34289"/>
                </a:lnTo>
                <a:lnTo>
                  <a:pt x="207505" y="34289"/>
                </a:lnTo>
                <a:lnTo>
                  <a:pt x="207505" y="41909"/>
                </a:lnTo>
                <a:lnTo>
                  <a:pt x="257035" y="41909"/>
                </a:lnTo>
                <a:lnTo>
                  <a:pt x="188455" y="76200"/>
                </a:lnTo>
                <a:close/>
              </a:path>
              <a:path w="264795" h="76200">
                <a:moveTo>
                  <a:pt x="188455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188455" y="34289"/>
                </a:lnTo>
                <a:lnTo>
                  <a:pt x="188455" y="41909"/>
                </a:lnTo>
                <a:close/>
              </a:path>
              <a:path w="264795" h="76200">
                <a:moveTo>
                  <a:pt x="257035" y="41909"/>
                </a:moveTo>
                <a:lnTo>
                  <a:pt x="207505" y="41909"/>
                </a:lnTo>
                <a:lnTo>
                  <a:pt x="207505" y="34289"/>
                </a:lnTo>
                <a:lnTo>
                  <a:pt x="257035" y="34289"/>
                </a:lnTo>
                <a:lnTo>
                  <a:pt x="264655" y="38100"/>
                </a:lnTo>
                <a:lnTo>
                  <a:pt x="257035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175097" y="4235805"/>
            <a:ext cx="264795" cy="76200"/>
          </a:xfrm>
          <a:custGeom>
            <a:avLst/>
            <a:gdLst/>
            <a:ahLst/>
            <a:cxnLst/>
            <a:rect l="l" t="t" r="r" b="b"/>
            <a:pathLst>
              <a:path w="264795" h="76200">
                <a:moveTo>
                  <a:pt x="188455" y="76200"/>
                </a:moveTo>
                <a:lnTo>
                  <a:pt x="188455" y="0"/>
                </a:lnTo>
                <a:lnTo>
                  <a:pt x="257035" y="34289"/>
                </a:lnTo>
                <a:lnTo>
                  <a:pt x="207505" y="34289"/>
                </a:lnTo>
                <a:lnTo>
                  <a:pt x="207505" y="41909"/>
                </a:lnTo>
                <a:lnTo>
                  <a:pt x="257035" y="41909"/>
                </a:lnTo>
                <a:lnTo>
                  <a:pt x="188455" y="76200"/>
                </a:lnTo>
                <a:close/>
              </a:path>
              <a:path w="264795" h="76200">
                <a:moveTo>
                  <a:pt x="188455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188455" y="34289"/>
                </a:lnTo>
                <a:lnTo>
                  <a:pt x="188455" y="41909"/>
                </a:lnTo>
                <a:close/>
              </a:path>
              <a:path w="264795" h="76200">
                <a:moveTo>
                  <a:pt x="257035" y="41909"/>
                </a:moveTo>
                <a:lnTo>
                  <a:pt x="207505" y="41909"/>
                </a:lnTo>
                <a:lnTo>
                  <a:pt x="207505" y="34289"/>
                </a:lnTo>
                <a:lnTo>
                  <a:pt x="257035" y="34289"/>
                </a:lnTo>
                <a:lnTo>
                  <a:pt x="264655" y="38100"/>
                </a:lnTo>
                <a:lnTo>
                  <a:pt x="257035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339763" y="4235805"/>
            <a:ext cx="578485" cy="76200"/>
          </a:xfrm>
          <a:custGeom>
            <a:avLst/>
            <a:gdLst/>
            <a:ahLst/>
            <a:cxnLst/>
            <a:rect l="l" t="t" r="r" b="b"/>
            <a:pathLst>
              <a:path w="578484" h="76200">
                <a:moveTo>
                  <a:pt x="501878" y="76200"/>
                </a:moveTo>
                <a:lnTo>
                  <a:pt x="501878" y="0"/>
                </a:lnTo>
                <a:lnTo>
                  <a:pt x="570458" y="34289"/>
                </a:lnTo>
                <a:lnTo>
                  <a:pt x="520928" y="34289"/>
                </a:lnTo>
                <a:lnTo>
                  <a:pt x="520928" y="41909"/>
                </a:lnTo>
                <a:lnTo>
                  <a:pt x="570458" y="41909"/>
                </a:lnTo>
                <a:lnTo>
                  <a:pt x="501878" y="76200"/>
                </a:lnTo>
                <a:close/>
              </a:path>
              <a:path w="578484" h="76200">
                <a:moveTo>
                  <a:pt x="501878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501878" y="34289"/>
                </a:lnTo>
                <a:lnTo>
                  <a:pt x="501878" y="41909"/>
                </a:lnTo>
                <a:close/>
              </a:path>
              <a:path w="578484" h="76200">
                <a:moveTo>
                  <a:pt x="570458" y="41909"/>
                </a:moveTo>
                <a:lnTo>
                  <a:pt x="520928" y="41909"/>
                </a:lnTo>
                <a:lnTo>
                  <a:pt x="520928" y="34289"/>
                </a:lnTo>
                <a:lnTo>
                  <a:pt x="570458" y="34289"/>
                </a:lnTo>
                <a:lnTo>
                  <a:pt x="578078" y="38100"/>
                </a:lnTo>
                <a:lnTo>
                  <a:pt x="570458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77834" y="4235805"/>
            <a:ext cx="226060" cy="76200"/>
          </a:xfrm>
          <a:custGeom>
            <a:avLst/>
            <a:gdLst/>
            <a:ahLst/>
            <a:cxnLst/>
            <a:rect l="l" t="t" r="r" b="b"/>
            <a:pathLst>
              <a:path w="226059" h="76200">
                <a:moveTo>
                  <a:pt x="149453" y="76200"/>
                </a:moveTo>
                <a:lnTo>
                  <a:pt x="149453" y="0"/>
                </a:lnTo>
                <a:lnTo>
                  <a:pt x="218033" y="34289"/>
                </a:lnTo>
                <a:lnTo>
                  <a:pt x="168503" y="34289"/>
                </a:lnTo>
                <a:lnTo>
                  <a:pt x="168503" y="41909"/>
                </a:lnTo>
                <a:lnTo>
                  <a:pt x="218033" y="41909"/>
                </a:lnTo>
                <a:lnTo>
                  <a:pt x="149453" y="76200"/>
                </a:lnTo>
                <a:close/>
              </a:path>
              <a:path w="226059" h="76200">
                <a:moveTo>
                  <a:pt x="149453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149453" y="34289"/>
                </a:lnTo>
                <a:lnTo>
                  <a:pt x="149453" y="41909"/>
                </a:lnTo>
                <a:close/>
              </a:path>
              <a:path w="226059" h="76200">
                <a:moveTo>
                  <a:pt x="218033" y="41909"/>
                </a:moveTo>
                <a:lnTo>
                  <a:pt x="168503" y="41909"/>
                </a:lnTo>
                <a:lnTo>
                  <a:pt x="168503" y="34289"/>
                </a:lnTo>
                <a:lnTo>
                  <a:pt x="218033" y="34289"/>
                </a:lnTo>
                <a:lnTo>
                  <a:pt x="225653" y="38100"/>
                </a:lnTo>
                <a:lnTo>
                  <a:pt x="218033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522332" y="4427778"/>
            <a:ext cx="5335270" cy="577215"/>
          </a:xfrm>
          <a:custGeom>
            <a:avLst/>
            <a:gdLst/>
            <a:ahLst/>
            <a:cxnLst/>
            <a:rect l="l" t="t" r="r" b="b"/>
            <a:pathLst>
              <a:path w="5335270" h="577214">
                <a:moveTo>
                  <a:pt x="5327345" y="288455"/>
                </a:moveTo>
                <a:lnTo>
                  <a:pt x="5327345" y="0"/>
                </a:lnTo>
                <a:lnTo>
                  <a:pt x="5334965" y="0"/>
                </a:lnTo>
                <a:lnTo>
                  <a:pt x="5334965" y="284645"/>
                </a:lnTo>
                <a:lnTo>
                  <a:pt x="5331155" y="284645"/>
                </a:lnTo>
                <a:lnTo>
                  <a:pt x="5327345" y="288455"/>
                </a:lnTo>
                <a:close/>
              </a:path>
              <a:path w="5335270" h="577214">
                <a:moveTo>
                  <a:pt x="41910" y="519760"/>
                </a:moveTo>
                <a:lnTo>
                  <a:pt x="34289" y="519760"/>
                </a:lnTo>
                <a:lnTo>
                  <a:pt x="34289" y="284645"/>
                </a:lnTo>
                <a:lnTo>
                  <a:pt x="5327345" y="284645"/>
                </a:lnTo>
                <a:lnTo>
                  <a:pt x="5327345" y="288455"/>
                </a:lnTo>
                <a:lnTo>
                  <a:pt x="41910" y="288455"/>
                </a:lnTo>
                <a:lnTo>
                  <a:pt x="38100" y="292265"/>
                </a:lnTo>
                <a:lnTo>
                  <a:pt x="41910" y="292265"/>
                </a:lnTo>
                <a:lnTo>
                  <a:pt x="41910" y="519760"/>
                </a:lnTo>
                <a:close/>
              </a:path>
              <a:path w="5335270" h="577214">
                <a:moveTo>
                  <a:pt x="5334965" y="292265"/>
                </a:moveTo>
                <a:lnTo>
                  <a:pt x="41910" y="292265"/>
                </a:lnTo>
                <a:lnTo>
                  <a:pt x="41910" y="288455"/>
                </a:lnTo>
                <a:lnTo>
                  <a:pt x="5327345" y="288455"/>
                </a:lnTo>
                <a:lnTo>
                  <a:pt x="5331155" y="284645"/>
                </a:lnTo>
                <a:lnTo>
                  <a:pt x="5334965" y="284645"/>
                </a:lnTo>
                <a:lnTo>
                  <a:pt x="5334965" y="292265"/>
                </a:lnTo>
                <a:close/>
              </a:path>
              <a:path w="5335270" h="577214">
                <a:moveTo>
                  <a:pt x="41910" y="292265"/>
                </a:moveTo>
                <a:lnTo>
                  <a:pt x="38100" y="292265"/>
                </a:lnTo>
                <a:lnTo>
                  <a:pt x="41910" y="288455"/>
                </a:lnTo>
                <a:lnTo>
                  <a:pt x="41910" y="292265"/>
                </a:lnTo>
                <a:close/>
              </a:path>
              <a:path w="5335270" h="577214">
                <a:moveTo>
                  <a:pt x="38100" y="576910"/>
                </a:moveTo>
                <a:lnTo>
                  <a:pt x="0" y="500710"/>
                </a:lnTo>
                <a:lnTo>
                  <a:pt x="34289" y="500710"/>
                </a:lnTo>
                <a:lnTo>
                  <a:pt x="34289" y="519760"/>
                </a:lnTo>
                <a:lnTo>
                  <a:pt x="66675" y="519760"/>
                </a:lnTo>
                <a:lnTo>
                  <a:pt x="38100" y="576910"/>
                </a:lnTo>
                <a:close/>
              </a:path>
              <a:path w="5335270" h="577214">
                <a:moveTo>
                  <a:pt x="66675" y="519760"/>
                </a:moveTo>
                <a:lnTo>
                  <a:pt x="41910" y="519760"/>
                </a:lnTo>
                <a:lnTo>
                  <a:pt x="41910" y="500710"/>
                </a:lnTo>
                <a:lnTo>
                  <a:pt x="76200" y="500710"/>
                </a:lnTo>
                <a:lnTo>
                  <a:pt x="66675" y="51976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010431" y="5120462"/>
            <a:ext cx="264795" cy="76200"/>
          </a:xfrm>
          <a:custGeom>
            <a:avLst/>
            <a:gdLst/>
            <a:ahLst/>
            <a:cxnLst/>
            <a:rect l="l" t="t" r="r" b="b"/>
            <a:pathLst>
              <a:path w="264795" h="76200">
                <a:moveTo>
                  <a:pt x="188455" y="76200"/>
                </a:moveTo>
                <a:lnTo>
                  <a:pt x="188455" y="0"/>
                </a:lnTo>
                <a:lnTo>
                  <a:pt x="257035" y="34290"/>
                </a:lnTo>
                <a:lnTo>
                  <a:pt x="207505" y="34290"/>
                </a:lnTo>
                <a:lnTo>
                  <a:pt x="207505" y="41910"/>
                </a:lnTo>
                <a:lnTo>
                  <a:pt x="257035" y="41910"/>
                </a:lnTo>
                <a:lnTo>
                  <a:pt x="188455" y="76200"/>
                </a:lnTo>
                <a:close/>
              </a:path>
              <a:path w="264795" h="76200">
                <a:moveTo>
                  <a:pt x="188455" y="41910"/>
                </a:moveTo>
                <a:lnTo>
                  <a:pt x="0" y="41910"/>
                </a:lnTo>
                <a:lnTo>
                  <a:pt x="0" y="34290"/>
                </a:lnTo>
                <a:lnTo>
                  <a:pt x="188455" y="34290"/>
                </a:lnTo>
                <a:lnTo>
                  <a:pt x="188455" y="41910"/>
                </a:lnTo>
                <a:close/>
              </a:path>
              <a:path w="264795" h="76200">
                <a:moveTo>
                  <a:pt x="257035" y="41910"/>
                </a:moveTo>
                <a:lnTo>
                  <a:pt x="207505" y="41910"/>
                </a:lnTo>
                <a:lnTo>
                  <a:pt x="207505" y="34290"/>
                </a:lnTo>
                <a:lnTo>
                  <a:pt x="257035" y="34290"/>
                </a:lnTo>
                <a:lnTo>
                  <a:pt x="264655" y="38100"/>
                </a:lnTo>
                <a:lnTo>
                  <a:pt x="257035" y="4191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175097" y="5120462"/>
            <a:ext cx="1743075" cy="76200"/>
          </a:xfrm>
          <a:custGeom>
            <a:avLst/>
            <a:gdLst/>
            <a:ahLst/>
            <a:cxnLst/>
            <a:rect l="l" t="t" r="r" b="b"/>
            <a:pathLst>
              <a:path w="1743075" h="76200">
                <a:moveTo>
                  <a:pt x="1666544" y="76200"/>
                </a:moveTo>
                <a:lnTo>
                  <a:pt x="1666544" y="0"/>
                </a:lnTo>
                <a:lnTo>
                  <a:pt x="1735124" y="34290"/>
                </a:lnTo>
                <a:lnTo>
                  <a:pt x="1685594" y="34290"/>
                </a:lnTo>
                <a:lnTo>
                  <a:pt x="1685594" y="41910"/>
                </a:lnTo>
                <a:lnTo>
                  <a:pt x="1735124" y="41910"/>
                </a:lnTo>
                <a:lnTo>
                  <a:pt x="1666544" y="76200"/>
                </a:lnTo>
                <a:close/>
              </a:path>
              <a:path w="1743075" h="76200">
                <a:moveTo>
                  <a:pt x="1666544" y="41910"/>
                </a:moveTo>
                <a:lnTo>
                  <a:pt x="0" y="41910"/>
                </a:lnTo>
                <a:lnTo>
                  <a:pt x="0" y="34290"/>
                </a:lnTo>
                <a:lnTo>
                  <a:pt x="1666544" y="34290"/>
                </a:lnTo>
                <a:lnTo>
                  <a:pt x="1666544" y="41910"/>
                </a:lnTo>
                <a:close/>
              </a:path>
              <a:path w="1743075" h="76200">
                <a:moveTo>
                  <a:pt x="1735124" y="41910"/>
                </a:moveTo>
                <a:lnTo>
                  <a:pt x="1685594" y="41910"/>
                </a:lnTo>
                <a:lnTo>
                  <a:pt x="1685594" y="34290"/>
                </a:lnTo>
                <a:lnTo>
                  <a:pt x="1735124" y="34290"/>
                </a:lnTo>
                <a:lnTo>
                  <a:pt x="1742744" y="38100"/>
                </a:lnTo>
                <a:lnTo>
                  <a:pt x="1735124" y="4191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522332" y="5312435"/>
            <a:ext cx="4029710" cy="500380"/>
          </a:xfrm>
          <a:custGeom>
            <a:avLst/>
            <a:gdLst/>
            <a:ahLst/>
            <a:cxnLst/>
            <a:rect l="l" t="t" r="r" b="b"/>
            <a:pathLst>
              <a:path w="4029709" h="500379">
                <a:moveTo>
                  <a:pt x="4021696" y="249986"/>
                </a:moveTo>
                <a:lnTo>
                  <a:pt x="4021696" y="0"/>
                </a:lnTo>
                <a:lnTo>
                  <a:pt x="4029316" y="0"/>
                </a:lnTo>
                <a:lnTo>
                  <a:pt x="4029316" y="246176"/>
                </a:lnTo>
                <a:lnTo>
                  <a:pt x="4025506" y="246176"/>
                </a:lnTo>
                <a:lnTo>
                  <a:pt x="4021696" y="249986"/>
                </a:lnTo>
                <a:close/>
              </a:path>
              <a:path w="4029709" h="500379">
                <a:moveTo>
                  <a:pt x="41910" y="442810"/>
                </a:moveTo>
                <a:lnTo>
                  <a:pt x="34289" y="442810"/>
                </a:lnTo>
                <a:lnTo>
                  <a:pt x="34289" y="246176"/>
                </a:lnTo>
                <a:lnTo>
                  <a:pt x="4021696" y="246176"/>
                </a:lnTo>
                <a:lnTo>
                  <a:pt x="4021696" y="249986"/>
                </a:lnTo>
                <a:lnTo>
                  <a:pt x="41910" y="249986"/>
                </a:lnTo>
                <a:lnTo>
                  <a:pt x="38100" y="253796"/>
                </a:lnTo>
                <a:lnTo>
                  <a:pt x="41910" y="253796"/>
                </a:lnTo>
                <a:lnTo>
                  <a:pt x="41910" y="442810"/>
                </a:lnTo>
                <a:close/>
              </a:path>
              <a:path w="4029709" h="500379">
                <a:moveTo>
                  <a:pt x="4029316" y="253796"/>
                </a:moveTo>
                <a:lnTo>
                  <a:pt x="41910" y="253796"/>
                </a:lnTo>
                <a:lnTo>
                  <a:pt x="41910" y="249986"/>
                </a:lnTo>
                <a:lnTo>
                  <a:pt x="4021696" y="249986"/>
                </a:lnTo>
                <a:lnTo>
                  <a:pt x="4025506" y="246176"/>
                </a:lnTo>
                <a:lnTo>
                  <a:pt x="4029316" y="246176"/>
                </a:lnTo>
                <a:lnTo>
                  <a:pt x="4029316" y="253796"/>
                </a:lnTo>
                <a:close/>
              </a:path>
              <a:path w="4029709" h="500379">
                <a:moveTo>
                  <a:pt x="41910" y="253796"/>
                </a:moveTo>
                <a:lnTo>
                  <a:pt x="38100" y="253796"/>
                </a:lnTo>
                <a:lnTo>
                  <a:pt x="41910" y="249986"/>
                </a:lnTo>
                <a:lnTo>
                  <a:pt x="41910" y="253796"/>
                </a:lnTo>
                <a:close/>
              </a:path>
              <a:path w="4029709" h="500379">
                <a:moveTo>
                  <a:pt x="38100" y="499960"/>
                </a:moveTo>
                <a:lnTo>
                  <a:pt x="0" y="423760"/>
                </a:lnTo>
                <a:lnTo>
                  <a:pt x="34289" y="423760"/>
                </a:lnTo>
                <a:lnTo>
                  <a:pt x="34289" y="442810"/>
                </a:lnTo>
                <a:lnTo>
                  <a:pt x="66675" y="442810"/>
                </a:lnTo>
                <a:lnTo>
                  <a:pt x="38100" y="499960"/>
                </a:lnTo>
                <a:close/>
              </a:path>
              <a:path w="4029709" h="500379">
                <a:moveTo>
                  <a:pt x="66675" y="442810"/>
                </a:moveTo>
                <a:lnTo>
                  <a:pt x="41910" y="442810"/>
                </a:lnTo>
                <a:lnTo>
                  <a:pt x="41910" y="423760"/>
                </a:lnTo>
                <a:lnTo>
                  <a:pt x="76200" y="423760"/>
                </a:lnTo>
                <a:lnTo>
                  <a:pt x="66675" y="44281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010431" y="5928169"/>
            <a:ext cx="264795" cy="76200"/>
          </a:xfrm>
          <a:custGeom>
            <a:avLst/>
            <a:gdLst/>
            <a:ahLst/>
            <a:cxnLst/>
            <a:rect l="l" t="t" r="r" b="b"/>
            <a:pathLst>
              <a:path w="264795" h="76200">
                <a:moveTo>
                  <a:pt x="188455" y="76200"/>
                </a:moveTo>
                <a:lnTo>
                  <a:pt x="188455" y="0"/>
                </a:lnTo>
                <a:lnTo>
                  <a:pt x="257035" y="34289"/>
                </a:lnTo>
                <a:lnTo>
                  <a:pt x="207505" y="34289"/>
                </a:lnTo>
                <a:lnTo>
                  <a:pt x="207505" y="41909"/>
                </a:lnTo>
                <a:lnTo>
                  <a:pt x="257035" y="41909"/>
                </a:lnTo>
                <a:lnTo>
                  <a:pt x="188455" y="76200"/>
                </a:lnTo>
                <a:close/>
              </a:path>
              <a:path w="264795" h="76200">
                <a:moveTo>
                  <a:pt x="188455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188455" y="34289"/>
                </a:lnTo>
                <a:lnTo>
                  <a:pt x="188455" y="41909"/>
                </a:lnTo>
                <a:close/>
              </a:path>
              <a:path w="264795" h="76200">
                <a:moveTo>
                  <a:pt x="257035" y="41909"/>
                </a:moveTo>
                <a:lnTo>
                  <a:pt x="207505" y="41909"/>
                </a:lnTo>
                <a:lnTo>
                  <a:pt x="207505" y="34289"/>
                </a:lnTo>
                <a:lnTo>
                  <a:pt x="257035" y="34289"/>
                </a:lnTo>
                <a:lnTo>
                  <a:pt x="264655" y="38100"/>
                </a:lnTo>
                <a:lnTo>
                  <a:pt x="257035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175097" y="5928169"/>
            <a:ext cx="1743075" cy="76200"/>
          </a:xfrm>
          <a:custGeom>
            <a:avLst/>
            <a:gdLst/>
            <a:ahLst/>
            <a:cxnLst/>
            <a:rect l="l" t="t" r="r" b="b"/>
            <a:pathLst>
              <a:path w="1743075" h="76200">
                <a:moveTo>
                  <a:pt x="1666544" y="76200"/>
                </a:moveTo>
                <a:lnTo>
                  <a:pt x="1666544" y="0"/>
                </a:lnTo>
                <a:lnTo>
                  <a:pt x="1735124" y="34289"/>
                </a:lnTo>
                <a:lnTo>
                  <a:pt x="1685594" y="34289"/>
                </a:lnTo>
                <a:lnTo>
                  <a:pt x="1685594" y="41909"/>
                </a:lnTo>
                <a:lnTo>
                  <a:pt x="1735124" y="41909"/>
                </a:lnTo>
                <a:lnTo>
                  <a:pt x="1666544" y="76200"/>
                </a:lnTo>
                <a:close/>
              </a:path>
              <a:path w="1743075" h="76200">
                <a:moveTo>
                  <a:pt x="1666544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1666544" y="34289"/>
                </a:lnTo>
                <a:lnTo>
                  <a:pt x="1666544" y="41909"/>
                </a:lnTo>
                <a:close/>
              </a:path>
              <a:path w="1743075" h="76200">
                <a:moveTo>
                  <a:pt x="1735124" y="41909"/>
                </a:moveTo>
                <a:lnTo>
                  <a:pt x="1685594" y="41909"/>
                </a:lnTo>
                <a:lnTo>
                  <a:pt x="1685594" y="34289"/>
                </a:lnTo>
                <a:lnTo>
                  <a:pt x="1735124" y="34289"/>
                </a:lnTo>
                <a:lnTo>
                  <a:pt x="1742744" y="38100"/>
                </a:lnTo>
                <a:lnTo>
                  <a:pt x="1735124" y="41909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507858" y="1567980"/>
            <a:ext cx="492759" cy="4927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2055774" y="1617204"/>
            <a:ext cx="852805" cy="374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用车需求</a:t>
            </a:r>
            <a:r>
              <a:rPr sz="1300" b="1" spc="-15" dirty="0">
                <a:latin typeface="Microsoft JhengHei"/>
                <a:cs typeface="Microsoft JhengHei"/>
              </a:rPr>
              <a:t>人</a:t>
            </a:r>
            <a:endParaRPr sz="13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创建者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494408" y="2440177"/>
            <a:ext cx="519671" cy="51967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2055774" y="2582797"/>
            <a:ext cx="521334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接车</a:t>
            </a:r>
            <a:r>
              <a:rPr sz="1300" b="1" spc="-15" dirty="0">
                <a:latin typeface="Microsoft JhengHei"/>
                <a:cs typeface="Microsoft JhengHei"/>
              </a:rPr>
              <a:t>人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493570" y="3242995"/>
            <a:ext cx="521347" cy="4927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2055774" y="3384447"/>
            <a:ext cx="85280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月台负责</a:t>
            </a:r>
            <a:r>
              <a:rPr sz="1300" b="1" spc="-15" dirty="0">
                <a:latin typeface="Microsoft JhengHei"/>
                <a:cs typeface="Microsoft JhengHei"/>
              </a:rPr>
              <a:t>人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507858" y="4027258"/>
            <a:ext cx="492759" cy="4927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2055774" y="4185080"/>
            <a:ext cx="68707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安防人</a:t>
            </a:r>
            <a:r>
              <a:rPr sz="1300" b="1" spc="-15" dirty="0">
                <a:latin typeface="Microsoft JhengHei"/>
                <a:cs typeface="Microsoft JhengHei"/>
              </a:rPr>
              <a:t>员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493570" y="4946357"/>
            <a:ext cx="521347" cy="4927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507858" y="5754077"/>
            <a:ext cx="492759" cy="49275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2055774" y="5075515"/>
            <a:ext cx="85280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月台负责</a:t>
            </a:r>
            <a:r>
              <a:rPr sz="1300" b="1" spc="-15" dirty="0">
                <a:latin typeface="Microsoft JhengHei"/>
                <a:cs typeface="Microsoft JhengHei"/>
              </a:rPr>
              <a:t>人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055774" y="5883235"/>
            <a:ext cx="68707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安防人</a:t>
            </a:r>
            <a:r>
              <a:rPr sz="1300" b="1" spc="-15" dirty="0">
                <a:latin typeface="Microsoft JhengHei"/>
                <a:cs typeface="Microsoft JhengHei"/>
              </a:rPr>
              <a:t>员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934200" y="1027175"/>
            <a:ext cx="396240" cy="39623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365466" y="1157451"/>
            <a:ext cx="35560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司</a:t>
            </a:r>
            <a:r>
              <a:rPr sz="1300" b="1" spc="-15" dirty="0">
                <a:latin typeface="Microsoft JhengHei"/>
                <a:cs typeface="Microsoft JhengHei"/>
              </a:rPr>
              <a:t>机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047722" y="1128661"/>
            <a:ext cx="9175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E42E2F"/>
                </a:solidFill>
                <a:latin typeface="Microsoft JhengHei"/>
                <a:cs typeface="Microsoft JhengHei"/>
              </a:rPr>
              <a:t>多角色协同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690116" y="115366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89915" y="144779"/>
                </a:moveTo>
                <a:lnTo>
                  <a:pt x="0" y="0"/>
                </a:lnTo>
                <a:lnTo>
                  <a:pt x="179831" y="0"/>
                </a:lnTo>
                <a:lnTo>
                  <a:pt x="89915" y="144779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144011" y="1135380"/>
            <a:ext cx="143510" cy="180340"/>
          </a:xfrm>
          <a:custGeom>
            <a:avLst/>
            <a:gdLst/>
            <a:ahLst/>
            <a:cxnLst/>
            <a:rect l="l" t="t" r="r" b="b"/>
            <a:pathLst>
              <a:path w="143510" h="180340">
                <a:moveTo>
                  <a:pt x="0" y="179832"/>
                </a:moveTo>
                <a:lnTo>
                  <a:pt x="0" y="0"/>
                </a:lnTo>
                <a:lnTo>
                  <a:pt x="143255" y="89916"/>
                </a:lnTo>
                <a:lnTo>
                  <a:pt x="0" y="179832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92582" y="1788807"/>
            <a:ext cx="832967" cy="31600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91045" y="1862098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建立需求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392582" y="2554706"/>
            <a:ext cx="832967" cy="31600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91045" y="2627997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资源分配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392582" y="3320618"/>
            <a:ext cx="832967" cy="31598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491045" y="3393909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入园准备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92582" y="4086517"/>
            <a:ext cx="832967" cy="31598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91045" y="4159808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排队叫号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92582" y="4852415"/>
            <a:ext cx="832967" cy="31598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491045" y="4925707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入园作业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92582" y="5618314"/>
            <a:ext cx="832967" cy="31598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491045" y="5691606"/>
            <a:ext cx="635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出园流程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734313" y="2206510"/>
            <a:ext cx="149504" cy="30599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34313" y="2972422"/>
            <a:ext cx="149504" cy="30599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34313" y="3738321"/>
            <a:ext cx="149504" cy="30599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34313" y="4504220"/>
            <a:ext cx="149504" cy="30599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34313" y="5270119"/>
            <a:ext cx="149504" cy="30599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核心体</a:t>
            </a:r>
            <a:r>
              <a:rPr spc="-30" dirty="0"/>
              <a:t>系</a:t>
            </a:r>
          </a:p>
        </p:txBody>
      </p:sp>
      <p:sp>
        <p:nvSpPr>
          <p:cNvPr id="3" name="object 3"/>
          <p:cNvSpPr/>
          <p:nvPr/>
        </p:nvSpPr>
        <p:spPr>
          <a:xfrm>
            <a:off x="704011" y="1481442"/>
            <a:ext cx="3433876" cy="41167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9695" y="1913889"/>
            <a:ext cx="534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Microsoft JhengHei"/>
                <a:cs typeface="Microsoft JhengHei"/>
              </a:rPr>
              <a:t>预约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7347" y="1950097"/>
            <a:ext cx="9150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计划与准</a:t>
            </a:r>
            <a:r>
              <a:rPr sz="1400" dirty="0">
                <a:latin typeface="Arial Unicode MS"/>
                <a:cs typeface="Arial Unicode MS"/>
              </a:rPr>
              <a:t>入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9695" y="2490825"/>
            <a:ext cx="2827655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削峰填谷，实现预测性管</a:t>
            </a:r>
            <a:r>
              <a:rPr sz="1400" dirty="0">
                <a:latin typeface="Arial Unicode MS"/>
                <a:cs typeface="Arial Unicode MS"/>
              </a:rPr>
              <a:t>理</a:t>
            </a:r>
            <a:endParaRPr sz="14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线上填报、自动</a:t>
            </a:r>
            <a:r>
              <a:rPr sz="1200" spc="130" dirty="0">
                <a:solidFill>
                  <a:srgbClr val="404040"/>
                </a:solidFill>
                <a:latin typeface="Arial Unicode MS"/>
                <a:cs typeface="Arial Unicode MS"/>
              </a:rPr>
              <a:t>/人工审核、时段容量控制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6853" y="3317989"/>
            <a:ext cx="131445" cy="191135"/>
          </a:xfrm>
          <a:custGeom>
            <a:avLst/>
            <a:gdLst/>
            <a:ahLst/>
            <a:cxnLst/>
            <a:rect l="l" t="t" r="r" b="b"/>
            <a:pathLst>
              <a:path w="131444" h="191135">
                <a:moveTo>
                  <a:pt x="24117" y="190792"/>
                </a:moveTo>
                <a:lnTo>
                  <a:pt x="10634" y="186690"/>
                </a:lnTo>
                <a:lnTo>
                  <a:pt x="1893" y="176205"/>
                </a:lnTo>
                <a:lnTo>
                  <a:pt x="0" y="23761"/>
                </a:lnTo>
                <a:lnTo>
                  <a:pt x="4123" y="10385"/>
                </a:lnTo>
                <a:lnTo>
                  <a:pt x="14741" y="1836"/>
                </a:lnTo>
                <a:lnTo>
                  <a:pt x="107645" y="0"/>
                </a:lnTo>
                <a:lnTo>
                  <a:pt x="120945" y="4065"/>
                </a:lnTo>
                <a:lnTo>
                  <a:pt x="129600" y="14629"/>
                </a:lnTo>
                <a:lnTo>
                  <a:pt x="129708" y="23761"/>
                </a:lnTo>
                <a:lnTo>
                  <a:pt x="24117" y="23761"/>
                </a:lnTo>
                <a:lnTo>
                  <a:pt x="24117" y="143281"/>
                </a:lnTo>
                <a:lnTo>
                  <a:pt x="131125" y="143281"/>
                </a:lnTo>
                <a:lnTo>
                  <a:pt x="131266" y="155155"/>
                </a:lnTo>
                <a:lnTo>
                  <a:pt x="62636" y="155155"/>
                </a:lnTo>
                <a:lnTo>
                  <a:pt x="59766" y="156235"/>
                </a:lnTo>
                <a:lnTo>
                  <a:pt x="55079" y="160921"/>
                </a:lnTo>
                <a:lnTo>
                  <a:pt x="54000" y="163791"/>
                </a:lnTo>
                <a:lnTo>
                  <a:pt x="54000" y="170281"/>
                </a:lnTo>
                <a:lnTo>
                  <a:pt x="55079" y="173151"/>
                </a:lnTo>
                <a:lnTo>
                  <a:pt x="57607" y="175310"/>
                </a:lnTo>
                <a:lnTo>
                  <a:pt x="59766" y="177838"/>
                </a:lnTo>
                <a:lnTo>
                  <a:pt x="62636" y="178917"/>
                </a:lnTo>
                <a:lnTo>
                  <a:pt x="127687" y="178917"/>
                </a:lnTo>
                <a:lnTo>
                  <a:pt x="127243" y="180335"/>
                </a:lnTo>
                <a:lnTo>
                  <a:pt x="116623" y="188987"/>
                </a:lnTo>
                <a:lnTo>
                  <a:pt x="24117" y="190792"/>
                </a:lnTo>
                <a:close/>
              </a:path>
              <a:path w="131444" h="191135">
                <a:moveTo>
                  <a:pt x="131125" y="143281"/>
                </a:moveTo>
                <a:lnTo>
                  <a:pt x="107645" y="143281"/>
                </a:lnTo>
                <a:lnTo>
                  <a:pt x="107645" y="23761"/>
                </a:lnTo>
                <a:lnTo>
                  <a:pt x="129708" y="23761"/>
                </a:lnTo>
                <a:lnTo>
                  <a:pt x="131125" y="143281"/>
                </a:lnTo>
                <a:close/>
              </a:path>
              <a:path w="131444" h="191135">
                <a:moveTo>
                  <a:pt x="127687" y="178917"/>
                </a:moveTo>
                <a:lnTo>
                  <a:pt x="69126" y="178917"/>
                </a:lnTo>
                <a:lnTo>
                  <a:pt x="71996" y="177838"/>
                </a:lnTo>
                <a:lnTo>
                  <a:pt x="76682" y="173151"/>
                </a:lnTo>
                <a:lnTo>
                  <a:pt x="77762" y="170281"/>
                </a:lnTo>
                <a:lnTo>
                  <a:pt x="77762" y="163791"/>
                </a:lnTo>
                <a:lnTo>
                  <a:pt x="76682" y="160921"/>
                </a:lnTo>
                <a:lnTo>
                  <a:pt x="74523" y="158394"/>
                </a:lnTo>
                <a:lnTo>
                  <a:pt x="71996" y="156235"/>
                </a:lnTo>
                <a:lnTo>
                  <a:pt x="69126" y="155155"/>
                </a:lnTo>
                <a:lnTo>
                  <a:pt x="131266" y="155155"/>
                </a:lnTo>
                <a:lnTo>
                  <a:pt x="131406" y="167030"/>
                </a:lnTo>
                <a:lnTo>
                  <a:pt x="127687" y="17891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6970" y="3658882"/>
            <a:ext cx="191770" cy="191135"/>
          </a:xfrm>
          <a:custGeom>
            <a:avLst/>
            <a:gdLst/>
            <a:ahLst/>
            <a:cxnLst/>
            <a:rect l="l" t="t" r="r" b="b"/>
            <a:pathLst>
              <a:path w="191769" h="191135">
                <a:moveTo>
                  <a:pt x="101523" y="190804"/>
                </a:moveTo>
                <a:lnTo>
                  <a:pt x="89281" y="190804"/>
                </a:lnTo>
                <a:lnTo>
                  <a:pt x="82803" y="190080"/>
                </a:lnTo>
                <a:lnTo>
                  <a:pt x="42481" y="174244"/>
                </a:lnTo>
                <a:lnTo>
                  <a:pt x="37439" y="171005"/>
                </a:lnTo>
                <a:lnTo>
                  <a:pt x="32410" y="167043"/>
                </a:lnTo>
                <a:lnTo>
                  <a:pt x="28079" y="162356"/>
                </a:lnTo>
                <a:lnTo>
                  <a:pt x="23761" y="158038"/>
                </a:lnTo>
                <a:lnTo>
                  <a:pt x="19799" y="153365"/>
                </a:lnTo>
                <a:lnTo>
                  <a:pt x="16205" y="147967"/>
                </a:lnTo>
                <a:lnTo>
                  <a:pt x="12598" y="142925"/>
                </a:lnTo>
                <a:lnTo>
                  <a:pt x="9728" y="137160"/>
                </a:lnTo>
                <a:lnTo>
                  <a:pt x="7569" y="131406"/>
                </a:lnTo>
                <a:lnTo>
                  <a:pt x="5041" y="125641"/>
                </a:lnTo>
                <a:lnTo>
                  <a:pt x="3238" y="119887"/>
                </a:lnTo>
                <a:lnTo>
                  <a:pt x="2159" y="113766"/>
                </a:lnTo>
                <a:lnTo>
                  <a:pt x="723" y="107645"/>
                </a:lnTo>
                <a:lnTo>
                  <a:pt x="0" y="101523"/>
                </a:lnTo>
                <a:lnTo>
                  <a:pt x="0" y="88925"/>
                </a:lnTo>
                <a:lnTo>
                  <a:pt x="723" y="82803"/>
                </a:lnTo>
                <a:lnTo>
                  <a:pt x="2159" y="76682"/>
                </a:lnTo>
                <a:lnTo>
                  <a:pt x="3238" y="70561"/>
                </a:lnTo>
                <a:lnTo>
                  <a:pt x="5041" y="64439"/>
                </a:lnTo>
                <a:lnTo>
                  <a:pt x="7569" y="58686"/>
                </a:lnTo>
                <a:lnTo>
                  <a:pt x="9728" y="52920"/>
                </a:lnTo>
                <a:lnTo>
                  <a:pt x="37439" y="19443"/>
                </a:lnTo>
                <a:lnTo>
                  <a:pt x="59042" y="7200"/>
                </a:lnTo>
                <a:lnTo>
                  <a:pt x="64808" y="4686"/>
                </a:lnTo>
                <a:lnTo>
                  <a:pt x="70561" y="2882"/>
                </a:lnTo>
                <a:lnTo>
                  <a:pt x="76682" y="1803"/>
                </a:lnTo>
                <a:lnTo>
                  <a:pt x="82803" y="368"/>
                </a:lnTo>
                <a:lnTo>
                  <a:pt x="89281" y="0"/>
                </a:lnTo>
                <a:lnTo>
                  <a:pt x="101523" y="0"/>
                </a:lnTo>
                <a:lnTo>
                  <a:pt x="108000" y="368"/>
                </a:lnTo>
                <a:lnTo>
                  <a:pt x="114122" y="1803"/>
                </a:lnTo>
                <a:lnTo>
                  <a:pt x="120599" y="2882"/>
                </a:lnTo>
                <a:lnTo>
                  <a:pt x="126365" y="4686"/>
                </a:lnTo>
                <a:lnTo>
                  <a:pt x="132130" y="7200"/>
                </a:lnTo>
                <a:lnTo>
                  <a:pt x="137883" y="9359"/>
                </a:lnTo>
                <a:lnTo>
                  <a:pt x="171361" y="37084"/>
                </a:lnTo>
                <a:lnTo>
                  <a:pt x="178562" y="47523"/>
                </a:lnTo>
                <a:lnTo>
                  <a:pt x="92163" y="47523"/>
                </a:lnTo>
                <a:lnTo>
                  <a:pt x="89281" y="48602"/>
                </a:lnTo>
                <a:lnTo>
                  <a:pt x="87122" y="51117"/>
                </a:lnTo>
                <a:lnTo>
                  <a:pt x="84607" y="53276"/>
                </a:lnTo>
                <a:lnTo>
                  <a:pt x="83527" y="56159"/>
                </a:lnTo>
                <a:lnTo>
                  <a:pt x="83527" y="62636"/>
                </a:lnTo>
                <a:lnTo>
                  <a:pt x="84607" y="65519"/>
                </a:lnTo>
                <a:lnTo>
                  <a:pt x="87122" y="67678"/>
                </a:lnTo>
                <a:lnTo>
                  <a:pt x="89281" y="70205"/>
                </a:lnTo>
                <a:lnTo>
                  <a:pt x="92163" y="71285"/>
                </a:lnTo>
                <a:lnTo>
                  <a:pt x="188049" y="71285"/>
                </a:lnTo>
                <a:lnTo>
                  <a:pt x="189001" y="76682"/>
                </a:lnTo>
                <a:lnTo>
                  <a:pt x="190449" y="82803"/>
                </a:lnTo>
                <a:lnTo>
                  <a:pt x="190490" y="83159"/>
                </a:lnTo>
                <a:lnTo>
                  <a:pt x="75603" y="83159"/>
                </a:lnTo>
                <a:lnTo>
                  <a:pt x="71640" y="87122"/>
                </a:lnTo>
                <a:lnTo>
                  <a:pt x="71640" y="97205"/>
                </a:lnTo>
                <a:lnTo>
                  <a:pt x="75603" y="101168"/>
                </a:lnTo>
                <a:lnTo>
                  <a:pt x="89281" y="101168"/>
                </a:lnTo>
                <a:lnTo>
                  <a:pt x="89281" y="124917"/>
                </a:lnTo>
                <a:lnTo>
                  <a:pt x="75603" y="124917"/>
                </a:lnTo>
                <a:lnTo>
                  <a:pt x="71640" y="128879"/>
                </a:lnTo>
                <a:lnTo>
                  <a:pt x="71640" y="138607"/>
                </a:lnTo>
                <a:lnTo>
                  <a:pt x="75603" y="142557"/>
                </a:lnTo>
                <a:lnTo>
                  <a:pt x="178746" y="142557"/>
                </a:lnTo>
                <a:lnTo>
                  <a:pt x="178562" y="142925"/>
                </a:lnTo>
                <a:lnTo>
                  <a:pt x="174967" y="147967"/>
                </a:lnTo>
                <a:lnTo>
                  <a:pt x="171361" y="153365"/>
                </a:lnTo>
                <a:lnTo>
                  <a:pt x="167398" y="158038"/>
                </a:lnTo>
                <a:lnTo>
                  <a:pt x="163080" y="162356"/>
                </a:lnTo>
                <a:lnTo>
                  <a:pt x="158762" y="167043"/>
                </a:lnTo>
                <a:lnTo>
                  <a:pt x="153720" y="171005"/>
                </a:lnTo>
                <a:lnTo>
                  <a:pt x="148678" y="174244"/>
                </a:lnTo>
                <a:lnTo>
                  <a:pt x="143649" y="177838"/>
                </a:lnTo>
                <a:lnTo>
                  <a:pt x="137883" y="180721"/>
                </a:lnTo>
                <a:lnTo>
                  <a:pt x="132130" y="183248"/>
                </a:lnTo>
                <a:lnTo>
                  <a:pt x="126365" y="185407"/>
                </a:lnTo>
                <a:lnTo>
                  <a:pt x="120599" y="187198"/>
                </a:lnTo>
                <a:lnTo>
                  <a:pt x="114122" y="188645"/>
                </a:lnTo>
                <a:lnTo>
                  <a:pt x="108000" y="190080"/>
                </a:lnTo>
                <a:lnTo>
                  <a:pt x="101523" y="190804"/>
                </a:lnTo>
                <a:close/>
              </a:path>
              <a:path w="191769" h="191135">
                <a:moveTo>
                  <a:pt x="188049" y="71285"/>
                </a:moveTo>
                <a:lnTo>
                  <a:pt x="98640" y="71285"/>
                </a:lnTo>
                <a:lnTo>
                  <a:pt x="101523" y="70205"/>
                </a:lnTo>
                <a:lnTo>
                  <a:pt x="103682" y="67678"/>
                </a:lnTo>
                <a:lnTo>
                  <a:pt x="106210" y="65519"/>
                </a:lnTo>
                <a:lnTo>
                  <a:pt x="107289" y="62636"/>
                </a:lnTo>
                <a:lnTo>
                  <a:pt x="107289" y="56159"/>
                </a:lnTo>
                <a:lnTo>
                  <a:pt x="106210" y="53276"/>
                </a:lnTo>
                <a:lnTo>
                  <a:pt x="103682" y="51117"/>
                </a:lnTo>
                <a:lnTo>
                  <a:pt x="101523" y="48602"/>
                </a:lnTo>
                <a:lnTo>
                  <a:pt x="98640" y="47523"/>
                </a:lnTo>
                <a:lnTo>
                  <a:pt x="178562" y="47523"/>
                </a:lnTo>
                <a:lnTo>
                  <a:pt x="181444" y="52920"/>
                </a:lnTo>
                <a:lnTo>
                  <a:pt x="183603" y="58686"/>
                </a:lnTo>
                <a:lnTo>
                  <a:pt x="186118" y="64439"/>
                </a:lnTo>
                <a:lnTo>
                  <a:pt x="187921" y="70561"/>
                </a:lnTo>
                <a:lnTo>
                  <a:pt x="188049" y="71285"/>
                </a:lnTo>
                <a:close/>
              </a:path>
              <a:path w="191769" h="191135">
                <a:moveTo>
                  <a:pt x="178746" y="142557"/>
                </a:moveTo>
                <a:lnTo>
                  <a:pt x="115569" y="142557"/>
                </a:lnTo>
                <a:lnTo>
                  <a:pt x="119519" y="138607"/>
                </a:lnTo>
                <a:lnTo>
                  <a:pt x="119519" y="128879"/>
                </a:lnTo>
                <a:lnTo>
                  <a:pt x="115569" y="124917"/>
                </a:lnTo>
                <a:lnTo>
                  <a:pt x="107289" y="124917"/>
                </a:lnTo>
                <a:lnTo>
                  <a:pt x="107289" y="87122"/>
                </a:lnTo>
                <a:lnTo>
                  <a:pt x="103327" y="83159"/>
                </a:lnTo>
                <a:lnTo>
                  <a:pt x="190490" y="83159"/>
                </a:lnTo>
                <a:lnTo>
                  <a:pt x="191160" y="88925"/>
                </a:lnTo>
                <a:lnTo>
                  <a:pt x="191160" y="101523"/>
                </a:lnTo>
                <a:lnTo>
                  <a:pt x="190449" y="107645"/>
                </a:lnTo>
                <a:lnTo>
                  <a:pt x="189001" y="113766"/>
                </a:lnTo>
                <a:lnTo>
                  <a:pt x="187921" y="119887"/>
                </a:lnTo>
                <a:lnTo>
                  <a:pt x="186118" y="125641"/>
                </a:lnTo>
                <a:lnTo>
                  <a:pt x="183603" y="131406"/>
                </a:lnTo>
                <a:lnTo>
                  <a:pt x="181444" y="137160"/>
                </a:lnTo>
                <a:lnTo>
                  <a:pt x="178746" y="14255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07046" y="3329279"/>
            <a:ext cx="161861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404040"/>
                </a:solidFill>
                <a:latin typeface="Microsoft JhengHei"/>
                <a:cs typeface="Microsoft JhengHei"/>
              </a:rPr>
              <a:t>途径：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手机小程序</a:t>
            </a:r>
            <a:r>
              <a:rPr sz="1100" spc="110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网页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端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7955" y="3990759"/>
            <a:ext cx="169545" cy="169545"/>
          </a:xfrm>
          <a:custGeom>
            <a:avLst/>
            <a:gdLst/>
            <a:ahLst/>
            <a:cxnLst/>
            <a:rect l="l" t="t" r="r" b="b"/>
            <a:pathLst>
              <a:path w="169544" h="169545">
                <a:moveTo>
                  <a:pt x="94328" y="55791"/>
                </a:moveTo>
                <a:lnTo>
                  <a:pt x="60477" y="55791"/>
                </a:lnTo>
                <a:lnTo>
                  <a:pt x="116281" y="0"/>
                </a:lnTo>
                <a:lnTo>
                  <a:pt x="123837" y="0"/>
                </a:lnTo>
                <a:lnTo>
                  <a:pt x="133197" y="9359"/>
                </a:lnTo>
                <a:lnTo>
                  <a:pt x="133197" y="16916"/>
                </a:lnTo>
                <a:lnTo>
                  <a:pt x="94328" y="55791"/>
                </a:lnTo>
                <a:close/>
              </a:path>
              <a:path w="169544" h="169545">
                <a:moveTo>
                  <a:pt x="64439" y="85674"/>
                </a:moveTo>
                <a:lnTo>
                  <a:pt x="56883" y="85674"/>
                </a:lnTo>
                <a:lnTo>
                  <a:pt x="22313" y="51473"/>
                </a:lnTo>
                <a:lnTo>
                  <a:pt x="17640" y="46799"/>
                </a:lnTo>
                <a:lnTo>
                  <a:pt x="17640" y="39242"/>
                </a:lnTo>
                <a:lnTo>
                  <a:pt x="27000" y="29883"/>
                </a:lnTo>
                <a:lnTo>
                  <a:pt x="34556" y="29883"/>
                </a:lnTo>
                <a:lnTo>
                  <a:pt x="60477" y="55791"/>
                </a:lnTo>
                <a:lnTo>
                  <a:pt x="94328" y="55791"/>
                </a:lnTo>
                <a:lnTo>
                  <a:pt x="64439" y="85674"/>
                </a:lnTo>
                <a:close/>
              </a:path>
              <a:path w="169544" h="169545">
                <a:moveTo>
                  <a:pt x="94213" y="139674"/>
                </a:moveTo>
                <a:lnTo>
                  <a:pt x="60477" y="139674"/>
                </a:lnTo>
                <a:lnTo>
                  <a:pt x="152272" y="47510"/>
                </a:lnTo>
                <a:lnTo>
                  <a:pt x="159842" y="47510"/>
                </a:lnTo>
                <a:lnTo>
                  <a:pt x="169202" y="56870"/>
                </a:lnTo>
                <a:lnTo>
                  <a:pt x="169202" y="64439"/>
                </a:lnTo>
                <a:lnTo>
                  <a:pt x="94213" y="139674"/>
                </a:lnTo>
                <a:close/>
              </a:path>
              <a:path w="169544" h="169545">
                <a:moveTo>
                  <a:pt x="64439" y="169557"/>
                </a:moveTo>
                <a:lnTo>
                  <a:pt x="56883" y="169557"/>
                </a:lnTo>
                <a:lnTo>
                  <a:pt x="4318" y="117360"/>
                </a:lnTo>
                <a:lnTo>
                  <a:pt x="0" y="112674"/>
                </a:lnTo>
                <a:lnTo>
                  <a:pt x="0" y="104762"/>
                </a:lnTo>
                <a:lnTo>
                  <a:pt x="4318" y="100075"/>
                </a:lnTo>
                <a:lnTo>
                  <a:pt x="9004" y="95402"/>
                </a:lnTo>
                <a:lnTo>
                  <a:pt x="16560" y="95402"/>
                </a:lnTo>
                <a:lnTo>
                  <a:pt x="60477" y="139674"/>
                </a:lnTo>
                <a:lnTo>
                  <a:pt x="94213" y="139674"/>
                </a:lnTo>
                <a:lnTo>
                  <a:pt x="64439" y="16955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7046" y="3665080"/>
            <a:ext cx="254254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404040"/>
                </a:solidFill>
                <a:latin typeface="Microsoft JhengHei"/>
                <a:cs typeface="Microsoft JhengHei"/>
              </a:rPr>
              <a:t>信息：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车辆、货物、时间、地点、对接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人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7046" y="4000880"/>
            <a:ext cx="249364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审核：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自动</a:t>
            </a:r>
            <a:r>
              <a:rPr sz="1100" spc="110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人工审核</a:t>
            </a:r>
            <a:r>
              <a:rPr sz="1100" spc="-20" dirty="0">
                <a:solidFill>
                  <a:srgbClr val="404040"/>
                </a:solidFill>
                <a:latin typeface="Arial Unicode MS"/>
                <a:cs typeface="Arial Unicode MS"/>
              </a:rPr>
              <a:t>,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系统预占时段额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度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78147" y="1481442"/>
            <a:ext cx="3433876" cy="41167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643831" y="1913889"/>
            <a:ext cx="534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Microsoft JhengHei"/>
                <a:cs typeface="Microsoft JhengHei"/>
              </a:rPr>
              <a:t>签到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31482" y="1950097"/>
            <a:ext cx="9150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核验与履</a:t>
            </a:r>
            <a:r>
              <a:rPr sz="1400" dirty="0">
                <a:latin typeface="Arial Unicode MS"/>
                <a:cs typeface="Arial Unicode MS"/>
              </a:rPr>
              <a:t>约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3831" y="2490825"/>
            <a:ext cx="2633345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无感通行，确保安全与履</a:t>
            </a:r>
            <a:r>
              <a:rPr sz="1400" dirty="0">
                <a:latin typeface="Arial Unicode MS"/>
                <a:cs typeface="Arial Unicode MS"/>
              </a:rPr>
              <a:t>约</a:t>
            </a:r>
            <a:endParaRPr sz="14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车牌识别、</a:t>
            </a:r>
            <a:r>
              <a:rPr sz="1200" spc="15" dirty="0">
                <a:solidFill>
                  <a:srgbClr val="404040"/>
                </a:solidFill>
                <a:latin typeface="Arial Unicode MS"/>
                <a:cs typeface="Arial Unicode MS"/>
              </a:rPr>
              <a:t>G</a:t>
            </a:r>
            <a:r>
              <a:rPr sz="1200" spc="-25" dirty="0">
                <a:solidFill>
                  <a:srgbClr val="404040"/>
                </a:solidFill>
                <a:latin typeface="Arial Unicode MS"/>
                <a:cs typeface="Arial Unicode MS"/>
              </a:rPr>
              <a:t>P</a:t>
            </a:r>
            <a:r>
              <a:rPr sz="1200" spc="-10" dirty="0">
                <a:solidFill>
                  <a:srgbClr val="404040"/>
                </a:solidFill>
                <a:latin typeface="Arial Unicode MS"/>
                <a:cs typeface="Arial Unicode MS"/>
              </a:rPr>
              <a:t>S</a:t>
            </a: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地理围栏、准时性校验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51209" y="3323513"/>
            <a:ext cx="157480" cy="157480"/>
          </a:xfrm>
          <a:custGeom>
            <a:avLst/>
            <a:gdLst/>
            <a:ahLst/>
            <a:cxnLst/>
            <a:rect l="l" t="t" r="r" b="b"/>
            <a:pathLst>
              <a:path w="157479" h="157479">
                <a:moveTo>
                  <a:pt x="93954" y="156959"/>
                </a:moveTo>
                <a:lnTo>
                  <a:pt x="88201" y="155879"/>
                </a:lnTo>
                <a:lnTo>
                  <a:pt x="82803" y="154800"/>
                </a:lnTo>
                <a:lnTo>
                  <a:pt x="78473" y="149758"/>
                </a:lnTo>
                <a:lnTo>
                  <a:pt x="78473" y="78117"/>
                </a:lnTo>
                <a:lnTo>
                  <a:pt x="7200" y="78117"/>
                </a:lnTo>
                <a:lnTo>
                  <a:pt x="2158" y="74167"/>
                </a:lnTo>
                <a:lnTo>
                  <a:pt x="1079" y="68757"/>
                </a:lnTo>
                <a:lnTo>
                  <a:pt x="0" y="63004"/>
                </a:lnTo>
                <a:lnTo>
                  <a:pt x="2882" y="57607"/>
                </a:lnTo>
                <a:lnTo>
                  <a:pt x="143992" y="0"/>
                </a:lnTo>
                <a:lnTo>
                  <a:pt x="149034" y="1079"/>
                </a:lnTo>
                <a:lnTo>
                  <a:pt x="152641" y="4317"/>
                </a:lnTo>
                <a:lnTo>
                  <a:pt x="155879" y="7924"/>
                </a:lnTo>
                <a:lnTo>
                  <a:pt x="156959" y="12966"/>
                </a:lnTo>
                <a:lnTo>
                  <a:pt x="155155" y="17284"/>
                </a:lnTo>
                <a:lnTo>
                  <a:pt x="101523" y="148678"/>
                </a:lnTo>
                <a:lnTo>
                  <a:pt x="99352" y="153720"/>
                </a:lnTo>
                <a:lnTo>
                  <a:pt x="93954" y="15695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52952" y="3631501"/>
            <a:ext cx="155575" cy="190500"/>
          </a:xfrm>
          <a:custGeom>
            <a:avLst/>
            <a:gdLst/>
            <a:ahLst/>
            <a:cxnLst/>
            <a:rect l="l" t="t" r="r" b="b"/>
            <a:pathLst>
              <a:path w="155575" h="190500">
                <a:moveTo>
                  <a:pt x="101038" y="23761"/>
                </a:moveTo>
                <a:lnTo>
                  <a:pt x="51712" y="23761"/>
                </a:lnTo>
                <a:lnTo>
                  <a:pt x="46670" y="18364"/>
                </a:lnTo>
                <a:lnTo>
                  <a:pt x="46670" y="5041"/>
                </a:lnTo>
                <a:lnTo>
                  <a:pt x="51712" y="0"/>
                </a:lnTo>
                <a:lnTo>
                  <a:pt x="101038" y="0"/>
                </a:lnTo>
                <a:lnTo>
                  <a:pt x="106436" y="5041"/>
                </a:lnTo>
                <a:lnTo>
                  <a:pt x="106436" y="18364"/>
                </a:lnTo>
                <a:lnTo>
                  <a:pt x="101038" y="23761"/>
                </a:lnTo>
                <a:close/>
              </a:path>
              <a:path w="155575" h="190500">
                <a:moveTo>
                  <a:pt x="69641" y="190497"/>
                </a:moveTo>
                <a:lnTo>
                  <a:pt x="33724" y="177163"/>
                </a:lnTo>
                <a:lnTo>
                  <a:pt x="8743" y="145932"/>
                </a:lnTo>
                <a:lnTo>
                  <a:pt x="0" y="99297"/>
                </a:lnTo>
                <a:lnTo>
                  <a:pt x="3677" y="85847"/>
                </a:lnTo>
                <a:lnTo>
                  <a:pt x="27223" y="53029"/>
                </a:lnTo>
                <a:lnTo>
                  <a:pt x="64678" y="36360"/>
                </a:lnTo>
                <a:lnTo>
                  <a:pt x="64678" y="23761"/>
                </a:lnTo>
                <a:lnTo>
                  <a:pt x="88440" y="23761"/>
                </a:lnTo>
                <a:lnTo>
                  <a:pt x="91339" y="36865"/>
                </a:lnTo>
                <a:lnTo>
                  <a:pt x="103780" y="40432"/>
                </a:lnTo>
                <a:lnTo>
                  <a:pt x="115315" y="45891"/>
                </a:lnTo>
                <a:lnTo>
                  <a:pt x="125880" y="52920"/>
                </a:lnTo>
                <a:lnTo>
                  <a:pt x="155394" y="52920"/>
                </a:lnTo>
                <a:lnTo>
                  <a:pt x="155394" y="57238"/>
                </a:lnTo>
                <a:lnTo>
                  <a:pt x="150721" y="61925"/>
                </a:lnTo>
                <a:lnTo>
                  <a:pt x="150577" y="62280"/>
                </a:lnTo>
                <a:lnTo>
                  <a:pt x="71879" y="62280"/>
                </a:lnTo>
                <a:lnTo>
                  <a:pt x="67917" y="66243"/>
                </a:lnTo>
                <a:lnTo>
                  <a:pt x="67917" y="123837"/>
                </a:lnTo>
                <a:lnTo>
                  <a:pt x="71879" y="127800"/>
                </a:lnTo>
                <a:lnTo>
                  <a:pt x="152532" y="127800"/>
                </a:lnTo>
                <a:lnTo>
                  <a:pt x="148870" y="140599"/>
                </a:lnTo>
                <a:lnTo>
                  <a:pt x="125045" y="172608"/>
                </a:lnTo>
                <a:lnTo>
                  <a:pt x="85553" y="189345"/>
                </a:lnTo>
                <a:lnTo>
                  <a:pt x="69641" y="190497"/>
                </a:lnTo>
                <a:close/>
              </a:path>
              <a:path w="155575" h="190500">
                <a:moveTo>
                  <a:pt x="155394" y="52920"/>
                </a:moveTo>
                <a:lnTo>
                  <a:pt x="125880" y="52920"/>
                </a:lnTo>
                <a:lnTo>
                  <a:pt x="138478" y="40322"/>
                </a:lnTo>
                <a:lnTo>
                  <a:pt x="146035" y="40322"/>
                </a:lnTo>
                <a:lnTo>
                  <a:pt x="155394" y="49682"/>
                </a:lnTo>
                <a:lnTo>
                  <a:pt x="155394" y="52920"/>
                </a:lnTo>
                <a:close/>
              </a:path>
              <a:path w="155575" h="190500">
                <a:moveTo>
                  <a:pt x="152532" y="127800"/>
                </a:moveTo>
                <a:lnTo>
                  <a:pt x="81595" y="127800"/>
                </a:lnTo>
                <a:lnTo>
                  <a:pt x="85557" y="123837"/>
                </a:lnTo>
                <a:lnTo>
                  <a:pt x="85557" y="66243"/>
                </a:lnTo>
                <a:lnTo>
                  <a:pt x="81595" y="62280"/>
                </a:lnTo>
                <a:lnTo>
                  <a:pt x="150577" y="62280"/>
                </a:lnTo>
                <a:lnTo>
                  <a:pt x="144920" y="76238"/>
                </a:lnTo>
                <a:lnTo>
                  <a:pt x="149876" y="87707"/>
                </a:lnTo>
                <a:lnTo>
                  <a:pt x="152921" y="100271"/>
                </a:lnTo>
                <a:lnTo>
                  <a:pt x="153956" y="113725"/>
                </a:lnTo>
                <a:lnTo>
                  <a:pt x="152598" y="127568"/>
                </a:lnTo>
                <a:lnTo>
                  <a:pt x="152532" y="1278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85220" y="3329279"/>
            <a:ext cx="263969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到达触发：</a:t>
            </a:r>
            <a:r>
              <a:rPr sz="1100" spc="10" dirty="0">
                <a:solidFill>
                  <a:srgbClr val="404040"/>
                </a:solidFill>
                <a:latin typeface="Arial Unicode MS"/>
                <a:cs typeface="Arial Unicode MS"/>
              </a:rPr>
              <a:t>G</a:t>
            </a:r>
            <a:r>
              <a:rPr sz="1100" spc="-20" dirty="0">
                <a:solidFill>
                  <a:srgbClr val="404040"/>
                </a:solidFill>
                <a:latin typeface="Arial Unicode MS"/>
                <a:cs typeface="Arial Unicode MS"/>
              </a:rPr>
              <a:t>PS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地理围栏</a:t>
            </a:r>
            <a:r>
              <a:rPr sz="1100" spc="20" dirty="0">
                <a:solidFill>
                  <a:srgbClr val="404040"/>
                </a:solidFill>
                <a:latin typeface="Arial Unicode MS"/>
                <a:cs typeface="Arial Unicode MS"/>
              </a:rPr>
              <a:t>(</a:t>
            </a:r>
            <a:r>
              <a:rPr sz="1100" spc="65" dirty="0">
                <a:solidFill>
                  <a:srgbClr val="404040"/>
                </a:solidFill>
                <a:latin typeface="Arial Unicode MS"/>
                <a:cs typeface="Arial Unicode MS"/>
              </a:rPr>
              <a:t>500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米内</a:t>
            </a:r>
            <a:r>
              <a:rPr sz="1100" spc="15" dirty="0">
                <a:solidFill>
                  <a:srgbClr val="404040"/>
                </a:solidFill>
                <a:latin typeface="Arial Unicode MS"/>
                <a:cs typeface="Arial Unicode MS"/>
              </a:rPr>
              <a:t>)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可签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到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57864" y="3974045"/>
            <a:ext cx="143510" cy="180340"/>
          </a:xfrm>
          <a:custGeom>
            <a:avLst/>
            <a:gdLst/>
            <a:ahLst/>
            <a:cxnLst/>
            <a:rect l="l" t="t" r="r" b="b"/>
            <a:pathLst>
              <a:path w="143510" h="180339">
                <a:moveTo>
                  <a:pt x="137883" y="22415"/>
                </a:moveTo>
                <a:lnTo>
                  <a:pt x="5397" y="22415"/>
                </a:lnTo>
                <a:lnTo>
                  <a:pt x="0" y="17665"/>
                </a:lnTo>
                <a:lnTo>
                  <a:pt x="0" y="5092"/>
                </a:lnTo>
                <a:lnTo>
                  <a:pt x="5397" y="0"/>
                </a:lnTo>
                <a:lnTo>
                  <a:pt x="137883" y="0"/>
                </a:lnTo>
                <a:lnTo>
                  <a:pt x="143281" y="5092"/>
                </a:lnTo>
                <a:lnTo>
                  <a:pt x="143281" y="17665"/>
                </a:lnTo>
                <a:lnTo>
                  <a:pt x="137883" y="22415"/>
                </a:lnTo>
                <a:close/>
              </a:path>
              <a:path w="143510" h="180339">
                <a:moveTo>
                  <a:pt x="131406" y="157581"/>
                </a:moveTo>
                <a:lnTo>
                  <a:pt x="11887" y="157581"/>
                </a:lnTo>
                <a:lnTo>
                  <a:pt x="12152" y="148474"/>
                </a:lnTo>
                <a:lnTo>
                  <a:pt x="14954" y="135865"/>
                </a:lnTo>
                <a:lnTo>
                  <a:pt x="20678" y="124254"/>
                </a:lnTo>
                <a:lnTo>
                  <a:pt x="29159" y="114109"/>
                </a:lnTo>
                <a:lnTo>
                  <a:pt x="54368" y="90347"/>
                </a:lnTo>
                <a:lnTo>
                  <a:pt x="25155" y="62371"/>
                </a:lnTo>
                <a:lnTo>
                  <a:pt x="17891" y="51505"/>
                </a:lnTo>
                <a:lnTo>
                  <a:pt x="13415" y="39362"/>
                </a:lnTo>
                <a:lnTo>
                  <a:pt x="11887" y="26492"/>
                </a:lnTo>
                <a:lnTo>
                  <a:pt x="11887" y="22415"/>
                </a:lnTo>
                <a:lnTo>
                  <a:pt x="35648" y="22415"/>
                </a:lnTo>
                <a:lnTo>
                  <a:pt x="35648" y="32943"/>
                </a:lnTo>
                <a:lnTo>
                  <a:pt x="37807" y="39738"/>
                </a:lnTo>
                <a:lnTo>
                  <a:pt x="41757" y="45173"/>
                </a:lnTo>
                <a:lnTo>
                  <a:pt x="127953" y="45173"/>
                </a:lnTo>
                <a:lnTo>
                  <a:pt x="122247" y="56475"/>
                </a:lnTo>
                <a:lnTo>
                  <a:pt x="113766" y="66573"/>
                </a:lnTo>
                <a:lnTo>
                  <a:pt x="88557" y="90347"/>
                </a:lnTo>
                <a:lnTo>
                  <a:pt x="105250" y="106299"/>
                </a:lnTo>
                <a:lnTo>
                  <a:pt x="71640" y="106299"/>
                </a:lnTo>
                <a:lnTo>
                  <a:pt x="46088" y="130073"/>
                </a:lnTo>
                <a:lnTo>
                  <a:pt x="44284" y="131775"/>
                </a:lnTo>
                <a:lnTo>
                  <a:pt x="42837" y="133477"/>
                </a:lnTo>
                <a:lnTo>
                  <a:pt x="41757" y="135166"/>
                </a:lnTo>
                <a:lnTo>
                  <a:pt x="127529" y="135166"/>
                </a:lnTo>
                <a:lnTo>
                  <a:pt x="129791" y="141005"/>
                </a:lnTo>
                <a:lnTo>
                  <a:pt x="131406" y="153847"/>
                </a:lnTo>
                <a:lnTo>
                  <a:pt x="131406" y="157581"/>
                </a:lnTo>
                <a:close/>
              </a:path>
              <a:path w="143510" h="180339">
                <a:moveTo>
                  <a:pt x="127953" y="45173"/>
                </a:moveTo>
                <a:lnTo>
                  <a:pt x="101523" y="45173"/>
                </a:lnTo>
                <a:lnTo>
                  <a:pt x="105486" y="39738"/>
                </a:lnTo>
                <a:lnTo>
                  <a:pt x="107276" y="32943"/>
                </a:lnTo>
                <a:lnTo>
                  <a:pt x="107276" y="22415"/>
                </a:lnTo>
                <a:lnTo>
                  <a:pt x="131406" y="22415"/>
                </a:lnTo>
                <a:lnTo>
                  <a:pt x="131082" y="32294"/>
                </a:lnTo>
                <a:lnTo>
                  <a:pt x="128108" y="44867"/>
                </a:lnTo>
                <a:lnTo>
                  <a:pt x="127953" y="45173"/>
                </a:lnTo>
                <a:close/>
              </a:path>
              <a:path w="143510" h="180339">
                <a:moveTo>
                  <a:pt x="127529" y="135166"/>
                </a:moveTo>
                <a:lnTo>
                  <a:pt x="101523" y="135166"/>
                </a:lnTo>
                <a:lnTo>
                  <a:pt x="98640" y="131775"/>
                </a:lnTo>
                <a:lnTo>
                  <a:pt x="71640" y="106299"/>
                </a:lnTo>
                <a:lnTo>
                  <a:pt x="105250" y="106299"/>
                </a:lnTo>
                <a:lnTo>
                  <a:pt x="117686" y="118182"/>
                </a:lnTo>
                <a:lnTo>
                  <a:pt x="125126" y="128963"/>
                </a:lnTo>
                <a:lnTo>
                  <a:pt x="127529" y="135166"/>
                </a:lnTo>
                <a:close/>
              </a:path>
              <a:path w="143510" h="180339">
                <a:moveTo>
                  <a:pt x="137883" y="179997"/>
                </a:moveTo>
                <a:lnTo>
                  <a:pt x="5397" y="179997"/>
                </a:lnTo>
                <a:lnTo>
                  <a:pt x="0" y="175247"/>
                </a:lnTo>
                <a:lnTo>
                  <a:pt x="0" y="162687"/>
                </a:lnTo>
                <a:lnTo>
                  <a:pt x="5397" y="157581"/>
                </a:lnTo>
                <a:lnTo>
                  <a:pt x="137883" y="157581"/>
                </a:lnTo>
                <a:lnTo>
                  <a:pt x="143281" y="162687"/>
                </a:lnTo>
                <a:lnTo>
                  <a:pt x="143281" y="175247"/>
                </a:lnTo>
                <a:lnTo>
                  <a:pt x="137883" y="17999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85220" y="3665080"/>
            <a:ext cx="264287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履约验证：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准时性校验</a:t>
            </a:r>
            <a:r>
              <a:rPr sz="1100" spc="20" dirty="0">
                <a:solidFill>
                  <a:srgbClr val="404040"/>
                </a:solidFill>
                <a:latin typeface="Arial Unicode MS"/>
                <a:cs typeface="Arial Unicode MS"/>
              </a:rPr>
              <a:t>(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是否在预约时段内</a:t>
            </a:r>
            <a:r>
              <a:rPr sz="1100" spc="20" dirty="0">
                <a:solidFill>
                  <a:srgbClr val="404040"/>
                </a:solidFill>
                <a:latin typeface="Arial Unicode MS"/>
                <a:cs typeface="Arial Unicode MS"/>
              </a:rPr>
              <a:t>)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85220" y="4000880"/>
            <a:ext cx="268351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100" b="1" dirty="0">
                <a:solidFill>
                  <a:srgbClr val="404040"/>
                </a:solidFill>
                <a:latin typeface="Microsoft JhengHei"/>
                <a:cs typeface="Microsoft JhengHei"/>
              </a:rPr>
              <a:t>状态更新：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签到成功后变为「已入园，等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待 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作业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」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052282" y="1481442"/>
            <a:ext cx="3433876" cy="41167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317966" y="1913889"/>
            <a:ext cx="534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Microsoft JhengHei"/>
                <a:cs typeface="Microsoft JhengHei"/>
              </a:rPr>
              <a:t>排队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05618" y="1950097"/>
            <a:ext cx="9150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调度与优</a:t>
            </a:r>
            <a:r>
              <a:rPr sz="1400" dirty="0">
                <a:latin typeface="Arial Unicode MS"/>
                <a:cs typeface="Arial Unicode MS"/>
              </a:rPr>
              <a:t>化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17966" y="2490825"/>
            <a:ext cx="2515235" cy="52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资源最大化利用，提升用户体</a:t>
            </a:r>
            <a:r>
              <a:rPr sz="1400" dirty="0">
                <a:latin typeface="Arial Unicode MS"/>
                <a:cs typeface="Arial Unicode MS"/>
              </a:rPr>
              <a:t>验</a:t>
            </a:r>
            <a:endParaRPr sz="14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虚拟队列、智能规则、自动呼叫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21712" y="3317227"/>
            <a:ext cx="154940" cy="156210"/>
          </a:xfrm>
          <a:custGeom>
            <a:avLst/>
            <a:gdLst/>
            <a:ahLst/>
            <a:cxnLst/>
            <a:rect l="l" t="t" r="r" b="b"/>
            <a:pathLst>
              <a:path w="154940" h="156210">
                <a:moveTo>
                  <a:pt x="79946" y="78384"/>
                </a:moveTo>
                <a:lnTo>
                  <a:pt x="74841" y="78384"/>
                </a:lnTo>
                <a:lnTo>
                  <a:pt x="70230" y="76428"/>
                </a:lnTo>
                <a:lnTo>
                  <a:pt x="4127" y="45758"/>
                </a:lnTo>
                <a:lnTo>
                  <a:pt x="1701" y="44792"/>
                </a:lnTo>
                <a:lnTo>
                  <a:pt x="0" y="42113"/>
                </a:lnTo>
                <a:lnTo>
                  <a:pt x="0" y="36512"/>
                </a:lnTo>
                <a:lnTo>
                  <a:pt x="1701" y="33832"/>
                </a:lnTo>
                <a:lnTo>
                  <a:pt x="4127" y="32613"/>
                </a:lnTo>
                <a:lnTo>
                  <a:pt x="70230" y="1955"/>
                </a:lnTo>
                <a:lnTo>
                  <a:pt x="74841" y="0"/>
                </a:lnTo>
                <a:lnTo>
                  <a:pt x="79946" y="0"/>
                </a:lnTo>
                <a:lnTo>
                  <a:pt x="84569" y="1955"/>
                </a:lnTo>
                <a:lnTo>
                  <a:pt x="150660" y="32613"/>
                </a:lnTo>
                <a:lnTo>
                  <a:pt x="153098" y="33832"/>
                </a:lnTo>
                <a:lnTo>
                  <a:pt x="154800" y="36512"/>
                </a:lnTo>
                <a:lnTo>
                  <a:pt x="154800" y="42113"/>
                </a:lnTo>
                <a:lnTo>
                  <a:pt x="153098" y="44792"/>
                </a:lnTo>
                <a:lnTo>
                  <a:pt x="150660" y="45758"/>
                </a:lnTo>
                <a:lnTo>
                  <a:pt x="84569" y="76428"/>
                </a:lnTo>
                <a:lnTo>
                  <a:pt x="79946" y="78384"/>
                </a:lnTo>
                <a:close/>
              </a:path>
              <a:path w="154940" h="156210">
                <a:moveTo>
                  <a:pt x="79946" y="117081"/>
                </a:moveTo>
                <a:lnTo>
                  <a:pt x="74841" y="117081"/>
                </a:lnTo>
                <a:lnTo>
                  <a:pt x="70230" y="115125"/>
                </a:lnTo>
                <a:lnTo>
                  <a:pt x="4127" y="84467"/>
                </a:lnTo>
                <a:lnTo>
                  <a:pt x="1701" y="83248"/>
                </a:lnTo>
                <a:lnTo>
                  <a:pt x="0" y="80810"/>
                </a:lnTo>
                <a:lnTo>
                  <a:pt x="0" y="75209"/>
                </a:lnTo>
                <a:lnTo>
                  <a:pt x="1701" y="72542"/>
                </a:lnTo>
                <a:lnTo>
                  <a:pt x="4127" y="71323"/>
                </a:lnTo>
                <a:lnTo>
                  <a:pt x="20167" y="64020"/>
                </a:lnTo>
                <a:lnTo>
                  <a:pt x="73380" y="88353"/>
                </a:lnTo>
                <a:lnTo>
                  <a:pt x="142282" y="88353"/>
                </a:lnTo>
                <a:lnTo>
                  <a:pt x="84569" y="115125"/>
                </a:lnTo>
                <a:lnTo>
                  <a:pt x="79946" y="117081"/>
                </a:lnTo>
                <a:close/>
              </a:path>
              <a:path w="154940" h="156210">
                <a:moveTo>
                  <a:pt x="142282" y="88353"/>
                </a:moveTo>
                <a:lnTo>
                  <a:pt x="81406" y="88353"/>
                </a:lnTo>
                <a:lnTo>
                  <a:pt x="88455" y="85191"/>
                </a:lnTo>
                <a:lnTo>
                  <a:pt x="134378" y="64020"/>
                </a:lnTo>
                <a:lnTo>
                  <a:pt x="150660" y="71323"/>
                </a:lnTo>
                <a:lnTo>
                  <a:pt x="153098" y="72542"/>
                </a:lnTo>
                <a:lnTo>
                  <a:pt x="154800" y="75209"/>
                </a:lnTo>
                <a:lnTo>
                  <a:pt x="154800" y="80810"/>
                </a:lnTo>
                <a:lnTo>
                  <a:pt x="153098" y="83248"/>
                </a:lnTo>
                <a:lnTo>
                  <a:pt x="150660" y="84467"/>
                </a:lnTo>
                <a:lnTo>
                  <a:pt x="142282" y="88353"/>
                </a:lnTo>
                <a:close/>
              </a:path>
              <a:path w="154940" h="156210">
                <a:moveTo>
                  <a:pt x="79946" y="155778"/>
                </a:moveTo>
                <a:lnTo>
                  <a:pt x="74841" y="155778"/>
                </a:lnTo>
                <a:lnTo>
                  <a:pt x="70230" y="153593"/>
                </a:lnTo>
                <a:lnTo>
                  <a:pt x="4127" y="123164"/>
                </a:lnTo>
                <a:lnTo>
                  <a:pt x="1701" y="121945"/>
                </a:lnTo>
                <a:lnTo>
                  <a:pt x="0" y="119265"/>
                </a:lnTo>
                <a:lnTo>
                  <a:pt x="0" y="113664"/>
                </a:lnTo>
                <a:lnTo>
                  <a:pt x="1701" y="111239"/>
                </a:lnTo>
                <a:lnTo>
                  <a:pt x="4127" y="110020"/>
                </a:lnTo>
                <a:lnTo>
                  <a:pt x="20167" y="102476"/>
                </a:lnTo>
                <a:lnTo>
                  <a:pt x="66344" y="123647"/>
                </a:lnTo>
                <a:lnTo>
                  <a:pt x="73380" y="127063"/>
                </a:lnTo>
                <a:lnTo>
                  <a:pt x="142191" y="127063"/>
                </a:lnTo>
                <a:lnTo>
                  <a:pt x="84569" y="153593"/>
                </a:lnTo>
                <a:lnTo>
                  <a:pt x="79946" y="155778"/>
                </a:lnTo>
                <a:close/>
              </a:path>
              <a:path w="154940" h="156210">
                <a:moveTo>
                  <a:pt x="142191" y="127063"/>
                </a:moveTo>
                <a:lnTo>
                  <a:pt x="81406" y="127063"/>
                </a:lnTo>
                <a:lnTo>
                  <a:pt x="88455" y="123647"/>
                </a:lnTo>
                <a:lnTo>
                  <a:pt x="134378" y="102476"/>
                </a:lnTo>
                <a:lnTo>
                  <a:pt x="150660" y="110020"/>
                </a:lnTo>
                <a:lnTo>
                  <a:pt x="153098" y="111239"/>
                </a:lnTo>
                <a:lnTo>
                  <a:pt x="154800" y="113664"/>
                </a:lnTo>
                <a:lnTo>
                  <a:pt x="154800" y="119506"/>
                </a:lnTo>
                <a:lnTo>
                  <a:pt x="153098" y="121945"/>
                </a:lnTo>
                <a:lnTo>
                  <a:pt x="150660" y="123164"/>
                </a:lnTo>
                <a:lnTo>
                  <a:pt x="142191" y="12706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320976" y="3741610"/>
            <a:ext cx="155575" cy="156210"/>
          </a:xfrm>
          <a:custGeom>
            <a:avLst/>
            <a:gdLst/>
            <a:ahLst/>
            <a:cxnLst/>
            <a:rect l="l" t="t" r="r" b="b"/>
            <a:pathLst>
              <a:path w="155575" h="156210">
                <a:moveTo>
                  <a:pt x="39251" y="25996"/>
                </a:moveTo>
                <a:lnTo>
                  <a:pt x="19710" y="25996"/>
                </a:lnTo>
                <a:lnTo>
                  <a:pt x="36271" y="4051"/>
                </a:lnTo>
                <a:lnTo>
                  <a:pt x="38950" y="292"/>
                </a:lnTo>
                <a:lnTo>
                  <a:pt x="43573" y="0"/>
                </a:lnTo>
                <a:lnTo>
                  <a:pt x="46494" y="3467"/>
                </a:lnTo>
                <a:lnTo>
                  <a:pt x="49656" y="6642"/>
                </a:lnTo>
                <a:lnTo>
                  <a:pt x="49898" y="12128"/>
                </a:lnTo>
                <a:lnTo>
                  <a:pt x="47218" y="15595"/>
                </a:lnTo>
                <a:lnTo>
                  <a:pt x="39251" y="25996"/>
                </a:lnTo>
                <a:close/>
              </a:path>
              <a:path w="155575" h="156210">
                <a:moveTo>
                  <a:pt x="22148" y="47078"/>
                </a:moveTo>
                <a:lnTo>
                  <a:pt x="18262" y="47078"/>
                </a:lnTo>
                <a:lnTo>
                  <a:pt x="16306" y="46215"/>
                </a:lnTo>
                <a:lnTo>
                  <a:pt x="14846" y="44475"/>
                </a:lnTo>
                <a:lnTo>
                  <a:pt x="2679" y="30327"/>
                </a:lnTo>
                <a:lnTo>
                  <a:pt x="0" y="26860"/>
                </a:lnTo>
                <a:lnTo>
                  <a:pt x="0" y="21374"/>
                </a:lnTo>
                <a:lnTo>
                  <a:pt x="5600" y="14731"/>
                </a:lnTo>
                <a:lnTo>
                  <a:pt x="10223" y="14731"/>
                </a:lnTo>
                <a:lnTo>
                  <a:pt x="12903" y="18199"/>
                </a:lnTo>
                <a:lnTo>
                  <a:pt x="19710" y="25996"/>
                </a:lnTo>
                <a:lnTo>
                  <a:pt x="39251" y="25996"/>
                </a:lnTo>
                <a:lnTo>
                  <a:pt x="25311" y="44196"/>
                </a:lnTo>
                <a:lnTo>
                  <a:pt x="24091" y="45923"/>
                </a:lnTo>
                <a:lnTo>
                  <a:pt x="22148" y="47078"/>
                </a:lnTo>
                <a:close/>
              </a:path>
              <a:path w="155575" h="156210">
                <a:moveTo>
                  <a:pt x="39257" y="83464"/>
                </a:moveTo>
                <a:lnTo>
                  <a:pt x="19710" y="83464"/>
                </a:lnTo>
                <a:lnTo>
                  <a:pt x="36271" y="61518"/>
                </a:lnTo>
                <a:lnTo>
                  <a:pt x="38950" y="57759"/>
                </a:lnTo>
                <a:lnTo>
                  <a:pt x="43573" y="57480"/>
                </a:lnTo>
                <a:lnTo>
                  <a:pt x="49656" y="64122"/>
                </a:lnTo>
                <a:lnTo>
                  <a:pt x="49898" y="69316"/>
                </a:lnTo>
                <a:lnTo>
                  <a:pt x="47218" y="73075"/>
                </a:lnTo>
                <a:lnTo>
                  <a:pt x="39257" y="83464"/>
                </a:lnTo>
                <a:close/>
              </a:path>
              <a:path w="155575" h="156210">
                <a:moveTo>
                  <a:pt x="20205" y="104546"/>
                </a:moveTo>
                <a:lnTo>
                  <a:pt x="18262" y="104546"/>
                </a:lnTo>
                <a:lnTo>
                  <a:pt x="16306" y="103682"/>
                </a:lnTo>
                <a:lnTo>
                  <a:pt x="0" y="84327"/>
                </a:lnTo>
                <a:lnTo>
                  <a:pt x="0" y="78841"/>
                </a:lnTo>
                <a:lnTo>
                  <a:pt x="2679" y="75374"/>
                </a:lnTo>
                <a:lnTo>
                  <a:pt x="5600" y="72199"/>
                </a:lnTo>
                <a:lnTo>
                  <a:pt x="10223" y="72199"/>
                </a:lnTo>
                <a:lnTo>
                  <a:pt x="19710" y="83464"/>
                </a:lnTo>
                <a:lnTo>
                  <a:pt x="39257" y="83464"/>
                </a:lnTo>
                <a:lnTo>
                  <a:pt x="25311" y="101663"/>
                </a:lnTo>
                <a:lnTo>
                  <a:pt x="24091" y="103390"/>
                </a:lnTo>
                <a:lnTo>
                  <a:pt x="22148" y="104266"/>
                </a:lnTo>
                <a:lnTo>
                  <a:pt x="20205" y="104546"/>
                </a:lnTo>
                <a:close/>
              </a:path>
              <a:path w="155575" h="156210">
                <a:moveTo>
                  <a:pt x="151155" y="35521"/>
                </a:moveTo>
                <a:lnTo>
                  <a:pt x="72529" y="35521"/>
                </a:lnTo>
                <a:lnTo>
                  <a:pt x="68148" y="30619"/>
                </a:lnTo>
                <a:lnTo>
                  <a:pt x="68148" y="17906"/>
                </a:lnTo>
                <a:lnTo>
                  <a:pt x="72529" y="12712"/>
                </a:lnTo>
                <a:lnTo>
                  <a:pt x="151155" y="12712"/>
                </a:lnTo>
                <a:lnTo>
                  <a:pt x="155536" y="17906"/>
                </a:lnTo>
                <a:lnTo>
                  <a:pt x="155536" y="30619"/>
                </a:lnTo>
                <a:lnTo>
                  <a:pt x="151155" y="35521"/>
                </a:lnTo>
                <a:close/>
              </a:path>
              <a:path w="155575" h="156210">
                <a:moveTo>
                  <a:pt x="151155" y="93002"/>
                </a:moveTo>
                <a:lnTo>
                  <a:pt x="72529" y="93002"/>
                </a:lnTo>
                <a:lnTo>
                  <a:pt x="68148" y="87795"/>
                </a:lnTo>
                <a:lnTo>
                  <a:pt x="68148" y="75095"/>
                </a:lnTo>
                <a:lnTo>
                  <a:pt x="72529" y="69888"/>
                </a:lnTo>
                <a:lnTo>
                  <a:pt x="151155" y="69888"/>
                </a:lnTo>
                <a:lnTo>
                  <a:pt x="155536" y="75095"/>
                </a:lnTo>
                <a:lnTo>
                  <a:pt x="155536" y="87795"/>
                </a:lnTo>
                <a:lnTo>
                  <a:pt x="151155" y="93002"/>
                </a:lnTo>
                <a:close/>
              </a:path>
              <a:path w="155575" h="156210">
                <a:moveTo>
                  <a:pt x="151155" y="150177"/>
                </a:moveTo>
                <a:lnTo>
                  <a:pt x="53301" y="150177"/>
                </a:lnTo>
                <a:lnTo>
                  <a:pt x="48920" y="145275"/>
                </a:lnTo>
                <a:lnTo>
                  <a:pt x="48920" y="132562"/>
                </a:lnTo>
                <a:lnTo>
                  <a:pt x="53301" y="127368"/>
                </a:lnTo>
                <a:lnTo>
                  <a:pt x="151155" y="127368"/>
                </a:lnTo>
                <a:lnTo>
                  <a:pt x="155536" y="132562"/>
                </a:lnTo>
                <a:lnTo>
                  <a:pt x="155536" y="145275"/>
                </a:lnTo>
                <a:lnTo>
                  <a:pt x="151155" y="150177"/>
                </a:lnTo>
                <a:close/>
              </a:path>
              <a:path w="155575" h="156210">
                <a:moveTo>
                  <a:pt x="17043" y="155955"/>
                </a:moveTo>
                <a:lnTo>
                  <a:pt x="13144" y="155955"/>
                </a:lnTo>
                <a:lnTo>
                  <a:pt x="11442" y="155663"/>
                </a:lnTo>
                <a:lnTo>
                  <a:pt x="1701" y="145275"/>
                </a:lnTo>
                <a:lnTo>
                  <a:pt x="977" y="143255"/>
                </a:lnTo>
                <a:lnTo>
                  <a:pt x="736" y="140944"/>
                </a:lnTo>
                <a:lnTo>
                  <a:pt x="736" y="136601"/>
                </a:lnTo>
                <a:lnTo>
                  <a:pt x="13144" y="121589"/>
                </a:lnTo>
                <a:lnTo>
                  <a:pt x="17043" y="121589"/>
                </a:lnTo>
                <a:lnTo>
                  <a:pt x="18986" y="122161"/>
                </a:lnTo>
                <a:lnTo>
                  <a:pt x="22390" y="123901"/>
                </a:lnTo>
                <a:lnTo>
                  <a:pt x="24091" y="125056"/>
                </a:lnTo>
                <a:lnTo>
                  <a:pt x="25311" y="126784"/>
                </a:lnTo>
                <a:lnTo>
                  <a:pt x="26771" y="128231"/>
                </a:lnTo>
                <a:lnTo>
                  <a:pt x="27749" y="130251"/>
                </a:lnTo>
                <a:lnTo>
                  <a:pt x="29209" y="134302"/>
                </a:lnTo>
                <a:lnTo>
                  <a:pt x="29692" y="136601"/>
                </a:lnTo>
                <a:lnTo>
                  <a:pt x="29692" y="140944"/>
                </a:lnTo>
                <a:lnTo>
                  <a:pt x="29209" y="143255"/>
                </a:lnTo>
                <a:lnTo>
                  <a:pt x="28473" y="145275"/>
                </a:lnTo>
                <a:lnTo>
                  <a:pt x="27749" y="147586"/>
                </a:lnTo>
                <a:lnTo>
                  <a:pt x="26771" y="149313"/>
                </a:lnTo>
                <a:lnTo>
                  <a:pt x="24091" y="152488"/>
                </a:lnTo>
                <a:lnTo>
                  <a:pt x="22390" y="153936"/>
                </a:lnTo>
                <a:lnTo>
                  <a:pt x="18986" y="155663"/>
                </a:lnTo>
                <a:lnTo>
                  <a:pt x="17043" y="15595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552954" y="3306228"/>
            <a:ext cx="2683510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100" b="1" dirty="0">
                <a:solidFill>
                  <a:srgbClr val="404040"/>
                </a:solidFill>
                <a:latin typeface="Microsoft JhengHei"/>
                <a:cs typeface="Microsoft JhengHei"/>
              </a:rPr>
              <a:t>虚拟队列：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签到后自动加入全局队列，决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定 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月台优先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级</a:t>
            </a:r>
            <a:endParaRPr sz="11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1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排队规则：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基础为「签到时间先后顺序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」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21738" y="4046664"/>
            <a:ext cx="154940" cy="156210"/>
          </a:xfrm>
          <a:custGeom>
            <a:avLst/>
            <a:gdLst/>
            <a:ahLst/>
            <a:cxnLst/>
            <a:rect l="l" t="t" r="r" b="b"/>
            <a:pathLst>
              <a:path w="154940" h="156210">
                <a:moveTo>
                  <a:pt x="53518" y="155778"/>
                </a:moveTo>
                <a:lnTo>
                  <a:pt x="23584" y="155778"/>
                </a:lnTo>
                <a:lnTo>
                  <a:pt x="19202" y="151396"/>
                </a:lnTo>
                <a:lnTo>
                  <a:pt x="19163" y="145300"/>
                </a:lnTo>
                <a:lnTo>
                  <a:pt x="17113" y="107231"/>
                </a:lnTo>
                <a:lnTo>
                  <a:pt x="4901" y="101038"/>
                </a:lnTo>
                <a:lnTo>
                  <a:pt x="60" y="88336"/>
                </a:lnTo>
                <a:lnTo>
                  <a:pt x="0" y="82029"/>
                </a:lnTo>
                <a:lnTo>
                  <a:pt x="103" y="56871"/>
                </a:lnTo>
                <a:lnTo>
                  <a:pt x="6335" y="44655"/>
                </a:lnTo>
                <a:lnTo>
                  <a:pt x="19202" y="39674"/>
                </a:lnTo>
                <a:lnTo>
                  <a:pt x="57899" y="39674"/>
                </a:lnTo>
                <a:lnTo>
                  <a:pt x="69358" y="39177"/>
                </a:lnTo>
                <a:lnTo>
                  <a:pt x="105307" y="25372"/>
                </a:lnTo>
                <a:lnTo>
                  <a:pt x="128486" y="3644"/>
                </a:lnTo>
                <a:lnTo>
                  <a:pt x="131407" y="977"/>
                </a:lnTo>
                <a:lnTo>
                  <a:pt x="135547" y="0"/>
                </a:lnTo>
                <a:lnTo>
                  <a:pt x="138950" y="1701"/>
                </a:lnTo>
                <a:lnTo>
                  <a:pt x="142595" y="3162"/>
                </a:lnTo>
                <a:lnTo>
                  <a:pt x="145034" y="6565"/>
                </a:lnTo>
                <a:lnTo>
                  <a:pt x="145034" y="33832"/>
                </a:lnTo>
                <a:lnTo>
                  <a:pt x="125806" y="33832"/>
                </a:lnTo>
                <a:lnTo>
                  <a:pt x="120740" y="38165"/>
                </a:lnTo>
                <a:lnTo>
                  <a:pt x="86298" y="55665"/>
                </a:lnTo>
                <a:lnTo>
                  <a:pt x="60579" y="59143"/>
                </a:lnTo>
                <a:lnTo>
                  <a:pt x="57899" y="59143"/>
                </a:lnTo>
                <a:lnTo>
                  <a:pt x="57899" y="88112"/>
                </a:lnTo>
                <a:lnTo>
                  <a:pt x="104446" y="98555"/>
                </a:lnTo>
                <a:lnTo>
                  <a:pt x="118392" y="107340"/>
                </a:lnTo>
                <a:lnTo>
                  <a:pt x="57899" y="107340"/>
                </a:lnTo>
                <a:lnTo>
                  <a:pt x="57899" y="151396"/>
                </a:lnTo>
                <a:lnTo>
                  <a:pt x="53518" y="155778"/>
                </a:lnTo>
                <a:close/>
              </a:path>
              <a:path w="154940" h="156210">
                <a:moveTo>
                  <a:pt x="145034" y="113182"/>
                </a:moveTo>
                <a:lnTo>
                  <a:pt x="125806" y="113182"/>
                </a:lnTo>
                <a:lnTo>
                  <a:pt x="125806" y="33832"/>
                </a:lnTo>
                <a:lnTo>
                  <a:pt x="145034" y="33832"/>
                </a:lnTo>
                <a:lnTo>
                  <a:pt x="145034" y="55245"/>
                </a:lnTo>
                <a:lnTo>
                  <a:pt x="150634" y="57924"/>
                </a:lnTo>
                <a:lnTo>
                  <a:pt x="154775" y="65227"/>
                </a:lnTo>
                <a:lnTo>
                  <a:pt x="154775" y="82029"/>
                </a:lnTo>
                <a:lnTo>
                  <a:pt x="150634" y="89077"/>
                </a:lnTo>
                <a:lnTo>
                  <a:pt x="145034" y="91757"/>
                </a:lnTo>
                <a:lnTo>
                  <a:pt x="145034" y="113182"/>
                </a:lnTo>
                <a:close/>
              </a:path>
              <a:path w="154940" h="156210">
                <a:moveTo>
                  <a:pt x="135547" y="146761"/>
                </a:moveTo>
                <a:lnTo>
                  <a:pt x="131407" y="146037"/>
                </a:lnTo>
                <a:lnTo>
                  <a:pt x="128486" y="143116"/>
                </a:lnTo>
                <a:lnTo>
                  <a:pt x="108790" y="124202"/>
                </a:lnTo>
                <a:lnTo>
                  <a:pt x="97945" y="117017"/>
                </a:lnTo>
                <a:lnTo>
                  <a:pt x="86123" y="111726"/>
                </a:lnTo>
                <a:lnTo>
                  <a:pt x="73581" y="108458"/>
                </a:lnTo>
                <a:lnTo>
                  <a:pt x="60579" y="107340"/>
                </a:lnTo>
                <a:lnTo>
                  <a:pt x="118392" y="107340"/>
                </a:lnTo>
                <a:lnTo>
                  <a:pt x="125806" y="113182"/>
                </a:lnTo>
                <a:lnTo>
                  <a:pt x="145034" y="113182"/>
                </a:lnTo>
                <a:lnTo>
                  <a:pt x="145034" y="140195"/>
                </a:lnTo>
                <a:lnTo>
                  <a:pt x="142595" y="143840"/>
                </a:lnTo>
                <a:lnTo>
                  <a:pt x="138950" y="145300"/>
                </a:lnTo>
                <a:lnTo>
                  <a:pt x="135547" y="14676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552954" y="4048099"/>
            <a:ext cx="254381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呼叫引导：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月台空闲时自动呼叫首位车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辆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27110" y="4338218"/>
            <a:ext cx="144145" cy="180340"/>
          </a:xfrm>
          <a:custGeom>
            <a:avLst/>
            <a:gdLst/>
            <a:ahLst/>
            <a:cxnLst/>
            <a:rect l="l" t="t" r="r" b="b"/>
            <a:pathLst>
              <a:path w="144145" h="180339">
                <a:moveTo>
                  <a:pt x="138861" y="22326"/>
                </a:moveTo>
                <a:lnTo>
                  <a:pt x="5435" y="22326"/>
                </a:lnTo>
                <a:lnTo>
                  <a:pt x="0" y="17246"/>
                </a:lnTo>
                <a:lnTo>
                  <a:pt x="0" y="4813"/>
                </a:lnTo>
                <a:lnTo>
                  <a:pt x="5435" y="0"/>
                </a:lnTo>
                <a:lnTo>
                  <a:pt x="138861" y="0"/>
                </a:lnTo>
                <a:lnTo>
                  <a:pt x="143992" y="4813"/>
                </a:lnTo>
                <a:lnTo>
                  <a:pt x="143992" y="17246"/>
                </a:lnTo>
                <a:lnTo>
                  <a:pt x="138861" y="22326"/>
                </a:lnTo>
                <a:close/>
              </a:path>
              <a:path w="144145" h="180339">
                <a:moveTo>
                  <a:pt x="132219" y="157403"/>
                </a:moveTo>
                <a:lnTo>
                  <a:pt x="12077" y="157403"/>
                </a:lnTo>
                <a:lnTo>
                  <a:pt x="12393" y="147854"/>
                </a:lnTo>
                <a:lnTo>
                  <a:pt x="15314" y="135275"/>
                </a:lnTo>
                <a:lnTo>
                  <a:pt x="21116" y="123746"/>
                </a:lnTo>
                <a:lnTo>
                  <a:pt x="29578" y="113601"/>
                </a:lnTo>
                <a:lnTo>
                  <a:pt x="54940" y="89865"/>
                </a:lnTo>
                <a:lnTo>
                  <a:pt x="25638" y="62038"/>
                </a:lnTo>
                <a:lnTo>
                  <a:pt x="18254" y="51176"/>
                </a:lnTo>
                <a:lnTo>
                  <a:pt x="13659" y="39049"/>
                </a:lnTo>
                <a:lnTo>
                  <a:pt x="12077" y="26288"/>
                </a:lnTo>
                <a:lnTo>
                  <a:pt x="12077" y="22326"/>
                </a:lnTo>
                <a:lnTo>
                  <a:pt x="35915" y="22326"/>
                </a:lnTo>
                <a:lnTo>
                  <a:pt x="35915" y="32778"/>
                </a:lnTo>
                <a:lnTo>
                  <a:pt x="38036" y="39281"/>
                </a:lnTo>
                <a:lnTo>
                  <a:pt x="41960" y="44653"/>
                </a:lnTo>
                <a:lnTo>
                  <a:pt x="128874" y="44653"/>
                </a:lnTo>
                <a:lnTo>
                  <a:pt x="123222" y="55998"/>
                </a:lnTo>
                <a:lnTo>
                  <a:pt x="114719" y="66128"/>
                </a:lnTo>
                <a:lnTo>
                  <a:pt x="89052" y="89865"/>
                </a:lnTo>
                <a:lnTo>
                  <a:pt x="105704" y="105689"/>
                </a:lnTo>
                <a:lnTo>
                  <a:pt x="71843" y="105689"/>
                </a:lnTo>
                <a:lnTo>
                  <a:pt x="44678" y="131114"/>
                </a:lnTo>
                <a:lnTo>
                  <a:pt x="43167" y="132816"/>
                </a:lnTo>
                <a:lnTo>
                  <a:pt x="41960" y="134797"/>
                </a:lnTo>
                <a:lnTo>
                  <a:pt x="128366" y="134797"/>
                </a:lnTo>
                <a:lnTo>
                  <a:pt x="130657" y="140817"/>
                </a:lnTo>
                <a:lnTo>
                  <a:pt x="132219" y="153720"/>
                </a:lnTo>
                <a:lnTo>
                  <a:pt x="132219" y="157403"/>
                </a:lnTo>
                <a:close/>
              </a:path>
              <a:path w="144145" h="180339">
                <a:moveTo>
                  <a:pt x="128874" y="44653"/>
                </a:moveTo>
                <a:lnTo>
                  <a:pt x="102031" y="44653"/>
                </a:lnTo>
                <a:lnTo>
                  <a:pt x="105956" y="39281"/>
                </a:lnTo>
                <a:lnTo>
                  <a:pt x="108076" y="32778"/>
                </a:lnTo>
                <a:lnTo>
                  <a:pt x="108076" y="22326"/>
                </a:lnTo>
                <a:lnTo>
                  <a:pt x="132219" y="22326"/>
                </a:lnTo>
                <a:lnTo>
                  <a:pt x="131928" y="31765"/>
                </a:lnTo>
                <a:lnTo>
                  <a:pt x="129034" y="44333"/>
                </a:lnTo>
                <a:lnTo>
                  <a:pt x="128874" y="44653"/>
                </a:lnTo>
                <a:close/>
              </a:path>
              <a:path w="144145" h="180339">
                <a:moveTo>
                  <a:pt x="128366" y="134797"/>
                </a:moveTo>
                <a:lnTo>
                  <a:pt x="102031" y="134797"/>
                </a:lnTo>
                <a:lnTo>
                  <a:pt x="100825" y="132816"/>
                </a:lnTo>
                <a:lnTo>
                  <a:pt x="99314" y="131114"/>
                </a:lnTo>
                <a:lnTo>
                  <a:pt x="97510" y="129425"/>
                </a:lnTo>
                <a:lnTo>
                  <a:pt x="71843" y="105689"/>
                </a:lnTo>
                <a:lnTo>
                  <a:pt x="105704" y="105689"/>
                </a:lnTo>
                <a:lnTo>
                  <a:pt x="118684" y="118023"/>
                </a:lnTo>
                <a:lnTo>
                  <a:pt x="126086" y="128807"/>
                </a:lnTo>
                <a:lnTo>
                  <a:pt x="128366" y="134797"/>
                </a:lnTo>
                <a:close/>
              </a:path>
              <a:path w="144145" h="180339">
                <a:moveTo>
                  <a:pt x="138861" y="180009"/>
                </a:moveTo>
                <a:lnTo>
                  <a:pt x="5435" y="180009"/>
                </a:lnTo>
                <a:lnTo>
                  <a:pt x="0" y="174917"/>
                </a:lnTo>
                <a:lnTo>
                  <a:pt x="0" y="162483"/>
                </a:lnTo>
                <a:lnTo>
                  <a:pt x="5435" y="157403"/>
                </a:lnTo>
                <a:lnTo>
                  <a:pt x="138861" y="157403"/>
                </a:lnTo>
                <a:lnTo>
                  <a:pt x="143992" y="162483"/>
                </a:lnTo>
                <a:lnTo>
                  <a:pt x="143992" y="174917"/>
                </a:lnTo>
                <a:lnTo>
                  <a:pt x="138861" y="18000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531352" y="4349762"/>
            <a:ext cx="282321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404040"/>
                </a:solidFill>
                <a:latin typeface="Microsoft JhengHei"/>
                <a:cs typeface="Microsoft JhengHei"/>
              </a:rPr>
              <a:t>超时处理：</a:t>
            </a:r>
            <a:r>
              <a:rPr sz="1100" spc="-5" dirty="0">
                <a:solidFill>
                  <a:srgbClr val="404040"/>
                </a:solidFill>
                <a:latin typeface="Arial Unicode MS"/>
                <a:cs typeface="Arial Unicode MS"/>
              </a:rPr>
              <a:t>未按时到达「顺延过号」重新排</a:t>
            </a:r>
            <a:r>
              <a:rPr sz="1100" dirty="0">
                <a:solidFill>
                  <a:srgbClr val="404040"/>
                </a:solidFill>
                <a:latin typeface="Arial Unicode MS"/>
                <a:cs typeface="Arial Unicode MS"/>
              </a:rPr>
              <a:t>队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243072" y="5114544"/>
            <a:ext cx="798576" cy="4693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17435" y="5111496"/>
            <a:ext cx="797052" cy="4709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591800" y="5111496"/>
            <a:ext cx="797051" cy="4709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Y</a:t>
            </a:r>
            <a:r>
              <a:rPr spc="280" dirty="0"/>
              <a:t>M</a:t>
            </a:r>
            <a:r>
              <a:rPr spc="-40" dirty="0"/>
              <a:t>S</a:t>
            </a:r>
            <a:r>
              <a:rPr spc="-25" dirty="0"/>
              <a:t>系统基础应用功</a:t>
            </a:r>
            <a:r>
              <a:rPr spc="-30" dirty="0"/>
              <a:t>能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9219" y="3480815"/>
            <a:ext cx="2590800" cy="490855"/>
          </a:xfrm>
          <a:prstGeom prst="rect">
            <a:avLst/>
          </a:prstGeom>
          <a:solidFill>
            <a:srgbClr val="E42E2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基础功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能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00600" y="3470147"/>
            <a:ext cx="2590800" cy="490855"/>
          </a:xfrm>
          <a:prstGeom prst="rect">
            <a:avLst/>
          </a:prstGeom>
          <a:solidFill>
            <a:srgbClr val="E42E2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策略配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置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21980" y="3470147"/>
            <a:ext cx="2590800" cy="490855"/>
          </a:xfrm>
          <a:prstGeom prst="rect">
            <a:avLst/>
          </a:prstGeom>
          <a:solidFill>
            <a:srgbClr val="E42E2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二次开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发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7426" y="4323791"/>
            <a:ext cx="233743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记录载货车辆出园信息的线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上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凭证，有效管理司机携带货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品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及业务数据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8743" y="4323791"/>
            <a:ext cx="233743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是发运业务中，装车出园核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查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的重要业务节点，同步多个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系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统，告知司机已经装车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00059" y="4323791"/>
            <a:ext cx="251523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连接道闸，管理司机出园行为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不满足必要条件者，司机无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法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通过道闸出园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7426" y="1837714"/>
            <a:ext cx="3463290" cy="893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D71E06"/>
                </a:solidFill>
                <a:latin typeface="Microsoft JhengHei"/>
                <a:cs typeface="Microsoft JhengHei"/>
              </a:rPr>
              <a:t>园区物流协同管理：基础应用功</a:t>
            </a:r>
            <a:r>
              <a:rPr sz="1800" b="1" dirty="0">
                <a:solidFill>
                  <a:srgbClr val="D71E06"/>
                </a:solidFill>
                <a:latin typeface="Microsoft JhengHei"/>
                <a:cs typeface="Microsoft JhengHei"/>
              </a:rPr>
              <a:t>能</a:t>
            </a:r>
            <a:endParaRPr sz="1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600" spc="-15" dirty="0">
                <a:latin typeface="Arial Unicode MS"/>
                <a:cs typeface="Arial Unicode MS"/>
              </a:rPr>
              <a:t>保证系统基础运行的底层系统架构</a:t>
            </a:r>
            <a:r>
              <a:rPr sz="1600" spc="-20" dirty="0">
                <a:latin typeface="Arial Unicode MS"/>
                <a:cs typeface="Arial Unicode MS"/>
              </a:rPr>
              <a:t>。</a:t>
            </a:r>
            <a:endParaRPr sz="16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组织用户体</a:t>
            </a:r>
            <a:r>
              <a:rPr spc="-30" dirty="0"/>
              <a:t>系</a:t>
            </a:r>
          </a:p>
        </p:txBody>
      </p:sp>
      <p:sp>
        <p:nvSpPr>
          <p:cNvPr id="3" name="object 3"/>
          <p:cNvSpPr/>
          <p:nvPr/>
        </p:nvSpPr>
        <p:spPr>
          <a:xfrm>
            <a:off x="3775138" y="1582750"/>
            <a:ext cx="8043913" cy="38011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3560" y="2293848"/>
            <a:ext cx="548132" cy="5481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662" y="2421431"/>
            <a:ext cx="2938145" cy="2092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53467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多层级组织管</a:t>
            </a:r>
            <a:r>
              <a:rPr sz="1600" b="1" spc="-20" dirty="0">
                <a:latin typeface="Microsoft JhengHei"/>
                <a:cs typeface="Microsoft JhengHei"/>
              </a:rPr>
              <a:t>理</a:t>
            </a:r>
            <a:endParaRPr sz="16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400" b="1" dirty="0">
                <a:latin typeface="Microsoft JhengHei"/>
                <a:cs typeface="Microsoft JhengHei"/>
              </a:rPr>
              <a:t>支持</a:t>
            </a:r>
            <a:r>
              <a:rPr sz="1400" b="1" spc="40" dirty="0">
                <a:latin typeface="Microsoft JhengHei"/>
                <a:cs typeface="Microsoft JhengHei"/>
              </a:rPr>
              <a:t>50</a:t>
            </a:r>
            <a:r>
              <a:rPr sz="1400" b="1" spc="-180" dirty="0">
                <a:latin typeface="Microsoft JhengHei"/>
                <a:cs typeface="Microsoft JhengHei"/>
              </a:rPr>
              <a:t>+子公司独立运营</a:t>
            </a:r>
            <a:endParaRPr sz="1400">
              <a:latin typeface="Microsoft JhengHei"/>
              <a:cs typeface="Microsoft JhengHei"/>
            </a:endParaRPr>
          </a:p>
          <a:p>
            <a:pPr marL="12700" algn="just">
              <a:lnSpc>
                <a:spcPct val="100000"/>
              </a:lnSpc>
              <a:spcBef>
                <a:spcPts val="820"/>
              </a:spcBef>
            </a:pPr>
            <a:r>
              <a:rPr sz="1400" b="1" dirty="0">
                <a:latin typeface="Microsoft JhengHei"/>
                <a:cs typeface="Microsoft JhengHei"/>
              </a:rPr>
              <a:t>集团</a:t>
            </a:r>
            <a:r>
              <a:rPr sz="1400" b="1" spc="110" dirty="0">
                <a:latin typeface="Microsoft JhengHei"/>
                <a:cs typeface="Microsoft JhengHei"/>
              </a:rPr>
              <a:t> </a:t>
            </a:r>
            <a:r>
              <a:rPr sz="1400" b="1" spc="-70" dirty="0">
                <a:latin typeface="Microsoft JhengHei"/>
                <a:cs typeface="Microsoft JhengHei"/>
              </a:rPr>
              <a:t>|</a:t>
            </a:r>
            <a:r>
              <a:rPr sz="1400" b="1" spc="114" dirty="0">
                <a:latin typeface="Microsoft JhengHei"/>
                <a:cs typeface="Microsoft JhengHei"/>
              </a:rPr>
              <a:t> </a:t>
            </a:r>
            <a:r>
              <a:rPr sz="1400" b="1" dirty="0">
                <a:latin typeface="Microsoft JhengHei"/>
                <a:cs typeface="Microsoft JhengHei"/>
              </a:rPr>
              <a:t>园区</a:t>
            </a:r>
            <a:r>
              <a:rPr sz="1400" b="1" spc="110" dirty="0">
                <a:latin typeface="Microsoft JhengHei"/>
                <a:cs typeface="Microsoft JhengHei"/>
              </a:rPr>
              <a:t> </a:t>
            </a:r>
            <a:r>
              <a:rPr sz="1400" b="1" spc="-70" dirty="0">
                <a:latin typeface="Microsoft JhengHei"/>
                <a:cs typeface="Microsoft JhengHei"/>
              </a:rPr>
              <a:t>|</a:t>
            </a:r>
            <a:r>
              <a:rPr sz="1400" b="1" spc="114" dirty="0">
                <a:latin typeface="Microsoft JhengHei"/>
                <a:cs typeface="Microsoft JhengHei"/>
              </a:rPr>
              <a:t> </a:t>
            </a:r>
            <a:r>
              <a:rPr sz="1400" b="1" dirty="0">
                <a:latin typeface="Microsoft JhengHei"/>
                <a:cs typeface="Microsoft JhengHei"/>
              </a:rPr>
              <a:t>部门三级数据隔离</a:t>
            </a:r>
            <a:endParaRPr sz="1400"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25000"/>
              </a:lnSpc>
              <a:spcBef>
                <a:spcPts val="630"/>
              </a:spcBef>
            </a:pPr>
            <a:r>
              <a:rPr sz="1200" spc="5" dirty="0">
                <a:solidFill>
                  <a:srgbClr val="404040"/>
                </a:solidFill>
                <a:latin typeface="Arial Unicode MS"/>
                <a:cs typeface="Arial Unicode MS"/>
              </a:rPr>
              <a:t>一套组织管理体系，</a:t>
            </a:r>
            <a:r>
              <a:rPr sz="1200" spc="10" dirty="0">
                <a:solidFill>
                  <a:srgbClr val="404040"/>
                </a:solidFill>
                <a:latin typeface="Arial Unicode MS"/>
                <a:cs typeface="Arial Unicode MS"/>
              </a:rPr>
              <a:t>可以容纳多层级的组</a:t>
            </a: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织 </a:t>
            </a:r>
            <a:r>
              <a:rPr sz="1200" spc="30" dirty="0">
                <a:solidFill>
                  <a:srgbClr val="404040"/>
                </a:solidFill>
                <a:latin typeface="Arial Unicode MS"/>
                <a:cs typeface="Arial Unicode MS"/>
              </a:rPr>
              <a:t>关系，可实现园区</a:t>
            </a:r>
            <a:r>
              <a:rPr sz="1200" spc="70" dirty="0">
                <a:solidFill>
                  <a:srgbClr val="404040"/>
                </a:solidFill>
                <a:latin typeface="Arial Unicode MS"/>
                <a:cs typeface="Arial Unicode MS"/>
              </a:rPr>
              <a:t>+</a:t>
            </a:r>
            <a:r>
              <a:rPr sz="1200" spc="35" dirty="0">
                <a:solidFill>
                  <a:srgbClr val="404040"/>
                </a:solidFill>
                <a:latin typeface="Arial Unicode MS"/>
                <a:cs typeface="Arial Unicode MS"/>
              </a:rPr>
              <a:t>组织的数据隔离，做</a:t>
            </a: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到 </a:t>
            </a:r>
            <a:r>
              <a:rPr sz="1200" spc="5" dirty="0">
                <a:solidFill>
                  <a:srgbClr val="404040"/>
                </a:solidFill>
                <a:latin typeface="Arial Unicode MS"/>
                <a:cs typeface="Arial Unicode MS"/>
              </a:rPr>
              <a:t>不同的组织和园区，</a:t>
            </a:r>
            <a:r>
              <a:rPr sz="1200" spc="10" dirty="0">
                <a:solidFill>
                  <a:srgbClr val="404040"/>
                </a:solidFill>
                <a:latin typeface="Arial Unicode MS"/>
                <a:cs typeface="Arial Unicode MS"/>
              </a:rPr>
              <a:t>只见本身数据和流程</a:t>
            </a: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， 实现</a:t>
            </a:r>
            <a:r>
              <a:rPr sz="1200" spc="795" dirty="0">
                <a:solidFill>
                  <a:srgbClr val="404040"/>
                </a:solidFill>
                <a:latin typeface="Arial Unicode MS"/>
                <a:cs typeface="Arial Unicode MS"/>
              </a:rPr>
              <a:t>“</a:t>
            </a: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和而不同</a:t>
            </a:r>
            <a:r>
              <a:rPr sz="1200" spc="795" dirty="0">
                <a:solidFill>
                  <a:srgbClr val="404040"/>
                </a:solidFill>
                <a:latin typeface="Arial Unicode MS"/>
                <a:cs typeface="Arial Unicode MS"/>
              </a:rPr>
              <a:t>”</a:t>
            </a: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的管理效果。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75138" y="1582750"/>
            <a:ext cx="8043913" cy="38011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灵活策略配</a:t>
            </a:r>
            <a:r>
              <a:rPr spc="-30" dirty="0"/>
              <a:t>置</a:t>
            </a:r>
          </a:p>
        </p:txBody>
      </p:sp>
      <p:sp>
        <p:nvSpPr>
          <p:cNvPr id="4" name="object 4"/>
          <p:cNvSpPr/>
          <p:nvPr/>
        </p:nvSpPr>
        <p:spPr>
          <a:xfrm>
            <a:off x="493560" y="2293848"/>
            <a:ext cx="548132" cy="5481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662" y="2421431"/>
            <a:ext cx="2996565" cy="2098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53467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灵活策略配</a:t>
            </a:r>
            <a:r>
              <a:rPr sz="1600" b="1" spc="-20" dirty="0">
                <a:latin typeface="Microsoft JhengHei"/>
                <a:cs typeface="Microsoft JhengHei"/>
              </a:rPr>
              <a:t>置</a:t>
            </a:r>
            <a:endParaRPr sz="16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 marR="5080">
              <a:lnSpc>
                <a:spcPct val="125000"/>
              </a:lnSpc>
            </a:pPr>
            <a:r>
              <a:rPr sz="1300" spc="40" dirty="0">
                <a:solidFill>
                  <a:srgbClr val="404040"/>
                </a:solidFill>
                <a:latin typeface="Arial Unicode MS"/>
                <a:cs typeface="Arial Unicode MS"/>
              </a:rPr>
              <a:t>一套园区管理体系，</a:t>
            </a:r>
            <a:r>
              <a:rPr sz="1300" spc="45" dirty="0">
                <a:solidFill>
                  <a:srgbClr val="404040"/>
                </a:solidFill>
                <a:latin typeface="Arial Unicode MS"/>
                <a:cs typeface="Arial Unicode MS"/>
              </a:rPr>
              <a:t>可根据不同场景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的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策略配置，实现不同园区的管理模式下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，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适用不同的作业模式，做到和而不同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  <a:p>
            <a:pPr marL="12700" marR="64769" algn="just">
              <a:lnSpc>
                <a:spcPct val="125000"/>
              </a:lnSpc>
              <a:spcBef>
                <a:spcPts val="600"/>
              </a:spcBef>
            </a:pPr>
            <a:r>
              <a:rPr sz="1300" spc="40" dirty="0">
                <a:solidFill>
                  <a:srgbClr val="404040"/>
                </a:solidFill>
                <a:latin typeface="Arial Unicode MS"/>
                <a:cs typeface="Arial Unicode MS"/>
              </a:rPr>
              <a:t>让不同的园区和组织</a:t>
            </a:r>
            <a:r>
              <a:rPr sz="1300" spc="45" dirty="0">
                <a:solidFill>
                  <a:srgbClr val="404040"/>
                </a:solidFill>
                <a:latin typeface="Arial Unicode MS"/>
                <a:cs typeface="Arial Unicode MS"/>
              </a:rPr>
              <a:t>，根据业务实际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需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40" dirty="0">
                <a:solidFill>
                  <a:srgbClr val="404040"/>
                </a:solidFill>
                <a:latin typeface="Arial Unicode MS"/>
                <a:cs typeface="Arial Unicode MS"/>
              </a:rPr>
              <a:t>要，实现不同的业务</a:t>
            </a:r>
            <a:r>
              <a:rPr sz="1300" spc="45" dirty="0">
                <a:solidFill>
                  <a:srgbClr val="404040"/>
                </a:solidFill>
                <a:latin typeface="Arial Unicode MS"/>
                <a:cs typeface="Arial Unicode MS"/>
              </a:rPr>
              <a:t>管理方式，但又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不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脱离集团总部的管理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00828" y="2468879"/>
            <a:ext cx="6621780" cy="1870075"/>
          </a:xfrm>
          <a:custGeom>
            <a:avLst/>
            <a:gdLst/>
            <a:ahLst/>
            <a:cxnLst/>
            <a:rect l="l" t="t" r="r" b="b"/>
            <a:pathLst>
              <a:path w="6621780" h="1870075">
                <a:moveTo>
                  <a:pt x="0" y="0"/>
                </a:moveTo>
                <a:lnTo>
                  <a:pt x="6621780" y="0"/>
                </a:lnTo>
                <a:lnTo>
                  <a:pt x="6621780" y="1869948"/>
                </a:lnTo>
                <a:lnTo>
                  <a:pt x="0" y="18699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06059" y="2645663"/>
            <a:ext cx="76200" cy="1516380"/>
          </a:xfrm>
          <a:custGeom>
            <a:avLst/>
            <a:gdLst/>
            <a:ahLst/>
            <a:cxnLst/>
            <a:rect l="l" t="t" r="r" b="b"/>
            <a:pathLst>
              <a:path w="76200" h="1516379">
                <a:moveTo>
                  <a:pt x="31750" y="73652"/>
                </a:moveTo>
                <a:lnTo>
                  <a:pt x="1337" y="47830"/>
                </a:lnTo>
                <a:lnTo>
                  <a:pt x="0" y="37935"/>
                </a:lnTo>
                <a:lnTo>
                  <a:pt x="2671" y="23890"/>
                </a:lnTo>
                <a:lnTo>
                  <a:pt x="10001" y="12202"/>
                </a:lnTo>
                <a:lnTo>
                  <a:pt x="20963" y="3896"/>
                </a:lnTo>
                <a:lnTo>
                  <a:pt x="34531" y="0"/>
                </a:lnTo>
                <a:lnTo>
                  <a:pt x="49857" y="2342"/>
                </a:lnTo>
                <a:lnTo>
                  <a:pt x="62253" y="8994"/>
                </a:lnTo>
                <a:lnTo>
                  <a:pt x="71074" y="19056"/>
                </a:lnTo>
                <a:lnTo>
                  <a:pt x="75677" y="31631"/>
                </a:lnTo>
                <a:lnTo>
                  <a:pt x="74906" y="37935"/>
                </a:lnTo>
                <a:lnTo>
                  <a:pt x="31750" y="37935"/>
                </a:lnTo>
                <a:lnTo>
                  <a:pt x="31750" y="73652"/>
                </a:lnTo>
                <a:close/>
              </a:path>
              <a:path w="76200" h="1516379">
                <a:moveTo>
                  <a:pt x="44450" y="74896"/>
                </a:moveTo>
                <a:lnTo>
                  <a:pt x="31750" y="73652"/>
                </a:lnTo>
                <a:lnTo>
                  <a:pt x="31750" y="37935"/>
                </a:lnTo>
                <a:lnTo>
                  <a:pt x="44450" y="37935"/>
                </a:lnTo>
                <a:lnTo>
                  <a:pt x="44450" y="74896"/>
                </a:lnTo>
                <a:close/>
              </a:path>
              <a:path w="76200" h="1516379">
                <a:moveTo>
                  <a:pt x="46477" y="75094"/>
                </a:moveTo>
                <a:lnTo>
                  <a:pt x="44450" y="74896"/>
                </a:lnTo>
                <a:lnTo>
                  <a:pt x="44450" y="37935"/>
                </a:lnTo>
                <a:lnTo>
                  <a:pt x="74906" y="37935"/>
                </a:lnTo>
                <a:lnTo>
                  <a:pt x="73686" y="47851"/>
                </a:lnTo>
                <a:lnTo>
                  <a:pt x="67623" y="60745"/>
                </a:lnTo>
                <a:lnTo>
                  <a:pt x="58277" y="69970"/>
                </a:lnTo>
                <a:lnTo>
                  <a:pt x="46477" y="75094"/>
                </a:lnTo>
                <a:close/>
              </a:path>
              <a:path w="76200" h="1516379">
                <a:moveTo>
                  <a:pt x="44450" y="1442219"/>
                </a:moveTo>
                <a:lnTo>
                  <a:pt x="31750" y="1440976"/>
                </a:lnTo>
                <a:lnTo>
                  <a:pt x="31750" y="73652"/>
                </a:lnTo>
                <a:lnTo>
                  <a:pt x="44450" y="74896"/>
                </a:lnTo>
                <a:lnTo>
                  <a:pt x="44450" y="1442219"/>
                </a:lnTo>
                <a:close/>
              </a:path>
              <a:path w="76200" h="1516379">
                <a:moveTo>
                  <a:pt x="41668" y="1515872"/>
                </a:moveTo>
                <a:lnTo>
                  <a:pt x="26342" y="1513529"/>
                </a:lnTo>
                <a:lnTo>
                  <a:pt x="13946" y="1506877"/>
                </a:lnTo>
                <a:lnTo>
                  <a:pt x="5125" y="1496815"/>
                </a:lnTo>
                <a:lnTo>
                  <a:pt x="522" y="1484240"/>
                </a:lnTo>
                <a:lnTo>
                  <a:pt x="2513" y="1468020"/>
                </a:lnTo>
                <a:lnTo>
                  <a:pt x="8576" y="1455126"/>
                </a:lnTo>
                <a:lnTo>
                  <a:pt x="17922" y="1445902"/>
                </a:lnTo>
                <a:lnTo>
                  <a:pt x="29722" y="1440777"/>
                </a:lnTo>
                <a:lnTo>
                  <a:pt x="31750" y="1440976"/>
                </a:lnTo>
                <a:lnTo>
                  <a:pt x="31750" y="1477937"/>
                </a:lnTo>
                <a:lnTo>
                  <a:pt x="76200" y="1477937"/>
                </a:lnTo>
                <a:lnTo>
                  <a:pt x="73528" y="1491981"/>
                </a:lnTo>
                <a:lnTo>
                  <a:pt x="66198" y="1503670"/>
                </a:lnTo>
                <a:lnTo>
                  <a:pt x="55236" y="1511976"/>
                </a:lnTo>
                <a:lnTo>
                  <a:pt x="41668" y="1515872"/>
                </a:lnTo>
                <a:close/>
              </a:path>
              <a:path w="76200" h="1516379">
                <a:moveTo>
                  <a:pt x="44450" y="1477937"/>
                </a:moveTo>
                <a:lnTo>
                  <a:pt x="31750" y="1477937"/>
                </a:lnTo>
                <a:lnTo>
                  <a:pt x="31750" y="1440976"/>
                </a:lnTo>
                <a:lnTo>
                  <a:pt x="44450" y="1442219"/>
                </a:lnTo>
                <a:lnTo>
                  <a:pt x="44450" y="1477937"/>
                </a:lnTo>
                <a:close/>
              </a:path>
              <a:path w="76200" h="1516379">
                <a:moveTo>
                  <a:pt x="76200" y="1477937"/>
                </a:moveTo>
                <a:lnTo>
                  <a:pt x="44450" y="1477937"/>
                </a:lnTo>
                <a:lnTo>
                  <a:pt x="44450" y="1442219"/>
                </a:lnTo>
                <a:lnTo>
                  <a:pt x="74862" y="1468041"/>
                </a:lnTo>
                <a:lnTo>
                  <a:pt x="76200" y="1477937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64352" y="2768460"/>
            <a:ext cx="6075680" cy="1316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92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排队策略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：管控排队方式，如何排队、超时过号等处理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 </a:t>
            </a: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业务类型策略：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管控不同业务所需要填充数据的模板，可快速填充固定数据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 </a:t>
            </a: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签到策略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：管理司机的签到行为、签到范围、提前或超时签到的处理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 </a:t>
            </a: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流程策略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：不同园区，配置不同的园区管理流程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二次开发平</a:t>
            </a:r>
            <a:r>
              <a:rPr spc="-30" dirty="0"/>
              <a:t>台</a:t>
            </a:r>
          </a:p>
        </p:txBody>
      </p:sp>
      <p:sp>
        <p:nvSpPr>
          <p:cNvPr id="3" name="object 3"/>
          <p:cNvSpPr/>
          <p:nvPr/>
        </p:nvSpPr>
        <p:spPr>
          <a:xfrm>
            <a:off x="680719" y="1313180"/>
            <a:ext cx="6590753" cy="30163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37036" y="2377795"/>
            <a:ext cx="7142289" cy="34941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1715" y="4541570"/>
            <a:ext cx="548132" cy="548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0681" y="4669153"/>
            <a:ext cx="3106420" cy="9759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52959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个性化二次开</a:t>
            </a:r>
            <a:r>
              <a:rPr sz="1600" b="1" spc="-20" dirty="0">
                <a:latin typeface="Microsoft JhengHei"/>
                <a:cs typeface="Microsoft JhengHei"/>
              </a:rPr>
              <a:t>发</a:t>
            </a:r>
            <a:endParaRPr sz="16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5080">
              <a:lnSpc>
                <a:spcPct val="125000"/>
              </a:lnSpc>
            </a:pPr>
            <a:r>
              <a:rPr sz="1400" spc="-5" dirty="0">
                <a:latin typeface="Arial Unicode MS"/>
                <a:cs typeface="Arial Unicode MS"/>
              </a:rPr>
              <a:t>所有个性化模块均支持二次开发</a:t>
            </a:r>
            <a:r>
              <a:rPr sz="1400" dirty="0">
                <a:latin typeface="Arial Unicode MS"/>
                <a:cs typeface="Arial Unicode MS"/>
              </a:rPr>
              <a:t>，</a:t>
            </a:r>
            <a:r>
              <a:rPr sz="1400" spc="60" dirty="0">
                <a:latin typeface="Arial Unicode MS"/>
                <a:cs typeface="Arial Unicode MS"/>
              </a:rPr>
              <a:t> </a:t>
            </a:r>
            <a:r>
              <a:rPr sz="1400" spc="-5" dirty="0">
                <a:latin typeface="Arial Unicode MS"/>
                <a:cs typeface="Arial Unicode MS"/>
              </a:rPr>
              <a:t>用</a:t>
            </a:r>
            <a:r>
              <a:rPr sz="1400" dirty="0">
                <a:latin typeface="Arial Unicode MS"/>
                <a:cs typeface="Arial Unicode MS"/>
              </a:rPr>
              <a:t>户 </a:t>
            </a:r>
            <a:r>
              <a:rPr sz="1400" spc="-5" dirty="0">
                <a:latin typeface="Arial Unicode MS"/>
                <a:cs typeface="Arial Unicode MS"/>
              </a:rPr>
              <a:t>可用于后续维护扩展</a:t>
            </a:r>
            <a:r>
              <a:rPr sz="1400" dirty="0"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3880" y="1380744"/>
            <a:ext cx="7740650" cy="4331335"/>
          </a:xfrm>
          <a:custGeom>
            <a:avLst/>
            <a:gdLst/>
            <a:ahLst/>
            <a:cxnLst/>
            <a:rect l="l" t="t" r="r" b="b"/>
            <a:pathLst>
              <a:path w="7740650" h="4331335">
                <a:moveTo>
                  <a:pt x="0" y="0"/>
                </a:moveTo>
                <a:lnTo>
                  <a:pt x="7740396" y="0"/>
                </a:lnTo>
                <a:lnTo>
                  <a:pt x="7740396" y="4331208"/>
                </a:lnTo>
                <a:lnTo>
                  <a:pt x="0" y="4331208"/>
                </a:lnTo>
                <a:lnTo>
                  <a:pt x="0" y="0"/>
                </a:lnTo>
                <a:close/>
              </a:path>
            </a:pathLst>
          </a:custGeom>
          <a:solidFill>
            <a:srgbClr val="036B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数据驾驶</a:t>
            </a:r>
            <a:r>
              <a:rPr spc="-30" dirty="0"/>
              <a:t>舱</a:t>
            </a:r>
          </a:p>
        </p:txBody>
      </p:sp>
      <p:sp>
        <p:nvSpPr>
          <p:cNvPr id="4" name="object 4"/>
          <p:cNvSpPr/>
          <p:nvPr/>
        </p:nvSpPr>
        <p:spPr>
          <a:xfrm>
            <a:off x="8712377" y="1646580"/>
            <a:ext cx="1620520" cy="0"/>
          </a:xfrm>
          <a:custGeom>
            <a:avLst/>
            <a:gdLst/>
            <a:ahLst/>
            <a:cxnLst/>
            <a:rect l="l" t="t" r="r" b="b"/>
            <a:pathLst>
              <a:path w="1620520">
                <a:moveTo>
                  <a:pt x="0" y="0"/>
                </a:moveTo>
                <a:lnTo>
                  <a:pt x="1619999" y="0"/>
                </a:lnTo>
              </a:path>
            </a:pathLst>
          </a:custGeom>
          <a:ln w="889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12377" y="1644040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>
                <a:moveTo>
                  <a:pt x="0" y="0"/>
                </a:moveTo>
                <a:lnTo>
                  <a:pt x="720001" y="0"/>
                </a:lnTo>
              </a:path>
            </a:pathLst>
          </a:custGeom>
          <a:ln w="33020">
            <a:solidFill>
              <a:srgbClr val="E42E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12377" y="2585516"/>
            <a:ext cx="1620520" cy="0"/>
          </a:xfrm>
          <a:custGeom>
            <a:avLst/>
            <a:gdLst/>
            <a:ahLst/>
            <a:cxnLst/>
            <a:rect l="l" t="t" r="r" b="b"/>
            <a:pathLst>
              <a:path w="1620520">
                <a:moveTo>
                  <a:pt x="0" y="0"/>
                </a:moveTo>
                <a:lnTo>
                  <a:pt x="1619999" y="0"/>
                </a:lnTo>
              </a:path>
            </a:pathLst>
          </a:custGeom>
          <a:ln w="889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12377" y="2582976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>
                <a:moveTo>
                  <a:pt x="0" y="0"/>
                </a:moveTo>
                <a:lnTo>
                  <a:pt x="720001" y="0"/>
                </a:lnTo>
              </a:path>
            </a:pathLst>
          </a:custGeom>
          <a:ln w="33020">
            <a:solidFill>
              <a:srgbClr val="E42E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12377" y="3516731"/>
            <a:ext cx="1620520" cy="0"/>
          </a:xfrm>
          <a:custGeom>
            <a:avLst/>
            <a:gdLst/>
            <a:ahLst/>
            <a:cxnLst/>
            <a:rect l="l" t="t" r="r" b="b"/>
            <a:pathLst>
              <a:path w="1620520">
                <a:moveTo>
                  <a:pt x="0" y="0"/>
                </a:moveTo>
                <a:lnTo>
                  <a:pt x="1619999" y="0"/>
                </a:lnTo>
              </a:path>
            </a:pathLst>
          </a:custGeom>
          <a:ln w="889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12377" y="3514191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>
                <a:moveTo>
                  <a:pt x="0" y="0"/>
                </a:moveTo>
                <a:lnTo>
                  <a:pt x="720001" y="0"/>
                </a:lnTo>
              </a:path>
            </a:pathLst>
          </a:custGeom>
          <a:ln w="33020">
            <a:solidFill>
              <a:srgbClr val="E42E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12377" y="4453420"/>
            <a:ext cx="1620520" cy="0"/>
          </a:xfrm>
          <a:custGeom>
            <a:avLst/>
            <a:gdLst/>
            <a:ahLst/>
            <a:cxnLst/>
            <a:rect l="l" t="t" r="r" b="b"/>
            <a:pathLst>
              <a:path w="1620520">
                <a:moveTo>
                  <a:pt x="0" y="0"/>
                </a:moveTo>
                <a:lnTo>
                  <a:pt x="1619999" y="0"/>
                </a:lnTo>
              </a:path>
            </a:pathLst>
          </a:custGeom>
          <a:ln w="889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12377" y="4450880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>
                <a:moveTo>
                  <a:pt x="0" y="0"/>
                </a:moveTo>
                <a:lnTo>
                  <a:pt x="720001" y="0"/>
                </a:lnTo>
              </a:path>
            </a:pathLst>
          </a:custGeom>
          <a:ln w="33020">
            <a:solidFill>
              <a:srgbClr val="E42E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12377" y="5385447"/>
            <a:ext cx="1620520" cy="0"/>
          </a:xfrm>
          <a:custGeom>
            <a:avLst/>
            <a:gdLst/>
            <a:ahLst/>
            <a:cxnLst/>
            <a:rect l="l" t="t" r="r" b="b"/>
            <a:pathLst>
              <a:path w="1620520">
                <a:moveTo>
                  <a:pt x="0" y="0"/>
                </a:moveTo>
                <a:lnTo>
                  <a:pt x="1619999" y="0"/>
                </a:lnTo>
              </a:path>
            </a:pathLst>
          </a:custGeom>
          <a:ln w="889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12377" y="5382907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>
                <a:moveTo>
                  <a:pt x="0" y="0"/>
                </a:moveTo>
                <a:lnTo>
                  <a:pt x="720001" y="0"/>
                </a:lnTo>
              </a:path>
            </a:pathLst>
          </a:custGeom>
          <a:ln w="33020">
            <a:solidFill>
              <a:srgbClr val="E42E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99677" y="1355000"/>
            <a:ext cx="2616200" cy="4387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252525"/>
                </a:solidFill>
                <a:latin typeface="Microsoft JhengHei"/>
                <a:cs typeface="Microsoft JhengHei"/>
              </a:rPr>
              <a:t>核心能力监控</a:t>
            </a:r>
            <a:endParaRPr sz="1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运力、仓储能力、园区服务评价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252525"/>
                </a:solidFill>
                <a:latin typeface="Microsoft JhengHei"/>
                <a:cs typeface="Microsoft JhengHei"/>
              </a:rPr>
              <a:t>空闲资源管理</a:t>
            </a:r>
            <a:endParaRPr sz="1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场地、月台、车辆、人员等空闲情况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252525"/>
                </a:solidFill>
                <a:latin typeface="Microsoft JhengHei"/>
                <a:cs typeface="Microsoft JhengHei"/>
              </a:rPr>
              <a:t>效能分析可视</a:t>
            </a:r>
            <a:endParaRPr sz="1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园区内作业效能、成本效能、决策效能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252525"/>
                </a:solidFill>
                <a:latin typeface="Microsoft JhengHei"/>
                <a:cs typeface="Microsoft JhengHei"/>
              </a:rPr>
              <a:t>订单实时追踪</a:t>
            </a:r>
            <a:endParaRPr sz="1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订单状态、订单数据、异常订单等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252525"/>
                </a:solidFill>
                <a:latin typeface="Microsoft JhengHei"/>
                <a:cs typeface="Microsoft JhengHei"/>
              </a:rPr>
              <a:t>园区流量管控</a:t>
            </a:r>
            <a:endParaRPr sz="1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入园流量、作业流量、出园流量等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6823" y="1309116"/>
            <a:ext cx="7740396" cy="43296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9204" y="1301496"/>
            <a:ext cx="7755890" cy="4345305"/>
          </a:xfrm>
          <a:custGeom>
            <a:avLst/>
            <a:gdLst/>
            <a:ahLst/>
            <a:cxnLst/>
            <a:rect l="l" t="t" r="r" b="b"/>
            <a:pathLst>
              <a:path w="7755890" h="4345305">
                <a:moveTo>
                  <a:pt x="7751826" y="4344924"/>
                </a:moveTo>
                <a:lnTo>
                  <a:pt x="3809" y="4344924"/>
                </a:lnTo>
                <a:lnTo>
                  <a:pt x="2349" y="4344631"/>
                </a:lnTo>
                <a:lnTo>
                  <a:pt x="1117" y="4343806"/>
                </a:lnTo>
                <a:lnTo>
                  <a:pt x="292" y="4342574"/>
                </a:lnTo>
                <a:lnTo>
                  <a:pt x="0" y="4341114"/>
                </a:lnTo>
                <a:lnTo>
                  <a:pt x="0" y="3809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7751826" y="0"/>
                </a:lnTo>
                <a:lnTo>
                  <a:pt x="7753286" y="292"/>
                </a:lnTo>
                <a:lnTo>
                  <a:pt x="7754518" y="1117"/>
                </a:lnTo>
                <a:lnTo>
                  <a:pt x="7755343" y="2349"/>
                </a:lnTo>
                <a:lnTo>
                  <a:pt x="7755636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4337304"/>
                </a:lnTo>
                <a:lnTo>
                  <a:pt x="3809" y="4337304"/>
                </a:lnTo>
                <a:lnTo>
                  <a:pt x="7619" y="4341114"/>
                </a:lnTo>
                <a:lnTo>
                  <a:pt x="7755636" y="4341114"/>
                </a:lnTo>
                <a:lnTo>
                  <a:pt x="7755343" y="4342574"/>
                </a:lnTo>
                <a:lnTo>
                  <a:pt x="7754518" y="4343806"/>
                </a:lnTo>
                <a:lnTo>
                  <a:pt x="7753286" y="4344631"/>
                </a:lnTo>
                <a:lnTo>
                  <a:pt x="7751826" y="4344924"/>
                </a:lnTo>
                <a:close/>
              </a:path>
              <a:path w="7755890" h="434530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7755890" h="4345305">
                <a:moveTo>
                  <a:pt x="7748016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7748016" y="3809"/>
                </a:lnTo>
                <a:lnTo>
                  <a:pt x="7748016" y="7619"/>
                </a:lnTo>
                <a:close/>
              </a:path>
              <a:path w="7755890" h="4345305">
                <a:moveTo>
                  <a:pt x="7748016" y="4341114"/>
                </a:moveTo>
                <a:lnTo>
                  <a:pt x="7748016" y="3809"/>
                </a:lnTo>
                <a:lnTo>
                  <a:pt x="7751826" y="7619"/>
                </a:lnTo>
                <a:lnTo>
                  <a:pt x="7755636" y="7619"/>
                </a:lnTo>
                <a:lnTo>
                  <a:pt x="7755636" y="4337304"/>
                </a:lnTo>
                <a:lnTo>
                  <a:pt x="7751826" y="4337304"/>
                </a:lnTo>
                <a:lnTo>
                  <a:pt x="7748016" y="4341114"/>
                </a:lnTo>
                <a:close/>
              </a:path>
              <a:path w="7755890" h="4345305">
                <a:moveTo>
                  <a:pt x="7755636" y="7619"/>
                </a:moveTo>
                <a:lnTo>
                  <a:pt x="7751826" y="7619"/>
                </a:lnTo>
                <a:lnTo>
                  <a:pt x="7748016" y="3809"/>
                </a:lnTo>
                <a:lnTo>
                  <a:pt x="7755636" y="3809"/>
                </a:lnTo>
                <a:lnTo>
                  <a:pt x="7755636" y="7619"/>
                </a:lnTo>
                <a:close/>
              </a:path>
              <a:path w="7755890" h="4345305">
                <a:moveTo>
                  <a:pt x="7619" y="4341114"/>
                </a:moveTo>
                <a:lnTo>
                  <a:pt x="3809" y="4337304"/>
                </a:lnTo>
                <a:lnTo>
                  <a:pt x="7619" y="4337304"/>
                </a:lnTo>
                <a:lnTo>
                  <a:pt x="7619" y="4341114"/>
                </a:lnTo>
                <a:close/>
              </a:path>
              <a:path w="7755890" h="4345305">
                <a:moveTo>
                  <a:pt x="7748016" y="4341114"/>
                </a:moveTo>
                <a:lnTo>
                  <a:pt x="7619" y="4341114"/>
                </a:lnTo>
                <a:lnTo>
                  <a:pt x="7619" y="4337304"/>
                </a:lnTo>
                <a:lnTo>
                  <a:pt x="7748016" y="4337304"/>
                </a:lnTo>
                <a:lnTo>
                  <a:pt x="7748016" y="4341114"/>
                </a:lnTo>
                <a:close/>
              </a:path>
              <a:path w="7755890" h="4345305">
                <a:moveTo>
                  <a:pt x="7755636" y="4341114"/>
                </a:moveTo>
                <a:lnTo>
                  <a:pt x="7748016" y="4341114"/>
                </a:lnTo>
                <a:lnTo>
                  <a:pt x="7751826" y="4337304"/>
                </a:lnTo>
                <a:lnTo>
                  <a:pt x="7755636" y="4337304"/>
                </a:lnTo>
                <a:lnTo>
                  <a:pt x="7755636" y="434111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小程序集</a:t>
            </a:r>
            <a:r>
              <a:rPr spc="-30" dirty="0"/>
              <a:t>成</a:t>
            </a:r>
          </a:p>
        </p:txBody>
      </p:sp>
      <p:sp>
        <p:nvSpPr>
          <p:cNvPr id="3" name="object 3"/>
          <p:cNvSpPr/>
          <p:nvPr/>
        </p:nvSpPr>
        <p:spPr>
          <a:xfrm>
            <a:off x="4376928" y="2516123"/>
            <a:ext cx="6780530" cy="2304415"/>
          </a:xfrm>
          <a:custGeom>
            <a:avLst/>
            <a:gdLst/>
            <a:ahLst/>
            <a:cxnLst/>
            <a:rect l="l" t="t" r="r" b="b"/>
            <a:pathLst>
              <a:path w="6780530" h="2304415">
                <a:moveTo>
                  <a:pt x="6624828" y="2304288"/>
                </a:moveTo>
                <a:lnTo>
                  <a:pt x="149866" y="2304077"/>
                </a:lnTo>
                <a:lnTo>
                  <a:pt x="107547" y="2296054"/>
                </a:lnTo>
                <a:lnTo>
                  <a:pt x="70050" y="2277632"/>
                </a:lnTo>
                <a:lnTo>
                  <a:pt x="38995" y="2250432"/>
                </a:lnTo>
                <a:lnTo>
                  <a:pt x="16003" y="2216076"/>
                </a:lnTo>
                <a:lnTo>
                  <a:pt x="2693" y="2176184"/>
                </a:lnTo>
                <a:lnTo>
                  <a:pt x="0" y="2147316"/>
                </a:lnTo>
                <a:lnTo>
                  <a:pt x="190" y="149222"/>
                </a:lnTo>
                <a:lnTo>
                  <a:pt x="8097" y="106883"/>
                </a:lnTo>
                <a:lnTo>
                  <a:pt x="26439" y="69437"/>
                </a:lnTo>
                <a:lnTo>
                  <a:pt x="53606" y="38492"/>
                </a:lnTo>
                <a:lnTo>
                  <a:pt x="87992" y="15659"/>
                </a:lnTo>
                <a:lnTo>
                  <a:pt x="127986" y="2546"/>
                </a:lnTo>
                <a:lnTo>
                  <a:pt x="156972" y="0"/>
                </a:lnTo>
                <a:lnTo>
                  <a:pt x="6632332" y="146"/>
                </a:lnTo>
                <a:lnTo>
                  <a:pt x="6674210" y="7849"/>
                </a:lnTo>
                <a:lnTo>
                  <a:pt x="6711355" y="26083"/>
                </a:lnTo>
                <a:lnTo>
                  <a:pt x="6742109" y="53234"/>
                </a:lnTo>
                <a:lnTo>
                  <a:pt x="6764816" y="87690"/>
                </a:lnTo>
                <a:lnTo>
                  <a:pt x="6777818" y="127839"/>
                </a:lnTo>
                <a:lnTo>
                  <a:pt x="6780276" y="156971"/>
                </a:lnTo>
                <a:lnTo>
                  <a:pt x="6780177" y="2154231"/>
                </a:lnTo>
                <a:lnTo>
                  <a:pt x="6772728" y="2196344"/>
                </a:lnTo>
                <a:lnTo>
                  <a:pt x="6754682" y="2233742"/>
                </a:lnTo>
                <a:lnTo>
                  <a:pt x="6727708" y="2264802"/>
                </a:lnTo>
                <a:lnTo>
                  <a:pt x="6693476" y="2287899"/>
                </a:lnTo>
                <a:lnTo>
                  <a:pt x="6653655" y="2301409"/>
                </a:lnTo>
                <a:lnTo>
                  <a:pt x="6624828" y="230428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84903" y="3520440"/>
            <a:ext cx="192405" cy="295910"/>
          </a:xfrm>
          <a:custGeom>
            <a:avLst/>
            <a:gdLst/>
            <a:ahLst/>
            <a:cxnLst/>
            <a:rect l="l" t="t" r="r" b="b"/>
            <a:pathLst>
              <a:path w="192404" h="295910">
                <a:moveTo>
                  <a:pt x="192024" y="295656"/>
                </a:moveTo>
                <a:lnTo>
                  <a:pt x="0" y="147827"/>
                </a:lnTo>
                <a:lnTo>
                  <a:pt x="192024" y="0"/>
                </a:lnTo>
                <a:lnTo>
                  <a:pt x="192024" y="29565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54296" y="2834639"/>
            <a:ext cx="2303145" cy="367665"/>
          </a:xfrm>
          <a:custGeom>
            <a:avLst/>
            <a:gdLst/>
            <a:ahLst/>
            <a:cxnLst/>
            <a:rect l="l" t="t" r="r" b="b"/>
            <a:pathLst>
              <a:path w="2303145" h="367664">
                <a:moveTo>
                  <a:pt x="60959" y="367284"/>
                </a:moveTo>
                <a:lnTo>
                  <a:pt x="22131" y="353083"/>
                </a:lnTo>
                <a:lnTo>
                  <a:pt x="1233" y="318534"/>
                </a:lnTo>
                <a:lnTo>
                  <a:pt x="0" y="60960"/>
                </a:lnTo>
                <a:lnTo>
                  <a:pt x="1380" y="46697"/>
                </a:lnTo>
                <a:lnTo>
                  <a:pt x="22839" y="12717"/>
                </a:lnTo>
                <a:lnTo>
                  <a:pt x="2241804" y="0"/>
                </a:lnTo>
                <a:lnTo>
                  <a:pt x="2256152" y="1510"/>
                </a:lnTo>
                <a:lnTo>
                  <a:pt x="2290236" y="23239"/>
                </a:lnTo>
                <a:lnTo>
                  <a:pt x="2302763" y="304800"/>
                </a:lnTo>
                <a:lnTo>
                  <a:pt x="2301299" y="319208"/>
                </a:lnTo>
                <a:lnTo>
                  <a:pt x="2279822" y="353601"/>
                </a:lnTo>
                <a:lnTo>
                  <a:pt x="60959" y="367284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3475">
              <a:lnSpc>
                <a:spcPct val="100000"/>
              </a:lnSpc>
            </a:pPr>
            <a:r>
              <a:rPr dirty="0"/>
              <a:t>司机端小程序</a:t>
            </a:r>
          </a:p>
          <a:p>
            <a:pPr marL="3107690">
              <a:lnSpc>
                <a:spcPct val="100000"/>
              </a:lnSpc>
              <a:spcBef>
                <a:spcPts val="33"/>
              </a:spcBef>
            </a:pPr>
            <a:endParaRPr sz="2050">
              <a:latin typeface="Times New Roman"/>
              <a:cs typeface="Times New Roman"/>
            </a:endParaRPr>
          </a:p>
          <a:p>
            <a:pPr marL="312039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线上预约</a:t>
            </a:r>
            <a:r>
              <a:rPr spc="110" dirty="0">
                <a:solidFill>
                  <a:srgbClr val="000000"/>
                </a:solidFill>
              </a:rPr>
              <a:t> </a:t>
            </a:r>
            <a:r>
              <a:rPr spc="-70" dirty="0">
                <a:solidFill>
                  <a:srgbClr val="000000"/>
                </a:solidFill>
              </a:rPr>
              <a:t>|</a:t>
            </a:r>
            <a:r>
              <a:rPr spc="11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手机签到</a:t>
            </a:r>
            <a:r>
              <a:rPr spc="110" dirty="0">
                <a:solidFill>
                  <a:srgbClr val="000000"/>
                </a:solidFill>
              </a:rPr>
              <a:t> </a:t>
            </a:r>
            <a:r>
              <a:rPr spc="-70" dirty="0">
                <a:solidFill>
                  <a:srgbClr val="000000"/>
                </a:solidFill>
              </a:rPr>
              <a:t>|</a:t>
            </a:r>
            <a:r>
              <a:rPr spc="11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通知提醒</a:t>
            </a:r>
            <a:r>
              <a:rPr spc="110" dirty="0">
                <a:solidFill>
                  <a:srgbClr val="000000"/>
                </a:solidFill>
              </a:rPr>
              <a:t> </a:t>
            </a:r>
            <a:r>
              <a:rPr spc="-70" dirty="0">
                <a:solidFill>
                  <a:srgbClr val="000000"/>
                </a:solidFill>
              </a:rPr>
              <a:t>|</a:t>
            </a:r>
            <a:r>
              <a:rPr spc="11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园区导航</a:t>
            </a:r>
            <a:r>
              <a:rPr spc="110" dirty="0">
                <a:solidFill>
                  <a:srgbClr val="000000"/>
                </a:solidFill>
              </a:rPr>
              <a:t> </a:t>
            </a:r>
            <a:r>
              <a:rPr spc="-70" dirty="0">
                <a:solidFill>
                  <a:srgbClr val="000000"/>
                </a:solidFill>
              </a:rPr>
              <a:t>|</a:t>
            </a:r>
            <a:r>
              <a:rPr spc="11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排队叫号</a:t>
            </a:r>
            <a:r>
              <a:rPr spc="110" dirty="0">
                <a:solidFill>
                  <a:srgbClr val="000000"/>
                </a:solidFill>
              </a:rPr>
              <a:t> </a:t>
            </a:r>
            <a:r>
              <a:rPr spc="-70" dirty="0">
                <a:solidFill>
                  <a:srgbClr val="000000"/>
                </a:solidFill>
              </a:rPr>
              <a:t>|</a:t>
            </a:r>
            <a:r>
              <a:rPr spc="11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意见反馈</a:t>
            </a:r>
            <a:r>
              <a:rPr spc="110" dirty="0">
                <a:solidFill>
                  <a:srgbClr val="000000"/>
                </a:solidFill>
              </a:rPr>
              <a:t> </a:t>
            </a:r>
            <a:r>
              <a:rPr b="0" spc="1005" dirty="0">
                <a:solidFill>
                  <a:srgbClr val="000000"/>
                </a:solidFill>
                <a:latin typeface="Arial Unicode MS"/>
                <a:cs typeface="Arial Unicode MS"/>
              </a:rPr>
              <a:t>··</a:t>
            </a:r>
            <a:r>
              <a:rPr b="0" spc="1010" dirty="0">
                <a:solidFill>
                  <a:srgbClr val="000000"/>
                </a:solidFill>
                <a:latin typeface="Arial Unicode MS"/>
                <a:cs typeface="Arial Unicode MS"/>
              </a:rPr>
              <a:t>·</a:t>
            </a:r>
          </a:p>
          <a:p>
            <a:pPr marL="3107690">
              <a:lnSpc>
                <a:spcPct val="100000"/>
              </a:lnSpc>
              <a:spcBef>
                <a:spcPts val="52"/>
              </a:spcBef>
            </a:pPr>
            <a:endParaRPr sz="1300">
              <a:latin typeface="Times New Roman"/>
              <a:cs typeface="Times New Roman"/>
            </a:endParaRPr>
          </a:p>
          <a:p>
            <a:pPr marL="3120390" marR="5080">
              <a:lnSpc>
                <a:spcPct val="150000"/>
              </a:lnSpc>
            </a:pPr>
            <a:r>
              <a:rPr b="0" spc="-5" dirty="0">
                <a:solidFill>
                  <a:srgbClr val="404040"/>
                </a:solidFill>
                <a:latin typeface="Arial Unicode MS"/>
                <a:cs typeface="Arial Unicode MS"/>
              </a:rPr>
              <a:t>便捷操作，功能覆盖司机全链路作业，简化复杂低效流程，提升司机出入</a:t>
            </a:r>
            <a:r>
              <a:rPr b="0" dirty="0">
                <a:solidFill>
                  <a:srgbClr val="404040"/>
                </a:solidFill>
                <a:latin typeface="Arial Unicode MS"/>
                <a:cs typeface="Arial Unicode MS"/>
              </a:rPr>
              <a:t>园 </a:t>
            </a:r>
            <a:r>
              <a:rPr b="0" spc="-5" dirty="0">
                <a:solidFill>
                  <a:srgbClr val="404040"/>
                </a:solidFill>
                <a:latin typeface="Arial Unicode MS"/>
                <a:cs typeface="Arial Unicode MS"/>
              </a:rPr>
              <a:t>体验，与</a:t>
            </a:r>
            <a:r>
              <a:rPr b="0" spc="-45" dirty="0">
                <a:solidFill>
                  <a:srgbClr val="404040"/>
                </a:solidFill>
                <a:latin typeface="Arial Unicode MS"/>
                <a:cs typeface="Arial Unicode MS"/>
              </a:rPr>
              <a:t>Y</a:t>
            </a:r>
            <a:r>
              <a:rPr b="0" spc="140" dirty="0">
                <a:solidFill>
                  <a:srgbClr val="404040"/>
                </a:solidFill>
                <a:latin typeface="Arial Unicode MS"/>
                <a:cs typeface="Arial Unicode MS"/>
              </a:rPr>
              <a:t>M</a:t>
            </a:r>
            <a:r>
              <a:rPr b="0" spc="-15" dirty="0">
                <a:solidFill>
                  <a:srgbClr val="404040"/>
                </a:solidFill>
                <a:latin typeface="Arial Unicode MS"/>
                <a:cs typeface="Arial Unicode MS"/>
              </a:rPr>
              <a:t>S</a:t>
            </a:r>
            <a:r>
              <a:rPr b="0" spc="-5" dirty="0">
                <a:solidFill>
                  <a:srgbClr val="404040"/>
                </a:solidFill>
                <a:latin typeface="Arial Unicode MS"/>
                <a:cs typeface="Arial Unicode MS"/>
              </a:rPr>
              <a:t>系统实时同步数据，实现轻量化、智能化、数字化管控</a:t>
            </a:r>
            <a:r>
              <a:rPr b="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</a:p>
        </p:txBody>
      </p:sp>
      <p:sp>
        <p:nvSpPr>
          <p:cNvPr id="7" name="object 7"/>
          <p:cNvSpPr/>
          <p:nvPr/>
        </p:nvSpPr>
        <p:spPr>
          <a:xfrm>
            <a:off x="1228344" y="1255775"/>
            <a:ext cx="2500884" cy="4713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28344" y="1255775"/>
            <a:ext cx="2502535" cy="131445"/>
          </a:xfrm>
          <a:custGeom>
            <a:avLst/>
            <a:gdLst/>
            <a:ahLst/>
            <a:cxnLst/>
            <a:rect l="l" t="t" r="r" b="b"/>
            <a:pathLst>
              <a:path w="2502535" h="131444">
                <a:moveTo>
                  <a:pt x="0" y="0"/>
                </a:moveTo>
                <a:lnTo>
                  <a:pt x="2502408" y="0"/>
                </a:lnTo>
                <a:lnTo>
                  <a:pt x="2502408" y="131063"/>
                </a:lnTo>
                <a:lnTo>
                  <a:pt x="0" y="131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7175" y="868680"/>
            <a:ext cx="2903220" cy="5545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0" dirty="0"/>
              <a:t>Y</a:t>
            </a:r>
            <a:r>
              <a:rPr spc="280" dirty="0"/>
              <a:t>M</a:t>
            </a:r>
            <a:r>
              <a:rPr spc="-40" dirty="0"/>
              <a:t>S</a:t>
            </a:r>
            <a:r>
              <a:rPr spc="-25" dirty="0"/>
              <a:t>系统三大业务说</a:t>
            </a:r>
            <a:r>
              <a:rPr spc="-30" dirty="0"/>
              <a:t>明</a:t>
            </a:r>
          </a:p>
        </p:txBody>
      </p:sp>
      <p:sp>
        <p:nvSpPr>
          <p:cNvPr id="3" name="object 3"/>
          <p:cNvSpPr/>
          <p:nvPr/>
        </p:nvSpPr>
        <p:spPr>
          <a:xfrm>
            <a:off x="1267091" y="3593401"/>
            <a:ext cx="2815183" cy="7130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02916" y="3751376"/>
            <a:ext cx="9417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入园作</a:t>
            </a:r>
            <a:r>
              <a:rPr sz="1800" b="1" dirty="0">
                <a:solidFill>
                  <a:srgbClr val="FFFFFF"/>
                </a:solidFill>
                <a:latin typeface="Microsoft JhengHei"/>
                <a:cs typeface="Microsoft JhengHei"/>
              </a:rPr>
              <a:t>业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88408" y="3583013"/>
            <a:ext cx="2815183" cy="7130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24233" y="3740987"/>
            <a:ext cx="9417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园内作</a:t>
            </a:r>
            <a:r>
              <a:rPr sz="1800" b="1" dirty="0">
                <a:solidFill>
                  <a:srgbClr val="FFFFFF"/>
                </a:solidFill>
                <a:latin typeface="Microsoft JhengHei"/>
                <a:cs typeface="Microsoft JhengHei"/>
              </a:rPr>
              <a:t>业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09724" y="3583013"/>
            <a:ext cx="2815183" cy="7130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45549" y="3740987"/>
            <a:ext cx="9417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出园作</a:t>
            </a:r>
            <a:r>
              <a:rPr sz="1800" b="1" dirty="0">
                <a:solidFill>
                  <a:srgbClr val="FFFFFF"/>
                </a:solidFill>
                <a:latin typeface="Microsoft JhengHei"/>
                <a:cs typeface="Microsoft JhengHei"/>
              </a:rPr>
              <a:t>业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46986" y="4606136"/>
            <a:ext cx="1854200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</a:pPr>
            <a:r>
              <a:rPr sz="1800" dirty="0">
                <a:solidFill>
                  <a:srgbClr val="404040"/>
                </a:solidFill>
                <a:latin typeface="Arial Unicode MS"/>
                <a:cs typeface="Arial Unicode MS"/>
              </a:rPr>
              <a:t>管理司机入园前的 计划准备工作</a:t>
            </a:r>
            <a:endParaRPr sz="18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8303" y="4606136"/>
            <a:ext cx="1854200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</a:pPr>
            <a:r>
              <a:rPr sz="1800" dirty="0">
                <a:solidFill>
                  <a:srgbClr val="404040"/>
                </a:solidFill>
                <a:latin typeface="Arial Unicode MS"/>
                <a:cs typeface="Arial Unicode MS"/>
              </a:rPr>
              <a:t>管理司机园内行驶 及装卸作业</a:t>
            </a:r>
            <a:endParaRPr sz="18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61019" y="4606136"/>
            <a:ext cx="2311400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</a:pPr>
            <a:r>
              <a:rPr sz="1800" dirty="0">
                <a:solidFill>
                  <a:srgbClr val="404040"/>
                </a:solidFill>
                <a:latin typeface="Arial Unicode MS"/>
                <a:cs typeface="Arial Unicode MS"/>
              </a:rPr>
              <a:t>管理司机出园数据同步 安防核查等工作</a:t>
            </a:r>
            <a:endParaRPr sz="18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7426" y="1796147"/>
            <a:ext cx="9334500" cy="1259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743325">
              <a:lnSpc>
                <a:spcPct val="100000"/>
              </a:lnSpc>
            </a:pPr>
            <a:r>
              <a:rPr sz="1800" b="1" spc="5" dirty="0">
                <a:solidFill>
                  <a:srgbClr val="D71E06"/>
                </a:solidFill>
                <a:latin typeface="Microsoft JhengHei"/>
                <a:cs typeface="Microsoft JhengHei"/>
              </a:rPr>
              <a:t>园区物流协同管</a:t>
            </a:r>
            <a:r>
              <a:rPr sz="1800" b="1" dirty="0">
                <a:solidFill>
                  <a:srgbClr val="D71E06"/>
                </a:solidFill>
                <a:latin typeface="Microsoft JhengHei"/>
                <a:cs typeface="Microsoft JhengHei"/>
              </a:rPr>
              <a:t>理</a:t>
            </a:r>
            <a:endParaRPr sz="1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1600" spc="-15" dirty="0">
                <a:latin typeface="Arial Unicode MS"/>
                <a:cs typeface="Arial Unicode MS"/>
              </a:rPr>
              <a:t>通过</a:t>
            </a:r>
            <a:r>
              <a:rPr sz="1600" spc="-70" dirty="0">
                <a:latin typeface="Arial Unicode MS"/>
                <a:cs typeface="Arial Unicode MS"/>
              </a:rPr>
              <a:t>T</a:t>
            </a:r>
            <a:r>
              <a:rPr sz="1600" spc="160" dirty="0">
                <a:latin typeface="Arial Unicode MS"/>
                <a:cs typeface="Arial Unicode MS"/>
              </a:rPr>
              <a:t>M</a:t>
            </a:r>
            <a:r>
              <a:rPr sz="1600" spc="-20" dirty="0">
                <a:latin typeface="Arial Unicode MS"/>
                <a:cs typeface="Arial Unicode MS"/>
              </a:rPr>
              <a:t>S</a:t>
            </a:r>
            <a:r>
              <a:rPr sz="1600" spc="-15" dirty="0">
                <a:latin typeface="Arial Unicode MS"/>
                <a:cs typeface="Arial Unicode MS"/>
              </a:rPr>
              <a:t>、</a:t>
            </a:r>
            <a:r>
              <a:rPr sz="1600" spc="140" dirty="0">
                <a:latin typeface="Arial Unicode MS"/>
                <a:cs typeface="Arial Unicode MS"/>
              </a:rPr>
              <a:t>W</a:t>
            </a:r>
            <a:r>
              <a:rPr sz="1600" spc="160" dirty="0">
                <a:latin typeface="Arial Unicode MS"/>
                <a:cs typeface="Arial Unicode MS"/>
              </a:rPr>
              <a:t>M</a:t>
            </a:r>
            <a:r>
              <a:rPr sz="1600" spc="-20" dirty="0">
                <a:latin typeface="Arial Unicode MS"/>
                <a:cs typeface="Arial Unicode MS"/>
              </a:rPr>
              <a:t>S</a:t>
            </a:r>
            <a:r>
              <a:rPr sz="1600" spc="-15" dirty="0">
                <a:latin typeface="Arial Unicode MS"/>
                <a:cs typeface="Arial Unicode MS"/>
              </a:rPr>
              <a:t>，供应商、承运商、司机等多个系统和角色的互联，管理司机从入园、园内作业到出</a:t>
            </a:r>
            <a:r>
              <a:rPr sz="1600" spc="-20" dirty="0">
                <a:latin typeface="Arial Unicode MS"/>
                <a:cs typeface="Arial Unicode MS"/>
              </a:rPr>
              <a:t>园</a:t>
            </a:r>
            <a:r>
              <a:rPr sz="1600" spc="-5" dirty="0">
                <a:latin typeface="Arial Unicode MS"/>
                <a:cs typeface="Arial Unicode MS"/>
              </a:rPr>
              <a:t> </a:t>
            </a:r>
            <a:r>
              <a:rPr sz="1600" spc="-15" dirty="0">
                <a:latin typeface="Arial Unicode MS"/>
                <a:cs typeface="Arial Unicode MS"/>
              </a:rPr>
              <a:t>三大物理意义上的业务环节，打通并传递各流程数据，实现供应链领域的协同管理</a:t>
            </a:r>
            <a:r>
              <a:rPr sz="1600" spc="-20" dirty="0">
                <a:latin typeface="Arial Unicode MS"/>
                <a:cs typeface="Arial Unicode MS"/>
              </a:rPr>
              <a:t>。</a:t>
            </a:r>
            <a:endParaRPr sz="16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5988" y="1370075"/>
            <a:ext cx="7299959" cy="5000625"/>
          </a:xfrm>
          <a:custGeom>
            <a:avLst/>
            <a:gdLst/>
            <a:ahLst/>
            <a:cxnLst/>
            <a:rect l="l" t="t" r="r" b="b"/>
            <a:pathLst>
              <a:path w="7299959" h="5000625">
                <a:moveTo>
                  <a:pt x="0" y="0"/>
                </a:moveTo>
                <a:lnTo>
                  <a:pt x="7299959" y="0"/>
                </a:lnTo>
                <a:lnTo>
                  <a:pt x="7299959" y="5000244"/>
                </a:lnTo>
                <a:lnTo>
                  <a:pt x="0" y="500024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4527" y="1370075"/>
            <a:ext cx="4072254" cy="5000625"/>
          </a:xfrm>
          <a:custGeom>
            <a:avLst/>
            <a:gdLst/>
            <a:ahLst/>
            <a:cxnLst/>
            <a:rect l="l" t="t" r="r" b="b"/>
            <a:pathLst>
              <a:path w="4072254" h="5000625">
                <a:moveTo>
                  <a:pt x="0" y="0"/>
                </a:moveTo>
                <a:lnTo>
                  <a:pt x="4072128" y="0"/>
                </a:lnTo>
                <a:lnTo>
                  <a:pt x="4072128" y="5000244"/>
                </a:lnTo>
                <a:lnTo>
                  <a:pt x="0" y="5000244"/>
                </a:lnTo>
                <a:lnTo>
                  <a:pt x="0" y="0"/>
                </a:lnTo>
                <a:close/>
              </a:path>
            </a:pathLst>
          </a:custGeom>
          <a:solidFill>
            <a:srgbClr val="FB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业务流</a:t>
            </a:r>
            <a:r>
              <a:rPr spc="-30" dirty="0"/>
              <a:t>程</a:t>
            </a:r>
          </a:p>
        </p:txBody>
      </p:sp>
      <p:sp>
        <p:nvSpPr>
          <p:cNvPr id="5" name="object 5"/>
          <p:cNvSpPr/>
          <p:nvPr/>
        </p:nvSpPr>
        <p:spPr>
          <a:xfrm>
            <a:off x="416051" y="1010411"/>
            <a:ext cx="4070985" cy="360045"/>
          </a:xfrm>
          <a:custGeom>
            <a:avLst/>
            <a:gdLst/>
            <a:ahLst/>
            <a:cxnLst/>
            <a:rect l="l" t="t" r="r" b="b"/>
            <a:pathLst>
              <a:path w="4070985" h="360044">
                <a:moveTo>
                  <a:pt x="0" y="0"/>
                </a:moveTo>
                <a:lnTo>
                  <a:pt x="4070604" y="0"/>
                </a:lnTo>
                <a:lnTo>
                  <a:pt x="4070604" y="359663"/>
                </a:lnTo>
                <a:lnTo>
                  <a:pt x="0" y="359663"/>
                </a:lnTo>
                <a:lnTo>
                  <a:pt x="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71064" y="1091691"/>
            <a:ext cx="56070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园区外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86655" y="1010411"/>
            <a:ext cx="7289800" cy="360045"/>
          </a:xfrm>
          <a:custGeom>
            <a:avLst/>
            <a:gdLst/>
            <a:ahLst/>
            <a:cxnLst/>
            <a:rect l="l" t="t" r="r" b="b"/>
            <a:pathLst>
              <a:path w="7289800" h="360044">
                <a:moveTo>
                  <a:pt x="0" y="0"/>
                </a:moveTo>
                <a:lnTo>
                  <a:pt x="7289292" y="0"/>
                </a:lnTo>
                <a:lnTo>
                  <a:pt x="7289292" y="359663"/>
                </a:lnTo>
                <a:lnTo>
                  <a:pt x="0" y="359663"/>
                </a:lnTo>
                <a:lnTo>
                  <a:pt x="0" y="0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49895" y="1091691"/>
            <a:ext cx="56070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园区内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86655" y="1876224"/>
            <a:ext cx="215265" cy="4320540"/>
          </a:xfrm>
          <a:custGeom>
            <a:avLst/>
            <a:gdLst/>
            <a:ahLst/>
            <a:cxnLst/>
            <a:rect l="l" t="t" r="r" b="b"/>
            <a:pathLst>
              <a:path w="215264" h="4320540">
                <a:moveTo>
                  <a:pt x="108531" y="4319988"/>
                </a:moveTo>
                <a:lnTo>
                  <a:pt x="66265" y="4311623"/>
                </a:lnTo>
                <a:lnTo>
                  <a:pt x="31854" y="4288800"/>
                </a:lnTo>
                <a:lnTo>
                  <a:pt x="8649" y="4254933"/>
                </a:lnTo>
                <a:lnTo>
                  <a:pt x="0" y="4213437"/>
                </a:lnTo>
                <a:lnTo>
                  <a:pt x="99" y="106398"/>
                </a:lnTo>
                <a:lnTo>
                  <a:pt x="8216" y="66122"/>
                </a:lnTo>
                <a:lnTo>
                  <a:pt x="31088" y="31864"/>
                </a:lnTo>
                <a:lnTo>
                  <a:pt x="65150" y="8680"/>
                </a:lnTo>
                <a:lnTo>
                  <a:pt x="106937" y="0"/>
                </a:lnTo>
                <a:lnTo>
                  <a:pt x="121620" y="967"/>
                </a:lnTo>
                <a:lnTo>
                  <a:pt x="161474" y="14488"/>
                </a:lnTo>
                <a:lnTo>
                  <a:pt x="192398" y="41310"/>
                </a:lnTo>
                <a:lnTo>
                  <a:pt x="211004" y="78056"/>
                </a:lnTo>
                <a:lnTo>
                  <a:pt x="214892" y="106398"/>
                </a:lnTo>
                <a:lnTo>
                  <a:pt x="214813" y="4213437"/>
                </a:lnTo>
                <a:lnTo>
                  <a:pt x="206915" y="4253909"/>
                </a:lnTo>
                <a:lnTo>
                  <a:pt x="184204" y="4288090"/>
                </a:lnTo>
                <a:lnTo>
                  <a:pt x="150244" y="4311262"/>
                </a:lnTo>
                <a:lnTo>
                  <a:pt x="108531" y="431998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98416" y="3831296"/>
            <a:ext cx="189865" cy="487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300" b="1" spc="-10" dirty="0">
                <a:latin typeface="Microsoft JhengHei"/>
                <a:cs typeface="Microsoft JhengHei"/>
              </a:rPr>
              <a:t>门 闸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86655" y="2157983"/>
            <a:ext cx="215265" cy="539750"/>
          </a:xfrm>
          <a:custGeom>
            <a:avLst/>
            <a:gdLst/>
            <a:ahLst/>
            <a:cxnLst/>
            <a:rect l="l" t="t" r="r" b="b"/>
            <a:pathLst>
              <a:path w="215264" h="539750">
                <a:moveTo>
                  <a:pt x="214884" y="539496"/>
                </a:moveTo>
                <a:lnTo>
                  <a:pt x="0" y="431292"/>
                </a:lnTo>
                <a:lnTo>
                  <a:pt x="0" y="0"/>
                </a:lnTo>
                <a:lnTo>
                  <a:pt x="214884" y="108204"/>
                </a:lnTo>
                <a:lnTo>
                  <a:pt x="214884" y="539496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86655" y="2930651"/>
            <a:ext cx="215265" cy="539750"/>
          </a:xfrm>
          <a:custGeom>
            <a:avLst/>
            <a:gdLst/>
            <a:ahLst/>
            <a:cxnLst/>
            <a:rect l="l" t="t" r="r" b="b"/>
            <a:pathLst>
              <a:path w="215264" h="539750">
                <a:moveTo>
                  <a:pt x="214884" y="539496"/>
                </a:moveTo>
                <a:lnTo>
                  <a:pt x="0" y="431292"/>
                </a:lnTo>
                <a:lnTo>
                  <a:pt x="0" y="0"/>
                </a:lnTo>
                <a:lnTo>
                  <a:pt x="214884" y="106680"/>
                </a:lnTo>
                <a:lnTo>
                  <a:pt x="214884" y="539496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86655" y="4567428"/>
            <a:ext cx="215265" cy="539750"/>
          </a:xfrm>
          <a:custGeom>
            <a:avLst/>
            <a:gdLst/>
            <a:ahLst/>
            <a:cxnLst/>
            <a:rect l="l" t="t" r="r" b="b"/>
            <a:pathLst>
              <a:path w="215264" h="539750">
                <a:moveTo>
                  <a:pt x="214884" y="539496"/>
                </a:moveTo>
                <a:lnTo>
                  <a:pt x="0" y="431292"/>
                </a:lnTo>
                <a:lnTo>
                  <a:pt x="0" y="0"/>
                </a:lnTo>
                <a:lnTo>
                  <a:pt x="214884" y="108204"/>
                </a:lnTo>
                <a:lnTo>
                  <a:pt x="214884" y="539496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86655" y="5381244"/>
            <a:ext cx="215265" cy="541020"/>
          </a:xfrm>
          <a:custGeom>
            <a:avLst/>
            <a:gdLst/>
            <a:ahLst/>
            <a:cxnLst/>
            <a:rect l="l" t="t" r="r" b="b"/>
            <a:pathLst>
              <a:path w="215264" h="541020">
                <a:moveTo>
                  <a:pt x="214884" y="541019"/>
                </a:moveTo>
                <a:lnTo>
                  <a:pt x="0" y="432815"/>
                </a:lnTo>
                <a:lnTo>
                  <a:pt x="0" y="0"/>
                </a:lnTo>
                <a:lnTo>
                  <a:pt x="214884" y="108203"/>
                </a:lnTo>
                <a:lnTo>
                  <a:pt x="214884" y="541019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295888" y="1876044"/>
            <a:ext cx="325120" cy="4320540"/>
          </a:xfrm>
          <a:custGeom>
            <a:avLst/>
            <a:gdLst/>
            <a:ahLst/>
            <a:cxnLst/>
            <a:rect l="l" t="t" r="r" b="b"/>
            <a:pathLst>
              <a:path w="325120" h="4320540">
                <a:moveTo>
                  <a:pt x="71627" y="4320540"/>
                </a:moveTo>
                <a:lnTo>
                  <a:pt x="31783" y="4308106"/>
                </a:lnTo>
                <a:lnTo>
                  <a:pt x="5876" y="4276559"/>
                </a:lnTo>
                <a:lnTo>
                  <a:pt x="0" y="70103"/>
                </a:lnTo>
                <a:lnTo>
                  <a:pt x="1718" y="55904"/>
                </a:lnTo>
                <a:lnTo>
                  <a:pt x="21883" y="20220"/>
                </a:lnTo>
                <a:lnTo>
                  <a:pt x="58632" y="1227"/>
                </a:lnTo>
                <a:lnTo>
                  <a:pt x="254507" y="0"/>
                </a:lnTo>
                <a:lnTo>
                  <a:pt x="268931" y="1557"/>
                </a:lnTo>
                <a:lnTo>
                  <a:pt x="304962" y="21622"/>
                </a:lnTo>
                <a:lnTo>
                  <a:pt x="323632" y="58286"/>
                </a:lnTo>
                <a:lnTo>
                  <a:pt x="324611" y="4248911"/>
                </a:lnTo>
                <a:lnTo>
                  <a:pt x="323187" y="4263532"/>
                </a:lnTo>
                <a:lnTo>
                  <a:pt x="303638" y="4299925"/>
                </a:lnTo>
                <a:lnTo>
                  <a:pt x="267472" y="4319218"/>
                </a:lnTo>
                <a:lnTo>
                  <a:pt x="71627" y="43205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363007" y="3831766"/>
            <a:ext cx="189865" cy="487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300" b="1" spc="-10" dirty="0">
                <a:latin typeface="Microsoft JhengHei"/>
                <a:cs typeface="Microsoft JhengHei"/>
              </a:rPr>
              <a:t>货 架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26579" y="1752612"/>
            <a:ext cx="2132126" cy="4392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887017" y="1854262"/>
            <a:ext cx="35560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月</a:t>
            </a:r>
            <a:r>
              <a:rPr sz="1300" b="1" spc="-15" dirty="0">
                <a:latin typeface="Microsoft JhengHei"/>
                <a:cs typeface="Microsoft JhengHei"/>
              </a:rPr>
              <a:t>台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660102" y="1752612"/>
            <a:ext cx="1556130" cy="4392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232237" y="1854262"/>
            <a:ext cx="35560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-5" dirty="0">
                <a:latin typeface="Microsoft JhengHei"/>
                <a:cs typeface="Microsoft JhengHei"/>
              </a:rPr>
              <a:t>仓</a:t>
            </a:r>
            <a:r>
              <a:rPr sz="1300" b="1" spc="-15" dirty="0">
                <a:latin typeface="Microsoft JhengHei"/>
                <a:cs typeface="Microsoft JhengHei"/>
              </a:rPr>
              <a:t>库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624584" y="2592692"/>
            <a:ext cx="918146" cy="401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746415" y="2689338"/>
            <a:ext cx="636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卸货月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台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24584" y="3853586"/>
            <a:ext cx="918146" cy="4011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746415" y="3950245"/>
            <a:ext cx="636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装货月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台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624584" y="5103012"/>
            <a:ext cx="918146" cy="4011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746415" y="5199671"/>
            <a:ext cx="636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其它月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台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542305" y="3853586"/>
            <a:ext cx="919111" cy="4011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817806" y="3950245"/>
            <a:ext cx="33083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地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磅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810813" y="3289769"/>
            <a:ext cx="766051" cy="40118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933279" y="3386428"/>
            <a:ext cx="483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收货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区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810813" y="4406811"/>
            <a:ext cx="766051" cy="4011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933279" y="4503470"/>
            <a:ext cx="483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发货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区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27925" y="3607815"/>
            <a:ext cx="505307" cy="4575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9927" y="3503917"/>
            <a:ext cx="433298" cy="43329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12012" y="4170285"/>
            <a:ext cx="483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latin typeface="Microsoft JhengHei"/>
                <a:cs typeface="Microsoft JhengHei"/>
              </a:rPr>
              <a:t>供应</a:t>
            </a:r>
            <a:r>
              <a:rPr sz="1200" b="1" dirty="0">
                <a:latin typeface="Microsoft JhengHei"/>
                <a:cs typeface="Microsoft JhengHei"/>
              </a:rPr>
              <a:t>商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39927" y="2056638"/>
            <a:ext cx="793305" cy="56719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25881" y="1934959"/>
            <a:ext cx="453809" cy="45380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12012" y="2726676"/>
            <a:ext cx="483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latin typeface="Microsoft JhengHei"/>
                <a:cs typeface="Microsoft JhengHei"/>
              </a:rPr>
              <a:t>承运</a:t>
            </a:r>
            <a:r>
              <a:rPr sz="1200" b="1" dirty="0">
                <a:latin typeface="Microsoft JhengHei"/>
                <a:cs typeface="Microsoft JhengHei"/>
              </a:rPr>
              <a:t>商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791550" y="2801023"/>
            <a:ext cx="685304" cy="5787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273858" y="2849968"/>
            <a:ext cx="33083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latin typeface="Microsoft JhengHei"/>
                <a:cs typeface="Microsoft JhengHei"/>
              </a:rPr>
              <a:t>司</a:t>
            </a:r>
            <a:r>
              <a:rPr sz="1200" b="1" dirty="0">
                <a:latin typeface="Microsoft JhengHei"/>
                <a:cs typeface="Microsoft JhengHei"/>
              </a:rPr>
              <a:t>机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893428" y="2143404"/>
            <a:ext cx="918146" cy="40118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015259" y="2240050"/>
            <a:ext cx="636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现场签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到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001619" y="3063074"/>
            <a:ext cx="918146" cy="40118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123438" y="3159721"/>
            <a:ext cx="636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排队大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屏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001619" y="3853586"/>
            <a:ext cx="918146" cy="40118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123438" y="3950245"/>
            <a:ext cx="636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安防检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查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314538" y="2318461"/>
            <a:ext cx="532130" cy="792480"/>
          </a:xfrm>
          <a:custGeom>
            <a:avLst/>
            <a:gdLst/>
            <a:ahLst/>
            <a:cxnLst/>
            <a:rect l="l" t="t" r="r" b="b"/>
            <a:pathLst>
              <a:path w="532130" h="792480">
                <a:moveTo>
                  <a:pt x="262000" y="7619"/>
                </a:moveTo>
                <a:lnTo>
                  <a:pt x="0" y="7619"/>
                </a:lnTo>
                <a:lnTo>
                  <a:pt x="0" y="0"/>
                </a:lnTo>
                <a:lnTo>
                  <a:pt x="269620" y="0"/>
                </a:lnTo>
                <a:lnTo>
                  <a:pt x="269620" y="3809"/>
                </a:lnTo>
                <a:lnTo>
                  <a:pt x="262000" y="3809"/>
                </a:lnTo>
                <a:lnTo>
                  <a:pt x="262000" y="7619"/>
                </a:lnTo>
                <a:close/>
              </a:path>
              <a:path w="532130" h="792480">
                <a:moveTo>
                  <a:pt x="455421" y="757770"/>
                </a:moveTo>
                <a:lnTo>
                  <a:pt x="262000" y="757770"/>
                </a:lnTo>
                <a:lnTo>
                  <a:pt x="262000" y="3809"/>
                </a:lnTo>
                <a:lnTo>
                  <a:pt x="265810" y="7619"/>
                </a:lnTo>
                <a:lnTo>
                  <a:pt x="269620" y="7619"/>
                </a:lnTo>
                <a:lnTo>
                  <a:pt x="269620" y="750150"/>
                </a:lnTo>
                <a:lnTo>
                  <a:pt x="265810" y="750150"/>
                </a:lnTo>
                <a:lnTo>
                  <a:pt x="269620" y="753960"/>
                </a:lnTo>
                <a:lnTo>
                  <a:pt x="455421" y="753960"/>
                </a:lnTo>
                <a:lnTo>
                  <a:pt x="455421" y="757770"/>
                </a:lnTo>
                <a:close/>
              </a:path>
              <a:path w="532130" h="792480">
                <a:moveTo>
                  <a:pt x="269620" y="7619"/>
                </a:moveTo>
                <a:lnTo>
                  <a:pt x="265810" y="7619"/>
                </a:lnTo>
                <a:lnTo>
                  <a:pt x="262000" y="3809"/>
                </a:lnTo>
                <a:lnTo>
                  <a:pt x="269620" y="3809"/>
                </a:lnTo>
                <a:lnTo>
                  <a:pt x="269620" y="7619"/>
                </a:lnTo>
                <a:close/>
              </a:path>
              <a:path w="532130" h="792480">
                <a:moveTo>
                  <a:pt x="455421" y="792060"/>
                </a:moveTo>
                <a:lnTo>
                  <a:pt x="455421" y="715860"/>
                </a:lnTo>
                <a:lnTo>
                  <a:pt x="524001" y="750150"/>
                </a:lnTo>
                <a:lnTo>
                  <a:pt x="474471" y="750150"/>
                </a:lnTo>
                <a:lnTo>
                  <a:pt x="474471" y="757770"/>
                </a:lnTo>
                <a:lnTo>
                  <a:pt x="524001" y="757770"/>
                </a:lnTo>
                <a:lnTo>
                  <a:pt x="455421" y="792060"/>
                </a:lnTo>
                <a:close/>
              </a:path>
              <a:path w="532130" h="792480">
                <a:moveTo>
                  <a:pt x="269620" y="753960"/>
                </a:moveTo>
                <a:lnTo>
                  <a:pt x="265810" y="750150"/>
                </a:lnTo>
                <a:lnTo>
                  <a:pt x="269620" y="750150"/>
                </a:lnTo>
                <a:lnTo>
                  <a:pt x="269620" y="753960"/>
                </a:lnTo>
                <a:close/>
              </a:path>
              <a:path w="532130" h="792480">
                <a:moveTo>
                  <a:pt x="455421" y="753960"/>
                </a:moveTo>
                <a:lnTo>
                  <a:pt x="269620" y="753960"/>
                </a:lnTo>
                <a:lnTo>
                  <a:pt x="269620" y="750150"/>
                </a:lnTo>
                <a:lnTo>
                  <a:pt x="455421" y="750150"/>
                </a:lnTo>
                <a:lnTo>
                  <a:pt x="455421" y="753960"/>
                </a:lnTo>
                <a:close/>
              </a:path>
              <a:path w="532130" h="792480">
                <a:moveTo>
                  <a:pt x="524001" y="757770"/>
                </a:moveTo>
                <a:lnTo>
                  <a:pt x="474471" y="757770"/>
                </a:lnTo>
                <a:lnTo>
                  <a:pt x="474471" y="750150"/>
                </a:lnTo>
                <a:lnTo>
                  <a:pt x="524001" y="750150"/>
                </a:lnTo>
                <a:lnTo>
                  <a:pt x="531621" y="753960"/>
                </a:lnTo>
                <a:lnTo>
                  <a:pt x="524001" y="7577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314538" y="3034322"/>
            <a:ext cx="532130" cy="788670"/>
          </a:xfrm>
          <a:custGeom>
            <a:avLst/>
            <a:gdLst/>
            <a:ahLst/>
            <a:cxnLst/>
            <a:rect l="l" t="t" r="r" b="b"/>
            <a:pathLst>
              <a:path w="532130" h="788670">
                <a:moveTo>
                  <a:pt x="455421" y="76200"/>
                </a:moveTo>
                <a:lnTo>
                  <a:pt x="455421" y="0"/>
                </a:lnTo>
                <a:lnTo>
                  <a:pt x="524001" y="34289"/>
                </a:lnTo>
                <a:lnTo>
                  <a:pt x="474471" y="34289"/>
                </a:lnTo>
                <a:lnTo>
                  <a:pt x="474471" y="41910"/>
                </a:lnTo>
                <a:lnTo>
                  <a:pt x="524001" y="41910"/>
                </a:lnTo>
                <a:lnTo>
                  <a:pt x="455421" y="76200"/>
                </a:lnTo>
                <a:close/>
              </a:path>
              <a:path w="532130" h="788670">
                <a:moveTo>
                  <a:pt x="262000" y="784313"/>
                </a:moveTo>
                <a:lnTo>
                  <a:pt x="262000" y="34289"/>
                </a:lnTo>
                <a:lnTo>
                  <a:pt x="455421" y="34289"/>
                </a:lnTo>
                <a:lnTo>
                  <a:pt x="455421" y="38100"/>
                </a:lnTo>
                <a:lnTo>
                  <a:pt x="269620" y="38100"/>
                </a:lnTo>
                <a:lnTo>
                  <a:pt x="265810" y="41910"/>
                </a:lnTo>
                <a:lnTo>
                  <a:pt x="269620" y="41910"/>
                </a:lnTo>
                <a:lnTo>
                  <a:pt x="269620" y="780503"/>
                </a:lnTo>
                <a:lnTo>
                  <a:pt x="265810" y="780503"/>
                </a:lnTo>
                <a:lnTo>
                  <a:pt x="262000" y="784313"/>
                </a:lnTo>
                <a:close/>
              </a:path>
              <a:path w="532130" h="788670">
                <a:moveTo>
                  <a:pt x="524001" y="41910"/>
                </a:moveTo>
                <a:lnTo>
                  <a:pt x="474471" y="41910"/>
                </a:lnTo>
                <a:lnTo>
                  <a:pt x="474471" y="34289"/>
                </a:lnTo>
                <a:lnTo>
                  <a:pt x="524001" y="34289"/>
                </a:lnTo>
                <a:lnTo>
                  <a:pt x="531621" y="38100"/>
                </a:lnTo>
                <a:lnTo>
                  <a:pt x="524001" y="41910"/>
                </a:lnTo>
                <a:close/>
              </a:path>
              <a:path w="532130" h="788670">
                <a:moveTo>
                  <a:pt x="269620" y="41910"/>
                </a:moveTo>
                <a:lnTo>
                  <a:pt x="265810" y="41910"/>
                </a:lnTo>
                <a:lnTo>
                  <a:pt x="269620" y="38100"/>
                </a:lnTo>
                <a:lnTo>
                  <a:pt x="269620" y="41910"/>
                </a:lnTo>
                <a:close/>
              </a:path>
              <a:path w="532130" h="788670">
                <a:moveTo>
                  <a:pt x="455421" y="41910"/>
                </a:moveTo>
                <a:lnTo>
                  <a:pt x="269620" y="41910"/>
                </a:lnTo>
                <a:lnTo>
                  <a:pt x="269620" y="38100"/>
                </a:lnTo>
                <a:lnTo>
                  <a:pt x="455421" y="38100"/>
                </a:lnTo>
                <a:lnTo>
                  <a:pt x="455421" y="41910"/>
                </a:lnTo>
                <a:close/>
              </a:path>
              <a:path w="532130" h="788670">
                <a:moveTo>
                  <a:pt x="269620" y="788123"/>
                </a:moveTo>
                <a:lnTo>
                  <a:pt x="0" y="788123"/>
                </a:lnTo>
                <a:lnTo>
                  <a:pt x="0" y="780503"/>
                </a:lnTo>
                <a:lnTo>
                  <a:pt x="262000" y="780503"/>
                </a:lnTo>
                <a:lnTo>
                  <a:pt x="262000" y="784313"/>
                </a:lnTo>
                <a:lnTo>
                  <a:pt x="269620" y="784313"/>
                </a:lnTo>
                <a:lnTo>
                  <a:pt x="269620" y="788123"/>
                </a:lnTo>
                <a:close/>
              </a:path>
              <a:path w="532130" h="788670">
                <a:moveTo>
                  <a:pt x="269620" y="784313"/>
                </a:moveTo>
                <a:lnTo>
                  <a:pt x="262000" y="784313"/>
                </a:lnTo>
                <a:lnTo>
                  <a:pt x="265810" y="780503"/>
                </a:lnTo>
                <a:lnTo>
                  <a:pt x="269620" y="780503"/>
                </a:lnTo>
                <a:lnTo>
                  <a:pt x="269620" y="7843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406652" y="2523744"/>
            <a:ext cx="611505" cy="253365"/>
          </a:xfrm>
          <a:custGeom>
            <a:avLst/>
            <a:gdLst/>
            <a:ahLst/>
            <a:cxnLst/>
            <a:rect l="l" t="t" r="r" b="b"/>
            <a:pathLst>
              <a:path w="611505" h="253364">
                <a:moveTo>
                  <a:pt x="0" y="0"/>
                </a:moveTo>
                <a:lnTo>
                  <a:pt x="611123" y="0"/>
                </a:lnTo>
                <a:lnTo>
                  <a:pt x="611123" y="252983"/>
                </a:lnTo>
                <a:lnTo>
                  <a:pt x="0" y="252983"/>
                </a:lnTo>
                <a:lnTo>
                  <a:pt x="0" y="0"/>
                </a:lnTo>
                <a:close/>
              </a:path>
            </a:pathLst>
          </a:custGeom>
          <a:solidFill>
            <a:srgbClr val="FB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484909" y="2573951"/>
            <a:ext cx="4591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006FC0"/>
                </a:solidFill>
                <a:latin typeface="Arial Unicode MS"/>
                <a:cs typeface="Arial Unicode MS"/>
              </a:rPr>
              <a:t>01</a:t>
            </a:r>
            <a:r>
              <a:rPr sz="1050" spc="-5" dirty="0">
                <a:solidFill>
                  <a:srgbClr val="006FC0"/>
                </a:solidFill>
                <a:latin typeface="Arial Unicode MS"/>
                <a:cs typeface="Arial Unicode MS"/>
              </a:rPr>
              <a:t>预</a:t>
            </a:r>
            <a:r>
              <a:rPr sz="1050" dirty="0">
                <a:solidFill>
                  <a:srgbClr val="006FC0"/>
                </a:solidFill>
                <a:latin typeface="Arial Unicode MS"/>
                <a:cs typeface="Arial Unicode MS"/>
              </a:rPr>
              <a:t>约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497609" y="2716707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3069" y="0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406652" y="3444240"/>
            <a:ext cx="879475" cy="254635"/>
          </a:xfrm>
          <a:custGeom>
            <a:avLst/>
            <a:gdLst/>
            <a:ahLst/>
            <a:cxnLst/>
            <a:rect l="l" t="t" r="r" b="b"/>
            <a:pathLst>
              <a:path w="879475" h="254635">
                <a:moveTo>
                  <a:pt x="0" y="0"/>
                </a:moveTo>
                <a:lnTo>
                  <a:pt x="879347" y="0"/>
                </a:lnTo>
                <a:lnTo>
                  <a:pt x="879347" y="254508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B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484909" y="3495234"/>
            <a:ext cx="7258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006FC0"/>
                </a:solidFill>
                <a:latin typeface="Arial Unicode MS"/>
                <a:cs typeface="Arial Unicode MS"/>
              </a:rPr>
              <a:t>02</a:t>
            </a:r>
            <a:r>
              <a:rPr sz="1050" spc="-5" dirty="0">
                <a:solidFill>
                  <a:srgbClr val="006FC0"/>
                </a:solidFill>
                <a:latin typeface="Arial Unicode MS"/>
                <a:cs typeface="Arial Unicode MS"/>
              </a:rPr>
              <a:t>安排司</a:t>
            </a:r>
            <a:r>
              <a:rPr sz="1050" dirty="0">
                <a:solidFill>
                  <a:srgbClr val="006FC0"/>
                </a:solidFill>
                <a:latin typeface="Arial Unicode MS"/>
                <a:cs typeface="Arial Unicode MS"/>
              </a:rPr>
              <a:t>机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497609" y="3637991"/>
            <a:ext cx="699770" cy="0"/>
          </a:xfrm>
          <a:custGeom>
            <a:avLst/>
            <a:gdLst/>
            <a:ahLst/>
            <a:cxnLst/>
            <a:rect l="l" t="t" r="r" b="b"/>
            <a:pathLst>
              <a:path w="699769">
                <a:moveTo>
                  <a:pt x="0" y="0"/>
                </a:moveTo>
                <a:lnTo>
                  <a:pt x="699769" y="0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458161" y="2287930"/>
            <a:ext cx="464820" cy="788670"/>
          </a:xfrm>
          <a:custGeom>
            <a:avLst/>
            <a:gdLst/>
            <a:ahLst/>
            <a:cxnLst/>
            <a:rect l="l" t="t" r="r" b="b"/>
            <a:pathLst>
              <a:path w="464819" h="788669">
                <a:moveTo>
                  <a:pt x="388467" y="76200"/>
                </a:moveTo>
                <a:lnTo>
                  <a:pt x="388467" y="0"/>
                </a:lnTo>
                <a:lnTo>
                  <a:pt x="457047" y="34290"/>
                </a:lnTo>
                <a:lnTo>
                  <a:pt x="407517" y="34290"/>
                </a:lnTo>
                <a:lnTo>
                  <a:pt x="407517" y="41910"/>
                </a:lnTo>
                <a:lnTo>
                  <a:pt x="457047" y="41910"/>
                </a:lnTo>
                <a:lnTo>
                  <a:pt x="388467" y="76200"/>
                </a:lnTo>
                <a:close/>
              </a:path>
              <a:path w="464819" h="788669">
                <a:moveTo>
                  <a:pt x="228523" y="784491"/>
                </a:moveTo>
                <a:lnTo>
                  <a:pt x="228523" y="34290"/>
                </a:lnTo>
                <a:lnTo>
                  <a:pt x="388467" y="34290"/>
                </a:lnTo>
                <a:lnTo>
                  <a:pt x="388467" y="38100"/>
                </a:lnTo>
                <a:lnTo>
                  <a:pt x="236143" y="38100"/>
                </a:lnTo>
                <a:lnTo>
                  <a:pt x="232333" y="41910"/>
                </a:lnTo>
                <a:lnTo>
                  <a:pt x="236143" y="41910"/>
                </a:lnTo>
                <a:lnTo>
                  <a:pt x="236143" y="780681"/>
                </a:lnTo>
                <a:lnTo>
                  <a:pt x="232333" y="780681"/>
                </a:lnTo>
                <a:lnTo>
                  <a:pt x="228523" y="784491"/>
                </a:lnTo>
                <a:close/>
              </a:path>
              <a:path w="464819" h="788669">
                <a:moveTo>
                  <a:pt x="457047" y="41910"/>
                </a:moveTo>
                <a:lnTo>
                  <a:pt x="407517" y="41910"/>
                </a:lnTo>
                <a:lnTo>
                  <a:pt x="407517" y="34290"/>
                </a:lnTo>
                <a:lnTo>
                  <a:pt x="457047" y="34290"/>
                </a:lnTo>
                <a:lnTo>
                  <a:pt x="464667" y="38100"/>
                </a:lnTo>
                <a:lnTo>
                  <a:pt x="457047" y="41910"/>
                </a:lnTo>
                <a:close/>
              </a:path>
              <a:path w="464819" h="788669">
                <a:moveTo>
                  <a:pt x="236143" y="41910"/>
                </a:moveTo>
                <a:lnTo>
                  <a:pt x="232333" y="41910"/>
                </a:lnTo>
                <a:lnTo>
                  <a:pt x="236143" y="38100"/>
                </a:lnTo>
                <a:lnTo>
                  <a:pt x="236143" y="41910"/>
                </a:lnTo>
                <a:close/>
              </a:path>
              <a:path w="464819" h="788669">
                <a:moveTo>
                  <a:pt x="388467" y="41910"/>
                </a:moveTo>
                <a:lnTo>
                  <a:pt x="236143" y="41910"/>
                </a:lnTo>
                <a:lnTo>
                  <a:pt x="236143" y="38100"/>
                </a:lnTo>
                <a:lnTo>
                  <a:pt x="388467" y="38100"/>
                </a:lnTo>
                <a:lnTo>
                  <a:pt x="388467" y="41910"/>
                </a:lnTo>
                <a:close/>
              </a:path>
              <a:path w="464819" h="788669">
                <a:moveTo>
                  <a:pt x="236143" y="788301"/>
                </a:moveTo>
                <a:lnTo>
                  <a:pt x="0" y="788301"/>
                </a:lnTo>
                <a:lnTo>
                  <a:pt x="0" y="780681"/>
                </a:lnTo>
                <a:lnTo>
                  <a:pt x="228523" y="780681"/>
                </a:lnTo>
                <a:lnTo>
                  <a:pt x="228523" y="784491"/>
                </a:lnTo>
                <a:lnTo>
                  <a:pt x="236143" y="784491"/>
                </a:lnTo>
                <a:lnTo>
                  <a:pt x="236143" y="788301"/>
                </a:lnTo>
                <a:close/>
              </a:path>
              <a:path w="464819" h="788669">
                <a:moveTo>
                  <a:pt x="236143" y="784491"/>
                </a:moveTo>
                <a:lnTo>
                  <a:pt x="228523" y="784491"/>
                </a:lnTo>
                <a:lnTo>
                  <a:pt x="232333" y="780681"/>
                </a:lnTo>
                <a:lnTo>
                  <a:pt x="236143" y="780681"/>
                </a:lnTo>
                <a:lnTo>
                  <a:pt x="236143" y="784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520695" y="2523744"/>
            <a:ext cx="611505" cy="253365"/>
          </a:xfrm>
          <a:custGeom>
            <a:avLst/>
            <a:gdLst/>
            <a:ahLst/>
            <a:cxnLst/>
            <a:rect l="l" t="t" r="r" b="b"/>
            <a:pathLst>
              <a:path w="611505" h="253364">
                <a:moveTo>
                  <a:pt x="0" y="0"/>
                </a:moveTo>
                <a:lnTo>
                  <a:pt x="611124" y="0"/>
                </a:lnTo>
                <a:lnTo>
                  <a:pt x="611124" y="252983"/>
                </a:lnTo>
                <a:lnTo>
                  <a:pt x="0" y="252983"/>
                </a:lnTo>
                <a:lnTo>
                  <a:pt x="0" y="0"/>
                </a:lnTo>
                <a:close/>
              </a:path>
            </a:pathLst>
          </a:custGeom>
          <a:solidFill>
            <a:srgbClr val="FB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599702" y="2573951"/>
            <a:ext cx="4591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006FC0"/>
                </a:solidFill>
                <a:latin typeface="Arial Unicode MS"/>
                <a:cs typeface="Arial Unicode MS"/>
              </a:rPr>
              <a:t>03</a:t>
            </a:r>
            <a:r>
              <a:rPr sz="1050" spc="-5" dirty="0">
                <a:solidFill>
                  <a:srgbClr val="006FC0"/>
                </a:solidFill>
                <a:latin typeface="Arial Unicode MS"/>
                <a:cs typeface="Arial Unicode MS"/>
              </a:rPr>
              <a:t>签</a:t>
            </a:r>
            <a:r>
              <a:rPr sz="1050" dirty="0">
                <a:solidFill>
                  <a:srgbClr val="006FC0"/>
                </a:solidFill>
                <a:latin typeface="Arial Unicode MS"/>
                <a:cs typeface="Arial Unicode MS"/>
              </a:rPr>
              <a:t>到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612402" y="2716707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3069" y="0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330727" y="1551330"/>
            <a:ext cx="7118984" cy="621665"/>
          </a:xfrm>
          <a:custGeom>
            <a:avLst/>
            <a:gdLst/>
            <a:ahLst/>
            <a:cxnLst/>
            <a:rect l="l" t="t" r="r" b="b"/>
            <a:pathLst>
              <a:path w="7118984" h="621664">
                <a:moveTo>
                  <a:pt x="7620" y="621461"/>
                </a:moveTo>
                <a:lnTo>
                  <a:pt x="0" y="621461"/>
                </a:lnTo>
                <a:lnTo>
                  <a:pt x="0" y="0"/>
                </a:lnTo>
                <a:lnTo>
                  <a:pt x="7084301" y="0"/>
                </a:lnTo>
                <a:lnTo>
                  <a:pt x="7084301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621461"/>
                </a:lnTo>
                <a:close/>
              </a:path>
              <a:path w="7118984" h="621664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7118984" h="621664">
                <a:moveTo>
                  <a:pt x="7076681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7076681" y="3810"/>
                </a:lnTo>
                <a:lnTo>
                  <a:pt x="7076681" y="7620"/>
                </a:lnTo>
                <a:close/>
              </a:path>
              <a:path w="7118984" h="621664">
                <a:moveTo>
                  <a:pt x="7084301" y="175260"/>
                </a:moveTo>
                <a:lnTo>
                  <a:pt x="7076681" y="175260"/>
                </a:lnTo>
                <a:lnTo>
                  <a:pt x="7076681" y="3810"/>
                </a:lnTo>
                <a:lnTo>
                  <a:pt x="7080491" y="7620"/>
                </a:lnTo>
                <a:lnTo>
                  <a:pt x="7084301" y="7620"/>
                </a:lnTo>
                <a:lnTo>
                  <a:pt x="7084301" y="175260"/>
                </a:lnTo>
                <a:close/>
              </a:path>
              <a:path w="7118984" h="621664">
                <a:moveTo>
                  <a:pt x="7084301" y="7620"/>
                </a:moveTo>
                <a:lnTo>
                  <a:pt x="7080491" y="7620"/>
                </a:lnTo>
                <a:lnTo>
                  <a:pt x="7076681" y="3810"/>
                </a:lnTo>
                <a:lnTo>
                  <a:pt x="7084301" y="3810"/>
                </a:lnTo>
                <a:lnTo>
                  <a:pt x="7084301" y="7620"/>
                </a:lnTo>
                <a:close/>
              </a:path>
              <a:path w="7118984" h="621664">
                <a:moveTo>
                  <a:pt x="7080491" y="232410"/>
                </a:moveTo>
                <a:lnTo>
                  <a:pt x="7042391" y="156210"/>
                </a:lnTo>
                <a:lnTo>
                  <a:pt x="7076681" y="156210"/>
                </a:lnTo>
                <a:lnTo>
                  <a:pt x="7076681" y="175260"/>
                </a:lnTo>
                <a:lnTo>
                  <a:pt x="7109066" y="175260"/>
                </a:lnTo>
                <a:lnTo>
                  <a:pt x="7080491" y="232410"/>
                </a:lnTo>
                <a:close/>
              </a:path>
              <a:path w="7118984" h="621664">
                <a:moveTo>
                  <a:pt x="7109066" y="175260"/>
                </a:moveTo>
                <a:lnTo>
                  <a:pt x="7084301" y="175260"/>
                </a:lnTo>
                <a:lnTo>
                  <a:pt x="7084301" y="156210"/>
                </a:lnTo>
                <a:lnTo>
                  <a:pt x="7118591" y="156210"/>
                </a:lnTo>
                <a:lnTo>
                  <a:pt x="7109066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330727" y="1907209"/>
            <a:ext cx="3727450" cy="266065"/>
          </a:xfrm>
          <a:custGeom>
            <a:avLst/>
            <a:gdLst/>
            <a:ahLst/>
            <a:cxnLst/>
            <a:rect l="l" t="t" r="r" b="b"/>
            <a:pathLst>
              <a:path w="3727450" h="266064">
                <a:moveTo>
                  <a:pt x="3650780" y="76200"/>
                </a:moveTo>
                <a:lnTo>
                  <a:pt x="3650780" y="0"/>
                </a:lnTo>
                <a:lnTo>
                  <a:pt x="3719360" y="34290"/>
                </a:lnTo>
                <a:lnTo>
                  <a:pt x="3669830" y="34290"/>
                </a:lnTo>
                <a:lnTo>
                  <a:pt x="3669830" y="41910"/>
                </a:lnTo>
                <a:lnTo>
                  <a:pt x="3719360" y="41910"/>
                </a:lnTo>
                <a:lnTo>
                  <a:pt x="3650780" y="76200"/>
                </a:lnTo>
                <a:close/>
              </a:path>
              <a:path w="3727450" h="266064">
                <a:moveTo>
                  <a:pt x="7620" y="265595"/>
                </a:moveTo>
                <a:lnTo>
                  <a:pt x="0" y="265595"/>
                </a:lnTo>
                <a:lnTo>
                  <a:pt x="0" y="34290"/>
                </a:lnTo>
                <a:lnTo>
                  <a:pt x="3650780" y="34290"/>
                </a:lnTo>
                <a:lnTo>
                  <a:pt x="3650780" y="38100"/>
                </a:lnTo>
                <a:lnTo>
                  <a:pt x="7620" y="38100"/>
                </a:lnTo>
                <a:lnTo>
                  <a:pt x="3810" y="41910"/>
                </a:lnTo>
                <a:lnTo>
                  <a:pt x="7620" y="41910"/>
                </a:lnTo>
                <a:lnTo>
                  <a:pt x="7620" y="265595"/>
                </a:lnTo>
                <a:close/>
              </a:path>
              <a:path w="3727450" h="266064">
                <a:moveTo>
                  <a:pt x="3719360" y="41910"/>
                </a:moveTo>
                <a:lnTo>
                  <a:pt x="3669830" y="41910"/>
                </a:lnTo>
                <a:lnTo>
                  <a:pt x="3669830" y="34290"/>
                </a:lnTo>
                <a:lnTo>
                  <a:pt x="3719360" y="34290"/>
                </a:lnTo>
                <a:lnTo>
                  <a:pt x="3726980" y="38100"/>
                </a:lnTo>
                <a:lnTo>
                  <a:pt x="3719360" y="41910"/>
                </a:lnTo>
                <a:close/>
              </a:path>
              <a:path w="3727450" h="266064">
                <a:moveTo>
                  <a:pt x="7620" y="41910"/>
                </a:moveTo>
                <a:lnTo>
                  <a:pt x="3810" y="41910"/>
                </a:lnTo>
                <a:lnTo>
                  <a:pt x="7620" y="38100"/>
                </a:lnTo>
                <a:lnTo>
                  <a:pt x="7620" y="41910"/>
                </a:lnTo>
                <a:close/>
              </a:path>
              <a:path w="3727450" h="266064">
                <a:moveTo>
                  <a:pt x="3650780" y="41910"/>
                </a:moveTo>
                <a:lnTo>
                  <a:pt x="7620" y="41910"/>
                </a:lnTo>
                <a:lnTo>
                  <a:pt x="7620" y="38100"/>
                </a:lnTo>
                <a:lnTo>
                  <a:pt x="3650780" y="38100"/>
                </a:lnTo>
                <a:lnTo>
                  <a:pt x="3650780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749040" y="1461516"/>
            <a:ext cx="1518285" cy="254635"/>
          </a:xfrm>
          <a:custGeom>
            <a:avLst/>
            <a:gdLst/>
            <a:ahLst/>
            <a:cxnLst/>
            <a:rect l="l" t="t" r="r" b="b"/>
            <a:pathLst>
              <a:path w="1518285" h="254635">
                <a:moveTo>
                  <a:pt x="0" y="0"/>
                </a:moveTo>
                <a:lnTo>
                  <a:pt x="1517903" y="0"/>
                </a:lnTo>
                <a:lnTo>
                  <a:pt x="1517903" y="254508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B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3828427" y="1513171"/>
            <a:ext cx="135382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006FC0"/>
                </a:solidFill>
                <a:latin typeface="Arial Unicode MS"/>
                <a:cs typeface="Arial Unicode MS"/>
              </a:rPr>
              <a:t>0</a:t>
            </a:r>
            <a:r>
              <a:rPr sz="1050" spc="70" dirty="0">
                <a:solidFill>
                  <a:srgbClr val="006FC0"/>
                </a:solidFill>
                <a:latin typeface="Arial Unicode MS"/>
                <a:cs typeface="Arial Unicode MS"/>
              </a:rPr>
              <a:t>4</a:t>
            </a:r>
            <a:r>
              <a:rPr sz="1050" spc="40" dirty="0">
                <a:solidFill>
                  <a:srgbClr val="006FC0"/>
                </a:solidFill>
                <a:latin typeface="Arial Unicode MS"/>
                <a:cs typeface="Arial Unicode MS"/>
              </a:rPr>
              <a:t> </a:t>
            </a:r>
            <a:r>
              <a:rPr sz="1050" spc="-5" dirty="0">
                <a:solidFill>
                  <a:srgbClr val="006FC0"/>
                </a:solidFill>
                <a:latin typeface="Arial Unicode MS"/>
                <a:cs typeface="Arial Unicode MS"/>
              </a:rPr>
              <a:t>通知人员</a:t>
            </a:r>
            <a:r>
              <a:rPr sz="1050" spc="105" dirty="0">
                <a:solidFill>
                  <a:srgbClr val="006FC0"/>
                </a:solidFill>
                <a:latin typeface="Arial Unicode MS"/>
                <a:cs typeface="Arial Unicode MS"/>
              </a:rPr>
              <a:t>/</a:t>
            </a:r>
            <a:r>
              <a:rPr sz="1050" spc="-5" dirty="0">
                <a:solidFill>
                  <a:srgbClr val="006FC0"/>
                </a:solidFill>
                <a:latin typeface="Arial Unicode MS"/>
                <a:cs typeface="Arial Unicode MS"/>
              </a:rPr>
              <a:t>仓库准</a:t>
            </a:r>
            <a:r>
              <a:rPr sz="1050" dirty="0">
                <a:solidFill>
                  <a:srgbClr val="006FC0"/>
                </a:solidFill>
                <a:latin typeface="Arial Unicode MS"/>
                <a:cs typeface="Arial Unicode MS"/>
              </a:rPr>
              <a:t>备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841127" y="1655927"/>
            <a:ext cx="1327785" cy="0"/>
          </a:xfrm>
          <a:custGeom>
            <a:avLst/>
            <a:gdLst/>
            <a:ahLst/>
            <a:cxnLst/>
            <a:rect l="l" t="t" r="r" b="b"/>
            <a:pathLst>
              <a:path w="1327785">
                <a:moveTo>
                  <a:pt x="0" y="0"/>
                </a:moveTo>
                <a:lnTo>
                  <a:pt x="1327784" y="0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4890515" y="1804416"/>
            <a:ext cx="1287780" cy="254635"/>
          </a:xfrm>
          <a:prstGeom prst="rect">
            <a:avLst/>
          </a:prstGeom>
          <a:solidFill>
            <a:srgbClr val="FAFAFA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1050" u="sng" spc="65" dirty="0">
                <a:solidFill>
                  <a:srgbClr val="006FC0"/>
                </a:solidFill>
                <a:latin typeface="Arial Unicode MS"/>
                <a:cs typeface="Arial Unicode MS"/>
              </a:rPr>
              <a:t>0</a:t>
            </a:r>
            <a:r>
              <a:rPr sz="1050" u="sng" spc="70" dirty="0">
                <a:solidFill>
                  <a:srgbClr val="006FC0"/>
                </a:solidFill>
                <a:latin typeface="Arial Unicode MS"/>
                <a:cs typeface="Arial Unicode MS"/>
              </a:rPr>
              <a:t>5</a:t>
            </a:r>
            <a:r>
              <a:rPr sz="1050" u="sng" spc="35" dirty="0">
                <a:solidFill>
                  <a:srgbClr val="006FC0"/>
                </a:solidFill>
                <a:latin typeface="Arial Unicode MS"/>
                <a:cs typeface="Arial Unicode MS"/>
              </a:rPr>
              <a:t> </a:t>
            </a:r>
            <a:r>
              <a:rPr sz="1050" u="sng" spc="-5" dirty="0">
                <a:solidFill>
                  <a:srgbClr val="006FC0"/>
                </a:solidFill>
                <a:latin typeface="Arial Unicode MS"/>
                <a:cs typeface="Arial Unicode MS"/>
              </a:rPr>
              <a:t>分配</a:t>
            </a:r>
            <a:r>
              <a:rPr sz="1050" u="sng" spc="105" dirty="0">
                <a:solidFill>
                  <a:srgbClr val="006FC0"/>
                </a:solidFill>
                <a:latin typeface="Arial Unicode MS"/>
                <a:cs typeface="Arial Unicode MS"/>
              </a:rPr>
              <a:t>/</a:t>
            </a:r>
            <a:r>
              <a:rPr sz="1050" u="sng" spc="-5" dirty="0">
                <a:solidFill>
                  <a:srgbClr val="006FC0"/>
                </a:solidFill>
                <a:latin typeface="Arial Unicode MS"/>
                <a:cs typeface="Arial Unicode MS"/>
              </a:rPr>
              <a:t>确认月</a:t>
            </a:r>
            <a:r>
              <a:rPr sz="1050" u="sng" dirty="0">
                <a:solidFill>
                  <a:srgbClr val="006FC0"/>
                </a:solidFill>
                <a:latin typeface="Arial Unicode MS"/>
                <a:cs typeface="Arial Unicode MS"/>
              </a:rPr>
              <a:t>台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330727" y="2479268"/>
            <a:ext cx="150495" cy="613410"/>
          </a:xfrm>
          <a:custGeom>
            <a:avLst/>
            <a:gdLst/>
            <a:ahLst/>
            <a:cxnLst/>
            <a:rect l="l" t="t" r="r" b="b"/>
            <a:pathLst>
              <a:path w="150495" h="613410">
                <a:moveTo>
                  <a:pt x="108191" y="310400"/>
                </a:moveTo>
                <a:lnTo>
                  <a:pt x="0" y="310400"/>
                </a:lnTo>
                <a:lnTo>
                  <a:pt x="0" y="0"/>
                </a:lnTo>
                <a:lnTo>
                  <a:pt x="7620" y="0"/>
                </a:lnTo>
                <a:lnTo>
                  <a:pt x="7620" y="302780"/>
                </a:lnTo>
                <a:lnTo>
                  <a:pt x="3810" y="302780"/>
                </a:lnTo>
                <a:lnTo>
                  <a:pt x="7620" y="306590"/>
                </a:lnTo>
                <a:lnTo>
                  <a:pt x="108191" y="306590"/>
                </a:lnTo>
                <a:lnTo>
                  <a:pt x="108191" y="310400"/>
                </a:lnTo>
                <a:close/>
              </a:path>
              <a:path w="150495" h="613410">
                <a:moveTo>
                  <a:pt x="7620" y="306590"/>
                </a:moveTo>
                <a:lnTo>
                  <a:pt x="3810" y="302780"/>
                </a:lnTo>
                <a:lnTo>
                  <a:pt x="7620" y="302780"/>
                </a:lnTo>
                <a:lnTo>
                  <a:pt x="7620" y="306590"/>
                </a:lnTo>
                <a:close/>
              </a:path>
              <a:path w="150495" h="613410">
                <a:moveTo>
                  <a:pt x="115811" y="310400"/>
                </a:moveTo>
                <a:lnTo>
                  <a:pt x="112001" y="310400"/>
                </a:lnTo>
                <a:lnTo>
                  <a:pt x="108191" y="306590"/>
                </a:lnTo>
                <a:lnTo>
                  <a:pt x="7620" y="306590"/>
                </a:lnTo>
                <a:lnTo>
                  <a:pt x="7620" y="302780"/>
                </a:lnTo>
                <a:lnTo>
                  <a:pt x="115811" y="302780"/>
                </a:lnTo>
                <a:lnTo>
                  <a:pt x="115811" y="310400"/>
                </a:lnTo>
                <a:close/>
              </a:path>
              <a:path w="150495" h="613410">
                <a:moveTo>
                  <a:pt x="115811" y="556044"/>
                </a:moveTo>
                <a:lnTo>
                  <a:pt x="108191" y="556044"/>
                </a:lnTo>
                <a:lnTo>
                  <a:pt x="108191" y="306590"/>
                </a:lnTo>
                <a:lnTo>
                  <a:pt x="112001" y="310400"/>
                </a:lnTo>
                <a:lnTo>
                  <a:pt x="115811" y="310400"/>
                </a:lnTo>
                <a:lnTo>
                  <a:pt x="115811" y="556044"/>
                </a:lnTo>
                <a:close/>
              </a:path>
              <a:path w="150495" h="613410">
                <a:moveTo>
                  <a:pt x="112001" y="613194"/>
                </a:moveTo>
                <a:lnTo>
                  <a:pt x="73901" y="536994"/>
                </a:lnTo>
                <a:lnTo>
                  <a:pt x="108191" y="536994"/>
                </a:lnTo>
                <a:lnTo>
                  <a:pt x="108191" y="556044"/>
                </a:lnTo>
                <a:lnTo>
                  <a:pt x="140576" y="556044"/>
                </a:lnTo>
                <a:lnTo>
                  <a:pt x="112001" y="613194"/>
                </a:lnTo>
                <a:close/>
              </a:path>
              <a:path w="150495" h="613410">
                <a:moveTo>
                  <a:pt x="140576" y="556044"/>
                </a:moveTo>
                <a:lnTo>
                  <a:pt x="115811" y="556044"/>
                </a:lnTo>
                <a:lnTo>
                  <a:pt x="115811" y="536994"/>
                </a:lnTo>
                <a:lnTo>
                  <a:pt x="150101" y="536994"/>
                </a:lnTo>
                <a:lnTo>
                  <a:pt x="140576" y="5560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259835" y="2653283"/>
            <a:ext cx="879475" cy="254635"/>
          </a:xfrm>
          <a:custGeom>
            <a:avLst/>
            <a:gdLst/>
            <a:ahLst/>
            <a:cxnLst/>
            <a:rect l="l" t="t" r="r" b="b"/>
            <a:pathLst>
              <a:path w="879475" h="254635">
                <a:moveTo>
                  <a:pt x="0" y="0"/>
                </a:moveTo>
                <a:lnTo>
                  <a:pt x="879348" y="0"/>
                </a:lnTo>
                <a:lnTo>
                  <a:pt x="879348" y="254508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B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3338233" y="2704583"/>
            <a:ext cx="7258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006FC0"/>
                </a:solidFill>
                <a:latin typeface="Arial Unicode MS"/>
                <a:cs typeface="Arial Unicode MS"/>
              </a:rPr>
              <a:t>06</a:t>
            </a:r>
            <a:r>
              <a:rPr sz="1050" spc="-5" dirty="0">
                <a:solidFill>
                  <a:srgbClr val="006FC0"/>
                </a:solidFill>
                <a:latin typeface="Arial Unicode MS"/>
                <a:cs typeface="Arial Unicode MS"/>
              </a:rPr>
              <a:t>排队入</a:t>
            </a:r>
            <a:r>
              <a:rPr sz="1050" dirty="0">
                <a:solidFill>
                  <a:srgbClr val="006FC0"/>
                </a:solidFill>
                <a:latin typeface="Arial Unicode MS"/>
                <a:cs typeface="Arial Unicode MS"/>
              </a:rPr>
              <a:t>场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350933" y="2847339"/>
            <a:ext cx="699770" cy="0"/>
          </a:xfrm>
          <a:custGeom>
            <a:avLst/>
            <a:gdLst/>
            <a:ahLst/>
            <a:cxnLst/>
            <a:rect l="l" t="t" r="r" b="b"/>
            <a:pathLst>
              <a:path w="699770">
                <a:moveTo>
                  <a:pt x="0" y="0"/>
                </a:moveTo>
                <a:lnTo>
                  <a:pt x="699769" y="0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404628" y="3398939"/>
            <a:ext cx="76200" cy="484505"/>
          </a:xfrm>
          <a:custGeom>
            <a:avLst/>
            <a:gdLst/>
            <a:ahLst/>
            <a:cxnLst/>
            <a:rect l="l" t="t" r="r" b="b"/>
            <a:pathLst>
              <a:path w="76200" h="484504">
                <a:moveTo>
                  <a:pt x="41909" y="426897"/>
                </a:moveTo>
                <a:lnTo>
                  <a:pt x="34289" y="426897"/>
                </a:lnTo>
                <a:lnTo>
                  <a:pt x="34289" y="0"/>
                </a:lnTo>
                <a:lnTo>
                  <a:pt x="41909" y="0"/>
                </a:lnTo>
                <a:lnTo>
                  <a:pt x="41909" y="426897"/>
                </a:lnTo>
                <a:close/>
              </a:path>
              <a:path w="76200" h="484504">
                <a:moveTo>
                  <a:pt x="38100" y="484047"/>
                </a:moveTo>
                <a:lnTo>
                  <a:pt x="0" y="407847"/>
                </a:lnTo>
                <a:lnTo>
                  <a:pt x="34289" y="407847"/>
                </a:lnTo>
                <a:lnTo>
                  <a:pt x="34289" y="426897"/>
                </a:lnTo>
                <a:lnTo>
                  <a:pt x="66675" y="426897"/>
                </a:lnTo>
                <a:lnTo>
                  <a:pt x="38100" y="484047"/>
                </a:lnTo>
                <a:close/>
              </a:path>
              <a:path w="76200" h="484504">
                <a:moveTo>
                  <a:pt x="66675" y="426897"/>
                </a:moveTo>
                <a:lnTo>
                  <a:pt x="41909" y="426897"/>
                </a:lnTo>
                <a:lnTo>
                  <a:pt x="41909" y="407847"/>
                </a:lnTo>
                <a:lnTo>
                  <a:pt x="76200" y="407847"/>
                </a:lnTo>
                <a:lnTo>
                  <a:pt x="66675" y="4268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259835" y="3488435"/>
            <a:ext cx="879475" cy="254635"/>
          </a:xfrm>
          <a:custGeom>
            <a:avLst/>
            <a:gdLst/>
            <a:ahLst/>
            <a:cxnLst/>
            <a:rect l="l" t="t" r="r" b="b"/>
            <a:pathLst>
              <a:path w="879475" h="254635">
                <a:moveTo>
                  <a:pt x="0" y="0"/>
                </a:moveTo>
                <a:lnTo>
                  <a:pt x="879348" y="0"/>
                </a:lnTo>
                <a:lnTo>
                  <a:pt x="879348" y="254508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B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338233" y="3540002"/>
            <a:ext cx="7258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006FC0"/>
                </a:solidFill>
                <a:latin typeface="Arial Unicode MS"/>
                <a:cs typeface="Arial Unicode MS"/>
              </a:rPr>
              <a:t>07</a:t>
            </a:r>
            <a:r>
              <a:rPr sz="1050" spc="-5" dirty="0">
                <a:solidFill>
                  <a:srgbClr val="006FC0"/>
                </a:solidFill>
                <a:latin typeface="Arial Unicode MS"/>
                <a:cs typeface="Arial Unicode MS"/>
              </a:rPr>
              <a:t>入场检</a:t>
            </a:r>
            <a:r>
              <a:rPr sz="1050" dirty="0">
                <a:solidFill>
                  <a:srgbClr val="006FC0"/>
                </a:solidFill>
                <a:latin typeface="Arial Unicode MS"/>
                <a:cs typeface="Arial Unicode MS"/>
              </a:rPr>
              <a:t>查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3350933" y="3682758"/>
            <a:ext cx="699770" cy="0"/>
          </a:xfrm>
          <a:custGeom>
            <a:avLst/>
            <a:gdLst/>
            <a:ahLst/>
            <a:cxnLst/>
            <a:rect l="l" t="t" r="r" b="b"/>
            <a:pathLst>
              <a:path w="699770">
                <a:moveTo>
                  <a:pt x="0" y="0"/>
                </a:moveTo>
                <a:lnTo>
                  <a:pt x="699769" y="0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854450" y="3998112"/>
            <a:ext cx="632460" cy="76200"/>
          </a:xfrm>
          <a:custGeom>
            <a:avLst/>
            <a:gdLst/>
            <a:ahLst/>
            <a:cxnLst/>
            <a:rect l="l" t="t" r="r" b="b"/>
            <a:pathLst>
              <a:path w="632460" h="76200">
                <a:moveTo>
                  <a:pt x="555650" y="76200"/>
                </a:moveTo>
                <a:lnTo>
                  <a:pt x="555650" y="0"/>
                </a:lnTo>
                <a:lnTo>
                  <a:pt x="624230" y="34289"/>
                </a:lnTo>
                <a:lnTo>
                  <a:pt x="574700" y="34289"/>
                </a:lnTo>
                <a:lnTo>
                  <a:pt x="574700" y="41910"/>
                </a:lnTo>
                <a:lnTo>
                  <a:pt x="624230" y="41910"/>
                </a:lnTo>
                <a:lnTo>
                  <a:pt x="555650" y="76200"/>
                </a:lnTo>
                <a:close/>
              </a:path>
              <a:path w="632460" h="76200">
                <a:moveTo>
                  <a:pt x="555650" y="41910"/>
                </a:moveTo>
                <a:lnTo>
                  <a:pt x="0" y="41910"/>
                </a:lnTo>
                <a:lnTo>
                  <a:pt x="0" y="34289"/>
                </a:lnTo>
                <a:lnTo>
                  <a:pt x="555650" y="34289"/>
                </a:lnTo>
                <a:lnTo>
                  <a:pt x="555650" y="41910"/>
                </a:lnTo>
                <a:close/>
              </a:path>
              <a:path w="632460" h="76200">
                <a:moveTo>
                  <a:pt x="624230" y="41910"/>
                </a:moveTo>
                <a:lnTo>
                  <a:pt x="574700" y="41910"/>
                </a:lnTo>
                <a:lnTo>
                  <a:pt x="574700" y="34289"/>
                </a:lnTo>
                <a:lnTo>
                  <a:pt x="624230" y="34289"/>
                </a:lnTo>
                <a:lnTo>
                  <a:pt x="631850" y="38100"/>
                </a:lnTo>
                <a:lnTo>
                  <a:pt x="624230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912539" y="4169464"/>
            <a:ext cx="4591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u="sng" spc="65" dirty="0">
                <a:solidFill>
                  <a:srgbClr val="006FC0"/>
                </a:solidFill>
                <a:latin typeface="Arial Unicode MS"/>
                <a:cs typeface="Arial Unicode MS"/>
              </a:rPr>
              <a:t>08</a:t>
            </a:r>
            <a:r>
              <a:rPr sz="1050" u="sng" spc="-5" dirty="0">
                <a:solidFill>
                  <a:srgbClr val="006FC0"/>
                </a:solidFill>
                <a:latin typeface="Arial Unicode MS"/>
                <a:cs typeface="Arial Unicode MS"/>
              </a:rPr>
              <a:t>放</a:t>
            </a:r>
            <a:r>
              <a:rPr sz="1050" u="sng" dirty="0">
                <a:solidFill>
                  <a:srgbClr val="006FC0"/>
                </a:solidFill>
                <a:latin typeface="Arial Unicode MS"/>
                <a:cs typeface="Arial Unicode MS"/>
              </a:rPr>
              <a:t>入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702302" y="3998112"/>
            <a:ext cx="869950" cy="76200"/>
          </a:xfrm>
          <a:custGeom>
            <a:avLst/>
            <a:gdLst/>
            <a:ahLst/>
            <a:cxnLst/>
            <a:rect l="l" t="t" r="r" b="b"/>
            <a:pathLst>
              <a:path w="869950" h="76200">
                <a:moveTo>
                  <a:pt x="793203" y="76200"/>
                </a:moveTo>
                <a:lnTo>
                  <a:pt x="793203" y="0"/>
                </a:lnTo>
                <a:lnTo>
                  <a:pt x="861783" y="34289"/>
                </a:lnTo>
                <a:lnTo>
                  <a:pt x="812253" y="34289"/>
                </a:lnTo>
                <a:lnTo>
                  <a:pt x="812253" y="41910"/>
                </a:lnTo>
                <a:lnTo>
                  <a:pt x="861783" y="41910"/>
                </a:lnTo>
                <a:lnTo>
                  <a:pt x="793203" y="76200"/>
                </a:lnTo>
                <a:close/>
              </a:path>
              <a:path w="869950" h="76200">
                <a:moveTo>
                  <a:pt x="793203" y="41910"/>
                </a:moveTo>
                <a:lnTo>
                  <a:pt x="0" y="41910"/>
                </a:lnTo>
                <a:lnTo>
                  <a:pt x="0" y="34289"/>
                </a:lnTo>
                <a:lnTo>
                  <a:pt x="793203" y="34289"/>
                </a:lnTo>
                <a:lnTo>
                  <a:pt x="793203" y="41910"/>
                </a:lnTo>
                <a:close/>
              </a:path>
              <a:path w="869950" h="76200">
                <a:moveTo>
                  <a:pt x="861783" y="41910"/>
                </a:moveTo>
                <a:lnTo>
                  <a:pt x="812253" y="41910"/>
                </a:lnTo>
                <a:lnTo>
                  <a:pt x="812253" y="34289"/>
                </a:lnTo>
                <a:lnTo>
                  <a:pt x="861783" y="34289"/>
                </a:lnTo>
                <a:lnTo>
                  <a:pt x="869403" y="38100"/>
                </a:lnTo>
                <a:lnTo>
                  <a:pt x="861783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718303" y="4113276"/>
            <a:ext cx="881380" cy="253365"/>
          </a:xfrm>
          <a:custGeom>
            <a:avLst/>
            <a:gdLst/>
            <a:ahLst/>
            <a:cxnLst/>
            <a:rect l="l" t="t" r="r" b="b"/>
            <a:pathLst>
              <a:path w="881379" h="253364">
                <a:moveTo>
                  <a:pt x="0" y="0"/>
                </a:moveTo>
                <a:lnTo>
                  <a:pt x="880872" y="0"/>
                </a:lnTo>
                <a:lnTo>
                  <a:pt x="880872" y="252984"/>
                </a:lnTo>
                <a:lnTo>
                  <a:pt x="0" y="25298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4797768" y="4163546"/>
            <a:ext cx="7258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u="sng" spc="65" dirty="0">
                <a:solidFill>
                  <a:srgbClr val="006FC0"/>
                </a:solidFill>
                <a:latin typeface="Arial Unicode MS"/>
                <a:cs typeface="Arial Unicode MS"/>
              </a:rPr>
              <a:t>09</a:t>
            </a:r>
            <a:r>
              <a:rPr sz="1050" u="sng" spc="-5" dirty="0">
                <a:solidFill>
                  <a:srgbClr val="006FC0"/>
                </a:solidFill>
                <a:latin typeface="Arial Unicode MS"/>
                <a:cs typeface="Arial Unicode MS"/>
              </a:rPr>
              <a:t>进场称</a:t>
            </a:r>
            <a:r>
              <a:rPr sz="1050" u="sng" dirty="0">
                <a:solidFill>
                  <a:srgbClr val="006FC0"/>
                </a:solidFill>
                <a:latin typeface="Arial Unicode MS"/>
                <a:cs typeface="Arial Unicode MS"/>
              </a:rPr>
              <a:t>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396101" y="2737218"/>
            <a:ext cx="1257935" cy="1303020"/>
          </a:xfrm>
          <a:custGeom>
            <a:avLst/>
            <a:gdLst/>
            <a:ahLst/>
            <a:cxnLst/>
            <a:rect l="l" t="t" r="r" b="b"/>
            <a:pathLst>
              <a:path w="1257934" h="1303020">
                <a:moveTo>
                  <a:pt x="1181684" y="76200"/>
                </a:moveTo>
                <a:lnTo>
                  <a:pt x="1181684" y="0"/>
                </a:lnTo>
                <a:lnTo>
                  <a:pt x="1250264" y="34290"/>
                </a:lnTo>
                <a:lnTo>
                  <a:pt x="1200734" y="34290"/>
                </a:lnTo>
                <a:lnTo>
                  <a:pt x="1200734" y="41910"/>
                </a:lnTo>
                <a:lnTo>
                  <a:pt x="1250264" y="41910"/>
                </a:lnTo>
                <a:lnTo>
                  <a:pt x="1181684" y="76200"/>
                </a:lnTo>
                <a:close/>
              </a:path>
              <a:path w="1257934" h="1303020">
                <a:moveTo>
                  <a:pt x="625132" y="1298994"/>
                </a:moveTo>
                <a:lnTo>
                  <a:pt x="625132" y="34290"/>
                </a:lnTo>
                <a:lnTo>
                  <a:pt x="1181684" y="34290"/>
                </a:lnTo>
                <a:lnTo>
                  <a:pt x="1181684" y="38100"/>
                </a:lnTo>
                <a:lnTo>
                  <a:pt x="632752" y="38100"/>
                </a:lnTo>
                <a:lnTo>
                  <a:pt x="628942" y="41910"/>
                </a:lnTo>
                <a:lnTo>
                  <a:pt x="632752" y="41910"/>
                </a:lnTo>
                <a:lnTo>
                  <a:pt x="632752" y="1295184"/>
                </a:lnTo>
                <a:lnTo>
                  <a:pt x="628942" y="1295184"/>
                </a:lnTo>
                <a:lnTo>
                  <a:pt x="625132" y="1298994"/>
                </a:lnTo>
                <a:close/>
              </a:path>
              <a:path w="1257934" h="1303020">
                <a:moveTo>
                  <a:pt x="1250264" y="41910"/>
                </a:moveTo>
                <a:lnTo>
                  <a:pt x="1200734" y="41910"/>
                </a:lnTo>
                <a:lnTo>
                  <a:pt x="1200734" y="34290"/>
                </a:lnTo>
                <a:lnTo>
                  <a:pt x="1250264" y="34290"/>
                </a:lnTo>
                <a:lnTo>
                  <a:pt x="1257884" y="38100"/>
                </a:lnTo>
                <a:lnTo>
                  <a:pt x="1250264" y="41910"/>
                </a:lnTo>
                <a:close/>
              </a:path>
              <a:path w="1257934" h="1303020">
                <a:moveTo>
                  <a:pt x="632752" y="41910"/>
                </a:moveTo>
                <a:lnTo>
                  <a:pt x="628942" y="41910"/>
                </a:lnTo>
                <a:lnTo>
                  <a:pt x="632752" y="38100"/>
                </a:lnTo>
                <a:lnTo>
                  <a:pt x="632752" y="41910"/>
                </a:lnTo>
                <a:close/>
              </a:path>
              <a:path w="1257934" h="1303020">
                <a:moveTo>
                  <a:pt x="1181684" y="41910"/>
                </a:moveTo>
                <a:lnTo>
                  <a:pt x="632752" y="41910"/>
                </a:lnTo>
                <a:lnTo>
                  <a:pt x="632752" y="38100"/>
                </a:lnTo>
                <a:lnTo>
                  <a:pt x="1181684" y="38100"/>
                </a:lnTo>
                <a:lnTo>
                  <a:pt x="1181684" y="41910"/>
                </a:lnTo>
                <a:close/>
              </a:path>
              <a:path w="1257934" h="1303020">
                <a:moveTo>
                  <a:pt x="632752" y="1302804"/>
                </a:moveTo>
                <a:lnTo>
                  <a:pt x="0" y="1302804"/>
                </a:lnTo>
                <a:lnTo>
                  <a:pt x="0" y="1295184"/>
                </a:lnTo>
                <a:lnTo>
                  <a:pt x="625132" y="1295184"/>
                </a:lnTo>
                <a:lnTo>
                  <a:pt x="625132" y="1298994"/>
                </a:lnTo>
                <a:lnTo>
                  <a:pt x="632752" y="1298994"/>
                </a:lnTo>
                <a:lnTo>
                  <a:pt x="632752" y="1302804"/>
                </a:lnTo>
                <a:close/>
              </a:path>
              <a:path w="1257934" h="1303020">
                <a:moveTo>
                  <a:pt x="632752" y="1298994"/>
                </a:moveTo>
                <a:lnTo>
                  <a:pt x="625132" y="1298994"/>
                </a:lnTo>
                <a:lnTo>
                  <a:pt x="628942" y="1295184"/>
                </a:lnTo>
                <a:lnTo>
                  <a:pt x="632752" y="1295184"/>
                </a:lnTo>
                <a:lnTo>
                  <a:pt x="632752" y="1298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396101" y="4032402"/>
            <a:ext cx="1257935" cy="1291590"/>
          </a:xfrm>
          <a:custGeom>
            <a:avLst/>
            <a:gdLst/>
            <a:ahLst/>
            <a:cxnLst/>
            <a:rect l="l" t="t" r="r" b="b"/>
            <a:pathLst>
              <a:path w="1257934" h="1291589">
                <a:moveTo>
                  <a:pt x="625132" y="7620"/>
                </a:moveTo>
                <a:lnTo>
                  <a:pt x="0" y="7620"/>
                </a:lnTo>
                <a:lnTo>
                  <a:pt x="0" y="0"/>
                </a:lnTo>
                <a:lnTo>
                  <a:pt x="632752" y="0"/>
                </a:lnTo>
                <a:lnTo>
                  <a:pt x="632752" y="3810"/>
                </a:lnTo>
                <a:lnTo>
                  <a:pt x="625132" y="3810"/>
                </a:lnTo>
                <a:lnTo>
                  <a:pt x="625132" y="7620"/>
                </a:lnTo>
                <a:close/>
              </a:path>
              <a:path w="1257934" h="1291589">
                <a:moveTo>
                  <a:pt x="1181684" y="1257046"/>
                </a:moveTo>
                <a:lnTo>
                  <a:pt x="625132" y="1257046"/>
                </a:lnTo>
                <a:lnTo>
                  <a:pt x="625132" y="3810"/>
                </a:lnTo>
                <a:lnTo>
                  <a:pt x="628942" y="7620"/>
                </a:lnTo>
                <a:lnTo>
                  <a:pt x="632752" y="7620"/>
                </a:lnTo>
                <a:lnTo>
                  <a:pt x="632752" y="1249426"/>
                </a:lnTo>
                <a:lnTo>
                  <a:pt x="628942" y="1249426"/>
                </a:lnTo>
                <a:lnTo>
                  <a:pt x="632752" y="1253236"/>
                </a:lnTo>
                <a:lnTo>
                  <a:pt x="1181684" y="1253236"/>
                </a:lnTo>
                <a:lnTo>
                  <a:pt x="1181684" y="1257046"/>
                </a:lnTo>
                <a:close/>
              </a:path>
              <a:path w="1257934" h="1291589">
                <a:moveTo>
                  <a:pt x="632752" y="7620"/>
                </a:moveTo>
                <a:lnTo>
                  <a:pt x="628942" y="7620"/>
                </a:lnTo>
                <a:lnTo>
                  <a:pt x="625132" y="3810"/>
                </a:lnTo>
                <a:lnTo>
                  <a:pt x="632752" y="3810"/>
                </a:lnTo>
                <a:lnTo>
                  <a:pt x="632752" y="7620"/>
                </a:lnTo>
                <a:close/>
              </a:path>
              <a:path w="1257934" h="1291589">
                <a:moveTo>
                  <a:pt x="1181684" y="1291336"/>
                </a:moveTo>
                <a:lnTo>
                  <a:pt x="1181684" y="1215136"/>
                </a:lnTo>
                <a:lnTo>
                  <a:pt x="1250264" y="1249426"/>
                </a:lnTo>
                <a:lnTo>
                  <a:pt x="1200734" y="1249426"/>
                </a:lnTo>
                <a:lnTo>
                  <a:pt x="1200734" y="1257046"/>
                </a:lnTo>
                <a:lnTo>
                  <a:pt x="1250264" y="1257046"/>
                </a:lnTo>
                <a:lnTo>
                  <a:pt x="1181684" y="1291336"/>
                </a:lnTo>
                <a:close/>
              </a:path>
              <a:path w="1257934" h="1291589">
                <a:moveTo>
                  <a:pt x="632752" y="1253236"/>
                </a:moveTo>
                <a:lnTo>
                  <a:pt x="628942" y="1249426"/>
                </a:lnTo>
                <a:lnTo>
                  <a:pt x="632752" y="1249426"/>
                </a:lnTo>
                <a:lnTo>
                  <a:pt x="632752" y="1253236"/>
                </a:lnTo>
                <a:close/>
              </a:path>
              <a:path w="1257934" h="1291589">
                <a:moveTo>
                  <a:pt x="1181684" y="1253236"/>
                </a:moveTo>
                <a:lnTo>
                  <a:pt x="632752" y="1253236"/>
                </a:lnTo>
                <a:lnTo>
                  <a:pt x="632752" y="1249426"/>
                </a:lnTo>
                <a:lnTo>
                  <a:pt x="1181684" y="1249426"/>
                </a:lnTo>
                <a:lnTo>
                  <a:pt x="1181684" y="1253236"/>
                </a:lnTo>
                <a:close/>
              </a:path>
              <a:path w="1257934" h="1291589">
                <a:moveTo>
                  <a:pt x="1250264" y="1257046"/>
                </a:moveTo>
                <a:lnTo>
                  <a:pt x="1200734" y="1257046"/>
                </a:lnTo>
                <a:lnTo>
                  <a:pt x="1200734" y="1249426"/>
                </a:lnTo>
                <a:lnTo>
                  <a:pt x="1250264" y="1249426"/>
                </a:lnTo>
                <a:lnTo>
                  <a:pt x="1257884" y="1253236"/>
                </a:lnTo>
                <a:lnTo>
                  <a:pt x="1250264" y="12570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027606" y="2928543"/>
            <a:ext cx="76200" cy="955040"/>
          </a:xfrm>
          <a:custGeom>
            <a:avLst/>
            <a:gdLst/>
            <a:ahLst/>
            <a:cxnLst/>
            <a:rect l="l" t="t" r="r" b="b"/>
            <a:pathLst>
              <a:path w="76200" h="955039">
                <a:moveTo>
                  <a:pt x="41909" y="897293"/>
                </a:moveTo>
                <a:lnTo>
                  <a:pt x="34289" y="897293"/>
                </a:lnTo>
                <a:lnTo>
                  <a:pt x="34289" y="0"/>
                </a:lnTo>
                <a:lnTo>
                  <a:pt x="41909" y="0"/>
                </a:lnTo>
                <a:lnTo>
                  <a:pt x="41909" y="897293"/>
                </a:lnTo>
                <a:close/>
              </a:path>
              <a:path w="76200" h="955039">
                <a:moveTo>
                  <a:pt x="38100" y="954443"/>
                </a:moveTo>
                <a:lnTo>
                  <a:pt x="0" y="878243"/>
                </a:lnTo>
                <a:lnTo>
                  <a:pt x="34289" y="878243"/>
                </a:lnTo>
                <a:lnTo>
                  <a:pt x="34289" y="897293"/>
                </a:lnTo>
                <a:lnTo>
                  <a:pt x="66675" y="897293"/>
                </a:lnTo>
                <a:lnTo>
                  <a:pt x="38100" y="954443"/>
                </a:lnTo>
                <a:close/>
              </a:path>
              <a:path w="76200" h="955039">
                <a:moveTo>
                  <a:pt x="66675" y="897293"/>
                </a:moveTo>
                <a:lnTo>
                  <a:pt x="41909" y="897293"/>
                </a:lnTo>
                <a:lnTo>
                  <a:pt x="41909" y="878243"/>
                </a:lnTo>
                <a:lnTo>
                  <a:pt x="76200" y="878243"/>
                </a:lnTo>
                <a:lnTo>
                  <a:pt x="66675" y="8972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027606" y="4189450"/>
            <a:ext cx="76200" cy="942975"/>
          </a:xfrm>
          <a:custGeom>
            <a:avLst/>
            <a:gdLst/>
            <a:ahLst/>
            <a:cxnLst/>
            <a:rect l="l" t="t" r="r" b="b"/>
            <a:pathLst>
              <a:path w="76200" h="942975">
                <a:moveTo>
                  <a:pt x="41909" y="885812"/>
                </a:moveTo>
                <a:lnTo>
                  <a:pt x="34289" y="885812"/>
                </a:lnTo>
                <a:lnTo>
                  <a:pt x="34289" y="0"/>
                </a:lnTo>
                <a:lnTo>
                  <a:pt x="41909" y="0"/>
                </a:lnTo>
                <a:lnTo>
                  <a:pt x="41909" y="885812"/>
                </a:lnTo>
                <a:close/>
              </a:path>
              <a:path w="76200" h="942975">
                <a:moveTo>
                  <a:pt x="38100" y="942962"/>
                </a:moveTo>
                <a:lnTo>
                  <a:pt x="0" y="866762"/>
                </a:lnTo>
                <a:lnTo>
                  <a:pt x="34289" y="866762"/>
                </a:lnTo>
                <a:lnTo>
                  <a:pt x="34289" y="885812"/>
                </a:lnTo>
                <a:lnTo>
                  <a:pt x="66675" y="885812"/>
                </a:lnTo>
                <a:lnTo>
                  <a:pt x="38100" y="942962"/>
                </a:lnTo>
                <a:close/>
              </a:path>
              <a:path w="76200" h="942975">
                <a:moveTo>
                  <a:pt x="66675" y="885812"/>
                </a:moveTo>
                <a:lnTo>
                  <a:pt x="41909" y="885812"/>
                </a:lnTo>
                <a:lnTo>
                  <a:pt x="41909" y="866762"/>
                </a:lnTo>
                <a:lnTo>
                  <a:pt x="76200" y="866762"/>
                </a:lnTo>
                <a:lnTo>
                  <a:pt x="66675" y="885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731507" y="4535423"/>
            <a:ext cx="1054735" cy="253365"/>
          </a:xfrm>
          <a:custGeom>
            <a:avLst/>
            <a:gdLst/>
            <a:ahLst/>
            <a:cxnLst/>
            <a:rect l="l" t="t" r="r" b="b"/>
            <a:pathLst>
              <a:path w="1054734" h="253364">
                <a:moveTo>
                  <a:pt x="0" y="0"/>
                </a:moveTo>
                <a:lnTo>
                  <a:pt x="1054607" y="0"/>
                </a:lnTo>
                <a:lnTo>
                  <a:pt x="1054607" y="252984"/>
                </a:lnTo>
                <a:lnTo>
                  <a:pt x="0" y="25298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6810426" y="4585897"/>
            <a:ext cx="90233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006FC0"/>
                </a:solidFill>
                <a:latin typeface="Arial Unicode MS"/>
                <a:cs typeface="Arial Unicode MS"/>
              </a:rPr>
              <a:t>1</a:t>
            </a:r>
            <a:r>
              <a:rPr sz="1050" spc="70" dirty="0">
                <a:solidFill>
                  <a:srgbClr val="006FC0"/>
                </a:solidFill>
                <a:latin typeface="Arial Unicode MS"/>
                <a:cs typeface="Arial Unicode MS"/>
              </a:rPr>
              <a:t>1</a:t>
            </a:r>
            <a:r>
              <a:rPr sz="1050" spc="40" dirty="0">
                <a:solidFill>
                  <a:srgbClr val="006FC0"/>
                </a:solidFill>
                <a:latin typeface="Arial Unicode MS"/>
                <a:cs typeface="Arial Unicode MS"/>
              </a:rPr>
              <a:t> </a:t>
            </a:r>
            <a:r>
              <a:rPr sz="1050" spc="-5" dirty="0">
                <a:solidFill>
                  <a:srgbClr val="006FC0"/>
                </a:solidFill>
                <a:latin typeface="Arial Unicode MS"/>
                <a:cs typeface="Arial Unicode MS"/>
              </a:rPr>
              <a:t>多月台指</a:t>
            </a:r>
            <a:r>
              <a:rPr sz="1050" dirty="0">
                <a:solidFill>
                  <a:srgbClr val="006FC0"/>
                </a:solidFill>
                <a:latin typeface="Arial Unicode MS"/>
                <a:cs typeface="Arial Unicode MS"/>
              </a:rPr>
              <a:t>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823126" y="4728654"/>
            <a:ext cx="876300" cy="0"/>
          </a:xfrm>
          <a:custGeom>
            <a:avLst/>
            <a:gdLst/>
            <a:ahLst/>
            <a:cxnLst/>
            <a:rect l="l" t="t" r="r" b="b"/>
            <a:pathLst>
              <a:path w="876300">
                <a:moveTo>
                  <a:pt x="0" y="0"/>
                </a:moveTo>
                <a:lnTo>
                  <a:pt x="876300" y="0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496147" y="2745358"/>
            <a:ext cx="720090" cy="76200"/>
          </a:xfrm>
          <a:custGeom>
            <a:avLst/>
            <a:gdLst/>
            <a:ahLst/>
            <a:cxnLst/>
            <a:rect l="l" t="t" r="r" b="b"/>
            <a:pathLst>
              <a:path w="720090" h="76200">
                <a:moveTo>
                  <a:pt x="713679" y="42151"/>
                </a:moveTo>
                <a:lnTo>
                  <a:pt x="662851" y="42151"/>
                </a:lnTo>
                <a:lnTo>
                  <a:pt x="662952" y="34531"/>
                </a:lnTo>
                <a:lnTo>
                  <a:pt x="643900" y="34290"/>
                </a:lnTo>
                <a:lnTo>
                  <a:pt x="644334" y="0"/>
                </a:lnTo>
                <a:lnTo>
                  <a:pt x="720051" y="39065"/>
                </a:lnTo>
                <a:lnTo>
                  <a:pt x="713679" y="42151"/>
                </a:lnTo>
                <a:close/>
              </a:path>
              <a:path w="720090" h="76200">
                <a:moveTo>
                  <a:pt x="643803" y="41910"/>
                </a:moveTo>
                <a:lnTo>
                  <a:pt x="0" y="33769"/>
                </a:lnTo>
                <a:lnTo>
                  <a:pt x="101" y="26149"/>
                </a:lnTo>
                <a:lnTo>
                  <a:pt x="643900" y="34290"/>
                </a:lnTo>
                <a:lnTo>
                  <a:pt x="643803" y="41910"/>
                </a:lnTo>
                <a:close/>
              </a:path>
              <a:path w="720090" h="76200">
                <a:moveTo>
                  <a:pt x="662851" y="42151"/>
                </a:moveTo>
                <a:lnTo>
                  <a:pt x="643803" y="41910"/>
                </a:lnTo>
                <a:lnTo>
                  <a:pt x="643900" y="34290"/>
                </a:lnTo>
                <a:lnTo>
                  <a:pt x="662952" y="34531"/>
                </a:lnTo>
                <a:lnTo>
                  <a:pt x="662851" y="42151"/>
                </a:lnTo>
                <a:close/>
              </a:path>
              <a:path w="720090" h="76200">
                <a:moveTo>
                  <a:pt x="643369" y="76200"/>
                </a:moveTo>
                <a:lnTo>
                  <a:pt x="643803" y="41910"/>
                </a:lnTo>
                <a:lnTo>
                  <a:pt x="662851" y="42151"/>
                </a:lnTo>
                <a:lnTo>
                  <a:pt x="713679" y="42151"/>
                </a:lnTo>
                <a:lnTo>
                  <a:pt x="643369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499526" y="3998112"/>
            <a:ext cx="720090" cy="76200"/>
          </a:xfrm>
          <a:custGeom>
            <a:avLst/>
            <a:gdLst/>
            <a:ahLst/>
            <a:cxnLst/>
            <a:rect l="l" t="t" r="r" b="b"/>
            <a:pathLst>
              <a:path w="72009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4289"/>
                </a:lnTo>
                <a:lnTo>
                  <a:pt x="57150" y="34289"/>
                </a:lnTo>
                <a:lnTo>
                  <a:pt x="57150" y="41910"/>
                </a:lnTo>
                <a:lnTo>
                  <a:pt x="76200" y="41910"/>
                </a:lnTo>
                <a:lnTo>
                  <a:pt x="76200" y="76200"/>
                </a:lnTo>
                <a:close/>
              </a:path>
              <a:path w="720090" h="76200">
                <a:moveTo>
                  <a:pt x="76200" y="41910"/>
                </a:moveTo>
                <a:lnTo>
                  <a:pt x="57150" y="41910"/>
                </a:lnTo>
                <a:lnTo>
                  <a:pt x="57150" y="34289"/>
                </a:lnTo>
                <a:lnTo>
                  <a:pt x="76200" y="34289"/>
                </a:lnTo>
                <a:lnTo>
                  <a:pt x="76200" y="41910"/>
                </a:lnTo>
                <a:close/>
              </a:path>
              <a:path w="720090" h="76200">
                <a:moveTo>
                  <a:pt x="720001" y="41910"/>
                </a:moveTo>
                <a:lnTo>
                  <a:pt x="76200" y="41910"/>
                </a:lnTo>
                <a:lnTo>
                  <a:pt x="76200" y="34289"/>
                </a:lnTo>
                <a:lnTo>
                  <a:pt x="720001" y="34289"/>
                </a:lnTo>
                <a:lnTo>
                  <a:pt x="720001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477415" y="5248008"/>
            <a:ext cx="756285" cy="80010"/>
          </a:xfrm>
          <a:custGeom>
            <a:avLst/>
            <a:gdLst/>
            <a:ahLst/>
            <a:cxnLst/>
            <a:rect l="l" t="t" r="r" b="b"/>
            <a:pathLst>
              <a:path w="756284" h="80010">
                <a:moveTo>
                  <a:pt x="75971" y="76200"/>
                </a:moveTo>
                <a:lnTo>
                  <a:pt x="0" y="37630"/>
                </a:lnTo>
                <a:lnTo>
                  <a:pt x="76441" y="0"/>
                </a:lnTo>
                <a:lnTo>
                  <a:pt x="76230" y="34175"/>
                </a:lnTo>
                <a:lnTo>
                  <a:pt x="57175" y="34175"/>
                </a:lnTo>
                <a:lnTo>
                  <a:pt x="57124" y="41795"/>
                </a:lnTo>
                <a:lnTo>
                  <a:pt x="76182" y="41913"/>
                </a:lnTo>
                <a:lnTo>
                  <a:pt x="75971" y="76200"/>
                </a:lnTo>
                <a:close/>
              </a:path>
              <a:path w="756284" h="80010">
                <a:moveTo>
                  <a:pt x="748986" y="45770"/>
                </a:moveTo>
                <a:lnTo>
                  <a:pt x="698830" y="45770"/>
                </a:lnTo>
                <a:lnTo>
                  <a:pt x="698880" y="38150"/>
                </a:lnTo>
                <a:lnTo>
                  <a:pt x="679829" y="38032"/>
                </a:lnTo>
                <a:lnTo>
                  <a:pt x="680046" y="3746"/>
                </a:lnTo>
                <a:lnTo>
                  <a:pt x="756005" y="42316"/>
                </a:lnTo>
                <a:lnTo>
                  <a:pt x="748986" y="45770"/>
                </a:lnTo>
                <a:close/>
              </a:path>
              <a:path w="756284" h="80010">
                <a:moveTo>
                  <a:pt x="76182" y="41913"/>
                </a:moveTo>
                <a:lnTo>
                  <a:pt x="57124" y="41795"/>
                </a:lnTo>
                <a:lnTo>
                  <a:pt x="57175" y="34175"/>
                </a:lnTo>
                <a:lnTo>
                  <a:pt x="76229" y="34293"/>
                </a:lnTo>
                <a:lnTo>
                  <a:pt x="76182" y="41913"/>
                </a:lnTo>
                <a:close/>
              </a:path>
              <a:path w="756284" h="80010">
                <a:moveTo>
                  <a:pt x="76229" y="34293"/>
                </a:moveTo>
                <a:lnTo>
                  <a:pt x="57175" y="34175"/>
                </a:lnTo>
                <a:lnTo>
                  <a:pt x="76230" y="34175"/>
                </a:lnTo>
                <a:close/>
              </a:path>
              <a:path w="756284" h="80010">
                <a:moveTo>
                  <a:pt x="679781" y="45652"/>
                </a:moveTo>
                <a:lnTo>
                  <a:pt x="76182" y="41913"/>
                </a:lnTo>
                <a:lnTo>
                  <a:pt x="76229" y="34293"/>
                </a:lnTo>
                <a:lnTo>
                  <a:pt x="679829" y="38032"/>
                </a:lnTo>
                <a:lnTo>
                  <a:pt x="679781" y="45652"/>
                </a:lnTo>
                <a:close/>
              </a:path>
              <a:path w="756284" h="80010">
                <a:moveTo>
                  <a:pt x="698830" y="45770"/>
                </a:moveTo>
                <a:lnTo>
                  <a:pt x="679781" y="45652"/>
                </a:lnTo>
                <a:lnTo>
                  <a:pt x="679829" y="38032"/>
                </a:lnTo>
                <a:lnTo>
                  <a:pt x="698880" y="38150"/>
                </a:lnTo>
                <a:lnTo>
                  <a:pt x="698830" y="45770"/>
                </a:lnTo>
                <a:close/>
              </a:path>
              <a:path w="756284" h="80010">
                <a:moveTo>
                  <a:pt x="679564" y="79933"/>
                </a:moveTo>
                <a:lnTo>
                  <a:pt x="679781" y="45652"/>
                </a:lnTo>
                <a:lnTo>
                  <a:pt x="748986" y="45770"/>
                </a:lnTo>
                <a:lnTo>
                  <a:pt x="679564" y="799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8647404" y="2891222"/>
            <a:ext cx="4591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u="sng" spc="65" dirty="0">
                <a:solidFill>
                  <a:srgbClr val="006FC0"/>
                </a:solidFill>
                <a:latin typeface="Arial Unicode MS"/>
                <a:cs typeface="Arial Unicode MS"/>
              </a:rPr>
              <a:t>12</a:t>
            </a:r>
            <a:r>
              <a:rPr sz="1050" u="sng" spc="-5" dirty="0">
                <a:solidFill>
                  <a:srgbClr val="006FC0"/>
                </a:solidFill>
                <a:latin typeface="Arial Unicode MS"/>
                <a:cs typeface="Arial Unicode MS"/>
              </a:rPr>
              <a:t>装</a:t>
            </a:r>
            <a:r>
              <a:rPr sz="1050" u="sng" dirty="0">
                <a:solidFill>
                  <a:srgbClr val="006FC0"/>
                </a:solidFill>
                <a:latin typeface="Arial Unicode MS"/>
                <a:cs typeface="Arial Unicode MS"/>
              </a:rPr>
              <a:t>卸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9546335" y="4549533"/>
            <a:ext cx="288290" cy="76200"/>
          </a:xfrm>
          <a:custGeom>
            <a:avLst/>
            <a:gdLst/>
            <a:ahLst/>
            <a:cxnLst/>
            <a:rect l="l" t="t" r="r" b="b"/>
            <a:pathLst>
              <a:path w="28829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4289"/>
                </a:lnTo>
                <a:lnTo>
                  <a:pt x="57150" y="34289"/>
                </a:lnTo>
                <a:lnTo>
                  <a:pt x="57150" y="41910"/>
                </a:lnTo>
                <a:lnTo>
                  <a:pt x="76200" y="41910"/>
                </a:lnTo>
                <a:lnTo>
                  <a:pt x="76200" y="76200"/>
                </a:lnTo>
                <a:close/>
              </a:path>
              <a:path w="288290" h="76200">
                <a:moveTo>
                  <a:pt x="76200" y="41910"/>
                </a:moveTo>
                <a:lnTo>
                  <a:pt x="57150" y="41910"/>
                </a:lnTo>
                <a:lnTo>
                  <a:pt x="57150" y="34289"/>
                </a:lnTo>
                <a:lnTo>
                  <a:pt x="76200" y="34289"/>
                </a:lnTo>
                <a:lnTo>
                  <a:pt x="76200" y="41910"/>
                </a:lnTo>
                <a:close/>
              </a:path>
              <a:path w="288290" h="76200">
                <a:moveTo>
                  <a:pt x="288010" y="41910"/>
                </a:moveTo>
                <a:lnTo>
                  <a:pt x="76200" y="41910"/>
                </a:lnTo>
                <a:lnTo>
                  <a:pt x="76200" y="34289"/>
                </a:lnTo>
                <a:lnTo>
                  <a:pt x="288010" y="34289"/>
                </a:lnTo>
                <a:lnTo>
                  <a:pt x="288010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0511549" y="4549190"/>
            <a:ext cx="781050" cy="76200"/>
          </a:xfrm>
          <a:custGeom>
            <a:avLst/>
            <a:gdLst/>
            <a:ahLst/>
            <a:cxnLst/>
            <a:rect l="l" t="t" r="r" b="b"/>
            <a:pathLst>
              <a:path w="781050" h="76200">
                <a:moveTo>
                  <a:pt x="77254" y="76174"/>
                </a:moveTo>
                <a:lnTo>
                  <a:pt x="0" y="40246"/>
                </a:lnTo>
                <a:lnTo>
                  <a:pt x="75082" y="0"/>
                </a:lnTo>
                <a:lnTo>
                  <a:pt x="76059" y="34282"/>
                </a:lnTo>
                <a:lnTo>
                  <a:pt x="57023" y="34823"/>
                </a:lnTo>
                <a:lnTo>
                  <a:pt x="57238" y="42430"/>
                </a:lnTo>
                <a:lnTo>
                  <a:pt x="76292" y="42430"/>
                </a:lnTo>
                <a:lnTo>
                  <a:pt x="77254" y="76174"/>
                </a:lnTo>
                <a:close/>
              </a:path>
              <a:path w="781050" h="76200">
                <a:moveTo>
                  <a:pt x="76276" y="41889"/>
                </a:moveTo>
                <a:lnTo>
                  <a:pt x="76059" y="34282"/>
                </a:lnTo>
                <a:lnTo>
                  <a:pt x="780478" y="14262"/>
                </a:lnTo>
                <a:lnTo>
                  <a:pt x="780707" y="21882"/>
                </a:lnTo>
                <a:lnTo>
                  <a:pt x="76276" y="41889"/>
                </a:lnTo>
                <a:close/>
              </a:path>
              <a:path w="781050" h="76200">
                <a:moveTo>
                  <a:pt x="57238" y="42430"/>
                </a:moveTo>
                <a:lnTo>
                  <a:pt x="57023" y="34823"/>
                </a:lnTo>
                <a:lnTo>
                  <a:pt x="76059" y="34282"/>
                </a:lnTo>
                <a:lnTo>
                  <a:pt x="76276" y="41889"/>
                </a:lnTo>
                <a:lnTo>
                  <a:pt x="57238" y="42430"/>
                </a:lnTo>
                <a:close/>
              </a:path>
              <a:path w="781050" h="76200">
                <a:moveTo>
                  <a:pt x="76292" y="42430"/>
                </a:moveTo>
                <a:lnTo>
                  <a:pt x="57238" y="42430"/>
                </a:lnTo>
                <a:lnTo>
                  <a:pt x="76276" y="41889"/>
                </a:lnTo>
                <a:lnTo>
                  <a:pt x="76292" y="42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9546335" y="3432492"/>
            <a:ext cx="288290" cy="76200"/>
          </a:xfrm>
          <a:custGeom>
            <a:avLst/>
            <a:gdLst/>
            <a:ahLst/>
            <a:cxnLst/>
            <a:rect l="l" t="t" r="r" b="b"/>
            <a:pathLst>
              <a:path w="288290" h="76200">
                <a:moveTo>
                  <a:pt x="211810" y="76200"/>
                </a:moveTo>
                <a:lnTo>
                  <a:pt x="211810" y="0"/>
                </a:lnTo>
                <a:lnTo>
                  <a:pt x="280390" y="34290"/>
                </a:lnTo>
                <a:lnTo>
                  <a:pt x="230860" y="34290"/>
                </a:lnTo>
                <a:lnTo>
                  <a:pt x="230860" y="41910"/>
                </a:lnTo>
                <a:lnTo>
                  <a:pt x="280390" y="41910"/>
                </a:lnTo>
                <a:lnTo>
                  <a:pt x="211810" y="76200"/>
                </a:lnTo>
                <a:close/>
              </a:path>
              <a:path w="288290" h="76200">
                <a:moveTo>
                  <a:pt x="211810" y="41910"/>
                </a:moveTo>
                <a:lnTo>
                  <a:pt x="0" y="41910"/>
                </a:lnTo>
                <a:lnTo>
                  <a:pt x="0" y="34290"/>
                </a:lnTo>
                <a:lnTo>
                  <a:pt x="211810" y="34290"/>
                </a:lnTo>
                <a:lnTo>
                  <a:pt x="211810" y="41910"/>
                </a:lnTo>
                <a:close/>
              </a:path>
              <a:path w="288290" h="76200">
                <a:moveTo>
                  <a:pt x="280390" y="41910"/>
                </a:moveTo>
                <a:lnTo>
                  <a:pt x="230860" y="41910"/>
                </a:lnTo>
                <a:lnTo>
                  <a:pt x="230860" y="34290"/>
                </a:lnTo>
                <a:lnTo>
                  <a:pt x="280390" y="34290"/>
                </a:lnTo>
                <a:lnTo>
                  <a:pt x="288010" y="38100"/>
                </a:lnTo>
                <a:lnTo>
                  <a:pt x="280390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0511549" y="3434295"/>
            <a:ext cx="766445" cy="76200"/>
          </a:xfrm>
          <a:custGeom>
            <a:avLst/>
            <a:gdLst/>
            <a:ahLst/>
            <a:cxnLst/>
            <a:rect l="l" t="t" r="r" b="b"/>
            <a:pathLst>
              <a:path w="766445" h="76200">
                <a:moveTo>
                  <a:pt x="689851" y="76200"/>
                </a:moveTo>
                <a:lnTo>
                  <a:pt x="689851" y="0"/>
                </a:lnTo>
                <a:lnTo>
                  <a:pt x="758431" y="34290"/>
                </a:lnTo>
                <a:lnTo>
                  <a:pt x="708901" y="34290"/>
                </a:lnTo>
                <a:lnTo>
                  <a:pt x="708901" y="41910"/>
                </a:lnTo>
                <a:lnTo>
                  <a:pt x="758431" y="41910"/>
                </a:lnTo>
                <a:lnTo>
                  <a:pt x="689851" y="76200"/>
                </a:lnTo>
                <a:close/>
              </a:path>
              <a:path w="766445" h="76200">
                <a:moveTo>
                  <a:pt x="689851" y="41910"/>
                </a:moveTo>
                <a:lnTo>
                  <a:pt x="0" y="41910"/>
                </a:lnTo>
                <a:lnTo>
                  <a:pt x="0" y="34290"/>
                </a:lnTo>
                <a:lnTo>
                  <a:pt x="689851" y="34290"/>
                </a:lnTo>
                <a:lnTo>
                  <a:pt x="689851" y="41910"/>
                </a:lnTo>
                <a:close/>
              </a:path>
              <a:path w="766445" h="76200">
                <a:moveTo>
                  <a:pt x="758431" y="41910"/>
                </a:moveTo>
                <a:lnTo>
                  <a:pt x="708901" y="41910"/>
                </a:lnTo>
                <a:lnTo>
                  <a:pt x="708901" y="34290"/>
                </a:lnTo>
                <a:lnTo>
                  <a:pt x="758431" y="34290"/>
                </a:lnTo>
                <a:lnTo>
                  <a:pt x="766051" y="38100"/>
                </a:lnTo>
                <a:lnTo>
                  <a:pt x="758431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0672571" y="3349752"/>
            <a:ext cx="452755" cy="254635"/>
          </a:xfrm>
          <a:custGeom>
            <a:avLst/>
            <a:gdLst/>
            <a:ahLst/>
            <a:cxnLst/>
            <a:rect l="l" t="t" r="r" b="b"/>
            <a:pathLst>
              <a:path w="452754" h="254635">
                <a:moveTo>
                  <a:pt x="0" y="0"/>
                </a:moveTo>
                <a:lnTo>
                  <a:pt x="452627" y="0"/>
                </a:lnTo>
                <a:lnTo>
                  <a:pt x="452627" y="254508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10750663" y="3401089"/>
            <a:ext cx="29273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u="sng" spc="-5" dirty="0">
                <a:solidFill>
                  <a:srgbClr val="006FC0"/>
                </a:solidFill>
                <a:latin typeface="Arial Unicode MS"/>
                <a:cs typeface="Arial Unicode MS"/>
              </a:rPr>
              <a:t>上</a:t>
            </a:r>
            <a:r>
              <a:rPr sz="1050" u="sng" dirty="0">
                <a:solidFill>
                  <a:srgbClr val="006FC0"/>
                </a:solidFill>
                <a:latin typeface="Arial Unicode MS"/>
                <a:cs typeface="Arial Unicode MS"/>
              </a:rPr>
              <a:t>架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10672571" y="4460747"/>
            <a:ext cx="452755" cy="254635"/>
          </a:xfrm>
          <a:custGeom>
            <a:avLst/>
            <a:gdLst/>
            <a:ahLst/>
            <a:cxnLst/>
            <a:rect l="l" t="t" r="r" b="b"/>
            <a:pathLst>
              <a:path w="452754" h="254635">
                <a:moveTo>
                  <a:pt x="0" y="0"/>
                </a:moveTo>
                <a:lnTo>
                  <a:pt x="452627" y="0"/>
                </a:lnTo>
                <a:lnTo>
                  <a:pt x="452627" y="254508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10750663" y="4511602"/>
            <a:ext cx="29273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44536A"/>
                </a:solidFill>
                <a:latin typeface="Arial Unicode MS"/>
                <a:cs typeface="Arial Unicode MS"/>
              </a:rPr>
              <a:t>下</a:t>
            </a:r>
            <a:r>
              <a:rPr sz="1050" dirty="0">
                <a:solidFill>
                  <a:srgbClr val="44536A"/>
                </a:solidFill>
                <a:latin typeface="Arial Unicode MS"/>
                <a:cs typeface="Arial Unicode MS"/>
              </a:rPr>
              <a:t>架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0763363" y="4654359"/>
            <a:ext cx="266700" cy="0"/>
          </a:xfrm>
          <a:custGeom>
            <a:avLst/>
            <a:gdLst/>
            <a:ahLst/>
            <a:cxnLst/>
            <a:rect l="l" t="t" r="r" b="b"/>
            <a:pathLst>
              <a:path w="266700">
                <a:moveTo>
                  <a:pt x="0" y="0"/>
                </a:moveTo>
                <a:lnTo>
                  <a:pt x="266700" y="0"/>
                </a:lnTo>
              </a:path>
            </a:pathLst>
          </a:custGeom>
          <a:ln w="6096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9226295" y="1876044"/>
            <a:ext cx="325120" cy="4320540"/>
          </a:xfrm>
          <a:custGeom>
            <a:avLst/>
            <a:gdLst/>
            <a:ahLst/>
            <a:cxnLst/>
            <a:rect l="l" t="t" r="r" b="b"/>
            <a:pathLst>
              <a:path w="325120" h="4320540">
                <a:moveTo>
                  <a:pt x="71627" y="4320540"/>
                </a:moveTo>
                <a:lnTo>
                  <a:pt x="31604" y="4308106"/>
                </a:lnTo>
                <a:lnTo>
                  <a:pt x="5734" y="4276559"/>
                </a:lnTo>
                <a:lnTo>
                  <a:pt x="0" y="70103"/>
                </a:lnTo>
                <a:lnTo>
                  <a:pt x="1634" y="55904"/>
                </a:lnTo>
                <a:lnTo>
                  <a:pt x="21693" y="20220"/>
                </a:lnTo>
                <a:lnTo>
                  <a:pt x="58555" y="1227"/>
                </a:lnTo>
                <a:lnTo>
                  <a:pt x="254507" y="0"/>
                </a:lnTo>
                <a:lnTo>
                  <a:pt x="268871" y="1562"/>
                </a:lnTo>
                <a:lnTo>
                  <a:pt x="304841" y="21694"/>
                </a:lnTo>
                <a:lnTo>
                  <a:pt x="323592" y="58464"/>
                </a:lnTo>
                <a:lnTo>
                  <a:pt x="324611" y="4248911"/>
                </a:lnTo>
                <a:lnTo>
                  <a:pt x="323098" y="4263557"/>
                </a:lnTo>
                <a:lnTo>
                  <a:pt x="303378" y="4299993"/>
                </a:lnTo>
                <a:lnTo>
                  <a:pt x="267223" y="4319252"/>
                </a:lnTo>
                <a:lnTo>
                  <a:pt x="71627" y="43205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9293161" y="3385996"/>
            <a:ext cx="189865" cy="1378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1300" b="1" spc="-10" dirty="0">
                <a:latin typeface="Microsoft JhengHei"/>
                <a:cs typeface="Microsoft JhengHei"/>
              </a:rPr>
              <a:t>装 卸 搬 运 区</a:t>
            </a:r>
            <a:endParaRPr sz="1300">
              <a:latin typeface="Microsoft JhengHei"/>
              <a:cs typeface="Microsoft JhengHei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5945809" y="3650576"/>
            <a:ext cx="1708785" cy="389890"/>
          </a:xfrm>
          <a:custGeom>
            <a:avLst/>
            <a:gdLst/>
            <a:ahLst/>
            <a:cxnLst/>
            <a:rect l="l" t="t" r="r" b="b"/>
            <a:pathLst>
              <a:path w="1708784" h="389889">
                <a:moveTo>
                  <a:pt x="41910" y="175260"/>
                </a:moveTo>
                <a:lnTo>
                  <a:pt x="34290" y="175260"/>
                </a:lnTo>
                <a:lnTo>
                  <a:pt x="34290" y="0"/>
                </a:lnTo>
                <a:lnTo>
                  <a:pt x="1083043" y="0"/>
                </a:lnTo>
                <a:lnTo>
                  <a:pt x="1083043" y="3810"/>
                </a:lnTo>
                <a:lnTo>
                  <a:pt x="41910" y="3810"/>
                </a:lnTo>
                <a:lnTo>
                  <a:pt x="38100" y="7620"/>
                </a:lnTo>
                <a:lnTo>
                  <a:pt x="41910" y="7620"/>
                </a:lnTo>
                <a:lnTo>
                  <a:pt x="41910" y="175260"/>
                </a:lnTo>
                <a:close/>
              </a:path>
              <a:path w="1708784" h="389889">
                <a:moveTo>
                  <a:pt x="41910" y="7620"/>
                </a:moveTo>
                <a:lnTo>
                  <a:pt x="38100" y="7620"/>
                </a:lnTo>
                <a:lnTo>
                  <a:pt x="41910" y="3810"/>
                </a:lnTo>
                <a:lnTo>
                  <a:pt x="41910" y="7620"/>
                </a:lnTo>
                <a:close/>
              </a:path>
              <a:path w="1708784" h="389889">
                <a:moveTo>
                  <a:pt x="1075423" y="7620"/>
                </a:moveTo>
                <a:lnTo>
                  <a:pt x="41910" y="7620"/>
                </a:lnTo>
                <a:lnTo>
                  <a:pt x="41910" y="3810"/>
                </a:lnTo>
                <a:lnTo>
                  <a:pt x="1075423" y="3810"/>
                </a:lnTo>
                <a:lnTo>
                  <a:pt x="1075423" y="7620"/>
                </a:lnTo>
                <a:close/>
              </a:path>
              <a:path w="1708784" h="389889">
                <a:moveTo>
                  <a:pt x="1708175" y="389445"/>
                </a:moveTo>
                <a:lnTo>
                  <a:pt x="1075423" y="389445"/>
                </a:lnTo>
                <a:lnTo>
                  <a:pt x="1075423" y="3810"/>
                </a:lnTo>
                <a:lnTo>
                  <a:pt x="1079233" y="7620"/>
                </a:lnTo>
                <a:lnTo>
                  <a:pt x="1083043" y="7620"/>
                </a:lnTo>
                <a:lnTo>
                  <a:pt x="1083043" y="381825"/>
                </a:lnTo>
                <a:lnTo>
                  <a:pt x="1079233" y="381825"/>
                </a:lnTo>
                <a:lnTo>
                  <a:pt x="1083043" y="385635"/>
                </a:lnTo>
                <a:lnTo>
                  <a:pt x="1708175" y="385635"/>
                </a:lnTo>
                <a:lnTo>
                  <a:pt x="1708175" y="389445"/>
                </a:lnTo>
                <a:close/>
              </a:path>
              <a:path w="1708784" h="389889">
                <a:moveTo>
                  <a:pt x="1083043" y="7620"/>
                </a:moveTo>
                <a:lnTo>
                  <a:pt x="1079233" y="7620"/>
                </a:lnTo>
                <a:lnTo>
                  <a:pt x="1075423" y="3810"/>
                </a:lnTo>
                <a:lnTo>
                  <a:pt x="1083043" y="3810"/>
                </a:lnTo>
                <a:lnTo>
                  <a:pt x="1083043" y="7620"/>
                </a:lnTo>
                <a:close/>
              </a:path>
              <a:path w="1708784" h="389889">
                <a:moveTo>
                  <a:pt x="38100" y="232410"/>
                </a:moveTo>
                <a:lnTo>
                  <a:pt x="0" y="156210"/>
                </a:lnTo>
                <a:lnTo>
                  <a:pt x="34290" y="156210"/>
                </a:lnTo>
                <a:lnTo>
                  <a:pt x="34290" y="175260"/>
                </a:lnTo>
                <a:lnTo>
                  <a:pt x="66675" y="175260"/>
                </a:lnTo>
                <a:lnTo>
                  <a:pt x="38100" y="232410"/>
                </a:lnTo>
                <a:close/>
              </a:path>
              <a:path w="1708784" h="389889">
                <a:moveTo>
                  <a:pt x="66675" y="175260"/>
                </a:moveTo>
                <a:lnTo>
                  <a:pt x="41910" y="175260"/>
                </a:lnTo>
                <a:lnTo>
                  <a:pt x="41910" y="156210"/>
                </a:lnTo>
                <a:lnTo>
                  <a:pt x="76200" y="156210"/>
                </a:lnTo>
                <a:lnTo>
                  <a:pt x="66675" y="175260"/>
                </a:lnTo>
                <a:close/>
              </a:path>
              <a:path w="1708784" h="389889">
                <a:moveTo>
                  <a:pt x="1083043" y="385635"/>
                </a:moveTo>
                <a:lnTo>
                  <a:pt x="1079233" y="381825"/>
                </a:lnTo>
                <a:lnTo>
                  <a:pt x="1083043" y="381825"/>
                </a:lnTo>
                <a:lnTo>
                  <a:pt x="1083043" y="385635"/>
                </a:lnTo>
                <a:close/>
              </a:path>
              <a:path w="1708784" h="389889">
                <a:moveTo>
                  <a:pt x="1708175" y="385635"/>
                </a:moveTo>
                <a:lnTo>
                  <a:pt x="1083043" y="385635"/>
                </a:lnTo>
                <a:lnTo>
                  <a:pt x="1083043" y="381825"/>
                </a:lnTo>
                <a:lnTo>
                  <a:pt x="1708175" y="381825"/>
                </a:lnTo>
                <a:lnTo>
                  <a:pt x="1708175" y="385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731507" y="3284220"/>
            <a:ext cx="920750" cy="253365"/>
          </a:xfrm>
          <a:custGeom>
            <a:avLst/>
            <a:gdLst/>
            <a:ahLst/>
            <a:cxnLst/>
            <a:rect l="l" t="t" r="r" b="b"/>
            <a:pathLst>
              <a:path w="920750" h="253364">
                <a:moveTo>
                  <a:pt x="0" y="0"/>
                </a:moveTo>
                <a:lnTo>
                  <a:pt x="920496" y="0"/>
                </a:lnTo>
                <a:lnTo>
                  <a:pt x="920496" y="252984"/>
                </a:lnTo>
                <a:lnTo>
                  <a:pt x="0" y="25298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6810426" y="3334871"/>
            <a:ext cx="76898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006FC0"/>
                </a:solidFill>
                <a:latin typeface="Arial Unicode MS"/>
                <a:cs typeface="Arial Unicode MS"/>
              </a:rPr>
              <a:t>1</a:t>
            </a:r>
            <a:r>
              <a:rPr sz="1050" spc="70" dirty="0">
                <a:solidFill>
                  <a:srgbClr val="006FC0"/>
                </a:solidFill>
                <a:latin typeface="Arial Unicode MS"/>
                <a:cs typeface="Arial Unicode MS"/>
              </a:rPr>
              <a:t>0</a:t>
            </a:r>
            <a:r>
              <a:rPr sz="1050" spc="40" dirty="0">
                <a:solidFill>
                  <a:srgbClr val="006FC0"/>
                </a:solidFill>
                <a:latin typeface="Arial Unicode MS"/>
                <a:cs typeface="Arial Unicode MS"/>
              </a:rPr>
              <a:t> </a:t>
            </a:r>
            <a:r>
              <a:rPr sz="1050" spc="-5" dirty="0">
                <a:solidFill>
                  <a:srgbClr val="006FC0"/>
                </a:solidFill>
                <a:latin typeface="Arial Unicode MS"/>
                <a:cs typeface="Arial Unicode MS"/>
              </a:rPr>
              <a:t>导航指</a:t>
            </a:r>
            <a:r>
              <a:rPr sz="1050" dirty="0">
                <a:solidFill>
                  <a:srgbClr val="006FC0"/>
                </a:solidFill>
                <a:latin typeface="Arial Unicode MS"/>
                <a:cs typeface="Arial Unicode MS"/>
              </a:rPr>
              <a:t>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823126" y="3477628"/>
            <a:ext cx="742950" cy="0"/>
          </a:xfrm>
          <a:custGeom>
            <a:avLst/>
            <a:gdLst/>
            <a:ahLst/>
            <a:cxnLst/>
            <a:rect l="l" t="t" r="r" b="b"/>
            <a:pathLst>
              <a:path w="742950">
                <a:moveTo>
                  <a:pt x="0" y="0"/>
                </a:moveTo>
                <a:lnTo>
                  <a:pt x="742950" y="0"/>
                </a:lnTo>
              </a:path>
            </a:pathLst>
          </a:custGeom>
          <a:ln w="609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542305" y="5623712"/>
            <a:ext cx="919111" cy="40118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5664771" y="5720371"/>
            <a:ext cx="636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安防检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查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5542305" y="4766487"/>
            <a:ext cx="919111" cy="40118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5741606" y="4863134"/>
            <a:ext cx="483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出门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证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5736335" y="3361944"/>
            <a:ext cx="881380" cy="253365"/>
          </a:xfrm>
          <a:custGeom>
            <a:avLst/>
            <a:gdLst/>
            <a:ahLst/>
            <a:cxnLst/>
            <a:rect l="l" t="t" r="r" b="b"/>
            <a:pathLst>
              <a:path w="881379" h="253364">
                <a:moveTo>
                  <a:pt x="0" y="0"/>
                </a:moveTo>
                <a:lnTo>
                  <a:pt x="880871" y="0"/>
                </a:lnTo>
                <a:lnTo>
                  <a:pt x="880871" y="252984"/>
                </a:lnTo>
                <a:lnTo>
                  <a:pt x="0" y="25298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5815177" y="3412176"/>
            <a:ext cx="7258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44536A"/>
                </a:solidFill>
                <a:latin typeface="Arial Unicode MS"/>
                <a:cs typeface="Arial Unicode MS"/>
              </a:rPr>
              <a:t>13</a:t>
            </a:r>
            <a:r>
              <a:rPr sz="1050" spc="-5" dirty="0">
                <a:solidFill>
                  <a:srgbClr val="44536A"/>
                </a:solidFill>
                <a:latin typeface="Arial Unicode MS"/>
                <a:cs typeface="Arial Unicode MS"/>
              </a:rPr>
              <a:t>离场称</a:t>
            </a:r>
            <a:r>
              <a:rPr sz="1050" dirty="0">
                <a:solidFill>
                  <a:srgbClr val="44536A"/>
                </a:solidFill>
                <a:latin typeface="Arial Unicode MS"/>
                <a:cs typeface="Arial Unicode MS"/>
              </a:rPr>
              <a:t>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5827877" y="3554933"/>
            <a:ext cx="699770" cy="0"/>
          </a:xfrm>
          <a:custGeom>
            <a:avLst/>
            <a:gdLst/>
            <a:ahLst/>
            <a:cxnLst/>
            <a:rect l="l" t="t" r="r" b="b"/>
            <a:pathLst>
              <a:path w="699770">
                <a:moveTo>
                  <a:pt x="0" y="0"/>
                </a:moveTo>
                <a:lnTo>
                  <a:pt x="699770" y="0"/>
                </a:lnTo>
              </a:path>
            </a:pathLst>
          </a:custGeom>
          <a:ln w="6096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945809" y="4189450"/>
            <a:ext cx="76200" cy="606425"/>
          </a:xfrm>
          <a:custGeom>
            <a:avLst/>
            <a:gdLst/>
            <a:ahLst/>
            <a:cxnLst/>
            <a:rect l="l" t="t" r="r" b="b"/>
            <a:pathLst>
              <a:path w="76200" h="606425">
                <a:moveTo>
                  <a:pt x="41910" y="549275"/>
                </a:moveTo>
                <a:lnTo>
                  <a:pt x="34290" y="549275"/>
                </a:lnTo>
                <a:lnTo>
                  <a:pt x="34290" y="0"/>
                </a:lnTo>
                <a:lnTo>
                  <a:pt x="41910" y="0"/>
                </a:lnTo>
                <a:lnTo>
                  <a:pt x="41910" y="549275"/>
                </a:lnTo>
                <a:close/>
              </a:path>
              <a:path w="76200" h="606425">
                <a:moveTo>
                  <a:pt x="38100" y="606425"/>
                </a:moveTo>
                <a:lnTo>
                  <a:pt x="0" y="530225"/>
                </a:lnTo>
                <a:lnTo>
                  <a:pt x="34290" y="530225"/>
                </a:lnTo>
                <a:lnTo>
                  <a:pt x="34290" y="549275"/>
                </a:lnTo>
                <a:lnTo>
                  <a:pt x="66675" y="549275"/>
                </a:lnTo>
                <a:lnTo>
                  <a:pt x="38100" y="606425"/>
                </a:lnTo>
                <a:close/>
              </a:path>
              <a:path w="76200" h="606425">
                <a:moveTo>
                  <a:pt x="66675" y="549275"/>
                </a:moveTo>
                <a:lnTo>
                  <a:pt x="41910" y="549275"/>
                </a:lnTo>
                <a:lnTo>
                  <a:pt x="41910" y="530225"/>
                </a:lnTo>
                <a:lnTo>
                  <a:pt x="76200" y="530225"/>
                </a:lnTo>
                <a:lnTo>
                  <a:pt x="66675" y="549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945809" y="5102352"/>
            <a:ext cx="76200" cy="551180"/>
          </a:xfrm>
          <a:custGeom>
            <a:avLst/>
            <a:gdLst/>
            <a:ahLst/>
            <a:cxnLst/>
            <a:rect l="l" t="t" r="r" b="b"/>
            <a:pathLst>
              <a:path w="76200" h="551179">
                <a:moveTo>
                  <a:pt x="41910" y="493610"/>
                </a:moveTo>
                <a:lnTo>
                  <a:pt x="34290" y="493610"/>
                </a:lnTo>
                <a:lnTo>
                  <a:pt x="34290" y="0"/>
                </a:lnTo>
                <a:lnTo>
                  <a:pt x="41910" y="0"/>
                </a:lnTo>
                <a:lnTo>
                  <a:pt x="41910" y="493610"/>
                </a:lnTo>
                <a:close/>
              </a:path>
              <a:path w="76200" h="551179">
                <a:moveTo>
                  <a:pt x="38100" y="550760"/>
                </a:moveTo>
                <a:lnTo>
                  <a:pt x="0" y="474560"/>
                </a:lnTo>
                <a:lnTo>
                  <a:pt x="34290" y="474560"/>
                </a:lnTo>
                <a:lnTo>
                  <a:pt x="34290" y="493610"/>
                </a:lnTo>
                <a:lnTo>
                  <a:pt x="66675" y="493610"/>
                </a:lnTo>
                <a:lnTo>
                  <a:pt x="38100" y="550760"/>
                </a:lnTo>
                <a:close/>
              </a:path>
              <a:path w="76200" h="551179">
                <a:moveTo>
                  <a:pt x="66675" y="493610"/>
                </a:moveTo>
                <a:lnTo>
                  <a:pt x="41910" y="493610"/>
                </a:lnTo>
                <a:lnTo>
                  <a:pt x="41910" y="474560"/>
                </a:lnTo>
                <a:lnTo>
                  <a:pt x="76200" y="474560"/>
                </a:lnTo>
                <a:lnTo>
                  <a:pt x="66675" y="493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736335" y="4355591"/>
            <a:ext cx="881380" cy="253365"/>
          </a:xfrm>
          <a:custGeom>
            <a:avLst/>
            <a:gdLst/>
            <a:ahLst/>
            <a:cxnLst/>
            <a:rect l="l" t="t" r="r" b="b"/>
            <a:pathLst>
              <a:path w="881379" h="253364">
                <a:moveTo>
                  <a:pt x="0" y="0"/>
                </a:moveTo>
                <a:lnTo>
                  <a:pt x="880871" y="0"/>
                </a:lnTo>
                <a:lnTo>
                  <a:pt x="880871" y="252984"/>
                </a:lnTo>
                <a:lnTo>
                  <a:pt x="0" y="252984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815177" y="4406167"/>
            <a:ext cx="7258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44536A"/>
                </a:solidFill>
                <a:latin typeface="Arial Unicode MS"/>
                <a:cs typeface="Arial Unicode MS"/>
              </a:rPr>
              <a:t>14</a:t>
            </a:r>
            <a:r>
              <a:rPr sz="1050" spc="-5" dirty="0">
                <a:solidFill>
                  <a:srgbClr val="44536A"/>
                </a:solidFill>
                <a:latin typeface="Arial Unicode MS"/>
                <a:cs typeface="Arial Unicode MS"/>
              </a:rPr>
              <a:t>货品记</a:t>
            </a:r>
            <a:r>
              <a:rPr sz="1050" dirty="0">
                <a:solidFill>
                  <a:srgbClr val="44536A"/>
                </a:solidFill>
                <a:latin typeface="Arial Unicode MS"/>
                <a:cs typeface="Arial Unicode MS"/>
              </a:rPr>
              <a:t>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5827877" y="4548924"/>
            <a:ext cx="699770" cy="0"/>
          </a:xfrm>
          <a:custGeom>
            <a:avLst/>
            <a:gdLst/>
            <a:ahLst/>
            <a:cxnLst/>
            <a:rect l="l" t="t" r="r" b="b"/>
            <a:pathLst>
              <a:path w="699770">
                <a:moveTo>
                  <a:pt x="0" y="0"/>
                </a:moveTo>
                <a:lnTo>
                  <a:pt x="699770" y="0"/>
                </a:lnTo>
              </a:path>
            </a:pathLst>
          </a:custGeom>
          <a:ln w="6096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736335" y="5239511"/>
            <a:ext cx="881380" cy="254635"/>
          </a:xfrm>
          <a:custGeom>
            <a:avLst/>
            <a:gdLst/>
            <a:ahLst/>
            <a:cxnLst/>
            <a:rect l="l" t="t" r="r" b="b"/>
            <a:pathLst>
              <a:path w="881379" h="254635">
                <a:moveTo>
                  <a:pt x="0" y="0"/>
                </a:moveTo>
                <a:lnTo>
                  <a:pt x="880871" y="0"/>
                </a:lnTo>
                <a:lnTo>
                  <a:pt x="880871" y="254508"/>
                </a:lnTo>
                <a:lnTo>
                  <a:pt x="0" y="254508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5815177" y="5290329"/>
            <a:ext cx="7258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44536A"/>
                </a:solidFill>
                <a:latin typeface="Arial Unicode MS"/>
                <a:cs typeface="Arial Unicode MS"/>
              </a:rPr>
              <a:t>15</a:t>
            </a:r>
            <a:r>
              <a:rPr sz="1050" spc="-5" dirty="0">
                <a:solidFill>
                  <a:srgbClr val="44536A"/>
                </a:solidFill>
                <a:latin typeface="Arial Unicode MS"/>
                <a:cs typeface="Arial Unicode MS"/>
              </a:rPr>
              <a:t>离场检</a:t>
            </a:r>
            <a:r>
              <a:rPr sz="1050" dirty="0">
                <a:solidFill>
                  <a:srgbClr val="44536A"/>
                </a:solidFill>
                <a:latin typeface="Arial Unicode MS"/>
                <a:cs typeface="Arial Unicode MS"/>
              </a:rPr>
              <a:t>查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5827877" y="5433085"/>
            <a:ext cx="699770" cy="0"/>
          </a:xfrm>
          <a:custGeom>
            <a:avLst/>
            <a:gdLst/>
            <a:ahLst/>
            <a:cxnLst/>
            <a:rect l="l" t="t" r="r" b="b"/>
            <a:pathLst>
              <a:path w="699770">
                <a:moveTo>
                  <a:pt x="0" y="0"/>
                </a:moveTo>
                <a:lnTo>
                  <a:pt x="699770" y="0"/>
                </a:lnTo>
              </a:path>
            </a:pathLst>
          </a:custGeom>
          <a:ln w="6096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720285" y="5768251"/>
            <a:ext cx="851535" cy="76200"/>
          </a:xfrm>
          <a:custGeom>
            <a:avLst/>
            <a:gdLst/>
            <a:ahLst/>
            <a:cxnLst/>
            <a:rect l="l" t="t" r="r" b="b"/>
            <a:pathLst>
              <a:path w="851535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4289"/>
                </a:lnTo>
                <a:lnTo>
                  <a:pt x="57150" y="34289"/>
                </a:lnTo>
                <a:lnTo>
                  <a:pt x="57150" y="41910"/>
                </a:lnTo>
                <a:lnTo>
                  <a:pt x="76200" y="41910"/>
                </a:lnTo>
                <a:lnTo>
                  <a:pt x="76200" y="76200"/>
                </a:lnTo>
                <a:close/>
              </a:path>
              <a:path w="851535" h="76200">
                <a:moveTo>
                  <a:pt x="76200" y="41910"/>
                </a:moveTo>
                <a:lnTo>
                  <a:pt x="57150" y="41910"/>
                </a:lnTo>
                <a:lnTo>
                  <a:pt x="57150" y="34289"/>
                </a:lnTo>
                <a:lnTo>
                  <a:pt x="76200" y="34289"/>
                </a:lnTo>
                <a:lnTo>
                  <a:pt x="76200" y="41910"/>
                </a:lnTo>
                <a:close/>
              </a:path>
              <a:path w="851535" h="76200">
                <a:moveTo>
                  <a:pt x="851420" y="41910"/>
                </a:moveTo>
                <a:lnTo>
                  <a:pt x="76200" y="41910"/>
                </a:lnTo>
                <a:lnTo>
                  <a:pt x="76200" y="34289"/>
                </a:lnTo>
                <a:lnTo>
                  <a:pt x="851420" y="34289"/>
                </a:lnTo>
                <a:lnTo>
                  <a:pt x="851420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893428" y="5625693"/>
            <a:ext cx="918146" cy="40118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3015259" y="5722352"/>
            <a:ext cx="636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司机离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场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3746258" y="5770016"/>
            <a:ext cx="740410" cy="76200"/>
          </a:xfrm>
          <a:custGeom>
            <a:avLst/>
            <a:gdLst/>
            <a:ahLst/>
            <a:cxnLst/>
            <a:rect l="l" t="t" r="r" b="b"/>
            <a:pathLst>
              <a:path w="740410" h="76200">
                <a:moveTo>
                  <a:pt x="76301" y="76200"/>
                </a:moveTo>
                <a:lnTo>
                  <a:pt x="0" y="38315"/>
                </a:lnTo>
                <a:lnTo>
                  <a:pt x="76098" y="0"/>
                </a:lnTo>
                <a:lnTo>
                  <a:pt x="76189" y="34290"/>
                </a:lnTo>
                <a:lnTo>
                  <a:pt x="57137" y="34340"/>
                </a:lnTo>
                <a:lnTo>
                  <a:pt x="57162" y="41960"/>
                </a:lnTo>
                <a:lnTo>
                  <a:pt x="76210" y="41960"/>
                </a:lnTo>
                <a:lnTo>
                  <a:pt x="76301" y="76200"/>
                </a:lnTo>
                <a:close/>
              </a:path>
              <a:path w="740410" h="76200">
                <a:moveTo>
                  <a:pt x="76210" y="41910"/>
                </a:moveTo>
                <a:lnTo>
                  <a:pt x="76189" y="34290"/>
                </a:lnTo>
                <a:lnTo>
                  <a:pt x="740028" y="32524"/>
                </a:lnTo>
                <a:lnTo>
                  <a:pt x="740054" y="40144"/>
                </a:lnTo>
                <a:lnTo>
                  <a:pt x="76210" y="41910"/>
                </a:lnTo>
                <a:close/>
              </a:path>
              <a:path w="740410" h="76200">
                <a:moveTo>
                  <a:pt x="57162" y="41960"/>
                </a:moveTo>
                <a:lnTo>
                  <a:pt x="57137" y="34340"/>
                </a:lnTo>
                <a:lnTo>
                  <a:pt x="76189" y="34290"/>
                </a:lnTo>
                <a:lnTo>
                  <a:pt x="76210" y="41910"/>
                </a:lnTo>
                <a:lnTo>
                  <a:pt x="57162" y="41960"/>
                </a:lnTo>
                <a:close/>
              </a:path>
              <a:path w="740410" h="76200">
                <a:moveTo>
                  <a:pt x="76210" y="41960"/>
                </a:moveTo>
                <a:lnTo>
                  <a:pt x="57162" y="41960"/>
                </a:lnTo>
                <a:lnTo>
                  <a:pt x="76210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 txBox="1"/>
          <p:nvPr/>
        </p:nvSpPr>
        <p:spPr>
          <a:xfrm>
            <a:off x="4913172" y="5914013"/>
            <a:ext cx="4591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u="sng" spc="65" dirty="0">
                <a:solidFill>
                  <a:srgbClr val="44536A"/>
                </a:solidFill>
                <a:latin typeface="Arial Unicode MS"/>
                <a:cs typeface="Arial Unicode MS"/>
              </a:rPr>
              <a:t>16</a:t>
            </a:r>
            <a:r>
              <a:rPr sz="1050" u="sng" spc="-5" dirty="0">
                <a:solidFill>
                  <a:srgbClr val="44536A"/>
                </a:solidFill>
                <a:latin typeface="Arial Unicode MS"/>
                <a:cs typeface="Arial Unicode MS"/>
              </a:rPr>
              <a:t>放</a:t>
            </a:r>
            <a:r>
              <a:rPr sz="1050" u="sng" dirty="0">
                <a:solidFill>
                  <a:srgbClr val="44536A"/>
                </a:solidFill>
                <a:latin typeface="Arial Unicode MS"/>
                <a:cs typeface="Arial Unicode MS"/>
              </a:rPr>
              <a:t>出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887901" y="5914013"/>
            <a:ext cx="4591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u="sng" spc="65" dirty="0">
                <a:solidFill>
                  <a:srgbClr val="44536A"/>
                </a:solidFill>
                <a:latin typeface="Arial Unicode MS"/>
                <a:cs typeface="Arial Unicode MS"/>
              </a:rPr>
              <a:t>17</a:t>
            </a:r>
            <a:r>
              <a:rPr sz="1050" u="sng" spc="-5" dirty="0">
                <a:solidFill>
                  <a:srgbClr val="44536A"/>
                </a:solidFill>
                <a:latin typeface="Arial Unicode MS"/>
                <a:cs typeface="Arial Unicode MS"/>
              </a:rPr>
              <a:t>离</a:t>
            </a:r>
            <a:r>
              <a:rPr sz="1050" u="sng" dirty="0">
                <a:solidFill>
                  <a:srgbClr val="44536A"/>
                </a:solidFill>
                <a:latin typeface="Arial Unicode MS"/>
                <a:cs typeface="Arial Unicode MS"/>
              </a:rPr>
              <a:t>场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197388" y="5696546"/>
            <a:ext cx="63373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80" marR="5080" indent="-94615">
              <a:lnSpc>
                <a:spcPts val="1080"/>
              </a:lnSpc>
            </a:pPr>
            <a:r>
              <a:rPr sz="950" spc="-350" dirty="0">
                <a:latin typeface="Arial Unicode MS"/>
                <a:cs typeface="Arial Unicode MS"/>
              </a:rPr>
              <a:t>进度同步</a:t>
            </a:r>
            <a:r>
              <a:rPr sz="950" spc="-60" dirty="0">
                <a:latin typeface="Arial Unicode MS"/>
                <a:cs typeface="Arial Unicode MS"/>
              </a:rPr>
              <a:t>至</a:t>
            </a:r>
            <a:r>
              <a:rPr sz="950" spc="-20" dirty="0">
                <a:latin typeface="Arial Unicode MS"/>
                <a:cs typeface="Arial Unicode MS"/>
              </a:rPr>
              <a:t> </a:t>
            </a:r>
            <a:r>
              <a:rPr sz="950" spc="-360" dirty="0">
                <a:latin typeface="Arial Unicode MS"/>
                <a:cs typeface="Arial Unicode MS"/>
              </a:rPr>
              <a:t>T</a:t>
            </a:r>
            <a:r>
              <a:rPr sz="950" spc="-235" dirty="0">
                <a:latin typeface="Arial Unicode MS"/>
                <a:cs typeface="Arial Unicode MS"/>
              </a:rPr>
              <a:t>M</a:t>
            </a:r>
            <a:r>
              <a:rPr sz="950" spc="-335" dirty="0">
                <a:latin typeface="Arial Unicode MS"/>
                <a:cs typeface="Arial Unicode MS"/>
              </a:rPr>
              <a:t>S</a:t>
            </a:r>
            <a:r>
              <a:rPr sz="950" spc="-350" dirty="0">
                <a:latin typeface="Arial Unicode MS"/>
                <a:cs typeface="Arial Unicode MS"/>
              </a:rPr>
              <a:t>系</a:t>
            </a:r>
            <a:r>
              <a:rPr sz="950" spc="-60" dirty="0">
                <a:latin typeface="Arial Unicode MS"/>
                <a:cs typeface="Arial Unicode MS"/>
              </a:rPr>
              <a:t>统</a:t>
            </a:r>
            <a:endParaRPr sz="950">
              <a:latin typeface="Arial Unicode MS"/>
              <a:cs typeface="Arial Unicode MS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8647404" y="4129015"/>
            <a:ext cx="4591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44536A"/>
                </a:solidFill>
                <a:latin typeface="Arial Unicode MS"/>
                <a:cs typeface="Arial Unicode MS"/>
              </a:rPr>
              <a:t>12</a:t>
            </a:r>
            <a:r>
              <a:rPr sz="1050" spc="-5" dirty="0">
                <a:solidFill>
                  <a:srgbClr val="44536A"/>
                </a:solidFill>
                <a:latin typeface="Arial Unicode MS"/>
                <a:cs typeface="Arial Unicode MS"/>
              </a:rPr>
              <a:t>装</a:t>
            </a:r>
            <a:r>
              <a:rPr sz="1050" dirty="0">
                <a:solidFill>
                  <a:srgbClr val="44536A"/>
                </a:solidFill>
                <a:latin typeface="Arial Unicode MS"/>
                <a:cs typeface="Arial Unicode MS"/>
              </a:rPr>
              <a:t>卸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60104" y="4271771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>
                <a:moveTo>
                  <a:pt x="0" y="0"/>
                </a:moveTo>
                <a:lnTo>
                  <a:pt x="433070" y="0"/>
                </a:lnTo>
              </a:path>
            </a:pathLst>
          </a:custGeom>
          <a:ln w="6096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入园作</a:t>
            </a:r>
            <a:r>
              <a:rPr spc="-30" dirty="0"/>
              <a:t>业</a:t>
            </a:r>
          </a:p>
        </p:txBody>
      </p:sp>
      <p:sp>
        <p:nvSpPr>
          <p:cNvPr id="3" name="object 3"/>
          <p:cNvSpPr/>
          <p:nvPr/>
        </p:nvSpPr>
        <p:spPr>
          <a:xfrm>
            <a:off x="1379219" y="3480815"/>
            <a:ext cx="2590800" cy="490855"/>
          </a:xfrm>
          <a:custGeom>
            <a:avLst/>
            <a:gdLst/>
            <a:ahLst/>
            <a:cxnLst/>
            <a:rect l="l" t="t" r="r" b="b"/>
            <a:pathLst>
              <a:path w="2590800" h="490854">
                <a:moveTo>
                  <a:pt x="2346960" y="490728"/>
                </a:moveTo>
                <a:lnTo>
                  <a:pt x="0" y="490728"/>
                </a:lnTo>
                <a:lnTo>
                  <a:pt x="243840" y="245363"/>
                </a:lnTo>
                <a:lnTo>
                  <a:pt x="0" y="0"/>
                </a:lnTo>
                <a:lnTo>
                  <a:pt x="2346960" y="0"/>
                </a:lnTo>
                <a:lnTo>
                  <a:pt x="2590800" y="245363"/>
                </a:lnTo>
                <a:lnTo>
                  <a:pt x="2346960" y="490728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54173" y="3615511"/>
            <a:ext cx="839469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入园预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约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00600" y="3470147"/>
            <a:ext cx="2590800" cy="490855"/>
          </a:xfrm>
          <a:custGeom>
            <a:avLst/>
            <a:gdLst/>
            <a:ahLst/>
            <a:cxnLst/>
            <a:rect l="l" t="t" r="r" b="b"/>
            <a:pathLst>
              <a:path w="2590800" h="490854">
                <a:moveTo>
                  <a:pt x="2346959" y="490727"/>
                </a:moveTo>
                <a:lnTo>
                  <a:pt x="0" y="490727"/>
                </a:lnTo>
                <a:lnTo>
                  <a:pt x="243839" y="245363"/>
                </a:lnTo>
                <a:lnTo>
                  <a:pt x="0" y="0"/>
                </a:lnTo>
                <a:lnTo>
                  <a:pt x="2346959" y="0"/>
                </a:lnTo>
                <a:lnTo>
                  <a:pt x="2590800" y="245363"/>
                </a:lnTo>
                <a:lnTo>
                  <a:pt x="2346959" y="490727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69420" y="3605122"/>
            <a:ext cx="145097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签到及月台分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配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21980" y="3470147"/>
            <a:ext cx="2590800" cy="490855"/>
          </a:xfrm>
          <a:custGeom>
            <a:avLst/>
            <a:gdLst/>
            <a:ahLst/>
            <a:cxnLst/>
            <a:rect l="l" t="t" r="r" b="b"/>
            <a:pathLst>
              <a:path w="2590800" h="490854">
                <a:moveTo>
                  <a:pt x="2346960" y="490727"/>
                </a:moveTo>
                <a:lnTo>
                  <a:pt x="0" y="490727"/>
                </a:lnTo>
                <a:lnTo>
                  <a:pt x="243840" y="245363"/>
                </a:lnTo>
                <a:lnTo>
                  <a:pt x="0" y="0"/>
                </a:lnTo>
                <a:lnTo>
                  <a:pt x="2346960" y="0"/>
                </a:lnTo>
                <a:lnTo>
                  <a:pt x="2590800" y="245363"/>
                </a:lnTo>
                <a:lnTo>
                  <a:pt x="2346960" y="490727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96806" y="3605122"/>
            <a:ext cx="839469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入园排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队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7426" y="4323791"/>
            <a:ext cx="251523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可为司机提供多种预约方式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明确司机到场时间和相关信息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方便园区人员准确作业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8743" y="4323791"/>
            <a:ext cx="233743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物理意义上明确司机到场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根据预约情况，合理分配月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台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资源，提高作业效率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0059" y="4323791"/>
            <a:ext cx="215963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最大化利用月台资源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公平透明，提升司机体验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方便园区管理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7426" y="1837714"/>
            <a:ext cx="5307965" cy="893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D71E06"/>
                </a:solidFill>
                <a:latin typeface="Microsoft JhengHei"/>
                <a:cs typeface="Microsoft JhengHei"/>
              </a:rPr>
              <a:t>园区物流协同管理：入园作</a:t>
            </a:r>
            <a:r>
              <a:rPr sz="1800" b="1" dirty="0">
                <a:solidFill>
                  <a:srgbClr val="D71E06"/>
                </a:solidFill>
                <a:latin typeface="Microsoft JhengHei"/>
                <a:cs typeface="Microsoft JhengHei"/>
              </a:rPr>
              <a:t>业</a:t>
            </a:r>
            <a:endParaRPr sz="1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600" spc="-15" dirty="0">
                <a:latin typeface="Arial Unicode MS"/>
                <a:cs typeface="Arial Unicode MS"/>
              </a:rPr>
              <a:t>对司机计划入园、到场以及将要入园的过程进行精确管理</a:t>
            </a:r>
            <a:r>
              <a:rPr sz="1600" spc="-20" dirty="0">
                <a:latin typeface="Arial Unicode MS"/>
                <a:cs typeface="Arial Unicode MS"/>
              </a:rPr>
              <a:t>。</a:t>
            </a:r>
            <a:endParaRPr sz="16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入园预</a:t>
            </a:r>
            <a:r>
              <a:rPr spc="-30" dirty="0"/>
              <a:t>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06311" y="1746504"/>
            <a:ext cx="2016760" cy="324040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0" rIns="0" bIns="0" rtlCol="0">
            <a:spAutoFit/>
          </a:bodyPr>
          <a:lstStyle/>
          <a:p>
            <a:pPr marL="610235">
              <a:lnSpc>
                <a:spcPct val="100000"/>
              </a:lnSpc>
            </a:pPr>
            <a:r>
              <a:rPr sz="1550" b="1" spc="-540" dirty="0">
                <a:latin typeface="微软雅黑"/>
                <a:cs typeface="微软雅黑"/>
              </a:rPr>
              <a:t>填充信</a:t>
            </a:r>
            <a:r>
              <a:rPr sz="1550" b="1" spc="-65" dirty="0">
                <a:latin typeface="微软雅黑"/>
                <a:cs typeface="微软雅黑"/>
              </a:rPr>
              <a:t>息</a:t>
            </a:r>
            <a:endParaRPr sz="1550">
              <a:latin typeface="微软雅黑"/>
              <a:cs typeface="微软雅黑"/>
            </a:endParaRPr>
          </a:p>
          <a:p>
            <a:pPr marL="199390" marR="589915">
              <a:lnSpc>
                <a:spcPct val="171200"/>
              </a:lnSpc>
              <a:spcBef>
                <a:spcPts val="250"/>
              </a:spcBef>
            </a:pPr>
            <a:r>
              <a:rPr sz="1800" dirty="0">
                <a:latin typeface="Arial Unicode MS"/>
                <a:cs typeface="Arial Unicode MS"/>
              </a:rPr>
              <a:t>入园目的地 </a:t>
            </a:r>
            <a:r>
              <a:rPr sz="1600" spc="-15" dirty="0">
                <a:latin typeface="Arial Unicode MS"/>
                <a:cs typeface="Arial Unicode MS"/>
              </a:rPr>
              <a:t>预计入园时</a:t>
            </a:r>
            <a:r>
              <a:rPr sz="1600" spc="-20" dirty="0">
                <a:latin typeface="Arial Unicode MS"/>
                <a:cs typeface="Arial Unicode MS"/>
              </a:rPr>
              <a:t>间</a:t>
            </a:r>
            <a:r>
              <a:rPr sz="1600" spc="-5" dirty="0">
                <a:latin typeface="Arial Unicode MS"/>
                <a:cs typeface="Arial Unicode MS"/>
              </a:rPr>
              <a:t> </a:t>
            </a:r>
            <a:r>
              <a:rPr sz="1600" spc="-15" dirty="0">
                <a:latin typeface="Arial Unicode MS"/>
                <a:cs typeface="Arial Unicode MS"/>
              </a:rPr>
              <a:t>入园车辆信</a:t>
            </a:r>
            <a:r>
              <a:rPr sz="1600" spc="-20" dirty="0">
                <a:latin typeface="Arial Unicode MS"/>
                <a:cs typeface="Arial Unicode MS"/>
              </a:rPr>
              <a:t>息</a:t>
            </a:r>
            <a:r>
              <a:rPr sz="1600" spc="-5" dirty="0">
                <a:latin typeface="Arial Unicode MS"/>
                <a:cs typeface="Arial Unicode MS"/>
              </a:rPr>
              <a:t> </a:t>
            </a:r>
            <a:r>
              <a:rPr sz="1400" spc="-5" dirty="0">
                <a:latin typeface="Arial Unicode MS"/>
                <a:cs typeface="Arial Unicode MS"/>
              </a:rPr>
              <a:t>随行人</a:t>
            </a:r>
            <a:r>
              <a:rPr sz="1400" dirty="0">
                <a:latin typeface="Arial Unicode MS"/>
                <a:cs typeface="Arial Unicode MS"/>
              </a:rPr>
              <a:t>员</a:t>
            </a:r>
            <a:endParaRPr sz="14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marL="199390">
              <a:lnSpc>
                <a:spcPct val="100000"/>
              </a:lnSpc>
            </a:pPr>
            <a:r>
              <a:rPr sz="1200" dirty="0">
                <a:latin typeface="Arial Unicode MS"/>
                <a:cs typeface="Arial Unicode MS"/>
              </a:rPr>
              <a:t>货品信息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1200">
              <a:latin typeface="Times New Roman"/>
              <a:cs typeface="Times New Roman"/>
            </a:endParaRPr>
          </a:p>
          <a:p>
            <a:pPr marL="199390">
              <a:lnSpc>
                <a:spcPct val="100000"/>
              </a:lnSpc>
            </a:pPr>
            <a:r>
              <a:rPr sz="1200" spc="860" dirty="0">
                <a:latin typeface="Arial Unicode MS"/>
                <a:cs typeface="Arial Unicode MS"/>
              </a:rPr>
              <a:t>···</a:t>
            </a:r>
            <a:r>
              <a:rPr sz="1200" spc="55" dirty="0">
                <a:latin typeface="Arial Unicode MS"/>
                <a:cs typeface="Arial Unicode MS"/>
              </a:rPr>
              <a:t> </a:t>
            </a:r>
            <a:r>
              <a:rPr sz="1200" spc="860" dirty="0">
                <a:latin typeface="Arial Unicode MS"/>
                <a:cs typeface="Arial Unicode MS"/>
              </a:rPr>
              <a:t>···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5388" y="1749551"/>
            <a:ext cx="2016760" cy="324040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0" rIns="0" bIns="0" rtlCol="0">
            <a:spAutoFit/>
          </a:bodyPr>
          <a:lstStyle/>
          <a:p>
            <a:pPr marL="609600">
              <a:lnSpc>
                <a:spcPct val="100000"/>
              </a:lnSpc>
            </a:pPr>
            <a:r>
              <a:rPr sz="1550" b="1" spc="-540" dirty="0">
                <a:latin typeface="微软雅黑"/>
                <a:cs typeface="微软雅黑"/>
              </a:rPr>
              <a:t>预约方</a:t>
            </a:r>
            <a:r>
              <a:rPr sz="1550" b="1" spc="-65" dirty="0">
                <a:latin typeface="微软雅黑"/>
                <a:cs typeface="微软雅黑"/>
              </a:rPr>
              <a:t>式</a:t>
            </a:r>
            <a:endParaRPr sz="155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6847" y="2403348"/>
            <a:ext cx="1511935" cy="3600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11150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小程序预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约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6847" y="2894076"/>
            <a:ext cx="1511935" cy="3613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99695">
              <a:lnSpc>
                <a:spcPct val="100000"/>
              </a:lnSpc>
            </a:pPr>
            <a:r>
              <a:rPr sz="1400" spc="120" dirty="0">
                <a:solidFill>
                  <a:srgbClr val="404040"/>
                </a:solidFill>
                <a:latin typeface="Arial Unicode MS"/>
                <a:cs typeface="Arial Unicode MS"/>
              </a:rPr>
              <a:t>W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E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B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端人工预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约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6847" y="3386328"/>
            <a:ext cx="1511935" cy="3600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22250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司机自助预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约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6847" y="3877055"/>
            <a:ext cx="1511935" cy="3613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00050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到场预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约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6847" y="4369308"/>
            <a:ext cx="1511935" cy="3600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11150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二维码预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约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17153" y="1872526"/>
            <a:ext cx="692124" cy="4041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391350" y="1517814"/>
            <a:ext cx="68580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440"/>
              </a:lnSpc>
            </a:pPr>
            <a:r>
              <a:rPr sz="1250" b="1" spc="-430" dirty="0">
                <a:latin typeface="微软雅黑"/>
                <a:cs typeface="微软雅黑"/>
              </a:rPr>
              <a:t>校验园</a:t>
            </a:r>
            <a:r>
              <a:rPr sz="1250" b="1" spc="-50" dirty="0">
                <a:latin typeface="微软雅黑"/>
                <a:cs typeface="微软雅黑"/>
              </a:rPr>
              <a:t>区</a:t>
            </a:r>
            <a:r>
              <a:rPr sz="1250" b="1" spc="-15" dirty="0">
                <a:latin typeface="微软雅黑"/>
                <a:cs typeface="微软雅黑"/>
              </a:rPr>
              <a:t> </a:t>
            </a:r>
            <a:r>
              <a:rPr sz="1250" b="1" spc="-430" dirty="0">
                <a:latin typeface="微软雅黑"/>
                <a:cs typeface="微软雅黑"/>
              </a:rPr>
              <a:t>设置规</a:t>
            </a:r>
            <a:r>
              <a:rPr sz="1250" b="1" spc="-50" dirty="0">
                <a:latin typeface="微软雅黑"/>
                <a:cs typeface="微软雅黑"/>
              </a:rPr>
              <a:t>则</a:t>
            </a:r>
            <a:endParaRPr sz="125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09707" y="5595949"/>
            <a:ext cx="37973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b="1" spc="-445" dirty="0">
                <a:latin typeface="微软雅黑"/>
                <a:cs typeface="微软雅黑"/>
              </a:rPr>
              <a:t>通</a:t>
            </a:r>
            <a:r>
              <a:rPr sz="1250" b="1" spc="-50" dirty="0">
                <a:latin typeface="微软雅黑"/>
                <a:cs typeface="微软雅黑"/>
              </a:rPr>
              <a:t>知</a:t>
            </a:r>
            <a:endParaRPr sz="125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74569" y="3164446"/>
            <a:ext cx="692124" cy="4041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28759" y="1751076"/>
            <a:ext cx="2399030" cy="64770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0" rIns="0" bIns="0" rtlCol="0">
            <a:spAutoFit/>
          </a:bodyPr>
          <a:lstStyle/>
          <a:p>
            <a:pPr marL="132715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该园区时间节点可预约容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量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27235" y="3136392"/>
            <a:ext cx="2400300" cy="54102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0" rIns="0" bIns="0" rtlCol="0">
            <a:spAutoFit/>
          </a:bodyPr>
          <a:lstStyle/>
          <a:p>
            <a:pPr marL="271145">
              <a:lnSpc>
                <a:spcPct val="100000"/>
              </a:lnSpc>
              <a:tabLst>
                <a:tab pos="1519555" algn="l"/>
              </a:tabLst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容量足够	容量不足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624059" y="2583179"/>
            <a:ext cx="180340" cy="360045"/>
          </a:xfrm>
          <a:custGeom>
            <a:avLst/>
            <a:gdLst/>
            <a:ahLst/>
            <a:cxnLst/>
            <a:rect l="l" t="t" r="r" b="b"/>
            <a:pathLst>
              <a:path w="180340" h="360044">
                <a:moveTo>
                  <a:pt x="135636" y="269748"/>
                </a:moveTo>
                <a:lnTo>
                  <a:pt x="45720" y="269748"/>
                </a:lnTo>
                <a:lnTo>
                  <a:pt x="45720" y="0"/>
                </a:lnTo>
                <a:lnTo>
                  <a:pt x="135636" y="0"/>
                </a:lnTo>
                <a:lnTo>
                  <a:pt x="135636" y="269748"/>
                </a:lnTo>
                <a:close/>
              </a:path>
              <a:path w="180340" h="360044">
                <a:moveTo>
                  <a:pt x="89916" y="359664"/>
                </a:moveTo>
                <a:lnTo>
                  <a:pt x="0" y="269748"/>
                </a:lnTo>
                <a:lnTo>
                  <a:pt x="179832" y="269748"/>
                </a:lnTo>
                <a:lnTo>
                  <a:pt x="89916" y="359664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79835" y="2583179"/>
            <a:ext cx="180340" cy="360045"/>
          </a:xfrm>
          <a:custGeom>
            <a:avLst/>
            <a:gdLst/>
            <a:ahLst/>
            <a:cxnLst/>
            <a:rect l="l" t="t" r="r" b="b"/>
            <a:pathLst>
              <a:path w="180340" h="360044">
                <a:moveTo>
                  <a:pt x="135636" y="269748"/>
                </a:moveTo>
                <a:lnTo>
                  <a:pt x="45720" y="269748"/>
                </a:lnTo>
                <a:lnTo>
                  <a:pt x="45720" y="0"/>
                </a:lnTo>
                <a:lnTo>
                  <a:pt x="135636" y="0"/>
                </a:lnTo>
                <a:lnTo>
                  <a:pt x="135636" y="269748"/>
                </a:lnTo>
                <a:close/>
              </a:path>
              <a:path w="180340" h="360044">
                <a:moveTo>
                  <a:pt x="89916" y="359664"/>
                </a:moveTo>
                <a:lnTo>
                  <a:pt x="0" y="269748"/>
                </a:lnTo>
                <a:lnTo>
                  <a:pt x="179832" y="269748"/>
                </a:lnTo>
                <a:lnTo>
                  <a:pt x="89916" y="359664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624059" y="3883152"/>
            <a:ext cx="180340" cy="361315"/>
          </a:xfrm>
          <a:custGeom>
            <a:avLst/>
            <a:gdLst/>
            <a:ahLst/>
            <a:cxnLst/>
            <a:rect l="l" t="t" r="r" b="b"/>
            <a:pathLst>
              <a:path w="180340" h="361314">
                <a:moveTo>
                  <a:pt x="135636" y="269748"/>
                </a:moveTo>
                <a:lnTo>
                  <a:pt x="45720" y="269748"/>
                </a:lnTo>
                <a:lnTo>
                  <a:pt x="45720" y="0"/>
                </a:lnTo>
                <a:lnTo>
                  <a:pt x="135636" y="0"/>
                </a:lnTo>
                <a:lnTo>
                  <a:pt x="135636" y="269748"/>
                </a:lnTo>
                <a:close/>
              </a:path>
              <a:path w="180340" h="361314">
                <a:moveTo>
                  <a:pt x="89916" y="361188"/>
                </a:moveTo>
                <a:lnTo>
                  <a:pt x="0" y="269748"/>
                </a:lnTo>
                <a:lnTo>
                  <a:pt x="179832" y="269748"/>
                </a:lnTo>
                <a:lnTo>
                  <a:pt x="89916" y="361188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879835" y="3883152"/>
            <a:ext cx="180340" cy="361315"/>
          </a:xfrm>
          <a:custGeom>
            <a:avLst/>
            <a:gdLst/>
            <a:ahLst/>
            <a:cxnLst/>
            <a:rect l="l" t="t" r="r" b="b"/>
            <a:pathLst>
              <a:path w="180340" h="361314">
                <a:moveTo>
                  <a:pt x="135636" y="269748"/>
                </a:moveTo>
                <a:lnTo>
                  <a:pt x="45720" y="269748"/>
                </a:lnTo>
                <a:lnTo>
                  <a:pt x="45720" y="0"/>
                </a:lnTo>
                <a:lnTo>
                  <a:pt x="135636" y="0"/>
                </a:lnTo>
                <a:lnTo>
                  <a:pt x="135636" y="269748"/>
                </a:lnTo>
                <a:close/>
              </a:path>
              <a:path w="180340" h="361314">
                <a:moveTo>
                  <a:pt x="89916" y="361188"/>
                </a:moveTo>
                <a:lnTo>
                  <a:pt x="0" y="269748"/>
                </a:lnTo>
                <a:lnTo>
                  <a:pt x="179832" y="269748"/>
                </a:lnTo>
                <a:lnTo>
                  <a:pt x="89916" y="361188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27235" y="4447032"/>
            <a:ext cx="2400300" cy="53975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0" rIns="0" bIns="0" rtlCol="0">
            <a:spAutoFit/>
          </a:bodyPr>
          <a:lstStyle/>
          <a:p>
            <a:pPr marL="194945">
              <a:lnSpc>
                <a:spcPct val="100000"/>
              </a:lnSpc>
              <a:tabLst>
                <a:tab pos="1367155" algn="l"/>
              </a:tabLst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生成预约单	提示不能预约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4463" y="1749551"/>
            <a:ext cx="2014855" cy="32404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09600">
              <a:lnSpc>
                <a:spcPct val="100000"/>
              </a:lnSpc>
            </a:pPr>
            <a:r>
              <a:rPr sz="1550" b="1" spc="-540" dirty="0">
                <a:latin typeface="微软雅黑"/>
                <a:cs typeface="微软雅黑"/>
              </a:rPr>
              <a:t>预约用</a:t>
            </a:r>
            <a:r>
              <a:rPr sz="1550" b="1" spc="-65" dirty="0">
                <a:latin typeface="微软雅黑"/>
                <a:cs typeface="微软雅黑"/>
              </a:rPr>
              <a:t>户</a:t>
            </a:r>
            <a:endParaRPr sz="155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5924" y="2641092"/>
            <a:ext cx="1511935" cy="3613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88315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供应</a:t>
            </a:r>
            <a:r>
              <a:rPr sz="1400" dirty="0">
                <a:latin typeface="Arial Unicode MS"/>
                <a:cs typeface="Arial Unicode MS"/>
              </a:rPr>
              <a:t>商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5924" y="3133344"/>
            <a:ext cx="1511935" cy="3600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88315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承运</a:t>
            </a:r>
            <a:r>
              <a:rPr sz="1400" dirty="0">
                <a:latin typeface="Arial Unicode MS"/>
                <a:cs typeface="Arial Unicode MS"/>
              </a:rPr>
              <a:t>商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5924" y="3624071"/>
            <a:ext cx="1511935" cy="3613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88315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业务</a:t>
            </a:r>
            <a:r>
              <a:rPr sz="1400" dirty="0">
                <a:latin typeface="Arial Unicode MS"/>
                <a:cs typeface="Arial Unicode MS"/>
              </a:rPr>
              <a:t>员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5924" y="4116323"/>
            <a:ext cx="1511935" cy="3600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司</a:t>
            </a:r>
            <a:r>
              <a:rPr sz="1400" dirty="0">
                <a:latin typeface="Arial Unicode MS"/>
                <a:cs typeface="Arial Unicode MS"/>
              </a:rPr>
              <a:t>机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95861" y="3155823"/>
            <a:ext cx="692124" cy="4041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14741" y="5058105"/>
            <a:ext cx="8108315" cy="403225"/>
          </a:xfrm>
          <a:custGeom>
            <a:avLst/>
            <a:gdLst/>
            <a:ahLst/>
            <a:cxnLst/>
            <a:rect l="l" t="t" r="r" b="b"/>
            <a:pathLst>
              <a:path w="8108315" h="403225">
                <a:moveTo>
                  <a:pt x="8069973" y="383603"/>
                </a:moveTo>
                <a:lnTo>
                  <a:pt x="8069973" y="0"/>
                </a:lnTo>
                <a:lnTo>
                  <a:pt x="8108073" y="0"/>
                </a:lnTo>
                <a:lnTo>
                  <a:pt x="8108073" y="364553"/>
                </a:lnTo>
                <a:lnTo>
                  <a:pt x="8089023" y="364553"/>
                </a:lnTo>
                <a:lnTo>
                  <a:pt x="8069973" y="383603"/>
                </a:lnTo>
                <a:close/>
              </a:path>
              <a:path w="8108315" h="403225">
                <a:moveTo>
                  <a:pt x="38100" y="193116"/>
                </a:moveTo>
                <a:lnTo>
                  <a:pt x="0" y="193116"/>
                </a:lnTo>
                <a:lnTo>
                  <a:pt x="57150" y="2616"/>
                </a:lnTo>
                <a:lnTo>
                  <a:pt x="100012" y="145491"/>
                </a:lnTo>
                <a:lnTo>
                  <a:pt x="38100" y="145491"/>
                </a:lnTo>
                <a:lnTo>
                  <a:pt x="38100" y="193116"/>
                </a:lnTo>
                <a:close/>
              </a:path>
              <a:path w="8108315" h="403225">
                <a:moveTo>
                  <a:pt x="8108073" y="402653"/>
                </a:moveTo>
                <a:lnTo>
                  <a:pt x="38100" y="402653"/>
                </a:lnTo>
                <a:lnTo>
                  <a:pt x="38100" y="145491"/>
                </a:lnTo>
                <a:lnTo>
                  <a:pt x="76200" y="145491"/>
                </a:lnTo>
                <a:lnTo>
                  <a:pt x="76200" y="364553"/>
                </a:lnTo>
                <a:lnTo>
                  <a:pt x="57150" y="364553"/>
                </a:lnTo>
                <a:lnTo>
                  <a:pt x="76200" y="383603"/>
                </a:lnTo>
                <a:lnTo>
                  <a:pt x="8108073" y="383603"/>
                </a:lnTo>
                <a:lnTo>
                  <a:pt x="8108073" y="402653"/>
                </a:lnTo>
                <a:close/>
              </a:path>
              <a:path w="8108315" h="403225">
                <a:moveTo>
                  <a:pt x="114300" y="193116"/>
                </a:moveTo>
                <a:lnTo>
                  <a:pt x="76200" y="193116"/>
                </a:lnTo>
                <a:lnTo>
                  <a:pt x="76200" y="145491"/>
                </a:lnTo>
                <a:lnTo>
                  <a:pt x="100012" y="145491"/>
                </a:lnTo>
                <a:lnTo>
                  <a:pt x="114300" y="193116"/>
                </a:lnTo>
                <a:close/>
              </a:path>
              <a:path w="8108315" h="403225">
                <a:moveTo>
                  <a:pt x="76200" y="383603"/>
                </a:moveTo>
                <a:lnTo>
                  <a:pt x="57150" y="364553"/>
                </a:lnTo>
                <a:lnTo>
                  <a:pt x="76200" y="364553"/>
                </a:lnTo>
                <a:lnTo>
                  <a:pt x="76200" y="383603"/>
                </a:lnTo>
                <a:close/>
              </a:path>
              <a:path w="8108315" h="403225">
                <a:moveTo>
                  <a:pt x="8069973" y="383603"/>
                </a:moveTo>
                <a:lnTo>
                  <a:pt x="76200" y="383603"/>
                </a:lnTo>
                <a:lnTo>
                  <a:pt x="76200" y="364553"/>
                </a:lnTo>
                <a:lnTo>
                  <a:pt x="8069973" y="364553"/>
                </a:lnTo>
                <a:lnTo>
                  <a:pt x="8069973" y="383603"/>
                </a:lnTo>
                <a:close/>
              </a:path>
              <a:path w="8108315" h="403225">
                <a:moveTo>
                  <a:pt x="8108073" y="383603"/>
                </a:moveTo>
                <a:lnTo>
                  <a:pt x="8069973" y="383603"/>
                </a:lnTo>
                <a:lnTo>
                  <a:pt x="8089023" y="364553"/>
                </a:lnTo>
                <a:lnTo>
                  <a:pt x="8108073" y="364553"/>
                </a:lnTo>
                <a:lnTo>
                  <a:pt x="8108073" y="383603"/>
                </a:lnTo>
                <a:close/>
              </a:path>
            </a:pathLst>
          </a:custGeom>
          <a:solidFill>
            <a:srgbClr val="D71E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21308"/>
            <a:ext cx="12192000" cy="4403090"/>
          </a:xfrm>
          <a:custGeom>
            <a:avLst/>
            <a:gdLst/>
            <a:ahLst/>
            <a:cxnLst/>
            <a:rect l="l" t="t" r="r" b="b"/>
            <a:pathLst>
              <a:path w="12192000" h="4403090">
                <a:moveTo>
                  <a:pt x="0" y="0"/>
                </a:moveTo>
                <a:lnTo>
                  <a:pt x="12192000" y="0"/>
                </a:lnTo>
                <a:lnTo>
                  <a:pt x="12192000" y="4402836"/>
                </a:lnTo>
                <a:lnTo>
                  <a:pt x="0" y="4402836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签到及月台分</a:t>
            </a:r>
            <a:r>
              <a:rPr spc="-30" dirty="0"/>
              <a:t>配</a:t>
            </a:r>
          </a:p>
        </p:txBody>
      </p:sp>
      <p:sp>
        <p:nvSpPr>
          <p:cNvPr id="4" name="object 4"/>
          <p:cNvSpPr/>
          <p:nvPr/>
        </p:nvSpPr>
        <p:spPr>
          <a:xfrm>
            <a:off x="620623" y="3300729"/>
            <a:ext cx="1348981" cy="454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5067" y="3391496"/>
            <a:ext cx="7391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司机到场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34030" y="3300729"/>
            <a:ext cx="1348981" cy="454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28315" y="3391496"/>
            <a:ext cx="75946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55" dirty="0">
                <a:solidFill>
                  <a:srgbClr val="404040"/>
                </a:solidFill>
                <a:latin typeface="Microsoft JhengHei"/>
                <a:cs typeface="Microsoft JhengHei"/>
              </a:rPr>
              <a:t>G</a:t>
            </a:r>
            <a:r>
              <a:rPr sz="1400" b="1" spc="40" dirty="0">
                <a:solidFill>
                  <a:srgbClr val="404040"/>
                </a:solidFill>
                <a:latin typeface="Microsoft JhengHei"/>
                <a:cs typeface="Microsoft JhengHei"/>
              </a:rPr>
              <a:t>P</a:t>
            </a:r>
            <a:r>
              <a:rPr sz="1400" b="1" spc="105" dirty="0">
                <a:solidFill>
                  <a:srgbClr val="404040"/>
                </a:solidFill>
                <a:latin typeface="Microsoft JhengHei"/>
                <a:cs typeface="Microsoft JhengHei"/>
              </a:rPr>
              <a:t>S</a:t>
            </a: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签到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47438" y="3300729"/>
            <a:ext cx="2003818" cy="4546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01120" y="3391496"/>
            <a:ext cx="109601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确认装卸月台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856" y="1936737"/>
            <a:ext cx="1348981" cy="454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68836" y="2027516"/>
            <a:ext cx="56070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有月台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74856" y="4664709"/>
            <a:ext cx="1348981" cy="4546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68836" y="4755489"/>
            <a:ext cx="56070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无月台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73773" y="1392466"/>
            <a:ext cx="1348981" cy="454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56653" y="1483245"/>
            <a:ext cx="38227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排队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73773" y="2481021"/>
            <a:ext cx="2996133" cy="4546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45197" y="2571787"/>
            <a:ext cx="24536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通知</a:t>
            </a:r>
            <a:r>
              <a:rPr sz="1400" b="1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W</a:t>
            </a:r>
            <a:r>
              <a:rPr sz="1400" b="1" spc="-75" dirty="0">
                <a:solidFill>
                  <a:srgbClr val="404040"/>
                </a:solidFill>
                <a:latin typeface="Microsoft JhengHei"/>
                <a:cs typeface="Microsoft JhengHei"/>
              </a:rPr>
              <a:t>M</a:t>
            </a:r>
            <a:r>
              <a:rPr sz="1400" b="1" spc="105" dirty="0">
                <a:solidFill>
                  <a:srgbClr val="404040"/>
                </a:solidFill>
                <a:latin typeface="Microsoft JhengHei"/>
                <a:cs typeface="Microsoft JhengHei"/>
              </a:rPr>
              <a:t>S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（生成到货通知单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）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73773" y="4664709"/>
            <a:ext cx="1348981" cy="4546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78218" y="4755489"/>
            <a:ext cx="7391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匹配月台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772690" y="4664709"/>
            <a:ext cx="2636126" cy="4546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130474" y="4755489"/>
            <a:ext cx="1920239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通知</a:t>
            </a:r>
            <a:r>
              <a:rPr sz="1400" b="1" spc="-5" dirty="0">
                <a:solidFill>
                  <a:srgbClr val="404040"/>
                </a:solidFill>
                <a:latin typeface="Microsoft JhengHei"/>
                <a:cs typeface="Microsoft JhengHei"/>
              </a:rPr>
              <a:t>W</a:t>
            </a:r>
            <a:r>
              <a:rPr sz="1400" b="1" spc="-75" dirty="0">
                <a:solidFill>
                  <a:srgbClr val="404040"/>
                </a:solidFill>
                <a:latin typeface="Microsoft JhengHei"/>
                <a:cs typeface="Microsoft JhengHei"/>
              </a:rPr>
              <a:t>M</a:t>
            </a:r>
            <a:r>
              <a:rPr sz="1400" b="1" spc="105" dirty="0">
                <a:solidFill>
                  <a:srgbClr val="404040"/>
                </a:solidFill>
                <a:latin typeface="Microsoft JhengHei"/>
                <a:cs typeface="Microsoft JhengHei"/>
              </a:rPr>
              <a:t>S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（确认月台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）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11540" y="3451859"/>
            <a:ext cx="680720" cy="76200"/>
          </a:xfrm>
          <a:custGeom>
            <a:avLst/>
            <a:gdLst/>
            <a:ahLst/>
            <a:cxnLst/>
            <a:rect l="l" t="t" r="r" b="b"/>
            <a:pathLst>
              <a:path w="680719" h="76200">
                <a:moveTo>
                  <a:pt x="604354" y="76200"/>
                </a:moveTo>
                <a:lnTo>
                  <a:pt x="604354" y="0"/>
                </a:lnTo>
                <a:lnTo>
                  <a:pt x="661504" y="28575"/>
                </a:lnTo>
                <a:lnTo>
                  <a:pt x="623404" y="28575"/>
                </a:lnTo>
                <a:lnTo>
                  <a:pt x="623404" y="47625"/>
                </a:lnTo>
                <a:lnTo>
                  <a:pt x="661504" y="47625"/>
                </a:lnTo>
                <a:lnTo>
                  <a:pt x="604354" y="76200"/>
                </a:lnTo>
                <a:close/>
              </a:path>
              <a:path w="680719" h="76200">
                <a:moveTo>
                  <a:pt x="604354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604354" y="28575"/>
                </a:lnTo>
                <a:lnTo>
                  <a:pt x="604354" y="47625"/>
                </a:lnTo>
                <a:close/>
              </a:path>
              <a:path w="680719" h="76200">
                <a:moveTo>
                  <a:pt x="661504" y="47625"/>
                </a:moveTo>
                <a:lnTo>
                  <a:pt x="623404" y="47625"/>
                </a:lnTo>
                <a:lnTo>
                  <a:pt x="623404" y="28575"/>
                </a:lnTo>
                <a:lnTo>
                  <a:pt x="661504" y="28575"/>
                </a:lnTo>
                <a:lnTo>
                  <a:pt x="680554" y="38100"/>
                </a:lnTo>
                <a:lnTo>
                  <a:pt x="661504" y="4762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24960" y="3451859"/>
            <a:ext cx="680720" cy="76200"/>
          </a:xfrm>
          <a:custGeom>
            <a:avLst/>
            <a:gdLst/>
            <a:ahLst/>
            <a:cxnLst/>
            <a:rect l="l" t="t" r="r" b="b"/>
            <a:pathLst>
              <a:path w="680720" h="76200">
                <a:moveTo>
                  <a:pt x="604342" y="76200"/>
                </a:moveTo>
                <a:lnTo>
                  <a:pt x="604342" y="0"/>
                </a:lnTo>
                <a:lnTo>
                  <a:pt x="661492" y="28575"/>
                </a:lnTo>
                <a:lnTo>
                  <a:pt x="623392" y="28575"/>
                </a:lnTo>
                <a:lnTo>
                  <a:pt x="623392" y="47625"/>
                </a:lnTo>
                <a:lnTo>
                  <a:pt x="661492" y="47625"/>
                </a:lnTo>
                <a:lnTo>
                  <a:pt x="604342" y="76200"/>
                </a:lnTo>
                <a:close/>
              </a:path>
              <a:path w="680720" h="76200">
                <a:moveTo>
                  <a:pt x="604342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604342" y="28575"/>
                </a:lnTo>
                <a:lnTo>
                  <a:pt x="604342" y="47625"/>
                </a:lnTo>
                <a:close/>
              </a:path>
              <a:path w="680720" h="76200">
                <a:moveTo>
                  <a:pt x="661492" y="47625"/>
                </a:moveTo>
                <a:lnTo>
                  <a:pt x="623392" y="47625"/>
                </a:lnTo>
                <a:lnTo>
                  <a:pt x="623392" y="28575"/>
                </a:lnTo>
                <a:lnTo>
                  <a:pt x="661492" y="28575"/>
                </a:lnTo>
                <a:lnTo>
                  <a:pt x="680542" y="38100"/>
                </a:lnTo>
                <a:lnTo>
                  <a:pt x="661492" y="4762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11254" y="2295232"/>
            <a:ext cx="76200" cy="1025525"/>
          </a:xfrm>
          <a:custGeom>
            <a:avLst/>
            <a:gdLst/>
            <a:ahLst/>
            <a:cxnLst/>
            <a:rect l="l" t="t" r="r" b="b"/>
            <a:pathLst>
              <a:path w="76200" h="1025525">
                <a:moveTo>
                  <a:pt x="28575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28575" y="57150"/>
                </a:lnTo>
                <a:lnTo>
                  <a:pt x="28575" y="76200"/>
                </a:lnTo>
                <a:close/>
              </a:path>
              <a:path w="76200" h="1025525">
                <a:moveTo>
                  <a:pt x="47625" y="1025461"/>
                </a:moveTo>
                <a:lnTo>
                  <a:pt x="28575" y="1025461"/>
                </a:lnTo>
                <a:lnTo>
                  <a:pt x="28575" y="57150"/>
                </a:lnTo>
                <a:lnTo>
                  <a:pt x="47625" y="57150"/>
                </a:lnTo>
                <a:lnTo>
                  <a:pt x="47625" y="1025461"/>
                </a:lnTo>
                <a:close/>
              </a:path>
              <a:path w="76200" h="1025525">
                <a:moveTo>
                  <a:pt x="76200" y="76200"/>
                </a:moveTo>
                <a:lnTo>
                  <a:pt x="47625" y="76200"/>
                </a:lnTo>
                <a:lnTo>
                  <a:pt x="47625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65773" y="1543596"/>
            <a:ext cx="766445" cy="592455"/>
          </a:xfrm>
          <a:custGeom>
            <a:avLst/>
            <a:gdLst/>
            <a:ahLst/>
            <a:cxnLst/>
            <a:rect l="l" t="t" r="r" b="b"/>
            <a:pathLst>
              <a:path w="766445" h="592455">
                <a:moveTo>
                  <a:pt x="689864" y="76200"/>
                </a:moveTo>
                <a:lnTo>
                  <a:pt x="689864" y="0"/>
                </a:lnTo>
                <a:lnTo>
                  <a:pt x="747014" y="28575"/>
                </a:lnTo>
                <a:lnTo>
                  <a:pt x="708914" y="28575"/>
                </a:lnTo>
                <a:lnTo>
                  <a:pt x="708914" y="47625"/>
                </a:lnTo>
                <a:lnTo>
                  <a:pt x="747014" y="47625"/>
                </a:lnTo>
                <a:lnTo>
                  <a:pt x="689864" y="76200"/>
                </a:lnTo>
                <a:close/>
              </a:path>
              <a:path w="766445" h="592455">
                <a:moveTo>
                  <a:pt x="373506" y="582383"/>
                </a:moveTo>
                <a:lnTo>
                  <a:pt x="373506" y="28575"/>
                </a:lnTo>
                <a:lnTo>
                  <a:pt x="689864" y="28575"/>
                </a:lnTo>
                <a:lnTo>
                  <a:pt x="689864" y="38100"/>
                </a:lnTo>
                <a:lnTo>
                  <a:pt x="392556" y="38100"/>
                </a:lnTo>
                <a:lnTo>
                  <a:pt x="383031" y="47625"/>
                </a:lnTo>
                <a:lnTo>
                  <a:pt x="392556" y="47625"/>
                </a:lnTo>
                <a:lnTo>
                  <a:pt x="392556" y="572858"/>
                </a:lnTo>
                <a:lnTo>
                  <a:pt x="383031" y="572858"/>
                </a:lnTo>
                <a:lnTo>
                  <a:pt x="373506" y="582383"/>
                </a:lnTo>
                <a:close/>
              </a:path>
              <a:path w="766445" h="592455">
                <a:moveTo>
                  <a:pt x="747014" y="47625"/>
                </a:moveTo>
                <a:lnTo>
                  <a:pt x="708914" y="47625"/>
                </a:lnTo>
                <a:lnTo>
                  <a:pt x="708914" y="28575"/>
                </a:lnTo>
                <a:lnTo>
                  <a:pt x="747014" y="28575"/>
                </a:lnTo>
                <a:lnTo>
                  <a:pt x="766064" y="38100"/>
                </a:lnTo>
                <a:lnTo>
                  <a:pt x="747014" y="47625"/>
                </a:lnTo>
                <a:close/>
              </a:path>
              <a:path w="766445" h="592455">
                <a:moveTo>
                  <a:pt x="392556" y="47625"/>
                </a:moveTo>
                <a:lnTo>
                  <a:pt x="383031" y="47625"/>
                </a:lnTo>
                <a:lnTo>
                  <a:pt x="392556" y="38100"/>
                </a:lnTo>
                <a:lnTo>
                  <a:pt x="392556" y="47625"/>
                </a:lnTo>
                <a:close/>
              </a:path>
              <a:path w="766445" h="592455">
                <a:moveTo>
                  <a:pt x="689864" y="47625"/>
                </a:moveTo>
                <a:lnTo>
                  <a:pt x="392556" y="47625"/>
                </a:lnTo>
                <a:lnTo>
                  <a:pt x="392556" y="38100"/>
                </a:lnTo>
                <a:lnTo>
                  <a:pt x="689864" y="38100"/>
                </a:lnTo>
                <a:lnTo>
                  <a:pt x="689864" y="47625"/>
                </a:lnTo>
                <a:close/>
              </a:path>
              <a:path w="766445" h="592455">
                <a:moveTo>
                  <a:pt x="392556" y="591908"/>
                </a:moveTo>
                <a:lnTo>
                  <a:pt x="0" y="591908"/>
                </a:lnTo>
                <a:lnTo>
                  <a:pt x="0" y="572858"/>
                </a:lnTo>
                <a:lnTo>
                  <a:pt x="373506" y="572858"/>
                </a:lnTo>
                <a:lnTo>
                  <a:pt x="373506" y="582383"/>
                </a:lnTo>
                <a:lnTo>
                  <a:pt x="392556" y="582383"/>
                </a:lnTo>
                <a:lnTo>
                  <a:pt x="392556" y="591908"/>
                </a:lnTo>
                <a:close/>
              </a:path>
              <a:path w="766445" h="592455">
                <a:moveTo>
                  <a:pt x="392556" y="582383"/>
                </a:moveTo>
                <a:lnTo>
                  <a:pt x="373506" y="582383"/>
                </a:lnTo>
                <a:lnTo>
                  <a:pt x="383031" y="572858"/>
                </a:lnTo>
                <a:lnTo>
                  <a:pt x="392556" y="572858"/>
                </a:lnTo>
                <a:lnTo>
                  <a:pt x="392556" y="582383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65773" y="2116454"/>
            <a:ext cx="766445" cy="592455"/>
          </a:xfrm>
          <a:custGeom>
            <a:avLst/>
            <a:gdLst/>
            <a:ahLst/>
            <a:cxnLst/>
            <a:rect l="l" t="t" r="r" b="b"/>
            <a:pathLst>
              <a:path w="766445" h="592455">
                <a:moveTo>
                  <a:pt x="373506" y="19050"/>
                </a:moveTo>
                <a:lnTo>
                  <a:pt x="0" y="19050"/>
                </a:lnTo>
                <a:lnTo>
                  <a:pt x="0" y="0"/>
                </a:lnTo>
                <a:lnTo>
                  <a:pt x="392556" y="0"/>
                </a:lnTo>
                <a:lnTo>
                  <a:pt x="392556" y="9525"/>
                </a:lnTo>
                <a:lnTo>
                  <a:pt x="373506" y="9525"/>
                </a:lnTo>
                <a:lnTo>
                  <a:pt x="373506" y="19050"/>
                </a:lnTo>
                <a:close/>
              </a:path>
              <a:path w="766445" h="592455">
                <a:moveTo>
                  <a:pt x="689864" y="563321"/>
                </a:moveTo>
                <a:lnTo>
                  <a:pt x="373506" y="563321"/>
                </a:lnTo>
                <a:lnTo>
                  <a:pt x="373506" y="9525"/>
                </a:lnTo>
                <a:lnTo>
                  <a:pt x="383031" y="19050"/>
                </a:lnTo>
                <a:lnTo>
                  <a:pt x="392556" y="19050"/>
                </a:lnTo>
                <a:lnTo>
                  <a:pt x="392556" y="544271"/>
                </a:lnTo>
                <a:lnTo>
                  <a:pt x="383031" y="544271"/>
                </a:lnTo>
                <a:lnTo>
                  <a:pt x="392556" y="553796"/>
                </a:lnTo>
                <a:lnTo>
                  <a:pt x="689864" y="553796"/>
                </a:lnTo>
                <a:lnTo>
                  <a:pt x="689864" y="563321"/>
                </a:lnTo>
                <a:close/>
              </a:path>
              <a:path w="766445" h="592455">
                <a:moveTo>
                  <a:pt x="392556" y="19050"/>
                </a:moveTo>
                <a:lnTo>
                  <a:pt x="383031" y="19050"/>
                </a:lnTo>
                <a:lnTo>
                  <a:pt x="373506" y="9525"/>
                </a:lnTo>
                <a:lnTo>
                  <a:pt x="392556" y="9525"/>
                </a:lnTo>
                <a:lnTo>
                  <a:pt x="392556" y="19050"/>
                </a:lnTo>
                <a:close/>
              </a:path>
              <a:path w="766445" h="592455">
                <a:moveTo>
                  <a:pt x="689864" y="591896"/>
                </a:moveTo>
                <a:lnTo>
                  <a:pt x="689864" y="515696"/>
                </a:lnTo>
                <a:lnTo>
                  <a:pt x="747014" y="544271"/>
                </a:lnTo>
                <a:lnTo>
                  <a:pt x="708914" y="544271"/>
                </a:lnTo>
                <a:lnTo>
                  <a:pt x="708914" y="563321"/>
                </a:lnTo>
                <a:lnTo>
                  <a:pt x="747014" y="563321"/>
                </a:lnTo>
                <a:lnTo>
                  <a:pt x="689864" y="591896"/>
                </a:lnTo>
                <a:close/>
              </a:path>
              <a:path w="766445" h="592455">
                <a:moveTo>
                  <a:pt x="392556" y="553796"/>
                </a:moveTo>
                <a:lnTo>
                  <a:pt x="383031" y="544271"/>
                </a:lnTo>
                <a:lnTo>
                  <a:pt x="392556" y="544271"/>
                </a:lnTo>
                <a:lnTo>
                  <a:pt x="392556" y="553796"/>
                </a:lnTo>
                <a:close/>
              </a:path>
              <a:path w="766445" h="592455">
                <a:moveTo>
                  <a:pt x="689864" y="553796"/>
                </a:moveTo>
                <a:lnTo>
                  <a:pt x="392556" y="553796"/>
                </a:lnTo>
                <a:lnTo>
                  <a:pt x="392556" y="544271"/>
                </a:lnTo>
                <a:lnTo>
                  <a:pt x="689864" y="544271"/>
                </a:lnTo>
                <a:lnTo>
                  <a:pt x="689864" y="553796"/>
                </a:lnTo>
                <a:close/>
              </a:path>
              <a:path w="766445" h="592455">
                <a:moveTo>
                  <a:pt x="747014" y="563321"/>
                </a:moveTo>
                <a:lnTo>
                  <a:pt x="708914" y="563321"/>
                </a:lnTo>
                <a:lnTo>
                  <a:pt x="708914" y="544271"/>
                </a:lnTo>
                <a:lnTo>
                  <a:pt x="747014" y="544271"/>
                </a:lnTo>
                <a:lnTo>
                  <a:pt x="766064" y="553796"/>
                </a:lnTo>
                <a:lnTo>
                  <a:pt x="747014" y="56332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11254" y="3659225"/>
            <a:ext cx="76200" cy="1025525"/>
          </a:xfrm>
          <a:custGeom>
            <a:avLst/>
            <a:gdLst/>
            <a:ahLst/>
            <a:cxnLst/>
            <a:rect l="l" t="t" r="r" b="b"/>
            <a:pathLst>
              <a:path w="76200" h="1025525">
                <a:moveTo>
                  <a:pt x="47625" y="968311"/>
                </a:moveTo>
                <a:lnTo>
                  <a:pt x="28575" y="968311"/>
                </a:lnTo>
                <a:lnTo>
                  <a:pt x="28575" y="0"/>
                </a:lnTo>
                <a:lnTo>
                  <a:pt x="47625" y="0"/>
                </a:lnTo>
                <a:lnTo>
                  <a:pt x="47625" y="968311"/>
                </a:lnTo>
                <a:close/>
              </a:path>
              <a:path w="76200" h="1025525">
                <a:moveTo>
                  <a:pt x="38100" y="1025461"/>
                </a:moveTo>
                <a:lnTo>
                  <a:pt x="0" y="949261"/>
                </a:lnTo>
                <a:lnTo>
                  <a:pt x="28575" y="949261"/>
                </a:lnTo>
                <a:lnTo>
                  <a:pt x="28575" y="968311"/>
                </a:lnTo>
                <a:lnTo>
                  <a:pt x="66675" y="968311"/>
                </a:lnTo>
                <a:lnTo>
                  <a:pt x="38100" y="1025461"/>
                </a:lnTo>
                <a:close/>
              </a:path>
              <a:path w="76200" h="1025525">
                <a:moveTo>
                  <a:pt x="66675" y="968311"/>
                </a:moveTo>
                <a:lnTo>
                  <a:pt x="47625" y="968311"/>
                </a:lnTo>
                <a:lnTo>
                  <a:pt x="47625" y="949261"/>
                </a:lnTo>
                <a:lnTo>
                  <a:pt x="76200" y="949261"/>
                </a:lnTo>
                <a:lnTo>
                  <a:pt x="66675" y="968311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65773" y="4815840"/>
            <a:ext cx="766445" cy="76200"/>
          </a:xfrm>
          <a:custGeom>
            <a:avLst/>
            <a:gdLst/>
            <a:ahLst/>
            <a:cxnLst/>
            <a:rect l="l" t="t" r="r" b="b"/>
            <a:pathLst>
              <a:path w="766445" h="76200">
                <a:moveTo>
                  <a:pt x="689864" y="76200"/>
                </a:moveTo>
                <a:lnTo>
                  <a:pt x="689864" y="0"/>
                </a:lnTo>
                <a:lnTo>
                  <a:pt x="747014" y="28575"/>
                </a:lnTo>
                <a:lnTo>
                  <a:pt x="708914" y="28575"/>
                </a:lnTo>
                <a:lnTo>
                  <a:pt x="708914" y="47625"/>
                </a:lnTo>
                <a:lnTo>
                  <a:pt x="747014" y="47625"/>
                </a:lnTo>
                <a:lnTo>
                  <a:pt x="689864" y="76200"/>
                </a:lnTo>
                <a:close/>
              </a:path>
              <a:path w="766445" h="76200">
                <a:moveTo>
                  <a:pt x="689864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689864" y="28575"/>
                </a:lnTo>
                <a:lnTo>
                  <a:pt x="689864" y="47625"/>
                </a:lnTo>
                <a:close/>
              </a:path>
              <a:path w="766445" h="76200">
                <a:moveTo>
                  <a:pt x="747014" y="47625"/>
                </a:moveTo>
                <a:lnTo>
                  <a:pt x="708914" y="47625"/>
                </a:lnTo>
                <a:lnTo>
                  <a:pt x="708914" y="28575"/>
                </a:lnTo>
                <a:lnTo>
                  <a:pt x="747014" y="28575"/>
                </a:lnTo>
                <a:lnTo>
                  <a:pt x="766064" y="38100"/>
                </a:lnTo>
                <a:lnTo>
                  <a:pt x="747014" y="4762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93192" y="3451859"/>
            <a:ext cx="3707129" cy="1233170"/>
          </a:xfrm>
          <a:custGeom>
            <a:avLst/>
            <a:gdLst/>
            <a:ahLst/>
            <a:cxnLst/>
            <a:rect l="l" t="t" r="r" b="b"/>
            <a:pathLst>
              <a:path w="3707129" h="123317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28575"/>
                </a:lnTo>
                <a:lnTo>
                  <a:pt x="57150" y="28575"/>
                </a:lnTo>
                <a:lnTo>
                  <a:pt x="57150" y="47625"/>
                </a:lnTo>
                <a:lnTo>
                  <a:pt x="76200" y="47625"/>
                </a:lnTo>
                <a:lnTo>
                  <a:pt x="76200" y="76200"/>
                </a:lnTo>
                <a:close/>
              </a:path>
              <a:path w="3707129" h="1233170">
                <a:moveTo>
                  <a:pt x="76200" y="47625"/>
                </a:moveTo>
                <a:lnTo>
                  <a:pt x="57150" y="47625"/>
                </a:lnTo>
                <a:lnTo>
                  <a:pt x="57150" y="28575"/>
                </a:lnTo>
                <a:lnTo>
                  <a:pt x="76200" y="28575"/>
                </a:lnTo>
                <a:lnTo>
                  <a:pt x="76200" y="47625"/>
                </a:lnTo>
                <a:close/>
              </a:path>
              <a:path w="3707129" h="1233170">
                <a:moveTo>
                  <a:pt x="3688041" y="47625"/>
                </a:moveTo>
                <a:lnTo>
                  <a:pt x="76200" y="47625"/>
                </a:lnTo>
                <a:lnTo>
                  <a:pt x="76200" y="28575"/>
                </a:lnTo>
                <a:lnTo>
                  <a:pt x="3707091" y="28575"/>
                </a:lnTo>
                <a:lnTo>
                  <a:pt x="3707091" y="38100"/>
                </a:lnTo>
                <a:lnTo>
                  <a:pt x="3688041" y="38100"/>
                </a:lnTo>
                <a:lnTo>
                  <a:pt x="3688041" y="47625"/>
                </a:lnTo>
                <a:close/>
              </a:path>
              <a:path w="3707129" h="1233170">
                <a:moveTo>
                  <a:pt x="3707091" y="1232827"/>
                </a:moveTo>
                <a:lnTo>
                  <a:pt x="3688041" y="1232827"/>
                </a:lnTo>
                <a:lnTo>
                  <a:pt x="3688041" y="38100"/>
                </a:lnTo>
                <a:lnTo>
                  <a:pt x="3697566" y="47625"/>
                </a:lnTo>
                <a:lnTo>
                  <a:pt x="3707091" y="47625"/>
                </a:lnTo>
                <a:lnTo>
                  <a:pt x="3707091" y="1232827"/>
                </a:lnTo>
                <a:close/>
              </a:path>
              <a:path w="3707129" h="1233170">
                <a:moveTo>
                  <a:pt x="3707091" y="47625"/>
                </a:moveTo>
                <a:lnTo>
                  <a:pt x="3697566" y="47625"/>
                </a:lnTo>
                <a:lnTo>
                  <a:pt x="3688041" y="38100"/>
                </a:lnTo>
                <a:lnTo>
                  <a:pt x="3707091" y="38100"/>
                </a:lnTo>
                <a:lnTo>
                  <a:pt x="3707091" y="4762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064690" y="4815840"/>
            <a:ext cx="766445" cy="76200"/>
          </a:xfrm>
          <a:custGeom>
            <a:avLst/>
            <a:gdLst/>
            <a:ahLst/>
            <a:cxnLst/>
            <a:rect l="l" t="t" r="r" b="b"/>
            <a:pathLst>
              <a:path w="766445" h="76200">
                <a:moveTo>
                  <a:pt x="689864" y="76200"/>
                </a:moveTo>
                <a:lnTo>
                  <a:pt x="689864" y="0"/>
                </a:lnTo>
                <a:lnTo>
                  <a:pt x="747014" y="28575"/>
                </a:lnTo>
                <a:lnTo>
                  <a:pt x="708914" y="28575"/>
                </a:lnTo>
                <a:lnTo>
                  <a:pt x="708914" y="47625"/>
                </a:lnTo>
                <a:lnTo>
                  <a:pt x="747014" y="47625"/>
                </a:lnTo>
                <a:lnTo>
                  <a:pt x="689864" y="76200"/>
                </a:lnTo>
                <a:close/>
              </a:path>
              <a:path w="766445" h="76200">
                <a:moveTo>
                  <a:pt x="689864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689864" y="28575"/>
                </a:lnTo>
                <a:lnTo>
                  <a:pt x="689864" y="47625"/>
                </a:lnTo>
                <a:close/>
              </a:path>
              <a:path w="766445" h="76200">
                <a:moveTo>
                  <a:pt x="747014" y="47625"/>
                </a:moveTo>
                <a:lnTo>
                  <a:pt x="708914" y="47625"/>
                </a:lnTo>
                <a:lnTo>
                  <a:pt x="708914" y="28575"/>
                </a:lnTo>
                <a:lnTo>
                  <a:pt x="747014" y="28575"/>
                </a:lnTo>
                <a:lnTo>
                  <a:pt x="766064" y="38100"/>
                </a:lnTo>
                <a:lnTo>
                  <a:pt x="747014" y="4762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803145" y="3181895"/>
            <a:ext cx="68389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434" dirty="0">
                <a:solidFill>
                  <a:srgbClr val="404040"/>
                </a:solidFill>
                <a:latin typeface="Arial Unicode MS"/>
                <a:cs typeface="Arial Unicode MS"/>
              </a:rPr>
              <a:t>签到成</a:t>
            </a:r>
            <a:r>
              <a:rPr sz="1250" spc="-50" dirty="0">
                <a:solidFill>
                  <a:srgbClr val="404040"/>
                </a:solidFill>
                <a:latin typeface="Arial Unicode MS"/>
                <a:cs typeface="Arial Unicode MS"/>
              </a:rPr>
              <a:t>功</a:t>
            </a:r>
            <a:endParaRPr sz="125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14286" y="4549240"/>
            <a:ext cx="68389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434" dirty="0">
                <a:solidFill>
                  <a:srgbClr val="404040"/>
                </a:solidFill>
                <a:latin typeface="Arial Unicode MS"/>
                <a:cs typeface="Arial Unicode MS"/>
              </a:rPr>
              <a:t>匹配结</a:t>
            </a:r>
            <a:r>
              <a:rPr sz="1250" spc="-50" dirty="0">
                <a:solidFill>
                  <a:srgbClr val="404040"/>
                </a:solidFill>
                <a:latin typeface="Arial Unicode MS"/>
                <a:cs typeface="Arial Unicode MS"/>
              </a:rPr>
              <a:t>果</a:t>
            </a:r>
            <a:endParaRPr sz="125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592323" y="3773423"/>
            <a:ext cx="1818639" cy="1066800"/>
          </a:xfrm>
          <a:custGeom>
            <a:avLst/>
            <a:gdLst/>
            <a:ahLst/>
            <a:cxnLst/>
            <a:rect l="l" t="t" r="r" b="b"/>
            <a:pathLst>
              <a:path w="1818639" h="1066800">
                <a:moveTo>
                  <a:pt x="450780" y="1066185"/>
                </a:moveTo>
                <a:lnTo>
                  <a:pt x="353761" y="1061283"/>
                </a:lnTo>
                <a:lnTo>
                  <a:pt x="247200" y="1050523"/>
                </a:lnTo>
                <a:lnTo>
                  <a:pt x="129734" y="1033270"/>
                </a:lnTo>
                <a:lnTo>
                  <a:pt x="0" y="1008888"/>
                </a:lnTo>
                <a:lnTo>
                  <a:pt x="0" y="0"/>
                </a:lnTo>
                <a:lnTo>
                  <a:pt x="1818131" y="0"/>
                </a:lnTo>
                <a:lnTo>
                  <a:pt x="1818131" y="867155"/>
                </a:lnTo>
                <a:lnTo>
                  <a:pt x="1688328" y="869448"/>
                </a:lnTo>
                <a:lnTo>
                  <a:pt x="1570800" y="876063"/>
                </a:lnTo>
                <a:lnTo>
                  <a:pt x="1464185" y="886363"/>
                </a:lnTo>
                <a:lnTo>
                  <a:pt x="1367119" y="899713"/>
                </a:lnTo>
                <a:lnTo>
                  <a:pt x="1278238" y="915476"/>
                </a:lnTo>
                <a:lnTo>
                  <a:pt x="1196178" y="933016"/>
                </a:lnTo>
                <a:lnTo>
                  <a:pt x="1119577" y="951696"/>
                </a:lnTo>
                <a:lnTo>
                  <a:pt x="908885" y="1008221"/>
                </a:lnTo>
                <a:lnTo>
                  <a:pt x="840479" y="1025103"/>
                </a:lnTo>
                <a:lnTo>
                  <a:pt x="770714" y="1039944"/>
                </a:lnTo>
                <a:lnTo>
                  <a:pt x="698225" y="1052109"/>
                </a:lnTo>
                <a:lnTo>
                  <a:pt x="621649" y="1060962"/>
                </a:lnTo>
                <a:lnTo>
                  <a:pt x="539622" y="1065866"/>
                </a:lnTo>
                <a:lnTo>
                  <a:pt x="450780" y="1066185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670835" y="3953877"/>
            <a:ext cx="1549400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判断当前司机坐标是否 在目标地点可签到的电 子围栏范围内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832092" y="5141976"/>
            <a:ext cx="3348354" cy="1278890"/>
          </a:xfrm>
          <a:custGeom>
            <a:avLst/>
            <a:gdLst/>
            <a:ahLst/>
            <a:cxnLst/>
            <a:rect l="l" t="t" r="r" b="b"/>
            <a:pathLst>
              <a:path w="3348354" h="1278889">
                <a:moveTo>
                  <a:pt x="830299" y="1278476"/>
                </a:moveTo>
                <a:lnTo>
                  <a:pt x="651600" y="1272663"/>
                </a:lnTo>
                <a:lnTo>
                  <a:pt x="455324" y="1259831"/>
                </a:lnTo>
                <a:lnTo>
                  <a:pt x="238961" y="1239216"/>
                </a:lnTo>
                <a:lnTo>
                  <a:pt x="0" y="1210056"/>
                </a:lnTo>
                <a:lnTo>
                  <a:pt x="0" y="0"/>
                </a:lnTo>
                <a:lnTo>
                  <a:pt x="3348228" y="0"/>
                </a:lnTo>
                <a:lnTo>
                  <a:pt x="3348228" y="1039368"/>
                </a:lnTo>
                <a:lnTo>
                  <a:pt x="3109230" y="1042107"/>
                </a:lnTo>
                <a:lnTo>
                  <a:pt x="2892834" y="1050035"/>
                </a:lnTo>
                <a:lnTo>
                  <a:pt x="2696530" y="1062387"/>
                </a:lnTo>
                <a:lnTo>
                  <a:pt x="2517806" y="1078401"/>
                </a:lnTo>
                <a:lnTo>
                  <a:pt x="2354151" y="1097315"/>
                </a:lnTo>
                <a:lnTo>
                  <a:pt x="2203054" y="1118364"/>
                </a:lnTo>
                <a:lnTo>
                  <a:pt x="2062003" y="1140786"/>
                </a:lnTo>
                <a:lnTo>
                  <a:pt x="1674018" y="1208660"/>
                </a:lnTo>
                <a:lnTo>
                  <a:pt x="1548042" y="1228944"/>
                </a:lnTo>
                <a:lnTo>
                  <a:pt x="1419557" y="1246786"/>
                </a:lnTo>
                <a:lnTo>
                  <a:pt x="1286051" y="1261424"/>
                </a:lnTo>
                <a:lnTo>
                  <a:pt x="1145013" y="1272093"/>
                </a:lnTo>
                <a:lnTo>
                  <a:pt x="993933" y="1278031"/>
                </a:lnTo>
                <a:lnTo>
                  <a:pt x="830299" y="1278476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25056" y="5521452"/>
            <a:ext cx="1438910" cy="203200"/>
          </a:xfrm>
          <a:custGeom>
            <a:avLst/>
            <a:gdLst/>
            <a:ahLst/>
            <a:cxnLst/>
            <a:rect l="l" t="t" r="r" b="b"/>
            <a:pathLst>
              <a:path w="1438909" h="203200">
                <a:moveTo>
                  <a:pt x="33527" y="202692"/>
                </a:moveTo>
                <a:lnTo>
                  <a:pt x="19539" y="199749"/>
                </a:lnTo>
                <a:lnTo>
                  <a:pt x="8464" y="191877"/>
                </a:lnTo>
                <a:lnTo>
                  <a:pt x="1593" y="180366"/>
                </a:lnTo>
                <a:lnTo>
                  <a:pt x="0" y="33527"/>
                </a:lnTo>
                <a:lnTo>
                  <a:pt x="2395" y="19840"/>
                </a:lnTo>
                <a:lnTo>
                  <a:pt x="9900" y="8887"/>
                </a:lnTo>
                <a:lnTo>
                  <a:pt x="21286" y="1897"/>
                </a:lnTo>
                <a:lnTo>
                  <a:pt x="1405127" y="0"/>
                </a:lnTo>
                <a:lnTo>
                  <a:pt x="1418885" y="2511"/>
                </a:lnTo>
                <a:lnTo>
                  <a:pt x="1429866" y="10102"/>
                </a:lnTo>
                <a:lnTo>
                  <a:pt x="1436828" y="21528"/>
                </a:lnTo>
                <a:lnTo>
                  <a:pt x="1438655" y="169163"/>
                </a:lnTo>
                <a:lnTo>
                  <a:pt x="1436073" y="182745"/>
                </a:lnTo>
                <a:lnTo>
                  <a:pt x="1428253" y="193710"/>
                </a:lnTo>
                <a:lnTo>
                  <a:pt x="1416497" y="200754"/>
                </a:lnTo>
                <a:lnTo>
                  <a:pt x="33527" y="2026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910578" y="5271070"/>
            <a:ext cx="1298575" cy="434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月台匹配条件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：</a:t>
            </a:r>
            <a:endParaRPr sz="1200">
              <a:latin typeface="Microsoft JhengHei"/>
              <a:cs typeface="Microsoft JhengHei"/>
            </a:endParaRPr>
          </a:p>
          <a:p>
            <a:pPr marL="114935">
              <a:lnSpc>
                <a:spcPct val="100000"/>
              </a:lnSpc>
              <a:spcBef>
                <a:spcPts val="765"/>
              </a:spcBef>
            </a:pPr>
            <a:r>
              <a:rPr sz="1050" spc="-5" dirty="0">
                <a:solidFill>
                  <a:srgbClr val="404040"/>
                </a:solidFill>
                <a:latin typeface="Arial Unicode MS"/>
                <a:cs typeface="Arial Unicode MS"/>
              </a:rPr>
              <a:t>车辆型号</a:t>
            </a:r>
            <a:r>
              <a:rPr sz="1050" spc="105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050" spc="-5" dirty="0">
                <a:solidFill>
                  <a:srgbClr val="404040"/>
                </a:solidFill>
                <a:latin typeface="Arial Unicode MS"/>
                <a:cs typeface="Arial Unicode MS"/>
              </a:rPr>
              <a:t>大小</a:t>
            </a:r>
            <a:r>
              <a:rPr sz="1050" spc="105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050" spc="-5" dirty="0">
                <a:solidFill>
                  <a:srgbClr val="404040"/>
                </a:solidFill>
                <a:latin typeface="Arial Unicode MS"/>
                <a:cs typeface="Arial Unicode MS"/>
              </a:rPr>
              <a:t>规</a:t>
            </a:r>
            <a:r>
              <a:rPr sz="1050" dirty="0">
                <a:solidFill>
                  <a:srgbClr val="404040"/>
                </a:solidFill>
                <a:latin typeface="Arial Unicode MS"/>
                <a:cs typeface="Arial Unicode MS"/>
              </a:rPr>
              <a:t>格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456676" y="5521452"/>
            <a:ext cx="1583690" cy="203200"/>
          </a:xfrm>
          <a:custGeom>
            <a:avLst/>
            <a:gdLst/>
            <a:ahLst/>
            <a:cxnLst/>
            <a:rect l="l" t="t" r="r" b="b"/>
            <a:pathLst>
              <a:path w="1583690" h="203200">
                <a:moveTo>
                  <a:pt x="33527" y="202692"/>
                </a:moveTo>
                <a:lnTo>
                  <a:pt x="19757" y="199622"/>
                </a:lnTo>
                <a:lnTo>
                  <a:pt x="8695" y="191434"/>
                </a:lnTo>
                <a:lnTo>
                  <a:pt x="1719" y="179501"/>
                </a:lnTo>
                <a:lnTo>
                  <a:pt x="0" y="33527"/>
                </a:lnTo>
                <a:lnTo>
                  <a:pt x="3002" y="19572"/>
                </a:lnTo>
                <a:lnTo>
                  <a:pt x="10954" y="8497"/>
                </a:lnTo>
                <a:lnTo>
                  <a:pt x="22547" y="1611"/>
                </a:lnTo>
                <a:lnTo>
                  <a:pt x="1549907" y="0"/>
                </a:lnTo>
                <a:lnTo>
                  <a:pt x="1563679" y="2497"/>
                </a:lnTo>
                <a:lnTo>
                  <a:pt x="1574661" y="10052"/>
                </a:lnTo>
                <a:lnTo>
                  <a:pt x="1581618" y="21429"/>
                </a:lnTo>
                <a:lnTo>
                  <a:pt x="1583435" y="169163"/>
                </a:lnTo>
                <a:lnTo>
                  <a:pt x="1580917" y="182712"/>
                </a:lnTo>
                <a:lnTo>
                  <a:pt x="1573147" y="193661"/>
                </a:lnTo>
                <a:lnTo>
                  <a:pt x="1561422" y="200717"/>
                </a:lnTo>
                <a:lnTo>
                  <a:pt x="33527" y="2026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545448" y="5546157"/>
            <a:ext cx="135953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404040"/>
                </a:solidFill>
                <a:latin typeface="Arial Unicode MS"/>
                <a:cs typeface="Arial Unicode MS"/>
              </a:rPr>
              <a:t>供应商、承运商、客</a:t>
            </a:r>
            <a:r>
              <a:rPr sz="1050" dirty="0">
                <a:solidFill>
                  <a:srgbClr val="404040"/>
                </a:solidFill>
                <a:latin typeface="Arial Unicode MS"/>
                <a:cs typeface="Arial Unicode MS"/>
              </a:rPr>
              <a:t>户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925056" y="5788152"/>
            <a:ext cx="1150620" cy="203200"/>
          </a:xfrm>
          <a:custGeom>
            <a:avLst/>
            <a:gdLst/>
            <a:ahLst/>
            <a:cxnLst/>
            <a:rect l="l" t="t" r="r" b="b"/>
            <a:pathLst>
              <a:path w="1150620" h="203200">
                <a:moveTo>
                  <a:pt x="33527" y="202692"/>
                </a:moveTo>
                <a:lnTo>
                  <a:pt x="19778" y="200266"/>
                </a:lnTo>
                <a:lnTo>
                  <a:pt x="8810" y="192783"/>
                </a:lnTo>
                <a:lnTo>
                  <a:pt x="1844" y="181463"/>
                </a:lnTo>
                <a:lnTo>
                  <a:pt x="0" y="33527"/>
                </a:lnTo>
                <a:lnTo>
                  <a:pt x="2480" y="20055"/>
                </a:lnTo>
                <a:lnTo>
                  <a:pt x="10220" y="9129"/>
                </a:lnTo>
                <a:lnTo>
                  <a:pt x="21927" y="2041"/>
                </a:lnTo>
                <a:lnTo>
                  <a:pt x="1117092" y="0"/>
                </a:lnTo>
                <a:lnTo>
                  <a:pt x="1131060" y="3013"/>
                </a:lnTo>
                <a:lnTo>
                  <a:pt x="1142135" y="10945"/>
                </a:lnTo>
                <a:lnTo>
                  <a:pt x="1149015" y="22492"/>
                </a:lnTo>
                <a:lnTo>
                  <a:pt x="1150620" y="169163"/>
                </a:lnTo>
                <a:lnTo>
                  <a:pt x="1148164" y="182906"/>
                </a:lnTo>
                <a:lnTo>
                  <a:pt x="1140636" y="193878"/>
                </a:lnTo>
                <a:lnTo>
                  <a:pt x="1129265" y="200846"/>
                </a:lnTo>
                <a:lnTo>
                  <a:pt x="33527" y="2026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168640" y="5788152"/>
            <a:ext cx="1440180" cy="203200"/>
          </a:xfrm>
          <a:custGeom>
            <a:avLst/>
            <a:gdLst/>
            <a:ahLst/>
            <a:cxnLst/>
            <a:rect l="l" t="t" r="r" b="b"/>
            <a:pathLst>
              <a:path w="1440179" h="203200">
                <a:moveTo>
                  <a:pt x="33527" y="202692"/>
                </a:moveTo>
                <a:lnTo>
                  <a:pt x="20026" y="200154"/>
                </a:lnTo>
                <a:lnTo>
                  <a:pt x="9087" y="192369"/>
                </a:lnTo>
                <a:lnTo>
                  <a:pt x="2009" y="180636"/>
                </a:lnTo>
                <a:lnTo>
                  <a:pt x="0" y="33527"/>
                </a:lnTo>
                <a:lnTo>
                  <a:pt x="3123" y="19780"/>
                </a:lnTo>
                <a:lnTo>
                  <a:pt x="11328" y="8723"/>
                </a:lnTo>
                <a:lnTo>
                  <a:pt x="23237" y="1737"/>
                </a:lnTo>
                <a:lnTo>
                  <a:pt x="1406652" y="0"/>
                </a:lnTo>
                <a:lnTo>
                  <a:pt x="1420474" y="3123"/>
                </a:lnTo>
                <a:lnTo>
                  <a:pt x="1431551" y="11328"/>
                </a:lnTo>
                <a:lnTo>
                  <a:pt x="1438502" y="23237"/>
                </a:lnTo>
                <a:lnTo>
                  <a:pt x="1440179" y="169163"/>
                </a:lnTo>
                <a:lnTo>
                  <a:pt x="1437244" y="183137"/>
                </a:lnTo>
                <a:lnTo>
                  <a:pt x="1429344" y="194212"/>
                </a:lnTo>
                <a:lnTo>
                  <a:pt x="1417780" y="201090"/>
                </a:lnTo>
                <a:lnTo>
                  <a:pt x="33527" y="2026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925056" y="6056376"/>
            <a:ext cx="1140460" cy="180340"/>
          </a:xfrm>
          <a:custGeom>
            <a:avLst/>
            <a:gdLst/>
            <a:ahLst/>
            <a:cxnLst/>
            <a:rect l="l" t="t" r="r" b="b"/>
            <a:pathLst>
              <a:path w="1140459" h="180339">
                <a:moveTo>
                  <a:pt x="28955" y="179832"/>
                </a:moveTo>
                <a:lnTo>
                  <a:pt x="15464" y="176850"/>
                </a:lnTo>
                <a:lnTo>
                  <a:pt x="5295" y="168275"/>
                </a:lnTo>
                <a:lnTo>
                  <a:pt x="231" y="155888"/>
                </a:lnTo>
                <a:lnTo>
                  <a:pt x="0" y="30479"/>
                </a:lnTo>
                <a:lnTo>
                  <a:pt x="2747" y="17006"/>
                </a:lnTo>
                <a:lnTo>
                  <a:pt x="11140" y="6592"/>
                </a:lnTo>
                <a:lnTo>
                  <a:pt x="23448" y="730"/>
                </a:lnTo>
                <a:lnTo>
                  <a:pt x="1109472" y="0"/>
                </a:lnTo>
                <a:lnTo>
                  <a:pt x="1123164" y="3668"/>
                </a:lnTo>
                <a:lnTo>
                  <a:pt x="1133613" y="12466"/>
                </a:lnTo>
                <a:lnTo>
                  <a:pt x="1139327" y="24905"/>
                </a:lnTo>
                <a:lnTo>
                  <a:pt x="1139952" y="150875"/>
                </a:lnTo>
                <a:lnTo>
                  <a:pt x="1136449" y="164182"/>
                </a:lnTo>
                <a:lnTo>
                  <a:pt x="1127532" y="174320"/>
                </a:lnTo>
                <a:lnTo>
                  <a:pt x="1114736" y="179514"/>
                </a:lnTo>
                <a:lnTo>
                  <a:pt x="28955" y="1798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011822" y="5813581"/>
            <a:ext cx="878840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35">
              <a:lnSpc>
                <a:spcPct val="160500"/>
              </a:lnSpc>
            </a:pPr>
            <a:r>
              <a:rPr sz="1050" spc="-5" dirty="0">
                <a:solidFill>
                  <a:srgbClr val="404040"/>
                </a:solidFill>
                <a:latin typeface="Arial Unicode MS"/>
                <a:cs typeface="Arial Unicode MS"/>
              </a:rPr>
              <a:t>物料类型</a:t>
            </a:r>
            <a:r>
              <a:rPr sz="1050" spc="105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050" spc="-5" dirty="0">
                <a:solidFill>
                  <a:srgbClr val="404040"/>
                </a:solidFill>
                <a:latin typeface="Arial Unicode MS"/>
                <a:cs typeface="Arial Unicode MS"/>
              </a:rPr>
              <a:t>数</a:t>
            </a:r>
            <a:r>
              <a:rPr sz="1050" dirty="0">
                <a:solidFill>
                  <a:srgbClr val="404040"/>
                </a:solidFill>
                <a:latin typeface="Arial Unicode MS"/>
                <a:cs typeface="Arial Unicode MS"/>
              </a:rPr>
              <a:t>量 </a:t>
            </a:r>
            <a:r>
              <a:rPr sz="1050" spc="-5" dirty="0">
                <a:solidFill>
                  <a:srgbClr val="404040"/>
                </a:solidFill>
                <a:latin typeface="Arial Unicode MS"/>
                <a:cs typeface="Arial Unicode MS"/>
              </a:rPr>
              <a:t>自定义条件</a:t>
            </a:r>
            <a:r>
              <a:rPr sz="1050" dirty="0">
                <a:solidFill>
                  <a:srgbClr val="404040"/>
                </a:solidFill>
                <a:latin typeface="Arial Unicode MS"/>
                <a:cs typeface="Arial Unicode MS"/>
              </a:rPr>
              <a:t>等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8257451" y="5813581"/>
            <a:ext cx="1144270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404040"/>
                </a:solidFill>
                <a:latin typeface="Arial Unicode MS"/>
                <a:cs typeface="Arial Unicode MS"/>
              </a:rPr>
              <a:t>月台型号</a:t>
            </a:r>
            <a:r>
              <a:rPr sz="1050" spc="105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050" spc="-5" dirty="0">
                <a:solidFill>
                  <a:srgbClr val="404040"/>
                </a:solidFill>
                <a:latin typeface="Arial Unicode MS"/>
                <a:cs typeface="Arial Unicode MS"/>
              </a:rPr>
              <a:t>可作业</a:t>
            </a:r>
            <a:r>
              <a:rPr sz="1050" dirty="0">
                <a:solidFill>
                  <a:srgbClr val="404040"/>
                </a:solidFill>
                <a:latin typeface="Arial Unicode MS"/>
                <a:cs typeface="Arial Unicode MS"/>
              </a:rPr>
              <a:t>数</a:t>
            </a:r>
            <a:endParaRPr sz="10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入园排</a:t>
            </a:r>
            <a:r>
              <a:rPr spc="-30" dirty="0"/>
              <a:t>队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763267"/>
            <a:ext cx="12192000" cy="3331845"/>
          </a:xfrm>
          <a:custGeom>
            <a:avLst/>
            <a:gdLst/>
            <a:ahLst/>
            <a:cxnLst/>
            <a:rect l="l" t="t" r="r" b="b"/>
            <a:pathLst>
              <a:path w="12192000" h="3331845">
                <a:moveTo>
                  <a:pt x="0" y="0"/>
                </a:moveTo>
                <a:lnTo>
                  <a:pt x="12192000" y="0"/>
                </a:lnTo>
                <a:lnTo>
                  <a:pt x="12192000" y="3331463"/>
                </a:lnTo>
                <a:lnTo>
                  <a:pt x="0" y="3331463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0760" y="3150628"/>
            <a:ext cx="1412125" cy="836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76782" y="3325228"/>
            <a:ext cx="75946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司机</a:t>
            </a:r>
            <a:r>
              <a:rPr sz="1400" b="1" spc="55" dirty="0">
                <a:solidFill>
                  <a:srgbClr val="404040"/>
                </a:solidFill>
                <a:latin typeface="Microsoft JhengHei"/>
                <a:cs typeface="Microsoft JhengHei"/>
              </a:rPr>
              <a:t>G</a:t>
            </a:r>
            <a:r>
              <a:rPr sz="1400" b="1" spc="40" dirty="0">
                <a:solidFill>
                  <a:srgbClr val="404040"/>
                </a:solidFill>
                <a:latin typeface="Microsoft JhengHei"/>
                <a:cs typeface="Microsoft JhengHei"/>
              </a:rPr>
              <a:t>P</a:t>
            </a:r>
            <a:r>
              <a:rPr sz="1400" b="1" spc="105" dirty="0">
                <a:solidFill>
                  <a:srgbClr val="404040"/>
                </a:solidFill>
                <a:latin typeface="Microsoft JhengHei"/>
                <a:cs typeface="Microsoft JhengHei"/>
              </a:rPr>
              <a:t>S</a:t>
            </a:r>
            <a:r>
              <a:rPr sz="1400" b="1" spc="45" dirty="0">
                <a:solidFill>
                  <a:srgbClr val="404040"/>
                </a:solidFill>
                <a:latin typeface="Microsoft JhengHei"/>
                <a:cs typeface="Microsoft JhengHe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签到到场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4831" y="3150628"/>
            <a:ext cx="1412125" cy="8361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31491" y="3325228"/>
            <a:ext cx="917575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 marR="5080" indent="-89535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确认是否有 分配月台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18902" y="3150628"/>
            <a:ext cx="1412125" cy="8361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65561" y="3325228"/>
            <a:ext cx="917575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235" marR="5080" indent="-89535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执行不同的 排队模式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52972" y="3150628"/>
            <a:ext cx="1916125" cy="8361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32957" y="3352443"/>
            <a:ext cx="155511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735" marR="5080" indent="-153035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基于签到时间先后顺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序 </a:t>
            </a: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赋予司机排队序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号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91043" y="3150628"/>
            <a:ext cx="1916125" cy="8361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171027" y="3261003"/>
            <a:ext cx="1555115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基于排队顺序、园区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容 </a:t>
            </a: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量、月台容量是否空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闲 </a:t>
            </a:r>
            <a:r>
              <a:rPr sz="1200" b="1" spc="5" dirty="0">
                <a:solidFill>
                  <a:srgbClr val="404040"/>
                </a:solidFill>
                <a:latin typeface="Microsoft JhengHei"/>
                <a:cs typeface="Microsoft JhengHei"/>
              </a:rPr>
              <a:t>进行叫</a:t>
            </a:r>
            <a:r>
              <a:rPr sz="12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号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29113" y="3150628"/>
            <a:ext cx="1412125" cy="8361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743742" y="3431895"/>
            <a:ext cx="38227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icrosoft JhengHei"/>
                <a:cs typeface="Microsoft JhengHei"/>
              </a:rPr>
              <a:t>入园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36003" y="4431601"/>
            <a:ext cx="1988134" cy="476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55357" y="4545138"/>
            <a:ext cx="15494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超时未进入，重新叫号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04822" y="34925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361873" y="76200"/>
                </a:moveTo>
                <a:lnTo>
                  <a:pt x="361873" y="0"/>
                </a:lnTo>
                <a:lnTo>
                  <a:pt x="419023" y="28575"/>
                </a:lnTo>
                <a:lnTo>
                  <a:pt x="380923" y="28575"/>
                </a:lnTo>
                <a:lnTo>
                  <a:pt x="380923" y="47625"/>
                </a:lnTo>
                <a:lnTo>
                  <a:pt x="419023" y="47625"/>
                </a:lnTo>
                <a:lnTo>
                  <a:pt x="361873" y="76200"/>
                </a:lnTo>
                <a:close/>
              </a:path>
              <a:path w="438150" h="76200">
                <a:moveTo>
                  <a:pt x="361873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361873" y="28575"/>
                </a:lnTo>
                <a:lnTo>
                  <a:pt x="361873" y="47625"/>
                </a:lnTo>
                <a:close/>
              </a:path>
              <a:path w="438150" h="76200">
                <a:moveTo>
                  <a:pt x="419023" y="47625"/>
                </a:moveTo>
                <a:lnTo>
                  <a:pt x="380923" y="47625"/>
                </a:lnTo>
                <a:lnTo>
                  <a:pt x="380923" y="28575"/>
                </a:lnTo>
                <a:lnTo>
                  <a:pt x="419023" y="28575"/>
                </a:lnTo>
                <a:lnTo>
                  <a:pt x="438073" y="38100"/>
                </a:lnTo>
                <a:lnTo>
                  <a:pt x="419023" y="4762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38893" y="34925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361873" y="76200"/>
                </a:moveTo>
                <a:lnTo>
                  <a:pt x="361873" y="0"/>
                </a:lnTo>
                <a:lnTo>
                  <a:pt x="419023" y="28575"/>
                </a:lnTo>
                <a:lnTo>
                  <a:pt x="380923" y="28575"/>
                </a:lnTo>
                <a:lnTo>
                  <a:pt x="380923" y="47625"/>
                </a:lnTo>
                <a:lnTo>
                  <a:pt x="419023" y="47625"/>
                </a:lnTo>
                <a:lnTo>
                  <a:pt x="361873" y="76200"/>
                </a:lnTo>
                <a:close/>
              </a:path>
              <a:path w="438150" h="76200">
                <a:moveTo>
                  <a:pt x="361873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361873" y="28575"/>
                </a:lnTo>
                <a:lnTo>
                  <a:pt x="361873" y="47625"/>
                </a:lnTo>
                <a:close/>
              </a:path>
              <a:path w="438150" h="76200">
                <a:moveTo>
                  <a:pt x="419023" y="47625"/>
                </a:moveTo>
                <a:lnTo>
                  <a:pt x="380923" y="47625"/>
                </a:lnTo>
                <a:lnTo>
                  <a:pt x="380923" y="28575"/>
                </a:lnTo>
                <a:lnTo>
                  <a:pt x="419023" y="28575"/>
                </a:lnTo>
                <a:lnTo>
                  <a:pt x="438073" y="38100"/>
                </a:lnTo>
                <a:lnTo>
                  <a:pt x="419023" y="4762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2963" y="34925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361873" y="76200"/>
                </a:moveTo>
                <a:lnTo>
                  <a:pt x="361873" y="0"/>
                </a:lnTo>
                <a:lnTo>
                  <a:pt x="419023" y="28575"/>
                </a:lnTo>
                <a:lnTo>
                  <a:pt x="380923" y="28575"/>
                </a:lnTo>
                <a:lnTo>
                  <a:pt x="380923" y="47625"/>
                </a:lnTo>
                <a:lnTo>
                  <a:pt x="419023" y="47625"/>
                </a:lnTo>
                <a:lnTo>
                  <a:pt x="361873" y="76200"/>
                </a:lnTo>
                <a:close/>
              </a:path>
              <a:path w="438150" h="76200">
                <a:moveTo>
                  <a:pt x="361873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361873" y="28575"/>
                </a:lnTo>
                <a:lnTo>
                  <a:pt x="361873" y="47625"/>
                </a:lnTo>
                <a:close/>
              </a:path>
              <a:path w="438150" h="76200">
                <a:moveTo>
                  <a:pt x="419023" y="47625"/>
                </a:moveTo>
                <a:lnTo>
                  <a:pt x="380923" y="47625"/>
                </a:lnTo>
                <a:lnTo>
                  <a:pt x="380923" y="28575"/>
                </a:lnTo>
                <a:lnTo>
                  <a:pt x="419023" y="28575"/>
                </a:lnTo>
                <a:lnTo>
                  <a:pt x="438073" y="38100"/>
                </a:lnTo>
                <a:lnTo>
                  <a:pt x="419023" y="4762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11033" y="34925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361873" y="76200"/>
                </a:moveTo>
                <a:lnTo>
                  <a:pt x="361873" y="0"/>
                </a:lnTo>
                <a:lnTo>
                  <a:pt x="419023" y="28575"/>
                </a:lnTo>
                <a:lnTo>
                  <a:pt x="380923" y="28575"/>
                </a:lnTo>
                <a:lnTo>
                  <a:pt x="380923" y="47625"/>
                </a:lnTo>
                <a:lnTo>
                  <a:pt x="419023" y="47625"/>
                </a:lnTo>
                <a:lnTo>
                  <a:pt x="361873" y="76200"/>
                </a:lnTo>
                <a:close/>
              </a:path>
              <a:path w="438150" h="76200">
                <a:moveTo>
                  <a:pt x="361873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361873" y="28575"/>
                </a:lnTo>
                <a:lnTo>
                  <a:pt x="361873" y="47625"/>
                </a:lnTo>
                <a:close/>
              </a:path>
              <a:path w="438150" h="76200">
                <a:moveTo>
                  <a:pt x="419023" y="47625"/>
                </a:moveTo>
                <a:lnTo>
                  <a:pt x="380923" y="47625"/>
                </a:lnTo>
                <a:lnTo>
                  <a:pt x="380923" y="28575"/>
                </a:lnTo>
                <a:lnTo>
                  <a:pt x="419023" y="28575"/>
                </a:lnTo>
                <a:lnTo>
                  <a:pt x="438073" y="38100"/>
                </a:lnTo>
                <a:lnTo>
                  <a:pt x="419023" y="4762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849104" y="34925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361873" y="76200"/>
                </a:moveTo>
                <a:lnTo>
                  <a:pt x="361873" y="0"/>
                </a:lnTo>
                <a:lnTo>
                  <a:pt x="419023" y="28575"/>
                </a:lnTo>
                <a:lnTo>
                  <a:pt x="380923" y="28575"/>
                </a:lnTo>
                <a:lnTo>
                  <a:pt x="380923" y="47625"/>
                </a:lnTo>
                <a:lnTo>
                  <a:pt x="419023" y="47625"/>
                </a:lnTo>
                <a:lnTo>
                  <a:pt x="361873" y="76200"/>
                </a:lnTo>
                <a:close/>
              </a:path>
              <a:path w="438150" h="76200">
                <a:moveTo>
                  <a:pt x="361873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361873" y="28575"/>
                </a:lnTo>
                <a:lnTo>
                  <a:pt x="361873" y="47625"/>
                </a:lnTo>
                <a:close/>
              </a:path>
              <a:path w="438150" h="76200">
                <a:moveTo>
                  <a:pt x="419023" y="47625"/>
                </a:moveTo>
                <a:lnTo>
                  <a:pt x="380923" y="47625"/>
                </a:lnTo>
                <a:lnTo>
                  <a:pt x="380923" y="28575"/>
                </a:lnTo>
                <a:lnTo>
                  <a:pt x="419023" y="28575"/>
                </a:lnTo>
                <a:lnTo>
                  <a:pt x="438073" y="38100"/>
                </a:lnTo>
                <a:lnTo>
                  <a:pt x="419023" y="4762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79285" y="3884244"/>
            <a:ext cx="2286000" cy="319405"/>
          </a:xfrm>
          <a:custGeom>
            <a:avLst/>
            <a:gdLst/>
            <a:ahLst/>
            <a:cxnLst/>
            <a:rect l="l" t="t" r="r" b="b"/>
            <a:pathLst>
              <a:path w="2286000" h="319404">
                <a:moveTo>
                  <a:pt x="2266645" y="309879"/>
                </a:moveTo>
                <a:lnTo>
                  <a:pt x="2266645" y="0"/>
                </a:lnTo>
                <a:lnTo>
                  <a:pt x="2285695" y="0"/>
                </a:lnTo>
                <a:lnTo>
                  <a:pt x="2285695" y="300354"/>
                </a:lnTo>
                <a:lnTo>
                  <a:pt x="2276170" y="300354"/>
                </a:lnTo>
                <a:lnTo>
                  <a:pt x="2266645" y="309879"/>
                </a:lnTo>
                <a:close/>
              </a:path>
              <a:path w="2286000" h="319404">
                <a:moveTo>
                  <a:pt x="28575" y="88900"/>
                </a:moveTo>
                <a:lnTo>
                  <a:pt x="0" y="88900"/>
                </a:lnTo>
                <a:lnTo>
                  <a:pt x="38100" y="12700"/>
                </a:lnTo>
                <a:lnTo>
                  <a:pt x="66675" y="69850"/>
                </a:lnTo>
                <a:lnTo>
                  <a:pt x="28575" y="69850"/>
                </a:lnTo>
                <a:lnTo>
                  <a:pt x="28575" y="88900"/>
                </a:lnTo>
                <a:close/>
              </a:path>
              <a:path w="2286000" h="319404">
                <a:moveTo>
                  <a:pt x="2285695" y="319404"/>
                </a:moveTo>
                <a:lnTo>
                  <a:pt x="28575" y="319404"/>
                </a:lnTo>
                <a:lnTo>
                  <a:pt x="28575" y="69850"/>
                </a:lnTo>
                <a:lnTo>
                  <a:pt x="47625" y="69850"/>
                </a:lnTo>
                <a:lnTo>
                  <a:pt x="47625" y="300354"/>
                </a:lnTo>
                <a:lnTo>
                  <a:pt x="38100" y="300354"/>
                </a:lnTo>
                <a:lnTo>
                  <a:pt x="47625" y="309879"/>
                </a:lnTo>
                <a:lnTo>
                  <a:pt x="2285695" y="309879"/>
                </a:lnTo>
                <a:lnTo>
                  <a:pt x="2285695" y="319404"/>
                </a:lnTo>
                <a:close/>
              </a:path>
              <a:path w="2286000" h="319404">
                <a:moveTo>
                  <a:pt x="76200" y="88900"/>
                </a:moveTo>
                <a:lnTo>
                  <a:pt x="47625" y="88900"/>
                </a:lnTo>
                <a:lnTo>
                  <a:pt x="47625" y="69850"/>
                </a:lnTo>
                <a:lnTo>
                  <a:pt x="66675" y="69850"/>
                </a:lnTo>
                <a:lnTo>
                  <a:pt x="76200" y="88900"/>
                </a:lnTo>
                <a:close/>
              </a:path>
              <a:path w="2286000" h="319404">
                <a:moveTo>
                  <a:pt x="47625" y="309879"/>
                </a:moveTo>
                <a:lnTo>
                  <a:pt x="38100" y="300354"/>
                </a:lnTo>
                <a:lnTo>
                  <a:pt x="47625" y="300354"/>
                </a:lnTo>
                <a:lnTo>
                  <a:pt x="47625" y="309879"/>
                </a:lnTo>
                <a:close/>
              </a:path>
              <a:path w="2286000" h="319404">
                <a:moveTo>
                  <a:pt x="2266645" y="309879"/>
                </a:moveTo>
                <a:lnTo>
                  <a:pt x="47625" y="309879"/>
                </a:lnTo>
                <a:lnTo>
                  <a:pt x="47625" y="300354"/>
                </a:lnTo>
                <a:lnTo>
                  <a:pt x="2266645" y="300354"/>
                </a:lnTo>
                <a:lnTo>
                  <a:pt x="2266645" y="309879"/>
                </a:lnTo>
                <a:close/>
              </a:path>
              <a:path w="2286000" h="319404">
                <a:moveTo>
                  <a:pt x="2285695" y="309879"/>
                </a:moveTo>
                <a:lnTo>
                  <a:pt x="2266645" y="309879"/>
                </a:lnTo>
                <a:lnTo>
                  <a:pt x="2276170" y="300354"/>
                </a:lnTo>
                <a:lnTo>
                  <a:pt x="2285695" y="300354"/>
                </a:lnTo>
                <a:lnTo>
                  <a:pt x="2285695" y="309879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87565" y="2271242"/>
            <a:ext cx="6071235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-5" dirty="0">
                <a:latin typeface="Arial Unicode MS"/>
                <a:cs typeface="Arial Unicode MS"/>
              </a:rPr>
              <a:t>当司机签到，根据司机要去往的月台，进行排队处理，根据顺序，依次叫号</a:t>
            </a:r>
            <a:r>
              <a:rPr sz="1400" dirty="0">
                <a:latin typeface="Arial Unicode MS"/>
                <a:cs typeface="Arial Unicode MS"/>
              </a:rPr>
              <a:t>。 </a:t>
            </a:r>
            <a:r>
              <a:rPr sz="1400" spc="-5" dirty="0">
                <a:latin typeface="Arial Unicode MS"/>
                <a:cs typeface="Arial Unicode MS"/>
              </a:rPr>
              <a:t>特殊情况下，也可以手动叫号，进行插队处理以应对突发情况</a:t>
            </a:r>
            <a:r>
              <a:rPr sz="1400" dirty="0"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园内作</a:t>
            </a:r>
            <a:r>
              <a:rPr spc="-30" dirty="0"/>
              <a:t>业</a:t>
            </a:r>
          </a:p>
        </p:txBody>
      </p:sp>
      <p:sp>
        <p:nvSpPr>
          <p:cNvPr id="3" name="object 3"/>
          <p:cNvSpPr/>
          <p:nvPr/>
        </p:nvSpPr>
        <p:spPr>
          <a:xfrm>
            <a:off x="1379219" y="3480815"/>
            <a:ext cx="2590800" cy="490855"/>
          </a:xfrm>
          <a:custGeom>
            <a:avLst/>
            <a:gdLst/>
            <a:ahLst/>
            <a:cxnLst/>
            <a:rect l="l" t="t" r="r" b="b"/>
            <a:pathLst>
              <a:path w="2590800" h="490854">
                <a:moveTo>
                  <a:pt x="2346960" y="490728"/>
                </a:moveTo>
                <a:lnTo>
                  <a:pt x="0" y="490728"/>
                </a:lnTo>
                <a:lnTo>
                  <a:pt x="243840" y="245363"/>
                </a:lnTo>
                <a:lnTo>
                  <a:pt x="0" y="0"/>
                </a:lnTo>
                <a:lnTo>
                  <a:pt x="2346960" y="0"/>
                </a:lnTo>
                <a:lnTo>
                  <a:pt x="2590800" y="245363"/>
                </a:lnTo>
                <a:lnTo>
                  <a:pt x="2346960" y="490728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48103" y="3615511"/>
            <a:ext cx="145097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单、多月台活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动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00600" y="3470147"/>
            <a:ext cx="2590800" cy="490855"/>
          </a:xfrm>
          <a:custGeom>
            <a:avLst/>
            <a:gdLst/>
            <a:ahLst/>
            <a:cxnLst/>
            <a:rect l="l" t="t" r="r" b="b"/>
            <a:pathLst>
              <a:path w="2590800" h="490854">
                <a:moveTo>
                  <a:pt x="2346959" y="490727"/>
                </a:moveTo>
                <a:lnTo>
                  <a:pt x="0" y="490727"/>
                </a:lnTo>
                <a:lnTo>
                  <a:pt x="243839" y="245363"/>
                </a:lnTo>
                <a:lnTo>
                  <a:pt x="0" y="0"/>
                </a:lnTo>
                <a:lnTo>
                  <a:pt x="2346959" y="0"/>
                </a:lnTo>
                <a:lnTo>
                  <a:pt x="2590800" y="245363"/>
                </a:lnTo>
                <a:lnTo>
                  <a:pt x="2346959" y="490727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75490" y="3605122"/>
            <a:ext cx="839469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导航指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引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21980" y="3470147"/>
            <a:ext cx="2590800" cy="490855"/>
          </a:xfrm>
          <a:custGeom>
            <a:avLst/>
            <a:gdLst/>
            <a:ahLst/>
            <a:cxnLst/>
            <a:rect l="l" t="t" r="r" b="b"/>
            <a:pathLst>
              <a:path w="2590800" h="490854">
                <a:moveTo>
                  <a:pt x="2346960" y="490727"/>
                </a:moveTo>
                <a:lnTo>
                  <a:pt x="0" y="490727"/>
                </a:lnTo>
                <a:lnTo>
                  <a:pt x="243840" y="245363"/>
                </a:lnTo>
                <a:lnTo>
                  <a:pt x="0" y="0"/>
                </a:lnTo>
                <a:lnTo>
                  <a:pt x="2346960" y="0"/>
                </a:lnTo>
                <a:lnTo>
                  <a:pt x="2590800" y="245363"/>
                </a:lnTo>
                <a:lnTo>
                  <a:pt x="2346960" y="490727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96806" y="3605122"/>
            <a:ext cx="839469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地磅称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重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7426" y="4323791"/>
            <a:ext cx="2337435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记录并管控司机进入月台进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装</a:t>
            </a:r>
            <a:r>
              <a:rPr sz="1400" spc="145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卸活动的行为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8743" y="4323791"/>
            <a:ext cx="2337435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园内面积大、路线复杂，通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过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定位指引方便司机驾驶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0059" y="4323791"/>
            <a:ext cx="2337435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连接地磅硬件设备，获取重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量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信息，方便园区作业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7426" y="1837714"/>
            <a:ext cx="5714365" cy="893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D71E06"/>
                </a:solidFill>
                <a:latin typeface="Microsoft JhengHei"/>
                <a:cs typeface="Microsoft JhengHei"/>
              </a:rPr>
              <a:t>园区物流协同管理：园内作</a:t>
            </a:r>
            <a:r>
              <a:rPr sz="1800" b="1" dirty="0">
                <a:solidFill>
                  <a:srgbClr val="D71E06"/>
                </a:solidFill>
                <a:latin typeface="Microsoft JhengHei"/>
                <a:cs typeface="Microsoft JhengHei"/>
              </a:rPr>
              <a:t>业</a:t>
            </a:r>
            <a:endParaRPr sz="1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600" spc="-15" dirty="0">
                <a:latin typeface="Arial Unicode MS"/>
                <a:cs typeface="Arial Unicode MS"/>
              </a:rPr>
              <a:t>管理司机在园内的活动，规范司机行驶、装卸等核心行为动作</a:t>
            </a:r>
            <a:r>
              <a:rPr sz="1600" spc="-20" dirty="0">
                <a:latin typeface="Arial Unicode MS"/>
                <a:cs typeface="Arial Unicode MS"/>
              </a:rPr>
              <a:t>。</a:t>
            </a:r>
            <a:endParaRPr sz="16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导航指</a:t>
            </a:r>
            <a:r>
              <a:rPr spc="-30" dirty="0"/>
              <a:t>引</a:t>
            </a:r>
          </a:p>
        </p:txBody>
      </p:sp>
      <p:sp>
        <p:nvSpPr>
          <p:cNvPr id="3" name="object 3"/>
          <p:cNvSpPr/>
          <p:nvPr/>
        </p:nvSpPr>
        <p:spPr>
          <a:xfrm>
            <a:off x="4083684" y="1418386"/>
            <a:ext cx="2023833" cy="42721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9269" y="1418259"/>
            <a:ext cx="2023833" cy="42722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649968" y="2746248"/>
            <a:ext cx="1737360" cy="1548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9305" y="2608846"/>
            <a:ext cx="2542628" cy="18911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92802" y="5846063"/>
            <a:ext cx="737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司机导</a:t>
            </a:r>
            <a:r>
              <a:rPr sz="1400" dirty="0">
                <a:latin typeface="Arial Unicode MS"/>
                <a:cs typeface="Arial Unicode MS"/>
              </a:rPr>
              <a:t>肮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7985" y="4555743"/>
            <a:ext cx="737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司机入</a:t>
            </a:r>
            <a:r>
              <a:rPr sz="1400" dirty="0">
                <a:latin typeface="Arial Unicode MS"/>
                <a:cs typeface="Arial Unicode MS"/>
              </a:rPr>
              <a:t>园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6331" y="5752819"/>
            <a:ext cx="1840864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47650">
              <a:lnSpc>
                <a:spcPct val="100000"/>
              </a:lnSpc>
            </a:pPr>
            <a:r>
              <a:rPr sz="1300" spc="-10" dirty="0">
                <a:latin typeface="Arial Unicode MS"/>
                <a:cs typeface="Arial Unicode MS"/>
              </a:rPr>
              <a:t>基于园区车流情</a:t>
            </a:r>
            <a:r>
              <a:rPr sz="1300" spc="-15" dirty="0">
                <a:latin typeface="Arial Unicode MS"/>
                <a:cs typeface="Arial Unicode MS"/>
              </a:rPr>
              <a:t>况</a:t>
            </a:r>
            <a:r>
              <a:rPr sz="1300" spc="-5" dirty="0">
                <a:latin typeface="Arial Unicode MS"/>
                <a:cs typeface="Arial Unicode MS"/>
              </a:rPr>
              <a:t> </a:t>
            </a:r>
            <a:r>
              <a:rPr sz="1300" spc="-10" dirty="0">
                <a:latin typeface="Arial Unicode MS"/>
                <a:cs typeface="Arial Unicode MS"/>
              </a:rPr>
              <a:t>进行路线指引、偏航警</a:t>
            </a:r>
            <a:r>
              <a:rPr sz="1300" spc="-15" dirty="0">
                <a:latin typeface="Arial Unicode MS"/>
                <a:cs typeface="Arial Unicode MS"/>
              </a:rPr>
              <a:t>告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58224" y="4462499"/>
            <a:ext cx="2519680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0075" marR="5080" indent="-587375">
              <a:lnSpc>
                <a:spcPct val="100000"/>
              </a:lnSpc>
            </a:pPr>
            <a:r>
              <a:rPr sz="1300" spc="-10" dirty="0">
                <a:latin typeface="Arial Unicode MS"/>
                <a:cs typeface="Arial Unicode MS"/>
              </a:rPr>
              <a:t>电子围栏、</a:t>
            </a:r>
            <a:r>
              <a:rPr sz="1300" spc="10" dirty="0">
                <a:latin typeface="Arial Unicode MS"/>
                <a:cs typeface="Arial Unicode MS"/>
              </a:rPr>
              <a:t>G</a:t>
            </a:r>
            <a:r>
              <a:rPr sz="1300" spc="-25" dirty="0">
                <a:latin typeface="Arial Unicode MS"/>
                <a:cs typeface="Arial Unicode MS"/>
              </a:rPr>
              <a:t>P</a:t>
            </a:r>
            <a:r>
              <a:rPr sz="1300" spc="-20" dirty="0">
                <a:latin typeface="Arial Unicode MS"/>
                <a:cs typeface="Arial Unicode MS"/>
              </a:rPr>
              <a:t>S</a:t>
            </a:r>
            <a:r>
              <a:rPr sz="1300" spc="-10" dirty="0">
                <a:latin typeface="Arial Unicode MS"/>
                <a:cs typeface="Arial Unicode MS"/>
              </a:rPr>
              <a:t>动态捕捉车辆位</a:t>
            </a:r>
            <a:r>
              <a:rPr sz="1300" spc="-15" dirty="0">
                <a:latin typeface="Arial Unicode MS"/>
                <a:cs typeface="Arial Unicode MS"/>
              </a:rPr>
              <a:t>置</a:t>
            </a:r>
            <a:r>
              <a:rPr sz="1300" spc="-5" dirty="0">
                <a:latin typeface="Arial Unicode MS"/>
                <a:cs typeface="Arial Unicode MS"/>
              </a:rPr>
              <a:t> </a:t>
            </a:r>
            <a:r>
              <a:rPr sz="1300" spc="-10" dirty="0">
                <a:latin typeface="Arial Unicode MS"/>
                <a:cs typeface="Arial Unicode MS"/>
              </a:rPr>
              <a:t>识别车辆进入月</a:t>
            </a:r>
            <a:r>
              <a:rPr sz="1300" spc="-15" dirty="0">
                <a:latin typeface="Arial Unicode MS"/>
                <a:cs typeface="Arial Unicode MS"/>
              </a:rPr>
              <a:t>台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65830" y="3318319"/>
            <a:ext cx="692124" cy="4041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41415" y="3318319"/>
            <a:ext cx="692124" cy="40412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16999" y="3318319"/>
            <a:ext cx="692124" cy="40412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88682" y="1595995"/>
            <a:ext cx="2693035" cy="55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65" dirty="0">
                <a:latin typeface="Microsoft JhengHei"/>
                <a:cs typeface="Microsoft JhengHei"/>
              </a:rPr>
              <a:t>G</a:t>
            </a:r>
            <a:r>
              <a:rPr sz="1600" b="1" spc="45" dirty="0">
                <a:latin typeface="Microsoft JhengHei"/>
                <a:cs typeface="Microsoft JhengHei"/>
              </a:rPr>
              <a:t>P</a:t>
            </a:r>
            <a:r>
              <a:rPr sz="1600" b="1" spc="120" dirty="0">
                <a:latin typeface="Microsoft JhengHei"/>
                <a:cs typeface="Microsoft JhengHei"/>
              </a:rPr>
              <a:t>S</a:t>
            </a:r>
            <a:r>
              <a:rPr sz="1600" b="1" spc="-200" dirty="0">
                <a:latin typeface="Microsoft JhengHei"/>
                <a:cs typeface="Microsoft JhengHei"/>
              </a:rPr>
              <a:t>+</a:t>
            </a:r>
            <a:r>
              <a:rPr sz="1600" b="1" spc="5" dirty="0">
                <a:latin typeface="Microsoft JhengHei"/>
                <a:cs typeface="Microsoft JhengHei"/>
              </a:rPr>
              <a:t>R</a:t>
            </a:r>
            <a:r>
              <a:rPr sz="1600" b="1" spc="-35" dirty="0">
                <a:latin typeface="Microsoft JhengHei"/>
                <a:cs typeface="Microsoft JhengHei"/>
              </a:rPr>
              <a:t>T</a:t>
            </a:r>
            <a:r>
              <a:rPr sz="1600" b="1" spc="35" dirty="0">
                <a:latin typeface="Microsoft JhengHei"/>
                <a:cs typeface="Microsoft JhengHei"/>
              </a:rPr>
              <a:t>K</a:t>
            </a:r>
            <a:r>
              <a:rPr sz="1600" b="1" spc="-10" dirty="0">
                <a:latin typeface="Microsoft JhengHei"/>
                <a:cs typeface="Microsoft JhengHei"/>
              </a:rPr>
              <a:t>基站导</a:t>
            </a:r>
            <a:r>
              <a:rPr sz="1600" b="1" spc="-20" dirty="0">
                <a:latin typeface="Microsoft JhengHei"/>
                <a:cs typeface="Microsoft JhengHei"/>
              </a:rPr>
              <a:t>航</a:t>
            </a:r>
            <a:endParaRPr sz="1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400" spc="-5" dirty="0">
                <a:latin typeface="Arial Unicode MS"/>
                <a:cs typeface="Arial Unicode MS"/>
              </a:rPr>
              <a:t>园内道路精准指引，偏航自动预</a:t>
            </a:r>
            <a:r>
              <a:rPr sz="1400" dirty="0">
                <a:latin typeface="Arial Unicode MS"/>
                <a:cs typeface="Arial Unicode MS"/>
              </a:rPr>
              <a:t>警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单、多月台活</a:t>
            </a:r>
            <a:r>
              <a:rPr spc="-30" dirty="0"/>
              <a:t>动</a:t>
            </a:r>
          </a:p>
        </p:txBody>
      </p:sp>
      <p:sp>
        <p:nvSpPr>
          <p:cNvPr id="3" name="object 3"/>
          <p:cNvSpPr/>
          <p:nvPr/>
        </p:nvSpPr>
        <p:spPr>
          <a:xfrm>
            <a:off x="592848" y="1666354"/>
            <a:ext cx="2258517" cy="15385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2848" y="3721163"/>
            <a:ext cx="2258517" cy="15385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57131" y="1674444"/>
            <a:ext cx="7793901" cy="3618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939106" y="1713623"/>
            <a:ext cx="710120" cy="4011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62207" y="1810270"/>
            <a:ext cx="42672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月台</a:t>
            </a:r>
            <a:r>
              <a:rPr sz="1200" b="1" spc="25" dirty="0">
                <a:solidFill>
                  <a:srgbClr val="FFFFFF"/>
                </a:solidFill>
                <a:latin typeface="Microsoft JhengHei"/>
                <a:cs typeface="Microsoft JhengHei"/>
              </a:rPr>
              <a:t>1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939106" y="2399296"/>
            <a:ext cx="710120" cy="4011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863656" y="3084969"/>
            <a:ext cx="937996" cy="4011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986299" y="3770642"/>
            <a:ext cx="615734" cy="40118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986299" y="4820691"/>
            <a:ext cx="615734" cy="4011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238103" y="2049487"/>
            <a:ext cx="76200" cy="379730"/>
          </a:xfrm>
          <a:custGeom>
            <a:avLst/>
            <a:gdLst/>
            <a:ahLst/>
            <a:cxnLst/>
            <a:rect l="l" t="t" r="r" b="b"/>
            <a:pathLst>
              <a:path w="76200" h="379730">
                <a:moveTo>
                  <a:pt x="41910" y="322046"/>
                </a:moveTo>
                <a:lnTo>
                  <a:pt x="34290" y="322046"/>
                </a:lnTo>
                <a:lnTo>
                  <a:pt x="34290" y="0"/>
                </a:lnTo>
                <a:lnTo>
                  <a:pt x="41910" y="0"/>
                </a:lnTo>
                <a:lnTo>
                  <a:pt x="41910" y="322046"/>
                </a:lnTo>
                <a:close/>
              </a:path>
              <a:path w="76200" h="379730">
                <a:moveTo>
                  <a:pt x="38100" y="379196"/>
                </a:moveTo>
                <a:lnTo>
                  <a:pt x="0" y="302996"/>
                </a:lnTo>
                <a:lnTo>
                  <a:pt x="34290" y="302996"/>
                </a:lnTo>
                <a:lnTo>
                  <a:pt x="34290" y="322046"/>
                </a:lnTo>
                <a:lnTo>
                  <a:pt x="66675" y="322046"/>
                </a:lnTo>
                <a:lnTo>
                  <a:pt x="38100" y="379196"/>
                </a:lnTo>
                <a:close/>
              </a:path>
              <a:path w="76200" h="379730">
                <a:moveTo>
                  <a:pt x="66675" y="322046"/>
                </a:moveTo>
                <a:lnTo>
                  <a:pt x="41910" y="322046"/>
                </a:lnTo>
                <a:lnTo>
                  <a:pt x="41910" y="302996"/>
                </a:lnTo>
                <a:lnTo>
                  <a:pt x="76200" y="302996"/>
                </a:lnTo>
                <a:lnTo>
                  <a:pt x="66675" y="322046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238103" y="2735160"/>
            <a:ext cx="76200" cy="379730"/>
          </a:xfrm>
          <a:custGeom>
            <a:avLst/>
            <a:gdLst/>
            <a:ahLst/>
            <a:cxnLst/>
            <a:rect l="l" t="t" r="r" b="b"/>
            <a:pathLst>
              <a:path w="76200" h="379730">
                <a:moveTo>
                  <a:pt x="41910" y="322046"/>
                </a:moveTo>
                <a:lnTo>
                  <a:pt x="34290" y="322046"/>
                </a:lnTo>
                <a:lnTo>
                  <a:pt x="34290" y="0"/>
                </a:lnTo>
                <a:lnTo>
                  <a:pt x="41910" y="0"/>
                </a:lnTo>
                <a:lnTo>
                  <a:pt x="41910" y="322046"/>
                </a:lnTo>
                <a:close/>
              </a:path>
              <a:path w="76200" h="379730">
                <a:moveTo>
                  <a:pt x="38100" y="379196"/>
                </a:moveTo>
                <a:lnTo>
                  <a:pt x="0" y="302996"/>
                </a:lnTo>
                <a:lnTo>
                  <a:pt x="34290" y="302996"/>
                </a:lnTo>
                <a:lnTo>
                  <a:pt x="34290" y="322046"/>
                </a:lnTo>
                <a:lnTo>
                  <a:pt x="66675" y="322046"/>
                </a:lnTo>
                <a:lnTo>
                  <a:pt x="38100" y="379196"/>
                </a:lnTo>
                <a:close/>
              </a:path>
              <a:path w="76200" h="379730">
                <a:moveTo>
                  <a:pt x="66675" y="322046"/>
                </a:moveTo>
                <a:lnTo>
                  <a:pt x="41910" y="322046"/>
                </a:lnTo>
                <a:lnTo>
                  <a:pt x="41910" y="302996"/>
                </a:lnTo>
                <a:lnTo>
                  <a:pt x="76200" y="302996"/>
                </a:lnTo>
                <a:lnTo>
                  <a:pt x="66675" y="322046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238103" y="3420821"/>
            <a:ext cx="76200" cy="379730"/>
          </a:xfrm>
          <a:custGeom>
            <a:avLst/>
            <a:gdLst/>
            <a:ahLst/>
            <a:cxnLst/>
            <a:rect l="l" t="t" r="r" b="b"/>
            <a:pathLst>
              <a:path w="76200" h="379729">
                <a:moveTo>
                  <a:pt x="41910" y="322059"/>
                </a:moveTo>
                <a:lnTo>
                  <a:pt x="34290" y="322059"/>
                </a:lnTo>
                <a:lnTo>
                  <a:pt x="34290" y="0"/>
                </a:lnTo>
                <a:lnTo>
                  <a:pt x="41910" y="0"/>
                </a:lnTo>
                <a:lnTo>
                  <a:pt x="41910" y="322059"/>
                </a:lnTo>
                <a:close/>
              </a:path>
              <a:path w="76200" h="379729">
                <a:moveTo>
                  <a:pt x="38100" y="379209"/>
                </a:moveTo>
                <a:lnTo>
                  <a:pt x="0" y="303009"/>
                </a:lnTo>
                <a:lnTo>
                  <a:pt x="34290" y="303009"/>
                </a:lnTo>
                <a:lnTo>
                  <a:pt x="34290" y="322059"/>
                </a:lnTo>
                <a:lnTo>
                  <a:pt x="66675" y="322059"/>
                </a:lnTo>
                <a:lnTo>
                  <a:pt x="38100" y="379209"/>
                </a:lnTo>
                <a:close/>
              </a:path>
              <a:path w="76200" h="379729">
                <a:moveTo>
                  <a:pt x="66675" y="322059"/>
                </a:moveTo>
                <a:lnTo>
                  <a:pt x="41910" y="322059"/>
                </a:lnTo>
                <a:lnTo>
                  <a:pt x="41910" y="303009"/>
                </a:lnTo>
                <a:lnTo>
                  <a:pt x="76200" y="303009"/>
                </a:lnTo>
                <a:lnTo>
                  <a:pt x="66675" y="322059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238103" y="4106494"/>
            <a:ext cx="76200" cy="743585"/>
          </a:xfrm>
          <a:custGeom>
            <a:avLst/>
            <a:gdLst/>
            <a:ahLst/>
            <a:cxnLst/>
            <a:rect l="l" t="t" r="r" b="b"/>
            <a:pathLst>
              <a:path w="76200" h="743585">
                <a:moveTo>
                  <a:pt x="41910" y="686435"/>
                </a:moveTo>
                <a:lnTo>
                  <a:pt x="34290" y="686435"/>
                </a:lnTo>
                <a:lnTo>
                  <a:pt x="34290" y="0"/>
                </a:lnTo>
                <a:lnTo>
                  <a:pt x="41910" y="0"/>
                </a:lnTo>
                <a:lnTo>
                  <a:pt x="41910" y="686435"/>
                </a:lnTo>
                <a:close/>
              </a:path>
              <a:path w="76200" h="743585">
                <a:moveTo>
                  <a:pt x="38100" y="743585"/>
                </a:moveTo>
                <a:lnTo>
                  <a:pt x="0" y="667385"/>
                </a:lnTo>
                <a:lnTo>
                  <a:pt x="34290" y="667385"/>
                </a:lnTo>
                <a:lnTo>
                  <a:pt x="34290" y="686435"/>
                </a:lnTo>
                <a:lnTo>
                  <a:pt x="66675" y="686435"/>
                </a:lnTo>
                <a:lnTo>
                  <a:pt x="38100" y="743585"/>
                </a:lnTo>
                <a:close/>
              </a:path>
              <a:path w="76200" h="743585">
                <a:moveTo>
                  <a:pt x="66675" y="686435"/>
                </a:moveTo>
                <a:lnTo>
                  <a:pt x="41910" y="686435"/>
                </a:lnTo>
                <a:lnTo>
                  <a:pt x="41910" y="667385"/>
                </a:lnTo>
                <a:lnTo>
                  <a:pt x="76200" y="667385"/>
                </a:lnTo>
                <a:lnTo>
                  <a:pt x="66675" y="686435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53143" y="2679192"/>
            <a:ext cx="1655445" cy="853440"/>
          </a:xfrm>
          <a:custGeom>
            <a:avLst/>
            <a:gdLst/>
            <a:ahLst/>
            <a:cxnLst/>
            <a:rect l="l" t="t" r="r" b="b"/>
            <a:pathLst>
              <a:path w="1655445" h="853439">
                <a:moveTo>
                  <a:pt x="410565" y="853175"/>
                </a:moveTo>
                <a:lnTo>
                  <a:pt x="322204" y="849334"/>
                </a:lnTo>
                <a:lnTo>
                  <a:pt x="225150" y="840816"/>
                </a:lnTo>
                <a:lnTo>
                  <a:pt x="118162" y="827114"/>
                </a:lnTo>
                <a:lnTo>
                  <a:pt x="0" y="807719"/>
                </a:lnTo>
                <a:lnTo>
                  <a:pt x="0" y="0"/>
                </a:lnTo>
                <a:lnTo>
                  <a:pt x="1655063" y="0"/>
                </a:lnTo>
                <a:lnTo>
                  <a:pt x="1655063" y="693419"/>
                </a:lnTo>
                <a:lnTo>
                  <a:pt x="1536966" y="695273"/>
                </a:lnTo>
                <a:lnTo>
                  <a:pt x="1430037" y="700583"/>
                </a:lnTo>
                <a:lnTo>
                  <a:pt x="1333034" y="708840"/>
                </a:lnTo>
                <a:lnTo>
                  <a:pt x="1244717" y="719537"/>
                </a:lnTo>
                <a:lnTo>
                  <a:pt x="1163845" y="732165"/>
                </a:lnTo>
                <a:lnTo>
                  <a:pt x="1089176" y="746217"/>
                </a:lnTo>
                <a:lnTo>
                  <a:pt x="1019468" y="761183"/>
                </a:lnTo>
                <a:lnTo>
                  <a:pt x="827703" y="806486"/>
                </a:lnTo>
                <a:lnTo>
                  <a:pt x="765429" y="820028"/>
                </a:lnTo>
                <a:lnTo>
                  <a:pt x="701911" y="831944"/>
                </a:lnTo>
                <a:lnTo>
                  <a:pt x="635907" y="841725"/>
                </a:lnTo>
                <a:lnTo>
                  <a:pt x="566175" y="848862"/>
                </a:lnTo>
                <a:lnTo>
                  <a:pt x="491475" y="852848"/>
                </a:lnTo>
                <a:lnTo>
                  <a:pt x="410565" y="853175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231642" y="2495943"/>
            <a:ext cx="2257425" cy="525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月台</a:t>
            </a:r>
            <a:r>
              <a:rPr sz="1200" b="1" spc="25" dirty="0">
                <a:solidFill>
                  <a:srgbClr val="FFFFFF"/>
                </a:solidFill>
                <a:latin typeface="Microsoft JhengHei"/>
                <a:cs typeface="Microsoft JhengHei"/>
              </a:rPr>
              <a:t>2</a:t>
            </a:r>
            <a:endParaRPr sz="12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不同地点之间的流转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80356" y="3181616"/>
            <a:ext cx="7899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月台</a:t>
            </a:r>
            <a:r>
              <a:rPr sz="1200" b="1" spc="894" dirty="0">
                <a:solidFill>
                  <a:srgbClr val="FFFFFF"/>
                </a:solidFill>
                <a:latin typeface="Microsoft JhengHei"/>
                <a:cs typeface="Microsoft JhengHei"/>
              </a:rPr>
              <a:t>··</a:t>
            </a:r>
            <a:r>
              <a:rPr sz="1200" b="1" spc="890" dirty="0">
                <a:solidFill>
                  <a:srgbClr val="FFFFFF"/>
                </a:solidFill>
                <a:latin typeface="Microsoft JhengHei"/>
                <a:cs typeface="Microsoft JhengHei"/>
              </a:rPr>
              <a:t>·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10036" y="3867289"/>
            <a:ext cx="33083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地</a:t>
            </a:r>
            <a:r>
              <a:rPr sz="1200" b="1" dirty="0">
                <a:solidFill>
                  <a:srgbClr val="FFFFFF"/>
                </a:solidFill>
                <a:latin typeface="Microsoft JhengHei"/>
                <a:cs typeface="Microsoft JhengHei"/>
              </a:rPr>
              <a:t>磅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110036" y="4917337"/>
            <a:ext cx="33083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5" dirty="0">
                <a:solidFill>
                  <a:srgbClr val="FFFFFF"/>
                </a:solidFill>
                <a:latin typeface="Microsoft JhengHei"/>
                <a:cs typeface="Microsoft JhengHei"/>
              </a:rPr>
              <a:t>出</a:t>
            </a:r>
            <a:r>
              <a:rPr sz="12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园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1642" y="3071456"/>
            <a:ext cx="13970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启用特殊的排队规则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808060" y="3231692"/>
            <a:ext cx="476770" cy="81704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56969" y="4498721"/>
            <a:ext cx="2265260" cy="7012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97252" y="3806444"/>
            <a:ext cx="2441714" cy="104872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6107" y="5356135"/>
            <a:ext cx="1626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按系统策略分配月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台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984500" y="5356135"/>
            <a:ext cx="1626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生成多条任务流数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据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6107" y="3212147"/>
            <a:ext cx="10928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人为分配月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台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72622" y="5356135"/>
            <a:ext cx="1244600" cy="38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司机按照顺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序</a:t>
            </a:r>
            <a:endParaRPr sz="14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依次前往目标地点</a:t>
            </a:r>
            <a:endParaRPr sz="12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地磅称</a:t>
            </a:r>
            <a:r>
              <a:rPr spc="-30" dirty="0"/>
              <a:t>重</a:t>
            </a:r>
          </a:p>
        </p:txBody>
      </p:sp>
      <p:sp>
        <p:nvSpPr>
          <p:cNvPr id="3" name="object 3"/>
          <p:cNvSpPr/>
          <p:nvPr/>
        </p:nvSpPr>
        <p:spPr>
          <a:xfrm>
            <a:off x="789305" y="2294127"/>
            <a:ext cx="2542628" cy="18911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57985" y="4271263"/>
            <a:ext cx="737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司机入</a:t>
            </a:r>
            <a:r>
              <a:rPr sz="1400" dirty="0">
                <a:latin typeface="Arial Unicode MS"/>
                <a:cs typeface="Arial Unicode MS"/>
              </a:rPr>
              <a:t>园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65830" y="3003600"/>
            <a:ext cx="692124" cy="4041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83684" y="2294127"/>
            <a:ext cx="2542628" cy="18911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52365" y="4271263"/>
            <a:ext cx="737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车辆称</a:t>
            </a:r>
            <a:r>
              <a:rPr sz="1400" dirty="0">
                <a:latin typeface="Arial Unicode MS"/>
                <a:cs typeface="Arial Unicode MS"/>
              </a:rPr>
              <a:t>重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78065" y="2059355"/>
            <a:ext cx="4094010" cy="23606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60210" y="3003600"/>
            <a:ext cx="692124" cy="4041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66380" y="4548263"/>
            <a:ext cx="30486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 Unicode MS"/>
                <a:cs typeface="Arial Unicode MS"/>
              </a:rPr>
              <a:t>生成磅重记录，根据规则生成计算数</a:t>
            </a:r>
            <a:r>
              <a:rPr sz="1400" dirty="0">
                <a:latin typeface="Arial Unicode MS"/>
                <a:cs typeface="Arial Unicode MS"/>
              </a:rPr>
              <a:t>据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80232" y="3491115"/>
            <a:ext cx="58483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Arial Unicode MS"/>
                <a:cs typeface="Arial Unicode MS"/>
              </a:rPr>
              <a:t>指引称</a:t>
            </a:r>
            <a:r>
              <a:rPr sz="1100" dirty="0">
                <a:latin typeface="Arial Unicode MS"/>
                <a:cs typeface="Arial Unicode MS"/>
              </a:rPr>
              <a:t>重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75628" y="3491115"/>
            <a:ext cx="58483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Arial Unicode MS"/>
                <a:cs typeface="Arial Unicode MS"/>
              </a:rPr>
              <a:t>获取磅</a:t>
            </a:r>
            <a:r>
              <a:rPr sz="1100" dirty="0">
                <a:latin typeface="Arial Unicode MS"/>
                <a:cs typeface="Arial Unicode MS"/>
              </a:rPr>
              <a:t>重</a:t>
            </a:r>
            <a:endParaRPr sz="11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出园作</a:t>
            </a:r>
            <a:r>
              <a:rPr spc="-30" dirty="0"/>
              <a:t>业</a:t>
            </a:r>
          </a:p>
        </p:txBody>
      </p:sp>
      <p:sp>
        <p:nvSpPr>
          <p:cNvPr id="3" name="object 3"/>
          <p:cNvSpPr/>
          <p:nvPr/>
        </p:nvSpPr>
        <p:spPr>
          <a:xfrm>
            <a:off x="1379219" y="3480815"/>
            <a:ext cx="2590800" cy="490855"/>
          </a:xfrm>
          <a:custGeom>
            <a:avLst/>
            <a:gdLst/>
            <a:ahLst/>
            <a:cxnLst/>
            <a:rect l="l" t="t" r="r" b="b"/>
            <a:pathLst>
              <a:path w="2590800" h="490854">
                <a:moveTo>
                  <a:pt x="2346960" y="490728"/>
                </a:moveTo>
                <a:lnTo>
                  <a:pt x="0" y="490728"/>
                </a:lnTo>
                <a:lnTo>
                  <a:pt x="243840" y="245363"/>
                </a:lnTo>
                <a:lnTo>
                  <a:pt x="0" y="0"/>
                </a:lnTo>
                <a:lnTo>
                  <a:pt x="2346960" y="0"/>
                </a:lnTo>
                <a:lnTo>
                  <a:pt x="2590800" y="245363"/>
                </a:lnTo>
                <a:lnTo>
                  <a:pt x="2346960" y="490728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55773" y="3615511"/>
            <a:ext cx="63563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出门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证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00600" y="3470147"/>
            <a:ext cx="2590800" cy="490855"/>
          </a:xfrm>
          <a:custGeom>
            <a:avLst/>
            <a:gdLst/>
            <a:ahLst/>
            <a:cxnLst/>
            <a:rect l="l" t="t" r="r" b="b"/>
            <a:pathLst>
              <a:path w="2590800" h="490854">
                <a:moveTo>
                  <a:pt x="2346959" y="490727"/>
                </a:moveTo>
                <a:lnTo>
                  <a:pt x="0" y="490727"/>
                </a:lnTo>
                <a:lnTo>
                  <a:pt x="243839" y="245363"/>
                </a:lnTo>
                <a:lnTo>
                  <a:pt x="0" y="0"/>
                </a:lnTo>
                <a:lnTo>
                  <a:pt x="2346959" y="0"/>
                </a:lnTo>
                <a:lnTo>
                  <a:pt x="2590800" y="245363"/>
                </a:lnTo>
                <a:lnTo>
                  <a:pt x="2346959" y="490727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75490" y="3605122"/>
            <a:ext cx="839469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装车核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准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21980" y="3470147"/>
            <a:ext cx="2590800" cy="490855"/>
          </a:xfrm>
          <a:custGeom>
            <a:avLst/>
            <a:gdLst/>
            <a:ahLst/>
            <a:cxnLst/>
            <a:rect l="l" t="t" r="r" b="b"/>
            <a:pathLst>
              <a:path w="2590800" h="490854">
                <a:moveTo>
                  <a:pt x="2346960" y="490727"/>
                </a:moveTo>
                <a:lnTo>
                  <a:pt x="0" y="490727"/>
                </a:lnTo>
                <a:lnTo>
                  <a:pt x="243840" y="245363"/>
                </a:lnTo>
                <a:lnTo>
                  <a:pt x="0" y="0"/>
                </a:lnTo>
                <a:lnTo>
                  <a:pt x="2346960" y="0"/>
                </a:lnTo>
                <a:lnTo>
                  <a:pt x="2590800" y="245363"/>
                </a:lnTo>
                <a:lnTo>
                  <a:pt x="2346960" y="490727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96806" y="3605122"/>
            <a:ext cx="839469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Microsoft JhengHei"/>
                <a:cs typeface="Microsoft JhengHei"/>
              </a:rPr>
              <a:t>道闸管</a:t>
            </a:r>
            <a:r>
              <a:rPr sz="1600" b="1" spc="-20" dirty="0">
                <a:solidFill>
                  <a:srgbClr val="FFFFFF"/>
                </a:solidFill>
                <a:latin typeface="Microsoft JhengHei"/>
                <a:cs typeface="Microsoft JhengHei"/>
              </a:rPr>
              <a:t>控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7426" y="4323791"/>
            <a:ext cx="233743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记录载货车辆出园信息的线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上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凭证，有效管理司机携带货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品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及业务数据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8743" y="4323791"/>
            <a:ext cx="233743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是发运业务中，装车出园核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查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的重要业务节点，同步多个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系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统，告知司机已经装车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0059" y="4323791"/>
            <a:ext cx="2515235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连接道闸，管理司机出园行为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不满足必要条件者，司机无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法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通过道闸出园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7426" y="1837714"/>
            <a:ext cx="6323965" cy="893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D71E06"/>
                </a:solidFill>
                <a:latin typeface="Microsoft JhengHei"/>
                <a:cs typeface="Microsoft JhengHei"/>
              </a:rPr>
              <a:t>园区物流协同管理：出园作</a:t>
            </a:r>
            <a:r>
              <a:rPr sz="1800" b="1" dirty="0">
                <a:solidFill>
                  <a:srgbClr val="D71E06"/>
                </a:solidFill>
                <a:latin typeface="Microsoft JhengHei"/>
                <a:cs typeface="Microsoft JhengHei"/>
              </a:rPr>
              <a:t>业</a:t>
            </a:r>
            <a:endParaRPr sz="1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600" spc="-15" dirty="0">
                <a:latin typeface="Arial Unicode MS"/>
                <a:cs typeface="Arial Unicode MS"/>
              </a:rPr>
              <a:t>是司机完成作业后，对以离开园区为目标时所产生的一切行为的管理</a:t>
            </a:r>
            <a:r>
              <a:rPr sz="1600" spc="-20" dirty="0">
                <a:latin typeface="Arial Unicode MS"/>
                <a:cs typeface="Arial Unicode MS"/>
              </a:rPr>
              <a:t>。</a:t>
            </a:r>
            <a:endParaRPr sz="16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2862" y="410373"/>
            <a:ext cx="109156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25" dirty="0">
                <a:latin typeface="Arial Unicode MS"/>
                <a:cs typeface="Arial Unicode MS"/>
              </a:rPr>
              <a:t>出门</a:t>
            </a:r>
            <a:r>
              <a:rPr sz="2800" spc="-30" dirty="0">
                <a:latin typeface="Arial Unicode MS"/>
                <a:cs typeface="Arial Unicode MS"/>
              </a:rPr>
              <a:t>证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3529" y="3011462"/>
            <a:ext cx="472185" cy="4721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3529" y="3867607"/>
            <a:ext cx="472185" cy="4721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38186" y="4720360"/>
            <a:ext cx="4115435" cy="520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可追</a:t>
            </a:r>
            <a:r>
              <a:rPr sz="1600" b="1" spc="-20" dirty="0">
                <a:latin typeface="Microsoft JhengHei"/>
                <a:cs typeface="Microsoft JhengHei"/>
              </a:rPr>
              <a:t>溯</a:t>
            </a:r>
            <a:endParaRPr sz="1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物资出园历史全程留痕，便于后续审计与问题追溯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3529" y="4723752"/>
            <a:ext cx="472185" cy="4721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6604" y="1734451"/>
            <a:ext cx="4293235" cy="2649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园区对出园车辆物资核查严格，传统纸质出门证易丢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  <a:p>
            <a:pPr marL="12700" marR="5080">
              <a:lnSpc>
                <a:spcPct val="119900"/>
              </a:lnSpc>
              <a:spcBef>
                <a:spcPts val="600"/>
              </a:spcBef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通过线上记录司机出园携带物料信息，生成电子出门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实现数字化管理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75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便捷</a:t>
            </a:r>
            <a:r>
              <a:rPr sz="1600" b="1" spc="-20" dirty="0">
                <a:latin typeface="Microsoft JhengHei"/>
                <a:cs typeface="Microsoft JhengHei"/>
              </a:rPr>
              <a:t>性</a:t>
            </a:r>
            <a:endParaRPr sz="1600">
              <a:latin typeface="Microsoft JhengHei"/>
              <a:cs typeface="Microsoft JhengHei"/>
            </a:endParaRPr>
          </a:p>
          <a:p>
            <a:pPr marL="123825">
              <a:lnSpc>
                <a:spcPct val="100000"/>
              </a:lnSpc>
              <a:spcBef>
                <a:spcPts val="625"/>
              </a:spcBef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司机一键查看电子证，无需携带和出示纸质单据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  <a:spcBef>
                <a:spcPts val="905"/>
              </a:spcBef>
            </a:pPr>
            <a:r>
              <a:rPr sz="1600" b="1" spc="-10" dirty="0">
                <a:latin typeface="Microsoft JhengHei"/>
                <a:cs typeface="Microsoft JhengHei"/>
              </a:rPr>
              <a:t>高效</a:t>
            </a:r>
            <a:r>
              <a:rPr sz="1600" b="1" spc="-20" dirty="0">
                <a:latin typeface="Microsoft JhengHei"/>
                <a:cs typeface="Microsoft JhengHei"/>
              </a:rPr>
              <a:t>性</a:t>
            </a:r>
            <a:endParaRPr sz="1600">
              <a:latin typeface="Microsoft JhengHei"/>
              <a:cs typeface="Microsoft JhengHei"/>
            </a:endParaRPr>
          </a:p>
          <a:p>
            <a:pPr marL="123825">
              <a:lnSpc>
                <a:spcPct val="100000"/>
              </a:lnSpc>
              <a:spcBef>
                <a:spcPts val="625"/>
              </a:spcBef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安防快速核查，减少排队等待时间，提升通行效率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3900" y="1959864"/>
            <a:ext cx="365759" cy="3657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8472" y="1655064"/>
            <a:ext cx="356616" cy="356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74435" y="1946148"/>
            <a:ext cx="2560319" cy="33451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64910" y="1936623"/>
            <a:ext cx="2579370" cy="3364229"/>
          </a:xfrm>
          <a:custGeom>
            <a:avLst/>
            <a:gdLst/>
            <a:ahLst/>
            <a:cxnLst/>
            <a:rect l="l" t="t" r="r" b="b"/>
            <a:pathLst>
              <a:path w="2579370" h="3364229">
                <a:moveTo>
                  <a:pt x="2574607" y="3364229"/>
                </a:moveTo>
                <a:lnTo>
                  <a:pt x="4762" y="3364229"/>
                </a:lnTo>
                <a:lnTo>
                  <a:pt x="3289" y="3364001"/>
                </a:lnTo>
                <a:lnTo>
                  <a:pt x="1968" y="3363315"/>
                </a:lnTo>
                <a:lnTo>
                  <a:pt x="914" y="3362261"/>
                </a:lnTo>
                <a:lnTo>
                  <a:pt x="228" y="3360940"/>
                </a:lnTo>
                <a:lnTo>
                  <a:pt x="0" y="3359467"/>
                </a:lnTo>
                <a:lnTo>
                  <a:pt x="0" y="4762"/>
                </a:lnTo>
                <a:lnTo>
                  <a:pt x="4762" y="0"/>
                </a:lnTo>
                <a:lnTo>
                  <a:pt x="2574607" y="0"/>
                </a:lnTo>
                <a:lnTo>
                  <a:pt x="2579369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354704"/>
                </a:lnTo>
                <a:lnTo>
                  <a:pt x="4762" y="3354704"/>
                </a:lnTo>
                <a:lnTo>
                  <a:pt x="9525" y="3359467"/>
                </a:lnTo>
                <a:lnTo>
                  <a:pt x="2579369" y="3359467"/>
                </a:lnTo>
                <a:lnTo>
                  <a:pt x="2579141" y="3360940"/>
                </a:lnTo>
                <a:lnTo>
                  <a:pt x="2578455" y="3362261"/>
                </a:lnTo>
                <a:lnTo>
                  <a:pt x="2577401" y="3363315"/>
                </a:lnTo>
                <a:lnTo>
                  <a:pt x="2576080" y="3364001"/>
                </a:lnTo>
                <a:lnTo>
                  <a:pt x="2574607" y="3364229"/>
                </a:lnTo>
                <a:close/>
              </a:path>
              <a:path w="2579370" h="33642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579370" h="3364229">
                <a:moveTo>
                  <a:pt x="256984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69844" y="4762"/>
                </a:lnTo>
                <a:lnTo>
                  <a:pt x="2569844" y="9525"/>
                </a:lnTo>
                <a:close/>
              </a:path>
              <a:path w="2579370" h="3364229">
                <a:moveTo>
                  <a:pt x="2569844" y="3359467"/>
                </a:moveTo>
                <a:lnTo>
                  <a:pt x="2569844" y="4762"/>
                </a:lnTo>
                <a:lnTo>
                  <a:pt x="2574607" y="9525"/>
                </a:lnTo>
                <a:lnTo>
                  <a:pt x="2579369" y="9525"/>
                </a:lnTo>
                <a:lnTo>
                  <a:pt x="2579369" y="3354704"/>
                </a:lnTo>
                <a:lnTo>
                  <a:pt x="2574607" y="3354704"/>
                </a:lnTo>
                <a:lnTo>
                  <a:pt x="2569844" y="3359467"/>
                </a:lnTo>
                <a:close/>
              </a:path>
              <a:path w="2579370" h="3364229">
                <a:moveTo>
                  <a:pt x="2579369" y="9525"/>
                </a:moveTo>
                <a:lnTo>
                  <a:pt x="2574607" y="9525"/>
                </a:lnTo>
                <a:lnTo>
                  <a:pt x="2569844" y="4762"/>
                </a:lnTo>
                <a:lnTo>
                  <a:pt x="2579369" y="4762"/>
                </a:lnTo>
                <a:lnTo>
                  <a:pt x="2579369" y="9525"/>
                </a:lnTo>
                <a:close/>
              </a:path>
              <a:path w="2579370" h="3364229">
                <a:moveTo>
                  <a:pt x="9525" y="3359467"/>
                </a:moveTo>
                <a:lnTo>
                  <a:pt x="4762" y="3354704"/>
                </a:lnTo>
                <a:lnTo>
                  <a:pt x="9525" y="3354704"/>
                </a:lnTo>
                <a:lnTo>
                  <a:pt x="9525" y="3359467"/>
                </a:lnTo>
                <a:close/>
              </a:path>
              <a:path w="2579370" h="3364229">
                <a:moveTo>
                  <a:pt x="2569844" y="3359467"/>
                </a:moveTo>
                <a:lnTo>
                  <a:pt x="9525" y="3359467"/>
                </a:lnTo>
                <a:lnTo>
                  <a:pt x="9525" y="3354704"/>
                </a:lnTo>
                <a:lnTo>
                  <a:pt x="2569844" y="3354704"/>
                </a:lnTo>
                <a:lnTo>
                  <a:pt x="2569844" y="3359467"/>
                </a:lnTo>
                <a:close/>
              </a:path>
              <a:path w="2579370" h="3364229">
                <a:moveTo>
                  <a:pt x="2579369" y="3359467"/>
                </a:moveTo>
                <a:lnTo>
                  <a:pt x="2569844" y="3359467"/>
                </a:lnTo>
                <a:lnTo>
                  <a:pt x="2574607" y="3354704"/>
                </a:lnTo>
                <a:lnTo>
                  <a:pt x="2579369" y="3354704"/>
                </a:lnTo>
                <a:lnTo>
                  <a:pt x="2579369" y="335946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90279" y="1161796"/>
            <a:ext cx="2885567" cy="498040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67484" y="3234474"/>
            <a:ext cx="767003" cy="76700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254240" y="5013959"/>
            <a:ext cx="1079500" cy="2762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10185">
              <a:lnSpc>
                <a:spcPct val="100000"/>
              </a:lnSpc>
            </a:pPr>
            <a:r>
              <a:rPr sz="1250" b="1" spc="-430" dirty="0">
                <a:latin typeface="微软雅黑"/>
                <a:cs typeface="微软雅黑"/>
              </a:rPr>
              <a:t>纸质出</a:t>
            </a:r>
            <a:r>
              <a:rPr sz="1250" b="1" spc="-445" dirty="0">
                <a:latin typeface="微软雅黑"/>
                <a:cs typeface="微软雅黑"/>
              </a:rPr>
              <a:t>门</a:t>
            </a:r>
            <a:r>
              <a:rPr sz="1250" b="1" spc="-50" dirty="0">
                <a:latin typeface="微软雅黑"/>
                <a:cs typeface="微软雅黑"/>
              </a:rPr>
              <a:t>证</a:t>
            </a:r>
            <a:endParaRPr sz="125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399776" y="5698235"/>
            <a:ext cx="1080770" cy="277495"/>
          </a:xfrm>
          <a:custGeom>
            <a:avLst/>
            <a:gdLst/>
            <a:ahLst/>
            <a:cxnLst/>
            <a:rect l="l" t="t" r="r" b="b"/>
            <a:pathLst>
              <a:path w="1080770" h="277495">
                <a:moveTo>
                  <a:pt x="0" y="0"/>
                </a:moveTo>
                <a:lnTo>
                  <a:pt x="1080516" y="0"/>
                </a:lnTo>
                <a:lnTo>
                  <a:pt x="1080516" y="277367"/>
                </a:lnTo>
                <a:lnTo>
                  <a:pt x="0" y="2773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598001" y="5752312"/>
            <a:ext cx="83883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b="1" spc="-430" dirty="0">
                <a:latin typeface="微软雅黑"/>
                <a:cs typeface="微软雅黑"/>
              </a:rPr>
              <a:t>电子</a:t>
            </a:r>
            <a:r>
              <a:rPr sz="1250" b="1" spc="-445" dirty="0">
                <a:latin typeface="微软雅黑"/>
                <a:cs typeface="微软雅黑"/>
              </a:rPr>
              <a:t>出门</a:t>
            </a:r>
            <a:r>
              <a:rPr sz="1250" b="1" spc="-50" dirty="0">
                <a:latin typeface="微软雅黑"/>
                <a:cs typeface="微软雅黑"/>
              </a:rPr>
              <a:t>证</a:t>
            </a:r>
            <a:endParaRPr sz="125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装车核</a:t>
            </a:r>
            <a:r>
              <a:rPr spc="-30" dirty="0"/>
              <a:t>准</a:t>
            </a:r>
          </a:p>
        </p:txBody>
      </p:sp>
      <p:sp>
        <p:nvSpPr>
          <p:cNvPr id="3" name="object 3"/>
          <p:cNvSpPr/>
          <p:nvPr/>
        </p:nvSpPr>
        <p:spPr>
          <a:xfrm>
            <a:off x="5416296" y="5289803"/>
            <a:ext cx="539496" cy="5394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95491" y="5355323"/>
            <a:ext cx="127063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900"/>
              </a:lnSpc>
            </a:pP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车辆可通过门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闸 </a:t>
            </a: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离开园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区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7820" y="3974591"/>
            <a:ext cx="539496" cy="5394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98184" y="4039514"/>
            <a:ext cx="144843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900"/>
              </a:lnSpc>
            </a:pP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核查通过告知车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辆 </a:t>
            </a: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可以出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园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64479" y="2624327"/>
            <a:ext cx="594360" cy="5943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45912" y="2717164"/>
            <a:ext cx="1950720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61670" algn="l"/>
              </a:tabLst>
            </a:pPr>
            <a:r>
              <a:rPr sz="1400" b="1" spc="-25" dirty="0">
                <a:solidFill>
                  <a:srgbClr val="FFFFFF"/>
                </a:solidFill>
                <a:latin typeface="Microsoft JhengHei"/>
                <a:cs typeface="Microsoft JhengHei"/>
              </a:rPr>
              <a:t>T</a:t>
            </a:r>
            <a:r>
              <a:rPr sz="1400" b="1" spc="-75" dirty="0">
                <a:solidFill>
                  <a:srgbClr val="FFFFFF"/>
                </a:solidFill>
                <a:latin typeface="Microsoft JhengHei"/>
                <a:cs typeface="Microsoft JhengHei"/>
              </a:rPr>
              <a:t>M</a:t>
            </a:r>
            <a:r>
              <a:rPr sz="1400" b="1" spc="105" dirty="0">
                <a:solidFill>
                  <a:srgbClr val="FFFFFF"/>
                </a:solidFill>
                <a:latin typeface="Microsoft JhengHei"/>
                <a:cs typeface="Microsoft JhengHei"/>
              </a:rPr>
              <a:t>S</a:t>
            </a: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sz="1400" spc="-65" dirty="0">
                <a:solidFill>
                  <a:srgbClr val="252525"/>
                </a:solidFill>
                <a:latin typeface="Arial Unicode MS"/>
                <a:cs typeface="Arial Unicode MS"/>
              </a:rPr>
              <a:t>T</a:t>
            </a:r>
            <a:r>
              <a:rPr sz="1400" spc="140" dirty="0">
                <a:solidFill>
                  <a:srgbClr val="252525"/>
                </a:solidFill>
                <a:latin typeface="Arial Unicode MS"/>
                <a:cs typeface="Arial Unicode MS"/>
              </a:rPr>
              <a:t>M</a:t>
            </a:r>
            <a:r>
              <a:rPr sz="1400" spc="-15" dirty="0">
                <a:solidFill>
                  <a:srgbClr val="252525"/>
                </a:solidFill>
                <a:latin typeface="Arial Unicode MS"/>
                <a:cs typeface="Arial Unicode MS"/>
              </a:rPr>
              <a:t>S</a:t>
            </a: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系统对出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园</a:t>
            </a:r>
            <a:endParaRPr sz="1400">
              <a:latin typeface="Arial Unicode MS"/>
              <a:cs typeface="Arial Unicode MS"/>
            </a:endParaRPr>
          </a:p>
          <a:p>
            <a:pPr marL="661670">
              <a:lnSpc>
                <a:spcPct val="100000"/>
              </a:lnSpc>
              <a:spcBef>
                <a:spcPts val="334"/>
              </a:spcBef>
            </a:pP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车辆进行核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查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17820" y="1336547"/>
            <a:ext cx="539496" cy="5394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95491" y="1401355"/>
            <a:ext cx="127063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900"/>
              </a:lnSpc>
            </a:pP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车辆装货完成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后 </a:t>
            </a: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告知</a:t>
            </a:r>
            <a:r>
              <a:rPr sz="1400" spc="-65" dirty="0">
                <a:solidFill>
                  <a:srgbClr val="252525"/>
                </a:solidFill>
                <a:latin typeface="Arial Unicode MS"/>
                <a:cs typeface="Arial Unicode MS"/>
              </a:rPr>
              <a:t>T</a:t>
            </a:r>
            <a:r>
              <a:rPr sz="1400" spc="140" dirty="0">
                <a:solidFill>
                  <a:srgbClr val="252525"/>
                </a:solidFill>
                <a:latin typeface="Arial Unicode MS"/>
                <a:cs typeface="Arial Unicode MS"/>
              </a:rPr>
              <a:t>M</a:t>
            </a:r>
            <a:r>
              <a:rPr sz="1400" spc="-15" dirty="0">
                <a:solidFill>
                  <a:srgbClr val="252525"/>
                </a:solidFill>
                <a:latin typeface="Arial Unicode MS"/>
                <a:cs typeface="Arial Unicode MS"/>
              </a:rPr>
              <a:t>S</a:t>
            </a: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系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统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8479" y="1720900"/>
            <a:ext cx="3611549" cy="18582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8479" y="3660698"/>
            <a:ext cx="3611549" cy="18581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19040" y="1286878"/>
            <a:ext cx="0" cy="4585970"/>
          </a:xfrm>
          <a:custGeom>
            <a:avLst/>
            <a:gdLst/>
            <a:ahLst/>
            <a:cxnLst/>
            <a:rect l="l" t="t" r="r" b="b"/>
            <a:pathLst>
              <a:path h="4585970">
                <a:moveTo>
                  <a:pt x="0" y="0"/>
                </a:moveTo>
                <a:lnTo>
                  <a:pt x="0" y="4585601"/>
                </a:lnTo>
              </a:path>
            </a:pathLst>
          </a:custGeom>
          <a:ln w="889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10328" y="2029967"/>
            <a:ext cx="216535" cy="360045"/>
          </a:xfrm>
          <a:custGeom>
            <a:avLst/>
            <a:gdLst/>
            <a:ahLst/>
            <a:cxnLst/>
            <a:rect l="l" t="t" r="r" b="b"/>
            <a:pathLst>
              <a:path w="216535" h="360044">
                <a:moveTo>
                  <a:pt x="163068" y="251459"/>
                </a:moveTo>
                <a:lnTo>
                  <a:pt x="54863" y="251459"/>
                </a:lnTo>
                <a:lnTo>
                  <a:pt x="54863" y="0"/>
                </a:lnTo>
                <a:lnTo>
                  <a:pt x="108204" y="53339"/>
                </a:lnTo>
                <a:lnTo>
                  <a:pt x="163068" y="53339"/>
                </a:lnTo>
                <a:lnTo>
                  <a:pt x="163068" y="251459"/>
                </a:lnTo>
                <a:close/>
              </a:path>
              <a:path w="216535" h="360044">
                <a:moveTo>
                  <a:pt x="163068" y="53339"/>
                </a:moveTo>
                <a:lnTo>
                  <a:pt x="108204" y="53339"/>
                </a:lnTo>
                <a:lnTo>
                  <a:pt x="163068" y="0"/>
                </a:lnTo>
                <a:lnTo>
                  <a:pt x="163068" y="53339"/>
                </a:lnTo>
                <a:close/>
              </a:path>
              <a:path w="216535" h="360044">
                <a:moveTo>
                  <a:pt x="108204" y="359663"/>
                </a:moveTo>
                <a:lnTo>
                  <a:pt x="0" y="251459"/>
                </a:lnTo>
                <a:lnTo>
                  <a:pt x="216408" y="251459"/>
                </a:lnTo>
                <a:lnTo>
                  <a:pt x="108204" y="359663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88039" y="2006879"/>
            <a:ext cx="262255" cy="396875"/>
          </a:xfrm>
          <a:custGeom>
            <a:avLst/>
            <a:gdLst/>
            <a:ahLst/>
            <a:cxnLst/>
            <a:rect l="l" t="t" r="r" b="b"/>
            <a:pathLst>
              <a:path w="262254" h="396875">
                <a:moveTo>
                  <a:pt x="67475" y="274993"/>
                </a:moveTo>
                <a:lnTo>
                  <a:pt x="67475" y="0"/>
                </a:lnTo>
                <a:lnTo>
                  <a:pt x="90474" y="22999"/>
                </a:lnTo>
                <a:lnTo>
                  <a:pt x="86525" y="22999"/>
                </a:lnTo>
                <a:lnTo>
                  <a:pt x="70269" y="29730"/>
                </a:lnTo>
                <a:lnTo>
                  <a:pt x="86525" y="45986"/>
                </a:lnTo>
                <a:lnTo>
                  <a:pt x="86525" y="265468"/>
                </a:lnTo>
                <a:lnTo>
                  <a:pt x="77000" y="265468"/>
                </a:lnTo>
                <a:lnTo>
                  <a:pt x="67475" y="274993"/>
                </a:lnTo>
                <a:close/>
              </a:path>
              <a:path w="262254" h="396875">
                <a:moveTo>
                  <a:pt x="151206" y="70256"/>
                </a:moveTo>
                <a:lnTo>
                  <a:pt x="137731" y="70256"/>
                </a:lnTo>
                <a:lnTo>
                  <a:pt x="131000" y="63525"/>
                </a:lnTo>
                <a:lnTo>
                  <a:pt x="194525" y="0"/>
                </a:lnTo>
                <a:lnTo>
                  <a:pt x="194525" y="22999"/>
                </a:lnTo>
                <a:lnTo>
                  <a:pt x="175475" y="22999"/>
                </a:lnTo>
                <a:lnTo>
                  <a:pt x="175475" y="45986"/>
                </a:lnTo>
                <a:lnTo>
                  <a:pt x="151206" y="70256"/>
                </a:lnTo>
                <a:close/>
              </a:path>
              <a:path w="262254" h="396875">
                <a:moveTo>
                  <a:pt x="86525" y="45986"/>
                </a:moveTo>
                <a:lnTo>
                  <a:pt x="70269" y="29730"/>
                </a:lnTo>
                <a:lnTo>
                  <a:pt x="86525" y="22999"/>
                </a:lnTo>
                <a:lnTo>
                  <a:pt x="86525" y="45986"/>
                </a:lnTo>
                <a:close/>
              </a:path>
              <a:path w="262254" h="396875">
                <a:moveTo>
                  <a:pt x="131000" y="90462"/>
                </a:moveTo>
                <a:lnTo>
                  <a:pt x="86525" y="45986"/>
                </a:lnTo>
                <a:lnTo>
                  <a:pt x="86525" y="22999"/>
                </a:lnTo>
                <a:lnTo>
                  <a:pt x="90474" y="22999"/>
                </a:lnTo>
                <a:lnTo>
                  <a:pt x="131000" y="63525"/>
                </a:lnTo>
                <a:lnTo>
                  <a:pt x="124269" y="70256"/>
                </a:lnTo>
                <a:lnTo>
                  <a:pt x="151206" y="70256"/>
                </a:lnTo>
                <a:lnTo>
                  <a:pt x="131000" y="90462"/>
                </a:lnTo>
                <a:close/>
              </a:path>
              <a:path w="262254" h="396875">
                <a:moveTo>
                  <a:pt x="175475" y="45986"/>
                </a:moveTo>
                <a:lnTo>
                  <a:pt x="175475" y="22999"/>
                </a:lnTo>
                <a:lnTo>
                  <a:pt x="191731" y="29730"/>
                </a:lnTo>
                <a:lnTo>
                  <a:pt x="175475" y="45986"/>
                </a:lnTo>
                <a:close/>
              </a:path>
              <a:path w="262254" h="396875">
                <a:moveTo>
                  <a:pt x="216014" y="284518"/>
                </a:moveTo>
                <a:lnTo>
                  <a:pt x="175475" y="284518"/>
                </a:lnTo>
                <a:lnTo>
                  <a:pt x="175475" y="45986"/>
                </a:lnTo>
                <a:lnTo>
                  <a:pt x="191731" y="29730"/>
                </a:lnTo>
                <a:lnTo>
                  <a:pt x="175475" y="22999"/>
                </a:lnTo>
                <a:lnTo>
                  <a:pt x="194525" y="22999"/>
                </a:lnTo>
                <a:lnTo>
                  <a:pt x="194525" y="265468"/>
                </a:lnTo>
                <a:lnTo>
                  <a:pt x="185000" y="265468"/>
                </a:lnTo>
                <a:lnTo>
                  <a:pt x="194525" y="274993"/>
                </a:lnTo>
                <a:lnTo>
                  <a:pt x="225539" y="274993"/>
                </a:lnTo>
                <a:lnTo>
                  <a:pt x="216014" y="284518"/>
                </a:lnTo>
                <a:close/>
              </a:path>
              <a:path w="262254" h="396875">
                <a:moveTo>
                  <a:pt x="137731" y="70256"/>
                </a:moveTo>
                <a:lnTo>
                  <a:pt x="124269" y="70256"/>
                </a:lnTo>
                <a:lnTo>
                  <a:pt x="131000" y="63525"/>
                </a:lnTo>
                <a:lnTo>
                  <a:pt x="137731" y="70256"/>
                </a:lnTo>
                <a:close/>
              </a:path>
              <a:path w="262254" h="396875">
                <a:moveTo>
                  <a:pt x="131000" y="396468"/>
                </a:moveTo>
                <a:lnTo>
                  <a:pt x="0" y="265468"/>
                </a:lnTo>
                <a:lnTo>
                  <a:pt x="67475" y="265468"/>
                </a:lnTo>
                <a:lnTo>
                  <a:pt x="67475" y="268262"/>
                </a:lnTo>
                <a:lnTo>
                  <a:pt x="29730" y="268262"/>
                </a:lnTo>
                <a:lnTo>
                  <a:pt x="22999" y="284518"/>
                </a:lnTo>
                <a:lnTo>
                  <a:pt x="45986" y="284518"/>
                </a:lnTo>
                <a:lnTo>
                  <a:pt x="131000" y="369531"/>
                </a:lnTo>
                <a:lnTo>
                  <a:pt x="124269" y="376262"/>
                </a:lnTo>
                <a:lnTo>
                  <a:pt x="151206" y="376262"/>
                </a:lnTo>
                <a:lnTo>
                  <a:pt x="131000" y="396468"/>
                </a:lnTo>
                <a:close/>
              </a:path>
              <a:path w="262254" h="396875">
                <a:moveTo>
                  <a:pt x="86525" y="274993"/>
                </a:moveTo>
                <a:lnTo>
                  <a:pt x="67475" y="274993"/>
                </a:lnTo>
                <a:lnTo>
                  <a:pt x="77000" y="265468"/>
                </a:lnTo>
                <a:lnTo>
                  <a:pt x="86525" y="265468"/>
                </a:lnTo>
                <a:lnTo>
                  <a:pt x="86525" y="274993"/>
                </a:lnTo>
                <a:close/>
              </a:path>
              <a:path w="262254" h="396875">
                <a:moveTo>
                  <a:pt x="194525" y="274993"/>
                </a:moveTo>
                <a:lnTo>
                  <a:pt x="185000" y="265468"/>
                </a:lnTo>
                <a:lnTo>
                  <a:pt x="194525" y="265468"/>
                </a:lnTo>
                <a:lnTo>
                  <a:pt x="194525" y="274993"/>
                </a:lnTo>
                <a:close/>
              </a:path>
              <a:path w="262254" h="396875">
                <a:moveTo>
                  <a:pt x="225539" y="274993"/>
                </a:moveTo>
                <a:lnTo>
                  <a:pt x="194525" y="274993"/>
                </a:lnTo>
                <a:lnTo>
                  <a:pt x="194525" y="265468"/>
                </a:lnTo>
                <a:lnTo>
                  <a:pt x="262000" y="265468"/>
                </a:lnTo>
                <a:lnTo>
                  <a:pt x="259206" y="268262"/>
                </a:lnTo>
                <a:lnTo>
                  <a:pt x="232270" y="268262"/>
                </a:lnTo>
                <a:lnTo>
                  <a:pt x="225539" y="274993"/>
                </a:lnTo>
                <a:close/>
              </a:path>
              <a:path w="262254" h="396875">
                <a:moveTo>
                  <a:pt x="45986" y="284518"/>
                </a:moveTo>
                <a:lnTo>
                  <a:pt x="22999" y="284518"/>
                </a:lnTo>
                <a:lnTo>
                  <a:pt x="29730" y="268262"/>
                </a:lnTo>
                <a:lnTo>
                  <a:pt x="45986" y="284518"/>
                </a:lnTo>
                <a:close/>
              </a:path>
              <a:path w="262254" h="396875">
                <a:moveTo>
                  <a:pt x="86525" y="284518"/>
                </a:moveTo>
                <a:lnTo>
                  <a:pt x="45986" y="284518"/>
                </a:lnTo>
                <a:lnTo>
                  <a:pt x="29730" y="268262"/>
                </a:lnTo>
                <a:lnTo>
                  <a:pt x="67475" y="268262"/>
                </a:lnTo>
                <a:lnTo>
                  <a:pt x="67475" y="274993"/>
                </a:lnTo>
                <a:lnTo>
                  <a:pt x="86525" y="274993"/>
                </a:lnTo>
                <a:lnTo>
                  <a:pt x="86525" y="284518"/>
                </a:lnTo>
                <a:close/>
              </a:path>
              <a:path w="262254" h="396875">
                <a:moveTo>
                  <a:pt x="151206" y="376262"/>
                </a:moveTo>
                <a:lnTo>
                  <a:pt x="137731" y="376262"/>
                </a:lnTo>
                <a:lnTo>
                  <a:pt x="131000" y="369531"/>
                </a:lnTo>
                <a:lnTo>
                  <a:pt x="232270" y="268262"/>
                </a:lnTo>
                <a:lnTo>
                  <a:pt x="239001" y="284518"/>
                </a:lnTo>
                <a:lnTo>
                  <a:pt x="242950" y="284518"/>
                </a:lnTo>
                <a:lnTo>
                  <a:pt x="151206" y="376262"/>
                </a:lnTo>
                <a:close/>
              </a:path>
              <a:path w="262254" h="396875">
                <a:moveTo>
                  <a:pt x="242950" y="284518"/>
                </a:moveTo>
                <a:lnTo>
                  <a:pt x="239001" y="284518"/>
                </a:lnTo>
                <a:lnTo>
                  <a:pt x="232270" y="268262"/>
                </a:lnTo>
                <a:lnTo>
                  <a:pt x="259206" y="268262"/>
                </a:lnTo>
                <a:lnTo>
                  <a:pt x="242950" y="284518"/>
                </a:lnTo>
                <a:close/>
              </a:path>
              <a:path w="262254" h="396875">
                <a:moveTo>
                  <a:pt x="137731" y="376262"/>
                </a:moveTo>
                <a:lnTo>
                  <a:pt x="124269" y="376262"/>
                </a:lnTo>
                <a:lnTo>
                  <a:pt x="131000" y="369531"/>
                </a:lnTo>
                <a:lnTo>
                  <a:pt x="137731" y="376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10328" y="3400044"/>
            <a:ext cx="216535" cy="360045"/>
          </a:xfrm>
          <a:custGeom>
            <a:avLst/>
            <a:gdLst/>
            <a:ahLst/>
            <a:cxnLst/>
            <a:rect l="l" t="t" r="r" b="b"/>
            <a:pathLst>
              <a:path w="216535" h="360045">
                <a:moveTo>
                  <a:pt x="163068" y="251459"/>
                </a:moveTo>
                <a:lnTo>
                  <a:pt x="54863" y="251459"/>
                </a:lnTo>
                <a:lnTo>
                  <a:pt x="54863" y="0"/>
                </a:lnTo>
                <a:lnTo>
                  <a:pt x="108204" y="53339"/>
                </a:lnTo>
                <a:lnTo>
                  <a:pt x="163068" y="53339"/>
                </a:lnTo>
                <a:lnTo>
                  <a:pt x="163068" y="251459"/>
                </a:lnTo>
                <a:close/>
              </a:path>
              <a:path w="216535" h="360045">
                <a:moveTo>
                  <a:pt x="163068" y="53339"/>
                </a:moveTo>
                <a:lnTo>
                  <a:pt x="108204" y="53339"/>
                </a:lnTo>
                <a:lnTo>
                  <a:pt x="163068" y="0"/>
                </a:lnTo>
                <a:lnTo>
                  <a:pt x="163068" y="53339"/>
                </a:lnTo>
                <a:close/>
              </a:path>
              <a:path w="216535" h="360045">
                <a:moveTo>
                  <a:pt x="108204" y="359663"/>
                </a:moveTo>
                <a:lnTo>
                  <a:pt x="0" y="251459"/>
                </a:lnTo>
                <a:lnTo>
                  <a:pt x="216408" y="251459"/>
                </a:lnTo>
                <a:lnTo>
                  <a:pt x="108204" y="359663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88039" y="3376688"/>
            <a:ext cx="262255" cy="396875"/>
          </a:xfrm>
          <a:custGeom>
            <a:avLst/>
            <a:gdLst/>
            <a:ahLst/>
            <a:cxnLst/>
            <a:rect l="l" t="t" r="r" b="b"/>
            <a:pathLst>
              <a:path w="262254" h="396875">
                <a:moveTo>
                  <a:pt x="67475" y="274993"/>
                </a:moveTo>
                <a:lnTo>
                  <a:pt x="67475" y="0"/>
                </a:lnTo>
                <a:lnTo>
                  <a:pt x="90462" y="22987"/>
                </a:lnTo>
                <a:lnTo>
                  <a:pt x="86525" y="22987"/>
                </a:lnTo>
                <a:lnTo>
                  <a:pt x="70269" y="29730"/>
                </a:lnTo>
                <a:lnTo>
                  <a:pt x="86525" y="45986"/>
                </a:lnTo>
                <a:lnTo>
                  <a:pt x="86525" y="265468"/>
                </a:lnTo>
                <a:lnTo>
                  <a:pt x="77000" y="265468"/>
                </a:lnTo>
                <a:lnTo>
                  <a:pt x="67475" y="274993"/>
                </a:lnTo>
                <a:close/>
              </a:path>
              <a:path w="262254" h="396875">
                <a:moveTo>
                  <a:pt x="151206" y="70256"/>
                </a:moveTo>
                <a:lnTo>
                  <a:pt x="137731" y="70256"/>
                </a:lnTo>
                <a:lnTo>
                  <a:pt x="131000" y="63525"/>
                </a:lnTo>
                <a:lnTo>
                  <a:pt x="194525" y="0"/>
                </a:lnTo>
                <a:lnTo>
                  <a:pt x="194525" y="22987"/>
                </a:lnTo>
                <a:lnTo>
                  <a:pt x="175475" y="22987"/>
                </a:lnTo>
                <a:lnTo>
                  <a:pt x="175475" y="45986"/>
                </a:lnTo>
                <a:lnTo>
                  <a:pt x="151206" y="70256"/>
                </a:lnTo>
                <a:close/>
              </a:path>
              <a:path w="262254" h="396875">
                <a:moveTo>
                  <a:pt x="86525" y="45986"/>
                </a:moveTo>
                <a:lnTo>
                  <a:pt x="70269" y="29730"/>
                </a:lnTo>
                <a:lnTo>
                  <a:pt x="86525" y="22987"/>
                </a:lnTo>
                <a:lnTo>
                  <a:pt x="86525" y="45986"/>
                </a:lnTo>
                <a:close/>
              </a:path>
              <a:path w="262254" h="396875">
                <a:moveTo>
                  <a:pt x="131000" y="90462"/>
                </a:moveTo>
                <a:lnTo>
                  <a:pt x="86525" y="45986"/>
                </a:lnTo>
                <a:lnTo>
                  <a:pt x="86525" y="22987"/>
                </a:lnTo>
                <a:lnTo>
                  <a:pt x="90462" y="22987"/>
                </a:lnTo>
                <a:lnTo>
                  <a:pt x="131000" y="63525"/>
                </a:lnTo>
                <a:lnTo>
                  <a:pt x="124269" y="70256"/>
                </a:lnTo>
                <a:lnTo>
                  <a:pt x="151206" y="70256"/>
                </a:lnTo>
                <a:lnTo>
                  <a:pt x="131000" y="90462"/>
                </a:lnTo>
                <a:close/>
              </a:path>
              <a:path w="262254" h="396875">
                <a:moveTo>
                  <a:pt x="175475" y="45986"/>
                </a:moveTo>
                <a:lnTo>
                  <a:pt x="175475" y="22987"/>
                </a:lnTo>
                <a:lnTo>
                  <a:pt x="191731" y="29730"/>
                </a:lnTo>
                <a:lnTo>
                  <a:pt x="175475" y="45986"/>
                </a:lnTo>
                <a:close/>
              </a:path>
              <a:path w="262254" h="396875">
                <a:moveTo>
                  <a:pt x="216014" y="284518"/>
                </a:moveTo>
                <a:lnTo>
                  <a:pt x="175475" y="284518"/>
                </a:lnTo>
                <a:lnTo>
                  <a:pt x="175475" y="45986"/>
                </a:lnTo>
                <a:lnTo>
                  <a:pt x="191731" y="29730"/>
                </a:lnTo>
                <a:lnTo>
                  <a:pt x="175475" y="22987"/>
                </a:lnTo>
                <a:lnTo>
                  <a:pt x="194525" y="22987"/>
                </a:lnTo>
                <a:lnTo>
                  <a:pt x="194525" y="265468"/>
                </a:lnTo>
                <a:lnTo>
                  <a:pt x="185000" y="265468"/>
                </a:lnTo>
                <a:lnTo>
                  <a:pt x="194525" y="274993"/>
                </a:lnTo>
                <a:lnTo>
                  <a:pt x="225539" y="274993"/>
                </a:lnTo>
                <a:lnTo>
                  <a:pt x="216014" y="284518"/>
                </a:lnTo>
                <a:close/>
              </a:path>
              <a:path w="262254" h="396875">
                <a:moveTo>
                  <a:pt x="137731" y="70256"/>
                </a:moveTo>
                <a:lnTo>
                  <a:pt x="124269" y="70256"/>
                </a:lnTo>
                <a:lnTo>
                  <a:pt x="131000" y="63525"/>
                </a:lnTo>
                <a:lnTo>
                  <a:pt x="137731" y="70256"/>
                </a:lnTo>
                <a:close/>
              </a:path>
              <a:path w="262254" h="396875">
                <a:moveTo>
                  <a:pt x="131000" y="396468"/>
                </a:moveTo>
                <a:lnTo>
                  <a:pt x="0" y="265468"/>
                </a:lnTo>
                <a:lnTo>
                  <a:pt x="67475" y="265468"/>
                </a:lnTo>
                <a:lnTo>
                  <a:pt x="67475" y="268262"/>
                </a:lnTo>
                <a:lnTo>
                  <a:pt x="29730" y="268262"/>
                </a:lnTo>
                <a:lnTo>
                  <a:pt x="22999" y="284518"/>
                </a:lnTo>
                <a:lnTo>
                  <a:pt x="45986" y="284518"/>
                </a:lnTo>
                <a:lnTo>
                  <a:pt x="131000" y="369531"/>
                </a:lnTo>
                <a:lnTo>
                  <a:pt x="124269" y="376262"/>
                </a:lnTo>
                <a:lnTo>
                  <a:pt x="151206" y="376262"/>
                </a:lnTo>
                <a:lnTo>
                  <a:pt x="131000" y="396468"/>
                </a:lnTo>
                <a:close/>
              </a:path>
              <a:path w="262254" h="396875">
                <a:moveTo>
                  <a:pt x="86525" y="274993"/>
                </a:moveTo>
                <a:lnTo>
                  <a:pt x="67475" y="274993"/>
                </a:lnTo>
                <a:lnTo>
                  <a:pt x="77000" y="265468"/>
                </a:lnTo>
                <a:lnTo>
                  <a:pt x="86525" y="265468"/>
                </a:lnTo>
                <a:lnTo>
                  <a:pt x="86525" y="274993"/>
                </a:lnTo>
                <a:close/>
              </a:path>
              <a:path w="262254" h="396875">
                <a:moveTo>
                  <a:pt x="194525" y="274993"/>
                </a:moveTo>
                <a:lnTo>
                  <a:pt x="185000" y="265468"/>
                </a:lnTo>
                <a:lnTo>
                  <a:pt x="194525" y="265468"/>
                </a:lnTo>
                <a:lnTo>
                  <a:pt x="194525" y="274993"/>
                </a:lnTo>
                <a:close/>
              </a:path>
              <a:path w="262254" h="396875">
                <a:moveTo>
                  <a:pt x="225539" y="274993"/>
                </a:moveTo>
                <a:lnTo>
                  <a:pt x="194525" y="274993"/>
                </a:lnTo>
                <a:lnTo>
                  <a:pt x="194525" y="265468"/>
                </a:lnTo>
                <a:lnTo>
                  <a:pt x="262000" y="265468"/>
                </a:lnTo>
                <a:lnTo>
                  <a:pt x="259206" y="268262"/>
                </a:lnTo>
                <a:lnTo>
                  <a:pt x="232270" y="268262"/>
                </a:lnTo>
                <a:lnTo>
                  <a:pt x="225539" y="274993"/>
                </a:lnTo>
                <a:close/>
              </a:path>
              <a:path w="262254" h="396875">
                <a:moveTo>
                  <a:pt x="45986" y="284518"/>
                </a:moveTo>
                <a:lnTo>
                  <a:pt x="22999" y="284518"/>
                </a:lnTo>
                <a:lnTo>
                  <a:pt x="29730" y="268262"/>
                </a:lnTo>
                <a:lnTo>
                  <a:pt x="45986" y="284518"/>
                </a:lnTo>
                <a:close/>
              </a:path>
              <a:path w="262254" h="396875">
                <a:moveTo>
                  <a:pt x="86525" y="284518"/>
                </a:moveTo>
                <a:lnTo>
                  <a:pt x="45986" y="284518"/>
                </a:lnTo>
                <a:lnTo>
                  <a:pt x="29730" y="268262"/>
                </a:lnTo>
                <a:lnTo>
                  <a:pt x="67475" y="268262"/>
                </a:lnTo>
                <a:lnTo>
                  <a:pt x="67475" y="274993"/>
                </a:lnTo>
                <a:lnTo>
                  <a:pt x="86525" y="274993"/>
                </a:lnTo>
                <a:lnTo>
                  <a:pt x="86525" y="284518"/>
                </a:lnTo>
                <a:close/>
              </a:path>
              <a:path w="262254" h="396875">
                <a:moveTo>
                  <a:pt x="151206" y="376262"/>
                </a:moveTo>
                <a:lnTo>
                  <a:pt x="137731" y="376262"/>
                </a:lnTo>
                <a:lnTo>
                  <a:pt x="131000" y="369531"/>
                </a:lnTo>
                <a:lnTo>
                  <a:pt x="232270" y="268262"/>
                </a:lnTo>
                <a:lnTo>
                  <a:pt x="239001" y="284518"/>
                </a:lnTo>
                <a:lnTo>
                  <a:pt x="242950" y="284518"/>
                </a:lnTo>
                <a:lnTo>
                  <a:pt x="151206" y="376262"/>
                </a:lnTo>
                <a:close/>
              </a:path>
              <a:path w="262254" h="396875">
                <a:moveTo>
                  <a:pt x="242950" y="284518"/>
                </a:moveTo>
                <a:lnTo>
                  <a:pt x="239001" y="284518"/>
                </a:lnTo>
                <a:lnTo>
                  <a:pt x="232270" y="268262"/>
                </a:lnTo>
                <a:lnTo>
                  <a:pt x="259206" y="268262"/>
                </a:lnTo>
                <a:lnTo>
                  <a:pt x="242950" y="284518"/>
                </a:lnTo>
                <a:close/>
              </a:path>
              <a:path w="262254" h="396875">
                <a:moveTo>
                  <a:pt x="137731" y="376262"/>
                </a:moveTo>
                <a:lnTo>
                  <a:pt x="124269" y="376262"/>
                </a:lnTo>
                <a:lnTo>
                  <a:pt x="131000" y="369531"/>
                </a:lnTo>
                <a:lnTo>
                  <a:pt x="137731" y="376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10328" y="4770120"/>
            <a:ext cx="216535" cy="360045"/>
          </a:xfrm>
          <a:custGeom>
            <a:avLst/>
            <a:gdLst/>
            <a:ahLst/>
            <a:cxnLst/>
            <a:rect l="l" t="t" r="r" b="b"/>
            <a:pathLst>
              <a:path w="216535" h="360045">
                <a:moveTo>
                  <a:pt x="163068" y="251459"/>
                </a:moveTo>
                <a:lnTo>
                  <a:pt x="54863" y="251459"/>
                </a:lnTo>
                <a:lnTo>
                  <a:pt x="54863" y="0"/>
                </a:lnTo>
                <a:lnTo>
                  <a:pt x="108204" y="53339"/>
                </a:lnTo>
                <a:lnTo>
                  <a:pt x="163068" y="53339"/>
                </a:lnTo>
                <a:lnTo>
                  <a:pt x="163068" y="251459"/>
                </a:lnTo>
                <a:close/>
              </a:path>
              <a:path w="216535" h="360045">
                <a:moveTo>
                  <a:pt x="163068" y="53339"/>
                </a:moveTo>
                <a:lnTo>
                  <a:pt x="108204" y="53339"/>
                </a:lnTo>
                <a:lnTo>
                  <a:pt x="163068" y="0"/>
                </a:lnTo>
                <a:lnTo>
                  <a:pt x="163068" y="53339"/>
                </a:lnTo>
                <a:close/>
              </a:path>
              <a:path w="216535" h="360045">
                <a:moveTo>
                  <a:pt x="108204" y="359663"/>
                </a:moveTo>
                <a:lnTo>
                  <a:pt x="0" y="251459"/>
                </a:lnTo>
                <a:lnTo>
                  <a:pt x="216408" y="251459"/>
                </a:lnTo>
                <a:lnTo>
                  <a:pt x="108204" y="359663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88039" y="4746497"/>
            <a:ext cx="262255" cy="396875"/>
          </a:xfrm>
          <a:custGeom>
            <a:avLst/>
            <a:gdLst/>
            <a:ahLst/>
            <a:cxnLst/>
            <a:rect l="l" t="t" r="r" b="b"/>
            <a:pathLst>
              <a:path w="262254" h="396875">
                <a:moveTo>
                  <a:pt x="67475" y="274993"/>
                </a:moveTo>
                <a:lnTo>
                  <a:pt x="67475" y="0"/>
                </a:lnTo>
                <a:lnTo>
                  <a:pt x="90462" y="22987"/>
                </a:lnTo>
                <a:lnTo>
                  <a:pt x="86525" y="22987"/>
                </a:lnTo>
                <a:lnTo>
                  <a:pt x="70269" y="29730"/>
                </a:lnTo>
                <a:lnTo>
                  <a:pt x="86525" y="45986"/>
                </a:lnTo>
                <a:lnTo>
                  <a:pt x="86525" y="265468"/>
                </a:lnTo>
                <a:lnTo>
                  <a:pt x="77000" y="265468"/>
                </a:lnTo>
                <a:lnTo>
                  <a:pt x="67475" y="274993"/>
                </a:lnTo>
                <a:close/>
              </a:path>
              <a:path w="262254" h="396875">
                <a:moveTo>
                  <a:pt x="151206" y="70256"/>
                </a:moveTo>
                <a:lnTo>
                  <a:pt x="137731" y="70256"/>
                </a:lnTo>
                <a:lnTo>
                  <a:pt x="131000" y="63525"/>
                </a:lnTo>
                <a:lnTo>
                  <a:pt x="194525" y="0"/>
                </a:lnTo>
                <a:lnTo>
                  <a:pt x="194525" y="22987"/>
                </a:lnTo>
                <a:lnTo>
                  <a:pt x="175475" y="22987"/>
                </a:lnTo>
                <a:lnTo>
                  <a:pt x="175475" y="45986"/>
                </a:lnTo>
                <a:lnTo>
                  <a:pt x="151206" y="70256"/>
                </a:lnTo>
                <a:close/>
              </a:path>
              <a:path w="262254" h="396875">
                <a:moveTo>
                  <a:pt x="86525" y="45986"/>
                </a:moveTo>
                <a:lnTo>
                  <a:pt x="70269" y="29730"/>
                </a:lnTo>
                <a:lnTo>
                  <a:pt x="86525" y="22987"/>
                </a:lnTo>
                <a:lnTo>
                  <a:pt x="86525" y="45986"/>
                </a:lnTo>
                <a:close/>
              </a:path>
              <a:path w="262254" h="396875">
                <a:moveTo>
                  <a:pt x="131000" y="90462"/>
                </a:moveTo>
                <a:lnTo>
                  <a:pt x="86525" y="45986"/>
                </a:lnTo>
                <a:lnTo>
                  <a:pt x="86525" y="22987"/>
                </a:lnTo>
                <a:lnTo>
                  <a:pt x="90462" y="22987"/>
                </a:lnTo>
                <a:lnTo>
                  <a:pt x="131000" y="63525"/>
                </a:lnTo>
                <a:lnTo>
                  <a:pt x="124269" y="70256"/>
                </a:lnTo>
                <a:lnTo>
                  <a:pt x="151206" y="70256"/>
                </a:lnTo>
                <a:lnTo>
                  <a:pt x="131000" y="90462"/>
                </a:lnTo>
                <a:close/>
              </a:path>
              <a:path w="262254" h="396875">
                <a:moveTo>
                  <a:pt x="175475" y="45986"/>
                </a:moveTo>
                <a:lnTo>
                  <a:pt x="175475" y="22987"/>
                </a:lnTo>
                <a:lnTo>
                  <a:pt x="191731" y="29730"/>
                </a:lnTo>
                <a:lnTo>
                  <a:pt x="175475" y="45986"/>
                </a:lnTo>
                <a:close/>
              </a:path>
              <a:path w="262254" h="396875">
                <a:moveTo>
                  <a:pt x="216014" y="284518"/>
                </a:moveTo>
                <a:lnTo>
                  <a:pt x="175475" y="284518"/>
                </a:lnTo>
                <a:lnTo>
                  <a:pt x="175475" y="45986"/>
                </a:lnTo>
                <a:lnTo>
                  <a:pt x="191731" y="29730"/>
                </a:lnTo>
                <a:lnTo>
                  <a:pt x="175475" y="22987"/>
                </a:lnTo>
                <a:lnTo>
                  <a:pt x="194525" y="22987"/>
                </a:lnTo>
                <a:lnTo>
                  <a:pt x="194525" y="265468"/>
                </a:lnTo>
                <a:lnTo>
                  <a:pt x="185000" y="265468"/>
                </a:lnTo>
                <a:lnTo>
                  <a:pt x="194525" y="274993"/>
                </a:lnTo>
                <a:lnTo>
                  <a:pt x="225539" y="274993"/>
                </a:lnTo>
                <a:lnTo>
                  <a:pt x="216014" y="284518"/>
                </a:lnTo>
                <a:close/>
              </a:path>
              <a:path w="262254" h="396875">
                <a:moveTo>
                  <a:pt x="137731" y="70256"/>
                </a:moveTo>
                <a:lnTo>
                  <a:pt x="124269" y="70256"/>
                </a:lnTo>
                <a:lnTo>
                  <a:pt x="131000" y="63525"/>
                </a:lnTo>
                <a:lnTo>
                  <a:pt x="137731" y="70256"/>
                </a:lnTo>
                <a:close/>
              </a:path>
              <a:path w="262254" h="396875">
                <a:moveTo>
                  <a:pt x="131000" y="396468"/>
                </a:moveTo>
                <a:lnTo>
                  <a:pt x="0" y="265468"/>
                </a:lnTo>
                <a:lnTo>
                  <a:pt x="67475" y="265468"/>
                </a:lnTo>
                <a:lnTo>
                  <a:pt x="67475" y="268262"/>
                </a:lnTo>
                <a:lnTo>
                  <a:pt x="29730" y="268262"/>
                </a:lnTo>
                <a:lnTo>
                  <a:pt x="22999" y="284518"/>
                </a:lnTo>
                <a:lnTo>
                  <a:pt x="45986" y="284518"/>
                </a:lnTo>
                <a:lnTo>
                  <a:pt x="131000" y="369531"/>
                </a:lnTo>
                <a:lnTo>
                  <a:pt x="124269" y="376262"/>
                </a:lnTo>
                <a:lnTo>
                  <a:pt x="151206" y="376262"/>
                </a:lnTo>
                <a:lnTo>
                  <a:pt x="131000" y="396468"/>
                </a:lnTo>
                <a:close/>
              </a:path>
              <a:path w="262254" h="396875">
                <a:moveTo>
                  <a:pt x="86525" y="274993"/>
                </a:moveTo>
                <a:lnTo>
                  <a:pt x="67475" y="274993"/>
                </a:lnTo>
                <a:lnTo>
                  <a:pt x="77000" y="265468"/>
                </a:lnTo>
                <a:lnTo>
                  <a:pt x="86525" y="265468"/>
                </a:lnTo>
                <a:lnTo>
                  <a:pt x="86525" y="274993"/>
                </a:lnTo>
                <a:close/>
              </a:path>
              <a:path w="262254" h="396875">
                <a:moveTo>
                  <a:pt x="194525" y="274993"/>
                </a:moveTo>
                <a:lnTo>
                  <a:pt x="185000" y="265468"/>
                </a:lnTo>
                <a:lnTo>
                  <a:pt x="194525" y="265468"/>
                </a:lnTo>
                <a:lnTo>
                  <a:pt x="194525" y="274993"/>
                </a:lnTo>
                <a:close/>
              </a:path>
              <a:path w="262254" h="396875">
                <a:moveTo>
                  <a:pt x="225539" y="274993"/>
                </a:moveTo>
                <a:lnTo>
                  <a:pt x="194525" y="274993"/>
                </a:lnTo>
                <a:lnTo>
                  <a:pt x="194525" y="265468"/>
                </a:lnTo>
                <a:lnTo>
                  <a:pt x="262000" y="265468"/>
                </a:lnTo>
                <a:lnTo>
                  <a:pt x="259206" y="268262"/>
                </a:lnTo>
                <a:lnTo>
                  <a:pt x="232270" y="268262"/>
                </a:lnTo>
                <a:lnTo>
                  <a:pt x="225539" y="274993"/>
                </a:lnTo>
                <a:close/>
              </a:path>
              <a:path w="262254" h="396875">
                <a:moveTo>
                  <a:pt x="45986" y="284518"/>
                </a:moveTo>
                <a:lnTo>
                  <a:pt x="22999" y="284518"/>
                </a:lnTo>
                <a:lnTo>
                  <a:pt x="29730" y="268262"/>
                </a:lnTo>
                <a:lnTo>
                  <a:pt x="45986" y="284518"/>
                </a:lnTo>
                <a:close/>
              </a:path>
              <a:path w="262254" h="396875">
                <a:moveTo>
                  <a:pt x="86525" y="284518"/>
                </a:moveTo>
                <a:lnTo>
                  <a:pt x="45986" y="284518"/>
                </a:lnTo>
                <a:lnTo>
                  <a:pt x="29730" y="268262"/>
                </a:lnTo>
                <a:lnTo>
                  <a:pt x="67475" y="268262"/>
                </a:lnTo>
                <a:lnTo>
                  <a:pt x="67475" y="274993"/>
                </a:lnTo>
                <a:lnTo>
                  <a:pt x="86525" y="274993"/>
                </a:lnTo>
                <a:lnTo>
                  <a:pt x="86525" y="284518"/>
                </a:lnTo>
                <a:close/>
              </a:path>
              <a:path w="262254" h="396875">
                <a:moveTo>
                  <a:pt x="151206" y="376262"/>
                </a:moveTo>
                <a:lnTo>
                  <a:pt x="137731" y="376262"/>
                </a:lnTo>
                <a:lnTo>
                  <a:pt x="131000" y="369531"/>
                </a:lnTo>
                <a:lnTo>
                  <a:pt x="232270" y="268262"/>
                </a:lnTo>
                <a:lnTo>
                  <a:pt x="239001" y="284518"/>
                </a:lnTo>
                <a:lnTo>
                  <a:pt x="242950" y="284518"/>
                </a:lnTo>
                <a:lnTo>
                  <a:pt x="151206" y="376262"/>
                </a:lnTo>
                <a:close/>
              </a:path>
              <a:path w="262254" h="396875">
                <a:moveTo>
                  <a:pt x="242950" y="284518"/>
                </a:moveTo>
                <a:lnTo>
                  <a:pt x="239001" y="284518"/>
                </a:lnTo>
                <a:lnTo>
                  <a:pt x="232270" y="268262"/>
                </a:lnTo>
                <a:lnTo>
                  <a:pt x="259206" y="268262"/>
                </a:lnTo>
                <a:lnTo>
                  <a:pt x="242950" y="284518"/>
                </a:lnTo>
                <a:close/>
              </a:path>
              <a:path w="262254" h="396875">
                <a:moveTo>
                  <a:pt x="137731" y="376262"/>
                </a:moveTo>
                <a:lnTo>
                  <a:pt x="124269" y="376262"/>
                </a:lnTo>
                <a:lnTo>
                  <a:pt x="131000" y="369531"/>
                </a:lnTo>
                <a:lnTo>
                  <a:pt x="137731" y="376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035658" y="2302268"/>
            <a:ext cx="351599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900"/>
              </a:lnSpc>
            </a:pPr>
            <a:r>
              <a:rPr sz="1400" spc="-45" dirty="0">
                <a:solidFill>
                  <a:srgbClr val="404040"/>
                </a:solidFill>
                <a:latin typeface="Arial Unicode MS"/>
                <a:cs typeface="Arial Unicode MS"/>
              </a:rPr>
              <a:t>Y</a:t>
            </a:r>
            <a:r>
              <a:rPr sz="1400" spc="140" dirty="0">
                <a:solidFill>
                  <a:srgbClr val="404040"/>
                </a:solidFill>
                <a:latin typeface="Arial Unicode MS"/>
                <a:cs typeface="Arial Unicode MS"/>
              </a:rPr>
              <a:t>M</a:t>
            </a:r>
            <a:r>
              <a:rPr sz="1400" spc="-15" dirty="0">
                <a:solidFill>
                  <a:srgbClr val="404040"/>
                </a:solidFill>
                <a:latin typeface="Arial Unicode MS"/>
                <a:cs typeface="Arial Unicode MS"/>
              </a:rPr>
              <a:t>S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系统将装车情况同步给上游</a:t>
            </a:r>
            <a:r>
              <a:rPr sz="1400" spc="145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下游系统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同步发运业务的装车情况并请求核实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976616" y="3278123"/>
            <a:ext cx="3511550" cy="1667510"/>
          </a:xfrm>
          <a:custGeom>
            <a:avLst/>
            <a:gdLst/>
            <a:ahLst/>
            <a:cxnLst/>
            <a:rect l="l" t="t" r="r" b="b"/>
            <a:pathLst>
              <a:path w="3511550" h="1667510">
                <a:moveTo>
                  <a:pt x="871039" y="1667145"/>
                </a:moveTo>
                <a:lnTo>
                  <a:pt x="683575" y="1659449"/>
                </a:lnTo>
                <a:lnTo>
                  <a:pt x="477669" y="1642580"/>
                </a:lnTo>
                <a:lnTo>
                  <a:pt x="250689" y="1615542"/>
                </a:lnTo>
                <a:lnTo>
                  <a:pt x="0" y="1577339"/>
                </a:lnTo>
                <a:lnTo>
                  <a:pt x="0" y="0"/>
                </a:lnTo>
                <a:lnTo>
                  <a:pt x="3511295" y="0"/>
                </a:lnTo>
                <a:lnTo>
                  <a:pt x="3511295" y="1354836"/>
                </a:lnTo>
                <a:lnTo>
                  <a:pt x="3260747" y="1358556"/>
                </a:lnTo>
                <a:lnTo>
                  <a:pt x="3033893" y="1369028"/>
                </a:lnTo>
                <a:lnTo>
                  <a:pt x="2828099" y="1385256"/>
                </a:lnTo>
                <a:lnTo>
                  <a:pt x="2640732" y="1406244"/>
                </a:lnTo>
                <a:lnTo>
                  <a:pt x="2469158" y="1430998"/>
                </a:lnTo>
                <a:lnTo>
                  <a:pt x="2310744" y="1458522"/>
                </a:lnTo>
                <a:lnTo>
                  <a:pt x="2162857" y="1487820"/>
                </a:lnTo>
                <a:lnTo>
                  <a:pt x="1756019" y="1576411"/>
                </a:lnTo>
                <a:lnTo>
                  <a:pt x="1623903" y="1602855"/>
                </a:lnTo>
                <a:lnTo>
                  <a:pt x="1489146" y="1626098"/>
                </a:lnTo>
                <a:lnTo>
                  <a:pt x="1349114" y="1645143"/>
                </a:lnTo>
                <a:lnTo>
                  <a:pt x="1201175" y="1658996"/>
                </a:lnTo>
                <a:lnTo>
                  <a:pt x="1042694" y="1666662"/>
                </a:lnTo>
                <a:lnTo>
                  <a:pt x="871039" y="1667145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055978" y="3512044"/>
            <a:ext cx="3378200" cy="9188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8600"/>
              </a:lnSpc>
            </a:pPr>
            <a:r>
              <a:rPr sz="1400" b="1" dirty="0">
                <a:latin typeface="Microsoft JhengHei"/>
                <a:cs typeface="Microsoft JhengHei"/>
              </a:rPr>
              <a:t>核准信息： </a:t>
            </a: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装车凭证：提货单、装车单上传同步； 现场作业情况：装车照片、车辆照片； 物料情况：装车的物料情况，数量、实物照片等。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道闸管</a:t>
            </a:r>
            <a:r>
              <a:rPr spc="-30" dirty="0"/>
              <a:t>控</a:t>
            </a:r>
          </a:p>
        </p:txBody>
      </p:sp>
      <p:sp>
        <p:nvSpPr>
          <p:cNvPr id="3" name="object 3"/>
          <p:cNvSpPr/>
          <p:nvPr/>
        </p:nvSpPr>
        <p:spPr>
          <a:xfrm>
            <a:off x="7379207" y="1056132"/>
            <a:ext cx="646176" cy="576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02561" y="1201673"/>
            <a:ext cx="127063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900"/>
              </a:lnSpc>
            </a:pP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道闸识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别 </a:t>
            </a: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生成出入园申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请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37631" y="2231224"/>
            <a:ext cx="5735993" cy="28074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21982" y="5597512"/>
            <a:ext cx="269938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175">
              <a:lnSpc>
                <a:spcPct val="119900"/>
              </a:lnSpc>
            </a:pP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根据车辆作业情况，经过业务校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验 </a:t>
            </a: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可自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动</a:t>
            </a:r>
            <a:r>
              <a:rPr sz="1400" spc="60" dirty="0">
                <a:solidFill>
                  <a:srgbClr val="252525"/>
                </a:solidFill>
                <a:latin typeface="Arial Unicode MS"/>
                <a:cs typeface="Arial Unicode MS"/>
              </a:rPr>
              <a:t> </a:t>
            </a:r>
            <a:r>
              <a:rPr sz="1400" spc="150" dirty="0">
                <a:solidFill>
                  <a:srgbClr val="252525"/>
                </a:solidFill>
                <a:latin typeface="Arial Unicode MS"/>
                <a:cs typeface="Arial Unicode MS"/>
              </a:rPr>
              <a:t>/</a:t>
            </a:r>
            <a:r>
              <a:rPr sz="1400" spc="60" dirty="0">
                <a:solidFill>
                  <a:srgbClr val="252525"/>
                </a:solidFill>
                <a:latin typeface="Arial Unicode MS"/>
                <a:cs typeface="Arial Unicode MS"/>
              </a:rPr>
              <a:t> </a:t>
            </a:r>
            <a:r>
              <a:rPr sz="1400" spc="-5" dirty="0">
                <a:solidFill>
                  <a:srgbClr val="252525"/>
                </a:solidFill>
                <a:latin typeface="Arial Unicode MS"/>
                <a:cs typeface="Arial Unicode MS"/>
              </a:rPr>
              <a:t>人工开闸门，放车辆出</a:t>
            </a:r>
            <a:r>
              <a:rPr sz="1400" dirty="0">
                <a:solidFill>
                  <a:srgbClr val="252525"/>
                </a:solidFill>
                <a:latin typeface="Arial Unicode MS"/>
                <a:cs typeface="Arial Unicode MS"/>
              </a:rPr>
              <a:t>园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05546" y="1778000"/>
            <a:ext cx="332130" cy="4761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05546" y="5023954"/>
            <a:ext cx="332130" cy="4761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99108" y="2354757"/>
            <a:ext cx="3690708" cy="25604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6523" y="256031"/>
            <a:ext cx="2171700" cy="612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50847" y="2729483"/>
            <a:ext cx="9121140" cy="1225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0011" y="2903220"/>
            <a:ext cx="9121140" cy="1225550"/>
          </a:xfrm>
          <a:custGeom>
            <a:avLst/>
            <a:gdLst/>
            <a:ahLst/>
            <a:cxnLst/>
            <a:rect l="l" t="t" r="r" b="b"/>
            <a:pathLst>
              <a:path w="9121140" h="1225550">
                <a:moveTo>
                  <a:pt x="0" y="0"/>
                </a:moveTo>
                <a:lnTo>
                  <a:pt x="9121140" y="0"/>
                </a:lnTo>
                <a:lnTo>
                  <a:pt x="9121140" y="1225295"/>
                </a:lnTo>
                <a:lnTo>
                  <a:pt x="0" y="1225295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96967" y="3103649"/>
            <a:ext cx="1996439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b="1" spc="85">
                <a:latin typeface="微软雅黑" panose="020B0503020204020204" pitchFamily="34" charset="-122"/>
                <a:ea typeface="微软雅黑" panose="020B0503020204020204" pitchFamily="34" charset="-122"/>
                <a:cs typeface="Microsoft JhengHei"/>
              </a:rPr>
              <a:t>实施交付</a:t>
            </a:r>
            <a:r>
              <a:rPr sz="2500" b="1" spc="85"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zh-CN" altLang="en-US" sz="2500" b="1" spc="85">
                <a:latin typeface="微软雅黑" panose="020B0503020204020204" pitchFamily="34" charset="-122"/>
                <a:ea typeface="微软雅黑" panose="020B0503020204020204" pitchFamily="34" charset="-122"/>
              </a:rPr>
              <a:t>系</a:t>
            </a:r>
            <a:endParaRPr sz="2500" b="1" spc="8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6967" y="3540428"/>
            <a:ext cx="295846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75" dirty="0">
                <a:latin typeface="Arial Unicode MS"/>
                <a:cs typeface="Arial Unicode MS"/>
              </a:rPr>
              <a:t>完善园区管理机</a:t>
            </a:r>
            <a:r>
              <a:rPr sz="2800" spc="-30" dirty="0">
                <a:latin typeface="Arial Unicode MS"/>
                <a:cs typeface="Arial Unicode MS"/>
              </a:rPr>
              <a:t>制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85588" y="3491484"/>
            <a:ext cx="3348354" cy="0"/>
          </a:xfrm>
          <a:custGeom>
            <a:avLst/>
            <a:gdLst/>
            <a:ahLst/>
            <a:cxnLst/>
            <a:rect l="l" t="t" r="r" b="b"/>
            <a:pathLst>
              <a:path w="3348354">
                <a:moveTo>
                  <a:pt x="0" y="0"/>
                </a:moveTo>
                <a:lnTo>
                  <a:pt x="3348227" y="0"/>
                </a:lnTo>
              </a:path>
            </a:pathLst>
          </a:custGeom>
          <a:ln w="19557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41730" y="3045460"/>
            <a:ext cx="527303" cy="767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72715" y="3060699"/>
            <a:ext cx="549655" cy="736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系统部署方</a:t>
            </a:r>
            <a:r>
              <a:rPr spc="-30" dirty="0"/>
              <a:t>案</a:t>
            </a:r>
          </a:p>
        </p:txBody>
      </p:sp>
      <p:sp>
        <p:nvSpPr>
          <p:cNvPr id="3" name="object 3"/>
          <p:cNvSpPr/>
          <p:nvPr/>
        </p:nvSpPr>
        <p:spPr>
          <a:xfrm>
            <a:off x="624840" y="1476755"/>
            <a:ext cx="2592324" cy="4392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1055" y="1472704"/>
            <a:ext cx="2599690" cy="4394200"/>
          </a:xfrm>
          <a:custGeom>
            <a:avLst/>
            <a:gdLst/>
            <a:ahLst/>
            <a:cxnLst/>
            <a:rect l="l" t="t" r="r" b="b"/>
            <a:pathLst>
              <a:path w="2599690" h="4394200">
                <a:moveTo>
                  <a:pt x="135064" y="12699"/>
                </a:moveTo>
                <a:lnTo>
                  <a:pt x="108496" y="12699"/>
                </a:lnTo>
                <a:lnTo>
                  <a:pt x="116573" y="0"/>
                </a:lnTo>
                <a:lnTo>
                  <a:pt x="143471" y="0"/>
                </a:lnTo>
                <a:lnTo>
                  <a:pt x="135064" y="12699"/>
                </a:lnTo>
                <a:close/>
              </a:path>
              <a:path w="2599690" h="4394200">
                <a:moveTo>
                  <a:pt x="2491117" y="12699"/>
                </a:moveTo>
                <a:lnTo>
                  <a:pt x="2464549" y="12699"/>
                </a:lnTo>
                <a:lnTo>
                  <a:pt x="2456141" y="0"/>
                </a:lnTo>
                <a:lnTo>
                  <a:pt x="2483040" y="0"/>
                </a:lnTo>
                <a:lnTo>
                  <a:pt x="2491117" y="12699"/>
                </a:lnTo>
                <a:close/>
              </a:path>
              <a:path w="2599690" h="4394200">
                <a:moveTo>
                  <a:pt x="96520" y="25399"/>
                </a:moveTo>
                <a:lnTo>
                  <a:pt x="85521" y="25399"/>
                </a:lnTo>
                <a:lnTo>
                  <a:pt x="92964" y="12699"/>
                </a:lnTo>
                <a:lnTo>
                  <a:pt x="104012" y="12699"/>
                </a:lnTo>
                <a:lnTo>
                  <a:pt x="96520" y="25399"/>
                </a:lnTo>
                <a:close/>
              </a:path>
              <a:path w="2599690" h="4394200">
                <a:moveTo>
                  <a:pt x="2514079" y="25399"/>
                </a:moveTo>
                <a:lnTo>
                  <a:pt x="2503093" y="25399"/>
                </a:lnTo>
                <a:lnTo>
                  <a:pt x="2495588" y="12699"/>
                </a:lnTo>
                <a:lnTo>
                  <a:pt x="2506649" y="12699"/>
                </a:lnTo>
                <a:lnTo>
                  <a:pt x="2514079" y="25399"/>
                </a:lnTo>
                <a:close/>
              </a:path>
              <a:path w="2599690" h="4394200">
                <a:moveTo>
                  <a:pt x="75844" y="38099"/>
                </a:moveTo>
                <a:lnTo>
                  <a:pt x="64642" y="38099"/>
                </a:lnTo>
                <a:lnTo>
                  <a:pt x="71348" y="25399"/>
                </a:lnTo>
                <a:lnTo>
                  <a:pt x="82664" y="25399"/>
                </a:lnTo>
                <a:lnTo>
                  <a:pt x="75844" y="38099"/>
                </a:lnTo>
                <a:close/>
              </a:path>
              <a:path w="2599690" h="4394200">
                <a:moveTo>
                  <a:pt x="2534970" y="38099"/>
                </a:moveTo>
                <a:lnTo>
                  <a:pt x="2523769" y="38099"/>
                </a:lnTo>
                <a:lnTo>
                  <a:pt x="2516949" y="25399"/>
                </a:lnTo>
                <a:lnTo>
                  <a:pt x="2528252" y="25399"/>
                </a:lnTo>
                <a:lnTo>
                  <a:pt x="2534970" y="38099"/>
                </a:lnTo>
                <a:close/>
              </a:path>
              <a:path w="2599690" h="4394200">
                <a:moveTo>
                  <a:pt x="63258" y="50799"/>
                </a:moveTo>
                <a:lnTo>
                  <a:pt x="52031" y="50799"/>
                </a:lnTo>
                <a:lnTo>
                  <a:pt x="58204" y="38099"/>
                </a:lnTo>
                <a:lnTo>
                  <a:pt x="69557" y="38099"/>
                </a:lnTo>
                <a:lnTo>
                  <a:pt x="63258" y="50799"/>
                </a:lnTo>
                <a:close/>
              </a:path>
              <a:path w="2599690" h="4394200">
                <a:moveTo>
                  <a:pt x="2547581" y="50799"/>
                </a:moveTo>
                <a:lnTo>
                  <a:pt x="2536355" y="50799"/>
                </a:lnTo>
                <a:lnTo>
                  <a:pt x="2530043" y="38099"/>
                </a:lnTo>
                <a:lnTo>
                  <a:pt x="2541409" y="38099"/>
                </a:lnTo>
                <a:lnTo>
                  <a:pt x="2547581" y="50799"/>
                </a:lnTo>
                <a:close/>
              </a:path>
              <a:path w="2599690" h="4394200">
                <a:moveTo>
                  <a:pt x="46380" y="63499"/>
                </a:moveTo>
                <a:lnTo>
                  <a:pt x="40563" y="63499"/>
                </a:lnTo>
                <a:lnTo>
                  <a:pt x="46151" y="50799"/>
                </a:lnTo>
                <a:lnTo>
                  <a:pt x="51841" y="50799"/>
                </a:lnTo>
                <a:lnTo>
                  <a:pt x="46380" y="63499"/>
                </a:lnTo>
                <a:close/>
              </a:path>
              <a:path w="2599690" h="4394200">
                <a:moveTo>
                  <a:pt x="2559050" y="63499"/>
                </a:moveTo>
                <a:lnTo>
                  <a:pt x="2553233" y="63499"/>
                </a:lnTo>
                <a:lnTo>
                  <a:pt x="2547759" y="50799"/>
                </a:lnTo>
                <a:lnTo>
                  <a:pt x="2553462" y="50799"/>
                </a:lnTo>
                <a:lnTo>
                  <a:pt x="2559050" y="63499"/>
                </a:lnTo>
                <a:close/>
              </a:path>
              <a:path w="2599690" h="4394200">
                <a:moveTo>
                  <a:pt x="36601" y="76199"/>
                </a:moveTo>
                <a:lnTo>
                  <a:pt x="30340" y="76199"/>
                </a:lnTo>
                <a:lnTo>
                  <a:pt x="35293" y="63499"/>
                </a:lnTo>
                <a:lnTo>
                  <a:pt x="41452" y="63499"/>
                </a:lnTo>
                <a:lnTo>
                  <a:pt x="36601" y="76199"/>
                </a:lnTo>
                <a:close/>
              </a:path>
              <a:path w="2599690" h="4394200">
                <a:moveTo>
                  <a:pt x="2569273" y="76199"/>
                </a:moveTo>
                <a:lnTo>
                  <a:pt x="2563012" y="76199"/>
                </a:lnTo>
                <a:lnTo>
                  <a:pt x="2558161" y="63499"/>
                </a:lnTo>
                <a:lnTo>
                  <a:pt x="2564320" y="63499"/>
                </a:lnTo>
                <a:lnTo>
                  <a:pt x="2569273" y="76199"/>
                </a:lnTo>
                <a:close/>
              </a:path>
              <a:path w="2599690" h="4394200">
                <a:moveTo>
                  <a:pt x="32181" y="88899"/>
                </a:moveTo>
                <a:lnTo>
                  <a:pt x="21437" y="88899"/>
                </a:lnTo>
                <a:lnTo>
                  <a:pt x="25717" y="76199"/>
                </a:lnTo>
                <a:lnTo>
                  <a:pt x="36703" y="76199"/>
                </a:lnTo>
                <a:lnTo>
                  <a:pt x="32181" y="88899"/>
                </a:lnTo>
                <a:close/>
              </a:path>
              <a:path w="2599690" h="4394200">
                <a:moveTo>
                  <a:pt x="2578176" y="88899"/>
                </a:moveTo>
                <a:lnTo>
                  <a:pt x="2567432" y="88899"/>
                </a:lnTo>
                <a:lnTo>
                  <a:pt x="2562910" y="76199"/>
                </a:lnTo>
                <a:lnTo>
                  <a:pt x="2573896" y="76199"/>
                </a:lnTo>
                <a:lnTo>
                  <a:pt x="2578176" y="88899"/>
                </a:lnTo>
                <a:close/>
              </a:path>
              <a:path w="2599690" h="4394200">
                <a:moveTo>
                  <a:pt x="17894" y="114299"/>
                </a:moveTo>
                <a:lnTo>
                  <a:pt x="10769" y="114299"/>
                </a:lnTo>
                <a:lnTo>
                  <a:pt x="13957" y="101599"/>
                </a:lnTo>
                <a:lnTo>
                  <a:pt x="17513" y="88899"/>
                </a:lnTo>
                <a:lnTo>
                  <a:pt x="28181" y="88899"/>
                </a:lnTo>
                <a:lnTo>
                  <a:pt x="24345" y="101599"/>
                </a:lnTo>
                <a:lnTo>
                  <a:pt x="21005" y="101599"/>
                </a:lnTo>
                <a:lnTo>
                  <a:pt x="17894" y="114299"/>
                </a:lnTo>
                <a:close/>
              </a:path>
              <a:path w="2599690" h="4394200">
                <a:moveTo>
                  <a:pt x="2588831" y="114299"/>
                </a:moveTo>
                <a:lnTo>
                  <a:pt x="2581706" y="114299"/>
                </a:lnTo>
                <a:lnTo>
                  <a:pt x="2578595" y="101599"/>
                </a:lnTo>
                <a:lnTo>
                  <a:pt x="2575267" y="101599"/>
                </a:lnTo>
                <a:lnTo>
                  <a:pt x="2571432" y="88899"/>
                </a:lnTo>
                <a:lnTo>
                  <a:pt x="2582100" y="88899"/>
                </a:lnTo>
                <a:lnTo>
                  <a:pt x="2585656" y="101599"/>
                </a:lnTo>
                <a:lnTo>
                  <a:pt x="2588831" y="114299"/>
                </a:lnTo>
                <a:close/>
              </a:path>
              <a:path w="2599690" h="4394200">
                <a:moveTo>
                  <a:pt x="11048" y="139699"/>
                </a:moveTo>
                <a:lnTo>
                  <a:pt x="3606" y="139699"/>
                </a:lnTo>
                <a:lnTo>
                  <a:pt x="5587" y="126999"/>
                </a:lnTo>
                <a:lnTo>
                  <a:pt x="7988" y="114299"/>
                </a:lnTo>
                <a:lnTo>
                  <a:pt x="17957" y="114299"/>
                </a:lnTo>
                <a:lnTo>
                  <a:pt x="15227" y="126999"/>
                </a:lnTo>
                <a:lnTo>
                  <a:pt x="12992" y="126999"/>
                </a:lnTo>
                <a:lnTo>
                  <a:pt x="11048" y="139699"/>
                </a:lnTo>
                <a:close/>
              </a:path>
              <a:path w="2599690" h="4394200">
                <a:moveTo>
                  <a:pt x="2596007" y="139699"/>
                </a:moveTo>
                <a:lnTo>
                  <a:pt x="2588564" y="139699"/>
                </a:lnTo>
                <a:lnTo>
                  <a:pt x="2586621" y="126999"/>
                </a:lnTo>
                <a:lnTo>
                  <a:pt x="2584386" y="126999"/>
                </a:lnTo>
                <a:lnTo>
                  <a:pt x="2581643" y="114299"/>
                </a:lnTo>
                <a:lnTo>
                  <a:pt x="2591625" y="114299"/>
                </a:lnTo>
                <a:lnTo>
                  <a:pt x="2594025" y="126999"/>
                </a:lnTo>
                <a:lnTo>
                  <a:pt x="2596007" y="139699"/>
                </a:lnTo>
                <a:close/>
              </a:path>
              <a:path w="2599690" h="4394200">
                <a:moveTo>
                  <a:pt x="7835" y="165100"/>
                </a:moveTo>
                <a:lnTo>
                  <a:pt x="228" y="165100"/>
                </a:lnTo>
                <a:lnTo>
                  <a:pt x="914" y="152399"/>
                </a:lnTo>
                <a:lnTo>
                  <a:pt x="2044" y="139699"/>
                </a:lnTo>
                <a:lnTo>
                  <a:pt x="9588" y="139699"/>
                </a:lnTo>
                <a:lnTo>
                  <a:pt x="8483" y="152399"/>
                </a:lnTo>
                <a:lnTo>
                  <a:pt x="7835" y="165100"/>
                </a:lnTo>
                <a:close/>
              </a:path>
              <a:path w="2599690" h="4394200">
                <a:moveTo>
                  <a:pt x="2599385" y="165100"/>
                </a:moveTo>
                <a:lnTo>
                  <a:pt x="2591777" y="165100"/>
                </a:lnTo>
                <a:lnTo>
                  <a:pt x="2591104" y="152399"/>
                </a:lnTo>
                <a:lnTo>
                  <a:pt x="2590025" y="139699"/>
                </a:lnTo>
                <a:lnTo>
                  <a:pt x="2597569" y="139699"/>
                </a:lnTo>
                <a:lnTo>
                  <a:pt x="2598699" y="152399"/>
                </a:lnTo>
                <a:lnTo>
                  <a:pt x="2599385" y="165100"/>
                </a:lnTo>
                <a:close/>
              </a:path>
              <a:path w="2599690" h="4394200">
                <a:moveTo>
                  <a:pt x="7835" y="4229100"/>
                </a:moveTo>
                <a:lnTo>
                  <a:pt x="228" y="4229100"/>
                </a:lnTo>
                <a:lnTo>
                  <a:pt x="0" y="4216400"/>
                </a:lnTo>
                <a:lnTo>
                  <a:pt x="0" y="165100"/>
                </a:lnTo>
                <a:lnTo>
                  <a:pt x="7620" y="165100"/>
                </a:lnTo>
                <a:lnTo>
                  <a:pt x="7620" y="4216400"/>
                </a:lnTo>
                <a:lnTo>
                  <a:pt x="7835" y="4229100"/>
                </a:lnTo>
                <a:close/>
              </a:path>
              <a:path w="2599690" h="4394200">
                <a:moveTo>
                  <a:pt x="2599385" y="4229100"/>
                </a:moveTo>
                <a:lnTo>
                  <a:pt x="2591765" y="4229100"/>
                </a:lnTo>
                <a:lnTo>
                  <a:pt x="2591993" y="4216400"/>
                </a:lnTo>
                <a:lnTo>
                  <a:pt x="2591993" y="165100"/>
                </a:lnTo>
                <a:lnTo>
                  <a:pt x="2599613" y="165100"/>
                </a:lnTo>
                <a:lnTo>
                  <a:pt x="2599613" y="4216400"/>
                </a:lnTo>
                <a:lnTo>
                  <a:pt x="2599385" y="4229100"/>
                </a:lnTo>
                <a:close/>
              </a:path>
              <a:path w="2599690" h="4394200">
                <a:moveTo>
                  <a:pt x="11087" y="4254500"/>
                </a:moveTo>
                <a:lnTo>
                  <a:pt x="3606" y="4254500"/>
                </a:lnTo>
                <a:lnTo>
                  <a:pt x="2044" y="4241800"/>
                </a:lnTo>
                <a:lnTo>
                  <a:pt x="914" y="4229100"/>
                </a:lnTo>
                <a:lnTo>
                  <a:pt x="8483" y="4229100"/>
                </a:lnTo>
                <a:lnTo>
                  <a:pt x="9588" y="4241800"/>
                </a:lnTo>
                <a:lnTo>
                  <a:pt x="11087" y="4254500"/>
                </a:lnTo>
                <a:close/>
              </a:path>
              <a:path w="2599690" h="4394200">
                <a:moveTo>
                  <a:pt x="2596007" y="4254500"/>
                </a:moveTo>
                <a:lnTo>
                  <a:pt x="2588526" y="4254500"/>
                </a:lnTo>
                <a:lnTo>
                  <a:pt x="2590050" y="4241800"/>
                </a:lnTo>
                <a:lnTo>
                  <a:pt x="2591130" y="4229100"/>
                </a:lnTo>
                <a:lnTo>
                  <a:pt x="2598699" y="4229100"/>
                </a:lnTo>
                <a:lnTo>
                  <a:pt x="2597569" y="4241800"/>
                </a:lnTo>
                <a:lnTo>
                  <a:pt x="2596007" y="4254500"/>
                </a:lnTo>
                <a:close/>
              </a:path>
              <a:path w="2599690" h="4394200">
                <a:moveTo>
                  <a:pt x="17957" y="4279900"/>
                </a:moveTo>
                <a:lnTo>
                  <a:pt x="10769" y="4279900"/>
                </a:lnTo>
                <a:lnTo>
                  <a:pt x="7988" y="4267200"/>
                </a:lnTo>
                <a:lnTo>
                  <a:pt x="5587" y="4254500"/>
                </a:lnTo>
                <a:lnTo>
                  <a:pt x="12941" y="4254500"/>
                </a:lnTo>
                <a:lnTo>
                  <a:pt x="15290" y="4267200"/>
                </a:lnTo>
                <a:lnTo>
                  <a:pt x="17957" y="4279900"/>
                </a:lnTo>
                <a:close/>
              </a:path>
              <a:path w="2599690" h="4394200">
                <a:moveTo>
                  <a:pt x="2588831" y="4279900"/>
                </a:moveTo>
                <a:lnTo>
                  <a:pt x="2581643" y="4279900"/>
                </a:lnTo>
                <a:lnTo>
                  <a:pt x="2584386" y="4267200"/>
                </a:lnTo>
                <a:lnTo>
                  <a:pt x="2586672" y="4254500"/>
                </a:lnTo>
                <a:lnTo>
                  <a:pt x="2594025" y="4254500"/>
                </a:lnTo>
                <a:lnTo>
                  <a:pt x="2591625" y="4267200"/>
                </a:lnTo>
                <a:lnTo>
                  <a:pt x="2588831" y="4279900"/>
                </a:lnTo>
                <a:close/>
              </a:path>
              <a:path w="2599690" h="4394200">
                <a:moveTo>
                  <a:pt x="32270" y="4305300"/>
                </a:moveTo>
                <a:lnTo>
                  <a:pt x="21437" y="4305300"/>
                </a:lnTo>
                <a:lnTo>
                  <a:pt x="17513" y="4292600"/>
                </a:lnTo>
                <a:lnTo>
                  <a:pt x="13957" y="4279900"/>
                </a:lnTo>
                <a:lnTo>
                  <a:pt x="20942" y="4279900"/>
                </a:lnTo>
                <a:lnTo>
                  <a:pt x="24422" y="4292600"/>
                </a:lnTo>
                <a:lnTo>
                  <a:pt x="28092" y="4292600"/>
                </a:lnTo>
                <a:lnTo>
                  <a:pt x="32270" y="4305300"/>
                </a:lnTo>
                <a:close/>
              </a:path>
              <a:path w="2599690" h="4394200">
                <a:moveTo>
                  <a:pt x="2578176" y="4305300"/>
                </a:moveTo>
                <a:lnTo>
                  <a:pt x="2567330" y="4305300"/>
                </a:lnTo>
                <a:lnTo>
                  <a:pt x="2571521" y="4292600"/>
                </a:lnTo>
                <a:lnTo>
                  <a:pt x="2575191" y="4292600"/>
                </a:lnTo>
                <a:lnTo>
                  <a:pt x="2578671" y="4279900"/>
                </a:lnTo>
                <a:lnTo>
                  <a:pt x="2585656" y="4279900"/>
                </a:lnTo>
                <a:lnTo>
                  <a:pt x="2582100" y="4292600"/>
                </a:lnTo>
                <a:lnTo>
                  <a:pt x="2578176" y="4305300"/>
                </a:lnTo>
                <a:close/>
              </a:path>
              <a:path w="2599690" h="4394200">
                <a:moveTo>
                  <a:pt x="41452" y="4318000"/>
                </a:moveTo>
                <a:lnTo>
                  <a:pt x="30340" y="4318000"/>
                </a:lnTo>
                <a:lnTo>
                  <a:pt x="25717" y="4305300"/>
                </a:lnTo>
                <a:lnTo>
                  <a:pt x="36601" y="4305300"/>
                </a:lnTo>
                <a:lnTo>
                  <a:pt x="41452" y="4318000"/>
                </a:lnTo>
                <a:close/>
              </a:path>
              <a:path w="2599690" h="4394200">
                <a:moveTo>
                  <a:pt x="2569273" y="4318000"/>
                </a:moveTo>
                <a:lnTo>
                  <a:pt x="2558161" y="4318000"/>
                </a:lnTo>
                <a:lnTo>
                  <a:pt x="2563012" y="4305300"/>
                </a:lnTo>
                <a:lnTo>
                  <a:pt x="2573896" y="4305300"/>
                </a:lnTo>
                <a:lnTo>
                  <a:pt x="2569273" y="4318000"/>
                </a:lnTo>
                <a:close/>
              </a:path>
              <a:path w="2599690" h="4394200">
                <a:moveTo>
                  <a:pt x="51841" y="4330700"/>
                </a:moveTo>
                <a:lnTo>
                  <a:pt x="40563" y="4330700"/>
                </a:lnTo>
                <a:lnTo>
                  <a:pt x="35293" y="4318000"/>
                </a:lnTo>
                <a:lnTo>
                  <a:pt x="46380" y="4318000"/>
                </a:lnTo>
                <a:lnTo>
                  <a:pt x="51841" y="4330700"/>
                </a:lnTo>
                <a:close/>
              </a:path>
              <a:path w="2599690" h="4394200">
                <a:moveTo>
                  <a:pt x="2559050" y="4330700"/>
                </a:moveTo>
                <a:lnTo>
                  <a:pt x="2547759" y="4330700"/>
                </a:lnTo>
                <a:lnTo>
                  <a:pt x="2553233" y="4318000"/>
                </a:lnTo>
                <a:lnTo>
                  <a:pt x="2564320" y="4318000"/>
                </a:lnTo>
                <a:lnTo>
                  <a:pt x="2559050" y="4330700"/>
                </a:lnTo>
                <a:close/>
              </a:path>
              <a:path w="2599690" h="4394200">
                <a:moveTo>
                  <a:pt x="63385" y="4343400"/>
                </a:moveTo>
                <a:lnTo>
                  <a:pt x="52031" y="4343400"/>
                </a:lnTo>
                <a:lnTo>
                  <a:pt x="46151" y="4330700"/>
                </a:lnTo>
                <a:lnTo>
                  <a:pt x="57353" y="4330700"/>
                </a:lnTo>
                <a:lnTo>
                  <a:pt x="63385" y="4343400"/>
                </a:lnTo>
                <a:close/>
              </a:path>
              <a:path w="2599690" h="4394200">
                <a:moveTo>
                  <a:pt x="2547581" y="4343400"/>
                </a:moveTo>
                <a:lnTo>
                  <a:pt x="2536215" y="4343400"/>
                </a:lnTo>
                <a:lnTo>
                  <a:pt x="2542260" y="4330700"/>
                </a:lnTo>
                <a:lnTo>
                  <a:pt x="2553462" y="4330700"/>
                </a:lnTo>
                <a:lnTo>
                  <a:pt x="2547581" y="4343400"/>
                </a:lnTo>
                <a:close/>
              </a:path>
              <a:path w="2599690" h="4394200">
                <a:moveTo>
                  <a:pt x="75996" y="4356100"/>
                </a:moveTo>
                <a:lnTo>
                  <a:pt x="64642" y="4356100"/>
                </a:lnTo>
                <a:lnTo>
                  <a:pt x="58204" y="4343400"/>
                </a:lnTo>
                <a:lnTo>
                  <a:pt x="69418" y="4343400"/>
                </a:lnTo>
                <a:lnTo>
                  <a:pt x="75996" y="4356100"/>
                </a:lnTo>
                <a:close/>
              </a:path>
              <a:path w="2599690" h="4394200">
                <a:moveTo>
                  <a:pt x="2534970" y="4356100"/>
                </a:moveTo>
                <a:lnTo>
                  <a:pt x="2523616" y="4356100"/>
                </a:lnTo>
                <a:lnTo>
                  <a:pt x="2530182" y="4343400"/>
                </a:lnTo>
                <a:lnTo>
                  <a:pt x="2541409" y="4343400"/>
                </a:lnTo>
                <a:lnTo>
                  <a:pt x="2534970" y="4356100"/>
                </a:lnTo>
                <a:close/>
              </a:path>
              <a:path w="2599690" h="4394200">
                <a:moveTo>
                  <a:pt x="96685" y="4368800"/>
                </a:moveTo>
                <a:lnTo>
                  <a:pt x="78320" y="4368800"/>
                </a:lnTo>
                <a:lnTo>
                  <a:pt x="71348" y="4356100"/>
                </a:lnTo>
                <a:lnTo>
                  <a:pt x="89407" y="4356100"/>
                </a:lnTo>
                <a:lnTo>
                  <a:pt x="96685" y="4368800"/>
                </a:lnTo>
                <a:close/>
              </a:path>
              <a:path w="2599690" h="4394200">
                <a:moveTo>
                  <a:pt x="2521292" y="4368800"/>
                </a:moveTo>
                <a:lnTo>
                  <a:pt x="2502928" y="4368800"/>
                </a:lnTo>
                <a:lnTo>
                  <a:pt x="2510205" y="4356100"/>
                </a:lnTo>
                <a:lnTo>
                  <a:pt x="2528252" y="4356100"/>
                </a:lnTo>
                <a:lnTo>
                  <a:pt x="2521292" y="4368800"/>
                </a:lnTo>
                <a:close/>
              </a:path>
              <a:path w="2599690" h="4394200">
                <a:moveTo>
                  <a:pt x="119278" y="4381500"/>
                </a:moveTo>
                <a:lnTo>
                  <a:pt x="100622" y="4381500"/>
                </a:lnTo>
                <a:lnTo>
                  <a:pt x="92964" y="4368800"/>
                </a:lnTo>
                <a:lnTo>
                  <a:pt x="111378" y="4368800"/>
                </a:lnTo>
                <a:lnTo>
                  <a:pt x="119278" y="4381500"/>
                </a:lnTo>
                <a:close/>
              </a:path>
              <a:path w="2599690" h="4394200">
                <a:moveTo>
                  <a:pt x="2498979" y="4381500"/>
                </a:moveTo>
                <a:lnTo>
                  <a:pt x="2480335" y="4381500"/>
                </a:lnTo>
                <a:lnTo>
                  <a:pt x="2488234" y="4368800"/>
                </a:lnTo>
                <a:lnTo>
                  <a:pt x="2506649" y="4368800"/>
                </a:lnTo>
                <a:lnTo>
                  <a:pt x="2498979" y="4381500"/>
                </a:lnTo>
                <a:close/>
              </a:path>
              <a:path w="2599690" h="4394200">
                <a:moveTo>
                  <a:pt x="2457754" y="4394200"/>
                </a:moveTo>
                <a:lnTo>
                  <a:pt x="141846" y="4394200"/>
                </a:lnTo>
                <a:lnTo>
                  <a:pt x="133261" y="4381500"/>
                </a:lnTo>
                <a:lnTo>
                  <a:pt x="2466352" y="4381500"/>
                </a:lnTo>
                <a:lnTo>
                  <a:pt x="2457754" y="4394200"/>
                </a:lnTo>
                <a:close/>
              </a:path>
            </a:pathLst>
          </a:custGeom>
          <a:solidFill>
            <a:srgbClr val="FA7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12622" y="2157284"/>
            <a:ext cx="174498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车辆与司机协同管</a:t>
            </a:r>
            <a:r>
              <a:rPr sz="1500" b="1" dirty="0">
                <a:latin typeface="Microsoft JhengHei"/>
                <a:cs typeface="Microsoft JhengHei"/>
              </a:rPr>
              <a:t>理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181" y="2881286"/>
            <a:ext cx="2337435" cy="148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通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过智能调度系统实现车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辆 </a:t>
            </a: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与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司机的实时联动，精准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管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理停留时长，减少无效等待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提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升园区整体运转效率，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确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保车流有序畅通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4865" y="2574861"/>
            <a:ext cx="2592070" cy="0"/>
          </a:xfrm>
          <a:custGeom>
            <a:avLst/>
            <a:gdLst/>
            <a:ahLst/>
            <a:cxnLst/>
            <a:rect l="l" t="t" r="r" b="b"/>
            <a:pathLst>
              <a:path w="2592070">
                <a:moveTo>
                  <a:pt x="0" y="0"/>
                </a:moveTo>
                <a:lnTo>
                  <a:pt x="2591993" y="0"/>
                </a:lnTo>
              </a:path>
            </a:pathLst>
          </a:custGeom>
          <a:ln w="8889">
            <a:solidFill>
              <a:srgbClr val="FF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48319" y="4945100"/>
            <a:ext cx="1061986" cy="5363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40431" y="5038597"/>
            <a:ext cx="30607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-480" dirty="0">
                <a:solidFill>
                  <a:srgbClr val="FFFFFF"/>
                </a:solidFill>
                <a:latin typeface="微软雅黑"/>
                <a:cs typeface="微软雅黑"/>
              </a:rPr>
              <a:t>0</a:t>
            </a:r>
            <a:r>
              <a:rPr sz="1450" b="1" spc="-30" dirty="0">
                <a:solidFill>
                  <a:srgbClr val="FFFFFF"/>
                </a:solidFill>
                <a:latin typeface="微软雅黑"/>
                <a:cs typeface="微软雅黑"/>
              </a:rPr>
              <a:t>1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04476" y="1472704"/>
            <a:ext cx="2599690" cy="4394200"/>
          </a:xfrm>
          <a:custGeom>
            <a:avLst/>
            <a:gdLst/>
            <a:ahLst/>
            <a:cxnLst/>
            <a:rect l="l" t="t" r="r" b="b"/>
            <a:pathLst>
              <a:path w="2599690" h="4394200">
                <a:moveTo>
                  <a:pt x="135064" y="12699"/>
                </a:moveTo>
                <a:lnTo>
                  <a:pt x="108508" y="12699"/>
                </a:lnTo>
                <a:lnTo>
                  <a:pt x="116573" y="0"/>
                </a:lnTo>
                <a:lnTo>
                  <a:pt x="143471" y="0"/>
                </a:lnTo>
                <a:lnTo>
                  <a:pt x="135064" y="12699"/>
                </a:lnTo>
                <a:close/>
              </a:path>
              <a:path w="2599690" h="4394200">
                <a:moveTo>
                  <a:pt x="2491117" y="12699"/>
                </a:moveTo>
                <a:lnTo>
                  <a:pt x="2464549" y="12699"/>
                </a:lnTo>
                <a:lnTo>
                  <a:pt x="2456141" y="0"/>
                </a:lnTo>
                <a:lnTo>
                  <a:pt x="2483053" y="0"/>
                </a:lnTo>
                <a:lnTo>
                  <a:pt x="2491117" y="12699"/>
                </a:lnTo>
                <a:close/>
              </a:path>
              <a:path w="2599690" h="4394200">
                <a:moveTo>
                  <a:pt x="96532" y="25399"/>
                </a:moveTo>
                <a:lnTo>
                  <a:pt x="85534" y="25399"/>
                </a:lnTo>
                <a:lnTo>
                  <a:pt x="92976" y="12699"/>
                </a:lnTo>
                <a:lnTo>
                  <a:pt x="104025" y="12699"/>
                </a:lnTo>
                <a:lnTo>
                  <a:pt x="96532" y="25399"/>
                </a:lnTo>
                <a:close/>
              </a:path>
              <a:path w="2599690" h="4394200">
                <a:moveTo>
                  <a:pt x="2514091" y="25399"/>
                </a:moveTo>
                <a:lnTo>
                  <a:pt x="2503093" y="25399"/>
                </a:lnTo>
                <a:lnTo>
                  <a:pt x="2495600" y="12699"/>
                </a:lnTo>
                <a:lnTo>
                  <a:pt x="2506649" y="12699"/>
                </a:lnTo>
                <a:lnTo>
                  <a:pt x="2514091" y="25399"/>
                </a:lnTo>
                <a:close/>
              </a:path>
              <a:path w="2599690" h="4394200">
                <a:moveTo>
                  <a:pt x="75844" y="38099"/>
                </a:moveTo>
                <a:lnTo>
                  <a:pt x="64642" y="38099"/>
                </a:lnTo>
                <a:lnTo>
                  <a:pt x="71361" y="25399"/>
                </a:lnTo>
                <a:lnTo>
                  <a:pt x="82664" y="25399"/>
                </a:lnTo>
                <a:lnTo>
                  <a:pt x="75844" y="38099"/>
                </a:lnTo>
                <a:close/>
              </a:path>
              <a:path w="2599690" h="4394200">
                <a:moveTo>
                  <a:pt x="2534970" y="38099"/>
                </a:moveTo>
                <a:lnTo>
                  <a:pt x="2523769" y="38099"/>
                </a:lnTo>
                <a:lnTo>
                  <a:pt x="2516949" y="25399"/>
                </a:lnTo>
                <a:lnTo>
                  <a:pt x="2528265" y="25399"/>
                </a:lnTo>
                <a:lnTo>
                  <a:pt x="2534970" y="38099"/>
                </a:lnTo>
                <a:close/>
              </a:path>
              <a:path w="2599690" h="4394200">
                <a:moveTo>
                  <a:pt x="63258" y="50799"/>
                </a:moveTo>
                <a:lnTo>
                  <a:pt x="52031" y="50799"/>
                </a:lnTo>
                <a:lnTo>
                  <a:pt x="58204" y="38099"/>
                </a:lnTo>
                <a:lnTo>
                  <a:pt x="69570" y="38099"/>
                </a:lnTo>
                <a:lnTo>
                  <a:pt x="63258" y="50799"/>
                </a:lnTo>
                <a:close/>
              </a:path>
              <a:path w="2599690" h="4394200">
                <a:moveTo>
                  <a:pt x="2547581" y="50799"/>
                </a:moveTo>
                <a:lnTo>
                  <a:pt x="2536355" y="50799"/>
                </a:lnTo>
                <a:lnTo>
                  <a:pt x="2530055" y="38099"/>
                </a:lnTo>
                <a:lnTo>
                  <a:pt x="2541422" y="38099"/>
                </a:lnTo>
                <a:lnTo>
                  <a:pt x="2547581" y="50799"/>
                </a:lnTo>
                <a:close/>
              </a:path>
              <a:path w="2599690" h="4394200">
                <a:moveTo>
                  <a:pt x="46393" y="63499"/>
                </a:moveTo>
                <a:lnTo>
                  <a:pt x="40563" y="63499"/>
                </a:lnTo>
                <a:lnTo>
                  <a:pt x="46151" y="50799"/>
                </a:lnTo>
                <a:lnTo>
                  <a:pt x="51854" y="50799"/>
                </a:lnTo>
                <a:lnTo>
                  <a:pt x="46393" y="63499"/>
                </a:lnTo>
                <a:close/>
              </a:path>
              <a:path w="2599690" h="4394200">
                <a:moveTo>
                  <a:pt x="2559050" y="63499"/>
                </a:moveTo>
                <a:lnTo>
                  <a:pt x="2553233" y="63499"/>
                </a:lnTo>
                <a:lnTo>
                  <a:pt x="2547772" y="50799"/>
                </a:lnTo>
                <a:lnTo>
                  <a:pt x="2553474" y="50799"/>
                </a:lnTo>
                <a:lnTo>
                  <a:pt x="2559050" y="63499"/>
                </a:lnTo>
                <a:close/>
              </a:path>
              <a:path w="2599690" h="4394200">
                <a:moveTo>
                  <a:pt x="36601" y="76199"/>
                </a:moveTo>
                <a:lnTo>
                  <a:pt x="30340" y="76199"/>
                </a:lnTo>
                <a:lnTo>
                  <a:pt x="35293" y="63499"/>
                </a:lnTo>
                <a:lnTo>
                  <a:pt x="41452" y="63499"/>
                </a:lnTo>
                <a:lnTo>
                  <a:pt x="36601" y="76199"/>
                </a:lnTo>
                <a:close/>
              </a:path>
              <a:path w="2599690" h="4394200">
                <a:moveTo>
                  <a:pt x="2569273" y="76199"/>
                </a:moveTo>
                <a:lnTo>
                  <a:pt x="2563012" y="76199"/>
                </a:lnTo>
                <a:lnTo>
                  <a:pt x="2558173" y="63499"/>
                </a:lnTo>
                <a:lnTo>
                  <a:pt x="2564320" y="63499"/>
                </a:lnTo>
                <a:lnTo>
                  <a:pt x="2569273" y="76199"/>
                </a:lnTo>
                <a:close/>
              </a:path>
              <a:path w="2599690" h="4394200">
                <a:moveTo>
                  <a:pt x="32181" y="88899"/>
                </a:moveTo>
                <a:lnTo>
                  <a:pt x="21437" y="88899"/>
                </a:lnTo>
                <a:lnTo>
                  <a:pt x="25717" y="76199"/>
                </a:lnTo>
                <a:lnTo>
                  <a:pt x="36702" y="76199"/>
                </a:lnTo>
                <a:lnTo>
                  <a:pt x="32181" y="88899"/>
                </a:lnTo>
                <a:close/>
              </a:path>
              <a:path w="2599690" h="4394200">
                <a:moveTo>
                  <a:pt x="2578176" y="88899"/>
                </a:moveTo>
                <a:lnTo>
                  <a:pt x="2567431" y="88899"/>
                </a:lnTo>
                <a:lnTo>
                  <a:pt x="2562910" y="76199"/>
                </a:lnTo>
                <a:lnTo>
                  <a:pt x="2573896" y="76199"/>
                </a:lnTo>
                <a:lnTo>
                  <a:pt x="2578176" y="88899"/>
                </a:lnTo>
                <a:close/>
              </a:path>
              <a:path w="2599690" h="4394200">
                <a:moveTo>
                  <a:pt x="17906" y="114299"/>
                </a:moveTo>
                <a:lnTo>
                  <a:pt x="10782" y="114299"/>
                </a:lnTo>
                <a:lnTo>
                  <a:pt x="13957" y="101599"/>
                </a:lnTo>
                <a:lnTo>
                  <a:pt x="17525" y="88899"/>
                </a:lnTo>
                <a:lnTo>
                  <a:pt x="28181" y="88899"/>
                </a:lnTo>
                <a:lnTo>
                  <a:pt x="24345" y="101599"/>
                </a:lnTo>
                <a:lnTo>
                  <a:pt x="21018" y="101599"/>
                </a:lnTo>
                <a:lnTo>
                  <a:pt x="17906" y="114299"/>
                </a:lnTo>
                <a:close/>
              </a:path>
              <a:path w="2599690" h="4394200">
                <a:moveTo>
                  <a:pt x="2588844" y="114299"/>
                </a:moveTo>
                <a:lnTo>
                  <a:pt x="2581719" y="114299"/>
                </a:lnTo>
                <a:lnTo>
                  <a:pt x="2578607" y="101599"/>
                </a:lnTo>
                <a:lnTo>
                  <a:pt x="2575280" y="101599"/>
                </a:lnTo>
                <a:lnTo>
                  <a:pt x="2571432" y="88899"/>
                </a:lnTo>
                <a:lnTo>
                  <a:pt x="2582100" y="88899"/>
                </a:lnTo>
                <a:lnTo>
                  <a:pt x="2585656" y="101599"/>
                </a:lnTo>
                <a:lnTo>
                  <a:pt x="2588844" y="114299"/>
                </a:lnTo>
                <a:close/>
              </a:path>
              <a:path w="2599690" h="4394200">
                <a:moveTo>
                  <a:pt x="11049" y="139699"/>
                </a:moveTo>
                <a:lnTo>
                  <a:pt x="3606" y="139699"/>
                </a:lnTo>
                <a:lnTo>
                  <a:pt x="5587" y="126999"/>
                </a:lnTo>
                <a:lnTo>
                  <a:pt x="7988" y="114299"/>
                </a:lnTo>
                <a:lnTo>
                  <a:pt x="17970" y="114299"/>
                </a:lnTo>
                <a:lnTo>
                  <a:pt x="15239" y="126999"/>
                </a:lnTo>
                <a:lnTo>
                  <a:pt x="12992" y="126999"/>
                </a:lnTo>
                <a:lnTo>
                  <a:pt x="11049" y="139699"/>
                </a:lnTo>
                <a:close/>
              </a:path>
              <a:path w="2599690" h="4394200">
                <a:moveTo>
                  <a:pt x="2596006" y="139699"/>
                </a:moveTo>
                <a:lnTo>
                  <a:pt x="2588564" y="139699"/>
                </a:lnTo>
                <a:lnTo>
                  <a:pt x="2586621" y="126999"/>
                </a:lnTo>
                <a:lnTo>
                  <a:pt x="2584386" y="126999"/>
                </a:lnTo>
                <a:lnTo>
                  <a:pt x="2581655" y="114299"/>
                </a:lnTo>
                <a:lnTo>
                  <a:pt x="2591638" y="114299"/>
                </a:lnTo>
                <a:lnTo>
                  <a:pt x="2594025" y="126999"/>
                </a:lnTo>
                <a:lnTo>
                  <a:pt x="2596006" y="139699"/>
                </a:lnTo>
                <a:close/>
              </a:path>
              <a:path w="2599690" h="4394200">
                <a:moveTo>
                  <a:pt x="7835" y="165100"/>
                </a:moveTo>
                <a:lnTo>
                  <a:pt x="228" y="165100"/>
                </a:lnTo>
                <a:lnTo>
                  <a:pt x="914" y="152399"/>
                </a:lnTo>
                <a:lnTo>
                  <a:pt x="2044" y="139699"/>
                </a:lnTo>
                <a:lnTo>
                  <a:pt x="9588" y="139699"/>
                </a:lnTo>
                <a:lnTo>
                  <a:pt x="8483" y="152399"/>
                </a:lnTo>
                <a:lnTo>
                  <a:pt x="7835" y="165100"/>
                </a:lnTo>
                <a:close/>
              </a:path>
              <a:path w="2599690" h="4394200">
                <a:moveTo>
                  <a:pt x="2599385" y="165100"/>
                </a:moveTo>
                <a:lnTo>
                  <a:pt x="2591790" y="165100"/>
                </a:lnTo>
                <a:lnTo>
                  <a:pt x="2591117" y="152399"/>
                </a:lnTo>
                <a:lnTo>
                  <a:pt x="2590025" y="139699"/>
                </a:lnTo>
                <a:lnTo>
                  <a:pt x="2597569" y="139699"/>
                </a:lnTo>
                <a:lnTo>
                  <a:pt x="2598699" y="152399"/>
                </a:lnTo>
                <a:lnTo>
                  <a:pt x="2599385" y="165100"/>
                </a:lnTo>
                <a:close/>
              </a:path>
              <a:path w="2599690" h="4394200">
                <a:moveTo>
                  <a:pt x="7848" y="4229100"/>
                </a:moveTo>
                <a:lnTo>
                  <a:pt x="228" y="4229100"/>
                </a:lnTo>
                <a:lnTo>
                  <a:pt x="0" y="4216400"/>
                </a:lnTo>
                <a:lnTo>
                  <a:pt x="0" y="165100"/>
                </a:lnTo>
                <a:lnTo>
                  <a:pt x="7619" y="165100"/>
                </a:lnTo>
                <a:lnTo>
                  <a:pt x="7619" y="4216400"/>
                </a:lnTo>
                <a:lnTo>
                  <a:pt x="7848" y="4229100"/>
                </a:lnTo>
                <a:close/>
              </a:path>
              <a:path w="2599690" h="4394200">
                <a:moveTo>
                  <a:pt x="2599385" y="4229100"/>
                </a:moveTo>
                <a:lnTo>
                  <a:pt x="2591777" y="4229100"/>
                </a:lnTo>
                <a:lnTo>
                  <a:pt x="2592006" y="4216400"/>
                </a:lnTo>
                <a:lnTo>
                  <a:pt x="2592006" y="165100"/>
                </a:lnTo>
                <a:lnTo>
                  <a:pt x="2599626" y="165100"/>
                </a:lnTo>
                <a:lnTo>
                  <a:pt x="2599626" y="4216400"/>
                </a:lnTo>
                <a:lnTo>
                  <a:pt x="2599385" y="4229100"/>
                </a:lnTo>
                <a:close/>
              </a:path>
              <a:path w="2599690" h="4394200">
                <a:moveTo>
                  <a:pt x="11087" y="4254500"/>
                </a:moveTo>
                <a:lnTo>
                  <a:pt x="3606" y="4254500"/>
                </a:lnTo>
                <a:lnTo>
                  <a:pt x="2044" y="4241800"/>
                </a:lnTo>
                <a:lnTo>
                  <a:pt x="914" y="4229100"/>
                </a:lnTo>
                <a:lnTo>
                  <a:pt x="8483" y="4229100"/>
                </a:lnTo>
                <a:lnTo>
                  <a:pt x="9588" y="4241800"/>
                </a:lnTo>
                <a:lnTo>
                  <a:pt x="11087" y="4254500"/>
                </a:lnTo>
                <a:close/>
              </a:path>
              <a:path w="2599690" h="4394200">
                <a:moveTo>
                  <a:pt x="2596006" y="4254500"/>
                </a:moveTo>
                <a:lnTo>
                  <a:pt x="2588526" y="4254500"/>
                </a:lnTo>
                <a:lnTo>
                  <a:pt x="2590050" y="4241800"/>
                </a:lnTo>
                <a:lnTo>
                  <a:pt x="2591130" y="4229100"/>
                </a:lnTo>
                <a:lnTo>
                  <a:pt x="2598699" y="4229100"/>
                </a:lnTo>
                <a:lnTo>
                  <a:pt x="2597569" y="4241800"/>
                </a:lnTo>
                <a:lnTo>
                  <a:pt x="2596006" y="4254500"/>
                </a:lnTo>
                <a:close/>
              </a:path>
              <a:path w="2599690" h="4394200">
                <a:moveTo>
                  <a:pt x="17970" y="4279900"/>
                </a:moveTo>
                <a:lnTo>
                  <a:pt x="10782" y="4279900"/>
                </a:lnTo>
                <a:lnTo>
                  <a:pt x="7988" y="4267200"/>
                </a:lnTo>
                <a:lnTo>
                  <a:pt x="5587" y="4254500"/>
                </a:lnTo>
                <a:lnTo>
                  <a:pt x="12953" y="4254500"/>
                </a:lnTo>
                <a:lnTo>
                  <a:pt x="15290" y="4267200"/>
                </a:lnTo>
                <a:lnTo>
                  <a:pt x="17970" y="4279900"/>
                </a:lnTo>
                <a:close/>
              </a:path>
              <a:path w="2599690" h="4394200">
                <a:moveTo>
                  <a:pt x="2588844" y="4279900"/>
                </a:moveTo>
                <a:lnTo>
                  <a:pt x="2581655" y="4279900"/>
                </a:lnTo>
                <a:lnTo>
                  <a:pt x="2584386" y="4267200"/>
                </a:lnTo>
                <a:lnTo>
                  <a:pt x="2586672" y="4254500"/>
                </a:lnTo>
                <a:lnTo>
                  <a:pt x="2594025" y="4254500"/>
                </a:lnTo>
                <a:lnTo>
                  <a:pt x="2591638" y="4267200"/>
                </a:lnTo>
                <a:lnTo>
                  <a:pt x="2588844" y="4279900"/>
                </a:lnTo>
                <a:close/>
              </a:path>
              <a:path w="2599690" h="4394200">
                <a:moveTo>
                  <a:pt x="32283" y="4305300"/>
                </a:moveTo>
                <a:lnTo>
                  <a:pt x="21437" y="4305300"/>
                </a:lnTo>
                <a:lnTo>
                  <a:pt x="17525" y="4292600"/>
                </a:lnTo>
                <a:lnTo>
                  <a:pt x="13957" y="4279900"/>
                </a:lnTo>
                <a:lnTo>
                  <a:pt x="20942" y="4279900"/>
                </a:lnTo>
                <a:lnTo>
                  <a:pt x="24422" y="4292600"/>
                </a:lnTo>
                <a:lnTo>
                  <a:pt x="28092" y="4292600"/>
                </a:lnTo>
                <a:lnTo>
                  <a:pt x="32283" y="4305300"/>
                </a:lnTo>
                <a:close/>
              </a:path>
              <a:path w="2599690" h="4394200">
                <a:moveTo>
                  <a:pt x="2578176" y="4305300"/>
                </a:moveTo>
                <a:lnTo>
                  <a:pt x="2567343" y="4305300"/>
                </a:lnTo>
                <a:lnTo>
                  <a:pt x="2571521" y="4292600"/>
                </a:lnTo>
                <a:lnTo>
                  <a:pt x="2575191" y="4292600"/>
                </a:lnTo>
                <a:lnTo>
                  <a:pt x="2578671" y="4279900"/>
                </a:lnTo>
                <a:lnTo>
                  <a:pt x="2585656" y="4279900"/>
                </a:lnTo>
                <a:lnTo>
                  <a:pt x="2582100" y="4292600"/>
                </a:lnTo>
                <a:lnTo>
                  <a:pt x="2578176" y="4305300"/>
                </a:lnTo>
                <a:close/>
              </a:path>
              <a:path w="2599690" h="4394200">
                <a:moveTo>
                  <a:pt x="41452" y="4318000"/>
                </a:moveTo>
                <a:lnTo>
                  <a:pt x="30340" y="4318000"/>
                </a:lnTo>
                <a:lnTo>
                  <a:pt x="25717" y="4305300"/>
                </a:lnTo>
                <a:lnTo>
                  <a:pt x="36601" y="4305300"/>
                </a:lnTo>
                <a:lnTo>
                  <a:pt x="41452" y="4318000"/>
                </a:lnTo>
                <a:close/>
              </a:path>
              <a:path w="2599690" h="4394200">
                <a:moveTo>
                  <a:pt x="2569273" y="4318000"/>
                </a:moveTo>
                <a:lnTo>
                  <a:pt x="2558173" y="4318000"/>
                </a:lnTo>
                <a:lnTo>
                  <a:pt x="2563012" y="4305300"/>
                </a:lnTo>
                <a:lnTo>
                  <a:pt x="2573896" y="4305300"/>
                </a:lnTo>
                <a:lnTo>
                  <a:pt x="2569273" y="4318000"/>
                </a:lnTo>
                <a:close/>
              </a:path>
              <a:path w="2599690" h="4394200">
                <a:moveTo>
                  <a:pt x="51854" y="4330700"/>
                </a:moveTo>
                <a:lnTo>
                  <a:pt x="40563" y="4330700"/>
                </a:lnTo>
                <a:lnTo>
                  <a:pt x="35293" y="4318000"/>
                </a:lnTo>
                <a:lnTo>
                  <a:pt x="46393" y="4318000"/>
                </a:lnTo>
                <a:lnTo>
                  <a:pt x="51854" y="4330700"/>
                </a:lnTo>
                <a:close/>
              </a:path>
              <a:path w="2599690" h="4394200">
                <a:moveTo>
                  <a:pt x="2559050" y="4330700"/>
                </a:moveTo>
                <a:lnTo>
                  <a:pt x="2547772" y="4330700"/>
                </a:lnTo>
                <a:lnTo>
                  <a:pt x="2553233" y="4318000"/>
                </a:lnTo>
                <a:lnTo>
                  <a:pt x="2564320" y="4318000"/>
                </a:lnTo>
                <a:lnTo>
                  <a:pt x="2559050" y="4330700"/>
                </a:lnTo>
                <a:close/>
              </a:path>
              <a:path w="2599690" h="4394200">
                <a:moveTo>
                  <a:pt x="63398" y="4343400"/>
                </a:moveTo>
                <a:lnTo>
                  <a:pt x="52031" y="4343400"/>
                </a:lnTo>
                <a:lnTo>
                  <a:pt x="46151" y="4330700"/>
                </a:lnTo>
                <a:lnTo>
                  <a:pt x="57353" y="4330700"/>
                </a:lnTo>
                <a:lnTo>
                  <a:pt x="63398" y="4343400"/>
                </a:lnTo>
                <a:close/>
              </a:path>
              <a:path w="2599690" h="4394200">
                <a:moveTo>
                  <a:pt x="2547581" y="4343400"/>
                </a:moveTo>
                <a:lnTo>
                  <a:pt x="2536228" y="4343400"/>
                </a:lnTo>
                <a:lnTo>
                  <a:pt x="2542260" y="4330700"/>
                </a:lnTo>
                <a:lnTo>
                  <a:pt x="2553474" y="4330700"/>
                </a:lnTo>
                <a:lnTo>
                  <a:pt x="2547581" y="4343400"/>
                </a:lnTo>
                <a:close/>
              </a:path>
              <a:path w="2599690" h="4394200">
                <a:moveTo>
                  <a:pt x="75996" y="4356100"/>
                </a:moveTo>
                <a:lnTo>
                  <a:pt x="64642" y="4356100"/>
                </a:lnTo>
                <a:lnTo>
                  <a:pt x="58204" y="4343400"/>
                </a:lnTo>
                <a:lnTo>
                  <a:pt x="69430" y="4343400"/>
                </a:lnTo>
                <a:lnTo>
                  <a:pt x="75996" y="4356100"/>
                </a:lnTo>
                <a:close/>
              </a:path>
              <a:path w="2599690" h="4394200">
                <a:moveTo>
                  <a:pt x="2534970" y="4356100"/>
                </a:moveTo>
                <a:lnTo>
                  <a:pt x="2523629" y="4356100"/>
                </a:lnTo>
                <a:lnTo>
                  <a:pt x="2530195" y="4343400"/>
                </a:lnTo>
                <a:lnTo>
                  <a:pt x="2541422" y="4343400"/>
                </a:lnTo>
                <a:lnTo>
                  <a:pt x="2534970" y="4356100"/>
                </a:lnTo>
                <a:close/>
              </a:path>
              <a:path w="2599690" h="4394200">
                <a:moveTo>
                  <a:pt x="96685" y="4368800"/>
                </a:moveTo>
                <a:lnTo>
                  <a:pt x="78320" y="4368800"/>
                </a:lnTo>
                <a:lnTo>
                  <a:pt x="71361" y="4356100"/>
                </a:lnTo>
                <a:lnTo>
                  <a:pt x="89407" y="4356100"/>
                </a:lnTo>
                <a:lnTo>
                  <a:pt x="96685" y="4368800"/>
                </a:lnTo>
                <a:close/>
              </a:path>
              <a:path w="2599690" h="4394200">
                <a:moveTo>
                  <a:pt x="2521292" y="4368800"/>
                </a:moveTo>
                <a:lnTo>
                  <a:pt x="2502928" y="4368800"/>
                </a:lnTo>
                <a:lnTo>
                  <a:pt x="2510205" y="4356100"/>
                </a:lnTo>
                <a:lnTo>
                  <a:pt x="2528265" y="4356100"/>
                </a:lnTo>
                <a:lnTo>
                  <a:pt x="2521292" y="4368800"/>
                </a:lnTo>
                <a:close/>
              </a:path>
              <a:path w="2599690" h="4394200">
                <a:moveTo>
                  <a:pt x="119278" y="4381500"/>
                </a:moveTo>
                <a:lnTo>
                  <a:pt x="100634" y="4381500"/>
                </a:lnTo>
                <a:lnTo>
                  <a:pt x="92976" y="4368800"/>
                </a:lnTo>
                <a:lnTo>
                  <a:pt x="111378" y="4368800"/>
                </a:lnTo>
                <a:lnTo>
                  <a:pt x="119278" y="4381500"/>
                </a:lnTo>
                <a:close/>
              </a:path>
              <a:path w="2599690" h="4394200">
                <a:moveTo>
                  <a:pt x="2498991" y="4381500"/>
                </a:moveTo>
                <a:lnTo>
                  <a:pt x="2480335" y="4381500"/>
                </a:lnTo>
                <a:lnTo>
                  <a:pt x="2488234" y="4368800"/>
                </a:lnTo>
                <a:lnTo>
                  <a:pt x="2506649" y="4368800"/>
                </a:lnTo>
                <a:lnTo>
                  <a:pt x="2498991" y="4381500"/>
                </a:lnTo>
                <a:close/>
              </a:path>
              <a:path w="2599690" h="4394200">
                <a:moveTo>
                  <a:pt x="2457767" y="4394200"/>
                </a:moveTo>
                <a:lnTo>
                  <a:pt x="141858" y="4394200"/>
                </a:lnTo>
                <a:lnTo>
                  <a:pt x="133261" y="4381500"/>
                </a:lnTo>
                <a:lnTo>
                  <a:pt x="2466365" y="4381500"/>
                </a:lnTo>
                <a:lnTo>
                  <a:pt x="2457767" y="4394200"/>
                </a:lnTo>
                <a:close/>
              </a:path>
            </a:pathLst>
          </a:custGeom>
          <a:solidFill>
            <a:srgbClr val="FA7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96055" y="2157284"/>
            <a:ext cx="136271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多任务协同调</a:t>
            </a:r>
            <a:r>
              <a:rPr sz="1500" b="1" dirty="0">
                <a:latin typeface="Microsoft JhengHei"/>
                <a:cs typeface="Microsoft JhengHei"/>
              </a:rPr>
              <a:t>度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0615" y="2881286"/>
            <a:ext cx="2207895" cy="148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整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合叉车搬运、装卸人力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、 </a:t>
            </a: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运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输发运等任务，实现动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态 </a:t>
            </a: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调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度与工作量统计，灵活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应 </a:t>
            </a: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对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业务波动，最大化资源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利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用率与作业效率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08286" y="2574861"/>
            <a:ext cx="2592070" cy="0"/>
          </a:xfrm>
          <a:custGeom>
            <a:avLst/>
            <a:gdLst/>
            <a:ahLst/>
            <a:cxnLst/>
            <a:rect l="l" t="t" r="r" b="b"/>
            <a:pathLst>
              <a:path w="2592070">
                <a:moveTo>
                  <a:pt x="0" y="0"/>
                </a:moveTo>
                <a:lnTo>
                  <a:pt x="2591993" y="0"/>
                </a:lnTo>
              </a:path>
            </a:pathLst>
          </a:custGeom>
          <a:ln w="8889">
            <a:solidFill>
              <a:srgbClr val="FF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31752" y="4945100"/>
            <a:ext cx="1061986" cy="5363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323865" y="5038597"/>
            <a:ext cx="30607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-480" dirty="0">
                <a:solidFill>
                  <a:srgbClr val="FFFFFF"/>
                </a:solidFill>
                <a:latin typeface="微软雅黑"/>
                <a:cs typeface="微软雅黑"/>
              </a:rPr>
              <a:t>0</a:t>
            </a:r>
            <a:r>
              <a:rPr sz="1450" b="1" spc="-30" dirty="0">
                <a:solidFill>
                  <a:srgbClr val="FFFFFF"/>
                </a:solidFill>
                <a:latin typeface="微软雅黑"/>
                <a:cs typeface="微软雅黑"/>
              </a:rPr>
              <a:t>2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92011" y="1476755"/>
            <a:ext cx="2592323" cy="43921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87897" y="1472704"/>
            <a:ext cx="2599690" cy="4394200"/>
          </a:xfrm>
          <a:custGeom>
            <a:avLst/>
            <a:gdLst/>
            <a:ahLst/>
            <a:cxnLst/>
            <a:rect l="l" t="t" r="r" b="b"/>
            <a:pathLst>
              <a:path w="2599690" h="4394200">
                <a:moveTo>
                  <a:pt x="135077" y="12699"/>
                </a:moveTo>
                <a:lnTo>
                  <a:pt x="108508" y="12699"/>
                </a:lnTo>
                <a:lnTo>
                  <a:pt x="116573" y="0"/>
                </a:lnTo>
                <a:lnTo>
                  <a:pt x="143484" y="0"/>
                </a:lnTo>
                <a:lnTo>
                  <a:pt x="135077" y="12699"/>
                </a:lnTo>
                <a:close/>
              </a:path>
              <a:path w="2599690" h="4394200">
                <a:moveTo>
                  <a:pt x="2491117" y="12699"/>
                </a:moveTo>
                <a:lnTo>
                  <a:pt x="2464562" y="12699"/>
                </a:lnTo>
                <a:lnTo>
                  <a:pt x="2456154" y="0"/>
                </a:lnTo>
                <a:lnTo>
                  <a:pt x="2483053" y="0"/>
                </a:lnTo>
                <a:lnTo>
                  <a:pt x="2491117" y="12699"/>
                </a:lnTo>
                <a:close/>
              </a:path>
              <a:path w="2599690" h="4394200">
                <a:moveTo>
                  <a:pt x="96532" y="25399"/>
                </a:moveTo>
                <a:lnTo>
                  <a:pt x="85534" y="25399"/>
                </a:lnTo>
                <a:lnTo>
                  <a:pt x="92976" y="12699"/>
                </a:lnTo>
                <a:lnTo>
                  <a:pt x="104025" y="12699"/>
                </a:lnTo>
                <a:lnTo>
                  <a:pt x="96532" y="25399"/>
                </a:lnTo>
                <a:close/>
              </a:path>
              <a:path w="2599690" h="4394200">
                <a:moveTo>
                  <a:pt x="2514092" y="25399"/>
                </a:moveTo>
                <a:lnTo>
                  <a:pt x="2503093" y="25399"/>
                </a:lnTo>
                <a:lnTo>
                  <a:pt x="2495600" y="12699"/>
                </a:lnTo>
                <a:lnTo>
                  <a:pt x="2506649" y="12699"/>
                </a:lnTo>
                <a:lnTo>
                  <a:pt x="2514092" y="25399"/>
                </a:lnTo>
                <a:close/>
              </a:path>
              <a:path w="2599690" h="4394200">
                <a:moveTo>
                  <a:pt x="75857" y="38099"/>
                </a:moveTo>
                <a:lnTo>
                  <a:pt x="64655" y="38099"/>
                </a:lnTo>
                <a:lnTo>
                  <a:pt x="71361" y="25399"/>
                </a:lnTo>
                <a:lnTo>
                  <a:pt x="82664" y="25399"/>
                </a:lnTo>
                <a:lnTo>
                  <a:pt x="75857" y="38099"/>
                </a:lnTo>
                <a:close/>
              </a:path>
              <a:path w="2599690" h="4394200">
                <a:moveTo>
                  <a:pt x="2534983" y="38099"/>
                </a:moveTo>
                <a:lnTo>
                  <a:pt x="2523782" y="38099"/>
                </a:lnTo>
                <a:lnTo>
                  <a:pt x="2516962" y="25399"/>
                </a:lnTo>
                <a:lnTo>
                  <a:pt x="2528265" y="25399"/>
                </a:lnTo>
                <a:lnTo>
                  <a:pt x="2534983" y="38099"/>
                </a:lnTo>
                <a:close/>
              </a:path>
              <a:path w="2599690" h="4394200">
                <a:moveTo>
                  <a:pt x="63271" y="50799"/>
                </a:moveTo>
                <a:lnTo>
                  <a:pt x="52044" y="50799"/>
                </a:lnTo>
                <a:lnTo>
                  <a:pt x="58204" y="38099"/>
                </a:lnTo>
                <a:lnTo>
                  <a:pt x="69570" y="38099"/>
                </a:lnTo>
                <a:lnTo>
                  <a:pt x="63271" y="50799"/>
                </a:lnTo>
                <a:close/>
              </a:path>
              <a:path w="2599690" h="4394200">
                <a:moveTo>
                  <a:pt x="2547594" y="50799"/>
                </a:moveTo>
                <a:lnTo>
                  <a:pt x="2536367" y="50799"/>
                </a:lnTo>
                <a:lnTo>
                  <a:pt x="2530055" y="38099"/>
                </a:lnTo>
                <a:lnTo>
                  <a:pt x="2541422" y="38099"/>
                </a:lnTo>
                <a:lnTo>
                  <a:pt x="2547594" y="50799"/>
                </a:lnTo>
                <a:close/>
              </a:path>
              <a:path w="2599690" h="4394200">
                <a:moveTo>
                  <a:pt x="46393" y="63499"/>
                </a:moveTo>
                <a:lnTo>
                  <a:pt x="40576" y="63499"/>
                </a:lnTo>
                <a:lnTo>
                  <a:pt x="46151" y="50799"/>
                </a:lnTo>
                <a:lnTo>
                  <a:pt x="51854" y="50799"/>
                </a:lnTo>
                <a:lnTo>
                  <a:pt x="46393" y="63499"/>
                </a:lnTo>
                <a:close/>
              </a:path>
              <a:path w="2599690" h="4394200">
                <a:moveTo>
                  <a:pt x="2559062" y="63499"/>
                </a:moveTo>
                <a:lnTo>
                  <a:pt x="2553233" y="63499"/>
                </a:lnTo>
                <a:lnTo>
                  <a:pt x="2547772" y="50799"/>
                </a:lnTo>
                <a:lnTo>
                  <a:pt x="2553474" y="50799"/>
                </a:lnTo>
                <a:lnTo>
                  <a:pt x="2559062" y="63499"/>
                </a:lnTo>
                <a:close/>
              </a:path>
              <a:path w="2599690" h="4394200">
                <a:moveTo>
                  <a:pt x="36614" y="76199"/>
                </a:moveTo>
                <a:lnTo>
                  <a:pt x="30352" y="76199"/>
                </a:lnTo>
                <a:lnTo>
                  <a:pt x="35306" y="63499"/>
                </a:lnTo>
                <a:lnTo>
                  <a:pt x="41452" y="63499"/>
                </a:lnTo>
                <a:lnTo>
                  <a:pt x="36614" y="76199"/>
                </a:lnTo>
                <a:close/>
              </a:path>
              <a:path w="2599690" h="4394200">
                <a:moveTo>
                  <a:pt x="2569286" y="76199"/>
                </a:moveTo>
                <a:lnTo>
                  <a:pt x="2563025" y="76199"/>
                </a:lnTo>
                <a:lnTo>
                  <a:pt x="2558173" y="63499"/>
                </a:lnTo>
                <a:lnTo>
                  <a:pt x="2564333" y="63499"/>
                </a:lnTo>
                <a:lnTo>
                  <a:pt x="2569286" y="76199"/>
                </a:lnTo>
                <a:close/>
              </a:path>
              <a:path w="2599690" h="4394200">
                <a:moveTo>
                  <a:pt x="32194" y="88899"/>
                </a:moveTo>
                <a:lnTo>
                  <a:pt x="21450" y="88899"/>
                </a:lnTo>
                <a:lnTo>
                  <a:pt x="25730" y="76199"/>
                </a:lnTo>
                <a:lnTo>
                  <a:pt x="36715" y="76199"/>
                </a:lnTo>
                <a:lnTo>
                  <a:pt x="32194" y="88899"/>
                </a:lnTo>
                <a:close/>
              </a:path>
              <a:path w="2599690" h="4394200">
                <a:moveTo>
                  <a:pt x="2578176" y="88899"/>
                </a:moveTo>
                <a:lnTo>
                  <a:pt x="2567444" y="88899"/>
                </a:lnTo>
                <a:lnTo>
                  <a:pt x="2562923" y="76199"/>
                </a:lnTo>
                <a:lnTo>
                  <a:pt x="2573908" y="76199"/>
                </a:lnTo>
                <a:lnTo>
                  <a:pt x="2578176" y="88899"/>
                </a:lnTo>
                <a:close/>
              </a:path>
              <a:path w="2599690" h="4394200">
                <a:moveTo>
                  <a:pt x="17907" y="114299"/>
                </a:moveTo>
                <a:lnTo>
                  <a:pt x="10782" y="114299"/>
                </a:lnTo>
                <a:lnTo>
                  <a:pt x="13970" y="101599"/>
                </a:lnTo>
                <a:lnTo>
                  <a:pt x="17525" y="88899"/>
                </a:lnTo>
                <a:lnTo>
                  <a:pt x="28194" y="88899"/>
                </a:lnTo>
                <a:lnTo>
                  <a:pt x="24345" y="101599"/>
                </a:lnTo>
                <a:lnTo>
                  <a:pt x="21018" y="101599"/>
                </a:lnTo>
                <a:lnTo>
                  <a:pt x="17907" y="114299"/>
                </a:lnTo>
                <a:close/>
              </a:path>
              <a:path w="2599690" h="4394200">
                <a:moveTo>
                  <a:pt x="2588844" y="114299"/>
                </a:moveTo>
                <a:lnTo>
                  <a:pt x="2581719" y="114299"/>
                </a:lnTo>
                <a:lnTo>
                  <a:pt x="2578607" y="101599"/>
                </a:lnTo>
                <a:lnTo>
                  <a:pt x="2575280" y="101599"/>
                </a:lnTo>
                <a:lnTo>
                  <a:pt x="2571445" y="88899"/>
                </a:lnTo>
                <a:lnTo>
                  <a:pt x="2582100" y="88899"/>
                </a:lnTo>
                <a:lnTo>
                  <a:pt x="2585669" y="101599"/>
                </a:lnTo>
                <a:lnTo>
                  <a:pt x="2588844" y="114299"/>
                </a:lnTo>
                <a:close/>
              </a:path>
              <a:path w="2599690" h="4394200">
                <a:moveTo>
                  <a:pt x="11061" y="139699"/>
                </a:moveTo>
                <a:lnTo>
                  <a:pt x="3619" y="139699"/>
                </a:lnTo>
                <a:lnTo>
                  <a:pt x="5600" y="126999"/>
                </a:lnTo>
                <a:lnTo>
                  <a:pt x="7988" y="114299"/>
                </a:lnTo>
                <a:lnTo>
                  <a:pt x="17970" y="114299"/>
                </a:lnTo>
                <a:lnTo>
                  <a:pt x="15239" y="126999"/>
                </a:lnTo>
                <a:lnTo>
                  <a:pt x="13004" y="126999"/>
                </a:lnTo>
                <a:lnTo>
                  <a:pt x="11061" y="139699"/>
                </a:lnTo>
                <a:close/>
              </a:path>
              <a:path w="2599690" h="4394200">
                <a:moveTo>
                  <a:pt x="2596019" y="139699"/>
                </a:moveTo>
                <a:lnTo>
                  <a:pt x="2588564" y="139699"/>
                </a:lnTo>
                <a:lnTo>
                  <a:pt x="2586634" y="126999"/>
                </a:lnTo>
                <a:lnTo>
                  <a:pt x="2584386" y="126999"/>
                </a:lnTo>
                <a:lnTo>
                  <a:pt x="2581655" y="114299"/>
                </a:lnTo>
                <a:lnTo>
                  <a:pt x="2591638" y="114299"/>
                </a:lnTo>
                <a:lnTo>
                  <a:pt x="2594038" y="126999"/>
                </a:lnTo>
                <a:lnTo>
                  <a:pt x="2596019" y="139699"/>
                </a:lnTo>
                <a:close/>
              </a:path>
              <a:path w="2599690" h="4394200">
                <a:moveTo>
                  <a:pt x="7835" y="165100"/>
                </a:moveTo>
                <a:lnTo>
                  <a:pt x="241" y="165100"/>
                </a:lnTo>
                <a:lnTo>
                  <a:pt x="927" y="152399"/>
                </a:lnTo>
                <a:lnTo>
                  <a:pt x="2044" y="139699"/>
                </a:lnTo>
                <a:lnTo>
                  <a:pt x="9601" y="139699"/>
                </a:lnTo>
                <a:lnTo>
                  <a:pt x="8496" y="152399"/>
                </a:lnTo>
                <a:lnTo>
                  <a:pt x="7835" y="165100"/>
                </a:lnTo>
                <a:close/>
              </a:path>
              <a:path w="2599690" h="4394200">
                <a:moveTo>
                  <a:pt x="2599397" y="165100"/>
                </a:moveTo>
                <a:lnTo>
                  <a:pt x="2591790" y="165100"/>
                </a:lnTo>
                <a:lnTo>
                  <a:pt x="2591117" y="152399"/>
                </a:lnTo>
                <a:lnTo>
                  <a:pt x="2590038" y="139699"/>
                </a:lnTo>
                <a:lnTo>
                  <a:pt x="2597581" y="139699"/>
                </a:lnTo>
                <a:lnTo>
                  <a:pt x="2598712" y="152399"/>
                </a:lnTo>
                <a:lnTo>
                  <a:pt x="2599397" y="165100"/>
                </a:lnTo>
                <a:close/>
              </a:path>
              <a:path w="2599690" h="4394200">
                <a:moveTo>
                  <a:pt x="7848" y="4229100"/>
                </a:moveTo>
                <a:lnTo>
                  <a:pt x="241" y="4229100"/>
                </a:lnTo>
                <a:lnTo>
                  <a:pt x="0" y="4216400"/>
                </a:lnTo>
                <a:lnTo>
                  <a:pt x="0" y="165100"/>
                </a:lnTo>
                <a:lnTo>
                  <a:pt x="7620" y="165100"/>
                </a:lnTo>
                <a:lnTo>
                  <a:pt x="7620" y="4216400"/>
                </a:lnTo>
                <a:lnTo>
                  <a:pt x="7848" y="4229100"/>
                </a:lnTo>
                <a:close/>
              </a:path>
              <a:path w="2599690" h="4394200">
                <a:moveTo>
                  <a:pt x="2599397" y="4229100"/>
                </a:moveTo>
                <a:lnTo>
                  <a:pt x="2591777" y="4229100"/>
                </a:lnTo>
                <a:lnTo>
                  <a:pt x="2592006" y="4216400"/>
                </a:lnTo>
                <a:lnTo>
                  <a:pt x="2592006" y="165100"/>
                </a:lnTo>
                <a:lnTo>
                  <a:pt x="2599626" y="165100"/>
                </a:lnTo>
                <a:lnTo>
                  <a:pt x="2599626" y="4216400"/>
                </a:lnTo>
                <a:lnTo>
                  <a:pt x="2599397" y="4229100"/>
                </a:lnTo>
                <a:close/>
              </a:path>
              <a:path w="2599690" h="4394200">
                <a:moveTo>
                  <a:pt x="11099" y="4254500"/>
                </a:moveTo>
                <a:lnTo>
                  <a:pt x="3619" y="4254500"/>
                </a:lnTo>
                <a:lnTo>
                  <a:pt x="2044" y="4241800"/>
                </a:lnTo>
                <a:lnTo>
                  <a:pt x="927" y="4229100"/>
                </a:lnTo>
                <a:lnTo>
                  <a:pt x="8496" y="4229100"/>
                </a:lnTo>
                <a:lnTo>
                  <a:pt x="9601" y="4241800"/>
                </a:lnTo>
                <a:lnTo>
                  <a:pt x="11099" y="4254500"/>
                </a:lnTo>
                <a:close/>
              </a:path>
              <a:path w="2599690" h="4394200">
                <a:moveTo>
                  <a:pt x="2596019" y="4254500"/>
                </a:moveTo>
                <a:lnTo>
                  <a:pt x="2588526" y="4254500"/>
                </a:lnTo>
                <a:lnTo>
                  <a:pt x="2590063" y="4241800"/>
                </a:lnTo>
                <a:lnTo>
                  <a:pt x="2591142" y="4229100"/>
                </a:lnTo>
                <a:lnTo>
                  <a:pt x="2598712" y="4229100"/>
                </a:lnTo>
                <a:lnTo>
                  <a:pt x="2597581" y="4241800"/>
                </a:lnTo>
                <a:lnTo>
                  <a:pt x="2596019" y="4254500"/>
                </a:lnTo>
                <a:close/>
              </a:path>
              <a:path w="2599690" h="4394200">
                <a:moveTo>
                  <a:pt x="17970" y="4279900"/>
                </a:moveTo>
                <a:lnTo>
                  <a:pt x="10782" y="4279900"/>
                </a:lnTo>
                <a:lnTo>
                  <a:pt x="7988" y="4267200"/>
                </a:lnTo>
                <a:lnTo>
                  <a:pt x="5600" y="4254500"/>
                </a:lnTo>
                <a:lnTo>
                  <a:pt x="12953" y="4254500"/>
                </a:lnTo>
                <a:lnTo>
                  <a:pt x="15290" y="4267200"/>
                </a:lnTo>
                <a:lnTo>
                  <a:pt x="17970" y="4279900"/>
                </a:lnTo>
                <a:close/>
              </a:path>
              <a:path w="2599690" h="4394200">
                <a:moveTo>
                  <a:pt x="2588844" y="4279900"/>
                </a:moveTo>
                <a:lnTo>
                  <a:pt x="2581655" y="4279900"/>
                </a:lnTo>
                <a:lnTo>
                  <a:pt x="2584386" y="4267200"/>
                </a:lnTo>
                <a:lnTo>
                  <a:pt x="2586672" y="4254500"/>
                </a:lnTo>
                <a:lnTo>
                  <a:pt x="2594038" y="4254500"/>
                </a:lnTo>
                <a:lnTo>
                  <a:pt x="2591638" y="4267200"/>
                </a:lnTo>
                <a:lnTo>
                  <a:pt x="2588844" y="4279900"/>
                </a:lnTo>
                <a:close/>
              </a:path>
              <a:path w="2599690" h="4394200">
                <a:moveTo>
                  <a:pt x="32283" y="4305300"/>
                </a:moveTo>
                <a:lnTo>
                  <a:pt x="21450" y="4305300"/>
                </a:lnTo>
                <a:lnTo>
                  <a:pt x="17525" y="4292600"/>
                </a:lnTo>
                <a:lnTo>
                  <a:pt x="13970" y="4279900"/>
                </a:lnTo>
                <a:lnTo>
                  <a:pt x="20955" y="4279900"/>
                </a:lnTo>
                <a:lnTo>
                  <a:pt x="24434" y="4292600"/>
                </a:lnTo>
                <a:lnTo>
                  <a:pt x="28105" y="4292600"/>
                </a:lnTo>
                <a:lnTo>
                  <a:pt x="32283" y="4305300"/>
                </a:lnTo>
                <a:close/>
              </a:path>
              <a:path w="2599690" h="4394200">
                <a:moveTo>
                  <a:pt x="2578176" y="4305300"/>
                </a:moveTo>
                <a:lnTo>
                  <a:pt x="2567343" y="4305300"/>
                </a:lnTo>
                <a:lnTo>
                  <a:pt x="2571534" y="4292600"/>
                </a:lnTo>
                <a:lnTo>
                  <a:pt x="2575204" y="4292600"/>
                </a:lnTo>
                <a:lnTo>
                  <a:pt x="2578684" y="4279900"/>
                </a:lnTo>
                <a:lnTo>
                  <a:pt x="2585669" y="4279900"/>
                </a:lnTo>
                <a:lnTo>
                  <a:pt x="2582100" y="4292600"/>
                </a:lnTo>
                <a:lnTo>
                  <a:pt x="2578176" y="4305300"/>
                </a:lnTo>
                <a:close/>
              </a:path>
              <a:path w="2599690" h="4394200">
                <a:moveTo>
                  <a:pt x="41452" y="4318000"/>
                </a:moveTo>
                <a:lnTo>
                  <a:pt x="30352" y="4318000"/>
                </a:lnTo>
                <a:lnTo>
                  <a:pt x="25730" y="4305300"/>
                </a:lnTo>
                <a:lnTo>
                  <a:pt x="36614" y="4305300"/>
                </a:lnTo>
                <a:lnTo>
                  <a:pt x="41452" y="4318000"/>
                </a:lnTo>
                <a:close/>
              </a:path>
              <a:path w="2599690" h="4394200">
                <a:moveTo>
                  <a:pt x="2569286" y="4318000"/>
                </a:moveTo>
                <a:lnTo>
                  <a:pt x="2558173" y="4318000"/>
                </a:lnTo>
                <a:lnTo>
                  <a:pt x="2563025" y="4305300"/>
                </a:lnTo>
                <a:lnTo>
                  <a:pt x="2573908" y="4305300"/>
                </a:lnTo>
                <a:lnTo>
                  <a:pt x="2569286" y="4318000"/>
                </a:lnTo>
                <a:close/>
              </a:path>
              <a:path w="2599690" h="4394200">
                <a:moveTo>
                  <a:pt x="51854" y="4330700"/>
                </a:moveTo>
                <a:lnTo>
                  <a:pt x="40576" y="4330700"/>
                </a:lnTo>
                <a:lnTo>
                  <a:pt x="35306" y="4318000"/>
                </a:lnTo>
                <a:lnTo>
                  <a:pt x="46393" y="4318000"/>
                </a:lnTo>
                <a:lnTo>
                  <a:pt x="51854" y="4330700"/>
                </a:lnTo>
                <a:close/>
              </a:path>
              <a:path w="2599690" h="4394200">
                <a:moveTo>
                  <a:pt x="2559062" y="4330700"/>
                </a:moveTo>
                <a:lnTo>
                  <a:pt x="2547772" y="4330700"/>
                </a:lnTo>
                <a:lnTo>
                  <a:pt x="2553233" y="4318000"/>
                </a:lnTo>
                <a:lnTo>
                  <a:pt x="2564333" y="4318000"/>
                </a:lnTo>
                <a:lnTo>
                  <a:pt x="2559062" y="4330700"/>
                </a:lnTo>
                <a:close/>
              </a:path>
              <a:path w="2599690" h="4394200">
                <a:moveTo>
                  <a:pt x="63398" y="4343400"/>
                </a:moveTo>
                <a:lnTo>
                  <a:pt x="52044" y="4343400"/>
                </a:lnTo>
                <a:lnTo>
                  <a:pt x="46151" y="4330700"/>
                </a:lnTo>
                <a:lnTo>
                  <a:pt x="57365" y="4330700"/>
                </a:lnTo>
                <a:lnTo>
                  <a:pt x="63398" y="4343400"/>
                </a:lnTo>
                <a:close/>
              </a:path>
              <a:path w="2599690" h="4394200">
                <a:moveTo>
                  <a:pt x="2547594" y="4343400"/>
                </a:moveTo>
                <a:lnTo>
                  <a:pt x="2536228" y="4343400"/>
                </a:lnTo>
                <a:lnTo>
                  <a:pt x="2542273" y="4330700"/>
                </a:lnTo>
                <a:lnTo>
                  <a:pt x="2553474" y="4330700"/>
                </a:lnTo>
                <a:lnTo>
                  <a:pt x="2547594" y="4343400"/>
                </a:lnTo>
                <a:close/>
              </a:path>
              <a:path w="2599690" h="4394200">
                <a:moveTo>
                  <a:pt x="75996" y="4356100"/>
                </a:moveTo>
                <a:lnTo>
                  <a:pt x="64655" y="4356100"/>
                </a:lnTo>
                <a:lnTo>
                  <a:pt x="58204" y="4343400"/>
                </a:lnTo>
                <a:lnTo>
                  <a:pt x="69430" y="4343400"/>
                </a:lnTo>
                <a:lnTo>
                  <a:pt x="75996" y="4356100"/>
                </a:lnTo>
                <a:close/>
              </a:path>
              <a:path w="2599690" h="4394200">
                <a:moveTo>
                  <a:pt x="2534983" y="4356100"/>
                </a:moveTo>
                <a:lnTo>
                  <a:pt x="2523629" y="4356100"/>
                </a:lnTo>
                <a:lnTo>
                  <a:pt x="2530195" y="4343400"/>
                </a:lnTo>
                <a:lnTo>
                  <a:pt x="2541422" y="4343400"/>
                </a:lnTo>
                <a:lnTo>
                  <a:pt x="2534983" y="4356100"/>
                </a:lnTo>
                <a:close/>
              </a:path>
              <a:path w="2599690" h="4394200">
                <a:moveTo>
                  <a:pt x="96697" y="4368800"/>
                </a:moveTo>
                <a:lnTo>
                  <a:pt x="78333" y="4368800"/>
                </a:lnTo>
                <a:lnTo>
                  <a:pt x="71361" y="4356100"/>
                </a:lnTo>
                <a:lnTo>
                  <a:pt x="89420" y="4356100"/>
                </a:lnTo>
                <a:lnTo>
                  <a:pt x="96697" y="4368800"/>
                </a:lnTo>
                <a:close/>
              </a:path>
              <a:path w="2599690" h="4394200">
                <a:moveTo>
                  <a:pt x="2521305" y="4368800"/>
                </a:moveTo>
                <a:lnTo>
                  <a:pt x="2502941" y="4368800"/>
                </a:lnTo>
                <a:lnTo>
                  <a:pt x="2510218" y="4356100"/>
                </a:lnTo>
                <a:lnTo>
                  <a:pt x="2528265" y="4356100"/>
                </a:lnTo>
                <a:lnTo>
                  <a:pt x="2521305" y="4368800"/>
                </a:lnTo>
                <a:close/>
              </a:path>
              <a:path w="2599690" h="4394200">
                <a:moveTo>
                  <a:pt x="119278" y="4381500"/>
                </a:moveTo>
                <a:lnTo>
                  <a:pt x="100634" y="4381500"/>
                </a:lnTo>
                <a:lnTo>
                  <a:pt x="92976" y="4368800"/>
                </a:lnTo>
                <a:lnTo>
                  <a:pt x="111391" y="4368800"/>
                </a:lnTo>
                <a:lnTo>
                  <a:pt x="119278" y="4381500"/>
                </a:lnTo>
                <a:close/>
              </a:path>
              <a:path w="2599690" h="4394200">
                <a:moveTo>
                  <a:pt x="2498991" y="4381500"/>
                </a:moveTo>
                <a:lnTo>
                  <a:pt x="2480348" y="4381500"/>
                </a:lnTo>
                <a:lnTo>
                  <a:pt x="2488247" y="4368800"/>
                </a:lnTo>
                <a:lnTo>
                  <a:pt x="2506649" y="4368800"/>
                </a:lnTo>
                <a:lnTo>
                  <a:pt x="2498991" y="4381500"/>
                </a:lnTo>
                <a:close/>
              </a:path>
              <a:path w="2599690" h="4394200">
                <a:moveTo>
                  <a:pt x="2457767" y="4394200"/>
                </a:moveTo>
                <a:lnTo>
                  <a:pt x="141859" y="4394200"/>
                </a:lnTo>
                <a:lnTo>
                  <a:pt x="133261" y="4381500"/>
                </a:lnTo>
                <a:lnTo>
                  <a:pt x="2466365" y="4381500"/>
                </a:lnTo>
                <a:lnTo>
                  <a:pt x="2457767" y="4394200"/>
                </a:lnTo>
                <a:close/>
              </a:path>
            </a:pathLst>
          </a:custGeom>
          <a:solidFill>
            <a:srgbClr val="FA7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79476" y="2157284"/>
            <a:ext cx="136271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园区安防一体</a:t>
            </a:r>
            <a:r>
              <a:rPr sz="1500" b="1" dirty="0">
                <a:latin typeface="Microsoft JhengHei"/>
                <a:cs typeface="Microsoft JhengHei"/>
              </a:rPr>
              <a:t>化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84035" y="2881286"/>
            <a:ext cx="2337435" cy="1163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门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禁系统与放行指令智能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联 </a:t>
            </a: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动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，简化单据流程，强化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安 </a:t>
            </a: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全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管控，减少人为干预，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打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造高效安全的园区运营环境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91707" y="2574861"/>
            <a:ext cx="2592070" cy="0"/>
          </a:xfrm>
          <a:custGeom>
            <a:avLst/>
            <a:gdLst/>
            <a:ahLst/>
            <a:cxnLst/>
            <a:rect l="l" t="t" r="r" b="b"/>
            <a:pathLst>
              <a:path w="2592070">
                <a:moveTo>
                  <a:pt x="0" y="0"/>
                </a:moveTo>
                <a:lnTo>
                  <a:pt x="2591993" y="0"/>
                </a:lnTo>
              </a:path>
            </a:pathLst>
          </a:custGeom>
          <a:ln w="8889">
            <a:solidFill>
              <a:srgbClr val="FF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15174" y="4945100"/>
            <a:ext cx="1061986" cy="5363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107286" y="5038597"/>
            <a:ext cx="30607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-480" dirty="0">
                <a:solidFill>
                  <a:srgbClr val="FFFFFF"/>
                </a:solidFill>
                <a:latin typeface="微软雅黑"/>
                <a:cs typeface="微软雅黑"/>
              </a:rPr>
              <a:t>0</a:t>
            </a:r>
            <a:r>
              <a:rPr sz="1450" b="1" spc="-30" dirty="0">
                <a:solidFill>
                  <a:srgbClr val="FFFFFF"/>
                </a:solidFill>
                <a:latin typeface="微软雅黑"/>
                <a:cs typeface="微软雅黑"/>
              </a:rPr>
              <a:t>3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971330" y="1472704"/>
            <a:ext cx="2599690" cy="4394200"/>
          </a:xfrm>
          <a:custGeom>
            <a:avLst/>
            <a:gdLst/>
            <a:ahLst/>
            <a:cxnLst/>
            <a:rect l="l" t="t" r="r" b="b"/>
            <a:pathLst>
              <a:path w="2599690" h="4394200">
                <a:moveTo>
                  <a:pt x="135064" y="12699"/>
                </a:moveTo>
                <a:lnTo>
                  <a:pt x="108496" y="12699"/>
                </a:lnTo>
                <a:lnTo>
                  <a:pt x="116573" y="0"/>
                </a:lnTo>
                <a:lnTo>
                  <a:pt x="143471" y="0"/>
                </a:lnTo>
                <a:lnTo>
                  <a:pt x="135064" y="12699"/>
                </a:lnTo>
                <a:close/>
              </a:path>
              <a:path w="2599690" h="4394200">
                <a:moveTo>
                  <a:pt x="2491117" y="12699"/>
                </a:moveTo>
                <a:lnTo>
                  <a:pt x="2464549" y="12699"/>
                </a:lnTo>
                <a:lnTo>
                  <a:pt x="2456141" y="0"/>
                </a:lnTo>
                <a:lnTo>
                  <a:pt x="2483040" y="0"/>
                </a:lnTo>
                <a:lnTo>
                  <a:pt x="2491117" y="12699"/>
                </a:lnTo>
                <a:close/>
              </a:path>
              <a:path w="2599690" h="4394200">
                <a:moveTo>
                  <a:pt x="96520" y="25399"/>
                </a:moveTo>
                <a:lnTo>
                  <a:pt x="85534" y="25399"/>
                </a:lnTo>
                <a:lnTo>
                  <a:pt x="92964" y="12699"/>
                </a:lnTo>
                <a:lnTo>
                  <a:pt x="104025" y="12699"/>
                </a:lnTo>
                <a:lnTo>
                  <a:pt x="96520" y="25399"/>
                </a:lnTo>
                <a:close/>
              </a:path>
              <a:path w="2599690" h="4394200">
                <a:moveTo>
                  <a:pt x="2514092" y="25399"/>
                </a:moveTo>
                <a:lnTo>
                  <a:pt x="2503093" y="25399"/>
                </a:lnTo>
                <a:lnTo>
                  <a:pt x="2495588" y="12699"/>
                </a:lnTo>
                <a:lnTo>
                  <a:pt x="2506649" y="12699"/>
                </a:lnTo>
                <a:lnTo>
                  <a:pt x="2514092" y="25399"/>
                </a:lnTo>
                <a:close/>
              </a:path>
              <a:path w="2599690" h="4394200">
                <a:moveTo>
                  <a:pt x="75844" y="38099"/>
                </a:moveTo>
                <a:lnTo>
                  <a:pt x="64643" y="38099"/>
                </a:lnTo>
                <a:lnTo>
                  <a:pt x="71361" y="25399"/>
                </a:lnTo>
                <a:lnTo>
                  <a:pt x="82664" y="25399"/>
                </a:lnTo>
                <a:lnTo>
                  <a:pt x="75844" y="38099"/>
                </a:lnTo>
                <a:close/>
              </a:path>
              <a:path w="2599690" h="4394200">
                <a:moveTo>
                  <a:pt x="2534970" y="38099"/>
                </a:moveTo>
                <a:lnTo>
                  <a:pt x="2523769" y="38099"/>
                </a:lnTo>
                <a:lnTo>
                  <a:pt x="2516949" y="25399"/>
                </a:lnTo>
                <a:lnTo>
                  <a:pt x="2528252" y="25399"/>
                </a:lnTo>
                <a:lnTo>
                  <a:pt x="2534970" y="38099"/>
                </a:lnTo>
                <a:close/>
              </a:path>
              <a:path w="2599690" h="4394200">
                <a:moveTo>
                  <a:pt x="63258" y="50799"/>
                </a:moveTo>
                <a:lnTo>
                  <a:pt x="52031" y="50799"/>
                </a:lnTo>
                <a:lnTo>
                  <a:pt x="58204" y="38099"/>
                </a:lnTo>
                <a:lnTo>
                  <a:pt x="69570" y="38099"/>
                </a:lnTo>
                <a:lnTo>
                  <a:pt x="63258" y="50799"/>
                </a:lnTo>
                <a:close/>
              </a:path>
              <a:path w="2599690" h="4394200">
                <a:moveTo>
                  <a:pt x="2547581" y="50799"/>
                </a:moveTo>
                <a:lnTo>
                  <a:pt x="2536355" y="50799"/>
                </a:lnTo>
                <a:lnTo>
                  <a:pt x="2530043" y="38099"/>
                </a:lnTo>
                <a:lnTo>
                  <a:pt x="2541409" y="38099"/>
                </a:lnTo>
                <a:lnTo>
                  <a:pt x="2547581" y="50799"/>
                </a:lnTo>
                <a:close/>
              </a:path>
              <a:path w="2599690" h="4394200">
                <a:moveTo>
                  <a:pt x="46380" y="63499"/>
                </a:moveTo>
                <a:lnTo>
                  <a:pt x="40563" y="63499"/>
                </a:lnTo>
                <a:lnTo>
                  <a:pt x="46151" y="50799"/>
                </a:lnTo>
                <a:lnTo>
                  <a:pt x="51854" y="50799"/>
                </a:lnTo>
                <a:lnTo>
                  <a:pt x="46380" y="63499"/>
                </a:lnTo>
                <a:close/>
              </a:path>
              <a:path w="2599690" h="4394200">
                <a:moveTo>
                  <a:pt x="2559050" y="63499"/>
                </a:moveTo>
                <a:lnTo>
                  <a:pt x="2553233" y="63499"/>
                </a:lnTo>
                <a:lnTo>
                  <a:pt x="2547772" y="50799"/>
                </a:lnTo>
                <a:lnTo>
                  <a:pt x="2553462" y="50799"/>
                </a:lnTo>
                <a:lnTo>
                  <a:pt x="2559050" y="63499"/>
                </a:lnTo>
                <a:close/>
              </a:path>
              <a:path w="2599690" h="4394200">
                <a:moveTo>
                  <a:pt x="36601" y="76199"/>
                </a:moveTo>
                <a:lnTo>
                  <a:pt x="30340" y="76199"/>
                </a:lnTo>
                <a:lnTo>
                  <a:pt x="35293" y="63499"/>
                </a:lnTo>
                <a:lnTo>
                  <a:pt x="41452" y="63499"/>
                </a:lnTo>
                <a:lnTo>
                  <a:pt x="36601" y="76199"/>
                </a:lnTo>
                <a:close/>
              </a:path>
              <a:path w="2599690" h="4394200">
                <a:moveTo>
                  <a:pt x="2569273" y="76199"/>
                </a:moveTo>
                <a:lnTo>
                  <a:pt x="2563012" y="76199"/>
                </a:lnTo>
                <a:lnTo>
                  <a:pt x="2558160" y="63499"/>
                </a:lnTo>
                <a:lnTo>
                  <a:pt x="2564320" y="63499"/>
                </a:lnTo>
                <a:lnTo>
                  <a:pt x="2569273" y="76199"/>
                </a:lnTo>
                <a:close/>
              </a:path>
              <a:path w="2599690" h="4394200">
                <a:moveTo>
                  <a:pt x="32181" y="88899"/>
                </a:moveTo>
                <a:lnTo>
                  <a:pt x="21437" y="88899"/>
                </a:lnTo>
                <a:lnTo>
                  <a:pt x="25717" y="76199"/>
                </a:lnTo>
                <a:lnTo>
                  <a:pt x="36702" y="76199"/>
                </a:lnTo>
                <a:lnTo>
                  <a:pt x="32181" y="88899"/>
                </a:lnTo>
                <a:close/>
              </a:path>
              <a:path w="2599690" h="4394200">
                <a:moveTo>
                  <a:pt x="2578176" y="88899"/>
                </a:moveTo>
                <a:lnTo>
                  <a:pt x="2567431" y="88899"/>
                </a:lnTo>
                <a:lnTo>
                  <a:pt x="2562910" y="76199"/>
                </a:lnTo>
                <a:lnTo>
                  <a:pt x="2573896" y="76199"/>
                </a:lnTo>
                <a:lnTo>
                  <a:pt x="2578176" y="88899"/>
                </a:lnTo>
                <a:close/>
              </a:path>
              <a:path w="2599690" h="4394200">
                <a:moveTo>
                  <a:pt x="17906" y="114299"/>
                </a:moveTo>
                <a:lnTo>
                  <a:pt x="10782" y="114299"/>
                </a:lnTo>
                <a:lnTo>
                  <a:pt x="13957" y="101599"/>
                </a:lnTo>
                <a:lnTo>
                  <a:pt x="17513" y="88899"/>
                </a:lnTo>
                <a:lnTo>
                  <a:pt x="28181" y="88899"/>
                </a:lnTo>
                <a:lnTo>
                  <a:pt x="24345" y="101599"/>
                </a:lnTo>
                <a:lnTo>
                  <a:pt x="21018" y="101599"/>
                </a:lnTo>
                <a:lnTo>
                  <a:pt x="17906" y="114299"/>
                </a:lnTo>
                <a:close/>
              </a:path>
              <a:path w="2599690" h="4394200">
                <a:moveTo>
                  <a:pt x="2588831" y="114299"/>
                </a:moveTo>
                <a:lnTo>
                  <a:pt x="2581719" y="114299"/>
                </a:lnTo>
                <a:lnTo>
                  <a:pt x="2578595" y="101599"/>
                </a:lnTo>
                <a:lnTo>
                  <a:pt x="2575267" y="101599"/>
                </a:lnTo>
                <a:lnTo>
                  <a:pt x="2571432" y="88899"/>
                </a:lnTo>
                <a:lnTo>
                  <a:pt x="2582100" y="88899"/>
                </a:lnTo>
                <a:lnTo>
                  <a:pt x="2585656" y="101599"/>
                </a:lnTo>
                <a:lnTo>
                  <a:pt x="2588831" y="114299"/>
                </a:lnTo>
                <a:close/>
              </a:path>
              <a:path w="2599690" h="4394200">
                <a:moveTo>
                  <a:pt x="11049" y="139699"/>
                </a:moveTo>
                <a:lnTo>
                  <a:pt x="3606" y="139699"/>
                </a:lnTo>
                <a:lnTo>
                  <a:pt x="5588" y="126999"/>
                </a:lnTo>
                <a:lnTo>
                  <a:pt x="7988" y="114299"/>
                </a:lnTo>
                <a:lnTo>
                  <a:pt x="17970" y="114299"/>
                </a:lnTo>
                <a:lnTo>
                  <a:pt x="15227" y="126999"/>
                </a:lnTo>
                <a:lnTo>
                  <a:pt x="12992" y="126999"/>
                </a:lnTo>
                <a:lnTo>
                  <a:pt x="11049" y="139699"/>
                </a:lnTo>
                <a:close/>
              </a:path>
              <a:path w="2599690" h="4394200">
                <a:moveTo>
                  <a:pt x="2596006" y="139699"/>
                </a:moveTo>
                <a:lnTo>
                  <a:pt x="2588564" y="139699"/>
                </a:lnTo>
                <a:lnTo>
                  <a:pt x="2586621" y="126999"/>
                </a:lnTo>
                <a:lnTo>
                  <a:pt x="2584386" y="126999"/>
                </a:lnTo>
                <a:lnTo>
                  <a:pt x="2581643" y="114299"/>
                </a:lnTo>
                <a:lnTo>
                  <a:pt x="2591625" y="114299"/>
                </a:lnTo>
                <a:lnTo>
                  <a:pt x="2594025" y="126999"/>
                </a:lnTo>
                <a:lnTo>
                  <a:pt x="2596006" y="139699"/>
                </a:lnTo>
                <a:close/>
              </a:path>
              <a:path w="2599690" h="4394200">
                <a:moveTo>
                  <a:pt x="7835" y="165100"/>
                </a:moveTo>
                <a:lnTo>
                  <a:pt x="228" y="165100"/>
                </a:lnTo>
                <a:lnTo>
                  <a:pt x="914" y="152399"/>
                </a:lnTo>
                <a:lnTo>
                  <a:pt x="2044" y="139699"/>
                </a:lnTo>
                <a:lnTo>
                  <a:pt x="9588" y="139699"/>
                </a:lnTo>
                <a:lnTo>
                  <a:pt x="8483" y="152399"/>
                </a:lnTo>
                <a:lnTo>
                  <a:pt x="7835" y="165100"/>
                </a:lnTo>
                <a:close/>
              </a:path>
              <a:path w="2599690" h="4394200">
                <a:moveTo>
                  <a:pt x="2599385" y="165100"/>
                </a:moveTo>
                <a:lnTo>
                  <a:pt x="2591777" y="165100"/>
                </a:lnTo>
                <a:lnTo>
                  <a:pt x="2591104" y="152399"/>
                </a:lnTo>
                <a:lnTo>
                  <a:pt x="2590025" y="139699"/>
                </a:lnTo>
                <a:lnTo>
                  <a:pt x="2597569" y="139699"/>
                </a:lnTo>
                <a:lnTo>
                  <a:pt x="2598699" y="152399"/>
                </a:lnTo>
                <a:lnTo>
                  <a:pt x="2599385" y="165100"/>
                </a:lnTo>
                <a:close/>
              </a:path>
              <a:path w="2599690" h="4394200">
                <a:moveTo>
                  <a:pt x="7835" y="4229100"/>
                </a:moveTo>
                <a:lnTo>
                  <a:pt x="228" y="4229100"/>
                </a:lnTo>
                <a:lnTo>
                  <a:pt x="0" y="4216400"/>
                </a:lnTo>
                <a:lnTo>
                  <a:pt x="0" y="165100"/>
                </a:lnTo>
                <a:lnTo>
                  <a:pt x="7620" y="165100"/>
                </a:lnTo>
                <a:lnTo>
                  <a:pt x="7620" y="4216400"/>
                </a:lnTo>
                <a:lnTo>
                  <a:pt x="7835" y="4229100"/>
                </a:lnTo>
                <a:close/>
              </a:path>
              <a:path w="2599690" h="4394200">
                <a:moveTo>
                  <a:pt x="2599385" y="4229100"/>
                </a:moveTo>
                <a:lnTo>
                  <a:pt x="2591777" y="4229100"/>
                </a:lnTo>
                <a:lnTo>
                  <a:pt x="2591993" y="4216400"/>
                </a:lnTo>
                <a:lnTo>
                  <a:pt x="2591993" y="165100"/>
                </a:lnTo>
                <a:lnTo>
                  <a:pt x="2599613" y="165100"/>
                </a:lnTo>
                <a:lnTo>
                  <a:pt x="2599613" y="4216400"/>
                </a:lnTo>
                <a:lnTo>
                  <a:pt x="2599385" y="4229100"/>
                </a:lnTo>
                <a:close/>
              </a:path>
              <a:path w="2599690" h="4394200">
                <a:moveTo>
                  <a:pt x="11087" y="4254500"/>
                </a:moveTo>
                <a:lnTo>
                  <a:pt x="3606" y="4254500"/>
                </a:lnTo>
                <a:lnTo>
                  <a:pt x="2044" y="4241800"/>
                </a:lnTo>
                <a:lnTo>
                  <a:pt x="914" y="4229100"/>
                </a:lnTo>
                <a:lnTo>
                  <a:pt x="8483" y="4229100"/>
                </a:lnTo>
                <a:lnTo>
                  <a:pt x="9588" y="4241800"/>
                </a:lnTo>
                <a:lnTo>
                  <a:pt x="11087" y="4254500"/>
                </a:lnTo>
                <a:close/>
              </a:path>
              <a:path w="2599690" h="4394200">
                <a:moveTo>
                  <a:pt x="2596006" y="4254500"/>
                </a:moveTo>
                <a:lnTo>
                  <a:pt x="2588526" y="4254500"/>
                </a:lnTo>
                <a:lnTo>
                  <a:pt x="2590050" y="4241800"/>
                </a:lnTo>
                <a:lnTo>
                  <a:pt x="2591130" y="4229100"/>
                </a:lnTo>
                <a:lnTo>
                  <a:pt x="2598699" y="4229100"/>
                </a:lnTo>
                <a:lnTo>
                  <a:pt x="2597569" y="4241800"/>
                </a:lnTo>
                <a:lnTo>
                  <a:pt x="2596006" y="4254500"/>
                </a:lnTo>
                <a:close/>
              </a:path>
              <a:path w="2599690" h="4394200">
                <a:moveTo>
                  <a:pt x="17970" y="4279900"/>
                </a:moveTo>
                <a:lnTo>
                  <a:pt x="10782" y="4279900"/>
                </a:lnTo>
                <a:lnTo>
                  <a:pt x="7988" y="4267200"/>
                </a:lnTo>
                <a:lnTo>
                  <a:pt x="5588" y="4254500"/>
                </a:lnTo>
                <a:lnTo>
                  <a:pt x="12941" y="4254500"/>
                </a:lnTo>
                <a:lnTo>
                  <a:pt x="15290" y="4267200"/>
                </a:lnTo>
                <a:lnTo>
                  <a:pt x="17970" y="4279900"/>
                </a:lnTo>
                <a:close/>
              </a:path>
              <a:path w="2599690" h="4394200">
                <a:moveTo>
                  <a:pt x="2588831" y="4279900"/>
                </a:moveTo>
                <a:lnTo>
                  <a:pt x="2581643" y="4279900"/>
                </a:lnTo>
                <a:lnTo>
                  <a:pt x="2584386" y="4267200"/>
                </a:lnTo>
                <a:lnTo>
                  <a:pt x="2586672" y="4254500"/>
                </a:lnTo>
                <a:lnTo>
                  <a:pt x="2594025" y="4254500"/>
                </a:lnTo>
                <a:lnTo>
                  <a:pt x="2591625" y="4267200"/>
                </a:lnTo>
                <a:lnTo>
                  <a:pt x="2588831" y="4279900"/>
                </a:lnTo>
                <a:close/>
              </a:path>
              <a:path w="2599690" h="4394200">
                <a:moveTo>
                  <a:pt x="32283" y="4305300"/>
                </a:moveTo>
                <a:lnTo>
                  <a:pt x="21437" y="4305300"/>
                </a:lnTo>
                <a:lnTo>
                  <a:pt x="17513" y="4292600"/>
                </a:lnTo>
                <a:lnTo>
                  <a:pt x="13957" y="4279900"/>
                </a:lnTo>
                <a:lnTo>
                  <a:pt x="20942" y="4279900"/>
                </a:lnTo>
                <a:lnTo>
                  <a:pt x="24422" y="4292600"/>
                </a:lnTo>
                <a:lnTo>
                  <a:pt x="28092" y="4292600"/>
                </a:lnTo>
                <a:lnTo>
                  <a:pt x="32283" y="4305300"/>
                </a:lnTo>
                <a:close/>
              </a:path>
              <a:path w="2599690" h="4394200">
                <a:moveTo>
                  <a:pt x="2578176" y="4305300"/>
                </a:moveTo>
                <a:lnTo>
                  <a:pt x="2567330" y="4305300"/>
                </a:lnTo>
                <a:lnTo>
                  <a:pt x="2571521" y="4292600"/>
                </a:lnTo>
                <a:lnTo>
                  <a:pt x="2575191" y="4292600"/>
                </a:lnTo>
                <a:lnTo>
                  <a:pt x="2578671" y="4279900"/>
                </a:lnTo>
                <a:lnTo>
                  <a:pt x="2585656" y="4279900"/>
                </a:lnTo>
                <a:lnTo>
                  <a:pt x="2582100" y="4292600"/>
                </a:lnTo>
                <a:lnTo>
                  <a:pt x="2578176" y="4305300"/>
                </a:lnTo>
                <a:close/>
              </a:path>
              <a:path w="2599690" h="4394200">
                <a:moveTo>
                  <a:pt x="41452" y="4318000"/>
                </a:moveTo>
                <a:lnTo>
                  <a:pt x="30340" y="4318000"/>
                </a:lnTo>
                <a:lnTo>
                  <a:pt x="25717" y="4305300"/>
                </a:lnTo>
                <a:lnTo>
                  <a:pt x="36601" y="4305300"/>
                </a:lnTo>
                <a:lnTo>
                  <a:pt x="41452" y="4318000"/>
                </a:lnTo>
                <a:close/>
              </a:path>
              <a:path w="2599690" h="4394200">
                <a:moveTo>
                  <a:pt x="2569273" y="4318000"/>
                </a:moveTo>
                <a:lnTo>
                  <a:pt x="2558160" y="4318000"/>
                </a:lnTo>
                <a:lnTo>
                  <a:pt x="2563012" y="4305300"/>
                </a:lnTo>
                <a:lnTo>
                  <a:pt x="2573896" y="4305300"/>
                </a:lnTo>
                <a:lnTo>
                  <a:pt x="2569273" y="4318000"/>
                </a:lnTo>
                <a:close/>
              </a:path>
              <a:path w="2599690" h="4394200">
                <a:moveTo>
                  <a:pt x="51854" y="4330700"/>
                </a:moveTo>
                <a:lnTo>
                  <a:pt x="40563" y="4330700"/>
                </a:lnTo>
                <a:lnTo>
                  <a:pt x="35293" y="4318000"/>
                </a:lnTo>
                <a:lnTo>
                  <a:pt x="46380" y="4318000"/>
                </a:lnTo>
                <a:lnTo>
                  <a:pt x="51854" y="4330700"/>
                </a:lnTo>
                <a:close/>
              </a:path>
              <a:path w="2599690" h="4394200">
                <a:moveTo>
                  <a:pt x="2559050" y="4330700"/>
                </a:moveTo>
                <a:lnTo>
                  <a:pt x="2547772" y="4330700"/>
                </a:lnTo>
                <a:lnTo>
                  <a:pt x="2553233" y="4318000"/>
                </a:lnTo>
                <a:lnTo>
                  <a:pt x="2564320" y="4318000"/>
                </a:lnTo>
                <a:lnTo>
                  <a:pt x="2559050" y="4330700"/>
                </a:lnTo>
                <a:close/>
              </a:path>
              <a:path w="2599690" h="4394200">
                <a:moveTo>
                  <a:pt x="63398" y="4343400"/>
                </a:moveTo>
                <a:lnTo>
                  <a:pt x="52031" y="4343400"/>
                </a:lnTo>
                <a:lnTo>
                  <a:pt x="46151" y="4330700"/>
                </a:lnTo>
                <a:lnTo>
                  <a:pt x="57353" y="4330700"/>
                </a:lnTo>
                <a:lnTo>
                  <a:pt x="63398" y="4343400"/>
                </a:lnTo>
                <a:close/>
              </a:path>
              <a:path w="2599690" h="4394200">
                <a:moveTo>
                  <a:pt x="2547581" y="4343400"/>
                </a:moveTo>
                <a:lnTo>
                  <a:pt x="2536228" y="4343400"/>
                </a:lnTo>
                <a:lnTo>
                  <a:pt x="2542260" y="4330700"/>
                </a:lnTo>
                <a:lnTo>
                  <a:pt x="2553462" y="4330700"/>
                </a:lnTo>
                <a:lnTo>
                  <a:pt x="2547581" y="4343400"/>
                </a:lnTo>
                <a:close/>
              </a:path>
              <a:path w="2599690" h="4394200">
                <a:moveTo>
                  <a:pt x="75996" y="4356100"/>
                </a:moveTo>
                <a:lnTo>
                  <a:pt x="64643" y="4356100"/>
                </a:lnTo>
                <a:lnTo>
                  <a:pt x="58204" y="4343400"/>
                </a:lnTo>
                <a:lnTo>
                  <a:pt x="69430" y="4343400"/>
                </a:lnTo>
                <a:lnTo>
                  <a:pt x="75996" y="4356100"/>
                </a:lnTo>
                <a:close/>
              </a:path>
              <a:path w="2599690" h="4394200">
                <a:moveTo>
                  <a:pt x="2534970" y="4356100"/>
                </a:moveTo>
                <a:lnTo>
                  <a:pt x="2523617" y="4356100"/>
                </a:lnTo>
                <a:lnTo>
                  <a:pt x="2530195" y="4343400"/>
                </a:lnTo>
                <a:lnTo>
                  <a:pt x="2541409" y="4343400"/>
                </a:lnTo>
                <a:lnTo>
                  <a:pt x="2534970" y="4356100"/>
                </a:lnTo>
                <a:close/>
              </a:path>
              <a:path w="2599690" h="4394200">
                <a:moveTo>
                  <a:pt x="96685" y="4368800"/>
                </a:moveTo>
                <a:lnTo>
                  <a:pt x="78320" y="4368800"/>
                </a:lnTo>
                <a:lnTo>
                  <a:pt x="71361" y="4356100"/>
                </a:lnTo>
                <a:lnTo>
                  <a:pt x="89407" y="4356100"/>
                </a:lnTo>
                <a:lnTo>
                  <a:pt x="96685" y="4368800"/>
                </a:lnTo>
                <a:close/>
              </a:path>
              <a:path w="2599690" h="4394200">
                <a:moveTo>
                  <a:pt x="2521292" y="4368800"/>
                </a:moveTo>
                <a:lnTo>
                  <a:pt x="2502928" y="4368800"/>
                </a:lnTo>
                <a:lnTo>
                  <a:pt x="2510205" y="4356100"/>
                </a:lnTo>
                <a:lnTo>
                  <a:pt x="2528252" y="4356100"/>
                </a:lnTo>
                <a:lnTo>
                  <a:pt x="2521292" y="4368800"/>
                </a:lnTo>
                <a:close/>
              </a:path>
              <a:path w="2599690" h="4394200">
                <a:moveTo>
                  <a:pt x="119278" y="4381500"/>
                </a:moveTo>
                <a:lnTo>
                  <a:pt x="100634" y="4381500"/>
                </a:lnTo>
                <a:lnTo>
                  <a:pt x="92964" y="4368800"/>
                </a:lnTo>
                <a:lnTo>
                  <a:pt x="111378" y="4368800"/>
                </a:lnTo>
                <a:lnTo>
                  <a:pt x="119278" y="4381500"/>
                </a:lnTo>
                <a:close/>
              </a:path>
              <a:path w="2599690" h="4394200">
                <a:moveTo>
                  <a:pt x="2498979" y="4381500"/>
                </a:moveTo>
                <a:lnTo>
                  <a:pt x="2480335" y="4381500"/>
                </a:lnTo>
                <a:lnTo>
                  <a:pt x="2488234" y="4368800"/>
                </a:lnTo>
                <a:lnTo>
                  <a:pt x="2506649" y="4368800"/>
                </a:lnTo>
                <a:lnTo>
                  <a:pt x="2498979" y="4381500"/>
                </a:lnTo>
                <a:close/>
              </a:path>
              <a:path w="2599690" h="4394200">
                <a:moveTo>
                  <a:pt x="2457767" y="4394200"/>
                </a:moveTo>
                <a:lnTo>
                  <a:pt x="141858" y="4394200"/>
                </a:lnTo>
                <a:lnTo>
                  <a:pt x="133261" y="4381500"/>
                </a:lnTo>
                <a:lnTo>
                  <a:pt x="2466352" y="4381500"/>
                </a:lnTo>
                <a:lnTo>
                  <a:pt x="2457767" y="4394200"/>
                </a:lnTo>
                <a:close/>
              </a:path>
            </a:pathLst>
          </a:custGeom>
          <a:solidFill>
            <a:srgbClr val="FA7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162897" y="2157284"/>
            <a:ext cx="155384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无人值守称重集</a:t>
            </a:r>
            <a:r>
              <a:rPr sz="1500" b="1" dirty="0">
                <a:latin typeface="Microsoft JhengHei"/>
                <a:cs typeface="Microsoft JhengHei"/>
              </a:rPr>
              <a:t>成</a:t>
            </a:r>
            <a:endParaRPr sz="1500">
              <a:latin typeface="Microsoft JhengHei"/>
              <a:cs typeface="Microsoft JhengHe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67469" y="2881286"/>
            <a:ext cx="2337435" cy="1163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400" spc="105" dirty="0">
                <a:solidFill>
                  <a:srgbClr val="404040"/>
                </a:solidFill>
                <a:latin typeface="Arial Unicode MS"/>
                <a:cs typeface="Arial Unicode MS"/>
              </a:rPr>
              <a:t>重车</a:t>
            </a:r>
            <a:r>
              <a:rPr sz="1400" spc="254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400" spc="105" dirty="0">
                <a:solidFill>
                  <a:srgbClr val="404040"/>
                </a:solidFill>
                <a:latin typeface="Arial Unicode MS"/>
                <a:cs typeface="Arial Unicode MS"/>
              </a:rPr>
              <a:t>轻车</a:t>
            </a:r>
            <a:r>
              <a:rPr sz="1400" spc="110" dirty="0">
                <a:solidFill>
                  <a:srgbClr val="404040"/>
                </a:solidFill>
                <a:latin typeface="Arial Unicode MS"/>
                <a:cs typeface="Arial Unicode MS"/>
              </a:rPr>
              <a:t>过磅数据自动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步，实现全流程无人化称重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25" dirty="0">
                <a:solidFill>
                  <a:srgbClr val="404040"/>
                </a:solidFill>
                <a:latin typeface="Arial Unicode MS"/>
                <a:cs typeface="Arial Unicode MS"/>
              </a:rPr>
              <a:t>提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升数据准确性，降低人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力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成本，优化物流环节效率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975140" y="2574861"/>
            <a:ext cx="2592070" cy="0"/>
          </a:xfrm>
          <a:custGeom>
            <a:avLst/>
            <a:gdLst/>
            <a:ahLst/>
            <a:cxnLst/>
            <a:rect l="l" t="t" r="r" b="b"/>
            <a:pathLst>
              <a:path w="2592070">
                <a:moveTo>
                  <a:pt x="0" y="0"/>
                </a:moveTo>
                <a:lnTo>
                  <a:pt x="2591993" y="0"/>
                </a:lnTo>
              </a:path>
            </a:pathLst>
          </a:custGeom>
          <a:ln w="8889">
            <a:solidFill>
              <a:srgbClr val="FF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498607" y="4945100"/>
            <a:ext cx="1061986" cy="5363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890719" y="5038597"/>
            <a:ext cx="30607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-480" dirty="0">
                <a:solidFill>
                  <a:srgbClr val="FFFFFF"/>
                </a:solidFill>
                <a:latin typeface="微软雅黑"/>
                <a:cs typeface="微软雅黑"/>
              </a:rPr>
              <a:t>0</a:t>
            </a:r>
            <a:r>
              <a:rPr sz="1450" b="1" spc="-30" dirty="0">
                <a:solidFill>
                  <a:srgbClr val="FFFFFF"/>
                </a:solidFill>
                <a:latin typeface="微软雅黑"/>
                <a:cs typeface="微软雅黑"/>
              </a:rPr>
              <a:t>4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管理机制保</a:t>
            </a:r>
            <a:r>
              <a:rPr spc="-30" dirty="0"/>
              <a:t>障</a:t>
            </a:r>
          </a:p>
        </p:txBody>
      </p:sp>
      <p:sp>
        <p:nvSpPr>
          <p:cNvPr id="3" name="object 3"/>
          <p:cNvSpPr/>
          <p:nvPr/>
        </p:nvSpPr>
        <p:spPr>
          <a:xfrm>
            <a:off x="548220" y="1458163"/>
            <a:ext cx="3628605" cy="44223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0254" y="3145916"/>
            <a:ext cx="2884805" cy="1003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</a:pP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基于系统所采集的</a:t>
            </a: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业务流程数据，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以 履约率、违规记录</a:t>
            </a: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、服务评价、安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全 事故等为核心依据</a:t>
            </a: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，设定黑白名单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准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入与退出标准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0254" y="4415716"/>
            <a:ext cx="2884170" cy="864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405" marR="5080" indent="-179705">
              <a:lnSpc>
                <a:spcPct val="109700"/>
              </a:lnSpc>
            </a:pPr>
            <a:r>
              <a:rPr sz="1200" dirty="0">
                <a:solidFill>
                  <a:srgbClr val="808080"/>
                </a:solidFill>
                <a:latin typeface="Arial"/>
                <a:cs typeface="Arial"/>
              </a:rPr>
              <a:t>•  </a:t>
            </a:r>
            <a:r>
              <a:rPr sz="1200" spc="-1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200" spc="40" dirty="0">
                <a:solidFill>
                  <a:srgbClr val="808080"/>
                </a:solidFill>
                <a:latin typeface="Arial Unicode MS"/>
                <a:cs typeface="Arial Unicode MS"/>
              </a:rPr>
              <a:t>黑名单主体</a:t>
            </a:r>
            <a:r>
              <a:rPr sz="1200" spc="45" dirty="0">
                <a:solidFill>
                  <a:srgbClr val="808080"/>
                </a:solidFill>
                <a:latin typeface="Arial Unicode MS"/>
                <a:cs typeface="Arial Unicode MS"/>
              </a:rPr>
              <a:t>：限制接单、限制园区资</a:t>
            </a: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源 使用、永久禁止入驻等；</a:t>
            </a:r>
            <a:endParaRPr sz="1200">
              <a:latin typeface="Arial Unicode MS"/>
              <a:cs typeface="Arial Unicode MS"/>
            </a:endParaRPr>
          </a:p>
          <a:p>
            <a:pPr marL="192405" marR="5080" indent="-179705">
              <a:lnSpc>
                <a:spcPct val="109700"/>
              </a:lnSpc>
              <a:spcBef>
                <a:spcPts val="600"/>
              </a:spcBef>
            </a:pPr>
            <a:r>
              <a:rPr sz="1200" dirty="0">
                <a:solidFill>
                  <a:srgbClr val="808080"/>
                </a:solidFill>
                <a:latin typeface="Arial"/>
                <a:cs typeface="Arial"/>
              </a:rPr>
              <a:t>•  </a:t>
            </a:r>
            <a:r>
              <a:rPr sz="1200" spc="-1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200" spc="40" dirty="0">
                <a:solidFill>
                  <a:srgbClr val="808080"/>
                </a:solidFill>
                <a:latin typeface="Arial Unicode MS"/>
                <a:cs typeface="Arial Unicode MS"/>
              </a:rPr>
              <a:t>白名单主体</a:t>
            </a:r>
            <a:r>
              <a:rPr sz="1200" spc="45" dirty="0">
                <a:solidFill>
                  <a:srgbClr val="808080"/>
                </a:solidFill>
                <a:latin typeface="Arial Unicode MS"/>
                <a:cs typeface="Arial Unicode MS"/>
              </a:rPr>
              <a:t>：优先分配订单、优先使</a:t>
            </a: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用 园区资源、享受结算优惠等；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2926" y="1937816"/>
            <a:ext cx="2599194" cy="6551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35925" y="2091397"/>
            <a:ext cx="145288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黑白名单管理机制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42516" y="2724924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889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81703" y="1458163"/>
            <a:ext cx="3628605" cy="44223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53737" y="3145916"/>
            <a:ext cx="2884805" cy="1003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</a:pP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以履约时效、违规</a:t>
            </a: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记录、好评或恶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意 投诉记录等作为依</a:t>
            </a: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据，基于系统数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据 自动判定奖惩，并</a:t>
            </a: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建全通告、兑现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、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申诉等环节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53737" y="4415716"/>
            <a:ext cx="2884170" cy="864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405" marR="5080" indent="-179705">
              <a:lnSpc>
                <a:spcPct val="109700"/>
              </a:lnSpc>
            </a:pPr>
            <a:r>
              <a:rPr sz="1200" dirty="0">
                <a:solidFill>
                  <a:srgbClr val="808080"/>
                </a:solidFill>
                <a:latin typeface="Arial"/>
                <a:cs typeface="Arial"/>
              </a:rPr>
              <a:t>•  </a:t>
            </a:r>
            <a:r>
              <a:rPr sz="1200" spc="-1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200" spc="40" dirty="0">
                <a:solidFill>
                  <a:srgbClr val="808080"/>
                </a:solidFill>
                <a:latin typeface="Arial Unicode MS"/>
                <a:cs typeface="Arial Unicode MS"/>
              </a:rPr>
              <a:t>奖励形式：</a:t>
            </a:r>
            <a:r>
              <a:rPr sz="1200" spc="45" dirty="0">
                <a:solidFill>
                  <a:srgbClr val="808080"/>
                </a:solidFill>
                <a:latin typeface="Arial Unicode MS"/>
                <a:cs typeface="Arial Unicode MS"/>
              </a:rPr>
              <a:t>现金补贴、服务升级、荣</a:t>
            </a: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誉 认证、优先续约权等；</a:t>
            </a:r>
            <a:endParaRPr sz="1200">
              <a:latin typeface="Arial Unicode MS"/>
              <a:cs typeface="Arial Unicode MS"/>
            </a:endParaRPr>
          </a:p>
          <a:p>
            <a:pPr marL="192405" marR="5080" indent="-179705">
              <a:lnSpc>
                <a:spcPct val="109700"/>
              </a:lnSpc>
              <a:spcBef>
                <a:spcPts val="600"/>
              </a:spcBef>
            </a:pPr>
            <a:r>
              <a:rPr sz="1200" dirty="0">
                <a:solidFill>
                  <a:srgbClr val="808080"/>
                </a:solidFill>
                <a:latin typeface="Arial"/>
                <a:cs typeface="Arial"/>
              </a:rPr>
              <a:t>•  </a:t>
            </a:r>
            <a:r>
              <a:rPr sz="1200" spc="-1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200" spc="40" dirty="0">
                <a:solidFill>
                  <a:srgbClr val="808080"/>
                </a:solidFill>
                <a:latin typeface="Arial Unicode MS"/>
                <a:cs typeface="Arial Unicode MS"/>
              </a:rPr>
              <a:t>惩罚形式：</a:t>
            </a:r>
            <a:r>
              <a:rPr sz="1200" spc="45" dirty="0">
                <a:solidFill>
                  <a:srgbClr val="808080"/>
                </a:solidFill>
                <a:latin typeface="Arial Unicode MS"/>
                <a:cs typeface="Arial Unicode MS"/>
              </a:rPr>
              <a:t>扣违约金、订单限流、限</a:t>
            </a: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制 或暂停服务权限、纳入黑名单；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96409" y="1937816"/>
            <a:ext cx="2599194" cy="6551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79872" y="2091397"/>
            <a:ext cx="163131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奖惩触发及实施机制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75998" y="2724924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79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889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15173" y="1458163"/>
            <a:ext cx="3628605" cy="44223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387219" y="3145916"/>
            <a:ext cx="3048635" cy="1003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5000"/>
              </a:lnSpc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系统预设异常场景阈值，如运输超时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、 车辆偏离路线、仓</a:t>
            </a: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库库存预警、突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发 运力短缺等，触发</a:t>
            </a: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预警后自动推送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至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园区调度中心进行干预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87219" y="4415716"/>
            <a:ext cx="2884170" cy="864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405" marR="5080" indent="-179705">
              <a:lnSpc>
                <a:spcPct val="109700"/>
              </a:lnSpc>
            </a:pPr>
            <a:r>
              <a:rPr sz="1200" dirty="0">
                <a:solidFill>
                  <a:srgbClr val="808080"/>
                </a:solidFill>
                <a:latin typeface="Arial"/>
                <a:cs typeface="Arial"/>
              </a:rPr>
              <a:t>•  </a:t>
            </a:r>
            <a:r>
              <a:rPr sz="1200" spc="-1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200" spc="40" dirty="0">
                <a:solidFill>
                  <a:srgbClr val="808080"/>
                </a:solidFill>
                <a:latin typeface="Arial Unicode MS"/>
                <a:cs typeface="Arial Unicode MS"/>
              </a:rPr>
              <a:t>异常分级干</a:t>
            </a:r>
            <a:r>
              <a:rPr sz="1200" spc="45" dirty="0">
                <a:solidFill>
                  <a:srgbClr val="808080"/>
                </a:solidFill>
                <a:latin typeface="Arial Unicode MS"/>
                <a:cs typeface="Arial Unicode MS"/>
              </a:rPr>
              <a:t>预：根据异常级别通过系</a:t>
            </a: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统 实时沟通指引，协调园区内资源响应。</a:t>
            </a:r>
            <a:endParaRPr sz="1200">
              <a:latin typeface="Arial Unicode MS"/>
              <a:cs typeface="Arial Unicode MS"/>
            </a:endParaRPr>
          </a:p>
          <a:p>
            <a:pPr marL="192405" marR="5080" indent="-179705">
              <a:lnSpc>
                <a:spcPct val="109700"/>
              </a:lnSpc>
              <a:spcBef>
                <a:spcPts val="600"/>
              </a:spcBef>
            </a:pPr>
            <a:r>
              <a:rPr sz="1200" dirty="0">
                <a:solidFill>
                  <a:srgbClr val="808080"/>
                </a:solidFill>
                <a:latin typeface="Arial"/>
                <a:cs typeface="Arial"/>
              </a:rPr>
              <a:t>•  </a:t>
            </a:r>
            <a:r>
              <a:rPr sz="1200" spc="-1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200" spc="40" dirty="0">
                <a:solidFill>
                  <a:srgbClr val="808080"/>
                </a:solidFill>
                <a:latin typeface="Arial Unicode MS"/>
                <a:cs typeface="Arial Unicode MS"/>
              </a:rPr>
              <a:t>责任追溯与</a:t>
            </a:r>
            <a:r>
              <a:rPr sz="1200" spc="45" dirty="0">
                <a:solidFill>
                  <a:srgbClr val="808080"/>
                </a:solidFill>
                <a:latin typeface="Arial Unicode MS"/>
                <a:cs typeface="Arial Unicode MS"/>
              </a:rPr>
              <a:t>复盘：系统记录异常处理</a:t>
            </a:r>
            <a:r>
              <a:rPr sz="1200" dirty="0">
                <a:solidFill>
                  <a:srgbClr val="808080"/>
                </a:solidFill>
                <a:latin typeface="Arial Unicode MS"/>
                <a:cs typeface="Arial Unicode MS"/>
              </a:rPr>
              <a:t>及 损失情况，帮助分析根因并优化管理。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529878" y="1937816"/>
            <a:ext cx="2599194" cy="6551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013355" y="2091397"/>
            <a:ext cx="163131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异常调度与干预机制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109481" y="2724924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79">
                <a:moveTo>
                  <a:pt x="0" y="0"/>
                </a:moveTo>
                <a:lnTo>
                  <a:pt x="1440002" y="0"/>
                </a:lnTo>
              </a:path>
            </a:pathLst>
          </a:custGeom>
          <a:ln w="889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标准监管框</a:t>
            </a:r>
            <a:r>
              <a:rPr spc="-30" dirty="0"/>
              <a:t>架</a:t>
            </a:r>
          </a:p>
        </p:txBody>
      </p:sp>
      <p:sp>
        <p:nvSpPr>
          <p:cNvPr id="3" name="object 3"/>
          <p:cNvSpPr/>
          <p:nvPr/>
        </p:nvSpPr>
        <p:spPr>
          <a:xfrm>
            <a:off x="5078907" y="1555851"/>
            <a:ext cx="2599194" cy="5831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69242" y="1672894"/>
            <a:ext cx="5936615" cy="1023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03835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动态交通拥堵智能治理</a:t>
            </a:r>
            <a:endParaRPr sz="1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8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 marR="5080">
              <a:lnSpc>
                <a:spcPct val="125000"/>
              </a:lnSpc>
            </a:pP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采用预约机制与路径优化技术，实时调控车辆进出节奏，减少高</a:t>
            </a:r>
            <a:r>
              <a:rPr sz="1400" spc="10" dirty="0">
                <a:solidFill>
                  <a:srgbClr val="404040"/>
                </a:solidFill>
                <a:latin typeface="Arial Unicode MS"/>
                <a:cs typeface="Arial Unicode MS"/>
              </a:rPr>
              <a:t>峰期拥堵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，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确保</a:t>
            </a:r>
            <a:r>
              <a:rPr sz="1400" spc="930" dirty="0">
                <a:solidFill>
                  <a:srgbClr val="404040"/>
                </a:solidFill>
                <a:latin typeface="Arial Unicode MS"/>
                <a:cs typeface="Arial Unicode MS"/>
              </a:rPr>
              <a:t>“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快进快出</a:t>
            </a:r>
            <a:r>
              <a:rPr sz="1400" spc="930" dirty="0">
                <a:solidFill>
                  <a:srgbClr val="404040"/>
                </a:solidFill>
                <a:latin typeface="Arial Unicode MS"/>
                <a:cs typeface="Arial Unicode MS"/>
              </a:rPr>
              <a:t>”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，将平均停留时间压缩</a:t>
            </a:r>
            <a:r>
              <a:rPr sz="1400" spc="85" dirty="0">
                <a:solidFill>
                  <a:srgbClr val="404040"/>
                </a:solidFill>
                <a:latin typeface="Arial Unicode MS"/>
                <a:cs typeface="Arial Unicode MS"/>
              </a:rPr>
              <a:t>30</a:t>
            </a:r>
            <a:r>
              <a:rPr sz="1400" spc="3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以上，提升园区周转效率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78907" y="3138766"/>
            <a:ext cx="2599194" cy="5831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78907" y="4721682"/>
            <a:ext cx="2599194" cy="5831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6167" y="3255809"/>
            <a:ext cx="629729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149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仓储设备协同优化方案</a:t>
            </a:r>
            <a:endParaRPr sz="1400">
              <a:latin typeface="Microsoft JhengHei"/>
              <a:cs typeface="Microsoft JhengHei"/>
            </a:endParaRPr>
          </a:p>
          <a:p>
            <a:pPr marL="12700">
              <a:lnSpc>
                <a:spcPts val="1490"/>
              </a:lnSpc>
            </a:pPr>
            <a:r>
              <a:rPr sz="1400" spc="10" dirty="0">
                <a:latin typeface="Arial Unicode MS"/>
                <a:cs typeface="Arial Unicode MS"/>
              </a:rPr>
              <a:t>标准化监管框</a:t>
            </a:r>
            <a:r>
              <a:rPr sz="1400" spc="15" dirty="0">
                <a:latin typeface="Arial Unicode MS"/>
                <a:cs typeface="Arial Unicode MS"/>
              </a:rPr>
              <a:t>架是现代物流园区高效运</a:t>
            </a:r>
            <a:r>
              <a:rPr sz="1400" dirty="0">
                <a:latin typeface="Arial Unicode MS"/>
                <a:cs typeface="Arial Unicode MS"/>
              </a:rPr>
              <a:t>营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9242" y="3808399"/>
            <a:ext cx="5936615" cy="470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5000"/>
              </a:lnSpc>
            </a:pP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通过预知性调度与自动化设备联动，消除场地资源浪费，实现叉</a:t>
            </a:r>
            <a:r>
              <a:rPr sz="1400" spc="10" dirty="0">
                <a:solidFill>
                  <a:srgbClr val="404040"/>
                </a:solidFill>
                <a:latin typeface="Arial Unicode MS"/>
                <a:cs typeface="Arial Unicode MS"/>
              </a:rPr>
              <a:t>车、月台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等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设备的无缝协同，最大化仓储空间利用率与作业流畅度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2663" y="4838712"/>
            <a:ext cx="163131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Microsoft JhengHei"/>
                <a:cs typeface="Microsoft JhengHei"/>
              </a:rPr>
              <a:t>全场景安全协同体系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69242" y="5391314"/>
            <a:ext cx="5936615" cy="470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5000"/>
              </a:lnSpc>
            </a:pP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整合门禁、称重、监控等子系统，构建</a:t>
            </a:r>
            <a:r>
              <a:rPr sz="1400" spc="940" dirty="0">
                <a:solidFill>
                  <a:srgbClr val="404040"/>
                </a:solidFill>
                <a:latin typeface="Arial Unicode MS"/>
                <a:cs typeface="Arial Unicode MS"/>
              </a:rPr>
              <a:t>“</a:t>
            </a: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人技物</a:t>
            </a:r>
            <a:r>
              <a:rPr sz="1400" spc="940" dirty="0">
                <a:solidFill>
                  <a:srgbClr val="404040"/>
                </a:solidFill>
                <a:latin typeface="Arial Unicode MS"/>
                <a:cs typeface="Arial Unicode MS"/>
              </a:rPr>
              <a:t>”</a:t>
            </a:r>
            <a:r>
              <a:rPr sz="1400" spc="5" dirty="0">
                <a:solidFill>
                  <a:srgbClr val="404040"/>
                </a:solidFill>
                <a:latin typeface="Arial Unicode MS"/>
                <a:cs typeface="Arial Unicode MS"/>
              </a:rPr>
              <a:t>三位一体安防</a:t>
            </a:r>
            <a:r>
              <a:rPr sz="1400" spc="10" dirty="0">
                <a:solidFill>
                  <a:srgbClr val="404040"/>
                </a:solidFill>
                <a:latin typeface="Arial Unicode MS"/>
                <a:cs typeface="Arial Unicode MS"/>
              </a:rPr>
              <a:t>网络，覆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盖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人员、车辆、货品全流程，降低事故率并强化执行可控性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6167" y="3847553"/>
            <a:ext cx="326580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latin typeface="Arial Unicode MS"/>
                <a:cs typeface="Arial Unicode MS"/>
              </a:rPr>
              <a:t>的核心，通过</a:t>
            </a:r>
            <a:r>
              <a:rPr sz="1400" spc="15" dirty="0">
                <a:latin typeface="Arial Unicode MS"/>
                <a:cs typeface="Arial Unicode MS"/>
              </a:rPr>
              <a:t>统一规则与智能协同，解</a:t>
            </a:r>
            <a:r>
              <a:rPr sz="1400" dirty="0">
                <a:latin typeface="Arial Unicode MS"/>
                <a:cs typeface="Arial Unicode MS"/>
              </a:rPr>
              <a:t>决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6167" y="4274273"/>
            <a:ext cx="326517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latin typeface="Arial Unicode MS"/>
                <a:cs typeface="Arial Unicode MS"/>
              </a:rPr>
              <a:t>动态拥堵、信息孤岛等痛</a:t>
            </a:r>
            <a:r>
              <a:rPr sz="1400" spc="15" dirty="0">
                <a:latin typeface="Arial Unicode MS"/>
                <a:cs typeface="Arial Unicode MS"/>
              </a:rPr>
              <a:t>点，</a:t>
            </a:r>
            <a:r>
              <a:rPr sz="1400" b="1" spc="20" dirty="0">
                <a:latin typeface="Microsoft JhengHei"/>
                <a:cs typeface="Microsoft JhengHei"/>
              </a:rPr>
              <a:t>实现车流</a:t>
            </a:r>
            <a:r>
              <a:rPr sz="1400" b="1" dirty="0">
                <a:latin typeface="Microsoft JhengHei"/>
                <a:cs typeface="Microsoft JhengHei"/>
              </a:rPr>
              <a:t>、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6167" y="4700993"/>
            <a:ext cx="288036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Microsoft JhengHei"/>
                <a:cs typeface="Microsoft JhengHei"/>
              </a:rPr>
              <a:t>货流、人流的精准管控与效率提升</a:t>
            </a:r>
            <a:r>
              <a:rPr sz="1400" dirty="0"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45080" y="2108974"/>
            <a:ext cx="1005230" cy="8780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风险与挑</a:t>
            </a:r>
            <a:r>
              <a:rPr spc="-30" dirty="0"/>
              <a:t>战</a:t>
            </a:r>
          </a:p>
        </p:txBody>
      </p:sp>
      <p:sp>
        <p:nvSpPr>
          <p:cNvPr id="3" name="object 3"/>
          <p:cNvSpPr/>
          <p:nvPr/>
        </p:nvSpPr>
        <p:spPr>
          <a:xfrm>
            <a:off x="4129468" y="4495977"/>
            <a:ext cx="7256830" cy="15004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86428" y="4559808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ln w="37845">
            <a:solidFill>
              <a:srgbClr val="E42E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91734" y="4717083"/>
            <a:ext cx="5537835" cy="1084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制度无法覆</a:t>
            </a:r>
            <a:r>
              <a:rPr sz="1600" b="1" spc="-20" dirty="0">
                <a:latin typeface="Microsoft JhengHei"/>
                <a:cs typeface="Microsoft JhengHei"/>
              </a:rPr>
              <a:t>盖</a:t>
            </a:r>
            <a:endParaRPr sz="16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625"/>
              </a:spcBef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面临</a:t>
            </a:r>
            <a:r>
              <a:rPr sz="1400" spc="930" dirty="0">
                <a:solidFill>
                  <a:srgbClr val="404040"/>
                </a:solidFill>
                <a:latin typeface="Arial Unicode MS"/>
                <a:cs typeface="Arial Unicode MS"/>
              </a:rPr>
              <a:t>“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制度无法覆盖</a:t>
            </a:r>
            <a:r>
              <a:rPr sz="1400" spc="930" dirty="0">
                <a:solidFill>
                  <a:srgbClr val="404040"/>
                </a:solidFill>
                <a:latin typeface="Arial Unicode MS"/>
                <a:cs typeface="Arial Unicode MS"/>
              </a:rPr>
              <a:t>”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的特殊情况，如出现不可抗力导致的执行偏差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、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临时业务需求冲突、新旧流程衔接漏洞等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300" spc="-10" dirty="0">
                <a:solidFill>
                  <a:srgbClr val="A6A6A6"/>
                </a:solidFill>
                <a:latin typeface="Arial Unicode MS"/>
                <a:cs typeface="Arial Unicode MS"/>
              </a:rPr>
              <a:t>对策：充分预判特殊场景，建立特殊情况处理机制，定期复盘特殊问题</a:t>
            </a:r>
            <a:r>
              <a:rPr sz="1300" spc="-15" dirty="0">
                <a:solidFill>
                  <a:srgbClr val="A6A6A6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29810" y="4957102"/>
            <a:ext cx="578180" cy="5781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9468" y="2882747"/>
            <a:ext cx="7256830" cy="15004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86428" y="2947416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ln w="37845">
            <a:solidFill>
              <a:srgbClr val="E42E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91734" y="3142321"/>
            <a:ext cx="5537835" cy="1008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调度异常管</a:t>
            </a:r>
            <a:r>
              <a:rPr sz="1600" b="1" spc="-20" dirty="0">
                <a:latin typeface="Microsoft JhengHei"/>
                <a:cs typeface="Microsoft JhengHei"/>
              </a:rPr>
              <a:t>理</a:t>
            </a:r>
            <a:endParaRPr sz="16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625"/>
              </a:spcBef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异常处理机制设置不当，会导致异常识别滞后、干预流程不灵活、跨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部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门协同效率低等问题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300" spc="-10" dirty="0">
                <a:solidFill>
                  <a:srgbClr val="A6A6A6"/>
                </a:solidFill>
                <a:latin typeface="Arial Unicode MS"/>
                <a:cs typeface="Arial Unicode MS"/>
              </a:rPr>
              <a:t>对策：加强数据支撑，完善动态调试异常机制，实行分类分级干预</a:t>
            </a:r>
            <a:r>
              <a:rPr sz="1300" spc="-15" dirty="0">
                <a:solidFill>
                  <a:srgbClr val="A6A6A6"/>
                </a:solidFill>
                <a:latin typeface="Arial Unicode MS"/>
                <a:cs typeface="Arial Unicode MS"/>
              </a:rPr>
              <a:t>；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29810" y="3343871"/>
            <a:ext cx="578180" cy="578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29468" y="1269517"/>
            <a:ext cx="7256830" cy="15004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91734" y="1529091"/>
            <a:ext cx="5537835" cy="1008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司机执行阻</a:t>
            </a:r>
            <a:r>
              <a:rPr sz="1600" b="1" spc="-20" dirty="0">
                <a:latin typeface="Microsoft JhengHei"/>
                <a:cs typeface="Microsoft JhengHei"/>
              </a:rPr>
              <a:t>力</a:t>
            </a:r>
            <a:endParaRPr sz="16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625"/>
              </a:spcBef>
            </a:pP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司机作为系统终端使用主体，可能存在</a:t>
            </a:r>
            <a:r>
              <a:rPr sz="1400" spc="930" dirty="0">
                <a:solidFill>
                  <a:srgbClr val="404040"/>
                </a:solidFill>
                <a:latin typeface="Arial Unicode MS"/>
                <a:cs typeface="Arial Unicode MS"/>
              </a:rPr>
              <a:t>“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不配合</a:t>
            </a:r>
            <a:r>
              <a:rPr sz="1400" spc="930" dirty="0">
                <a:solidFill>
                  <a:srgbClr val="404040"/>
                </a:solidFill>
                <a:latin typeface="Arial Unicode MS"/>
                <a:cs typeface="Arial Unicode MS"/>
              </a:rPr>
              <a:t>”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的情况，如抵触使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用 </a:t>
            </a:r>
            <a:r>
              <a:rPr sz="1400" spc="-5" dirty="0">
                <a:solidFill>
                  <a:srgbClr val="404040"/>
                </a:solidFill>
                <a:latin typeface="Arial Unicode MS"/>
                <a:cs typeface="Arial Unicode MS"/>
              </a:rPr>
              <a:t>系统、操作不熟练、执行偏差等</a:t>
            </a:r>
            <a:r>
              <a:rPr sz="1400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4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300" spc="-10" dirty="0">
                <a:solidFill>
                  <a:srgbClr val="A6A6A6"/>
                </a:solidFill>
                <a:latin typeface="Arial Unicode MS"/>
                <a:cs typeface="Arial Unicode MS"/>
              </a:rPr>
              <a:t>对策：加强实操培训；绑定司机利益（设置奖惩）；建立客服响应机制等</a:t>
            </a:r>
            <a:r>
              <a:rPr sz="1300" spc="-15" dirty="0">
                <a:solidFill>
                  <a:srgbClr val="A6A6A6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86428" y="1333500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ln w="37845">
            <a:solidFill>
              <a:srgbClr val="E42E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29810" y="1730641"/>
            <a:ext cx="578180" cy="5781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80275" y="2342248"/>
            <a:ext cx="2618435" cy="26184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6523" y="256031"/>
            <a:ext cx="2171700" cy="612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50847" y="2729483"/>
            <a:ext cx="9121140" cy="1225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0011" y="2903220"/>
            <a:ext cx="9121140" cy="1225550"/>
          </a:xfrm>
          <a:custGeom>
            <a:avLst/>
            <a:gdLst/>
            <a:ahLst/>
            <a:cxnLst/>
            <a:rect l="l" t="t" r="r" b="b"/>
            <a:pathLst>
              <a:path w="9121140" h="1225550">
                <a:moveTo>
                  <a:pt x="0" y="0"/>
                </a:moveTo>
                <a:lnTo>
                  <a:pt x="9121140" y="0"/>
                </a:lnTo>
                <a:lnTo>
                  <a:pt x="9121140" y="1225295"/>
                </a:lnTo>
                <a:lnTo>
                  <a:pt x="0" y="1225295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96967" y="3103649"/>
            <a:ext cx="1996439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b="1" spc="85" dirty="0">
                <a:latin typeface="Microsoft JhengHei"/>
                <a:cs typeface="Microsoft JhengHei"/>
              </a:rPr>
              <a:t>项目价值效</a:t>
            </a:r>
            <a:r>
              <a:rPr sz="2500" b="1" spc="-25" dirty="0">
                <a:latin typeface="Microsoft JhengHei"/>
                <a:cs typeface="Microsoft JhengHei"/>
              </a:rPr>
              <a:t>益</a:t>
            </a:r>
            <a:endParaRPr sz="25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6967" y="3540428"/>
            <a:ext cx="295846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75" dirty="0">
                <a:latin typeface="Arial Unicode MS"/>
                <a:cs typeface="Arial Unicode MS"/>
              </a:rPr>
              <a:t>园区多方价值提</a:t>
            </a:r>
            <a:r>
              <a:rPr sz="2800" spc="-30" dirty="0">
                <a:latin typeface="Arial Unicode MS"/>
                <a:cs typeface="Arial Unicode MS"/>
              </a:rPr>
              <a:t>升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85588" y="3491484"/>
            <a:ext cx="3348354" cy="0"/>
          </a:xfrm>
          <a:custGeom>
            <a:avLst/>
            <a:gdLst/>
            <a:ahLst/>
            <a:cxnLst/>
            <a:rect l="l" t="t" r="r" b="b"/>
            <a:pathLst>
              <a:path w="3348354">
                <a:moveTo>
                  <a:pt x="0" y="0"/>
                </a:moveTo>
                <a:lnTo>
                  <a:pt x="3348227" y="0"/>
                </a:lnTo>
              </a:path>
            </a:pathLst>
          </a:custGeom>
          <a:ln w="19557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18950" y="3045460"/>
            <a:ext cx="527303" cy="767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99134" y="3068470"/>
            <a:ext cx="511048" cy="7548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降低园区成</a:t>
            </a:r>
            <a:r>
              <a:rPr spc="-30" dirty="0"/>
              <a:t>本</a:t>
            </a:r>
          </a:p>
        </p:txBody>
      </p:sp>
      <p:sp>
        <p:nvSpPr>
          <p:cNvPr id="3" name="object 3"/>
          <p:cNvSpPr/>
          <p:nvPr/>
        </p:nvSpPr>
        <p:spPr>
          <a:xfrm>
            <a:off x="5486400" y="3814571"/>
            <a:ext cx="1066800" cy="372110"/>
          </a:xfrm>
          <a:custGeom>
            <a:avLst/>
            <a:gdLst/>
            <a:ahLst/>
            <a:cxnLst/>
            <a:rect l="l" t="t" r="r" b="b"/>
            <a:pathLst>
              <a:path w="1066800" h="372110">
                <a:moveTo>
                  <a:pt x="1066800" y="371855"/>
                </a:moveTo>
                <a:lnTo>
                  <a:pt x="495300" y="371855"/>
                </a:lnTo>
                <a:lnTo>
                  <a:pt x="0" y="0"/>
                </a:lnTo>
                <a:lnTo>
                  <a:pt x="571500" y="0"/>
                </a:lnTo>
                <a:lnTo>
                  <a:pt x="1066800" y="371855"/>
                </a:lnTo>
                <a:close/>
              </a:path>
            </a:pathLst>
          </a:custGeom>
          <a:solidFill>
            <a:srgbClr val="FF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87111" y="3041904"/>
            <a:ext cx="1824355" cy="373380"/>
          </a:xfrm>
          <a:custGeom>
            <a:avLst/>
            <a:gdLst/>
            <a:ahLst/>
            <a:cxnLst/>
            <a:rect l="l" t="t" r="r" b="b"/>
            <a:pathLst>
              <a:path w="1824354" h="373379">
                <a:moveTo>
                  <a:pt x="1824228" y="373380"/>
                </a:moveTo>
                <a:lnTo>
                  <a:pt x="678179" y="373380"/>
                </a:lnTo>
                <a:lnTo>
                  <a:pt x="0" y="0"/>
                </a:lnTo>
                <a:lnTo>
                  <a:pt x="1146048" y="0"/>
                </a:lnTo>
                <a:lnTo>
                  <a:pt x="1824228" y="373380"/>
                </a:lnTo>
                <a:close/>
              </a:path>
            </a:pathLst>
          </a:custGeom>
          <a:solidFill>
            <a:srgbClr val="FF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01540" y="2269235"/>
            <a:ext cx="2575560" cy="373380"/>
          </a:xfrm>
          <a:custGeom>
            <a:avLst/>
            <a:gdLst/>
            <a:ahLst/>
            <a:cxnLst/>
            <a:rect l="l" t="t" r="r" b="b"/>
            <a:pathLst>
              <a:path w="2575559" h="373380">
                <a:moveTo>
                  <a:pt x="2575560" y="373380"/>
                </a:moveTo>
                <a:lnTo>
                  <a:pt x="905256" y="373380"/>
                </a:lnTo>
                <a:lnTo>
                  <a:pt x="0" y="0"/>
                </a:lnTo>
                <a:lnTo>
                  <a:pt x="1670304" y="0"/>
                </a:lnTo>
                <a:lnTo>
                  <a:pt x="2575560" y="373380"/>
                </a:lnTo>
                <a:close/>
              </a:path>
            </a:pathLst>
          </a:custGeom>
          <a:solidFill>
            <a:srgbClr val="FF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44896" y="4178808"/>
            <a:ext cx="902335" cy="935990"/>
          </a:xfrm>
          <a:custGeom>
            <a:avLst/>
            <a:gdLst/>
            <a:ahLst/>
            <a:cxnLst/>
            <a:rect l="l" t="t" r="r" b="b"/>
            <a:pathLst>
              <a:path w="902334" h="935989">
                <a:moveTo>
                  <a:pt x="451103" y="935736"/>
                </a:moveTo>
                <a:lnTo>
                  <a:pt x="0" y="0"/>
                </a:lnTo>
                <a:lnTo>
                  <a:pt x="902207" y="0"/>
                </a:lnTo>
                <a:lnTo>
                  <a:pt x="451103" y="935736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80659" y="3415284"/>
            <a:ext cx="1630680" cy="399415"/>
          </a:xfrm>
          <a:custGeom>
            <a:avLst/>
            <a:gdLst/>
            <a:ahLst/>
            <a:cxnLst/>
            <a:rect l="l" t="t" r="r" b="b"/>
            <a:pathLst>
              <a:path w="1630679" h="399414">
                <a:moveTo>
                  <a:pt x="1453895" y="399288"/>
                </a:moveTo>
                <a:lnTo>
                  <a:pt x="176784" y="399288"/>
                </a:lnTo>
                <a:lnTo>
                  <a:pt x="0" y="0"/>
                </a:lnTo>
                <a:lnTo>
                  <a:pt x="1630680" y="0"/>
                </a:lnTo>
                <a:lnTo>
                  <a:pt x="1453895" y="399288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14900" y="2642616"/>
            <a:ext cx="2362200" cy="399415"/>
          </a:xfrm>
          <a:custGeom>
            <a:avLst/>
            <a:gdLst/>
            <a:ahLst/>
            <a:cxnLst/>
            <a:rect l="l" t="t" r="r" b="b"/>
            <a:pathLst>
              <a:path w="2362200" h="399414">
                <a:moveTo>
                  <a:pt x="2183892" y="399287"/>
                </a:moveTo>
                <a:lnTo>
                  <a:pt x="178308" y="399287"/>
                </a:lnTo>
                <a:lnTo>
                  <a:pt x="0" y="0"/>
                </a:lnTo>
                <a:lnTo>
                  <a:pt x="2362200" y="0"/>
                </a:lnTo>
                <a:lnTo>
                  <a:pt x="2183892" y="399287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12564" y="1869948"/>
            <a:ext cx="3167380" cy="399415"/>
          </a:xfrm>
          <a:custGeom>
            <a:avLst/>
            <a:gdLst/>
            <a:ahLst/>
            <a:cxnLst/>
            <a:rect l="l" t="t" r="r" b="b"/>
            <a:pathLst>
              <a:path w="3167379" h="399414">
                <a:moveTo>
                  <a:pt x="2988564" y="399288"/>
                </a:moveTo>
                <a:lnTo>
                  <a:pt x="178308" y="399288"/>
                </a:lnTo>
                <a:lnTo>
                  <a:pt x="0" y="0"/>
                </a:lnTo>
                <a:lnTo>
                  <a:pt x="3166871" y="0"/>
                </a:lnTo>
                <a:lnTo>
                  <a:pt x="2988564" y="399288"/>
                </a:lnTo>
                <a:close/>
              </a:path>
            </a:pathLst>
          </a:custGeom>
          <a:solidFill>
            <a:srgbClr val="E42E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1812" y="1851660"/>
            <a:ext cx="2750820" cy="359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0475" y="1918218"/>
            <a:ext cx="3009265" cy="146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500" spc="-15" dirty="0">
                <a:solidFill>
                  <a:srgbClr val="E42E2F"/>
                </a:solidFill>
                <a:latin typeface="Wingdings"/>
                <a:cs typeface="Wingdings"/>
              </a:rPr>
              <a:t></a:t>
            </a:r>
            <a:r>
              <a:rPr sz="1500" spc="-15" dirty="0">
                <a:solidFill>
                  <a:srgbClr val="E42E2F"/>
                </a:solidFill>
                <a:latin typeface="Times New Roman"/>
                <a:cs typeface="Times New Roman"/>
              </a:rPr>
              <a:t>  </a:t>
            </a:r>
            <a:r>
              <a:rPr sz="1500" spc="5" dirty="0">
                <a:solidFill>
                  <a:srgbClr val="E42E2F"/>
                </a:solidFill>
                <a:latin typeface="Times New Roman"/>
                <a:cs typeface="Times New Roman"/>
              </a:rPr>
              <a:t> </a:t>
            </a:r>
            <a:r>
              <a:rPr sz="1500" b="1" spc="5" dirty="0">
                <a:latin typeface="Microsoft JhengHei"/>
                <a:cs typeface="Microsoft JhengHei"/>
              </a:rPr>
              <a:t>动态拥堵智能调度解决方</a:t>
            </a:r>
            <a:r>
              <a:rPr sz="1500" b="1" dirty="0">
                <a:latin typeface="Microsoft JhengHei"/>
                <a:cs typeface="Microsoft JhengHei"/>
              </a:rPr>
              <a:t>案</a:t>
            </a:r>
            <a:endParaRPr sz="15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25000"/>
              </a:lnSpc>
            </a:pP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通过智能预约机制与路径优化技</a:t>
            </a:r>
            <a:r>
              <a:rPr sz="1300" dirty="0">
                <a:solidFill>
                  <a:srgbClr val="404040"/>
                </a:solidFill>
                <a:latin typeface="Arial Unicode MS"/>
                <a:cs typeface="Arial Unicode MS"/>
              </a:rPr>
              <a:t>术，精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准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调控车辆进出节奏，将平均停留</a:t>
            </a:r>
            <a:r>
              <a:rPr sz="1300" dirty="0">
                <a:solidFill>
                  <a:srgbClr val="404040"/>
                </a:solidFill>
                <a:latin typeface="Arial Unicode MS"/>
                <a:cs typeface="Arial Unicode MS"/>
              </a:rPr>
              <a:t>时间压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缩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140" dirty="0">
                <a:solidFill>
                  <a:srgbClr val="404040"/>
                </a:solidFill>
                <a:latin typeface="Arial Unicode MS"/>
                <a:cs typeface="Arial Unicode MS"/>
              </a:rPr>
              <a:t>3</a:t>
            </a:r>
            <a:r>
              <a:rPr sz="1300" spc="145" dirty="0">
                <a:solidFill>
                  <a:srgbClr val="404040"/>
                </a:solidFill>
                <a:latin typeface="Arial Unicode MS"/>
                <a:cs typeface="Arial Unicode MS"/>
              </a:rPr>
              <a:t>0</a:t>
            </a:r>
            <a:r>
              <a:rPr sz="1300" spc="10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300" spc="60" dirty="0">
                <a:solidFill>
                  <a:srgbClr val="404040"/>
                </a:solidFill>
                <a:latin typeface="Arial Unicode MS"/>
                <a:cs typeface="Arial Unicode MS"/>
              </a:rPr>
              <a:t>以上，实现</a:t>
            </a:r>
            <a:r>
              <a:rPr sz="1300" spc="935" dirty="0">
                <a:solidFill>
                  <a:srgbClr val="404040"/>
                </a:solidFill>
                <a:latin typeface="Arial Unicode MS"/>
                <a:cs typeface="Arial Unicode MS"/>
              </a:rPr>
              <a:t>“</a:t>
            </a:r>
            <a:r>
              <a:rPr sz="1300" spc="60" dirty="0">
                <a:solidFill>
                  <a:srgbClr val="404040"/>
                </a:solidFill>
                <a:latin typeface="Arial Unicode MS"/>
                <a:cs typeface="Arial Unicode MS"/>
              </a:rPr>
              <a:t>快进快装快出</a:t>
            </a:r>
            <a:r>
              <a:rPr sz="1300" spc="935" dirty="0">
                <a:solidFill>
                  <a:srgbClr val="404040"/>
                </a:solidFill>
                <a:latin typeface="Arial Unicode MS"/>
                <a:cs typeface="Arial Unicode MS"/>
              </a:rPr>
              <a:t>”</a:t>
            </a:r>
            <a:r>
              <a:rPr sz="1300" spc="60" dirty="0">
                <a:solidFill>
                  <a:srgbClr val="404040"/>
                </a:solidFill>
                <a:latin typeface="Arial Unicode MS"/>
                <a:cs typeface="Arial Unicode MS"/>
              </a:rPr>
              <a:t>的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高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效循环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1812" y="3877055"/>
            <a:ext cx="2750820" cy="3611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60475" y="3943716"/>
            <a:ext cx="3009265" cy="1226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500" spc="-15" dirty="0">
                <a:solidFill>
                  <a:srgbClr val="E42E2F"/>
                </a:solidFill>
                <a:latin typeface="Wingdings"/>
                <a:cs typeface="Wingdings"/>
              </a:rPr>
              <a:t></a:t>
            </a:r>
            <a:r>
              <a:rPr sz="1500" spc="-15" dirty="0">
                <a:solidFill>
                  <a:srgbClr val="E42E2F"/>
                </a:solidFill>
                <a:latin typeface="Times New Roman"/>
                <a:cs typeface="Times New Roman"/>
              </a:rPr>
              <a:t>  </a:t>
            </a:r>
            <a:r>
              <a:rPr sz="1500" spc="5" dirty="0">
                <a:solidFill>
                  <a:srgbClr val="E42E2F"/>
                </a:solidFill>
                <a:latin typeface="Times New Roman"/>
                <a:cs typeface="Times New Roman"/>
              </a:rPr>
              <a:t> </a:t>
            </a:r>
            <a:r>
              <a:rPr sz="1500" b="1" spc="5" dirty="0">
                <a:latin typeface="Microsoft JhengHei"/>
                <a:cs typeface="Microsoft JhengHei"/>
              </a:rPr>
              <a:t>全流程数字化协同平</a:t>
            </a:r>
            <a:r>
              <a:rPr sz="1500" b="1" dirty="0">
                <a:latin typeface="Microsoft JhengHei"/>
                <a:cs typeface="Microsoft JhengHei"/>
              </a:rPr>
              <a:t>台</a:t>
            </a:r>
            <a:endParaRPr sz="15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25000"/>
              </a:lnSpc>
            </a:pPr>
            <a:r>
              <a:rPr sz="1300" spc="50" dirty="0">
                <a:solidFill>
                  <a:srgbClr val="404040"/>
                </a:solidFill>
                <a:latin typeface="Arial Unicode MS"/>
                <a:cs typeface="Arial Unicode MS"/>
              </a:rPr>
              <a:t>整合</a:t>
            </a:r>
            <a:r>
              <a:rPr sz="1300" spc="170" dirty="0">
                <a:solidFill>
                  <a:srgbClr val="404040"/>
                </a:solidFill>
                <a:latin typeface="Arial Unicode MS"/>
                <a:cs typeface="Arial Unicode MS"/>
              </a:rPr>
              <a:t>W</a:t>
            </a:r>
            <a:r>
              <a:rPr sz="1300" spc="195" dirty="0">
                <a:solidFill>
                  <a:srgbClr val="404040"/>
                </a:solidFill>
                <a:latin typeface="Arial Unicode MS"/>
                <a:cs typeface="Arial Unicode MS"/>
              </a:rPr>
              <a:t>M</a:t>
            </a:r>
            <a:r>
              <a:rPr sz="1300" spc="40" dirty="0">
                <a:solidFill>
                  <a:srgbClr val="404040"/>
                </a:solidFill>
                <a:latin typeface="Arial Unicode MS"/>
                <a:cs typeface="Arial Unicode MS"/>
              </a:rPr>
              <a:t>S</a:t>
            </a:r>
            <a:r>
              <a:rPr sz="1300" spc="195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300" spc="0" dirty="0">
                <a:solidFill>
                  <a:srgbClr val="404040"/>
                </a:solidFill>
                <a:latin typeface="Arial Unicode MS"/>
                <a:cs typeface="Arial Unicode MS"/>
              </a:rPr>
              <a:t>T</a:t>
            </a:r>
            <a:r>
              <a:rPr sz="1300" spc="200" dirty="0">
                <a:solidFill>
                  <a:srgbClr val="404040"/>
                </a:solidFill>
                <a:latin typeface="Arial Unicode MS"/>
                <a:cs typeface="Arial Unicode MS"/>
              </a:rPr>
              <a:t>M</a:t>
            </a:r>
            <a:r>
              <a:rPr sz="1300" spc="45" dirty="0">
                <a:solidFill>
                  <a:srgbClr val="404040"/>
                </a:solidFill>
                <a:latin typeface="Arial Unicode MS"/>
                <a:cs typeface="Arial Unicode MS"/>
              </a:rPr>
              <a:t>S</a:t>
            </a:r>
            <a:r>
              <a:rPr sz="1300" spc="50" dirty="0">
                <a:solidFill>
                  <a:srgbClr val="404040"/>
                </a:solidFill>
                <a:latin typeface="Arial Unicode MS"/>
                <a:cs typeface="Arial Unicode MS"/>
              </a:rPr>
              <a:t>等系统数据构建智能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中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枢，通过流量预测与仓容分析实</a:t>
            </a:r>
            <a:r>
              <a:rPr sz="1300" dirty="0">
                <a:solidFill>
                  <a:srgbClr val="404040"/>
                </a:solidFill>
                <a:latin typeface="Arial Unicode MS"/>
                <a:cs typeface="Arial Unicode MS"/>
              </a:rPr>
              <a:t>现决策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优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化，降低异常处理成本</a:t>
            </a:r>
            <a:r>
              <a:rPr sz="1300" spc="75" dirty="0">
                <a:solidFill>
                  <a:srgbClr val="404040"/>
                </a:solidFill>
                <a:latin typeface="Arial Unicode MS"/>
                <a:cs typeface="Arial Unicode MS"/>
              </a:rPr>
              <a:t>35</a:t>
            </a:r>
            <a:r>
              <a:rPr sz="1300" spc="3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41792" y="1851660"/>
            <a:ext cx="2750819" cy="3596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321002" y="1918218"/>
            <a:ext cx="3009265" cy="146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500" spc="-15" dirty="0">
                <a:solidFill>
                  <a:srgbClr val="E42E2F"/>
                </a:solidFill>
                <a:latin typeface="Wingdings"/>
                <a:cs typeface="Wingdings"/>
              </a:rPr>
              <a:t></a:t>
            </a:r>
            <a:r>
              <a:rPr sz="1500" spc="-15" dirty="0">
                <a:solidFill>
                  <a:srgbClr val="E42E2F"/>
                </a:solidFill>
                <a:latin typeface="Times New Roman"/>
                <a:cs typeface="Times New Roman"/>
              </a:rPr>
              <a:t>  </a:t>
            </a:r>
            <a:r>
              <a:rPr sz="1500" spc="5" dirty="0">
                <a:solidFill>
                  <a:srgbClr val="E42E2F"/>
                </a:solidFill>
                <a:latin typeface="Times New Roman"/>
                <a:cs typeface="Times New Roman"/>
              </a:rPr>
              <a:t> </a:t>
            </a:r>
            <a:r>
              <a:rPr sz="1500" b="1" spc="5" dirty="0">
                <a:latin typeface="Microsoft JhengHei"/>
                <a:cs typeface="Microsoft JhengHei"/>
              </a:rPr>
              <a:t>仓储设备协同效能提</a:t>
            </a:r>
            <a:r>
              <a:rPr sz="1500" b="1" dirty="0">
                <a:latin typeface="Microsoft JhengHei"/>
                <a:cs typeface="Microsoft JhengHei"/>
              </a:rPr>
              <a:t>升</a:t>
            </a:r>
            <a:endParaRPr sz="15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25000"/>
              </a:lnSpc>
            </a:pP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运用物联网技术，联动叉车、月</a:t>
            </a:r>
            <a:r>
              <a:rPr sz="1300" dirty="0">
                <a:solidFill>
                  <a:srgbClr val="404040"/>
                </a:solidFill>
                <a:latin typeface="Arial Unicode MS"/>
                <a:cs typeface="Arial Unicode MS"/>
              </a:rPr>
              <a:t>台等设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备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资源，预判作业需求并实现自动</a:t>
            </a:r>
            <a:r>
              <a:rPr sz="1300" dirty="0">
                <a:solidFill>
                  <a:srgbClr val="404040"/>
                </a:solidFill>
                <a:latin typeface="Arial Unicode MS"/>
                <a:cs typeface="Arial Unicode MS"/>
              </a:rPr>
              <a:t>调度，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使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50" dirty="0">
                <a:solidFill>
                  <a:srgbClr val="404040"/>
                </a:solidFill>
                <a:latin typeface="Arial Unicode MS"/>
                <a:cs typeface="Arial Unicode MS"/>
              </a:rPr>
              <a:t>自</a:t>
            </a:r>
            <a:r>
              <a:rPr sz="1300" spc="60" dirty="0">
                <a:solidFill>
                  <a:srgbClr val="404040"/>
                </a:solidFill>
                <a:latin typeface="Arial Unicode MS"/>
                <a:cs typeface="Arial Unicode MS"/>
              </a:rPr>
              <a:t>动化设备利用率提升</a:t>
            </a:r>
            <a:r>
              <a:rPr sz="1300" spc="145" dirty="0">
                <a:solidFill>
                  <a:srgbClr val="404040"/>
                </a:solidFill>
                <a:latin typeface="Arial Unicode MS"/>
                <a:cs typeface="Arial Unicode MS"/>
              </a:rPr>
              <a:t>40</a:t>
            </a:r>
            <a:r>
              <a:rPr sz="1300" spc="10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300" spc="60" dirty="0">
                <a:solidFill>
                  <a:srgbClr val="404040"/>
                </a:solidFill>
                <a:latin typeface="Arial Unicode MS"/>
                <a:cs typeface="Arial Unicode MS"/>
              </a:rPr>
              <a:t>，场地周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转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率提高</a:t>
            </a:r>
            <a:r>
              <a:rPr sz="1300" spc="75" dirty="0">
                <a:solidFill>
                  <a:srgbClr val="404040"/>
                </a:solidFill>
                <a:latin typeface="Arial Unicode MS"/>
                <a:cs typeface="Arial Unicode MS"/>
              </a:rPr>
              <a:t>25</a:t>
            </a:r>
            <a:r>
              <a:rPr sz="1300" spc="3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41792" y="3877055"/>
            <a:ext cx="2750819" cy="3611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321002" y="3943716"/>
            <a:ext cx="3009265" cy="1226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500" spc="-15" dirty="0">
                <a:solidFill>
                  <a:srgbClr val="E42E2F"/>
                </a:solidFill>
                <a:latin typeface="Wingdings"/>
                <a:cs typeface="Wingdings"/>
              </a:rPr>
              <a:t></a:t>
            </a:r>
            <a:r>
              <a:rPr sz="1500" spc="-15" dirty="0">
                <a:solidFill>
                  <a:srgbClr val="E42E2F"/>
                </a:solidFill>
                <a:latin typeface="Times New Roman"/>
                <a:cs typeface="Times New Roman"/>
              </a:rPr>
              <a:t>  </a:t>
            </a:r>
            <a:r>
              <a:rPr sz="1500" spc="5" dirty="0">
                <a:solidFill>
                  <a:srgbClr val="E42E2F"/>
                </a:solidFill>
                <a:latin typeface="Times New Roman"/>
                <a:cs typeface="Times New Roman"/>
              </a:rPr>
              <a:t> </a:t>
            </a:r>
            <a:r>
              <a:rPr sz="1500" b="1" spc="5" dirty="0">
                <a:latin typeface="Microsoft JhengHei"/>
                <a:cs typeface="Microsoft JhengHei"/>
              </a:rPr>
              <a:t>差异化服务标准体</a:t>
            </a:r>
            <a:r>
              <a:rPr sz="1500" b="1" dirty="0">
                <a:latin typeface="Microsoft JhengHei"/>
                <a:cs typeface="Microsoft JhengHei"/>
              </a:rPr>
              <a:t>系</a:t>
            </a:r>
            <a:endParaRPr sz="15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25000"/>
              </a:lnSpc>
            </a:pPr>
            <a:r>
              <a:rPr sz="1300" spc="35" dirty="0">
                <a:solidFill>
                  <a:srgbClr val="404040"/>
                </a:solidFill>
                <a:latin typeface="Arial Unicode MS"/>
                <a:cs typeface="Arial Unicode MS"/>
              </a:rPr>
              <a:t>针对</a:t>
            </a:r>
            <a:r>
              <a:rPr sz="1300" spc="45" dirty="0">
                <a:solidFill>
                  <a:srgbClr val="404040"/>
                </a:solidFill>
                <a:latin typeface="Arial Unicode MS"/>
                <a:cs typeface="Arial Unicode MS"/>
              </a:rPr>
              <a:t>B</a:t>
            </a:r>
            <a:r>
              <a:rPr sz="1300" spc="120" dirty="0">
                <a:solidFill>
                  <a:srgbClr val="404040"/>
                </a:solidFill>
                <a:latin typeface="Arial Unicode MS"/>
                <a:cs typeface="Arial Unicode MS"/>
              </a:rPr>
              <a:t>2</a:t>
            </a:r>
            <a:r>
              <a:rPr sz="1300" spc="45" dirty="0">
                <a:solidFill>
                  <a:srgbClr val="404040"/>
                </a:solidFill>
                <a:latin typeface="Arial Unicode MS"/>
                <a:cs typeface="Arial Unicode MS"/>
              </a:rPr>
              <a:t>B</a:t>
            </a:r>
            <a:r>
              <a:rPr sz="1300" spc="175" dirty="0">
                <a:solidFill>
                  <a:srgbClr val="404040"/>
                </a:solidFill>
                <a:latin typeface="Arial Unicode MS"/>
                <a:cs typeface="Arial Unicode MS"/>
              </a:rPr>
              <a:t>/</a:t>
            </a:r>
            <a:r>
              <a:rPr sz="1300" spc="45" dirty="0">
                <a:solidFill>
                  <a:srgbClr val="404040"/>
                </a:solidFill>
                <a:latin typeface="Arial Unicode MS"/>
                <a:cs typeface="Arial Unicode MS"/>
              </a:rPr>
              <a:t>B</a:t>
            </a:r>
            <a:r>
              <a:rPr sz="1300" spc="120" dirty="0">
                <a:solidFill>
                  <a:srgbClr val="404040"/>
                </a:solidFill>
                <a:latin typeface="Arial Unicode MS"/>
                <a:cs typeface="Arial Unicode MS"/>
              </a:rPr>
              <a:t>2</a:t>
            </a:r>
            <a:r>
              <a:rPr sz="1300" spc="35" dirty="0">
                <a:solidFill>
                  <a:srgbClr val="404040"/>
                </a:solidFill>
                <a:latin typeface="Arial Unicode MS"/>
                <a:cs typeface="Arial Unicode MS"/>
              </a:rPr>
              <a:t>C客户</a:t>
            </a:r>
            <a:r>
              <a:rPr sz="1300" spc="40" dirty="0">
                <a:solidFill>
                  <a:srgbClr val="404040"/>
                </a:solidFill>
                <a:latin typeface="Arial Unicode MS"/>
                <a:cs typeface="Arial Unicode MS"/>
              </a:rPr>
              <a:t>定制分级服务方案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，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建立统一监管机制，使园区服务</a:t>
            </a:r>
            <a:r>
              <a:rPr sz="1300" dirty="0">
                <a:solidFill>
                  <a:srgbClr val="404040"/>
                </a:solidFill>
                <a:latin typeface="Arial Unicode MS"/>
                <a:cs typeface="Arial Unicode MS"/>
              </a:rPr>
              <a:t>响应速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度</a:t>
            </a:r>
            <a:r>
              <a:rPr sz="1300" spc="-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提升</a:t>
            </a:r>
            <a:r>
              <a:rPr sz="1300" spc="75" dirty="0">
                <a:solidFill>
                  <a:srgbClr val="404040"/>
                </a:solidFill>
                <a:latin typeface="Arial Unicode MS"/>
                <a:cs typeface="Arial Unicode MS"/>
              </a:rPr>
              <a:t>50</a:t>
            </a:r>
            <a:r>
              <a:rPr sz="1300" spc="3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，客户投诉率下降</a:t>
            </a:r>
            <a:r>
              <a:rPr sz="1300" spc="75" dirty="0">
                <a:solidFill>
                  <a:srgbClr val="404040"/>
                </a:solidFill>
                <a:latin typeface="Arial Unicode MS"/>
                <a:cs typeface="Arial Unicode MS"/>
              </a:rPr>
              <a:t>60</a:t>
            </a:r>
            <a:r>
              <a:rPr sz="1300" spc="3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。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多方价值提</a:t>
            </a:r>
            <a:r>
              <a:rPr spc="-30" dirty="0"/>
              <a:t>升</a:t>
            </a:r>
          </a:p>
        </p:txBody>
      </p:sp>
      <p:sp>
        <p:nvSpPr>
          <p:cNvPr id="3" name="object 3"/>
          <p:cNvSpPr/>
          <p:nvPr/>
        </p:nvSpPr>
        <p:spPr>
          <a:xfrm>
            <a:off x="741946" y="1383664"/>
            <a:ext cx="3352291" cy="4512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4389" y="2730562"/>
            <a:ext cx="1858645" cy="47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强化管理能力</a:t>
            </a:r>
            <a:r>
              <a:rPr sz="1600" b="1" spc="-20" dirty="0">
                <a:latin typeface="Microsoft JhengHei"/>
                <a:cs typeface="Microsoft JhengHei"/>
              </a:rPr>
              <a:t>，</a:t>
            </a:r>
            <a:r>
              <a:rPr sz="1600" b="1" spc="-5" dirty="0">
                <a:latin typeface="Microsoft JhengHei"/>
                <a:cs typeface="Microsoft JhengHei"/>
              </a:rPr>
              <a:t> </a:t>
            </a:r>
            <a:r>
              <a:rPr sz="1600" b="1" spc="-10" dirty="0">
                <a:latin typeface="Microsoft JhengHei"/>
                <a:cs typeface="Microsoft JhengHei"/>
              </a:rPr>
              <a:t>提升园区核心竞争</a:t>
            </a:r>
            <a:r>
              <a:rPr sz="1600" b="1" spc="-20" dirty="0">
                <a:latin typeface="Microsoft JhengHei"/>
                <a:cs typeface="Microsoft JhengHei"/>
              </a:rPr>
              <a:t>力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4389" y="3405383"/>
            <a:ext cx="2645410" cy="1090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加强园区管理数据支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撑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优化资源利用率，降低管理成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本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提升园区服务能力，增加营收来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源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智能化监管，降低运营风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险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3282" y="4862347"/>
            <a:ext cx="1069340" cy="494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90" dirty="0">
                <a:solidFill>
                  <a:srgbClr val="BEBEBE"/>
                </a:solidFill>
                <a:latin typeface="Arial Unicode MS"/>
                <a:cs typeface="Arial Unicode MS"/>
              </a:rPr>
              <a:t>管理者</a:t>
            </a:r>
            <a:r>
              <a:rPr sz="1200" spc="225" dirty="0">
                <a:solidFill>
                  <a:srgbClr val="BEBEBE"/>
                </a:solidFill>
                <a:latin typeface="Arial Unicode MS"/>
                <a:cs typeface="Arial Unicode MS"/>
              </a:rPr>
              <a:t>/</a:t>
            </a:r>
            <a:r>
              <a:rPr sz="1200" spc="95" dirty="0">
                <a:solidFill>
                  <a:srgbClr val="BEBEBE"/>
                </a:solidFill>
                <a:latin typeface="Arial Unicode MS"/>
                <a:cs typeface="Arial Unicode MS"/>
              </a:rPr>
              <a:t>服务</a:t>
            </a: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者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600" spc="40" dirty="0">
                <a:latin typeface="Arial Unicode MS"/>
                <a:cs typeface="Arial Unicode MS"/>
              </a:rPr>
              <a:t>园区运营</a:t>
            </a:r>
            <a:r>
              <a:rPr sz="1600" spc="-20" dirty="0">
                <a:latin typeface="Arial Unicode MS"/>
                <a:cs typeface="Arial Unicode MS"/>
              </a:rPr>
              <a:t>方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90026" y="1773618"/>
            <a:ext cx="656132" cy="6561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19853" y="1383664"/>
            <a:ext cx="3352292" cy="45128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12296" y="2730562"/>
            <a:ext cx="1858645" cy="47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实现降本增效</a:t>
            </a:r>
            <a:r>
              <a:rPr sz="1600" b="1" spc="-20" dirty="0">
                <a:latin typeface="Microsoft JhengHei"/>
                <a:cs typeface="Microsoft JhengHei"/>
              </a:rPr>
              <a:t>，</a:t>
            </a:r>
            <a:r>
              <a:rPr sz="1600" b="1" spc="-5" dirty="0">
                <a:latin typeface="Microsoft JhengHei"/>
                <a:cs typeface="Microsoft JhengHei"/>
              </a:rPr>
              <a:t> </a:t>
            </a:r>
            <a:r>
              <a:rPr sz="1600" b="1" spc="-10" dirty="0">
                <a:latin typeface="Microsoft JhengHei"/>
                <a:cs typeface="Microsoft JhengHei"/>
              </a:rPr>
              <a:t>优化企业供应链韧</a:t>
            </a:r>
            <a:r>
              <a:rPr sz="1600" b="1" spc="-20" dirty="0">
                <a:latin typeface="Microsoft JhengHei"/>
                <a:cs typeface="Microsoft JhengHei"/>
              </a:rPr>
              <a:t>性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2296" y="3405383"/>
            <a:ext cx="2480310" cy="1090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快速响应订单，缩短物流周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期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降低物流成本，减少隐性损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耗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完善数据体系，支撑运营决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策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提升供应链灵活性应对市场变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化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2734" y="4862347"/>
            <a:ext cx="1246505" cy="494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核  </a:t>
            </a:r>
            <a:r>
              <a:rPr sz="1200" spc="-105" dirty="0">
                <a:solidFill>
                  <a:srgbClr val="BEBEBE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心  </a:t>
            </a:r>
            <a:r>
              <a:rPr sz="1200" spc="-100" dirty="0">
                <a:solidFill>
                  <a:srgbClr val="BEBEBE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使  </a:t>
            </a:r>
            <a:r>
              <a:rPr sz="1200" spc="-100" dirty="0">
                <a:solidFill>
                  <a:srgbClr val="BEBEBE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用  </a:t>
            </a:r>
            <a:r>
              <a:rPr sz="1200" spc="-100" dirty="0">
                <a:solidFill>
                  <a:srgbClr val="BEBEBE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者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600" spc="-15" dirty="0">
                <a:latin typeface="Arial Unicode MS"/>
                <a:cs typeface="Arial Unicode MS"/>
              </a:rPr>
              <a:t>园区</a:t>
            </a:r>
            <a:r>
              <a:rPr sz="1600" spc="-10" dirty="0">
                <a:latin typeface="Arial Unicode MS"/>
                <a:cs typeface="Arial Unicode MS"/>
              </a:rPr>
              <a:t>入驻企</a:t>
            </a:r>
            <a:r>
              <a:rPr sz="1600" spc="-20" dirty="0">
                <a:latin typeface="Arial Unicode MS"/>
                <a:cs typeface="Arial Unicode MS"/>
              </a:rPr>
              <a:t>业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67933" y="1773618"/>
            <a:ext cx="656132" cy="6561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97761" y="1383664"/>
            <a:ext cx="3352291" cy="45128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490216" y="2730562"/>
            <a:ext cx="1654810" cy="47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600" b="1" spc="-10" dirty="0">
                <a:latin typeface="Microsoft JhengHei"/>
                <a:cs typeface="Microsoft JhengHei"/>
              </a:rPr>
              <a:t>提升运营效率</a:t>
            </a:r>
            <a:r>
              <a:rPr sz="1600" b="1" spc="-20" dirty="0">
                <a:latin typeface="Microsoft JhengHei"/>
                <a:cs typeface="Microsoft JhengHei"/>
              </a:rPr>
              <a:t>，</a:t>
            </a:r>
            <a:r>
              <a:rPr sz="1600" b="1" spc="-5" dirty="0">
                <a:latin typeface="Microsoft JhengHei"/>
                <a:cs typeface="Microsoft JhengHei"/>
              </a:rPr>
              <a:t> </a:t>
            </a:r>
            <a:r>
              <a:rPr sz="1600" b="1" spc="-10" dirty="0">
                <a:latin typeface="Microsoft JhengHei"/>
                <a:cs typeface="Microsoft JhengHei"/>
              </a:rPr>
              <a:t>扩大服务业务规</a:t>
            </a:r>
            <a:r>
              <a:rPr sz="1600" b="1" spc="-20" dirty="0">
                <a:latin typeface="Microsoft JhengHei"/>
                <a:cs typeface="Microsoft JhengHei"/>
              </a:rPr>
              <a:t>模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90216" y="3405383"/>
            <a:ext cx="2480310" cy="1090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智能化作业流程，提升作业效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率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减少沟通成本，提升订单转化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率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优化运力调度，有助于加强服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务</a:t>
            </a:r>
            <a:endParaRPr sz="13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-5" dirty="0">
                <a:solidFill>
                  <a:srgbClr val="404040"/>
                </a:solidFill>
                <a:latin typeface="Arial"/>
                <a:cs typeface="Arial"/>
              </a:rPr>
              <a:t>• </a:t>
            </a:r>
            <a:r>
              <a:rPr sz="13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Arial Unicode MS"/>
                <a:cs typeface="Arial Unicode MS"/>
              </a:rPr>
              <a:t>简化结算流程，缓解现金流压</a:t>
            </a:r>
            <a:r>
              <a:rPr sz="1300" spc="-15" dirty="0">
                <a:solidFill>
                  <a:srgbClr val="404040"/>
                </a:solidFill>
                <a:latin typeface="Arial Unicode MS"/>
                <a:cs typeface="Arial Unicode MS"/>
              </a:rPr>
              <a:t>力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9097" y="4862347"/>
            <a:ext cx="1069340" cy="494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执</a:t>
            </a:r>
            <a:r>
              <a:rPr sz="1200" spc="-135" dirty="0">
                <a:solidFill>
                  <a:srgbClr val="BEBEBE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行</a:t>
            </a:r>
            <a:r>
              <a:rPr sz="1200" spc="-130" dirty="0">
                <a:solidFill>
                  <a:srgbClr val="BEBEBE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作</a:t>
            </a:r>
            <a:r>
              <a:rPr sz="1200" spc="-130" dirty="0">
                <a:solidFill>
                  <a:srgbClr val="BEBEBE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业</a:t>
            </a:r>
            <a:r>
              <a:rPr sz="1200" spc="-130" dirty="0">
                <a:solidFill>
                  <a:srgbClr val="BEBEBE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主</a:t>
            </a:r>
            <a:r>
              <a:rPr sz="1200" spc="-130" dirty="0">
                <a:solidFill>
                  <a:srgbClr val="BEBEBE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BEBEBE"/>
                </a:solidFill>
                <a:latin typeface="Arial Unicode MS"/>
                <a:cs typeface="Arial Unicode MS"/>
              </a:rPr>
              <a:t>体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600" spc="40" dirty="0">
                <a:latin typeface="Arial Unicode MS"/>
                <a:cs typeface="Arial Unicode MS"/>
              </a:rPr>
              <a:t>物流服务</a:t>
            </a:r>
            <a:r>
              <a:rPr sz="1600" spc="-20" dirty="0">
                <a:latin typeface="Arial Unicode MS"/>
                <a:cs typeface="Arial Unicode MS"/>
              </a:rPr>
              <a:t>商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45841" y="1773618"/>
            <a:ext cx="656132" cy="6561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改善指标比</a:t>
            </a:r>
            <a:r>
              <a:rPr spc="-30" dirty="0"/>
              <a:t>较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8644" y="1992704"/>
            <a:ext cx="76390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160" dirty="0">
                <a:latin typeface="Arial Unicode MS"/>
                <a:cs typeface="Arial Unicode MS"/>
              </a:rPr>
              <a:t>30</a:t>
            </a:r>
            <a:r>
              <a:rPr sz="2800" spc="70" dirty="0">
                <a:latin typeface="Arial Unicode MS"/>
                <a:cs typeface="Arial Unicode MS"/>
              </a:rPr>
              <a:t>%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5619" y="2125356"/>
            <a:ext cx="135890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Arial Unicode MS"/>
                <a:cs typeface="Arial Unicode MS"/>
              </a:rPr>
              <a:t>月台利用率提高</a:t>
            </a:r>
            <a:endParaRPr sz="15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45664" y="2016251"/>
            <a:ext cx="324612" cy="324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5470" y="1989315"/>
            <a:ext cx="1619999" cy="19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79180" y="2727158"/>
            <a:ext cx="250253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51330" algn="l"/>
              </a:tabLst>
            </a:pPr>
            <a:r>
              <a:rPr sz="1500" dirty="0">
                <a:latin typeface="Arial Unicode MS"/>
                <a:cs typeface="Arial Unicode MS"/>
              </a:rPr>
              <a:t>司机等待时间减少	</a:t>
            </a:r>
            <a:r>
              <a:rPr sz="2600" spc="160" dirty="0">
                <a:latin typeface="Arial Unicode MS"/>
                <a:cs typeface="Arial Unicode MS"/>
              </a:rPr>
              <a:t>40</a:t>
            </a:r>
            <a:r>
              <a:rPr sz="2800" spc="70" dirty="0">
                <a:latin typeface="Arial Unicode MS"/>
                <a:cs typeface="Arial Unicode MS"/>
              </a:rPr>
              <a:t>%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99788" y="2738958"/>
            <a:ext cx="359663" cy="3596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36280" y="2729204"/>
            <a:ext cx="1836000" cy="190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58644" y="3461611"/>
            <a:ext cx="76390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160" dirty="0">
                <a:latin typeface="Arial Unicode MS"/>
                <a:cs typeface="Arial Unicode MS"/>
              </a:rPr>
              <a:t>50</a:t>
            </a:r>
            <a:r>
              <a:rPr sz="2800" spc="70" dirty="0">
                <a:latin typeface="Arial Unicode MS"/>
                <a:cs typeface="Arial Unicode MS"/>
              </a:rPr>
              <a:t>%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10369" y="3594277"/>
            <a:ext cx="154940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Arial Unicode MS"/>
                <a:cs typeface="Arial Unicode MS"/>
              </a:rPr>
              <a:t>异常处理效率提升</a:t>
            </a:r>
            <a:endParaRPr sz="1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45664" y="3483864"/>
            <a:ext cx="324612" cy="3246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75470" y="3458222"/>
            <a:ext cx="1619999" cy="19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99788" y="4208094"/>
            <a:ext cx="359663" cy="3596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36280" y="4198124"/>
            <a:ext cx="1836000" cy="190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74162" y="4927142"/>
            <a:ext cx="1619999" cy="19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15708" y="3877144"/>
            <a:ext cx="3666490" cy="69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Microsoft JhengHei"/>
                <a:cs typeface="Microsoft JhengHei"/>
              </a:rPr>
              <a:t>管理提升</a:t>
            </a:r>
            <a:endParaRPr sz="1400">
              <a:latin typeface="Microsoft JhengHei"/>
              <a:cs typeface="Microsoft JhengHei"/>
            </a:endParaRPr>
          </a:p>
          <a:p>
            <a:pPr marL="1176020">
              <a:lnSpc>
                <a:spcPct val="100000"/>
              </a:lnSpc>
              <a:spcBef>
                <a:spcPts val="475"/>
              </a:spcBef>
              <a:tabLst>
                <a:tab pos="2914650" algn="l"/>
              </a:tabLst>
            </a:pPr>
            <a:r>
              <a:rPr sz="1500" dirty="0">
                <a:latin typeface="Arial Unicode MS"/>
                <a:cs typeface="Arial Unicode MS"/>
              </a:rPr>
              <a:t>司机等待时间减少	</a:t>
            </a:r>
            <a:r>
              <a:rPr sz="2600" spc="160" dirty="0">
                <a:latin typeface="Arial Unicode MS"/>
                <a:cs typeface="Arial Unicode MS"/>
              </a:rPr>
              <a:t>80</a:t>
            </a:r>
            <a:r>
              <a:rPr sz="2800" spc="70" dirty="0">
                <a:latin typeface="Arial Unicode MS"/>
                <a:cs typeface="Arial Unicode MS"/>
              </a:rPr>
              <a:t>%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4666" y="4930531"/>
            <a:ext cx="190944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58240" algn="l"/>
              </a:tabLst>
            </a:pPr>
            <a:r>
              <a:rPr sz="1400" b="1" dirty="0">
                <a:latin typeface="Microsoft JhengHei"/>
                <a:cs typeface="Microsoft JhengHei"/>
              </a:rPr>
              <a:t>安全保障	</a:t>
            </a:r>
            <a:r>
              <a:rPr sz="2600" spc="160" dirty="0">
                <a:latin typeface="Arial Unicode MS"/>
                <a:cs typeface="Arial Unicode MS"/>
              </a:rPr>
              <a:t>95</a:t>
            </a:r>
            <a:r>
              <a:rPr sz="2800" spc="70" dirty="0">
                <a:latin typeface="Arial Unicode MS"/>
                <a:cs typeface="Arial Unicode MS"/>
              </a:rPr>
              <a:t>%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59861" y="5057202"/>
            <a:ext cx="144716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5" dirty="0">
                <a:latin typeface="Arial Unicode MS"/>
                <a:cs typeface="Arial Unicode MS"/>
              </a:rPr>
              <a:t>违规行为识别</a:t>
            </a:r>
            <a:r>
              <a:rPr sz="1600" spc="-20" dirty="0">
                <a:latin typeface="Arial Unicode MS"/>
                <a:cs typeface="Arial Unicode MS"/>
              </a:rPr>
              <a:t>率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5708" y="2612364"/>
            <a:ext cx="7391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Microsoft JhengHei"/>
                <a:cs typeface="Microsoft JhengHei"/>
              </a:rPr>
              <a:t>效率提升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15924" y="1978151"/>
            <a:ext cx="539495" cy="5394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15924" y="3236976"/>
            <a:ext cx="539495" cy="5394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34211" y="4501896"/>
            <a:ext cx="504444" cy="5044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98947" y="1287780"/>
            <a:ext cx="6120765" cy="4715510"/>
          </a:xfrm>
          <a:custGeom>
            <a:avLst/>
            <a:gdLst/>
            <a:ahLst/>
            <a:cxnLst/>
            <a:rect l="l" t="t" r="r" b="b"/>
            <a:pathLst>
              <a:path w="6120765" h="4715510">
                <a:moveTo>
                  <a:pt x="0" y="0"/>
                </a:moveTo>
                <a:lnTo>
                  <a:pt x="6120384" y="0"/>
                </a:lnTo>
                <a:lnTo>
                  <a:pt x="6120384" y="4715256"/>
                </a:lnTo>
                <a:lnTo>
                  <a:pt x="0" y="4715256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60669" y="3493338"/>
            <a:ext cx="429983" cy="17310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265619" y="3493338"/>
            <a:ext cx="429983" cy="17310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770569" y="3493338"/>
            <a:ext cx="429983" cy="17310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275519" y="3493338"/>
            <a:ext cx="429983" cy="17310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90653" y="4185754"/>
            <a:ext cx="429983" cy="103860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95603" y="2974035"/>
            <a:ext cx="429983" cy="22503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200553" y="4878158"/>
            <a:ext cx="429983" cy="34620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705503" y="2108517"/>
            <a:ext cx="429983" cy="311584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28525" y="5351055"/>
            <a:ext cx="115316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-509" dirty="0">
                <a:latin typeface="微软雅黑"/>
                <a:cs typeface="微软雅黑"/>
              </a:rPr>
              <a:t>司机等待时</a:t>
            </a:r>
            <a:r>
              <a:rPr sz="1450" b="1" spc="-60" dirty="0">
                <a:latin typeface="微软雅黑"/>
                <a:cs typeface="微软雅黑"/>
              </a:rPr>
              <a:t>长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222375" y="5351055"/>
            <a:ext cx="9747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-509" dirty="0">
                <a:latin typeface="微软雅黑"/>
                <a:cs typeface="微软雅黑"/>
              </a:rPr>
              <a:t>月台利用</a:t>
            </a:r>
            <a:r>
              <a:rPr sz="1450" b="1" spc="-60" dirty="0">
                <a:latin typeface="微软雅黑"/>
                <a:cs typeface="微软雅黑"/>
              </a:rPr>
              <a:t>率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16861" y="5351055"/>
            <a:ext cx="79629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-509" dirty="0">
                <a:latin typeface="微软雅黑"/>
                <a:cs typeface="微软雅黑"/>
              </a:rPr>
              <a:t>人工成</a:t>
            </a:r>
            <a:r>
              <a:rPr sz="1450" b="1" spc="-60" dirty="0">
                <a:latin typeface="微软雅黑"/>
                <a:cs typeface="微软雅黑"/>
              </a:rPr>
              <a:t>本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143375" y="5351055"/>
            <a:ext cx="115316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-509" dirty="0">
                <a:latin typeface="微软雅黑"/>
                <a:cs typeface="微软雅黑"/>
              </a:rPr>
              <a:t>异常处理效</a:t>
            </a:r>
            <a:r>
              <a:rPr sz="1450" b="1" spc="-60" dirty="0">
                <a:latin typeface="微软雅黑"/>
                <a:cs typeface="微软雅黑"/>
              </a:rPr>
              <a:t>率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29173" y="1646465"/>
            <a:ext cx="280797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415" dirty="0">
                <a:latin typeface="Arial Unicode MS"/>
                <a:cs typeface="Arial Unicode MS"/>
              </a:rPr>
              <a:t>Y</a:t>
            </a:r>
            <a:r>
              <a:rPr sz="1450" spc="-355" dirty="0">
                <a:latin typeface="Arial Unicode MS"/>
                <a:cs typeface="Arial Unicode MS"/>
              </a:rPr>
              <a:t>M</a:t>
            </a:r>
            <a:r>
              <a:rPr sz="1450" spc="-515" dirty="0">
                <a:latin typeface="Arial Unicode MS"/>
                <a:cs typeface="Arial Unicode MS"/>
              </a:rPr>
              <a:t>S系统应用前后改善指标对比</a:t>
            </a:r>
            <a:r>
              <a:rPr sz="1450" spc="-60" dirty="0">
                <a:latin typeface="Arial Unicode MS"/>
                <a:cs typeface="Arial Unicode MS"/>
              </a:rPr>
              <a:t>：</a:t>
            </a:r>
            <a:endParaRPr sz="14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综合服务水平优</a:t>
            </a:r>
            <a:r>
              <a:rPr spc="-30" dirty="0"/>
              <a:t>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5902" y="1541042"/>
            <a:ext cx="4305935" cy="982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全流程服务响应时效显著提</a:t>
            </a:r>
            <a:r>
              <a:rPr sz="1500" b="1" dirty="0">
                <a:latin typeface="Microsoft JhengHei"/>
                <a:cs typeface="Microsoft JhengHei"/>
              </a:rPr>
              <a:t>升</a:t>
            </a:r>
            <a:endParaRPr sz="1500"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25000"/>
              </a:lnSpc>
              <a:spcBef>
                <a:spcPts val="645"/>
              </a:spcBef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园区物流服务</a:t>
            </a:r>
            <a:r>
              <a:rPr sz="1200" spc="5" dirty="0">
                <a:solidFill>
                  <a:srgbClr val="404040"/>
                </a:solidFill>
                <a:latin typeface="Arial Unicode MS"/>
                <a:cs typeface="Arial Unicode MS"/>
              </a:rPr>
              <a:t>的订单响应时间从传统数天级压缩至小时级，货</a:t>
            </a: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物 </a:t>
            </a:r>
            <a:r>
              <a:rPr sz="1200" spc="40" dirty="0">
                <a:solidFill>
                  <a:srgbClr val="404040"/>
                </a:solidFill>
                <a:latin typeface="Arial Unicode MS"/>
                <a:cs typeface="Arial Unicode MS"/>
              </a:rPr>
              <a:t>从下单到完成装卸运输全链路周期缩短</a:t>
            </a:r>
            <a:r>
              <a:rPr sz="1200" spc="120" dirty="0">
                <a:solidFill>
                  <a:srgbClr val="404040"/>
                </a:solidFill>
                <a:latin typeface="Arial Unicode MS"/>
                <a:cs typeface="Arial Unicode MS"/>
              </a:rPr>
              <a:t>30</a:t>
            </a:r>
            <a:r>
              <a:rPr sz="1200" spc="70" dirty="0">
                <a:solidFill>
                  <a:srgbClr val="404040"/>
                </a:solidFill>
                <a:latin typeface="Arial Unicode MS"/>
                <a:cs typeface="Arial Unicode MS"/>
              </a:rPr>
              <a:t>%</a:t>
            </a:r>
            <a:r>
              <a:rPr sz="1200" spc="40" dirty="0">
                <a:solidFill>
                  <a:srgbClr val="404040"/>
                </a:solidFill>
                <a:latin typeface="Arial Unicode MS"/>
                <a:cs typeface="Arial Unicode MS"/>
              </a:rPr>
              <a:t>以上。</a:t>
            </a:r>
            <a:r>
              <a:rPr sz="1200" spc="45" dirty="0">
                <a:solidFill>
                  <a:srgbClr val="404040"/>
                </a:solidFill>
                <a:latin typeface="Arial Unicode MS"/>
                <a:cs typeface="Arial Unicode MS"/>
              </a:rPr>
              <a:t>入园车辆</a:t>
            </a: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无 效等待时长减少，作业衔接效率大幅提升。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5902" y="3140544"/>
            <a:ext cx="4445000" cy="982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提升服务流程标准化、透明化程</a:t>
            </a:r>
            <a:r>
              <a:rPr sz="1500" b="1" dirty="0">
                <a:latin typeface="Microsoft JhengHei"/>
                <a:cs typeface="Microsoft JhengHei"/>
              </a:rPr>
              <a:t>度</a:t>
            </a:r>
            <a:endParaRPr sz="1500">
              <a:latin typeface="Microsoft JhengHei"/>
              <a:cs typeface="Microsoft JhengHei"/>
            </a:endParaRPr>
          </a:p>
          <a:p>
            <a:pPr marL="12700" marR="5080">
              <a:lnSpc>
                <a:spcPct val="125000"/>
              </a:lnSpc>
              <a:spcBef>
                <a:spcPts val="645"/>
              </a:spcBef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实现服务流程规范化管控，多维度信息实时可视化，企业、物流 商、司机等主体可随时查询，异常情况自动预警并同步处理进度， 服务纠纷率降低</a:t>
            </a:r>
            <a:r>
              <a:rPr sz="1200" spc="80" dirty="0">
                <a:solidFill>
                  <a:srgbClr val="404040"/>
                </a:solidFill>
                <a:latin typeface="Arial Unicode MS"/>
                <a:cs typeface="Arial Unicode MS"/>
              </a:rPr>
              <a:t>80</a:t>
            </a:r>
            <a:r>
              <a:rPr sz="1200" spc="30" dirty="0">
                <a:solidFill>
                  <a:srgbClr val="404040"/>
                </a:solidFill>
                <a:latin typeface="Arial Unicode MS"/>
                <a:cs typeface="Arial Unicode MS"/>
              </a:rPr>
              <a:t>%，服务透明度与公信力显著增强。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5902" y="4740045"/>
            <a:ext cx="4292600" cy="982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资源利用与服务配置实现最</a:t>
            </a:r>
            <a:r>
              <a:rPr sz="1500" b="1" dirty="0">
                <a:latin typeface="Microsoft JhengHei"/>
                <a:cs typeface="Microsoft JhengHei"/>
              </a:rPr>
              <a:t>优</a:t>
            </a:r>
            <a:endParaRPr sz="1500">
              <a:latin typeface="Microsoft JhengHei"/>
              <a:cs typeface="Microsoft JhengHei"/>
            </a:endParaRPr>
          </a:p>
          <a:p>
            <a:pPr marL="12700" marR="5080">
              <a:lnSpc>
                <a:spcPct val="125000"/>
              </a:lnSpc>
              <a:spcBef>
                <a:spcPts val="645"/>
              </a:spcBef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实现资源动态优化调度，提升仓库空间利用率，减少装卸设备闲 置时间</a:t>
            </a:r>
            <a:r>
              <a:rPr sz="1200" spc="55" dirty="0">
                <a:solidFill>
                  <a:srgbClr val="404040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，高峰期资源紧张与低峰期资源闲置的矛盾得到有效解 决，以有限资源承载更高业务量，服务承载力显著增强。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0524" y="1737829"/>
            <a:ext cx="655193" cy="6551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1895" y="1863851"/>
            <a:ext cx="251460" cy="2514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524" y="3337331"/>
            <a:ext cx="655193" cy="6551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1895" y="3462528"/>
            <a:ext cx="251460" cy="2514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0524" y="4936845"/>
            <a:ext cx="655193" cy="6551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1895" y="5062728"/>
            <a:ext cx="251460" cy="2514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04621" y="1541042"/>
            <a:ext cx="4292600" cy="982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强化服务异常处置与风险管控能</a:t>
            </a:r>
            <a:r>
              <a:rPr sz="1500" b="1" dirty="0">
                <a:latin typeface="Microsoft JhengHei"/>
                <a:cs typeface="Microsoft JhengHei"/>
              </a:rPr>
              <a:t>力</a:t>
            </a:r>
            <a:endParaRPr sz="1500"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25000"/>
              </a:lnSpc>
              <a:spcBef>
                <a:spcPts val="645"/>
              </a:spcBef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针对运输超时、车辆偏离、设备故障等情况自动触发预警，快速 调配备用资源或启动应急方案。实现服务风险的前置管控，降低 违规操作发生率，货物安全保障与合规运营水平大幅提升。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89242" y="1737829"/>
            <a:ext cx="655192" cy="6551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91300" y="1863851"/>
            <a:ext cx="251459" cy="2514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04621" y="3140544"/>
            <a:ext cx="4445000" cy="982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服务价值从基础操作向增值赋能延</a:t>
            </a:r>
            <a:r>
              <a:rPr sz="1500" b="1" dirty="0">
                <a:latin typeface="Microsoft JhengHei"/>
                <a:cs typeface="Microsoft JhengHei"/>
              </a:rPr>
              <a:t>伸</a:t>
            </a:r>
            <a:endParaRPr sz="1500">
              <a:latin typeface="Microsoft JhengHei"/>
              <a:cs typeface="Microsoft JhengHei"/>
            </a:endParaRPr>
          </a:p>
          <a:p>
            <a:pPr marL="12700" marR="5080">
              <a:lnSpc>
                <a:spcPct val="125000"/>
              </a:lnSpc>
              <a:spcBef>
                <a:spcPts val="645"/>
              </a:spcBef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通过数据驾驶舱为园区运营提供科学决策依据，助力优化资源布 局与服务策略。推动园区服务从</a:t>
            </a:r>
            <a:r>
              <a:rPr sz="1200" spc="795" dirty="0">
                <a:solidFill>
                  <a:srgbClr val="404040"/>
                </a:solidFill>
                <a:latin typeface="Arial Unicode MS"/>
                <a:cs typeface="Arial Unicode MS"/>
              </a:rPr>
              <a:t>“功能性服务”向“价值型服务”</a:t>
            </a:r>
            <a:r>
              <a:rPr sz="1200" spc="665" dirty="0">
                <a:solidFill>
                  <a:srgbClr val="404040"/>
                </a:solidFill>
                <a:latin typeface="Arial Unicode MS"/>
                <a:cs typeface="Arial Unicode MS"/>
              </a:rPr>
              <a:t> 升级，实现园区与入驻主体的协同发展。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89242" y="3337331"/>
            <a:ext cx="655192" cy="6551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91300" y="3462528"/>
            <a:ext cx="251459" cy="2514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204621" y="4740045"/>
            <a:ext cx="4292600" cy="982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500" b="1" spc="5" dirty="0">
                <a:latin typeface="Microsoft JhengHei"/>
                <a:cs typeface="Microsoft JhengHei"/>
              </a:rPr>
              <a:t>服务体系的灵活性、适配性显著增</a:t>
            </a:r>
            <a:r>
              <a:rPr sz="1500" b="1" dirty="0">
                <a:latin typeface="Microsoft JhengHei"/>
                <a:cs typeface="Microsoft JhengHei"/>
              </a:rPr>
              <a:t>强</a:t>
            </a:r>
            <a:endParaRPr sz="1500"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25000"/>
              </a:lnSpc>
              <a:spcBef>
                <a:spcPts val="645"/>
              </a:spcBef>
            </a:pPr>
            <a:r>
              <a:rPr sz="1200" dirty="0">
                <a:solidFill>
                  <a:srgbClr val="404040"/>
                </a:solidFill>
                <a:latin typeface="Arial Unicode MS"/>
                <a:cs typeface="Arial Unicode MS"/>
              </a:rPr>
              <a:t>可根据园区业务类型、高峰期业务波动、节假日或极端天气等特 殊情况，灵活调整服务流程与资源配置，保障物流服务的连续性 与稳定性，大幅提升园区服务的抗风险能力与客户满意度。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89242" y="4936845"/>
            <a:ext cx="655192" cy="6551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91300" y="5062728"/>
            <a:ext cx="251459" cy="2514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巨沃科技</a:t>
            </a:r>
            <a:r>
              <a:rPr spc="40" dirty="0"/>
              <a:t> </a:t>
            </a:r>
            <a:r>
              <a:rPr spc="-15" dirty="0"/>
              <a:t>|</a:t>
            </a:r>
            <a:r>
              <a:rPr spc="40" dirty="0"/>
              <a:t> </a:t>
            </a:r>
            <a:r>
              <a:rPr dirty="0"/>
              <a:t>数字化供应链可视管理专家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2441</Words>
  <Application>Microsoft Office PowerPoint</Application>
  <PresentationFormat>宽屏</PresentationFormat>
  <Paragraphs>721</Paragraphs>
  <Slides>48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Arial Unicode MS</vt:lpstr>
      <vt:lpstr>Microsoft JhengHei</vt:lpstr>
      <vt:lpstr>微软雅黑</vt:lpstr>
      <vt:lpstr>Arial</vt:lpstr>
      <vt:lpstr>Calibri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传统物业向供应链协同转变</vt:lpstr>
      <vt:lpstr>行业当前管理痛点分析</vt:lpstr>
      <vt:lpstr>行业当前管理痛点分析</vt:lpstr>
      <vt:lpstr>PowerPoint 演示文稿</vt:lpstr>
      <vt:lpstr>核心诉求与目标</vt:lpstr>
      <vt:lpstr>企业客户画像</vt:lpstr>
      <vt:lpstr>PowerPoint 演示文稿</vt:lpstr>
      <vt:lpstr>高度灵活配置</vt:lpstr>
      <vt:lpstr>多维数据体系</vt:lpstr>
      <vt:lpstr>PowerPoint 演示文稿</vt:lpstr>
      <vt:lpstr>YMS系统架构图</vt:lpstr>
      <vt:lpstr>YMS系统核心能力</vt:lpstr>
      <vt:lpstr>业务场景</vt:lpstr>
      <vt:lpstr>系统蓝图</vt:lpstr>
      <vt:lpstr>核心体系</vt:lpstr>
      <vt:lpstr>YMS系统基础应用功能</vt:lpstr>
      <vt:lpstr>组织用户体系</vt:lpstr>
      <vt:lpstr>灵活策略配置</vt:lpstr>
      <vt:lpstr>二次开发平台</vt:lpstr>
      <vt:lpstr>数据驾驶舱</vt:lpstr>
      <vt:lpstr>小程序集成</vt:lpstr>
      <vt:lpstr>YMS系统三大业务说明</vt:lpstr>
      <vt:lpstr>业务流程</vt:lpstr>
      <vt:lpstr>入园作业</vt:lpstr>
      <vt:lpstr>入园预约</vt:lpstr>
      <vt:lpstr>签到及月台分配</vt:lpstr>
      <vt:lpstr>入园排队</vt:lpstr>
      <vt:lpstr>园内作业</vt:lpstr>
      <vt:lpstr>导航指引</vt:lpstr>
      <vt:lpstr>单、多月台活动</vt:lpstr>
      <vt:lpstr>地磅称重</vt:lpstr>
      <vt:lpstr>出园作业</vt:lpstr>
      <vt:lpstr>PowerPoint 演示文稿</vt:lpstr>
      <vt:lpstr>装车核准</vt:lpstr>
      <vt:lpstr>道闸管控</vt:lpstr>
      <vt:lpstr>PowerPoint 演示文稿</vt:lpstr>
      <vt:lpstr>系统部署方案</vt:lpstr>
      <vt:lpstr>管理机制保障</vt:lpstr>
      <vt:lpstr>标准监管框架</vt:lpstr>
      <vt:lpstr>风险与挑战</vt:lpstr>
      <vt:lpstr>PowerPoint 演示文稿</vt:lpstr>
      <vt:lpstr>降低园区成本</vt:lpstr>
      <vt:lpstr>多方价值提升</vt:lpstr>
      <vt:lpstr>改善指标比较</vt:lpstr>
      <vt:lpstr>综合服务水平优化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Victor Ding</cp:lastModifiedBy>
  <cp:revision>2</cp:revision>
  <dcterms:created xsi:type="dcterms:W3CDTF">2026-08-28T15:26:24Z</dcterms:created>
  <dcterms:modified xsi:type="dcterms:W3CDTF">2026-08-28T07:59:40Z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2026-08-07T00:00:00Z</vt:filetime>
  </property>
  <property fmtid="{D5CDD505-2E9C-101B-9397-08002B2CF9AE}" pid="3" name="LastSaved">
    <vt:filetime>2026-08-28T00:00:00Z</vt:filetime>
  </property>
</Properties>
</file>