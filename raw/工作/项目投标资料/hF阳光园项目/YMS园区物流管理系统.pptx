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15443"/>
            <a:ext cx="1563771" cy="2455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462240" y="6413043"/>
            <a:ext cx="502949" cy="248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733923" y="2343000"/>
            <a:ext cx="1695373" cy="8099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</a:t>
            </a:r>
            <a:endParaRPr lang="en-US" sz="4410" dirty="0"/>
          </a:p>
        </p:txBody>
      </p:sp>
      <p:sp>
        <p:nvSpPr>
          <p:cNvPr id="5" name="Text 3"/>
          <p:cNvSpPr txBox="1"/>
          <p:nvPr/>
        </p:nvSpPr>
        <p:spPr>
          <a:xfrm>
            <a:off x="6990499" y="2318508"/>
            <a:ext cx="5201470" cy="8405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园区物流管理系统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152373" y="4195486"/>
            <a:ext cx="2307741" cy="326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8936853" y="4191739"/>
            <a:ext cx="651743" cy="33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endParaRPr lang="en-US" sz="14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2769553" y="3003356"/>
            <a:ext cx="1239520" cy="6473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503297" y="3686235"/>
            <a:ext cx="1858313" cy="438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010" dirty="0"/>
          </a:p>
        </p:txBody>
      </p:sp>
      <p:sp>
        <p:nvSpPr>
          <p:cNvPr id="5" name="Text 3"/>
          <p:cNvSpPr txBox="1"/>
          <p:nvPr/>
        </p:nvSpPr>
        <p:spPr>
          <a:xfrm>
            <a:off x="8065707" y="1869491"/>
            <a:ext cx="1832482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行业洞察分析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081216" y="1886836"/>
            <a:ext cx="532425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8065707" y="2624252"/>
            <a:ext cx="1832482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系统功能概述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81216" y="2641597"/>
            <a:ext cx="532425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90" dirty="0"/>
          </a:p>
        </p:txBody>
      </p:sp>
      <p:sp>
        <p:nvSpPr>
          <p:cNvPr id="9" name="Text 7"/>
          <p:cNvSpPr txBox="1"/>
          <p:nvPr/>
        </p:nvSpPr>
        <p:spPr>
          <a:xfrm>
            <a:off x="8065707" y="4133774"/>
            <a:ext cx="1832482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实施交付体系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081216" y="4151119"/>
            <a:ext cx="53242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590" dirty="0"/>
          </a:p>
        </p:txBody>
      </p:sp>
      <p:sp>
        <p:nvSpPr>
          <p:cNvPr id="11" name="Text 9"/>
          <p:cNvSpPr txBox="1"/>
          <p:nvPr/>
        </p:nvSpPr>
        <p:spPr>
          <a:xfrm>
            <a:off x="8065707" y="3379013"/>
            <a:ext cx="1832482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系统业务说明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81216" y="3396358"/>
            <a:ext cx="53242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90" dirty="0"/>
          </a:p>
        </p:txBody>
      </p:sp>
      <p:sp>
        <p:nvSpPr>
          <p:cNvPr id="13" name="Text 11"/>
          <p:cNvSpPr txBox="1"/>
          <p:nvPr/>
        </p:nvSpPr>
        <p:spPr>
          <a:xfrm>
            <a:off x="8065707" y="4888535"/>
            <a:ext cx="1832482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项目价值效益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81216" y="4905880"/>
            <a:ext cx="53242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63947" y="2982935"/>
            <a:ext cx="2524150" cy="502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行业洞察分析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63947" y="3437385"/>
            <a:ext cx="4201388" cy="520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物流园区管理转型背景</a:t>
            </a:r>
            <a:endParaRPr lang="en-US" sz="26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518696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传统物业向供应链协同转变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69632" y="3638890"/>
            <a:ext cx="2600757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传统物业管理的局限性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969632" y="5252952"/>
            <a:ext cx="333220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资源浪费、信息孤岛、运营效率低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969632" y="40655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传统物业管理模式难以应对现代物流园区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9632" y="42941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的动态需求，存在车辆拥堵、资源浪费和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9632" y="45227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信息孤岛等问题，导致运营效率低下，亟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9632" y="4751349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需向供应链协同转型。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5726" y="3638890"/>
            <a:ext cx="2837204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智能技术驱动的协同升级</a:t>
            </a:r>
            <a:endParaRPr lang="en-US" sz="1590" dirty="0"/>
          </a:p>
        </p:txBody>
      </p:sp>
      <p:sp>
        <p:nvSpPr>
          <p:cNvPr id="11" name="Text 9"/>
          <p:cNvSpPr txBox="1"/>
          <p:nvPr/>
        </p:nvSpPr>
        <p:spPr>
          <a:xfrm>
            <a:off x="4665726" y="5252952"/>
            <a:ext cx="3125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在线预约、路径优化、智能调度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4665726" y="40655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借助预约机制、路径优化和智能调度等技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5726" y="42941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术，供应链协同平台可动态管理车流、货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5726" y="4522749"/>
            <a:ext cx="3596625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流，压缩车辆停留时间，实现“快进快出”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5726" y="4751349"/>
            <a:ext cx="165201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的高效运营目标。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1807" y="3638890"/>
            <a:ext cx="2364307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数据整合与决策优化</a:t>
            </a:r>
            <a:endParaRPr lang="en-US" sz="1590" dirty="0"/>
          </a:p>
        </p:txBody>
      </p:sp>
      <p:sp>
        <p:nvSpPr>
          <p:cNvPr id="17" name="Text 15"/>
          <p:cNvSpPr txBox="1"/>
          <p:nvPr/>
        </p:nvSpPr>
        <p:spPr>
          <a:xfrm>
            <a:off x="8361807" y="5252952"/>
            <a:ext cx="3125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多维分析、数据支撑、智慧决策</a:t>
            </a:r>
            <a:endParaRPr lang="en-US" sz="1410" dirty="0"/>
          </a:p>
        </p:txBody>
      </p:sp>
      <p:sp>
        <p:nvSpPr>
          <p:cNvPr id="18" name="Text 16"/>
          <p:cNvSpPr txBox="1"/>
          <p:nvPr/>
        </p:nvSpPr>
        <p:spPr>
          <a:xfrm>
            <a:off x="8361807" y="40655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打破信息孤岛，构建统一数字平台，通过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61807" y="42941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大数据分析预测流量、仓容等关键指标，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1807" y="4522749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赋能智慧决策，进而提升园区整体协同管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61807" y="475134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理水平。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4808" y="1733756"/>
            <a:ext cx="230759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供应链协同的核心价值</a:t>
            </a:r>
            <a:endParaRPr lang="en-US" sz="1410" dirty="0"/>
          </a:p>
        </p:txBody>
      </p:sp>
      <p:sp>
        <p:nvSpPr>
          <p:cNvPr id="23" name="Text 21"/>
          <p:cNvSpPr txBox="1"/>
          <p:nvPr/>
        </p:nvSpPr>
        <p:spPr>
          <a:xfrm>
            <a:off x="933628" y="2218033"/>
            <a:ext cx="725091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供应链协同，通过整合仓储、物流、车辆等资源，实现高效调度与信息共享，</a:t>
            </a:r>
            <a:endParaRPr lang="en-US" sz="1410" dirty="0"/>
          </a:p>
        </p:txBody>
      </p:sp>
      <p:sp>
        <p:nvSpPr>
          <p:cNvPr id="24" name="Text 22"/>
          <p:cNvSpPr txBox="1"/>
          <p:nvPr/>
        </p:nvSpPr>
        <p:spPr>
          <a:xfrm>
            <a:off x="933628" y="2538073"/>
            <a:ext cx="601342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显著提升园区运营效率，降低管理成本，满足多样化客户需求。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4361968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行业当前管理痛点分析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6618" y="2379628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运营管理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4685068" y="2992422"/>
            <a:ext cx="1966543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客户业务需求多样化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4685068" y="3297596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4900968" y="3295951"/>
            <a:ext cx="3532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园区内可能同时存在零散物流、大货物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4900968" y="3521376"/>
            <a:ext cx="3532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流；承接提货、送货业务以及大客户定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4900968" y="3746801"/>
            <a:ext cx="368429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制化服务、中小客户标准化服务体系等。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4685068" y="4050071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4900968" y="4048426"/>
            <a:ext cx="3532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参与到园区管理的物流公司水平不一，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4900968" y="4273851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影响整体服务能力和服务效率。</a:t>
            </a:r>
            <a:endParaRPr lang="en-US" sz="1290" dirty="0"/>
          </a:p>
        </p:txBody>
      </p:sp>
      <p:sp>
        <p:nvSpPr>
          <p:cNvPr id="13" name="Text 11"/>
          <p:cNvSpPr txBox="1"/>
          <p:nvPr/>
        </p:nvSpPr>
        <p:spPr>
          <a:xfrm>
            <a:off x="4685068" y="4736313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85068" y="5022063"/>
            <a:ext cx="378373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如何提供差异化的服务和系统，建立统一的服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85068" y="5230343"/>
            <a:ext cx="395020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务标准和监管机制，提升整个园区的服务下限，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85068" y="5438623"/>
            <a:ext cx="253593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进而提高园区运营管理水平。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95348" y="2992422"/>
            <a:ext cx="2735553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信息孤岛，数据价值挖掘不足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8295348" y="3297596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9" name="Text 17"/>
          <p:cNvSpPr txBox="1"/>
          <p:nvPr/>
        </p:nvSpPr>
        <p:spPr>
          <a:xfrm>
            <a:off x="8511248" y="3295951"/>
            <a:ext cx="3532703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园区管理系统、WMS仓储系统、TMS</a:t>
            </a:r>
            <a:endParaRPr lang="en-US" sz="1290" dirty="0"/>
          </a:p>
        </p:txBody>
      </p:sp>
      <p:sp>
        <p:nvSpPr>
          <p:cNvPr id="20" name="Text 18"/>
          <p:cNvSpPr txBox="1"/>
          <p:nvPr/>
        </p:nvSpPr>
        <p:spPr>
          <a:xfrm>
            <a:off x="8511248" y="3521376"/>
            <a:ext cx="353256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物流系统、车辆管理系统、门禁安防系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8511248" y="3746801"/>
            <a:ext cx="349278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统等联通性不足，形成“信息孤岛”。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8295348" y="4050071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8511248" y="4048426"/>
            <a:ext cx="353256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车流、货流、人流等海量运营数据无法</a:t>
            </a:r>
            <a:endParaRPr lang="en-US" sz="1290" dirty="0"/>
          </a:p>
        </p:txBody>
      </p:sp>
      <p:sp>
        <p:nvSpPr>
          <p:cNvPr id="24" name="Text 22"/>
          <p:cNvSpPr txBox="1"/>
          <p:nvPr/>
        </p:nvSpPr>
        <p:spPr>
          <a:xfrm>
            <a:off x="8511248" y="4273851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有效整合分析，用于优化决策。</a:t>
            </a:r>
            <a:endParaRPr lang="en-US" sz="1290" dirty="0"/>
          </a:p>
        </p:txBody>
      </p:sp>
      <p:sp>
        <p:nvSpPr>
          <p:cNvPr id="25" name="Text 23"/>
          <p:cNvSpPr txBox="1"/>
          <p:nvPr/>
        </p:nvSpPr>
        <p:spPr>
          <a:xfrm>
            <a:off x="8295348" y="4736313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95348" y="5022063"/>
            <a:ext cx="378373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如何构建统一的数字平台，打通内外数据，并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95348" y="5230343"/>
            <a:ext cx="389662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利用大数据技术进行信息分析，实现智慧预测、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95348" y="5438623"/>
            <a:ext cx="288950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决策等，达到协同高效管理目标；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466898" y="2371893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数据管理</a:t>
            </a:r>
            <a:endParaRPr lang="en-US" sz="1410" dirty="0"/>
          </a:p>
        </p:txBody>
      </p:sp>
      <p:sp>
        <p:nvSpPr>
          <p:cNvPr id="30" name="Text 28"/>
          <p:cNvSpPr txBox="1"/>
          <p:nvPr/>
        </p:nvSpPr>
        <p:spPr>
          <a:xfrm>
            <a:off x="748094" y="3442097"/>
            <a:ext cx="385518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现代物流园区管理正在从传统的 “物业</a:t>
            </a:r>
            <a:endParaRPr lang="en-US" sz="1410" dirty="0"/>
          </a:p>
        </p:txBody>
      </p:sp>
      <p:sp>
        <p:nvSpPr>
          <p:cNvPr id="31" name="Text 29"/>
          <p:cNvSpPr txBox="1"/>
          <p:nvPr/>
        </p:nvSpPr>
        <p:spPr>
          <a:xfrm>
            <a:off x="748094" y="3708797"/>
            <a:ext cx="395094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管理”向“供应链协同平台运营”转变，</a:t>
            </a:r>
            <a:endParaRPr lang="en-US" sz="1410" dirty="0"/>
          </a:p>
        </p:txBody>
      </p:sp>
      <p:sp>
        <p:nvSpPr>
          <p:cNvPr id="32" name="Text 30"/>
          <p:cNvSpPr txBox="1"/>
          <p:nvPr/>
        </p:nvSpPr>
        <p:spPr>
          <a:xfrm>
            <a:off x="748094" y="3975497"/>
            <a:ext cx="385518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园区管理能力进一步体现现代仓储物流</a:t>
            </a:r>
            <a:endParaRPr lang="en-US" sz="1410" dirty="0"/>
          </a:p>
        </p:txBody>
      </p:sp>
      <p:sp>
        <p:nvSpPr>
          <p:cNvPr id="33" name="Text 31"/>
          <p:cNvSpPr txBox="1"/>
          <p:nvPr/>
        </p:nvSpPr>
        <p:spPr>
          <a:xfrm>
            <a:off x="748094" y="4242197"/>
            <a:ext cx="209471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的管理高度与水平。</a:t>
            </a:r>
            <a:endParaRPr lang="en-US" sz="1410" dirty="0"/>
          </a:p>
        </p:txBody>
      </p:sp>
      <p:sp>
        <p:nvSpPr>
          <p:cNvPr id="34" name="Text 32"/>
          <p:cNvSpPr txBox="1"/>
          <p:nvPr/>
        </p:nvSpPr>
        <p:spPr>
          <a:xfrm>
            <a:off x="748094" y="2275764"/>
            <a:ext cx="2362835" cy="487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聚焦行业痛点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748094" y="2726096"/>
            <a:ext cx="3184880" cy="423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实现园区运营管理提升</a:t>
            </a:r>
            <a:endParaRPr lang="en-US" sz="2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4361968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行业当前管理痛点分析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917256" y="2621258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场站管理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746125" y="3308321"/>
            <a:ext cx="254330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解决“动态交通拥堵”难题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746125" y="3613484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962025" y="3611839"/>
            <a:ext cx="368429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车辆到达时间不规律，高峰期集中到达，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962025" y="3837264"/>
            <a:ext cx="310974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导致园区外道路和入口严重拥堵。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746125" y="4140534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962025" y="4138889"/>
            <a:ext cx="3532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场内车辆停放难，无法协同仓配环节，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962025" y="4364314"/>
            <a:ext cx="330126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装卸效率低下，造成内部循环堵塞。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746125" y="4826775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46125" y="5112525"/>
            <a:ext cx="378373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如何通过预约机制、路径优化、智能导引等手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6125" y="5320817"/>
            <a:ext cx="378373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段，实现“快进快出、高效装卸”，压缩平均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46125" y="5529085"/>
            <a:ext cx="165201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停留时间至最短。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92851" y="2619289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安全管理</a:t>
            </a:r>
            <a:endParaRPr lang="en-US" sz="1410" dirty="0"/>
          </a:p>
        </p:txBody>
      </p:sp>
      <p:sp>
        <p:nvSpPr>
          <p:cNvPr id="17" name="Text 15"/>
          <p:cNvSpPr txBox="1"/>
          <p:nvPr/>
        </p:nvSpPr>
        <p:spPr>
          <a:xfrm>
            <a:off x="4521721" y="3308321"/>
            <a:ext cx="235104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安全管理风险点多且复杂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4521721" y="3613484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9" name="Text 17"/>
          <p:cNvSpPr txBox="1"/>
          <p:nvPr/>
        </p:nvSpPr>
        <p:spPr>
          <a:xfrm>
            <a:off x="4737621" y="3611839"/>
            <a:ext cx="3532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园区内司机、库管、门卫、搬运、物流</a:t>
            </a:r>
            <a:endParaRPr lang="en-US" sz="1290" dirty="0"/>
          </a:p>
        </p:txBody>
      </p:sp>
      <p:sp>
        <p:nvSpPr>
          <p:cNvPr id="20" name="Text 18"/>
          <p:cNvSpPr txBox="1"/>
          <p:nvPr/>
        </p:nvSpPr>
        <p:spPr>
          <a:xfrm>
            <a:off x="4737621" y="3837264"/>
            <a:ext cx="349278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等人员复杂，内部管理混乱且难度高。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4521721" y="4140534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4737621" y="4138889"/>
            <a:ext cx="3532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园区内叉车、托盘、月台、车辆及设备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4737621" y="4364314"/>
            <a:ext cx="330126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等协同难度大，且落地执行不可控。</a:t>
            </a:r>
            <a:endParaRPr lang="en-US" sz="1290" dirty="0"/>
          </a:p>
        </p:txBody>
      </p:sp>
      <p:sp>
        <p:nvSpPr>
          <p:cNvPr id="24" name="Text 22"/>
          <p:cNvSpPr txBox="1"/>
          <p:nvPr/>
        </p:nvSpPr>
        <p:spPr>
          <a:xfrm>
            <a:off x="4521721" y="4826775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21721" y="5112525"/>
            <a:ext cx="378373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如何建立全覆盖、无死角、智能的“人协+技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21721" y="5320817"/>
            <a:ext cx="3783735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协+物协”一体化协同体系，并落实到每一个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21721" y="5529085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业务环节。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68447" y="2624623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设备管理</a:t>
            </a:r>
            <a:endParaRPr lang="en-US" sz="1410" dirty="0"/>
          </a:p>
        </p:txBody>
      </p:sp>
      <p:sp>
        <p:nvSpPr>
          <p:cNvPr id="29" name="Text 27"/>
          <p:cNvSpPr txBox="1"/>
          <p:nvPr/>
        </p:nvSpPr>
        <p:spPr>
          <a:xfrm>
            <a:off x="8297316" y="3308321"/>
            <a:ext cx="215879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智能仓储设备协同不足</a:t>
            </a:r>
            <a:endParaRPr lang="en-US" sz="1290" dirty="0"/>
          </a:p>
        </p:txBody>
      </p:sp>
      <p:sp>
        <p:nvSpPr>
          <p:cNvPr id="30" name="Text 28"/>
          <p:cNvSpPr txBox="1"/>
          <p:nvPr/>
        </p:nvSpPr>
        <p:spPr>
          <a:xfrm>
            <a:off x="8297316" y="3613484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31" name="Text 29"/>
          <p:cNvSpPr txBox="1"/>
          <p:nvPr/>
        </p:nvSpPr>
        <p:spPr>
          <a:xfrm>
            <a:off x="8513216" y="3611839"/>
            <a:ext cx="353256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大型仓储物流园区逐步向高智能化升级</a:t>
            </a:r>
            <a:endParaRPr lang="en-US" sz="1290" dirty="0"/>
          </a:p>
        </p:txBody>
      </p:sp>
      <p:sp>
        <p:nvSpPr>
          <p:cNvPr id="32" name="Text 30"/>
          <p:cNvSpPr txBox="1"/>
          <p:nvPr/>
        </p:nvSpPr>
        <p:spPr>
          <a:xfrm>
            <a:off x="8513216" y="3837264"/>
            <a:ext cx="310974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与改造，要求充分发挥设备价值。</a:t>
            </a:r>
            <a:endParaRPr lang="en-US" sz="1290" dirty="0"/>
          </a:p>
        </p:txBody>
      </p:sp>
      <p:sp>
        <p:nvSpPr>
          <p:cNvPr id="33" name="Text 31"/>
          <p:cNvSpPr txBox="1"/>
          <p:nvPr/>
        </p:nvSpPr>
        <p:spPr>
          <a:xfrm>
            <a:off x="8297316" y="4140534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34" name="Text 32"/>
          <p:cNvSpPr txBox="1"/>
          <p:nvPr/>
        </p:nvSpPr>
        <p:spPr>
          <a:xfrm>
            <a:off x="8513216" y="4138889"/>
            <a:ext cx="353256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需同时兼顾预知性和协同性，避免园区</a:t>
            </a:r>
            <a:endParaRPr lang="en-US" sz="1290" dirty="0"/>
          </a:p>
        </p:txBody>
      </p:sp>
      <p:sp>
        <p:nvSpPr>
          <p:cNvPr id="35" name="Text 33"/>
          <p:cNvSpPr txBox="1"/>
          <p:nvPr/>
        </p:nvSpPr>
        <p:spPr>
          <a:xfrm>
            <a:off x="8513216" y="4364314"/>
            <a:ext cx="253520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仓库资源与场地等的浪费。</a:t>
            </a:r>
            <a:endParaRPr lang="en-US" sz="1290" dirty="0"/>
          </a:p>
        </p:txBody>
      </p:sp>
      <p:sp>
        <p:nvSpPr>
          <p:cNvPr id="36" name="Text 34"/>
          <p:cNvSpPr txBox="1"/>
          <p:nvPr/>
        </p:nvSpPr>
        <p:spPr>
          <a:xfrm>
            <a:off x="8297316" y="4826775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97316" y="5112525"/>
            <a:ext cx="378373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如何达到设备运行与转运能力的高效协同，利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297316" y="5320817"/>
            <a:ext cx="378373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用自动化周边空间避免场地拥堵，减少计划不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297316" y="5529085"/>
            <a:ext cx="306628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确定性和临时性对仓储能力的影响；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12448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核心诉求与目标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84218" y="3383044"/>
            <a:ext cx="714921" cy="574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209350" y="2390567"/>
            <a:ext cx="945174" cy="6911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06439" y="2662397"/>
            <a:ext cx="733034" cy="513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241096" y="3249574"/>
            <a:ext cx="662763" cy="455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2379" y="2138372"/>
            <a:ext cx="40673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物流园区正从传统物业管理升级为供应链协同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542379" y="2397452"/>
            <a:ext cx="40673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平台，需解决动态拥堵、智能仓储、安全管理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542379" y="2656532"/>
            <a:ext cx="349278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等痛点，实现高效协同与数字化决策。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542379" y="4023573"/>
            <a:ext cx="3546552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智能仓储升级的价值与协同需求</a:t>
            </a:r>
            <a:endParaRPr lang="en-US" sz="1590" dirty="0"/>
          </a:p>
        </p:txBody>
      </p:sp>
      <p:sp>
        <p:nvSpPr>
          <p:cNvPr id="12" name="Text 10"/>
          <p:cNvSpPr txBox="1"/>
          <p:nvPr/>
        </p:nvSpPr>
        <p:spPr>
          <a:xfrm>
            <a:off x="542379" y="1666503"/>
            <a:ext cx="3310103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现代物流园区管理的核心诉求</a:t>
            </a:r>
            <a:endParaRPr lang="en-US" sz="1590" dirty="0"/>
          </a:p>
        </p:txBody>
      </p:sp>
      <p:sp>
        <p:nvSpPr>
          <p:cNvPr id="13" name="Text 11"/>
          <p:cNvSpPr txBox="1"/>
          <p:nvPr/>
        </p:nvSpPr>
        <p:spPr>
          <a:xfrm>
            <a:off x="542379" y="4449709"/>
            <a:ext cx="40673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高度智能化设备需兼具预知性与协同性，避免</a:t>
            </a:r>
            <a:endParaRPr lang="en-US" sz="1290" dirty="0"/>
          </a:p>
        </p:txBody>
      </p:sp>
      <p:sp>
        <p:nvSpPr>
          <p:cNvPr id="14" name="Text 12"/>
          <p:cNvSpPr txBox="1"/>
          <p:nvPr/>
        </p:nvSpPr>
        <p:spPr>
          <a:xfrm>
            <a:off x="542379" y="4708788"/>
            <a:ext cx="40673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资源浪费；通过设备运行与转运能力协同，提</a:t>
            </a:r>
            <a:endParaRPr lang="en-US" sz="1290" dirty="0"/>
          </a:p>
        </p:txBody>
      </p:sp>
      <p:sp>
        <p:nvSpPr>
          <p:cNvPr id="15" name="Text 13"/>
          <p:cNvSpPr txBox="1"/>
          <p:nvPr/>
        </p:nvSpPr>
        <p:spPr>
          <a:xfrm>
            <a:off x="542379" y="4967868"/>
            <a:ext cx="2535199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升仓储效率与空间利用率。</a:t>
            </a:r>
            <a:endParaRPr lang="en-US" sz="1290" dirty="0"/>
          </a:p>
        </p:txBody>
      </p:sp>
      <p:sp>
        <p:nvSpPr>
          <p:cNvPr id="16" name="Text 14"/>
          <p:cNvSpPr txBox="1"/>
          <p:nvPr/>
        </p:nvSpPr>
        <p:spPr>
          <a:xfrm>
            <a:off x="8230819" y="2138372"/>
            <a:ext cx="396115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车辆高峰期集中到达导致内外拥堵，需通过预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8230819" y="2397452"/>
            <a:ext cx="396115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约机制、智能导引和路径优化，实现“快进快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8230819" y="2656532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出”，压缩停留时间至最短。</a:t>
            </a:r>
            <a:endParaRPr lang="en-US" sz="1290" dirty="0"/>
          </a:p>
        </p:txBody>
      </p:sp>
      <p:sp>
        <p:nvSpPr>
          <p:cNvPr id="19" name="Text 17"/>
          <p:cNvSpPr txBox="1"/>
          <p:nvPr/>
        </p:nvSpPr>
        <p:spPr>
          <a:xfrm>
            <a:off x="8230819" y="1666503"/>
            <a:ext cx="3546549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车场与交通管理的动态拥堵挑战</a:t>
            </a:r>
            <a:endParaRPr lang="en-US" sz="1590" dirty="0"/>
          </a:p>
        </p:txBody>
      </p:sp>
      <p:sp>
        <p:nvSpPr>
          <p:cNvPr id="20" name="Text 18"/>
          <p:cNvSpPr txBox="1"/>
          <p:nvPr/>
        </p:nvSpPr>
        <p:spPr>
          <a:xfrm>
            <a:off x="8230819" y="4023573"/>
            <a:ext cx="2837204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安全管理一体化协同体系</a:t>
            </a:r>
            <a:endParaRPr lang="en-US" sz="1590" dirty="0"/>
          </a:p>
        </p:txBody>
      </p:sp>
      <p:sp>
        <p:nvSpPr>
          <p:cNvPr id="21" name="Text 19"/>
          <p:cNvSpPr txBox="1"/>
          <p:nvPr/>
        </p:nvSpPr>
        <p:spPr>
          <a:xfrm>
            <a:off x="8230819" y="4449709"/>
            <a:ext cx="396115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园区人员与设备协同复杂，需建立“人技物”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8230819" y="4708788"/>
            <a:ext cx="396115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一体化体系，覆盖全业务环节，确保安全与执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8230819" y="4967868"/>
            <a:ext cx="100307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行可控。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12448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核心诉求与目标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82881" y="3148917"/>
            <a:ext cx="132643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 × 能力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5344985" y="2578472"/>
            <a:ext cx="133084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 × 配送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5814923" y="4948596"/>
            <a:ext cx="1326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× 效率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4876940" y="4374607"/>
            <a:ext cx="133085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 × 月台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877151" y="2336282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1107656" y="2334638"/>
            <a:ext cx="425884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打通仓储与物流环节信息交互，支撑业务决策以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1107656" y="2572128"/>
            <a:ext cx="176913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降低作业异常率；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877151" y="2887462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1107656" y="2885818"/>
            <a:ext cx="445036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打通货品、订单、物流时效信息以提高服务水平；</a:t>
            </a:r>
            <a:endParaRPr lang="en-US" sz="1290" dirty="0"/>
          </a:p>
        </p:txBody>
      </p:sp>
      <p:sp>
        <p:nvSpPr>
          <p:cNvPr id="13" name="Text 11"/>
          <p:cNvSpPr txBox="1"/>
          <p:nvPr/>
        </p:nvSpPr>
        <p:spPr>
          <a:xfrm>
            <a:off x="7518286" y="4826448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4" name="Text 12"/>
          <p:cNvSpPr txBox="1"/>
          <p:nvPr/>
        </p:nvSpPr>
        <p:spPr>
          <a:xfrm>
            <a:off x="7748791" y="4824803"/>
            <a:ext cx="444317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通过地图导航、排队叫号，实现车型与月台联动；</a:t>
            </a:r>
            <a:endParaRPr lang="en-US" sz="1290" dirty="0"/>
          </a:p>
        </p:txBody>
      </p:sp>
      <p:sp>
        <p:nvSpPr>
          <p:cNvPr id="15" name="Text 13"/>
          <p:cNvSpPr txBox="1"/>
          <p:nvPr/>
        </p:nvSpPr>
        <p:spPr>
          <a:xfrm>
            <a:off x="7518286" y="5140138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6" name="Text 14"/>
          <p:cNvSpPr txBox="1"/>
          <p:nvPr/>
        </p:nvSpPr>
        <p:spPr>
          <a:xfrm>
            <a:off x="7748791" y="5138493"/>
            <a:ext cx="444317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人、货、场，车、时、效，空间与时间均衡管理；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513359" y="4252459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743864" y="4250814"/>
            <a:ext cx="425884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减少车辆、司机在园停留时长，实现高效装卸；</a:t>
            </a:r>
            <a:endParaRPr lang="en-US" sz="1290" dirty="0"/>
          </a:p>
        </p:txBody>
      </p:sp>
      <p:sp>
        <p:nvSpPr>
          <p:cNvPr id="19" name="Text 17"/>
          <p:cNvSpPr txBox="1"/>
          <p:nvPr/>
        </p:nvSpPr>
        <p:spPr>
          <a:xfrm>
            <a:off x="513359" y="4566149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0" name="Text 18"/>
          <p:cNvSpPr txBox="1"/>
          <p:nvPr/>
        </p:nvSpPr>
        <p:spPr>
          <a:xfrm>
            <a:off x="743864" y="4564504"/>
            <a:ext cx="425884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完善园区规范，建立预约排号机制，提升效率；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8026083" y="2903414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8256587" y="2901769"/>
            <a:ext cx="393538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一体化集成安防体系、门禁系统、称重设备等；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8026083" y="3217104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4" name="Text 22"/>
          <p:cNvSpPr txBox="1"/>
          <p:nvPr/>
        </p:nvSpPr>
        <p:spPr>
          <a:xfrm>
            <a:off x="8256587" y="3215459"/>
            <a:ext cx="393538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通过信息与科技技术应用，完善管理体系及智</a:t>
            </a:r>
            <a:endParaRPr lang="en-US" sz="1290" dirty="0"/>
          </a:p>
        </p:txBody>
      </p:sp>
      <p:sp>
        <p:nvSpPr>
          <p:cNvPr id="25" name="Text 23"/>
          <p:cNvSpPr txBox="1"/>
          <p:nvPr/>
        </p:nvSpPr>
        <p:spPr>
          <a:xfrm>
            <a:off x="8256587" y="3452949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能化业务流程，实现降本增效；</a:t>
            </a:r>
            <a:endParaRPr lang="en-US" sz="1290" dirty="0"/>
          </a:p>
        </p:txBody>
      </p:sp>
      <p:sp>
        <p:nvSpPr>
          <p:cNvPr id="26" name="Text 24"/>
          <p:cNvSpPr txBox="1"/>
          <p:nvPr/>
        </p:nvSpPr>
        <p:spPr>
          <a:xfrm>
            <a:off x="4715688" y="1337053"/>
            <a:ext cx="3310101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协同提效，提升信息决策能力</a:t>
            </a:r>
            <a:endParaRPr lang="en-US" sz="1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企业客户画像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011299" y="1918865"/>
            <a:ext cx="373143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同时在园车辆超过10台，日吞吐车辆达到</a:t>
            </a:r>
            <a:endParaRPr lang="en-US" sz="1290" dirty="0"/>
          </a:p>
        </p:txBody>
      </p:sp>
      <p:sp>
        <p:nvSpPr>
          <p:cNvPr id="5" name="Text 3"/>
          <p:cNvSpPr txBox="1"/>
          <p:nvPr/>
        </p:nvSpPr>
        <p:spPr>
          <a:xfrm>
            <a:off x="2011299" y="2116985"/>
            <a:ext cx="143324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25车次及以上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2015045" y="1608344"/>
            <a:ext cx="2884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|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2059495" y="1608344"/>
            <a:ext cx="113345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园区车辆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7617105" y="1918865"/>
            <a:ext cx="368429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仓配协同型，供应链中生产协同型，流通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7617105" y="2116985"/>
            <a:ext cx="196065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领域内仓配一体体系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7620851" y="1608344"/>
            <a:ext cx="2884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|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7665301" y="1608344"/>
            <a:ext cx="113344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园区类型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2011299" y="3420881"/>
            <a:ext cx="387581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园区面积较大，原料供应物流、生产物流、</a:t>
            </a:r>
            <a:endParaRPr lang="en-US" sz="1290" dirty="0"/>
          </a:p>
        </p:txBody>
      </p:sp>
      <p:sp>
        <p:nvSpPr>
          <p:cNvPr id="13" name="Text 11"/>
          <p:cNvSpPr txBox="1"/>
          <p:nvPr/>
        </p:nvSpPr>
        <p:spPr>
          <a:xfrm>
            <a:off x="2011299" y="3619001"/>
            <a:ext cx="330126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成品物流未统一管理的生产制造园区</a:t>
            </a:r>
            <a:endParaRPr lang="en-US" sz="1290" dirty="0"/>
          </a:p>
        </p:txBody>
      </p:sp>
      <p:sp>
        <p:nvSpPr>
          <p:cNvPr id="14" name="Text 12"/>
          <p:cNvSpPr txBox="1"/>
          <p:nvPr/>
        </p:nvSpPr>
        <p:spPr>
          <a:xfrm>
            <a:off x="2015045" y="3110348"/>
            <a:ext cx="2884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|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2059495" y="3110348"/>
            <a:ext cx="113345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园区规模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7617105" y="3420881"/>
            <a:ext cx="387581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对仓库协同效率要求高，仓库中空间优先，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7617105" y="3619001"/>
            <a:ext cx="330126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承载业务体系大的独立物流分拨中心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7620851" y="3110348"/>
            <a:ext cx="2884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|</a:t>
            </a:r>
            <a:endParaRPr lang="en-US" sz="1410" dirty="0"/>
          </a:p>
        </p:txBody>
      </p:sp>
      <p:sp>
        <p:nvSpPr>
          <p:cNvPr id="19" name="Text 17"/>
          <p:cNvSpPr txBox="1"/>
          <p:nvPr/>
        </p:nvSpPr>
        <p:spPr>
          <a:xfrm>
            <a:off x="7665301" y="3110348"/>
            <a:ext cx="113344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仓储协同</a:t>
            </a:r>
            <a:endParaRPr lang="en-US" sz="1410" dirty="0"/>
          </a:p>
        </p:txBody>
      </p:sp>
      <p:sp>
        <p:nvSpPr>
          <p:cNvPr id="20" name="Text 18"/>
          <p:cNvSpPr txBox="1"/>
          <p:nvPr/>
        </p:nvSpPr>
        <p:spPr>
          <a:xfrm>
            <a:off x="2011299" y="4922885"/>
            <a:ext cx="371155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AGV、智能输送、自动化立库应用等高自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2011299" y="5121005"/>
            <a:ext cx="23436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动化的智能仓储物流中心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2015045" y="4612364"/>
            <a:ext cx="2884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|</a:t>
            </a:r>
            <a:endParaRPr lang="en-US" sz="1410" dirty="0"/>
          </a:p>
        </p:txBody>
      </p:sp>
      <p:sp>
        <p:nvSpPr>
          <p:cNvPr id="23" name="Text 21"/>
          <p:cNvSpPr txBox="1"/>
          <p:nvPr/>
        </p:nvSpPr>
        <p:spPr>
          <a:xfrm>
            <a:off x="2059495" y="4612364"/>
            <a:ext cx="113345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硬件集成</a:t>
            </a:r>
            <a:endParaRPr lang="en-US" sz="1410" dirty="0"/>
          </a:p>
        </p:txBody>
      </p:sp>
      <p:sp>
        <p:nvSpPr>
          <p:cNvPr id="24" name="Text 22"/>
          <p:cNvSpPr txBox="1"/>
          <p:nvPr/>
        </p:nvSpPr>
        <p:spPr>
          <a:xfrm>
            <a:off x="7617105" y="4922885"/>
            <a:ext cx="368429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对货品管理要求高，如医药类、危化品、</a:t>
            </a:r>
            <a:endParaRPr lang="en-US" sz="1290" dirty="0"/>
          </a:p>
        </p:txBody>
      </p:sp>
      <p:sp>
        <p:nvSpPr>
          <p:cNvPr id="25" name="Text 23"/>
          <p:cNvSpPr txBox="1"/>
          <p:nvPr/>
        </p:nvSpPr>
        <p:spPr>
          <a:xfrm>
            <a:off x="7617105" y="5121005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冷链类、活鲜类等仓储物流园区</a:t>
            </a:r>
            <a:endParaRPr lang="en-US" sz="1290" dirty="0"/>
          </a:p>
        </p:txBody>
      </p:sp>
      <p:sp>
        <p:nvSpPr>
          <p:cNvPr id="26" name="Text 24"/>
          <p:cNvSpPr txBox="1"/>
          <p:nvPr/>
        </p:nvSpPr>
        <p:spPr>
          <a:xfrm>
            <a:off x="7620851" y="4612364"/>
            <a:ext cx="2884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|</a:t>
            </a:r>
            <a:endParaRPr lang="en-US" sz="1410" dirty="0"/>
          </a:p>
        </p:txBody>
      </p:sp>
      <p:sp>
        <p:nvSpPr>
          <p:cNvPr id="27" name="Text 25"/>
          <p:cNvSpPr txBox="1"/>
          <p:nvPr/>
        </p:nvSpPr>
        <p:spPr>
          <a:xfrm>
            <a:off x="7665301" y="4612364"/>
            <a:ext cx="113344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特殊品类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63947" y="2982935"/>
            <a:ext cx="2524150" cy="502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系统功能概述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63947" y="3409718"/>
            <a:ext cx="364010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智慧园区管理平台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高度灵活配置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0636" y="3807857"/>
            <a:ext cx="251457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动态预约与智能调度系统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770636" y="4255691"/>
            <a:ext cx="272671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通过智能预约机制和实时调度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770636" y="4552870"/>
            <a:ext cx="272671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算法，精准匹配车辆到达时间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770636" y="4850050"/>
            <a:ext cx="272671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与月台资源，将园区平均停留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770636" y="5147231"/>
            <a:ext cx="199232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时间压缩30%以上。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3545535" y="3333538"/>
            <a:ext cx="251457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多维度资源协同配置平台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3545535" y="3781371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整合月台、车型、库位等园区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3545535" y="4078551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要素，实现叉车、月台、车辆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3545535" y="4375731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秒级联动响应，实现设备利用</a:t>
            </a:r>
            <a:endParaRPr lang="en-US" sz="1290" dirty="0"/>
          </a:p>
        </p:txBody>
      </p:sp>
      <p:sp>
        <p:nvSpPr>
          <p:cNvPr id="13" name="Text 11"/>
          <p:cNvSpPr txBox="1"/>
          <p:nvPr/>
        </p:nvSpPr>
        <p:spPr>
          <a:xfrm>
            <a:off x="3545535" y="4672911"/>
            <a:ext cx="294990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率提升40%，场地周转率翻倍。</a:t>
            </a:r>
            <a:endParaRPr lang="en-US" sz="1290" dirty="0"/>
          </a:p>
        </p:txBody>
      </p:sp>
      <p:sp>
        <p:nvSpPr>
          <p:cNvPr id="14" name="Text 12"/>
          <p:cNvSpPr txBox="1"/>
          <p:nvPr/>
        </p:nvSpPr>
        <p:spPr>
          <a:xfrm>
            <a:off x="9095321" y="3333538"/>
            <a:ext cx="251457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全链路数据可视化驾驶舱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9095321" y="3781371"/>
            <a:ext cx="277238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打通WMS、TMS等多业务系</a:t>
            </a:r>
            <a:endParaRPr lang="en-US" sz="1290" dirty="0"/>
          </a:p>
        </p:txBody>
      </p:sp>
      <p:sp>
        <p:nvSpPr>
          <p:cNvPr id="16" name="Text 14"/>
          <p:cNvSpPr txBox="1"/>
          <p:nvPr/>
        </p:nvSpPr>
        <p:spPr>
          <a:xfrm>
            <a:off x="9095321" y="4078551"/>
            <a:ext cx="27723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统数据孤岛，实时监控车流、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9095321" y="4375731"/>
            <a:ext cx="27723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货流等核心指标，预测准确率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9095321" y="4672911"/>
            <a:ext cx="294990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达92%，助力管理层智慧决策。</a:t>
            </a:r>
            <a:endParaRPr lang="en-US" sz="1290" dirty="0"/>
          </a:p>
        </p:txBody>
      </p:sp>
      <p:sp>
        <p:nvSpPr>
          <p:cNvPr id="19" name="Text 17"/>
          <p:cNvSpPr txBox="1"/>
          <p:nvPr/>
        </p:nvSpPr>
        <p:spPr>
          <a:xfrm>
            <a:off x="6320434" y="3807857"/>
            <a:ext cx="230758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可定制的服务规则引擎</a:t>
            </a:r>
            <a:endParaRPr lang="en-US" sz="1410" dirty="0"/>
          </a:p>
        </p:txBody>
      </p:sp>
      <p:sp>
        <p:nvSpPr>
          <p:cNvPr id="20" name="Text 18"/>
          <p:cNvSpPr txBox="1"/>
          <p:nvPr/>
        </p:nvSpPr>
        <p:spPr>
          <a:xfrm>
            <a:off x="6320434" y="4255691"/>
            <a:ext cx="27723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支持B2B/B2C等差异化场景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6320434" y="4552870"/>
            <a:ext cx="277238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的200+参数配置，既能满足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6320434" y="4850050"/>
            <a:ext cx="27723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大客户定制化需求，又能为中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6320434" y="5147231"/>
            <a:ext cx="27723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小客户提供标准化高效服务框</a:t>
            </a:r>
            <a:endParaRPr lang="en-US" sz="1290" dirty="0"/>
          </a:p>
        </p:txBody>
      </p:sp>
      <p:sp>
        <p:nvSpPr>
          <p:cNvPr id="24" name="Text 22"/>
          <p:cNvSpPr txBox="1"/>
          <p:nvPr/>
        </p:nvSpPr>
        <p:spPr>
          <a:xfrm>
            <a:off x="6320434" y="5444411"/>
            <a:ext cx="620039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架。</a:t>
            </a:r>
            <a:endParaRPr lang="en-US" sz="1290" dirty="0"/>
          </a:p>
        </p:txBody>
      </p:sp>
      <p:sp>
        <p:nvSpPr>
          <p:cNvPr id="25" name="Text 23"/>
          <p:cNvSpPr txBox="1"/>
          <p:nvPr/>
        </p:nvSpPr>
        <p:spPr>
          <a:xfrm>
            <a:off x="1101725" y="1458859"/>
            <a:ext cx="1109024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车辆快进快出  |  仓储运输全链路高效联动  |  客户多业务需求快速响应  |  数据驱动园区运营管理决策</a:t>
            </a:r>
            <a:endParaRPr lang="en-US" sz="1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多维数据体系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03727" y="1463062"/>
            <a:ext cx="5911034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全流程数据贯通，实时数据可视化，园区智慧决策支持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8957806" y="4268673"/>
            <a:ext cx="273997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精准追踪车辆停留、等待及装卸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57806" y="4497273"/>
            <a:ext cx="273997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全流程时长，提前预警高峰期车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57806" y="4725873"/>
            <a:ext cx="273997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辆积压风险，结合路径优化算法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57806" y="4954473"/>
            <a:ext cx="274029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推荐分流方案，实现"快进快出"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57806" y="5183073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的园区协同管理目标。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5634" y="4268673"/>
            <a:ext cx="273997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通过入仓、提货、车型等多维度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5634" y="4497273"/>
            <a:ext cx="273997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数据采集，集成WMS、TMS等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85634" y="4725873"/>
            <a:ext cx="288950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系统数据，构建统一可视化平台，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85634" y="4954473"/>
            <a:ext cx="273997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实时监控各项关键指标，打破信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85634" y="5183073"/>
            <a:ext cx="2182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息孤岛，支撑精准调度。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0419" y="4268673"/>
            <a:ext cx="288950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集成叉车、装箱工具等使用数据，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0419" y="4497273"/>
            <a:ext cx="297347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自动调度叉车、AGV等设备资源， 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0419" y="4725873"/>
            <a:ext cx="273997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量化设备运行效率，优化协同调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0419" y="4954473"/>
            <a:ext cx="273997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度策略，消除闲置浪费，实现空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0419" y="5183073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间与效能的动态平衡。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4011" y="3520808"/>
            <a:ext cx="2232457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多维度数据统计体系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861397" y="3520808"/>
            <a:ext cx="2232455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月台与货量效能分析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18783" y="3520808"/>
            <a:ext cx="2232455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工具与设备效能统计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71419" y="3520808"/>
            <a:ext cx="2010739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园区动态时长管理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43033" y="4268673"/>
            <a:ext cx="273997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实时统计月台货量、订单及方量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43033" y="4497273"/>
            <a:ext cx="279741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数据，动态评估资源利用率， 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43033" y="4725873"/>
            <a:ext cx="273997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实现运营状态透明化， 为月台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43033" y="4954473"/>
            <a:ext cx="273997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调度与仓储规划等提供数据驱动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643033" y="5183073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的科学依据。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63947" y="2982935"/>
            <a:ext cx="2524150" cy="502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系统业务说明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63947" y="3409718"/>
            <a:ext cx="364010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园区物流协同管理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22613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YMS系统架构图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459065" y="1081053"/>
            <a:ext cx="132349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YMS操作端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3557778" y="1105992"/>
            <a:ext cx="54243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B/S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546958" y="1105992"/>
            <a:ext cx="94340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LED大屏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3015" y="1105992"/>
            <a:ext cx="48432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57616" y="1105992"/>
            <a:ext cx="59310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41579" y="1105992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6274" y="1744726"/>
            <a:ext cx="6219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9614" y="3380194"/>
            <a:ext cx="49814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39609" y="2153590"/>
            <a:ext cx="59237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90714" y="2971330"/>
            <a:ext cx="70448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WMS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14844" y="2562466"/>
            <a:ext cx="64864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18654" y="4606785"/>
            <a:ext cx="64039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38339" y="4197922"/>
            <a:ext cx="59458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11034" y="3789058"/>
            <a:ext cx="65807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OMS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201199" y="1744726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数字大屏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01199" y="3383407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智能道闸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31679" y="2154402"/>
            <a:ext cx="87490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IOT地磅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92943" y="2973730"/>
            <a:ext cx="9647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GPS导航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92943" y="2564067"/>
            <a:ext cx="9647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GPS定位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01199" y="4612411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电子围栏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201199" y="4202748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园区音柱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01199" y="3793071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访客门禁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90536" y="5212642"/>
            <a:ext cx="6876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</a:t>
            </a:r>
            <a:endParaRPr lang="en-US" sz="1410" dirty="0"/>
          </a:p>
        </p:txBody>
      </p:sp>
      <p:sp>
        <p:nvSpPr>
          <p:cNvPr id="27" name="Text 25"/>
          <p:cNvSpPr txBox="1"/>
          <p:nvPr/>
        </p:nvSpPr>
        <p:spPr>
          <a:xfrm>
            <a:off x="2266899" y="5237417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承运商司机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590201" y="5237417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装车发运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837303" y="5237417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到园管理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2540" y="5217265"/>
            <a:ext cx="78337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WMS</a:t>
            </a:r>
            <a:endParaRPr lang="en-US" sz="1410" dirty="0"/>
          </a:p>
        </p:txBody>
      </p:sp>
      <p:sp>
        <p:nvSpPr>
          <p:cNvPr id="31" name="Text 29"/>
          <p:cNvSpPr txBox="1"/>
          <p:nvPr/>
        </p:nvSpPr>
        <p:spPr>
          <a:xfrm>
            <a:off x="7455104" y="524203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预约到货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702205" y="524309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月台装卸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9307" y="524203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装卸称重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315555" y="5815816"/>
            <a:ext cx="155994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架构平台/服务</a:t>
            </a:r>
            <a:endParaRPr lang="en-US" sz="1410" dirty="0"/>
          </a:p>
        </p:txBody>
      </p:sp>
      <p:sp>
        <p:nvSpPr>
          <p:cNvPr id="35" name="Text 33"/>
          <p:cNvSpPr txBox="1"/>
          <p:nvPr/>
        </p:nvSpPr>
        <p:spPr>
          <a:xfrm>
            <a:off x="3020860" y="584074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基础框架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184612" y="584074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二开平台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526151" y="5840743"/>
            <a:ext cx="53267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EDI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12090" y="584074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作业调度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580592" y="5854989"/>
            <a:ext cx="1166596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用户权限体系</a:t>
            </a:r>
            <a:endParaRPr lang="en-US" sz="1060" dirty="0"/>
          </a:p>
        </p:txBody>
      </p:sp>
      <p:sp>
        <p:nvSpPr>
          <p:cNvPr id="40" name="Text 38"/>
          <p:cNvSpPr txBox="1"/>
          <p:nvPr/>
        </p:nvSpPr>
        <p:spPr>
          <a:xfrm>
            <a:off x="8839581" y="584074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部署服务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003333" y="584074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日志记录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633339" y="389078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2657399" y="421648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货品数据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849192" y="421648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货品分类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117173" y="4216489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时间窗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385166" y="4216489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576960" y="4216489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616340" y="421648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月台地点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733599" y="4536554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承运商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001592" y="4536554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193373" y="4536554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308966" y="4536554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500760" y="4536554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定位卡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768740" y="4536554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班组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3130804" y="203658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单据管理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2492286" y="2352091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用车需求单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3772675" y="2352091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装配单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2642019" y="2693873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预约单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3770008" y="2693873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磅重单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2642019" y="3041409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出门证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3617608" y="3041409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月台分配单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2966491" y="3386633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出入园申请单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5696407" y="203658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园区管理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008969" y="2361162"/>
            <a:ext cx="1210792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预约容量看板</a:t>
            </a:r>
            <a:endParaRPr lang="en-US" sz="1110" dirty="0"/>
          </a:p>
        </p:txBody>
      </p:sp>
      <p:sp>
        <p:nvSpPr>
          <p:cNvPr id="65" name="Text 63"/>
          <p:cNvSpPr txBox="1"/>
          <p:nvPr/>
        </p:nvSpPr>
        <p:spPr>
          <a:xfrm>
            <a:off x="6158217" y="2361162"/>
            <a:ext cx="1210793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月台排队看板</a:t>
            </a:r>
            <a:endParaRPr lang="en-US" sz="1110" dirty="0"/>
          </a:p>
        </p:txBody>
      </p:sp>
      <p:sp>
        <p:nvSpPr>
          <p:cNvPr id="66" name="Text 64"/>
          <p:cNvSpPr txBox="1"/>
          <p:nvPr/>
        </p:nvSpPr>
        <p:spPr>
          <a:xfrm>
            <a:off x="5006289" y="2702944"/>
            <a:ext cx="1210792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月台排版看板</a:t>
            </a:r>
            <a:endParaRPr lang="en-US" sz="1110" dirty="0"/>
          </a:p>
        </p:txBody>
      </p:sp>
      <p:sp>
        <p:nvSpPr>
          <p:cNvPr id="67" name="Text 65"/>
          <p:cNvSpPr txBox="1"/>
          <p:nvPr/>
        </p:nvSpPr>
        <p:spPr>
          <a:xfrm>
            <a:off x="6269850" y="269387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园区看板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5044389" y="3041409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出入园申请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6269850" y="304140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车辆看板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5006289" y="3395703"/>
            <a:ext cx="1210792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园区排队看板</a:t>
            </a:r>
            <a:endParaRPr lang="en-US" sz="1110" dirty="0"/>
          </a:p>
        </p:txBody>
      </p:sp>
      <p:sp>
        <p:nvSpPr>
          <p:cNvPr id="71" name="Text 69"/>
          <p:cNvSpPr txBox="1"/>
          <p:nvPr/>
        </p:nvSpPr>
        <p:spPr>
          <a:xfrm>
            <a:off x="6272517" y="338663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异常事件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601839" y="203658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策略管理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7600569" y="2352091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签到策略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7597902" y="269387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排队策略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7559802" y="3069920"/>
            <a:ext cx="1033272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月台分配策略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7600569" y="338663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预约策略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8802116" y="203658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8803513" y="2352091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人效报表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8762746" y="2722385"/>
            <a:ext cx="1033272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月台效率报表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8800846" y="304140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园区报表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8803513" y="338663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预约报表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2265706" y="1593764"/>
            <a:ext cx="743610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YMS园区仓储物流管理系统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638626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YMS系统核心能力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028594" y="1791729"/>
            <a:ext cx="70448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WMS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91296" y="1791729"/>
            <a:ext cx="65807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49915" y="1791729"/>
            <a:ext cx="6219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34123" y="1791729"/>
            <a:ext cx="59237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24233" y="1791729"/>
            <a:ext cx="64864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853866" y="179172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····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25089" y="3478174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用车需求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68106" y="3478174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策略管控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10850" y="3478174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司机预约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2358" y="3478174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月台调配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96598" y="3478174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路线指引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53866" y="3478174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预约管理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42515" y="3097565"/>
            <a:ext cx="100307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送货业务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4285259" y="3097552"/>
            <a:ext cx="100307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发运业务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5712739" y="2685151"/>
            <a:ext cx="251457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基于园区物流管控的系统</a:t>
            </a:r>
            <a:endParaRPr lang="en-US" sz="1410" dirty="0"/>
          </a:p>
        </p:txBody>
      </p:sp>
      <p:sp>
        <p:nvSpPr>
          <p:cNvPr id="19" name="Text 17"/>
          <p:cNvSpPr txBox="1"/>
          <p:nvPr/>
        </p:nvSpPr>
        <p:spPr>
          <a:xfrm>
            <a:off x="2783561" y="4741815"/>
            <a:ext cx="886689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预约管理</a:t>
            </a:r>
            <a:endParaRPr lang="en-US" sz="1110" dirty="0"/>
          </a:p>
        </p:txBody>
      </p:sp>
      <p:sp>
        <p:nvSpPr>
          <p:cNvPr id="20" name="Text 18"/>
          <p:cNvSpPr txBox="1"/>
          <p:nvPr/>
        </p:nvSpPr>
        <p:spPr>
          <a:xfrm>
            <a:off x="3820503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到场签到</a:t>
            </a:r>
            <a:endParaRPr lang="en-US" sz="1110" dirty="0"/>
          </a:p>
        </p:txBody>
      </p:sp>
      <p:sp>
        <p:nvSpPr>
          <p:cNvPr id="21" name="Text 19"/>
          <p:cNvSpPr txBox="1"/>
          <p:nvPr/>
        </p:nvSpPr>
        <p:spPr>
          <a:xfrm>
            <a:off x="4857458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电子围栏</a:t>
            </a:r>
            <a:endParaRPr lang="en-US" sz="1110" dirty="0"/>
          </a:p>
        </p:txBody>
      </p:sp>
      <p:sp>
        <p:nvSpPr>
          <p:cNvPr id="22" name="Text 20"/>
          <p:cNvSpPr txBox="1"/>
          <p:nvPr/>
        </p:nvSpPr>
        <p:spPr>
          <a:xfrm>
            <a:off x="5894400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门闸入园</a:t>
            </a:r>
            <a:endParaRPr lang="en-US" sz="1110" dirty="0"/>
          </a:p>
        </p:txBody>
      </p:sp>
      <p:sp>
        <p:nvSpPr>
          <p:cNvPr id="23" name="Text 21"/>
          <p:cNvSpPr txBox="1"/>
          <p:nvPr/>
        </p:nvSpPr>
        <p:spPr>
          <a:xfrm>
            <a:off x="6931343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月台装卸</a:t>
            </a:r>
            <a:endParaRPr lang="en-US" sz="1110" dirty="0"/>
          </a:p>
        </p:txBody>
      </p:sp>
      <p:sp>
        <p:nvSpPr>
          <p:cNvPr id="24" name="Text 22"/>
          <p:cNvSpPr txBox="1"/>
          <p:nvPr/>
        </p:nvSpPr>
        <p:spPr>
          <a:xfrm>
            <a:off x="7968285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地磅称重</a:t>
            </a:r>
            <a:endParaRPr lang="en-US" sz="1110" dirty="0"/>
          </a:p>
        </p:txBody>
      </p:sp>
      <p:sp>
        <p:nvSpPr>
          <p:cNvPr id="25" name="Text 23"/>
          <p:cNvSpPr txBox="1"/>
          <p:nvPr/>
        </p:nvSpPr>
        <p:spPr>
          <a:xfrm>
            <a:off x="9005227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核查出园</a:t>
            </a:r>
            <a:endParaRPr lang="en-US" sz="1110" dirty="0"/>
          </a:p>
        </p:txBody>
      </p:sp>
      <p:sp>
        <p:nvSpPr>
          <p:cNvPr id="26" name="Text 24"/>
          <p:cNvSpPr txBox="1"/>
          <p:nvPr/>
        </p:nvSpPr>
        <p:spPr>
          <a:xfrm>
            <a:off x="10042170" y="4741815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智慧大屏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业务场景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79843" y="1173845"/>
            <a:ext cx="310189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1365593" y="1172061"/>
            <a:ext cx="1132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园区能力 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1079843" y="1495666"/>
            <a:ext cx="430377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涵盖月台、车辆、库位、车型等园区管理核心维度，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79843" y="1714741"/>
            <a:ext cx="312374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统一管理各类基础信息与资源配置。 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79843" y="2160483"/>
            <a:ext cx="310189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1365593" y="2158698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送货预约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1079843" y="2482304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通过送货预约、排队、审批全流程管理，联动仓库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79843" y="2701379"/>
            <a:ext cx="2770175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协同，满足高效送货业务诉求。 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79843" y="3147108"/>
            <a:ext cx="310189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1365593" y="3145323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提货预约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1079843" y="3468929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联动仓库与园区车辆，支持多种备货、调车流程及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9843" y="3688004"/>
            <a:ext cx="259339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场地、月台与货品周转管理。 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79843" y="4133733"/>
            <a:ext cx="310189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17" name="Text 15"/>
          <p:cNvSpPr txBox="1"/>
          <p:nvPr/>
        </p:nvSpPr>
        <p:spPr>
          <a:xfrm>
            <a:off x="1365593" y="4131948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称重集成</a:t>
            </a:r>
            <a:endParaRPr lang="en-US" sz="1410" dirty="0"/>
          </a:p>
        </p:txBody>
      </p:sp>
      <p:sp>
        <p:nvSpPr>
          <p:cNvPr id="18" name="Text 16"/>
          <p:cNvSpPr txBox="1"/>
          <p:nvPr/>
        </p:nvSpPr>
        <p:spPr>
          <a:xfrm>
            <a:off x="1079843" y="4455554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集成无人值守称重设备，支持重车、轻车过磅等操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79843" y="4674629"/>
            <a:ext cx="347731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作，确保重量信息实时同步至相关系统。 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79843" y="5120370"/>
            <a:ext cx="310189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21" name="Text 19"/>
          <p:cNvSpPr txBox="1"/>
          <p:nvPr/>
        </p:nvSpPr>
        <p:spPr>
          <a:xfrm>
            <a:off x="1365593" y="5118586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提货预约</a:t>
            </a:r>
            <a:endParaRPr lang="en-US" sz="1410" dirty="0"/>
          </a:p>
        </p:txBody>
      </p:sp>
      <p:sp>
        <p:nvSpPr>
          <p:cNvPr id="22" name="Text 20"/>
          <p:cNvSpPr txBox="1"/>
          <p:nvPr/>
        </p:nvSpPr>
        <p:spPr>
          <a:xfrm>
            <a:off x="1079843" y="5442191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联动仓库与园区车辆，支持多种备货、调车流程及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9843" y="5661266"/>
            <a:ext cx="259339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场地、月台与货品周转管理。 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09713" y="1173845"/>
            <a:ext cx="310188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25" name="Text 23"/>
          <p:cNvSpPr txBox="1"/>
          <p:nvPr/>
        </p:nvSpPr>
        <p:spPr>
          <a:xfrm>
            <a:off x="7895463" y="1172061"/>
            <a:ext cx="1132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月台管理 </a:t>
            </a:r>
            <a:endParaRPr lang="en-US" sz="1410" dirty="0"/>
          </a:p>
        </p:txBody>
      </p:sp>
      <p:sp>
        <p:nvSpPr>
          <p:cNvPr id="26" name="Text 24"/>
          <p:cNvSpPr txBox="1"/>
          <p:nvPr/>
        </p:nvSpPr>
        <p:spPr>
          <a:xfrm>
            <a:off x="7609713" y="1495666"/>
            <a:ext cx="414025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覆盖单边 / 双边、提货 / 送货等各类月台及无月台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09713" y="1714741"/>
            <a:ext cx="3654095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场景，支持一车多月台等多模式业务场景。 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09713" y="2160483"/>
            <a:ext cx="310188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29" name="Text 27"/>
          <p:cNvSpPr txBox="1"/>
          <p:nvPr/>
        </p:nvSpPr>
        <p:spPr>
          <a:xfrm>
            <a:off x="7895463" y="2158698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司机协同</a:t>
            </a:r>
            <a:endParaRPr lang="en-US" sz="1410" dirty="0"/>
          </a:p>
        </p:txBody>
      </p:sp>
      <p:sp>
        <p:nvSpPr>
          <p:cNvPr id="30" name="Text 28"/>
          <p:cNvSpPr txBox="1"/>
          <p:nvPr/>
        </p:nvSpPr>
        <p:spPr>
          <a:xfrm>
            <a:off x="7609713" y="2482304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包含派车、调度、月台分配及消息通知功能，联动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609713" y="2701379"/>
            <a:ext cx="330052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调度需求与司机，管控车辆停留时长。 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609713" y="3147108"/>
            <a:ext cx="310188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33" name="Text 31"/>
          <p:cNvSpPr txBox="1"/>
          <p:nvPr/>
        </p:nvSpPr>
        <p:spPr>
          <a:xfrm>
            <a:off x="7895463" y="3145323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协同任务</a:t>
            </a:r>
            <a:endParaRPr lang="en-US" sz="1410" dirty="0"/>
          </a:p>
        </p:txBody>
      </p:sp>
      <p:sp>
        <p:nvSpPr>
          <p:cNvPr id="34" name="Text 32"/>
          <p:cNvSpPr txBox="1"/>
          <p:nvPr/>
        </p:nvSpPr>
        <p:spPr>
          <a:xfrm>
            <a:off x="7609713" y="3468929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协同叉车、搬运、装卸人力等任务调度，及运输发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609713" y="3688004"/>
            <a:ext cx="330052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运安排，支持工作量统计与实时调整。 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09713" y="4133733"/>
            <a:ext cx="310188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37" name="Text 35"/>
          <p:cNvSpPr txBox="1"/>
          <p:nvPr/>
        </p:nvSpPr>
        <p:spPr>
          <a:xfrm>
            <a:off x="7895463" y="4131948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园区安防</a:t>
            </a:r>
            <a:endParaRPr lang="en-US" sz="1410" dirty="0"/>
          </a:p>
        </p:txBody>
      </p:sp>
      <p:sp>
        <p:nvSpPr>
          <p:cNvPr id="38" name="Text 36"/>
          <p:cNvSpPr txBox="1"/>
          <p:nvPr/>
        </p:nvSpPr>
        <p:spPr>
          <a:xfrm>
            <a:off x="7609713" y="4455554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联动园区门禁系统，优化进出园区放行指令，减少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609713" y="4674629"/>
            <a:ext cx="259339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不必要的人员放行单据流转。 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609713" y="5120370"/>
            <a:ext cx="310188" cy="3377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D81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10" dirty="0"/>
          </a:p>
        </p:txBody>
      </p:sp>
      <p:sp>
        <p:nvSpPr>
          <p:cNvPr id="41" name="Text 39"/>
          <p:cNvSpPr txBox="1"/>
          <p:nvPr/>
        </p:nvSpPr>
        <p:spPr>
          <a:xfrm>
            <a:off x="7895463" y="5118586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数据统计</a:t>
            </a:r>
            <a:endParaRPr lang="en-US" sz="1410" dirty="0"/>
          </a:p>
        </p:txBody>
      </p:sp>
      <p:sp>
        <p:nvSpPr>
          <p:cNvPr id="42" name="Text 40"/>
          <p:cNvSpPr txBox="1"/>
          <p:nvPr/>
        </p:nvSpPr>
        <p:spPr>
          <a:xfrm>
            <a:off x="7609713" y="5442191"/>
            <a:ext cx="430377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实现多维度统计车辆在园时长，月台、货量、订单、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609713" y="5661266"/>
            <a:ext cx="359664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工具使用等核心数据，提供统计分析支持。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系统蓝图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241231" y="1509709"/>
            <a:ext cx="100307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建立用车</a:t>
            </a:r>
            <a:endParaRPr lang="en-US" sz="1290" dirty="0"/>
          </a:p>
        </p:txBody>
      </p:sp>
      <p:sp>
        <p:nvSpPr>
          <p:cNvPr id="5" name="Text 3"/>
          <p:cNvSpPr txBox="1"/>
          <p:nvPr/>
        </p:nvSpPr>
        <p:spPr>
          <a:xfrm>
            <a:off x="3323781" y="1707829"/>
            <a:ext cx="81155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需求单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7169302" y="1618247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63456" y="2502560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分配月台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93102" y="2502560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30488" y="2410231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查看教育视频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530488" y="2593111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签字入园须知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55949" y="2502560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103191" y="2502560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入园排队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25356" y="3287535"/>
            <a:ext cx="136695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手动/自动叫号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44843" y="3287535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接收通知入园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9481" y="411063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排队信息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74147" y="411063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安全检查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538813" y="411063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入园放行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97243" y="401830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入园园内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97243" y="420118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路线导航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02548" y="411063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到达月台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9481" y="4995291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开始作业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74147" y="4995291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结束作业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09481" y="5802998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安全检查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74147" y="5802998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出园放行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21043" y="4995291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出门证办理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69302" y="5802998"/>
            <a:ext cx="5913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出园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022754" y="1536468"/>
            <a:ext cx="119753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用车需求人</a:t>
            </a:r>
            <a:endParaRPr lang="en-US" sz="1290" dirty="0"/>
          </a:p>
        </p:txBody>
      </p:sp>
      <p:sp>
        <p:nvSpPr>
          <p:cNvPr id="28" name="Text 26"/>
          <p:cNvSpPr txBox="1"/>
          <p:nvPr/>
        </p:nvSpPr>
        <p:spPr>
          <a:xfrm>
            <a:off x="2022754" y="1735404"/>
            <a:ext cx="7680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创建者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22754" y="2502062"/>
            <a:ext cx="813029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接车人</a:t>
            </a:r>
            <a:endParaRPr lang="en-US" sz="1290" dirty="0"/>
          </a:p>
        </p:txBody>
      </p:sp>
      <p:sp>
        <p:nvSpPr>
          <p:cNvPr id="30" name="Text 28"/>
          <p:cNvSpPr txBox="1"/>
          <p:nvPr/>
        </p:nvSpPr>
        <p:spPr>
          <a:xfrm>
            <a:off x="2022754" y="3303711"/>
            <a:ext cx="119753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月台负责人</a:t>
            </a:r>
            <a:endParaRPr lang="en-US" sz="1290" dirty="0"/>
          </a:p>
        </p:txBody>
      </p:sp>
      <p:sp>
        <p:nvSpPr>
          <p:cNvPr id="31" name="Text 29"/>
          <p:cNvSpPr txBox="1"/>
          <p:nvPr/>
        </p:nvSpPr>
        <p:spPr>
          <a:xfrm>
            <a:off x="2022754" y="4104345"/>
            <a:ext cx="100528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安防人员</a:t>
            </a:r>
            <a:endParaRPr lang="en-US" sz="1290" dirty="0"/>
          </a:p>
        </p:txBody>
      </p:sp>
      <p:sp>
        <p:nvSpPr>
          <p:cNvPr id="32" name="Text 30"/>
          <p:cNvSpPr txBox="1"/>
          <p:nvPr/>
        </p:nvSpPr>
        <p:spPr>
          <a:xfrm>
            <a:off x="2022754" y="4994780"/>
            <a:ext cx="119753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月台负责人</a:t>
            </a:r>
            <a:endParaRPr lang="en-US" sz="1290" dirty="0"/>
          </a:p>
        </p:txBody>
      </p:sp>
      <p:sp>
        <p:nvSpPr>
          <p:cNvPr id="33" name="Text 31"/>
          <p:cNvSpPr txBox="1"/>
          <p:nvPr/>
        </p:nvSpPr>
        <p:spPr>
          <a:xfrm>
            <a:off x="2022754" y="5802500"/>
            <a:ext cx="100528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安防人员</a:t>
            </a:r>
            <a:endParaRPr lang="en-US" sz="1290" dirty="0"/>
          </a:p>
        </p:txBody>
      </p:sp>
      <p:sp>
        <p:nvSpPr>
          <p:cNvPr id="34" name="Text 32"/>
          <p:cNvSpPr txBox="1"/>
          <p:nvPr/>
        </p:nvSpPr>
        <p:spPr>
          <a:xfrm>
            <a:off x="7332447" y="1076716"/>
            <a:ext cx="62077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</a:t>
            </a:r>
            <a:endParaRPr lang="en-US" sz="1290" dirty="0"/>
          </a:p>
        </p:txBody>
      </p:sp>
      <p:sp>
        <p:nvSpPr>
          <p:cNvPr id="35" name="Text 33"/>
          <p:cNvSpPr txBox="1"/>
          <p:nvPr/>
        </p:nvSpPr>
        <p:spPr>
          <a:xfrm>
            <a:off x="2014703" y="1044261"/>
            <a:ext cx="127266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E52F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多角色协同</a:t>
            </a:r>
            <a:endParaRPr lang="en-US" sz="1410" dirty="0"/>
          </a:p>
        </p:txBody>
      </p:sp>
      <p:sp>
        <p:nvSpPr>
          <p:cNvPr id="36" name="Text 34"/>
          <p:cNvSpPr txBox="1"/>
          <p:nvPr/>
        </p:nvSpPr>
        <p:spPr>
          <a:xfrm>
            <a:off x="458026" y="1784528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建立需求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8026" y="2550427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资源分配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8026" y="331633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入园准备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8026" y="4082237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排队叫号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8026" y="4848136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入园作业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8026" y="5614035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出园流程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核心体系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36676" y="1809499"/>
            <a:ext cx="828497" cy="423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</a:t>
            </a:r>
            <a:endParaRPr lang="en-US" sz="2010" dirty="0"/>
          </a:p>
        </p:txBody>
      </p:sp>
      <p:sp>
        <p:nvSpPr>
          <p:cNvPr id="5" name="Text 3"/>
          <p:cNvSpPr txBox="1"/>
          <p:nvPr/>
        </p:nvSpPr>
        <p:spPr>
          <a:xfrm>
            <a:off x="2924327" y="1865697"/>
            <a:ext cx="126972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计划与准入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936676" y="2756891"/>
            <a:ext cx="348836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线上填报、自动/人工审核、时段容量控制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6676" y="2406425"/>
            <a:ext cx="271345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削峰填谷，实现预测性管理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1174026" y="3254873"/>
            <a:ext cx="2085873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途径：手机小程序/网页端</a:t>
            </a:r>
            <a:endParaRPr lang="en-US" sz="1110" dirty="0"/>
          </a:p>
        </p:txBody>
      </p:sp>
      <p:sp>
        <p:nvSpPr>
          <p:cNvPr id="9" name="Text 7"/>
          <p:cNvSpPr txBox="1"/>
          <p:nvPr/>
        </p:nvSpPr>
        <p:spPr>
          <a:xfrm>
            <a:off x="1174026" y="3590674"/>
            <a:ext cx="3157626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信息：车辆、货物、时间、地点、对接人</a:t>
            </a:r>
            <a:endParaRPr lang="en-US" sz="1110" dirty="0"/>
          </a:p>
        </p:txBody>
      </p:sp>
      <p:sp>
        <p:nvSpPr>
          <p:cNvPr id="10" name="Text 8"/>
          <p:cNvSpPr txBox="1"/>
          <p:nvPr/>
        </p:nvSpPr>
        <p:spPr>
          <a:xfrm>
            <a:off x="1174026" y="3926475"/>
            <a:ext cx="310090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审核：自动/人工审核,系统预占时段额度</a:t>
            </a:r>
            <a:endParaRPr lang="en-US" sz="1110" dirty="0"/>
          </a:p>
        </p:txBody>
      </p:sp>
      <p:sp>
        <p:nvSpPr>
          <p:cNvPr id="11" name="Text 9"/>
          <p:cNvSpPr txBox="1"/>
          <p:nvPr/>
        </p:nvSpPr>
        <p:spPr>
          <a:xfrm>
            <a:off x="4610811" y="1809499"/>
            <a:ext cx="828497" cy="423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</a:t>
            </a:r>
            <a:endParaRPr lang="en-US" sz="2010" dirty="0"/>
          </a:p>
        </p:txBody>
      </p:sp>
      <p:sp>
        <p:nvSpPr>
          <p:cNvPr id="12" name="Text 10"/>
          <p:cNvSpPr txBox="1"/>
          <p:nvPr/>
        </p:nvSpPr>
        <p:spPr>
          <a:xfrm>
            <a:off x="6598463" y="1865697"/>
            <a:ext cx="126972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核验与履约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4610811" y="2756891"/>
            <a:ext cx="326296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车牌识别、GPS地理围栏、准时性校验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0811" y="2406425"/>
            <a:ext cx="271345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无感通行，确保安全与履约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4852200" y="3254873"/>
            <a:ext cx="3270326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到达触发：GPS地理围栏(500米内)可签到</a:t>
            </a:r>
            <a:endParaRPr lang="en-US" sz="1110" dirty="0"/>
          </a:p>
        </p:txBody>
      </p:sp>
      <p:sp>
        <p:nvSpPr>
          <p:cNvPr id="16" name="Text 14"/>
          <p:cNvSpPr txBox="1"/>
          <p:nvPr/>
        </p:nvSpPr>
        <p:spPr>
          <a:xfrm>
            <a:off x="4852200" y="3590674"/>
            <a:ext cx="3273445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履约验证：准时性校验(是否在预约时段内)</a:t>
            </a:r>
            <a:endParaRPr lang="en-US" sz="1110" dirty="0"/>
          </a:p>
        </p:txBody>
      </p:sp>
      <p:sp>
        <p:nvSpPr>
          <p:cNvPr id="17" name="Text 15"/>
          <p:cNvSpPr txBox="1"/>
          <p:nvPr/>
        </p:nvSpPr>
        <p:spPr>
          <a:xfrm>
            <a:off x="4852200" y="3926475"/>
            <a:ext cx="3321151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状态更新：签到成功后变为「已入园，等待</a:t>
            </a:r>
            <a:endParaRPr lang="en-US" sz="1110" dirty="0"/>
          </a:p>
        </p:txBody>
      </p:sp>
      <p:sp>
        <p:nvSpPr>
          <p:cNvPr id="18" name="Text 16"/>
          <p:cNvSpPr txBox="1"/>
          <p:nvPr/>
        </p:nvSpPr>
        <p:spPr>
          <a:xfrm>
            <a:off x="4852200" y="4094115"/>
            <a:ext cx="776806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作业」 </a:t>
            </a:r>
            <a:endParaRPr lang="en-US" sz="1110" dirty="0"/>
          </a:p>
        </p:txBody>
      </p:sp>
      <p:sp>
        <p:nvSpPr>
          <p:cNvPr id="19" name="Text 17"/>
          <p:cNvSpPr txBox="1"/>
          <p:nvPr/>
        </p:nvSpPr>
        <p:spPr>
          <a:xfrm>
            <a:off x="8284947" y="1809499"/>
            <a:ext cx="828497" cy="423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</a:t>
            </a:r>
            <a:endParaRPr lang="en-US" sz="2010" dirty="0"/>
          </a:p>
        </p:txBody>
      </p:sp>
      <p:sp>
        <p:nvSpPr>
          <p:cNvPr id="20" name="Text 18"/>
          <p:cNvSpPr txBox="1"/>
          <p:nvPr/>
        </p:nvSpPr>
        <p:spPr>
          <a:xfrm>
            <a:off x="10272598" y="1865697"/>
            <a:ext cx="126972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调度与优化</a:t>
            </a:r>
            <a:endParaRPr lang="en-US" sz="1410" dirty="0"/>
          </a:p>
        </p:txBody>
      </p:sp>
      <p:sp>
        <p:nvSpPr>
          <p:cNvPr id="21" name="Text 19"/>
          <p:cNvSpPr txBox="1"/>
          <p:nvPr/>
        </p:nvSpPr>
        <p:spPr>
          <a:xfrm>
            <a:off x="8284947" y="2756891"/>
            <a:ext cx="271272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虚拟队列、智能规则、自动呼叫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84947" y="2406425"/>
            <a:ext cx="3125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资源最大化利用，提升用户体验</a:t>
            </a:r>
            <a:endParaRPr lang="en-US" sz="1410" dirty="0"/>
          </a:p>
        </p:txBody>
      </p:sp>
      <p:sp>
        <p:nvSpPr>
          <p:cNvPr id="23" name="Text 21"/>
          <p:cNvSpPr txBox="1"/>
          <p:nvPr/>
        </p:nvSpPr>
        <p:spPr>
          <a:xfrm>
            <a:off x="8519935" y="3231823"/>
            <a:ext cx="3321151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虚拟队列：签到后自动加入全局队列，决定</a:t>
            </a:r>
            <a:endParaRPr lang="en-US" sz="1110" dirty="0"/>
          </a:p>
        </p:txBody>
      </p:sp>
      <p:sp>
        <p:nvSpPr>
          <p:cNvPr id="24" name="Text 22"/>
          <p:cNvSpPr txBox="1"/>
          <p:nvPr/>
        </p:nvSpPr>
        <p:spPr>
          <a:xfrm>
            <a:off x="8519935" y="3399463"/>
            <a:ext cx="1048740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月台优先级</a:t>
            </a:r>
            <a:endParaRPr lang="en-US" sz="1110" dirty="0"/>
          </a:p>
        </p:txBody>
      </p:sp>
      <p:sp>
        <p:nvSpPr>
          <p:cNvPr id="25" name="Text 23"/>
          <p:cNvSpPr txBox="1"/>
          <p:nvPr/>
        </p:nvSpPr>
        <p:spPr>
          <a:xfrm>
            <a:off x="8519935" y="3667560"/>
            <a:ext cx="3159099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排队规则：基础为「签到时间先后顺序」</a:t>
            </a:r>
            <a:endParaRPr lang="en-US" sz="1110" dirty="0"/>
          </a:p>
        </p:txBody>
      </p:sp>
      <p:sp>
        <p:nvSpPr>
          <p:cNvPr id="26" name="Text 24"/>
          <p:cNvSpPr txBox="1"/>
          <p:nvPr/>
        </p:nvSpPr>
        <p:spPr>
          <a:xfrm>
            <a:off x="8519935" y="3973693"/>
            <a:ext cx="3159099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呼叫引导：月台空闲时自动呼叫首位车辆</a:t>
            </a:r>
            <a:endParaRPr lang="en-US" sz="1110" dirty="0"/>
          </a:p>
        </p:txBody>
      </p:sp>
      <p:sp>
        <p:nvSpPr>
          <p:cNvPr id="27" name="Text 25"/>
          <p:cNvSpPr txBox="1"/>
          <p:nvPr/>
        </p:nvSpPr>
        <p:spPr>
          <a:xfrm>
            <a:off x="8498332" y="4275356"/>
            <a:ext cx="3483203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超时处理：未按时到达「顺延过号」重新排队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4463618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YMS系统基础应用功能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220697" y="3524780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基础功能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5642013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策略配置</a:t>
            </a:r>
            <a:endParaRPr lang="en-US" sz="1590" dirty="0"/>
          </a:p>
        </p:txBody>
      </p:sp>
      <p:sp>
        <p:nvSpPr>
          <p:cNvPr id="6" name="Text 4"/>
          <p:cNvSpPr txBox="1"/>
          <p:nvPr/>
        </p:nvSpPr>
        <p:spPr>
          <a:xfrm>
            <a:off x="9063329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二次开发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1424407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记录载货车辆出园信息的线上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1424407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凭证，有效管理司机携带货品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1424407" y="4879470"/>
            <a:ext cx="147596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及业务数据。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4845723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是发运业务中，装车出园核查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4845723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的重要业务节点，同步多个系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4845723" y="4879470"/>
            <a:ext cx="250720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统，告知司机已经装车。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8267039" y="4239390"/>
            <a:ext cx="3125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连接道闸，管理司机出园行为，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8267039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不满足必要条件者，司机无法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8267039" y="4879470"/>
            <a:ext cx="16822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通过道闸出园。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1424407" y="2411905"/>
            <a:ext cx="4008399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保证系统基础运行的底层系统架构。</a:t>
            </a:r>
            <a:endParaRPr lang="en-US" sz="1590" dirty="0"/>
          </a:p>
        </p:txBody>
      </p:sp>
      <p:sp>
        <p:nvSpPr>
          <p:cNvPr id="17" name="Text 15"/>
          <p:cNvSpPr txBox="1"/>
          <p:nvPr/>
        </p:nvSpPr>
        <p:spPr>
          <a:xfrm>
            <a:off x="1424407" y="1740154"/>
            <a:ext cx="4225696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1E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园区物流协同管理：基础应用功能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组织用户体系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14642" y="2914641"/>
            <a:ext cx="248953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支持50+子公司独立运营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514642" y="3232141"/>
            <a:ext cx="30957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集团 | 园区 | 部门三级数据隔离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514642" y="3572256"/>
            <a:ext cx="361652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一套组织管理体系，可以容纳多层级的组织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4642" y="3800856"/>
            <a:ext cx="361652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关系，可实现园区+组织的数据隔离，做到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4642" y="4029456"/>
            <a:ext cx="361652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不同的组织和园区，只见本身数据和流程，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4642" y="4258056"/>
            <a:ext cx="271272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实现“和而不同”的管理效果。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9363" y="2330701"/>
            <a:ext cx="1891411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多层级组织管理</a:t>
            </a:r>
            <a:endParaRPr lang="en-US" sz="1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灵活策略配置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14642" y="2934535"/>
            <a:ext cx="361579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一套园区管理体系，可根据不同场景的</a:t>
            </a:r>
            <a:endParaRPr lang="en-US" sz="1290" dirty="0"/>
          </a:p>
        </p:txBody>
      </p:sp>
      <p:sp>
        <p:nvSpPr>
          <p:cNvPr id="5" name="Text 3"/>
          <p:cNvSpPr txBox="1"/>
          <p:nvPr/>
        </p:nvSpPr>
        <p:spPr>
          <a:xfrm>
            <a:off x="514642" y="3182185"/>
            <a:ext cx="368429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策略配置，实现不同园区的管理模式下，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514642" y="3429835"/>
            <a:ext cx="3492779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适用不同的作业模式，做到和而不同。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514642" y="3753685"/>
            <a:ext cx="361579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让不同的园区和组织，根据业务实际需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514642" y="4001335"/>
            <a:ext cx="361579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要，实现不同的业务管理方式，但又不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514642" y="4248985"/>
            <a:ext cx="2152167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脱离集团总部的管理。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1049363" y="2330701"/>
            <a:ext cx="1654962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灵活策略配置</a:t>
            </a:r>
            <a:endParaRPr lang="en-US" sz="1590" dirty="0"/>
          </a:p>
        </p:txBody>
      </p:sp>
      <p:sp>
        <p:nvSpPr>
          <p:cNvPr id="11" name="Text 9"/>
          <p:cNvSpPr txBox="1"/>
          <p:nvPr/>
        </p:nvSpPr>
        <p:spPr>
          <a:xfrm>
            <a:off x="5531333" y="2684059"/>
            <a:ext cx="539762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排队策略：管控排队方式，如何排队、超时过号等处理。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5531333" y="3054899"/>
            <a:ext cx="666063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业务类型策略：管控不同业务所需要填充数据的模板，可快速填充固定数据。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5531333" y="3425739"/>
            <a:ext cx="663511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签到策略：管理司机的签到行为、签到范围、提前或超时签到的处理。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5531333" y="3796579"/>
            <a:ext cx="47788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流程策略：不同园区，配置不同的园区管理流程。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二次开发平台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77506" y="4578423"/>
            <a:ext cx="1891411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个性化二次开发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747662" y="5089998"/>
            <a:ext cx="381172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所有个性化模块均支持二次开发， 用户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747662" y="5356698"/>
            <a:ext cx="230096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可用于后续维护扩展。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299487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数据驾驶舱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66658" y="1270600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核心能力监控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8666658" y="1714144"/>
            <a:ext cx="271272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运力、仓储能力、园区服务评价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66658" y="2209536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空闲资源管理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8666658" y="2645372"/>
            <a:ext cx="306628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场地、月台、车辆、人员等空闲情况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66658" y="3140751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效能分析可视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8666658" y="3582060"/>
            <a:ext cx="324307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园区内作业效能、成本效能、决策效能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66658" y="4077440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订单实时追踪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8666658" y="4514088"/>
            <a:ext cx="288950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订单状态、订单数据、异常订单等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66658" y="5009467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园区流量管控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8666658" y="5486438"/>
            <a:ext cx="288950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入园流量、作业流量、出园流量等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299487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小程序集成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23929" y="2828382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司机端小程序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4670412" y="3345437"/>
            <a:ext cx="68281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线上预约 | 手机签到 | 通知提醒 | 园区导航 | 排队叫号 | 意见反馈 ···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4670412" y="3862022"/>
            <a:ext cx="704466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便捷操作，功能覆盖司机全链路作业，简化复杂低效流程，提升司机出入园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4670412" y="4182062"/>
            <a:ext cx="668225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体验，与YMS系统实时同步数据，实现轻量化、智能化、数字化管控。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4463618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YMS系统三大业务说明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169897" y="3653816"/>
            <a:ext cx="1300658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入园作业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591213" y="3643427"/>
            <a:ext cx="1300657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园内作业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012529" y="3643427"/>
            <a:ext cx="1300657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出园作业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13967" y="4508576"/>
            <a:ext cx="2359152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管理司机入园前的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42567" y="4920056"/>
            <a:ext cx="1828800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计划准备工作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35283" y="4508576"/>
            <a:ext cx="2359152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管理司机园内行驶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78183" y="4920056"/>
            <a:ext cx="1563624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及装卸作业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328000" y="4508576"/>
            <a:ext cx="2889504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管理司机出园数据同步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70900" y="4920056"/>
            <a:ext cx="2093976" cy="390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安防核查等工作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24407" y="2370337"/>
            <a:ext cx="10767563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通过TMS、WMS，供应商、承运商、司机等多个系统和角色的互联，管理司机从入园、园内作业到出园</a:t>
            </a:r>
            <a:endParaRPr lang="en-US" sz="1590" dirty="0"/>
          </a:p>
        </p:txBody>
      </p:sp>
      <p:sp>
        <p:nvSpPr>
          <p:cNvPr id="14" name="Text 12"/>
          <p:cNvSpPr txBox="1"/>
          <p:nvPr/>
        </p:nvSpPr>
        <p:spPr>
          <a:xfrm>
            <a:off x="1424407" y="2736097"/>
            <a:ext cx="8958351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三大物理意义上的业务环节，打通并传递各流程数据，实现供应链领域的协同管理。</a:t>
            </a:r>
            <a:endParaRPr lang="en-US" sz="1590" dirty="0"/>
          </a:p>
        </p:txBody>
      </p:sp>
      <p:sp>
        <p:nvSpPr>
          <p:cNvPr id="15" name="Text 13"/>
          <p:cNvSpPr txBox="1"/>
          <p:nvPr/>
        </p:nvSpPr>
        <p:spPr>
          <a:xfrm>
            <a:off x="5167732" y="1698587"/>
            <a:ext cx="2364307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1E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园区物流协同管理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业务流程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138045" y="1007291"/>
            <a:ext cx="85869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园区外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7816875" y="1007291"/>
            <a:ext cx="85869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园区内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4465396" y="375056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4465396" y="404774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闸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11329987" y="375103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11329987" y="404821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7853998" y="1773526"/>
            <a:ext cx="62077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10199217" y="1773526"/>
            <a:ext cx="62077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7713396" y="2611768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卸货月台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13396" y="3872675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装货月台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13396" y="5122100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其它月台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84787" y="3872675"/>
            <a:ext cx="5920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地磅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900260" y="3308858"/>
            <a:ext cx="7695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收货区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00260" y="4425899"/>
            <a:ext cx="7695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发货区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8993" y="4092715"/>
            <a:ext cx="7695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8993" y="2649106"/>
            <a:ext cx="7695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承运商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240839" y="2772397"/>
            <a:ext cx="59204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82239" y="2162480"/>
            <a:ext cx="94709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现场签到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90418" y="3082151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排队大屏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090418" y="3872675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安防检查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51889" y="2501211"/>
            <a:ext cx="74084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01预约</a:t>
            </a:r>
            <a:endParaRPr lang="en-US" sz="1060" dirty="0"/>
          </a:p>
        </p:txBody>
      </p:sp>
      <p:sp>
        <p:nvSpPr>
          <p:cNvPr id="25" name="Text 23"/>
          <p:cNvSpPr txBox="1"/>
          <p:nvPr/>
        </p:nvSpPr>
        <p:spPr>
          <a:xfrm>
            <a:off x="1451889" y="3422494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02安排司机</a:t>
            </a:r>
            <a:endParaRPr lang="en-US" sz="1060" dirty="0"/>
          </a:p>
        </p:txBody>
      </p:sp>
      <p:sp>
        <p:nvSpPr>
          <p:cNvPr id="26" name="Text 24"/>
          <p:cNvSpPr txBox="1"/>
          <p:nvPr/>
        </p:nvSpPr>
        <p:spPr>
          <a:xfrm>
            <a:off x="2566683" y="2501211"/>
            <a:ext cx="74084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03签到</a:t>
            </a:r>
            <a:endParaRPr lang="en-US" sz="1060" dirty="0"/>
          </a:p>
        </p:txBody>
      </p:sp>
      <p:sp>
        <p:nvSpPr>
          <p:cNvPr id="27" name="Text 25"/>
          <p:cNvSpPr txBox="1"/>
          <p:nvPr/>
        </p:nvSpPr>
        <p:spPr>
          <a:xfrm>
            <a:off x="3795408" y="1440431"/>
            <a:ext cx="1778711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通知人员/仓库准备</a:t>
            </a:r>
            <a:endParaRPr lang="en-US" sz="1060" dirty="0"/>
          </a:p>
        </p:txBody>
      </p:sp>
      <p:sp>
        <p:nvSpPr>
          <p:cNvPr id="28" name="Text 26"/>
          <p:cNvSpPr txBox="1"/>
          <p:nvPr/>
        </p:nvSpPr>
        <p:spPr>
          <a:xfrm>
            <a:off x="4936274" y="1782645"/>
            <a:ext cx="1469339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分配/确认月台</a:t>
            </a:r>
            <a:endParaRPr lang="en-US" sz="1060" dirty="0"/>
          </a:p>
        </p:txBody>
      </p:sp>
      <p:sp>
        <p:nvSpPr>
          <p:cNvPr id="29" name="Text 27"/>
          <p:cNvSpPr txBox="1"/>
          <p:nvPr/>
        </p:nvSpPr>
        <p:spPr>
          <a:xfrm>
            <a:off x="3305213" y="2631843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06排队入场</a:t>
            </a:r>
            <a:endParaRPr lang="en-US" sz="1060" dirty="0"/>
          </a:p>
        </p:txBody>
      </p:sp>
      <p:sp>
        <p:nvSpPr>
          <p:cNvPr id="30" name="Text 28"/>
          <p:cNvSpPr txBox="1"/>
          <p:nvPr/>
        </p:nvSpPr>
        <p:spPr>
          <a:xfrm>
            <a:off x="3305213" y="3467262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07入场检查</a:t>
            </a:r>
            <a:endParaRPr lang="en-US" sz="1060" dirty="0"/>
          </a:p>
        </p:txBody>
      </p:sp>
      <p:sp>
        <p:nvSpPr>
          <p:cNvPr id="31" name="Text 29"/>
          <p:cNvSpPr txBox="1"/>
          <p:nvPr/>
        </p:nvSpPr>
        <p:spPr>
          <a:xfrm>
            <a:off x="3879520" y="4096725"/>
            <a:ext cx="74084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08放入</a:t>
            </a:r>
            <a:endParaRPr lang="en-US" sz="1060" dirty="0"/>
          </a:p>
        </p:txBody>
      </p:sp>
      <p:sp>
        <p:nvSpPr>
          <p:cNvPr id="32" name="Text 30"/>
          <p:cNvSpPr txBox="1"/>
          <p:nvPr/>
        </p:nvSpPr>
        <p:spPr>
          <a:xfrm>
            <a:off x="4764748" y="4090806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09进场称重</a:t>
            </a:r>
            <a:endParaRPr lang="en-US" sz="1060" dirty="0"/>
          </a:p>
        </p:txBody>
      </p:sp>
      <p:sp>
        <p:nvSpPr>
          <p:cNvPr id="33" name="Text 31"/>
          <p:cNvSpPr txBox="1"/>
          <p:nvPr/>
        </p:nvSpPr>
        <p:spPr>
          <a:xfrm>
            <a:off x="6777406" y="4513158"/>
            <a:ext cx="1254988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多月台指引</a:t>
            </a:r>
            <a:endParaRPr lang="en-US" sz="1060" dirty="0"/>
          </a:p>
        </p:txBody>
      </p:sp>
      <p:sp>
        <p:nvSpPr>
          <p:cNvPr id="34" name="Text 32"/>
          <p:cNvSpPr txBox="1"/>
          <p:nvPr/>
        </p:nvSpPr>
        <p:spPr>
          <a:xfrm>
            <a:off x="8614385" y="2818482"/>
            <a:ext cx="740841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12装卸</a:t>
            </a:r>
            <a:endParaRPr lang="en-US" sz="1060" dirty="0"/>
          </a:p>
        </p:txBody>
      </p:sp>
      <p:sp>
        <p:nvSpPr>
          <p:cNvPr id="35" name="Text 33"/>
          <p:cNvSpPr txBox="1"/>
          <p:nvPr/>
        </p:nvSpPr>
        <p:spPr>
          <a:xfrm>
            <a:off x="10717644" y="3328349"/>
            <a:ext cx="54785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上架</a:t>
            </a:r>
            <a:endParaRPr lang="en-US" sz="1060" dirty="0"/>
          </a:p>
        </p:txBody>
      </p:sp>
      <p:sp>
        <p:nvSpPr>
          <p:cNvPr id="36" name="Text 34"/>
          <p:cNvSpPr txBox="1"/>
          <p:nvPr/>
        </p:nvSpPr>
        <p:spPr>
          <a:xfrm>
            <a:off x="10717644" y="4438863"/>
            <a:ext cx="54785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下架</a:t>
            </a:r>
            <a:endParaRPr lang="en-US" sz="1060" dirty="0"/>
          </a:p>
        </p:txBody>
      </p:sp>
      <p:sp>
        <p:nvSpPr>
          <p:cNvPr id="37" name="Text 35"/>
          <p:cNvSpPr txBox="1"/>
          <p:nvPr/>
        </p:nvSpPr>
        <p:spPr>
          <a:xfrm>
            <a:off x="9260141" y="330526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</a:t>
            </a:r>
            <a:endParaRPr lang="en-US" sz="1290" dirty="0"/>
          </a:p>
        </p:txBody>
      </p:sp>
      <p:sp>
        <p:nvSpPr>
          <p:cNvPr id="38" name="Text 36"/>
          <p:cNvSpPr txBox="1"/>
          <p:nvPr/>
        </p:nvSpPr>
        <p:spPr>
          <a:xfrm>
            <a:off x="9260141" y="3602440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卸</a:t>
            </a:r>
            <a:endParaRPr lang="en-US" sz="1290" dirty="0"/>
          </a:p>
        </p:txBody>
      </p:sp>
      <p:sp>
        <p:nvSpPr>
          <p:cNvPr id="39" name="Text 37"/>
          <p:cNvSpPr txBox="1"/>
          <p:nvPr/>
        </p:nvSpPr>
        <p:spPr>
          <a:xfrm>
            <a:off x="9260141" y="389962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搬</a:t>
            </a:r>
            <a:endParaRPr lang="en-US" sz="1290" dirty="0"/>
          </a:p>
        </p:txBody>
      </p:sp>
      <p:sp>
        <p:nvSpPr>
          <p:cNvPr id="40" name="Text 38"/>
          <p:cNvSpPr txBox="1"/>
          <p:nvPr/>
        </p:nvSpPr>
        <p:spPr>
          <a:xfrm>
            <a:off x="9260141" y="419680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</a:t>
            </a:r>
            <a:endParaRPr lang="en-US" sz="1290" dirty="0"/>
          </a:p>
        </p:txBody>
      </p:sp>
      <p:sp>
        <p:nvSpPr>
          <p:cNvPr id="41" name="Text 39"/>
          <p:cNvSpPr txBox="1"/>
          <p:nvPr/>
        </p:nvSpPr>
        <p:spPr>
          <a:xfrm>
            <a:off x="9260141" y="4493981"/>
            <a:ext cx="4285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</a:t>
            </a:r>
            <a:endParaRPr lang="en-US" sz="1290" dirty="0"/>
          </a:p>
        </p:txBody>
      </p:sp>
      <p:sp>
        <p:nvSpPr>
          <p:cNvPr id="42" name="Text 40"/>
          <p:cNvSpPr txBox="1"/>
          <p:nvPr/>
        </p:nvSpPr>
        <p:spPr>
          <a:xfrm>
            <a:off x="6777406" y="3262131"/>
            <a:ext cx="110030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导航指引</a:t>
            </a:r>
            <a:endParaRPr lang="en-US" sz="1060" dirty="0"/>
          </a:p>
        </p:txBody>
      </p:sp>
      <p:sp>
        <p:nvSpPr>
          <p:cNvPr id="43" name="Text 41"/>
          <p:cNvSpPr txBox="1"/>
          <p:nvPr/>
        </p:nvSpPr>
        <p:spPr>
          <a:xfrm>
            <a:off x="5631752" y="5642800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安防检查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708587" y="4785563"/>
            <a:ext cx="76956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出门证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782158" y="3339436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13离场称重</a:t>
            </a:r>
            <a:endParaRPr lang="en-US" sz="1060" dirty="0"/>
          </a:p>
        </p:txBody>
      </p:sp>
      <p:sp>
        <p:nvSpPr>
          <p:cNvPr id="46" name="Text 44"/>
          <p:cNvSpPr txBox="1"/>
          <p:nvPr/>
        </p:nvSpPr>
        <p:spPr>
          <a:xfrm>
            <a:off x="5782158" y="4333427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14货品记录</a:t>
            </a:r>
            <a:endParaRPr lang="en-US" sz="1060" dirty="0"/>
          </a:p>
        </p:txBody>
      </p:sp>
      <p:sp>
        <p:nvSpPr>
          <p:cNvPr id="47" name="Text 45"/>
          <p:cNvSpPr txBox="1"/>
          <p:nvPr/>
        </p:nvSpPr>
        <p:spPr>
          <a:xfrm>
            <a:off x="5782158" y="5217589"/>
            <a:ext cx="1050214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15离场检查</a:t>
            </a:r>
            <a:endParaRPr lang="en-US" sz="1060" dirty="0"/>
          </a:p>
        </p:txBody>
      </p:sp>
      <p:sp>
        <p:nvSpPr>
          <p:cNvPr id="48" name="Text 46"/>
          <p:cNvSpPr txBox="1"/>
          <p:nvPr/>
        </p:nvSpPr>
        <p:spPr>
          <a:xfrm>
            <a:off x="2982239" y="5644782"/>
            <a:ext cx="94709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司机离场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880153" y="5841273"/>
            <a:ext cx="740841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16放出</a:t>
            </a:r>
            <a:endParaRPr lang="en-US" sz="1060" dirty="0"/>
          </a:p>
        </p:txBody>
      </p:sp>
      <p:sp>
        <p:nvSpPr>
          <p:cNvPr id="50" name="Text 48"/>
          <p:cNvSpPr txBox="1"/>
          <p:nvPr/>
        </p:nvSpPr>
        <p:spPr>
          <a:xfrm>
            <a:off x="3854882" y="5841273"/>
            <a:ext cx="740842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17离场</a:t>
            </a:r>
            <a:endParaRPr lang="en-US" sz="1060" dirty="0"/>
          </a:p>
        </p:txBody>
      </p:sp>
      <p:sp>
        <p:nvSpPr>
          <p:cNvPr id="51" name="Text 49"/>
          <p:cNvSpPr txBox="1"/>
          <p:nvPr/>
        </p:nvSpPr>
        <p:spPr>
          <a:xfrm>
            <a:off x="2164161" y="5628970"/>
            <a:ext cx="954483" cy="24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进度同步至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2258776" y="5766130"/>
            <a:ext cx="844730" cy="2455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TMS系统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8614385" y="4056275"/>
            <a:ext cx="740841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12装卸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入园作业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221154" y="3524780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入园预约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5336400" y="3514392"/>
            <a:ext cx="1891410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签到及月台分配</a:t>
            </a:r>
            <a:endParaRPr lang="en-US" sz="1590" dirty="0"/>
          </a:p>
        </p:txBody>
      </p:sp>
      <p:sp>
        <p:nvSpPr>
          <p:cNvPr id="6" name="Text 4"/>
          <p:cNvSpPr txBox="1"/>
          <p:nvPr/>
        </p:nvSpPr>
        <p:spPr>
          <a:xfrm>
            <a:off x="9063787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入园排队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1424407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可为司机提供多种预约方式，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1424407" y="4559430"/>
            <a:ext cx="3125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明确司机到场时间和相关信息，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1424407" y="4879470"/>
            <a:ext cx="250720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方便园区人员准确作业。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4845723" y="4239390"/>
            <a:ext cx="271345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物理意义上明确司机到场，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4845723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根据预约情况，合理分配月台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4845723" y="4879470"/>
            <a:ext cx="230096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资源，提高作业效率。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8267039" y="4239390"/>
            <a:ext cx="230096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最大化利用月台资源，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8267039" y="4559430"/>
            <a:ext cx="271345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公平透明，提升司机体验，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8267039" y="4879470"/>
            <a:ext cx="16822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方便园区管理。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1424407" y="2411905"/>
            <a:ext cx="6365519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对司机计划入园、到场以及将要入园的过程进行精确管理。</a:t>
            </a:r>
            <a:endParaRPr lang="en-US" sz="1590" dirty="0"/>
          </a:p>
        </p:txBody>
      </p:sp>
      <p:sp>
        <p:nvSpPr>
          <p:cNvPr id="17" name="Text 15"/>
          <p:cNvSpPr txBox="1"/>
          <p:nvPr/>
        </p:nvSpPr>
        <p:spPr>
          <a:xfrm>
            <a:off x="1424407" y="1740154"/>
            <a:ext cx="3693871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1E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园区物流协同管理：入园作业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入园预约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70809" y="1908632"/>
            <a:ext cx="1213538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填充信息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60198" y="2365197"/>
            <a:ext cx="1563624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入园目的地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60198" y="2821569"/>
            <a:ext cx="1651280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预计入园时间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6460198" y="3243615"/>
            <a:ext cx="1651280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入园车辆信息</a:t>
            </a:r>
            <a:endParaRPr lang="en-US" sz="1590" dirty="0"/>
          </a:p>
        </p:txBody>
      </p:sp>
      <p:sp>
        <p:nvSpPr>
          <p:cNvPr id="8" name="Text 6"/>
          <p:cNvSpPr txBox="1"/>
          <p:nvPr/>
        </p:nvSpPr>
        <p:spPr>
          <a:xfrm>
            <a:off x="6460198" y="3667916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随行人员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6460198" y="4062743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货品信息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60198" y="4423219"/>
            <a:ext cx="135590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··· ···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49517" y="1911236"/>
            <a:ext cx="1213538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预约方式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02608" y="2400456"/>
            <a:ext cx="126972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小程序预约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3791153" y="2891882"/>
            <a:ext cx="176103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WEB端人工预约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3913708" y="3383321"/>
            <a:ext cx="14759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司机自助预约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4091508" y="3874748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到场预约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4002608" y="4366174"/>
            <a:ext cx="126972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二维码预约</a:t>
            </a:r>
            <a:endParaRPr lang="en-US" sz="1410" dirty="0"/>
          </a:p>
        </p:txBody>
      </p:sp>
      <p:sp>
        <p:nvSpPr>
          <p:cNvPr id="17" name="Text 15"/>
          <p:cNvSpPr txBox="1"/>
          <p:nvPr/>
        </p:nvSpPr>
        <p:spPr>
          <a:xfrm>
            <a:off x="8358054" y="1440243"/>
            <a:ext cx="101882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校验园区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58054" y="1623124"/>
            <a:ext cx="101882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设置规则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76411" y="5518379"/>
            <a:ext cx="66378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15781" y="1891935"/>
            <a:ext cx="271345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该园区时间节点可预约容量</a:t>
            </a:r>
            <a:endParaRPr lang="en-US" sz="1410" dirty="0"/>
          </a:p>
        </p:txBody>
      </p:sp>
      <p:sp>
        <p:nvSpPr>
          <p:cNvPr id="21" name="Text 19"/>
          <p:cNvSpPr txBox="1"/>
          <p:nvPr/>
        </p:nvSpPr>
        <p:spPr>
          <a:xfrm>
            <a:off x="9353181" y="324300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容量足够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1529" y="3243009"/>
            <a:ext cx="9448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容量不足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76981" y="4552683"/>
            <a:ext cx="112166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生成预约单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449129" y="4552683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提示不能预约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28225" y="1911236"/>
            <a:ext cx="1213539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预约用户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59116" y="2638860"/>
            <a:ext cx="85722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</a:t>
            </a:r>
            <a:endParaRPr lang="en-US" sz="1410" dirty="0"/>
          </a:p>
        </p:txBody>
      </p:sp>
      <p:sp>
        <p:nvSpPr>
          <p:cNvPr id="27" name="Text 25"/>
          <p:cNvSpPr txBox="1"/>
          <p:nvPr/>
        </p:nvSpPr>
        <p:spPr>
          <a:xfrm>
            <a:off x="1359116" y="3130287"/>
            <a:ext cx="85722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承运商</a:t>
            </a:r>
            <a:endParaRPr lang="en-US" sz="1410" dirty="0"/>
          </a:p>
        </p:txBody>
      </p:sp>
      <p:sp>
        <p:nvSpPr>
          <p:cNvPr id="28" name="Text 26"/>
          <p:cNvSpPr txBox="1"/>
          <p:nvPr/>
        </p:nvSpPr>
        <p:spPr>
          <a:xfrm>
            <a:off x="1359116" y="3621726"/>
            <a:ext cx="85722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业务员</a:t>
            </a:r>
            <a:endParaRPr lang="en-US" sz="1410" dirty="0"/>
          </a:p>
        </p:txBody>
      </p:sp>
      <p:sp>
        <p:nvSpPr>
          <p:cNvPr id="29" name="Text 27"/>
          <p:cNvSpPr txBox="1"/>
          <p:nvPr/>
        </p:nvSpPr>
        <p:spPr>
          <a:xfrm>
            <a:off x="1448016" y="4113152"/>
            <a:ext cx="65097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12448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签到及月台分配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2048" y="3307096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司机到场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2795295" y="3307096"/>
            <a:ext cx="108925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GPS签到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4868101" y="3307096"/>
            <a:ext cx="1479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确认装卸月台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5135816" y="1943116"/>
            <a:ext cx="85869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有月台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5135816" y="4671089"/>
            <a:ext cx="85869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无月台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7223633" y="1398845"/>
            <a:ext cx="65171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7012178" y="2487387"/>
            <a:ext cx="305450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通知WMS（生成到货通知单）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7045198" y="4671089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匹配月台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9097454" y="4671089"/>
            <a:ext cx="243575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通知WMS（确认月台）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3769849" y="3104325"/>
            <a:ext cx="10166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签到成功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80991" y="4471670"/>
            <a:ext cx="101661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匹配结果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37815" y="3876307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判断当前司机坐标是否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37815" y="4104907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在目标地点可签到的电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37815" y="4333507"/>
            <a:ext cx="12984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子围栏范围内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77558" y="5193500"/>
            <a:ext cx="147965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月台匹配条件：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79958" y="5473417"/>
            <a:ext cx="1595297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车辆型号/大小/规格</a:t>
            </a:r>
            <a:endParaRPr lang="en-US" sz="1060" dirty="0"/>
          </a:p>
        </p:txBody>
      </p:sp>
      <p:sp>
        <p:nvSpPr>
          <p:cNvPr id="20" name="Text 18"/>
          <p:cNvSpPr txBox="1"/>
          <p:nvPr/>
        </p:nvSpPr>
        <p:spPr>
          <a:xfrm>
            <a:off x="8512429" y="5473417"/>
            <a:ext cx="1785340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供应商、承运商、客户</a:t>
            </a:r>
            <a:endParaRPr lang="en-US" sz="1060" dirty="0"/>
          </a:p>
        </p:txBody>
      </p:sp>
      <p:sp>
        <p:nvSpPr>
          <p:cNvPr id="21" name="Text 19"/>
          <p:cNvSpPr txBox="1"/>
          <p:nvPr/>
        </p:nvSpPr>
        <p:spPr>
          <a:xfrm>
            <a:off x="6979958" y="5740841"/>
            <a:ext cx="1226261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物料类型/数量</a:t>
            </a:r>
            <a:endParaRPr lang="en-US" sz="1060" dirty="0"/>
          </a:p>
        </p:txBody>
      </p:sp>
      <p:sp>
        <p:nvSpPr>
          <p:cNvPr id="22" name="Text 20"/>
          <p:cNvSpPr txBox="1"/>
          <p:nvPr/>
        </p:nvSpPr>
        <p:spPr>
          <a:xfrm>
            <a:off x="8224431" y="5740841"/>
            <a:ext cx="1535633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月台型号/可作业数</a:t>
            </a:r>
            <a:endParaRPr lang="en-US" sz="1060" dirty="0"/>
          </a:p>
        </p:txBody>
      </p:sp>
      <p:sp>
        <p:nvSpPr>
          <p:cNvPr id="23" name="Text 21"/>
          <p:cNvSpPr txBox="1"/>
          <p:nvPr/>
        </p:nvSpPr>
        <p:spPr>
          <a:xfrm>
            <a:off x="6978802" y="5997648"/>
            <a:ext cx="1166596" cy="2704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自定义条件等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入园排队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3763" y="3240827"/>
            <a:ext cx="108906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司机GPS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853935" y="3454188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签到到场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2498471" y="3240827"/>
            <a:ext cx="127266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确认是否有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2588006" y="3454188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分配月台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4232542" y="3240827"/>
            <a:ext cx="127266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执行不同的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4322077" y="3454188"/>
            <a:ext cx="106568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排队模式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5899937" y="3274873"/>
            <a:ext cx="20122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基于签到时间先后顺序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52972" y="3457753"/>
            <a:ext cx="165717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赋予司机排队序号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38008" y="3183433"/>
            <a:ext cx="20122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基于排队顺序、园区容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38008" y="3366313"/>
            <a:ext cx="201221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量、月台容量是否空闲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97113" y="3549193"/>
            <a:ext cx="94708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进行叫号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710723" y="3347495"/>
            <a:ext cx="65171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入园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7022338" y="4467568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超时未进入，重新叫号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4545" y="2186842"/>
            <a:ext cx="725091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当司机签到，根据司机要去往的月台，进行排队处理，根据顺序，依次叫号。</a:t>
            </a:r>
            <a:endParaRPr lang="en-US" sz="1410" dirty="0"/>
          </a:p>
        </p:txBody>
      </p:sp>
      <p:sp>
        <p:nvSpPr>
          <p:cNvPr id="18" name="Text 16"/>
          <p:cNvSpPr txBox="1"/>
          <p:nvPr/>
        </p:nvSpPr>
        <p:spPr>
          <a:xfrm>
            <a:off x="654545" y="2506882"/>
            <a:ext cx="601342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特殊情况下，也可以手动叫号，进行插队处理以应对突发情况。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园内作业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915084" y="3524780"/>
            <a:ext cx="1891411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单、多月台活动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5642470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导航指引</a:t>
            </a:r>
            <a:endParaRPr lang="en-US" sz="1590" dirty="0"/>
          </a:p>
        </p:txBody>
      </p:sp>
      <p:sp>
        <p:nvSpPr>
          <p:cNvPr id="6" name="Text 4"/>
          <p:cNvSpPr txBox="1"/>
          <p:nvPr/>
        </p:nvSpPr>
        <p:spPr>
          <a:xfrm>
            <a:off x="9063787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地磅称重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1424407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记录并管控司机进入月台进行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1424407" y="4559430"/>
            <a:ext cx="196801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装/卸活动的行为。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4845723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园内面积大、路线复杂，通过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4845723" y="4559430"/>
            <a:ext cx="250720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定位指引方便司机驾驶。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8267039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连接地磅硬件设备，获取重量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8267039" y="4559430"/>
            <a:ext cx="230096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信息，方便园区作业。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1424407" y="2411905"/>
            <a:ext cx="6836943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管理司机在园内的活动，规范司机行驶、装卸等核心行为动作。</a:t>
            </a:r>
            <a:endParaRPr lang="en-US" sz="1590" dirty="0"/>
          </a:p>
        </p:txBody>
      </p:sp>
      <p:sp>
        <p:nvSpPr>
          <p:cNvPr id="14" name="Text 12"/>
          <p:cNvSpPr txBox="1"/>
          <p:nvPr/>
        </p:nvSpPr>
        <p:spPr>
          <a:xfrm>
            <a:off x="1424407" y="1740154"/>
            <a:ext cx="3693871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1E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园区物流协同管理：园内作业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导航指引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659782" y="5761663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司机导肮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1624965" y="4471343"/>
            <a:ext cx="106347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司机入园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7130961" y="5672084"/>
            <a:ext cx="176913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基于园区车流情况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6883311" y="5870204"/>
            <a:ext cx="234368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进行路线指引、偏航警告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9225204" y="4381763"/>
            <a:ext cx="296676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电子围栏、GPS动态捕捉车辆位置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9812579" y="4579884"/>
            <a:ext cx="176913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识别车辆进入月台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755663" y="1505264"/>
            <a:ext cx="2285492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GPS+RTK基站导航</a:t>
            </a:r>
            <a:endParaRPr lang="en-US" sz="1590" dirty="0"/>
          </a:p>
        </p:txBody>
      </p:sp>
      <p:sp>
        <p:nvSpPr>
          <p:cNvPr id="11" name="Text 9"/>
          <p:cNvSpPr txBox="1"/>
          <p:nvPr/>
        </p:nvSpPr>
        <p:spPr>
          <a:xfrm>
            <a:off x="755663" y="1860591"/>
            <a:ext cx="333220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园内道路精准指引，偏航自动预警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12448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单、多月台活动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29188" y="1732699"/>
            <a:ext cx="70309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029188" y="2418372"/>
            <a:ext cx="70309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847337" y="3104045"/>
            <a:ext cx="112461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月台···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077017" y="3789718"/>
            <a:ext cx="5920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地磅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077017" y="4839767"/>
            <a:ext cx="59204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出园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98623" y="2765285"/>
            <a:ext cx="182880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不同地点之间的流转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98623" y="2993885"/>
            <a:ext cx="182880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启用特殊的排队规则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3087" y="5271735"/>
            <a:ext cx="209471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按系统策略分配月台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2951480" y="5271735"/>
            <a:ext cx="209471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生成多条任务流数据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573087" y="3127747"/>
            <a:ext cx="147596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人为分配月台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10615803" y="5271735"/>
            <a:ext cx="14759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司机按照顺序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10539603" y="5488661"/>
            <a:ext cx="165201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依次前往目标地点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地磅称重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624965" y="4186863"/>
            <a:ext cx="106347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司机入园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4919345" y="4186863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车辆称重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7833360" y="4463863"/>
            <a:ext cx="374469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生成磅重记录，根据规则生成计算数据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3347212" y="3416710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指引称重</a:t>
            </a:r>
            <a:endParaRPr lang="en-US" sz="1110" dirty="0"/>
          </a:p>
        </p:txBody>
      </p:sp>
      <p:sp>
        <p:nvSpPr>
          <p:cNvPr id="8" name="Text 6"/>
          <p:cNvSpPr txBox="1"/>
          <p:nvPr/>
        </p:nvSpPr>
        <p:spPr>
          <a:xfrm>
            <a:off x="6642608" y="3416710"/>
            <a:ext cx="886688" cy="278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获取磅重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出园作业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322754" y="3524780"/>
            <a:ext cx="945617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出门证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5642470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装车核准</a:t>
            </a:r>
            <a:endParaRPr lang="en-US" sz="1590" dirty="0"/>
          </a:p>
        </p:txBody>
      </p:sp>
      <p:sp>
        <p:nvSpPr>
          <p:cNvPr id="6" name="Text 4"/>
          <p:cNvSpPr txBox="1"/>
          <p:nvPr/>
        </p:nvSpPr>
        <p:spPr>
          <a:xfrm>
            <a:off x="9063787" y="3514392"/>
            <a:ext cx="1182065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道闸管控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1424407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记录载货车辆出园信息的线上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1424407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凭证，有效管理司机携带货品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1424407" y="4879470"/>
            <a:ext cx="147596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及业务数据。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4845723" y="423939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是发运业务中，装车出园核查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4845723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的重要业务节点，同步多个系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4845723" y="4879470"/>
            <a:ext cx="250720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统，告知司机已经装车。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8267039" y="4239390"/>
            <a:ext cx="31259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连接道闸，管理司机出园行为，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8267039" y="4559430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不满足必要条件者，司机无法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8267039" y="4879470"/>
            <a:ext cx="16822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通过道闸出园。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1424407" y="2411905"/>
            <a:ext cx="7544079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是司机完成作业后，对以离开园区为目标时所产生的一切行为的管理。</a:t>
            </a:r>
            <a:endParaRPr lang="en-US" sz="1590" dirty="0"/>
          </a:p>
        </p:txBody>
      </p:sp>
      <p:sp>
        <p:nvSpPr>
          <p:cNvPr id="17" name="Text 15"/>
          <p:cNvSpPr txBox="1"/>
          <p:nvPr/>
        </p:nvSpPr>
        <p:spPr>
          <a:xfrm>
            <a:off x="1424407" y="1740154"/>
            <a:ext cx="3693871" cy="3904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1E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园区物流协同管理：出园作业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474495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出门证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05167" y="2917339"/>
            <a:ext cx="945617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便捷性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1205167" y="3239646"/>
            <a:ext cx="477593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司机一键查看电子证，无需携带和出示纸质单据。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1205167" y="3773484"/>
            <a:ext cx="945617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高效性</a:t>
            </a:r>
            <a:endParaRPr lang="en-US" sz="1590" dirty="0"/>
          </a:p>
        </p:txBody>
      </p:sp>
      <p:sp>
        <p:nvSpPr>
          <p:cNvPr id="7" name="Text 5"/>
          <p:cNvSpPr txBox="1"/>
          <p:nvPr/>
        </p:nvSpPr>
        <p:spPr>
          <a:xfrm>
            <a:off x="1205167" y="4095791"/>
            <a:ext cx="498218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安防快速核查，减少排队等待时间，提升通行效率。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1205167" y="4629630"/>
            <a:ext cx="945617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可追溯</a:t>
            </a:r>
            <a:endParaRPr lang="en-US" sz="1590" dirty="0"/>
          </a:p>
        </p:txBody>
      </p:sp>
      <p:sp>
        <p:nvSpPr>
          <p:cNvPr id="9" name="Text 7"/>
          <p:cNvSpPr txBox="1"/>
          <p:nvPr/>
        </p:nvSpPr>
        <p:spPr>
          <a:xfrm>
            <a:off x="1205167" y="4951936"/>
            <a:ext cx="498218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物资出园历史全程留痕，便于后续审计与问题追溯。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1093584" y="1650051"/>
            <a:ext cx="518843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园区对出园车辆物资核查严格，传统纸质出门证易丢。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1093584" y="1982156"/>
            <a:ext cx="518843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通过线上记录司机出园携带物料信息，生成电子出门，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1093584" y="2238061"/>
            <a:ext cx="188846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实现数字化管理。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7418470" y="4989411"/>
            <a:ext cx="119634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纸质出门证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64704" y="5674741"/>
            <a:ext cx="119634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电子出门证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装车核准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062472" y="5270922"/>
            <a:ext cx="16822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车辆可通过门闸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6062472" y="5526827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离开园区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6065164" y="3955114"/>
            <a:ext cx="188846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核查通过告知车辆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6065164" y="4211018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可以出园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5412893" y="2632764"/>
            <a:ext cx="6876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2764"/>
            <a:ext cx="171757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TMS系统对出园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2888669"/>
            <a:ext cx="14759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车辆进行核查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6062472" y="1316955"/>
            <a:ext cx="16822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车辆装货完成后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6062472" y="1572860"/>
            <a:ext cx="151132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告知TMS系统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8002638" y="2217868"/>
            <a:ext cx="418933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YMS系统将装车情况同步给上游/下游系统，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8002638" y="2473773"/>
            <a:ext cx="374469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同步发运业务的装车情况并请求核实。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8022958" y="3427645"/>
            <a:ext cx="127266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核准信息：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8022958" y="3718230"/>
            <a:ext cx="324307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装车凭证：提货单、装车单上传同步；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22958" y="3946830"/>
            <a:ext cx="324307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现场作业情况：装车照片、车辆照片；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22958" y="4175430"/>
            <a:ext cx="412699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物料情况：装车的物料情况，数量、实物照片等。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1886991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道闸管控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69542" y="1117273"/>
            <a:ext cx="106347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道闸识别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7969542" y="1373178"/>
            <a:ext cx="168221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生成出入园申请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6992137" y="5513111"/>
            <a:ext cx="333220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根据车辆作业情况，经过业务校验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6988962" y="5769016"/>
            <a:ext cx="333956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可自动 / 人工开闸门，放车辆出园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63947" y="2982935"/>
            <a:ext cx="2524150" cy="502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实施交付体系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63947" y="3409718"/>
            <a:ext cx="364010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完善园区管理机制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系统部署方案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79602" y="2069719"/>
            <a:ext cx="2232457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车辆与司机协同管理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84162" y="279688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通过智能调度系统实现车辆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784162" y="311692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与司机的实时联动，精准管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784162" y="3436966"/>
            <a:ext cx="291970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理停留时长，减少无效等待，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784162" y="375700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提升园区整体运转效率，确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784162" y="4077046"/>
            <a:ext cx="188846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保车流有序畅通。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2507088" y="4954197"/>
            <a:ext cx="58053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3563036" y="2069719"/>
            <a:ext cx="1789023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多任务协同调度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7595" y="279688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整合叉车搬运、装卸人力、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3567595" y="311692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运输发运等任务，实现动态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3567595" y="343696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调度与工作量统计，灵活应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3567595" y="375700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对业务波动，最大化资源利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3567595" y="4077046"/>
            <a:ext cx="188846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用率与作业效率。</a:t>
            </a:r>
            <a:endParaRPr lang="en-US" sz="1410" dirty="0"/>
          </a:p>
        </p:txBody>
      </p:sp>
      <p:sp>
        <p:nvSpPr>
          <p:cNvPr id="17" name="Text 15"/>
          <p:cNvSpPr txBox="1"/>
          <p:nvPr/>
        </p:nvSpPr>
        <p:spPr>
          <a:xfrm>
            <a:off x="5290522" y="4954197"/>
            <a:ext cx="58053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10" dirty="0"/>
          </a:p>
        </p:txBody>
      </p:sp>
      <p:sp>
        <p:nvSpPr>
          <p:cNvPr id="18" name="Text 16"/>
          <p:cNvSpPr txBox="1"/>
          <p:nvPr/>
        </p:nvSpPr>
        <p:spPr>
          <a:xfrm>
            <a:off x="6346457" y="2069719"/>
            <a:ext cx="1789023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园区安防一体化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1016" y="2796886"/>
            <a:ext cx="276943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门禁系统与放行指令智能联</a:t>
            </a:r>
            <a:endParaRPr lang="en-US" sz="1410" dirty="0"/>
          </a:p>
        </p:txBody>
      </p:sp>
      <p:sp>
        <p:nvSpPr>
          <p:cNvPr id="20" name="Text 18"/>
          <p:cNvSpPr txBox="1"/>
          <p:nvPr/>
        </p:nvSpPr>
        <p:spPr>
          <a:xfrm>
            <a:off x="6351016" y="3116926"/>
            <a:ext cx="276943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动，简化单据流程，强化安</a:t>
            </a:r>
            <a:endParaRPr lang="en-US" sz="1410" dirty="0"/>
          </a:p>
        </p:txBody>
      </p:sp>
      <p:sp>
        <p:nvSpPr>
          <p:cNvPr id="21" name="Text 19"/>
          <p:cNvSpPr txBox="1"/>
          <p:nvPr/>
        </p:nvSpPr>
        <p:spPr>
          <a:xfrm>
            <a:off x="6351016" y="3436966"/>
            <a:ext cx="276943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全管控，减少人为干预，打</a:t>
            </a:r>
            <a:endParaRPr lang="en-US" sz="1410" dirty="0"/>
          </a:p>
        </p:txBody>
      </p:sp>
      <p:sp>
        <p:nvSpPr>
          <p:cNvPr id="22" name="Text 20"/>
          <p:cNvSpPr txBox="1"/>
          <p:nvPr/>
        </p:nvSpPr>
        <p:spPr>
          <a:xfrm>
            <a:off x="6351016" y="3757006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造高效安全的园区运营环境。</a:t>
            </a:r>
            <a:endParaRPr lang="en-US" sz="1410" dirty="0"/>
          </a:p>
        </p:txBody>
      </p:sp>
      <p:sp>
        <p:nvSpPr>
          <p:cNvPr id="23" name="Text 21"/>
          <p:cNvSpPr txBox="1"/>
          <p:nvPr/>
        </p:nvSpPr>
        <p:spPr>
          <a:xfrm>
            <a:off x="8073943" y="4954197"/>
            <a:ext cx="58053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10" dirty="0"/>
          </a:p>
        </p:txBody>
      </p:sp>
      <p:sp>
        <p:nvSpPr>
          <p:cNvPr id="24" name="Text 22"/>
          <p:cNvSpPr txBox="1"/>
          <p:nvPr/>
        </p:nvSpPr>
        <p:spPr>
          <a:xfrm>
            <a:off x="9129877" y="2069719"/>
            <a:ext cx="2010739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无人值守称重集成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34450" y="2796886"/>
            <a:ext cx="276943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重车/轻车过磅数据自动同</a:t>
            </a:r>
            <a:endParaRPr lang="en-US" sz="1410" dirty="0"/>
          </a:p>
        </p:txBody>
      </p:sp>
      <p:sp>
        <p:nvSpPr>
          <p:cNvPr id="26" name="Text 24"/>
          <p:cNvSpPr txBox="1"/>
          <p:nvPr/>
        </p:nvSpPr>
        <p:spPr>
          <a:xfrm>
            <a:off x="9134450" y="3116926"/>
            <a:ext cx="29197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步，实现全流程无人化称重，</a:t>
            </a:r>
            <a:endParaRPr lang="en-US" sz="1410" dirty="0"/>
          </a:p>
        </p:txBody>
      </p:sp>
      <p:sp>
        <p:nvSpPr>
          <p:cNvPr id="27" name="Text 25"/>
          <p:cNvSpPr txBox="1"/>
          <p:nvPr/>
        </p:nvSpPr>
        <p:spPr>
          <a:xfrm>
            <a:off x="9134450" y="3436966"/>
            <a:ext cx="276943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提升数据准确性，降低人力</a:t>
            </a:r>
            <a:endParaRPr lang="en-US" sz="1410" dirty="0"/>
          </a:p>
        </p:txBody>
      </p:sp>
      <p:sp>
        <p:nvSpPr>
          <p:cNvPr id="28" name="Text 26"/>
          <p:cNvSpPr txBox="1"/>
          <p:nvPr/>
        </p:nvSpPr>
        <p:spPr>
          <a:xfrm>
            <a:off x="9134450" y="3757006"/>
            <a:ext cx="271345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成本，优化物流环节效率。</a:t>
            </a:r>
            <a:endParaRPr lang="en-US" sz="1410" dirty="0"/>
          </a:p>
        </p:txBody>
      </p:sp>
      <p:sp>
        <p:nvSpPr>
          <p:cNvPr id="29" name="Text 27"/>
          <p:cNvSpPr txBox="1"/>
          <p:nvPr/>
        </p:nvSpPr>
        <p:spPr>
          <a:xfrm>
            <a:off x="10857376" y="4954197"/>
            <a:ext cx="58053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管理机制保障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87235" y="3061516"/>
            <a:ext cx="35546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基于系统所采集的业务流程数据，以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887235" y="3328216"/>
            <a:ext cx="35546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履约率、违规记录、服务评价、安全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887235" y="3594916"/>
            <a:ext cx="3554655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事故等为核心依据，设定黑白名单准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887235" y="3861616"/>
            <a:ext cx="168221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入与退出标准。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887235" y="4348455"/>
            <a:ext cx="299618" cy="303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66940" y="4346931"/>
            <a:ext cx="334545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黑名单主体：限制接单、限制园区资源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66940" y="4547591"/>
            <a:ext cx="2182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使用、永久禁止入驻等；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7235" y="4825975"/>
            <a:ext cx="299618" cy="303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66940" y="4824451"/>
            <a:ext cx="3345459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白名单主体：优先分配订单、优先使用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6940" y="5025111"/>
            <a:ext cx="253593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园区资源、享受结算优惠等；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602905" y="2006997"/>
            <a:ext cx="189362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黑白名单管理机制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4620717" y="3061516"/>
            <a:ext cx="3554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以履约时效、违规记录、好评或恶意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4620717" y="3328216"/>
            <a:ext cx="3554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投诉记录等作为依据，基于系统数据</a:t>
            </a:r>
            <a:endParaRPr lang="en-US" sz="1410" dirty="0"/>
          </a:p>
        </p:txBody>
      </p:sp>
      <p:sp>
        <p:nvSpPr>
          <p:cNvPr id="17" name="Text 15"/>
          <p:cNvSpPr txBox="1"/>
          <p:nvPr/>
        </p:nvSpPr>
        <p:spPr>
          <a:xfrm>
            <a:off x="4620717" y="3594916"/>
            <a:ext cx="3554651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自动判定奖惩，并建全通告、兑现、</a:t>
            </a:r>
            <a:endParaRPr lang="en-US" sz="1410" dirty="0"/>
          </a:p>
        </p:txBody>
      </p:sp>
      <p:sp>
        <p:nvSpPr>
          <p:cNvPr id="18" name="Text 16"/>
          <p:cNvSpPr txBox="1"/>
          <p:nvPr/>
        </p:nvSpPr>
        <p:spPr>
          <a:xfrm>
            <a:off x="4620717" y="3861616"/>
            <a:ext cx="14759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申诉等环节。</a:t>
            </a:r>
            <a:endParaRPr lang="en-US" sz="1410" dirty="0"/>
          </a:p>
        </p:txBody>
      </p:sp>
      <p:sp>
        <p:nvSpPr>
          <p:cNvPr id="19" name="Text 17"/>
          <p:cNvSpPr txBox="1"/>
          <p:nvPr/>
        </p:nvSpPr>
        <p:spPr>
          <a:xfrm>
            <a:off x="4620717" y="4348455"/>
            <a:ext cx="299619" cy="303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0422" y="4346931"/>
            <a:ext cx="334546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奖励形式：现金补贴、服务升级、荣誉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422" y="4547591"/>
            <a:ext cx="200558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认证、优先续约权等；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20717" y="4825975"/>
            <a:ext cx="299619" cy="303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00422" y="4824451"/>
            <a:ext cx="334546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惩罚形式：扣违约金、订单限流、限制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00422" y="5025111"/>
            <a:ext cx="271272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或暂停服务权限、纳入黑名单；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46853" y="2006997"/>
            <a:ext cx="21006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奖惩触发及实施机制</a:t>
            </a:r>
            <a:endParaRPr lang="en-US" sz="1410" dirty="0"/>
          </a:p>
        </p:txBody>
      </p:sp>
      <p:sp>
        <p:nvSpPr>
          <p:cNvPr id="26" name="Text 24"/>
          <p:cNvSpPr txBox="1"/>
          <p:nvPr/>
        </p:nvSpPr>
        <p:spPr>
          <a:xfrm>
            <a:off x="8354200" y="3061516"/>
            <a:ext cx="3744696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系统预设异常场景阈值，如运输超时、</a:t>
            </a:r>
            <a:endParaRPr lang="en-US" sz="1410" dirty="0"/>
          </a:p>
        </p:txBody>
      </p:sp>
      <p:sp>
        <p:nvSpPr>
          <p:cNvPr id="27" name="Text 25"/>
          <p:cNvSpPr txBox="1"/>
          <p:nvPr/>
        </p:nvSpPr>
        <p:spPr>
          <a:xfrm>
            <a:off x="8354200" y="3328216"/>
            <a:ext cx="355465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车辆偏离路线、仓库库存预警、突发</a:t>
            </a:r>
            <a:endParaRPr lang="en-US" sz="1410" dirty="0"/>
          </a:p>
        </p:txBody>
      </p:sp>
      <p:sp>
        <p:nvSpPr>
          <p:cNvPr id="28" name="Text 26"/>
          <p:cNvSpPr txBox="1"/>
          <p:nvPr/>
        </p:nvSpPr>
        <p:spPr>
          <a:xfrm>
            <a:off x="8354200" y="3594916"/>
            <a:ext cx="355465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运力短缺等，触发预警后自动推送至</a:t>
            </a:r>
            <a:endParaRPr lang="en-US" sz="1410" dirty="0"/>
          </a:p>
        </p:txBody>
      </p:sp>
      <p:sp>
        <p:nvSpPr>
          <p:cNvPr id="29" name="Text 27"/>
          <p:cNvSpPr txBox="1"/>
          <p:nvPr/>
        </p:nvSpPr>
        <p:spPr>
          <a:xfrm>
            <a:off x="8354200" y="3861616"/>
            <a:ext cx="250720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园区调度中心进行干预。</a:t>
            </a:r>
            <a:endParaRPr lang="en-US" sz="1410" dirty="0"/>
          </a:p>
        </p:txBody>
      </p:sp>
      <p:sp>
        <p:nvSpPr>
          <p:cNvPr id="30" name="Text 28"/>
          <p:cNvSpPr txBox="1"/>
          <p:nvPr/>
        </p:nvSpPr>
        <p:spPr>
          <a:xfrm>
            <a:off x="8354200" y="4348455"/>
            <a:ext cx="299619" cy="303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33904" y="4346931"/>
            <a:ext cx="334546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异常分级干预：根据异常级别通过系统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533904" y="4547591"/>
            <a:ext cx="324307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实时沟通指引，协调园区内资源响应。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54200" y="4825975"/>
            <a:ext cx="299619" cy="3031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533904" y="4824451"/>
            <a:ext cx="3345463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责任追溯与复盘：系统记录异常处理及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533904" y="5025111"/>
            <a:ext cx="324307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损失情况，帮助分析根因并优化管理。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980335" y="2006997"/>
            <a:ext cx="21006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异常调度与干预机制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标准监管框架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40108" y="1588494"/>
            <a:ext cx="230758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动态交通拥堵智能治理</a:t>
            </a:r>
            <a:endParaRPr lang="en-US" sz="1410" dirty="0"/>
          </a:p>
        </p:txBody>
      </p:sp>
      <p:sp>
        <p:nvSpPr>
          <p:cNvPr id="5" name="Text 3"/>
          <p:cNvSpPr txBox="1"/>
          <p:nvPr/>
        </p:nvSpPr>
        <p:spPr>
          <a:xfrm>
            <a:off x="5236223" y="2141084"/>
            <a:ext cx="695574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采用预约机制与路径优化技术，实时调控车辆进出节奏，减少高峰期拥堵，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5236223" y="2407784"/>
            <a:ext cx="687377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确保“快进快出”，将平均停留时间压缩30%以上，提升园区周转效率。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5440108" y="3171409"/>
            <a:ext cx="2307589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仓储设备协同优化方案</a:t>
            </a:r>
            <a:endParaRPr lang="en-US" sz="1410" dirty="0"/>
          </a:p>
        </p:txBody>
      </p:sp>
      <p:sp>
        <p:nvSpPr>
          <p:cNvPr id="8" name="Text 6"/>
          <p:cNvSpPr txBox="1"/>
          <p:nvPr/>
        </p:nvSpPr>
        <p:spPr>
          <a:xfrm>
            <a:off x="5236223" y="3723999"/>
            <a:ext cx="695574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通过预知性调度与自动化设备联动，消除场地资源浪费，实现叉车、月台等</a:t>
            </a:r>
            <a:endParaRPr lang="en-US" sz="1410" dirty="0"/>
          </a:p>
        </p:txBody>
      </p:sp>
      <p:sp>
        <p:nvSpPr>
          <p:cNvPr id="9" name="Text 7"/>
          <p:cNvSpPr txBox="1"/>
          <p:nvPr/>
        </p:nvSpPr>
        <p:spPr>
          <a:xfrm>
            <a:off x="5236223" y="3990699"/>
            <a:ext cx="539468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设备的无缝协同，最大化仓储空间利用率与作业流畅度。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5529644" y="4754312"/>
            <a:ext cx="210060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全场景安全协同体系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5236223" y="5306914"/>
            <a:ext cx="695574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整合门禁、称重、监控等子系统，构建“人技物”三位一体安防网络，覆盖</a:t>
            </a:r>
            <a:endParaRPr lang="en-US" sz="1410" dirty="0"/>
          </a:p>
        </p:txBody>
      </p:sp>
      <p:sp>
        <p:nvSpPr>
          <p:cNvPr id="12" name="Text 10"/>
          <p:cNvSpPr txBox="1"/>
          <p:nvPr/>
        </p:nvSpPr>
        <p:spPr>
          <a:xfrm>
            <a:off x="5236223" y="5573614"/>
            <a:ext cx="560092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人员、车辆、货品全流程，降低事故率并强化执行可控性。</a:t>
            </a:r>
            <a:endParaRPr lang="en-US" sz="1410" dirty="0"/>
          </a:p>
        </p:txBody>
      </p:sp>
      <p:sp>
        <p:nvSpPr>
          <p:cNvPr id="13" name="Text 11"/>
          <p:cNvSpPr txBox="1"/>
          <p:nvPr/>
        </p:nvSpPr>
        <p:spPr>
          <a:xfrm>
            <a:off x="953148" y="3336433"/>
            <a:ext cx="399661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标准化监管框架是现代物流园区高效运营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953148" y="3763153"/>
            <a:ext cx="399661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的核心，通过统一规则与智能协同，解决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953148" y="4189873"/>
            <a:ext cx="399587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动态拥堵、信息孤岛等痛点，实现车流、</a:t>
            </a:r>
            <a:endParaRPr lang="en-US" sz="1410" dirty="0"/>
          </a:p>
        </p:txBody>
      </p:sp>
      <p:sp>
        <p:nvSpPr>
          <p:cNvPr id="16" name="Text 14"/>
          <p:cNvSpPr txBox="1"/>
          <p:nvPr/>
        </p:nvSpPr>
        <p:spPr>
          <a:xfrm>
            <a:off x="953148" y="4616593"/>
            <a:ext cx="354949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货流、人流的精准管控与效率提升。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299487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风险与挑战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58714" y="4626353"/>
            <a:ext cx="1654962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制度无法覆盖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5258714" y="4948660"/>
            <a:ext cx="66321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面临“制度无法覆盖”的特殊情况，如出现不可抗力导致的执行偏差、</a:t>
            </a:r>
            <a:endParaRPr lang="en-US" sz="1410" dirty="0"/>
          </a:p>
        </p:txBody>
      </p:sp>
      <p:sp>
        <p:nvSpPr>
          <p:cNvPr id="6" name="Text 4"/>
          <p:cNvSpPr txBox="1"/>
          <p:nvPr/>
        </p:nvSpPr>
        <p:spPr>
          <a:xfrm>
            <a:off x="5258714" y="5162020"/>
            <a:ext cx="415719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临时业务需求冲突、新旧流程衔接漏洞等。</a:t>
            </a:r>
            <a:endParaRPr lang="en-US" sz="1410" dirty="0"/>
          </a:p>
        </p:txBody>
      </p:sp>
      <p:sp>
        <p:nvSpPr>
          <p:cNvPr id="7" name="Text 5"/>
          <p:cNvSpPr txBox="1"/>
          <p:nvPr/>
        </p:nvSpPr>
        <p:spPr>
          <a:xfrm>
            <a:off x="5258714" y="5530529"/>
            <a:ext cx="636552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对策：充分预判特殊场景，建立特殊情况处理机制，定期复盘特殊问题。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5258714" y="3051591"/>
            <a:ext cx="1654962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调度异常管理</a:t>
            </a:r>
            <a:endParaRPr lang="en-US" sz="1590" dirty="0"/>
          </a:p>
        </p:txBody>
      </p:sp>
      <p:sp>
        <p:nvSpPr>
          <p:cNvPr id="9" name="Text 7"/>
          <p:cNvSpPr txBox="1"/>
          <p:nvPr/>
        </p:nvSpPr>
        <p:spPr>
          <a:xfrm>
            <a:off x="5258714" y="3373898"/>
            <a:ext cx="66321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异常处理机制设置不当，会导致异常识别滞后、干预流程不灵活、跨部</a:t>
            </a:r>
            <a:endParaRPr lang="en-US" sz="1410" dirty="0"/>
          </a:p>
        </p:txBody>
      </p:sp>
      <p:sp>
        <p:nvSpPr>
          <p:cNvPr id="10" name="Text 8"/>
          <p:cNvSpPr txBox="1"/>
          <p:nvPr/>
        </p:nvSpPr>
        <p:spPr>
          <a:xfrm>
            <a:off x="5258714" y="3587258"/>
            <a:ext cx="230096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门协同效率低等问题。</a:t>
            </a:r>
            <a:endParaRPr lang="en-US" sz="1410" dirty="0"/>
          </a:p>
        </p:txBody>
      </p:sp>
      <p:sp>
        <p:nvSpPr>
          <p:cNvPr id="11" name="Text 9"/>
          <p:cNvSpPr txBox="1"/>
          <p:nvPr/>
        </p:nvSpPr>
        <p:spPr>
          <a:xfrm>
            <a:off x="5258714" y="3879567"/>
            <a:ext cx="598248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对策：加强数据支撑，完善动态调试异常机制，实行分类分级干预；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5258714" y="1438361"/>
            <a:ext cx="1654962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司机执行阻力</a:t>
            </a:r>
            <a:endParaRPr lang="en-US" sz="1590" dirty="0"/>
          </a:p>
        </p:txBody>
      </p:sp>
      <p:sp>
        <p:nvSpPr>
          <p:cNvPr id="13" name="Text 11"/>
          <p:cNvSpPr txBox="1"/>
          <p:nvPr/>
        </p:nvSpPr>
        <p:spPr>
          <a:xfrm>
            <a:off x="5258714" y="1760668"/>
            <a:ext cx="66321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司机作为系统终端使用主体，可能存在“不配合”的情况，如抵触使用</a:t>
            </a:r>
            <a:endParaRPr lang="en-US" sz="1410" dirty="0"/>
          </a:p>
        </p:txBody>
      </p:sp>
      <p:sp>
        <p:nvSpPr>
          <p:cNvPr id="14" name="Text 12"/>
          <p:cNvSpPr txBox="1"/>
          <p:nvPr/>
        </p:nvSpPr>
        <p:spPr>
          <a:xfrm>
            <a:off x="5258714" y="1974028"/>
            <a:ext cx="3332200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系统、操作不熟练、执行偏差等。</a:t>
            </a:r>
            <a:endParaRPr lang="en-US" sz="1410" dirty="0"/>
          </a:p>
        </p:txBody>
      </p:sp>
      <p:sp>
        <p:nvSpPr>
          <p:cNvPr id="15" name="Text 13"/>
          <p:cNvSpPr txBox="1"/>
          <p:nvPr/>
        </p:nvSpPr>
        <p:spPr>
          <a:xfrm>
            <a:off x="5258714" y="2266337"/>
            <a:ext cx="655703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A6A6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对策：加强实操培训；绑定司机利益（设置奖惩）；建立客服响应机制等。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63947" y="2982935"/>
            <a:ext cx="2524150" cy="5023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项目价值效益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63947" y="3409718"/>
            <a:ext cx="3640100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园区多方价值提升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降低园区成本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3218" y="1841563"/>
            <a:ext cx="2897607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动态拥堵智能调度解决方案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7456" y="2365930"/>
            <a:ext cx="36990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通过智能预约机制与路径优化技术，精准</a:t>
            </a:r>
            <a:endParaRPr lang="en-US" sz="1290" dirty="0"/>
          </a:p>
        </p:txBody>
      </p:sp>
      <p:sp>
        <p:nvSpPr>
          <p:cNvPr id="6" name="Text 4"/>
          <p:cNvSpPr txBox="1"/>
          <p:nvPr/>
        </p:nvSpPr>
        <p:spPr>
          <a:xfrm>
            <a:off x="827456" y="2613580"/>
            <a:ext cx="36990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调控车辆进出节奏，将平均停留时间压缩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827456" y="2861230"/>
            <a:ext cx="36990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30%以上，实现“快进快装快出”的高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827456" y="3108881"/>
            <a:ext cx="1003071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效循环。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1113218" y="3867061"/>
            <a:ext cx="2454174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全流程数字化协同平台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7456" y="4404611"/>
            <a:ext cx="3699027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整合WMS/TMS等系统数据构建智能中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827456" y="4652261"/>
            <a:ext cx="36990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枢，通过流量预测与仓容分析实现决策优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827456" y="4899911"/>
            <a:ext cx="2758389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化，降低异常处理成本35%。</a:t>
            </a:r>
            <a:endParaRPr lang="en-US" sz="1290" dirty="0"/>
          </a:p>
        </p:txBody>
      </p:sp>
      <p:sp>
        <p:nvSpPr>
          <p:cNvPr id="13" name="Text 11"/>
          <p:cNvSpPr txBox="1"/>
          <p:nvPr/>
        </p:nvSpPr>
        <p:spPr>
          <a:xfrm>
            <a:off x="8573732" y="1841563"/>
            <a:ext cx="2454172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仓储设备协同效能提升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87982" y="2365930"/>
            <a:ext cx="36990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运用物联网技术，联动叉车、月台等设备</a:t>
            </a:r>
            <a:endParaRPr lang="en-US" sz="1290" dirty="0"/>
          </a:p>
        </p:txBody>
      </p:sp>
      <p:sp>
        <p:nvSpPr>
          <p:cNvPr id="15" name="Text 13"/>
          <p:cNvSpPr txBox="1"/>
          <p:nvPr/>
        </p:nvSpPr>
        <p:spPr>
          <a:xfrm>
            <a:off x="8287982" y="2613580"/>
            <a:ext cx="36990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资源，预判作业需求并实现自动调度，使</a:t>
            </a:r>
            <a:endParaRPr lang="en-US" sz="1290" dirty="0"/>
          </a:p>
        </p:txBody>
      </p:sp>
      <p:sp>
        <p:nvSpPr>
          <p:cNvPr id="16" name="Text 14"/>
          <p:cNvSpPr txBox="1"/>
          <p:nvPr/>
        </p:nvSpPr>
        <p:spPr>
          <a:xfrm>
            <a:off x="8287982" y="2861230"/>
            <a:ext cx="36990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自动化设备利用率提升40%，场地周转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8287982" y="3108881"/>
            <a:ext cx="1417777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率提高25%。</a:t>
            </a:r>
            <a:endParaRPr lang="en-US" sz="1290" dirty="0"/>
          </a:p>
        </p:txBody>
      </p:sp>
      <p:sp>
        <p:nvSpPr>
          <p:cNvPr id="18" name="Text 16"/>
          <p:cNvSpPr txBox="1"/>
          <p:nvPr/>
        </p:nvSpPr>
        <p:spPr>
          <a:xfrm>
            <a:off x="8573732" y="3867061"/>
            <a:ext cx="2232455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差异化服务标准体系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87982" y="4404611"/>
            <a:ext cx="369902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针对B2B/B2C客户定制分级服务方案，</a:t>
            </a:r>
            <a:endParaRPr lang="en-US" sz="1290" dirty="0"/>
          </a:p>
        </p:txBody>
      </p:sp>
      <p:sp>
        <p:nvSpPr>
          <p:cNvPr id="20" name="Text 18"/>
          <p:cNvSpPr txBox="1"/>
          <p:nvPr/>
        </p:nvSpPr>
        <p:spPr>
          <a:xfrm>
            <a:off x="8287982" y="4652261"/>
            <a:ext cx="3699024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建立统一监管机制，使园区服务响应速度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8287982" y="4899911"/>
            <a:ext cx="3173095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提升50%，客户投诉率下降60%。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多方价值提升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01369" y="2639831"/>
            <a:ext cx="1891411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强化管理能力，</a:t>
            </a:r>
            <a:endParaRPr lang="en-US" sz="1590" dirty="0"/>
          </a:p>
        </p:txBody>
      </p:sp>
      <p:sp>
        <p:nvSpPr>
          <p:cNvPr id="5" name="Text 3"/>
          <p:cNvSpPr txBox="1"/>
          <p:nvPr/>
        </p:nvSpPr>
        <p:spPr>
          <a:xfrm>
            <a:off x="1101369" y="2883672"/>
            <a:ext cx="2364308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提升园区核心竞争力</a:t>
            </a:r>
            <a:endParaRPr lang="en-US" sz="1590" dirty="0"/>
          </a:p>
        </p:txBody>
      </p:sp>
      <p:sp>
        <p:nvSpPr>
          <p:cNvPr id="6" name="Text 4"/>
          <p:cNvSpPr txBox="1"/>
          <p:nvPr/>
        </p:nvSpPr>
        <p:spPr>
          <a:xfrm>
            <a:off x="1101369" y="3335773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7" name="Text 5"/>
          <p:cNvSpPr txBox="1"/>
          <p:nvPr/>
        </p:nvSpPr>
        <p:spPr>
          <a:xfrm>
            <a:off x="1245514" y="3334128"/>
            <a:ext cx="2152167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加强园区管理数据支撑</a:t>
            </a:r>
            <a:endParaRPr lang="en-US" sz="1290" dirty="0"/>
          </a:p>
        </p:txBody>
      </p:sp>
      <p:sp>
        <p:nvSpPr>
          <p:cNvPr id="8" name="Text 6"/>
          <p:cNvSpPr txBox="1"/>
          <p:nvPr/>
        </p:nvSpPr>
        <p:spPr>
          <a:xfrm>
            <a:off x="1101369" y="3632953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9" name="Text 7"/>
          <p:cNvSpPr txBox="1"/>
          <p:nvPr/>
        </p:nvSpPr>
        <p:spPr>
          <a:xfrm>
            <a:off x="1245514" y="3631308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优化资源利用率，降低管理成本</a:t>
            </a:r>
            <a:endParaRPr lang="en-US" sz="1290" dirty="0"/>
          </a:p>
        </p:txBody>
      </p:sp>
      <p:sp>
        <p:nvSpPr>
          <p:cNvPr id="10" name="Text 8"/>
          <p:cNvSpPr txBox="1"/>
          <p:nvPr/>
        </p:nvSpPr>
        <p:spPr>
          <a:xfrm>
            <a:off x="1101369" y="3930132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1245514" y="3928488"/>
            <a:ext cx="3109748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提升园区服务能力，增加营收来源</a:t>
            </a:r>
            <a:endParaRPr lang="en-US" sz="1290" dirty="0"/>
          </a:p>
        </p:txBody>
      </p:sp>
      <p:sp>
        <p:nvSpPr>
          <p:cNvPr id="12" name="Text 10"/>
          <p:cNvSpPr txBox="1"/>
          <p:nvPr/>
        </p:nvSpPr>
        <p:spPr>
          <a:xfrm>
            <a:off x="1101369" y="4227313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3" name="Text 11"/>
          <p:cNvSpPr txBox="1"/>
          <p:nvPr/>
        </p:nvSpPr>
        <p:spPr>
          <a:xfrm>
            <a:off x="1245514" y="4225668"/>
            <a:ext cx="2535200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智能化监管，降低运营风险</a:t>
            </a:r>
            <a:endParaRPr lang="en-US" sz="1290" dirty="0"/>
          </a:p>
        </p:txBody>
      </p:sp>
      <p:sp>
        <p:nvSpPr>
          <p:cNvPr id="14" name="Text 12"/>
          <p:cNvSpPr txBox="1"/>
          <p:nvPr/>
        </p:nvSpPr>
        <p:spPr>
          <a:xfrm>
            <a:off x="1850263" y="4784776"/>
            <a:ext cx="144871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管理者/服务者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50263" y="5038023"/>
            <a:ext cx="1447978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园区运营方</a:t>
            </a:r>
            <a:endParaRPr lang="en-US" sz="1590" dirty="0"/>
          </a:p>
        </p:txBody>
      </p:sp>
      <p:sp>
        <p:nvSpPr>
          <p:cNvPr id="16" name="Text 14"/>
          <p:cNvSpPr txBox="1"/>
          <p:nvPr/>
        </p:nvSpPr>
        <p:spPr>
          <a:xfrm>
            <a:off x="4779277" y="2639831"/>
            <a:ext cx="1891410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实现降本增效，</a:t>
            </a:r>
            <a:endParaRPr lang="en-US" sz="1590" dirty="0"/>
          </a:p>
        </p:txBody>
      </p:sp>
      <p:sp>
        <p:nvSpPr>
          <p:cNvPr id="17" name="Text 15"/>
          <p:cNvSpPr txBox="1"/>
          <p:nvPr/>
        </p:nvSpPr>
        <p:spPr>
          <a:xfrm>
            <a:off x="4779277" y="2883672"/>
            <a:ext cx="2364306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优化企业供应链韧性</a:t>
            </a:r>
            <a:endParaRPr lang="en-US" sz="1590" dirty="0"/>
          </a:p>
        </p:txBody>
      </p:sp>
      <p:sp>
        <p:nvSpPr>
          <p:cNvPr id="18" name="Text 16"/>
          <p:cNvSpPr txBox="1"/>
          <p:nvPr/>
        </p:nvSpPr>
        <p:spPr>
          <a:xfrm>
            <a:off x="4779277" y="3335773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19" name="Text 17"/>
          <p:cNvSpPr txBox="1"/>
          <p:nvPr/>
        </p:nvSpPr>
        <p:spPr>
          <a:xfrm>
            <a:off x="4923422" y="3334128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快速响应订单，缩短物流周期</a:t>
            </a:r>
            <a:endParaRPr lang="en-US" sz="1290" dirty="0"/>
          </a:p>
        </p:txBody>
      </p:sp>
      <p:sp>
        <p:nvSpPr>
          <p:cNvPr id="20" name="Text 18"/>
          <p:cNvSpPr txBox="1"/>
          <p:nvPr/>
        </p:nvSpPr>
        <p:spPr>
          <a:xfrm>
            <a:off x="4779277" y="3632953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1" name="Text 19"/>
          <p:cNvSpPr txBox="1"/>
          <p:nvPr/>
        </p:nvSpPr>
        <p:spPr>
          <a:xfrm>
            <a:off x="4923422" y="3631308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降低物流成本，减少隐性损耗</a:t>
            </a:r>
            <a:endParaRPr lang="en-US" sz="1290" dirty="0"/>
          </a:p>
        </p:txBody>
      </p:sp>
      <p:sp>
        <p:nvSpPr>
          <p:cNvPr id="22" name="Text 20"/>
          <p:cNvSpPr txBox="1"/>
          <p:nvPr/>
        </p:nvSpPr>
        <p:spPr>
          <a:xfrm>
            <a:off x="4779277" y="3930132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4923422" y="3928488"/>
            <a:ext cx="2726716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完善数据体系，支撑运营决策</a:t>
            </a:r>
            <a:endParaRPr lang="en-US" sz="1290" dirty="0"/>
          </a:p>
        </p:txBody>
      </p:sp>
      <p:sp>
        <p:nvSpPr>
          <p:cNvPr id="24" name="Text 22"/>
          <p:cNvSpPr txBox="1"/>
          <p:nvPr/>
        </p:nvSpPr>
        <p:spPr>
          <a:xfrm>
            <a:off x="4779277" y="4227313"/>
            <a:ext cx="304517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25" name="Text 23"/>
          <p:cNvSpPr txBox="1"/>
          <p:nvPr/>
        </p:nvSpPr>
        <p:spPr>
          <a:xfrm>
            <a:off x="4923422" y="4225668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提升供应链灵活性应对市场变化</a:t>
            </a:r>
            <a:endParaRPr lang="en-US" sz="1290" dirty="0"/>
          </a:p>
        </p:txBody>
      </p:sp>
      <p:sp>
        <p:nvSpPr>
          <p:cNvPr id="26" name="Text 24"/>
          <p:cNvSpPr txBox="1"/>
          <p:nvPr/>
        </p:nvSpPr>
        <p:spPr>
          <a:xfrm>
            <a:off x="5439715" y="4784776"/>
            <a:ext cx="1654225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核心使用者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39715" y="5038023"/>
            <a:ext cx="1653489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园区入驻企业</a:t>
            </a:r>
            <a:endParaRPr lang="en-US" sz="1590" dirty="0"/>
          </a:p>
        </p:txBody>
      </p:sp>
      <p:sp>
        <p:nvSpPr>
          <p:cNvPr id="28" name="Text 26"/>
          <p:cNvSpPr txBox="1"/>
          <p:nvPr/>
        </p:nvSpPr>
        <p:spPr>
          <a:xfrm>
            <a:off x="8457197" y="2639831"/>
            <a:ext cx="1891410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提升运营效率，</a:t>
            </a:r>
            <a:endParaRPr lang="en-US" sz="1590" dirty="0"/>
          </a:p>
        </p:txBody>
      </p:sp>
      <p:sp>
        <p:nvSpPr>
          <p:cNvPr id="29" name="Text 27"/>
          <p:cNvSpPr txBox="1"/>
          <p:nvPr/>
        </p:nvSpPr>
        <p:spPr>
          <a:xfrm>
            <a:off x="8457197" y="2883672"/>
            <a:ext cx="2127859" cy="357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扩大服务业务规模</a:t>
            </a:r>
            <a:endParaRPr lang="en-US" sz="1590" dirty="0"/>
          </a:p>
        </p:txBody>
      </p:sp>
      <p:sp>
        <p:nvSpPr>
          <p:cNvPr id="30" name="Text 28"/>
          <p:cNvSpPr txBox="1"/>
          <p:nvPr/>
        </p:nvSpPr>
        <p:spPr>
          <a:xfrm>
            <a:off x="8457197" y="3335773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31" name="Text 29"/>
          <p:cNvSpPr txBox="1"/>
          <p:nvPr/>
        </p:nvSpPr>
        <p:spPr>
          <a:xfrm>
            <a:off x="8601341" y="3334128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智能化作业流程，提升作业效率</a:t>
            </a:r>
            <a:endParaRPr lang="en-US" sz="1290" dirty="0"/>
          </a:p>
        </p:txBody>
      </p:sp>
      <p:sp>
        <p:nvSpPr>
          <p:cNvPr id="32" name="Text 30"/>
          <p:cNvSpPr txBox="1"/>
          <p:nvPr/>
        </p:nvSpPr>
        <p:spPr>
          <a:xfrm>
            <a:off x="8457197" y="3632953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33" name="Text 31"/>
          <p:cNvSpPr txBox="1"/>
          <p:nvPr/>
        </p:nvSpPr>
        <p:spPr>
          <a:xfrm>
            <a:off x="8601341" y="3631308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减少沟通成本，提升订单转化率</a:t>
            </a:r>
            <a:endParaRPr lang="en-US" sz="1290" dirty="0"/>
          </a:p>
        </p:txBody>
      </p:sp>
      <p:sp>
        <p:nvSpPr>
          <p:cNvPr id="34" name="Text 32"/>
          <p:cNvSpPr txBox="1"/>
          <p:nvPr/>
        </p:nvSpPr>
        <p:spPr>
          <a:xfrm>
            <a:off x="8457197" y="3930132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35" name="Text 33"/>
          <p:cNvSpPr txBox="1"/>
          <p:nvPr/>
        </p:nvSpPr>
        <p:spPr>
          <a:xfrm>
            <a:off x="8601341" y="3928488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优化运力调度，有助于加强服务</a:t>
            </a:r>
            <a:endParaRPr lang="en-US" sz="1290" dirty="0"/>
          </a:p>
        </p:txBody>
      </p:sp>
      <p:sp>
        <p:nvSpPr>
          <p:cNvPr id="36" name="Text 34"/>
          <p:cNvSpPr txBox="1"/>
          <p:nvPr/>
        </p:nvSpPr>
        <p:spPr>
          <a:xfrm>
            <a:off x="8457197" y="4227313"/>
            <a:ext cx="304516" cy="3191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90" dirty="0"/>
          </a:p>
        </p:txBody>
      </p:sp>
      <p:sp>
        <p:nvSpPr>
          <p:cNvPr id="37" name="Text 35"/>
          <p:cNvSpPr txBox="1"/>
          <p:nvPr/>
        </p:nvSpPr>
        <p:spPr>
          <a:xfrm>
            <a:off x="8601341" y="4225668"/>
            <a:ext cx="2918232" cy="3091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简化结算流程，缓解现金流压力</a:t>
            </a:r>
            <a:endParaRPr lang="en-US" sz="1290" dirty="0"/>
          </a:p>
        </p:txBody>
      </p:sp>
      <p:sp>
        <p:nvSpPr>
          <p:cNvPr id="38" name="Text 36"/>
          <p:cNvSpPr txBox="1"/>
          <p:nvPr/>
        </p:nvSpPr>
        <p:spPr>
          <a:xfrm>
            <a:off x="9206077" y="4784776"/>
            <a:ext cx="144871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执行作业主体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206077" y="5038023"/>
            <a:ext cx="1447977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物流服务商</a:t>
            </a:r>
            <a:endParaRPr lang="en-US" sz="15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271198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改善指标比较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925625" y="1886486"/>
            <a:ext cx="715874" cy="520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2610" dirty="0"/>
          </a:p>
        </p:txBody>
      </p:sp>
      <p:sp>
        <p:nvSpPr>
          <p:cNvPr id="5" name="Text 3"/>
          <p:cNvSpPr txBox="1"/>
          <p:nvPr/>
        </p:nvSpPr>
        <p:spPr>
          <a:xfrm>
            <a:off x="2337105" y="1861995"/>
            <a:ext cx="61656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072600" y="2037791"/>
            <a:ext cx="1784604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月台利用率提高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46161" y="2760535"/>
            <a:ext cx="2005584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司机等待时间减少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85172" y="2620940"/>
            <a:ext cx="715874" cy="520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2610" dirty="0"/>
          </a:p>
        </p:txBody>
      </p:sp>
      <p:sp>
        <p:nvSpPr>
          <p:cNvPr id="9" name="Text 7"/>
          <p:cNvSpPr txBox="1"/>
          <p:nvPr/>
        </p:nvSpPr>
        <p:spPr>
          <a:xfrm>
            <a:off x="4096652" y="2596448"/>
            <a:ext cx="616562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925625" y="3355394"/>
            <a:ext cx="715874" cy="520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2610" dirty="0"/>
          </a:p>
        </p:txBody>
      </p:sp>
      <p:sp>
        <p:nvSpPr>
          <p:cNvPr id="11" name="Text 9"/>
          <p:cNvSpPr txBox="1"/>
          <p:nvPr/>
        </p:nvSpPr>
        <p:spPr>
          <a:xfrm>
            <a:off x="2337105" y="3330902"/>
            <a:ext cx="61656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977350" y="3506711"/>
            <a:ext cx="2005584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异常处理效率提升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46161" y="4229456"/>
            <a:ext cx="2005584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司机等待时间减少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85172" y="4089861"/>
            <a:ext cx="715874" cy="52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</a:t>
            </a:r>
            <a:endParaRPr lang="en-US" sz="2610" dirty="0"/>
          </a:p>
        </p:txBody>
      </p:sp>
      <p:sp>
        <p:nvSpPr>
          <p:cNvPr id="15" name="Text 13"/>
          <p:cNvSpPr txBox="1"/>
          <p:nvPr/>
        </p:nvSpPr>
        <p:spPr>
          <a:xfrm>
            <a:off x="4096652" y="4065368"/>
            <a:ext cx="616562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927492" y="4824314"/>
            <a:ext cx="715874" cy="520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95</a:t>
            </a:r>
            <a:endParaRPr lang="en-US" sz="2610" dirty="0"/>
          </a:p>
        </p:txBody>
      </p:sp>
      <p:sp>
        <p:nvSpPr>
          <p:cNvPr id="17" name="Text 15"/>
          <p:cNvSpPr txBox="1"/>
          <p:nvPr/>
        </p:nvSpPr>
        <p:spPr>
          <a:xfrm>
            <a:off x="2338972" y="4799822"/>
            <a:ext cx="616563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026842" y="4966472"/>
            <a:ext cx="1886992" cy="357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违规行为识别率</a:t>
            </a:r>
            <a:endParaRPr lang="en-US" sz="1590" dirty="0"/>
          </a:p>
        </p:txBody>
      </p:sp>
      <p:sp>
        <p:nvSpPr>
          <p:cNvPr id="19" name="Text 17"/>
          <p:cNvSpPr txBox="1"/>
          <p:nvPr/>
        </p:nvSpPr>
        <p:spPr>
          <a:xfrm>
            <a:off x="782688" y="2527963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效率提升</a:t>
            </a:r>
            <a:endParaRPr lang="en-US" sz="1410" dirty="0"/>
          </a:p>
        </p:txBody>
      </p:sp>
      <p:sp>
        <p:nvSpPr>
          <p:cNvPr id="20" name="Text 18"/>
          <p:cNvSpPr txBox="1"/>
          <p:nvPr/>
        </p:nvSpPr>
        <p:spPr>
          <a:xfrm>
            <a:off x="782688" y="3792744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管理提升</a:t>
            </a:r>
            <a:endParaRPr lang="en-US" sz="1410" dirty="0"/>
          </a:p>
        </p:txBody>
      </p:sp>
      <p:sp>
        <p:nvSpPr>
          <p:cNvPr id="21" name="Text 19"/>
          <p:cNvSpPr txBox="1"/>
          <p:nvPr/>
        </p:nvSpPr>
        <p:spPr>
          <a:xfrm>
            <a:off x="781647" y="4978327"/>
            <a:ext cx="1065683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安全保障</a:t>
            </a:r>
            <a:endParaRPr lang="en-US" sz="1410" dirty="0"/>
          </a:p>
        </p:txBody>
      </p:sp>
      <p:sp>
        <p:nvSpPr>
          <p:cNvPr id="22" name="Text 20"/>
          <p:cNvSpPr txBox="1"/>
          <p:nvPr/>
        </p:nvSpPr>
        <p:spPr>
          <a:xfrm>
            <a:off x="5595182" y="5266655"/>
            <a:ext cx="156363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司机等待时长</a:t>
            </a:r>
            <a:endParaRPr lang="en-US" sz="1410" dirty="0"/>
          </a:p>
        </p:txBody>
      </p:sp>
      <p:sp>
        <p:nvSpPr>
          <p:cNvPr id="23" name="Text 21"/>
          <p:cNvSpPr txBox="1"/>
          <p:nvPr/>
        </p:nvSpPr>
        <p:spPr>
          <a:xfrm>
            <a:off x="7189031" y="5266655"/>
            <a:ext cx="1356652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月台利用率</a:t>
            </a:r>
            <a:endParaRPr lang="en-US" sz="1410" dirty="0"/>
          </a:p>
        </p:txBody>
      </p:sp>
      <p:sp>
        <p:nvSpPr>
          <p:cNvPr id="24" name="Text 22"/>
          <p:cNvSpPr txBox="1"/>
          <p:nvPr/>
        </p:nvSpPr>
        <p:spPr>
          <a:xfrm>
            <a:off x="8783517" y="5266655"/>
            <a:ext cx="1149668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人工成本</a:t>
            </a:r>
            <a:endParaRPr lang="en-US" sz="1410" dirty="0"/>
          </a:p>
        </p:txBody>
      </p:sp>
      <p:sp>
        <p:nvSpPr>
          <p:cNvPr id="25" name="Text 23"/>
          <p:cNvSpPr txBox="1"/>
          <p:nvPr/>
        </p:nvSpPr>
        <p:spPr>
          <a:xfrm>
            <a:off x="10110031" y="5266655"/>
            <a:ext cx="1563637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异常处理效率</a:t>
            </a:r>
            <a:endParaRPr lang="en-US" sz="1410" dirty="0"/>
          </a:p>
        </p:txBody>
      </p:sp>
      <p:sp>
        <p:nvSpPr>
          <p:cNvPr id="26" name="Text 24"/>
          <p:cNvSpPr txBox="1"/>
          <p:nvPr/>
        </p:nvSpPr>
        <p:spPr>
          <a:xfrm>
            <a:off x="5609952" y="1562065"/>
            <a:ext cx="3466274" cy="326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YMS系统应用前后改善指标对比：</a:t>
            </a:r>
            <a:endParaRPr lang="en-US" sz="14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9113" y="6443739"/>
            <a:ext cx="2478481" cy="2455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数字化供应链可视管理方案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79843" y="279663"/>
            <a:ext cx="3536976" cy="550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综合服务水平优化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272883" y="1453477"/>
            <a:ext cx="3119323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全流程服务响应时效显著提升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72883" y="1810284"/>
            <a:ext cx="5203162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园区物流服务的订单响应时间从传统数天级压缩至小时级，货物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72883" y="2038884"/>
            <a:ext cx="5203165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从下单到完成装卸运输全链路周期缩短30%以上。入园车辆无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72883" y="2267484"/>
            <a:ext cx="359664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效等待时长减少，作业衔接效率大幅提升。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72883" y="3052978"/>
            <a:ext cx="3562756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提升服务流程标准化、透明化程度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72883" y="3409785"/>
            <a:ext cx="51876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实现服务流程规范化管控，多维度信息实时可视化，企业、物流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72883" y="3638385"/>
            <a:ext cx="5364480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商、司机等主体可随时查询，异常情况自动预警并同步处理进度，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72883" y="3866985"/>
            <a:ext cx="4510761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服务纠纷率降低80%，服务透明度与公信力显著增强。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72883" y="4652480"/>
            <a:ext cx="3119323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资源利用与服务配置实现最优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72883" y="5009299"/>
            <a:ext cx="518769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实现资源动态优化调度，提升仓库空间利用率，减少装卸设备闲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72883" y="5237899"/>
            <a:ext cx="5068367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置时间 ，高峰期资源紧张与低峰期资源闲置的矛盾得到有效解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72883" y="5466499"/>
            <a:ext cx="4657344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决，以有限资源承载更高业务量，服务承载力显著增强。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71601" y="1453477"/>
            <a:ext cx="3562754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强化服务异常处置与风险管控能力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71601" y="1810284"/>
            <a:ext cx="5020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针对运输超时、车辆偏离、设备故障等情况自动触发预警，快速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71601" y="2038884"/>
            <a:ext cx="5020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调配备用资源或启动应急方案。实现服务风险的前置管控，降低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71601" y="2267484"/>
            <a:ext cx="483412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违规操作发生率，货物安全保障与合规运营水平大幅提升。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71601" y="3052978"/>
            <a:ext cx="3784470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服务价值从基础操作向增值赋能延伸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71601" y="3409785"/>
            <a:ext cx="5020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通过数据驾驶舱为园区运营提供科学决策依据，助力优化资源布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1601" y="3638385"/>
            <a:ext cx="5020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局与服务策略。推动园区服务从“功能性服务”向“价值型服务”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1601" y="3866985"/>
            <a:ext cx="3419856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升级，实现园区与入驻主体的协同发展。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1601" y="4652480"/>
            <a:ext cx="3784470" cy="342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服务体系的灵活性、适配性显著增强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71601" y="5009299"/>
            <a:ext cx="5020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可根据园区业务类型、高峰期业务波动、节假日或极端天气等特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1601" y="5237899"/>
            <a:ext cx="502036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殊情况，灵活调整服务流程与资源配置，保障物流服务的连续性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1601" y="5466499"/>
            <a:ext cx="4834128" cy="2938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与稳定性，大幅提升园区服务的抗风险能力与客户满意度。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473952"/>
            <a:ext cx="10058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YMS园区物流管理系统</dc:title>
  <dc:subject>PptxGenJS Presentation</dc:subject>
  <dc:creator>PptxGenJS</dc:creator>
  <cp:lastModifiedBy>PptxGenJS</cp:lastModifiedBy>
  <cp:revision>1</cp:revision>
  <dcterms:created xsi:type="dcterms:W3CDTF">2026-08-28T07:30:41Z</dcterms:created>
  <dcterms:modified xsi:type="dcterms:W3CDTF">2026-08-28T07:30:41Z</dcterms:modified>
</cp:coreProperties>
</file>