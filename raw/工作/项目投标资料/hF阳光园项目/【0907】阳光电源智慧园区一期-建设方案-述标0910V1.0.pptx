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16777215" r:id="rId3"/>
    <p:sldId id="276" r:id="rId5"/>
    <p:sldId id="12" r:id="rId6"/>
    <p:sldId id="4" r:id="rId7"/>
    <p:sldId id="5" r:id="rId8"/>
    <p:sldId id="13" r:id="rId9"/>
    <p:sldId id="14" r:id="rId10"/>
    <p:sldId id="15" r:id="rId11"/>
    <p:sldId id="16" r:id="rId12"/>
    <p:sldId id="17" r:id="rId13"/>
    <p:sldId id="18" r:id="rId14"/>
    <p:sldId id="6" r:id="rId15"/>
    <p:sldId id="7" r:id="rId16"/>
    <p:sldId id="8" r:id="rId17"/>
    <p:sldId id="9" r:id="rId18"/>
    <p:sldId id="10" r:id="rId19"/>
    <p:sldId id="11" r:id="rId20"/>
    <p:sldId id="19" r:id="rId21"/>
    <p:sldId id="23" r:id="rId22"/>
    <p:sldId id="20" r:id="rId23"/>
    <p:sldId id="24" r:id="rId24"/>
    <p:sldId id="22" r:id="rId25"/>
  </p:sldIdLst>
  <p:sldSz cx="12192000" cy="6858000"/>
  <p:notesSz cx="6858000" cy="9872345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及目录" id="{E97A3F09-39D3-4C74-8F78-64CC23BCC0D7}">
          <p14:sldIdLst>
            <p14:sldId id="16777215"/>
            <p14:sldId id="276"/>
          </p14:sldIdLst>
        </p14:section>
        <p14:section name="项目理解与建设目标&#10;" id="{393B0730-D900-4092-8018-7A6E9526015F}">
          <p14:sldIdLst>
            <p14:sldId id="12"/>
            <p14:sldId id="4"/>
            <p14:sldId id="5"/>
            <p14:sldId id="13"/>
            <p14:sldId id="14"/>
            <p14:sldId id="15"/>
            <p14:sldId id="16"/>
            <p14:sldId id="17"/>
            <p14:sldId id="18"/>
            <p14:sldId id="6"/>
            <p14:sldId id="7"/>
            <p14:sldId id="8"/>
            <p14:sldId id="9"/>
            <p14:sldId id="10"/>
            <p14:sldId id="11"/>
            <p14:sldId id="19"/>
            <p14:sldId id="23"/>
            <p14:sldId id="20"/>
            <p14:sldId id="24"/>
            <p14:sldId id="22"/>
          </p14:sldIdLst>
        </p14:section>
        <p14:section name="总体建设方案&#10;" id="{EC63BB88-31BB-47CD-ABCD-90939EB7F450}">
          <p14:sldIdLst/>
        </p14:section>
        <p14:section name="业务场景建设&#10;" id="{0EA4528E-3DB7-40F8-A715-CEEE30B11AD1}">
          <p14:sldIdLst/>
        </p14:section>
        <p14:section name="项目实施保障&#10;" id="{FB11FC26-F6BE-4FF9-B771-BA0A19037754}">
          <p14:sldIdLst/>
        </p14:section>
        <p14:section name="结束页" id="{BFE47CE3-8DAC-4E35-B963-16CB4FC33299}">
          <p14:sldIdLst/>
        </p14:section>
        <p14:section name="现状分析与核心挑战&#10;" id="{11258722-EEC7-45FB-9D8C-05E7B0AE03E5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85D8"/>
    <a:srgbClr val="243EAB"/>
    <a:srgbClr val="2B44AD"/>
    <a:srgbClr val="98A8F9"/>
    <a:srgbClr val="7081CC"/>
    <a:srgbClr val="2C3E50"/>
    <a:srgbClr val="0144AE"/>
    <a:srgbClr val="6F89F9"/>
    <a:srgbClr val="3147AC"/>
    <a:srgbClr val="253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4856" autoAdjust="0"/>
  </p:normalViewPr>
  <p:slideViewPr>
    <p:cSldViewPr snapToGrid="0">
      <p:cViewPr varScale="1">
        <p:scale>
          <a:sx n="131" d="100"/>
          <a:sy n="131" d="100"/>
        </p:scale>
        <p:origin x="13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33.xml"/><Relationship Id="rId32" Type="http://schemas.openxmlformats.org/officeDocument/2006/relationships/customXml" Target="../customXml/item3.xml"/><Relationship Id="rId31" Type="http://schemas.openxmlformats.org/officeDocument/2006/relationships/customXml" Target="../customXml/item2.xml"/><Relationship Id="rId30" Type="http://schemas.openxmlformats.org/officeDocument/2006/relationships/customXml" Target="../customXml/item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8E1C1-EB76-4184-A623-1F1D0D8C56DB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9377363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F91C8-888E-4593-98D3-92DBA7B5C4AA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8C697B2-CE4C-43FB-BDDF-454C37B418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68313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51219"/>
            <a:ext cx="548640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377317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F117B90-CF89-489E-9DB8-7A5C7B9EC6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ESB</a:t>
            </a:r>
            <a:endParaRPr lang="en-US" altLang="zh-CN" dirty="0"/>
          </a:p>
          <a:p>
            <a:r>
              <a:rPr lang="zh-CN" altLang="en-US" dirty="0"/>
              <a:t>数据湖、数仓？</a:t>
            </a:r>
            <a:endParaRPr lang="en-US" altLang="zh-CN" dirty="0"/>
          </a:p>
          <a:p>
            <a:r>
              <a:rPr lang="en-US" altLang="zh-CN" dirty="0"/>
              <a:t>IOT</a:t>
            </a:r>
            <a:r>
              <a:rPr lang="zh-CN" altLang="en-US" dirty="0"/>
              <a:t>平台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算法管理</a:t>
            </a:r>
            <a:endParaRPr lang="en-US" altLang="zh-CN" dirty="0"/>
          </a:p>
          <a:p>
            <a:r>
              <a:rPr lang="zh-CN" altLang="en-US" dirty="0"/>
              <a:t>报表工具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117B90-CF89-489E-9DB8-7A5C7B9EC6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1788"/>
            <a:ext cx="12192000" cy="6856212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9200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defRPr>
            </a:lvl1pPr>
          </a:lstStyle>
          <a:p>
            <a:r>
              <a:rPr lang="zh-CN" altLang="en-US"/>
              <a:t>标准版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9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主讲人姓名 </a:t>
            </a:r>
            <a:r>
              <a:rPr lang="en-US" altLang="zh-CN"/>
              <a:t>| </a:t>
            </a:r>
            <a:r>
              <a:rPr lang="zh-CN" altLang="en-US"/>
              <a:t>日期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2612400" y="816114"/>
            <a:ext cx="6190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联想全栈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AI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704020202020204" pitchFamily="34" charset="0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让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AI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成为创新生产力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704020202020204" pitchFamily="34" charset="0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760612" y="6501661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2026 Lenovo Internal. All rights reserved.</a:t>
            </a:r>
            <a:endParaRPr lang="en-US" sz="1000" dirty="0">
              <a:solidFill>
                <a:schemeClr val="bg1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10" name="图片 9" descr="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1733" y="425070"/>
            <a:ext cx="2510119" cy="141194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6212"/>
          </a:xfrm>
          <a:prstGeom prst="rect">
            <a:avLst/>
          </a:prstGeom>
        </p:spPr>
      </p:pic>
      <p:pic>
        <p:nvPicPr>
          <p:cNvPr id="7" name="图片 6" descr="城市的风景&#10;&#10;描述已自动生成"/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7618809" y="-1787"/>
            <a:ext cx="4573189" cy="685978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2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3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9200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defRPr>
            </a:lvl1pPr>
          </a:lstStyle>
          <a:p>
            <a:r>
              <a:rPr lang="zh-CN" altLang="en-US"/>
              <a:t>章节标题区域</a:t>
            </a:r>
            <a:endParaRPr lang="en-US"/>
          </a:p>
        </p:txBody>
      </p:sp>
      <p:sp>
        <p:nvSpPr>
          <p:cNvPr id="27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1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副标题区域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682053" y="701410"/>
            <a:ext cx="6190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联想全栈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AI</a:t>
            </a:r>
            <a:endParaRPr kumimoji="1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704020202020204" pitchFamily="34" charset="0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让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AI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rPr>
              <a:t>成为创新生产力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704020202020204" pitchFamily="34" charset="0"/>
            </a:endParaRPr>
          </a:p>
        </p:txBody>
      </p:sp>
      <p:sp>
        <p:nvSpPr>
          <p:cNvPr id="15" name="TextBox 1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2026 Lenovo Internal. All rights reserved.</a:t>
            </a:r>
            <a:endParaRPr lang="en-US" sz="1000">
              <a:solidFill>
                <a:schemeClr val="bg1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5988" y="6454323"/>
            <a:ext cx="964049" cy="1931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9214" cy="6859568"/>
          </a:xfrm>
          <a:prstGeom prst="rect">
            <a:avLst/>
          </a:prstGeom>
          <a:solidFill>
            <a:srgbClr val="00B0F0">
              <a:alpha val="27059"/>
            </a:srgbClr>
          </a:solidFill>
          <a:ln>
            <a:solidFill>
              <a:schemeClr val="bg1"/>
            </a:solidFill>
          </a:ln>
        </p:spPr>
      </p:pic>
      <p:grpSp>
        <p:nvGrpSpPr>
          <p:cNvPr id="5" name="组合 4"/>
          <p:cNvGrpSpPr/>
          <p:nvPr userDrawn="1"/>
        </p:nvGrpSpPr>
        <p:grpSpPr>
          <a:xfrm>
            <a:off x="576032" y="6384550"/>
            <a:ext cx="3422591" cy="230832"/>
            <a:chOff x="156932" y="6508375"/>
            <a:chExt cx="3422591" cy="230832"/>
          </a:xfrm>
        </p:grpSpPr>
        <p:sp>
          <p:nvSpPr>
            <p:cNvPr id="6" name="Footer Placeholder 1"/>
            <p:cNvSpPr txBox="1"/>
            <p:nvPr/>
          </p:nvSpPr>
          <p:spPr>
            <a:xfrm>
              <a:off x="1353903" y="6508375"/>
              <a:ext cx="2225620" cy="2308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spAutoFit/>
            </a:bodyPr>
            <a:lstStyle>
              <a:lvl1pPr defTabSz="2437130">
                <a:lnSpc>
                  <a:spcPct val="100000"/>
                </a:lnSpc>
                <a:spcBef>
                  <a:spcPts val="0"/>
                </a:spcBef>
                <a:defRPr sz="180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defRPr>
              </a:lvl1pPr>
            </a:lstStyle>
            <a:p>
              <a:pPr marL="0" marR="0" lvl="0" indent="0" algn="l" defTabSz="121856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9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704020202020204"/>
                  <a:cs typeface="Arial" panose="020B0704020202020204"/>
                  <a:sym typeface="Arial" panose="020B0704020202020204"/>
                </a:rPr>
                <a:t>202</a:t>
              </a:r>
              <a:r>
                <a:rPr kumimoji="0" lang="en-US" sz="9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704020202020204"/>
                  <a:cs typeface="Arial" panose="020B0704020202020204"/>
                  <a:sym typeface="Arial" panose="020B0704020202020204"/>
                </a:rPr>
                <a:t>6</a:t>
              </a:r>
              <a:r>
                <a:rPr kumimoji="0" sz="9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704020202020204"/>
                  <a:cs typeface="Arial" panose="020B0704020202020204"/>
                  <a:sym typeface="Arial" panose="020B0704020202020204"/>
                </a:rPr>
                <a:t> Lenovo Internal. All rights reserved.</a:t>
              </a:r>
              <a:endParaRPr kumimoji="0" sz="90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 cstate="screen"/>
            <a:stretch>
              <a:fillRect/>
            </a:stretch>
          </p:blipFill>
          <p:spPr>
            <a:xfrm>
              <a:off x="156932" y="6508375"/>
              <a:ext cx="1063923" cy="213100"/>
            </a:xfrm>
            <a:prstGeom prst="rect">
              <a:avLst/>
            </a:prstGeom>
          </p:spPr>
        </p:pic>
      </p:grp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13956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  <p:pic>
        <p:nvPicPr>
          <p:cNvPr id="2" name="图片 1" descr="图片包含 徽标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82131" y="-109571"/>
            <a:ext cx="2555914" cy="1437702"/>
          </a:xfrm>
          <a:prstGeom prst="rect">
            <a:avLst/>
          </a:prstGeom>
        </p:spPr>
      </p:pic>
      <p:sp>
        <p:nvSpPr>
          <p:cNvPr id="3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89585" y="317500"/>
            <a:ext cx="9869170" cy="4184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-15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1788"/>
            <a:ext cx="12192000" cy="6856212"/>
          </a:xfrm>
          <a:prstGeom prst="rect">
            <a:avLst/>
          </a:prstGeom>
        </p:spPr>
      </p:pic>
      <p:grpSp>
        <p:nvGrpSpPr>
          <p:cNvPr id="166" name="Group 165"/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8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9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0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1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2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3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26894" y="442057"/>
            <a:ext cx="635919" cy="311003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vmlDrawing" Target="../drawings/vmlDrawing1.vml"/><Relationship Id="rId7" Type="http://schemas.openxmlformats.org/officeDocument/2006/relationships/image" Target="../media/image9.emf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6" imgW="0" imgH="0" progId="TCLayout.ActiveDocument.1">
                  <p:embed/>
                </p:oleObj>
              </mc:Choice>
              <mc:Fallback>
                <p:oleObj name="think-cell 幻灯片" r:id="rId6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704020202020204" pitchFamily="34" charset="0"/>
          <a:ea typeface="+mj-ea"/>
          <a:cs typeface="Arial" panose="020B07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Tx/>
        <a:buFont typeface="Arial" panose="020B0704020202020204" pitchFamily="34" charset="0"/>
        <a:buChar char="•"/>
        <a:defRPr sz="4300" kern="1200">
          <a:solidFill>
            <a:schemeClr val="tx1"/>
          </a:solidFill>
          <a:latin typeface="Arial" panose="020B0704020202020204" pitchFamily="34" charset="0"/>
          <a:ea typeface="+mn-ea"/>
          <a:cs typeface="Arial" panose="020B07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Tx/>
        <a:buFont typeface="Arial" panose="020B0704020202020204" pitchFamily="34" charset="0"/>
        <a:buChar char="–"/>
        <a:defRPr sz="3700" kern="1200">
          <a:solidFill>
            <a:schemeClr val="tx1"/>
          </a:solidFill>
          <a:latin typeface="Arial" panose="020B0704020202020204" pitchFamily="34" charset="0"/>
          <a:ea typeface="+mn-ea"/>
          <a:cs typeface="Arial" panose="020B07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Tx/>
        <a:buFont typeface="Arial" panose="020B0704020202020204" pitchFamily="34" charset="0"/>
        <a:buChar char="-"/>
        <a:defRPr sz="3200" kern="1200">
          <a:solidFill>
            <a:schemeClr val="tx1"/>
          </a:solidFill>
          <a:latin typeface="Arial" panose="020B0704020202020204" pitchFamily="34" charset="0"/>
          <a:ea typeface="+mn-ea"/>
          <a:cs typeface="Arial" panose="020B07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Tx/>
        <a:buFont typeface="Arial" panose="020B0704020202020204" pitchFamily="34" charset="0"/>
        <a:buChar char="-"/>
        <a:defRPr sz="2700" kern="1200">
          <a:solidFill>
            <a:schemeClr val="tx1"/>
          </a:solidFill>
          <a:latin typeface="Arial" panose="020B0704020202020204" pitchFamily="34" charset="0"/>
          <a:ea typeface="+mn-ea"/>
          <a:cs typeface="Arial" panose="020B07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Tx/>
        <a:buFont typeface="Arial" panose="020B0704020202020204" pitchFamily="34" charset="0"/>
        <a:buChar char="-"/>
        <a:defRPr sz="2700" kern="1200">
          <a:solidFill>
            <a:schemeClr val="tx1"/>
          </a:solidFill>
          <a:latin typeface="Arial" panose="020B0704020202020204" pitchFamily="34" charset="0"/>
          <a:ea typeface="+mn-ea"/>
          <a:cs typeface="Arial" panose="020B07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3160667"/>
            <a:ext cx="12192000" cy="1272540"/>
          </a:xfrm>
          <a:prstGeom prst="rect">
            <a:avLst/>
          </a:prstGeom>
        </p:spPr>
        <p:txBody>
          <a:bodyPr lIns="0" tIns="0" rIns="0" bIns="0" anchor="b" anchorCtr="0"/>
          <a:lstStyle>
            <a:lvl1pPr defTabSz="1219200">
              <a:lnSpc>
                <a:spcPts val="5700"/>
              </a:lnSpc>
              <a:spcBef>
                <a:spcPct val="0"/>
              </a:spcBef>
              <a:buNone/>
              <a:defRPr kumimoji="1" lang="en-US" sz="5400" b="1" cap="none" spc="-15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7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阳光电源</a:t>
            </a:r>
            <a:endParaRPr kumimoji="1" lang="en-US" altLang="zh-CN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智慧园区一期项目</a:t>
            </a:r>
            <a:endParaRPr kumimoji="1" lang="en-US" altLang="zh-CN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建设方案述标汇报</a:t>
            </a:r>
            <a:endParaRPr kumimoji="1" lang="zh-CN" altLang="en-US" sz="36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标题 7"/>
          <p:cNvSpPr txBox="1"/>
          <p:nvPr/>
        </p:nvSpPr>
        <p:spPr bwMode="gray">
          <a:xfrm>
            <a:off x="0" y="5388530"/>
            <a:ext cx="12192000" cy="1209578"/>
          </a:xfrm>
          <a:prstGeom prst="rect">
            <a:avLst/>
          </a:prstGeom>
        </p:spPr>
        <p:txBody>
          <a:bodyPr lIns="0" tIns="60949" rIns="121899" bIns="60949" anchor="ctr" anchorCtr="0">
            <a:noAutofit/>
          </a:bodyPr>
          <a:lstStyle>
            <a:defPPr>
              <a:defRPr lang="en-US"/>
            </a:defPPr>
            <a:lvl1pPr marL="0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704020202020204" pitchFamily="34" charset="0"/>
                <a:ea typeface="+mn-ea"/>
                <a:cs typeface="+mn-ea"/>
              </a:defRPr>
            </a:lvl1pPr>
            <a:lvl2pPr marL="609600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704020202020204" pitchFamily="34" charset="0"/>
                <a:ea typeface="+mn-ea"/>
                <a:cs typeface="+mn-ea"/>
              </a:defRPr>
            </a:lvl2pPr>
            <a:lvl3pPr marL="1219200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704020202020204" pitchFamily="34" charset="0"/>
                <a:ea typeface="+mn-ea"/>
                <a:cs typeface="+mn-ea"/>
              </a:defRPr>
            </a:lvl3pPr>
            <a:lvl4pPr marL="18281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704020202020204" pitchFamily="34" charset="0"/>
                <a:ea typeface="+mn-ea"/>
                <a:cs typeface="+mn-ea"/>
              </a:defRPr>
            </a:lvl4pPr>
            <a:lvl5pPr marL="24377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704020202020204" pitchFamily="34" charset="0"/>
                <a:ea typeface="+mn-ea"/>
                <a:cs typeface="+mn-ea"/>
              </a:defRPr>
            </a:lvl5pPr>
            <a:lvl6pPr marL="30473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704020202020204" pitchFamily="34" charset="0"/>
                <a:ea typeface="+mn-ea"/>
                <a:cs typeface="+mn-ea"/>
              </a:defRPr>
            </a:lvl6pPr>
            <a:lvl7pPr marL="36569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704020202020204" pitchFamily="34" charset="0"/>
                <a:ea typeface="+mn-ea"/>
                <a:cs typeface="+mn-ea"/>
              </a:defRPr>
            </a:lvl7pPr>
            <a:lvl8pPr marL="42665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704020202020204" pitchFamily="34" charset="0"/>
                <a:ea typeface="+mn-ea"/>
                <a:cs typeface="+mn-ea"/>
              </a:defRPr>
            </a:lvl8pPr>
            <a:lvl9pPr marL="48761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704020202020204" pitchFamily="34" charset="0"/>
                <a:ea typeface="+mn-ea"/>
                <a:cs typeface="+mn-ea"/>
              </a:defRPr>
            </a:lvl9pPr>
          </a:lstStyle>
          <a:p>
            <a:pPr marL="0" marR="0" lvl="0" indent="0" algn="ctr" defTabSz="12185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联想集团 项目组</a:t>
            </a:r>
            <a:endParaRPr kumimoji="1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152400" dist="76200" dir="2700000" algn="tl">
                  <a:srgbClr val="002060">
                    <a:alpha val="67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defTabSz="12185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kumimoji="1" lang="en-US" altLang="zh-CN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r>
              <a:rPr kumimoji="1" lang="en-US" altLang="zh-CN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</a:t>
            </a:r>
            <a:endParaRPr kumimoji="1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152400" dist="76200" dir="2700000" algn="tl">
                  <a:srgbClr val="002060">
                    <a:alpha val="67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376555" y="2472690"/>
            <a:ext cx="2636520" cy="1912620"/>
            <a:chOff x="593" y="3894"/>
            <a:chExt cx="4152" cy="3012"/>
          </a:xfrm>
        </p:grpSpPr>
        <p:sp>
          <p:nvSpPr>
            <p:cNvPr id="6" name="NY19-1"/>
            <p:cNvSpPr txBox="1"/>
            <p:nvPr/>
          </p:nvSpPr>
          <p:spPr>
            <a:xfrm>
              <a:off x="593" y="4309"/>
              <a:ext cx="4153" cy="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914400">
                <a:defRPr/>
              </a:pPr>
              <a:r>
                <a:rPr lang="zh-CN" altLang="en-US" sz="60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目录</a:t>
              </a:r>
              <a:endParaRPr lang="en-US" altLang="zh-CN" sz="60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  <a:p>
              <a:pPr algn="dist" defTabSz="914400">
                <a:defRPr/>
              </a:pPr>
              <a:r>
                <a:rPr lang="en-US" altLang="zh-CN" sz="24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CONTENTS</a:t>
              </a:r>
              <a:endParaRPr lang="zh-CN" altLang="en-US" sz="24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8" name="NY-1"/>
            <p:cNvCxnSpPr/>
            <p:nvPr>
              <p:custDataLst>
                <p:tags r:id="rId2"/>
              </p:custDataLst>
            </p:nvPr>
          </p:nvCxnSpPr>
          <p:spPr>
            <a:xfrm>
              <a:off x="618" y="3894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  <p:cxnSp>
          <p:nvCxnSpPr>
            <p:cNvPr id="9" name="NY-2"/>
            <p:cNvCxnSpPr/>
            <p:nvPr>
              <p:custDataLst>
                <p:tags r:id="rId3"/>
              </p:custDataLst>
            </p:nvPr>
          </p:nvCxnSpPr>
          <p:spPr>
            <a:xfrm>
              <a:off x="618" y="6906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</p:grpSp>
      <p:grpSp>
        <p:nvGrpSpPr>
          <p:cNvPr id="10" name="组合 9"/>
          <p:cNvGrpSpPr/>
          <p:nvPr/>
        </p:nvGrpSpPr>
        <p:grpSpPr>
          <a:xfrm>
            <a:off x="3623945" y="1803400"/>
            <a:ext cx="6550660" cy="3252470"/>
            <a:chOff x="5891" y="2888"/>
            <a:chExt cx="10316" cy="5122"/>
          </a:xfrm>
        </p:grpSpPr>
        <p:sp>
          <p:nvSpPr>
            <p:cNvPr id="20" name="文本框 19"/>
            <p:cNvSpPr txBox="1"/>
            <p:nvPr>
              <p:custDataLst>
                <p:tags r:id="rId4"/>
              </p:custDataLst>
            </p:nvPr>
          </p:nvSpPr>
          <p:spPr>
            <a:xfrm>
              <a:off x="5891" y="2888"/>
              <a:ext cx="8398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i="0" u="none" strike="noStrike" cap="none" spc="-15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01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联想</a:t>
              </a: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制造智慧园案例解析（朱尤栋）</a:t>
              </a:r>
              <a:endParaRPr lang="zh-CN" altLang="en-US" sz="2400" dirty="0">
                <a:solidFill>
                  <a:schemeClr val="bg1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5891" y="4023"/>
              <a:ext cx="10316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02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阳光智慧园区建设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方案总体架构（</a:t>
              </a:r>
              <a:r>
                <a:rPr lang="en-US" altLang="zh-CN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DW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）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5891" y="515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03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系统演示（伍玉斌 田磊）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892" y="7428"/>
              <a:ext cx="7335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05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差异化服务优势（朱尤栋 田磊）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5893" y="629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04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实施方案（伍玉斌）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5524" y="2084123"/>
            <a:ext cx="5868978" cy="33055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74290" y="1238864"/>
            <a:ext cx="49728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Arial" panose="020B0704020202020204" pitchFamily="34" charset="0"/>
                <a:cs typeface="Arial" panose="020B0704020202020204" pitchFamily="34" charset="0"/>
              </a:rPr>
              <a:t>济南黄金广场（办公园区）</a:t>
            </a:r>
            <a:endParaRPr lang="en-US" altLang="zh-CN" dirty="0">
              <a:latin typeface="Arial" panose="020B0704020202020204" pitchFamily="34" charset="0"/>
              <a:cs typeface="Arial" panose="020B0704020202020204" pitchFamily="34" charset="0"/>
            </a:endParaRPr>
          </a:p>
          <a:p>
            <a:r>
              <a:rPr lang="zh-CN" altLang="en-US" dirty="0">
                <a:latin typeface="Arial" panose="020B0704020202020204" pitchFamily="34" charset="0"/>
                <a:cs typeface="Arial" panose="020B0704020202020204" pitchFamily="34" charset="0"/>
              </a:rPr>
              <a:t>联想武汉基地（制造园区）改造升级经验</a:t>
            </a:r>
            <a:endParaRPr lang="en-US" altLang="zh-CN" sz="1800" dirty="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zh-CN" altLang="en-US" sz="1800" dirty="0">
                <a:latin typeface="Arial" panose="020B0704020202020204" pitchFamily="34" charset="0"/>
                <a:cs typeface="Arial" panose="020B0704020202020204" pitchFamily="34" charset="0"/>
              </a:rPr>
              <a:t>联想南方基地（制造园区）整合型母本工厂</a:t>
            </a:r>
            <a:endParaRPr lang="en-US" altLang="zh-CN" sz="1800" dirty="0">
              <a:latin typeface="Arial" panose="020B0704020202020204" pitchFamily="34" charset="0"/>
              <a:cs typeface="Arial" panose="020B0704020202020204" pitchFamily="34" charset="0"/>
            </a:endParaRPr>
          </a:p>
          <a:p>
            <a:r>
              <a:rPr lang="zh-CN" altLang="en-US" dirty="0">
                <a:latin typeface="Arial" panose="020B0704020202020204" pitchFamily="34" charset="0"/>
                <a:cs typeface="Arial" panose="020B0704020202020204" pitchFamily="34" charset="0"/>
              </a:rPr>
              <a:t>联想天津基地（制造园区）绿色低碳工业小镇</a:t>
            </a:r>
            <a:endParaRPr lang="en-US" altLang="zh-CN" dirty="0">
              <a:latin typeface="Arial" panose="020B0704020202020204" pitchFamily="34" charset="0"/>
              <a:cs typeface="Arial" panose="020B0704020202020204" pitchFamily="34" charset="0"/>
            </a:endParaRPr>
          </a:p>
          <a:p>
            <a:r>
              <a:rPr lang="zh-CN" altLang="en-US" dirty="0">
                <a:latin typeface="Arial" panose="020B0704020202020204" pitchFamily="34" charset="0"/>
                <a:cs typeface="Arial" panose="020B0704020202020204" pitchFamily="34" charset="0"/>
              </a:rPr>
              <a:t>武汉联特（制造园区）</a:t>
            </a:r>
            <a:endParaRPr lang="en-US" altLang="zh-CN" dirty="0">
              <a:latin typeface="Arial" panose="020B0704020202020204" pitchFamily="34" charset="0"/>
              <a:cs typeface="Arial" panose="020B0704020202020204" pitchFamily="34" charset="0"/>
            </a:endParaRPr>
          </a:p>
          <a:p>
            <a:r>
              <a:rPr lang="zh-CN" altLang="en-US" dirty="0">
                <a:latin typeface="Arial" panose="020B0704020202020204" pitchFamily="34" charset="0"/>
                <a:cs typeface="Arial" panose="020B0704020202020204" pitchFamily="34" charset="0"/>
              </a:rPr>
              <a:t>联想墨西哥工厂（制造园区）全球灯塔工厂</a:t>
            </a:r>
            <a:endParaRPr lang="en-US" altLang="zh-CN" sz="1800" dirty="0"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algn="l"/>
            <a:r>
              <a:rPr lang="zh-CN" altLang="en-US" sz="1800" dirty="0">
                <a:latin typeface="Arial" panose="020B0704020202020204" pitchFamily="34" charset="0"/>
                <a:cs typeface="Arial" panose="020B0704020202020204" pitchFamily="34" charset="0"/>
              </a:rPr>
              <a:t>浙江能源集团白马湖实验室园区（研发园区）</a:t>
            </a:r>
            <a:endParaRPr lang="zh-CN" altLang="en-US" sz="1800" dirty="0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总体架构</a:t>
            </a:r>
            <a:endParaRPr lang="zh-CN" altLang="en-US" dirty="0"/>
          </a:p>
        </p:txBody>
      </p:sp>
      <p:sp>
        <p:nvSpPr>
          <p:cNvPr id="4" name="AutoShape 8"/>
          <p:cNvSpPr/>
          <p:nvPr/>
        </p:nvSpPr>
        <p:spPr>
          <a:xfrm>
            <a:off x="624114" y="1248229"/>
            <a:ext cx="10668000" cy="304800"/>
          </a:xfrm>
          <a:prstGeom prst="roundRect">
            <a:avLst>
              <a:gd name="adj" fmla="val 16666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9"/>
          <p:cNvSpPr/>
          <p:nvPr/>
        </p:nvSpPr>
        <p:spPr>
          <a:xfrm>
            <a:off x="827314" y="1273629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展示层 · 多端接入</a:t>
            </a:r>
            <a:endParaRPr lang="en-US" sz="1100"/>
          </a:p>
        </p:txBody>
      </p:sp>
      <p:sp>
        <p:nvSpPr>
          <p:cNvPr id="6" name="AutoShape 10"/>
          <p:cNvSpPr/>
          <p:nvPr/>
        </p:nvSpPr>
        <p:spPr>
          <a:xfrm>
            <a:off x="624114" y="1553029"/>
            <a:ext cx="10668000" cy="533400"/>
          </a:xfrm>
          <a:prstGeom prst="roundRect">
            <a:avLst>
              <a:gd name="adj" fmla="val 0"/>
            </a:avLst>
          </a:prstGeom>
          <a:solidFill>
            <a:srgbClr val="FBF0F0">
              <a:alpha val="100000"/>
            </a:srgbClr>
          </a:solidFill>
          <a:ln w="12700" cap="flat" cmpd="sng">
            <a:solidFill>
              <a:srgbClr val="C9302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11"/>
          <p:cNvSpPr/>
          <p:nvPr/>
        </p:nvSpPr>
        <p:spPr>
          <a:xfrm>
            <a:off x="8273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12"/>
          <p:cNvSpPr/>
          <p:nvPr/>
        </p:nvSpPr>
        <p:spPr>
          <a:xfrm>
            <a:off x="8781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PC 浏览器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B/S 免装</a:t>
            </a:r>
            <a:endParaRPr lang="en-US" sz="1100"/>
          </a:p>
        </p:txBody>
      </p:sp>
      <p:sp>
        <p:nvSpPr>
          <p:cNvPr id="9" name="AutoShape 13"/>
          <p:cNvSpPr/>
          <p:nvPr/>
        </p:nvSpPr>
        <p:spPr>
          <a:xfrm>
            <a:off x="28974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4"/>
          <p:cNvSpPr/>
          <p:nvPr/>
        </p:nvSpPr>
        <p:spPr>
          <a:xfrm>
            <a:off x="29482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APP / 小程序</a:t>
            </a:r>
            <a:endParaRPr lang="en-US" sz="1100"/>
          </a:p>
        </p:txBody>
      </p:sp>
      <p:sp>
        <p:nvSpPr>
          <p:cNvPr id="11" name="AutoShape 15"/>
          <p:cNvSpPr/>
          <p:nvPr/>
        </p:nvSpPr>
        <p:spPr>
          <a:xfrm>
            <a:off x="49675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6"/>
          <p:cNvSpPr/>
          <p:nvPr/>
        </p:nvSpPr>
        <p:spPr>
          <a:xfrm>
            <a:off x="50183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PDA / PAD / 穿戴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现场扫码作业</a:t>
            </a:r>
            <a:endParaRPr lang="en-US" sz="1100"/>
          </a:p>
        </p:txBody>
      </p:sp>
      <p:sp>
        <p:nvSpPr>
          <p:cNvPr id="13" name="AutoShape 17"/>
          <p:cNvSpPr/>
          <p:nvPr/>
        </p:nvSpPr>
        <p:spPr>
          <a:xfrm>
            <a:off x="70376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8"/>
          <p:cNvSpPr/>
          <p:nvPr/>
        </p:nvSpPr>
        <p:spPr>
          <a:xfrm>
            <a:off x="70884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大屏 / 驾驶舱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园区·集团级看板</a:t>
            </a:r>
            <a:endParaRPr lang="en-US" sz="1100"/>
          </a:p>
        </p:txBody>
      </p:sp>
      <p:sp>
        <p:nvSpPr>
          <p:cNvPr id="15" name="AutoShape 19"/>
          <p:cNvSpPr/>
          <p:nvPr/>
        </p:nvSpPr>
        <p:spPr>
          <a:xfrm>
            <a:off x="9107714" y="1629229"/>
            <a:ext cx="1968500" cy="4064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20"/>
          <p:cNvSpPr/>
          <p:nvPr/>
        </p:nvSpPr>
        <p:spPr>
          <a:xfrm>
            <a:off x="9158514" y="1667329"/>
            <a:ext cx="18669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iSungrow / 钉钉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消息推送·待办</a:t>
            </a:r>
            <a:endParaRPr lang="en-US" sz="1100"/>
          </a:p>
        </p:txBody>
      </p:sp>
      <p:cxnSp>
        <p:nvCxnSpPr>
          <p:cNvPr id="17" name="Connector 21"/>
          <p:cNvCxnSpPr/>
          <p:nvPr/>
        </p:nvCxnSpPr>
        <p:spPr>
          <a:xfrm rot="5243846">
            <a:off x="5818414" y="2270723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8" name="AutoShape 22"/>
          <p:cNvSpPr/>
          <p:nvPr/>
        </p:nvSpPr>
        <p:spPr>
          <a:xfrm>
            <a:off x="6212114" y="2162629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 API / 网关</a:t>
            </a:r>
            <a:endParaRPr lang="en-US" sz="1100"/>
          </a:p>
        </p:txBody>
      </p:sp>
      <p:sp>
        <p:nvSpPr>
          <p:cNvPr id="19" name="AutoShape 23"/>
          <p:cNvSpPr/>
          <p:nvPr/>
        </p:nvSpPr>
        <p:spPr>
          <a:xfrm>
            <a:off x="624114" y="2467429"/>
            <a:ext cx="10668000" cy="304800"/>
          </a:xfrm>
          <a:prstGeom prst="roundRect">
            <a:avLst>
              <a:gd name="adj" fmla="val 16666"/>
            </a:avLst>
          </a:prstGeom>
          <a:solidFill>
            <a:srgbClr val="7A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4"/>
          <p:cNvSpPr/>
          <p:nvPr/>
        </p:nvSpPr>
        <p:spPr>
          <a:xfrm>
            <a:off x="827314" y="2492829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业务应用层 · 五大业务域（远近耦合）</a:t>
            </a:r>
            <a:endParaRPr lang="en-US" sz="1100"/>
          </a:p>
        </p:txBody>
      </p:sp>
      <p:sp>
        <p:nvSpPr>
          <p:cNvPr id="21" name="AutoShape 25"/>
          <p:cNvSpPr/>
          <p:nvPr/>
        </p:nvSpPr>
        <p:spPr>
          <a:xfrm>
            <a:off x="624114" y="2772229"/>
            <a:ext cx="10668000" cy="660400"/>
          </a:xfrm>
          <a:prstGeom prst="roundRect">
            <a:avLst>
              <a:gd name="adj" fmla="val 0"/>
            </a:avLst>
          </a:prstGeom>
          <a:solidFill>
            <a:srgbClr val="F7E6E6">
              <a:alpha val="100000"/>
            </a:srgbClr>
          </a:solidFill>
          <a:ln w="12700" cap="flat" cmpd="sng">
            <a:solidFill>
              <a:srgbClr val="7A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6"/>
          <p:cNvSpPr/>
          <p:nvPr/>
        </p:nvSpPr>
        <p:spPr>
          <a:xfrm>
            <a:off x="8273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7"/>
          <p:cNvSpPr/>
          <p:nvPr/>
        </p:nvSpPr>
        <p:spPr>
          <a:xfrm>
            <a:off x="8781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智慧安防</a:t>
            </a:r>
            <a:b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深融合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AI+视频+告警</a:t>
            </a:r>
            <a:endParaRPr lang="en-US" sz="1100"/>
          </a:p>
        </p:txBody>
      </p:sp>
      <p:sp>
        <p:nvSpPr>
          <p:cNvPr id="24" name="AutoShape 28"/>
          <p:cNvSpPr/>
          <p:nvPr/>
        </p:nvSpPr>
        <p:spPr>
          <a:xfrm>
            <a:off x="28974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9"/>
          <p:cNvSpPr/>
          <p:nvPr/>
        </p:nvSpPr>
        <p:spPr>
          <a:xfrm>
            <a:off x="29482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2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智慧消防</a:t>
            </a:r>
            <a:b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 err="1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深融合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物联+安消一体</a:t>
            </a:r>
            <a:endParaRPr lang="en-US" sz="1100" dirty="0"/>
          </a:p>
        </p:txBody>
      </p:sp>
      <p:sp>
        <p:nvSpPr>
          <p:cNvPr id="26" name="AutoShape 30"/>
          <p:cNvSpPr/>
          <p:nvPr/>
        </p:nvSpPr>
        <p:spPr>
          <a:xfrm>
            <a:off x="49675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31"/>
          <p:cNvSpPr/>
          <p:nvPr/>
        </p:nvSpPr>
        <p:spPr>
          <a:xfrm>
            <a:off x="50183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2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宿舍管理</a:t>
            </a:r>
            <a:b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 err="1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深融合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主数据+门禁+工单</a:t>
            </a:r>
            <a:endParaRPr lang="en-US" sz="1100" dirty="0"/>
          </a:p>
        </p:txBody>
      </p:sp>
      <p:sp>
        <p:nvSpPr>
          <p:cNvPr id="28" name="AutoShape 32"/>
          <p:cNvSpPr/>
          <p:nvPr/>
        </p:nvSpPr>
        <p:spPr>
          <a:xfrm>
            <a:off x="70376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33"/>
          <p:cNvSpPr/>
          <p:nvPr/>
        </p:nvSpPr>
        <p:spPr>
          <a:xfrm>
            <a:off x="70884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外协管理</a:t>
            </a:r>
            <a:b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中耦合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人员+流程+EHS</a:t>
            </a:r>
            <a:endParaRPr lang="en-US" sz="1100"/>
          </a:p>
        </p:txBody>
      </p:sp>
      <p:sp>
        <p:nvSpPr>
          <p:cNvPr id="30" name="AutoShape 34"/>
          <p:cNvSpPr/>
          <p:nvPr/>
        </p:nvSpPr>
        <p:spPr>
          <a:xfrm>
            <a:off x="9107714" y="2848429"/>
            <a:ext cx="1968500" cy="5588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A63A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5"/>
          <p:cNvSpPr/>
          <p:nvPr/>
        </p:nvSpPr>
        <p:spPr>
          <a:xfrm>
            <a:off x="9158514" y="2899229"/>
            <a:ext cx="18669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智慧物流</a:t>
            </a:r>
            <a:b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2A63AA"/>
                </a:solidFill>
                <a:latin typeface="Noto Sans SC"/>
                <a:ea typeface="Noto Sans SC"/>
                <a:cs typeface="Noto Sans SC"/>
                <a:sym typeface="Noto Sans SC"/>
              </a:rPr>
              <a:t>轻挂载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独立域+标准接口</a:t>
            </a:r>
            <a:endParaRPr lang="en-US" sz="1100"/>
          </a:p>
        </p:txBody>
      </p:sp>
      <p:cxnSp>
        <p:nvCxnSpPr>
          <p:cNvPr id="32" name="Connector 36"/>
          <p:cNvCxnSpPr/>
          <p:nvPr/>
        </p:nvCxnSpPr>
        <p:spPr>
          <a:xfrm rot="5243846">
            <a:off x="5818414" y="3616923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" name="AutoShape 37"/>
          <p:cNvSpPr/>
          <p:nvPr/>
        </p:nvSpPr>
        <p:spPr>
          <a:xfrm>
            <a:off x="6212114" y="3508829"/>
            <a:ext cx="279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服务注册 / 统一路由</a:t>
            </a:r>
            <a:endParaRPr lang="en-US" sz="1100"/>
          </a:p>
        </p:txBody>
      </p:sp>
      <p:sp>
        <p:nvSpPr>
          <p:cNvPr id="34" name="AutoShape 38"/>
          <p:cNvSpPr/>
          <p:nvPr/>
        </p:nvSpPr>
        <p:spPr>
          <a:xfrm>
            <a:off x="624114" y="3813629"/>
            <a:ext cx="10668000" cy="304800"/>
          </a:xfrm>
          <a:prstGeom prst="roundRect">
            <a:avLst>
              <a:gd name="adj" fmla="val 16666"/>
            </a:avLst>
          </a:prstGeom>
          <a:solidFill>
            <a:srgbClr val="3D42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9"/>
          <p:cNvSpPr/>
          <p:nvPr/>
        </p:nvSpPr>
        <p:spPr>
          <a:xfrm>
            <a:off x="827314" y="3839029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平台服务底座 · 横向共性能力（所有域共享）</a:t>
            </a:r>
            <a:endParaRPr lang="en-US" sz="1100"/>
          </a:p>
        </p:txBody>
      </p:sp>
      <p:sp>
        <p:nvSpPr>
          <p:cNvPr id="36" name="AutoShape 40"/>
          <p:cNvSpPr/>
          <p:nvPr/>
        </p:nvSpPr>
        <p:spPr>
          <a:xfrm>
            <a:off x="624114" y="4118429"/>
            <a:ext cx="10668000" cy="990600"/>
          </a:xfrm>
          <a:prstGeom prst="roundRect">
            <a:avLst>
              <a:gd name="adj" fmla="val 0"/>
            </a:avLst>
          </a:prstGeom>
          <a:solidFill>
            <a:srgbClr val="F2F3F4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41"/>
          <p:cNvSpPr/>
          <p:nvPr/>
        </p:nvSpPr>
        <p:spPr>
          <a:xfrm>
            <a:off x="827314" y="41946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42"/>
          <p:cNvSpPr/>
          <p:nvPr/>
        </p:nvSpPr>
        <p:spPr>
          <a:xfrm>
            <a:off x="878114" y="42200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物联网平台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物模型·协议适配</a:t>
            </a:r>
            <a:endParaRPr lang="en-US" sz="1100"/>
          </a:p>
        </p:txBody>
      </p:sp>
      <p:sp>
        <p:nvSpPr>
          <p:cNvPr id="39" name="AutoShape 43"/>
          <p:cNvSpPr/>
          <p:nvPr/>
        </p:nvSpPr>
        <p:spPr>
          <a:xfrm>
            <a:off x="4230914" y="41946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4"/>
          <p:cNvSpPr/>
          <p:nvPr/>
        </p:nvSpPr>
        <p:spPr>
          <a:xfrm>
            <a:off x="4281714" y="42200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数据集成平台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ESB·接口治理</a:t>
            </a:r>
            <a:endParaRPr lang="en-US" sz="1100" dirty="0"/>
          </a:p>
        </p:txBody>
      </p:sp>
      <p:sp>
        <p:nvSpPr>
          <p:cNvPr id="41" name="AutoShape 45"/>
          <p:cNvSpPr/>
          <p:nvPr/>
        </p:nvSpPr>
        <p:spPr>
          <a:xfrm>
            <a:off x="7634514" y="41946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6"/>
          <p:cNvSpPr/>
          <p:nvPr/>
        </p:nvSpPr>
        <p:spPr>
          <a:xfrm>
            <a:off x="7685314" y="42200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园区工单池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</a:t>
            </a:r>
            <a:r>
              <a:rPr lang="zh-CN" alt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工单管理</a:t>
            </a:r>
            <a:endParaRPr lang="en-US" sz="1100" dirty="0"/>
          </a:p>
        </p:txBody>
      </p:sp>
      <p:sp>
        <p:nvSpPr>
          <p:cNvPr id="43" name="AutoShape 47"/>
          <p:cNvSpPr/>
          <p:nvPr/>
        </p:nvSpPr>
        <p:spPr>
          <a:xfrm>
            <a:off x="827314" y="45248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8"/>
          <p:cNvSpPr/>
          <p:nvPr/>
        </p:nvSpPr>
        <p:spPr>
          <a:xfrm>
            <a:off x="878114" y="45502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视频 &amp; 流媒体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GB28181·NVR</a:t>
            </a:r>
            <a:endParaRPr lang="en-US" sz="1100"/>
          </a:p>
        </p:txBody>
      </p:sp>
      <p:sp>
        <p:nvSpPr>
          <p:cNvPr id="45" name="AutoShape 49"/>
          <p:cNvSpPr/>
          <p:nvPr/>
        </p:nvSpPr>
        <p:spPr>
          <a:xfrm>
            <a:off x="4230914" y="45248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50"/>
          <p:cNvSpPr/>
          <p:nvPr/>
        </p:nvSpPr>
        <p:spPr>
          <a:xfrm>
            <a:off x="4281714" y="45502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算法仓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算法编排调度</a:t>
            </a:r>
            <a:endParaRPr lang="en-US" sz="1100" dirty="0"/>
          </a:p>
        </p:txBody>
      </p:sp>
      <p:sp>
        <p:nvSpPr>
          <p:cNvPr id="47" name="AutoShape 51"/>
          <p:cNvSpPr/>
          <p:nvPr/>
        </p:nvSpPr>
        <p:spPr>
          <a:xfrm>
            <a:off x="7634514" y="45248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52"/>
          <p:cNvSpPr/>
          <p:nvPr/>
        </p:nvSpPr>
        <p:spPr>
          <a:xfrm>
            <a:off x="7685314" y="45502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流程引擎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BPM</a:t>
            </a:r>
            <a:endParaRPr lang="en-US" sz="1100" dirty="0"/>
          </a:p>
        </p:txBody>
      </p:sp>
      <p:sp>
        <p:nvSpPr>
          <p:cNvPr id="49" name="AutoShape 53"/>
          <p:cNvSpPr/>
          <p:nvPr/>
        </p:nvSpPr>
        <p:spPr>
          <a:xfrm>
            <a:off x="827314" y="48550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4"/>
          <p:cNvSpPr/>
          <p:nvPr/>
        </p:nvSpPr>
        <p:spPr>
          <a:xfrm>
            <a:off x="878114" y="48804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报表</a:t>
            </a:r>
            <a:r>
              <a:rPr lang="zh-CN" alt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r>
              <a:rPr 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看板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定制报表</a:t>
            </a:r>
            <a:endParaRPr lang="en-US" sz="1100" dirty="0"/>
          </a:p>
        </p:txBody>
      </p:sp>
      <p:sp>
        <p:nvSpPr>
          <p:cNvPr id="51" name="AutoShape 55"/>
          <p:cNvSpPr/>
          <p:nvPr/>
        </p:nvSpPr>
        <p:spPr>
          <a:xfrm>
            <a:off x="4230914" y="48550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2" name="AutoShape 56"/>
          <p:cNvSpPr/>
          <p:nvPr/>
        </p:nvSpPr>
        <p:spPr>
          <a:xfrm>
            <a:off x="4281714" y="48804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统一权限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RBAC·SSO</a:t>
            </a:r>
            <a:endParaRPr lang="en-US" sz="1100"/>
          </a:p>
        </p:txBody>
      </p:sp>
      <p:sp>
        <p:nvSpPr>
          <p:cNvPr id="53" name="AutoShape 57"/>
          <p:cNvSpPr/>
          <p:nvPr/>
        </p:nvSpPr>
        <p:spPr>
          <a:xfrm>
            <a:off x="7634514" y="48550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58"/>
          <p:cNvSpPr/>
          <p:nvPr/>
        </p:nvSpPr>
        <p:spPr>
          <a:xfrm>
            <a:off x="7685314" y="48804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消息推送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钉钉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短信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邮件</a:t>
            </a:r>
            <a:endParaRPr lang="en-US" sz="1100" dirty="0"/>
          </a:p>
        </p:txBody>
      </p:sp>
      <p:cxnSp>
        <p:nvCxnSpPr>
          <p:cNvPr id="55" name="Connector 59"/>
          <p:cNvCxnSpPr/>
          <p:nvPr/>
        </p:nvCxnSpPr>
        <p:spPr>
          <a:xfrm rot="5243846">
            <a:off x="5818414" y="5293323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6" name="AutoShape 60"/>
          <p:cNvSpPr/>
          <p:nvPr/>
        </p:nvSpPr>
        <p:spPr>
          <a:xfrm>
            <a:off x="6212114" y="5185229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数据总线</a:t>
            </a:r>
            <a:endParaRPr lang="en-US" sz="1100"/>
          </a:p>
        </p:txBody>
      </p:sp>
      <p:sp>
        <p:nvSpPr>
          <p:cNvPr id="57" name="AutoShape 61"/>
          <p:cNvSpPr/>
          <p:nvPr/>
        </p:nvSpPr>
        <p:spPr>
          <a:xfrm>
            <a:off x="624114" y="5490029"/>
            <a:ext cx="10668000" cy="304800"/>
          </a:xfrm>
          <a:prstGeom prst="roundRect">
            <a:avLst>
              <a:gd name="adj" fmla="val 16666"/>
            </a:avLst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AutoShape 62"/>
          <p:cNvSpPr/>
          <p:nvPr/>
        </p:nvSpPr>
        <p:spPr>
          <a:xfrm>
            <a:off x="827314" y="5515429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集成与数据层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ESB </a:t>
            </a: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统一集成（纵向贯穿</a:t>
            </a:r>
            <a:r>
              <a:rPr lang="en-US" sz="13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59" name="AutoShape 63"/>
          <p:cNvSpPr/>
          <p:nvPr/>
        </p:nvSpPr>
        <p:spPr>
          <a:xfrm>
            <a:off x="624114" y="5794829"/>
            <a:ext cx="10668000" cy="381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6B728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0" name="AutoShape 64"/>
          <p:cNvSpPr/>
          <p:nvPr/>
        </p:nvSpPr>
        <p:spPr>
          <a:xfrm>
            <a:off x="827314" y="5845629"/>
            <a:ext cx="10261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iSungrow</a:t>
            </a:r>
            <a:r>
              <a:rPr lang="en-US" sz="1100" b="0" i="0" u="none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· BPM · MDM · EHS · ERP · WMS · TMS · EAM · EMS · </a:t>
            </a: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数据湖</a:t>
            </a:r>
            <a:r>
              <a:rPr lang="en-US" sz="1100" b="0" i="0" u="none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费控</a:t>
            </a:r>
            <a:r>
              <a:rPr lang="en-US" sz="1100" b="0" i="0" u="none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第三方平台</a:t>
            </a:r>
            <a:r>
              <a:rPr lang="en-US" sz="1100" b="0" i="0" u="none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100" b="0" i="0" u="none" strike="noStrike" dirty="0" err="1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统一认证</a:t>
            </a:r>
            <a:endParaRPr lang="en-US" sz="1100" dirty="0"/>
          </a:p>
        </p:txBody>
      </p:sp>
      <p:sp>
        <p:nvSpPr>
          <p:cNvPr id="62" name="AutoShape 45"/>
          <p:cNvSpPr/>
          <p:nvPr/>
        </p:nvSpPr>
        <p:spPr>
          <a:xfrm>
            <a:off x="7990114" y="6480629"/>
            <a:ext cx="3302000" cy="254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D424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4" name="AutoShape 46"/>
          <p:cNvSpPr/>
          <p:nvPr/>
        </p:nvSpPr>
        <p:spPr>
          <a:xfrm>
            <a:off x="8040914" y="6506029"/>
            <a:ext cx="320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05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可视化编排</a:t>
            </a:r>
            <a:endParaRPr lang="en-US" sz="1100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应用架构</a:t>
            </a:r>
            <a:endParaRPr lang="zh-CN" altLang="en-US" dirty="0"/>
          </a:p>
        </p:txBody>
      </p:sp>
      <p:cxnSp>
        <p:nvCxnSpPr>
          <p:cNvPr id="4" name="Connector 6"/>
          <p:cNvCxnSpPr/>
          <p:nvPr/>
        </p:nvCxnSpPr>
        <p:spPr>
          <a:xfrm rot="-4092">
            <a:off x="762004" y="1111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7"/>
          <p:cNvSpPr/>
          <p:nvPr/>
        </p:nvSpPr>
        <p:spPr>
          <a:xfrm>
            <a:off x="762000" y="6350000"/>
            <a:ext cx="609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阳光电源智慧园区平台 · 扩展性强化技术方案</a:t>
            </a:r>
            <a:endParaRPr lang="en-US" sz="1100"/>
          </a:p>
        </p:txBody>
      </p:sp>
      <p:pic>
        <p:nvPicPr>
          <p:cNvPr id="6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270000"/>
            <a:ext cx="279400" cy="279400"/>
          </a:xfrm>
          <a:prstGeom prst="rect">
            <a:avLst/>
          </a:prstGeom>
        </p:spPr>
      </p:pic>
      <p:sp>
        <p:nvSpPr>
          <p:cNvPr id="7" name="AutoShape 9"/>
          <p:cNvSpPr/>
          <p:nvPr/>
        </p:nvSpPr>
        <p:spPr>
          <a:xfrm>
            <a:off x="1117600" y="12573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设计原则</a:t>
            </a:r>
            <a:endParaRPr lang="en-US" sz="1100"/>
          </a:p>
        </p:txBody>
      </p:sp>
      <p:sp>
        <p:nvSpPr>
          <p:cNvPr id="8" name="AutoShape 10"/>
          <p:cNvSpPr/>
          <p:nvPr/>
        </p:nvSpPr>
        <p:spPr>
          <a:xfrm>
            <a:off x="762000" y="16764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lang="en-US" sz="1100"/>
          </a:p>
        </p:txBody>
      </p:sp>
      <p:sp>
        <p:nvSpPr>
          <p:cNvPr id="9" name="AutoShape 11"/>
          <p:cNvSpPr/>
          <p:nvPr/>
        </p:nvSpPr>
        <p:spPr>
          <a:xfrm>
            <a:off x="1244600" y="1676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按业务域拆分独立服务</a:t>
            </a:r>
            <a:endParaRPr lang="en-US" sz="1100"/>
          </a:p>
        </p:txBody>
      </p:sp>
      <p:sp>
        <p:nvSpPr>
          <p:cNvPr id="10" name="AutoShape 12"/>
          <p:cNvSpPr/>
          <p:nvPr/>
        </p:nvSpPr>
        <p:spPr>
          <a:xfrm>
            <a:off x="1244600" y="1955800"/>
            <a:ext cx="5105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安防·消防·宿舍·外协·物流各自为独立应用服务（Domain Service）</a:t>
            </a:r>
            <a:endParaRPr lang="en-US" sz="1100"/>
          </a:p>
        </p:txBody>
      </p:sp>
      <p:cxnSp>
        <p:nvCxnSpPr>
          <p:cNvPr id="11" name="Connector 13"/>
          <p:cNvCxnSpPr/>
          <p:nvPr/>
        </p:nvCxnSpPr>
        <p:spPr>
          <a:xfrm rot="-7813">
            <a:off x="762007" y="24828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4"/>
          <p:cNvSpPr/>
          <p:nvPr/>
        </p:nvSpPr>
        <p:spPr>
          <a:xfrm>
            <a:off x="762000" y="25908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/>
          </a:p>
        </p:txBody>
      </p:sp>
      <p:sp>
        <p:nvSpPr>
          <p:cNvPr id="13" name="AutoShape 15"/>
          <p:cNvSpPr/>
          <p:nvPr/>
        </p:nvSpPr>
        <p:spPr>
          <a:xfrm>
            <a:off x="1244600" y="25908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共性能力下沉为共享服务</a:t>
            </a:r>
            <a:endParaRPr lang="en-US" sz="1100"/>
          </a:p>
        </p:txBody>
      </p:sp>
      <p:sp>
        <p:nvSpPr>
          <p:cNvPr id="14" name="AutoShape 16"/>
          <p:cNvSpPr/>
          <p:nvPr/>
        </p:nvSpPr>
        <p:spPr>
          <a:xfrm>
            <a:off x="1244600" y="2870200"/>
            <a:ext cx="5105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用户权限·消息·流程·报表·主数据等平台级复用，避免每个域重复建设</a:t>
            </a:r>
            <a:endParaRPr lang="en-US" sz="1100"/>
          </a:p>
        </p:txBody>
      </p:sp>
      <p:cxnSp>
        <p:nvCxnSpPr>
          <p:cNvPr id="15" name="Connector 17"/>
          <p:cNvCxnSpPr/>
          <p:nvPr/>
        </p:nvCxnSpPr>
        <p:spPr>
          <a:xfrm rot="-7813">
            <a:off x="762007" y="33972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8"/>
          <p:cNvSpPr/>
          <p:nvPr/>
        </p:nvSpPr>
        <p:spPr>
          <a:xfrm>
            <a:off x="762000" y="35052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1100"/>
          </a:p>
        </p:txBody>
      </p:sp>
      <p:sp>
        <p:nvSpPr>
          <p:cNvPr id="17" name="AutoShape 19"/>
          <p:cNvSpPr/>
          <p:nvPr/>
        </p:nvSpPr>
        <p:spPr>
          <a:xfrm>
            <a:off x="1244600" y="3505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新增功能 = 新增服务 / 插件</a:t>
            </a:r>
            <a:endParaRPr lang="en-US" sz="1100"/>
          </a:p>
        </p:txBody>
      </p:sp>
      <p:sp>
        <p:nvSpPr>
          <p:cNvPr id="18" name="AutoShape 20"/>
          <p:cNvSpPr/>
          <p:nvPr/>
        </p:nvSpPr>
        <p:spPr>
          <a:xfrm>
            <a:off x="1244600" y="3784600"/>
            <a:ext cx="5105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 API 注册进平台，可插拔、不动存量</a:t>
            </a:r>
            <a:endParaRPr lang="en-US" sz="1100"/>
          </a:p>
        </p:txBody>
      </p:sp>
      <p:cxnSp>
        <p:nvCxnSpPr>
          <p:cNvPr id="19" name="Connector 21"/>
          <p:cNvCxnSpPr/>
          <p:nvPr/>
        </p:nvCxnSpPr>
        <p:spPr>
          <a:xfrm rot="-7813">
            <a:off x="762007" y="4311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4521200"/>
            <a:ext cx="279400" cy="279400"/>
          </a:xfrm>
          <a:prstGeom prst="rect">
            <a:avLst/>
          </a:prstGeom>
        </p:spPr>
      </p:pic>
      <p:sp>
        <p:nvSpPr>
          <p:cNvPr id="21" name="AutoShape 23"/>
          <p:cNvSpPr/>
          <p:nvPr/>
        </p:nvSpPr>
        <p:spPr>
          <a:xfrm>
            <a:off x="1117600" y="45085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插件化 / 模块化机制（核心）</a:t>
            </a:r>
            <a:endParaRPr lang="en-US" sz="1100"/>
          </a:p>
        </p:txBody>
      </p:sp>
      <p:sp>
        <p:nvSpPr>
          <p:cNvPr id="22" name="AutoShape 24"/>
          <p:cNvSpPr/>
          <p:nvPr/>
        </p:nvSpPr>
        <p:spPr>
          <a:xfrm>
            <a:off x="762000" y="49784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5"/>
          <p:cNvSpPr/>
          <p:nvPr/>
        </p:nvSpPr>
        <p:spPr>
          <a:xfrm>
            <a:off x="939800" y="4902200"/>
            <a:ext cx="541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模块化插件框架：新业务域以“插件”挂载，注册路由·菜单·权限·数据模型即可用</a:t>
            </a:r>
            <a:endParaRPr lang="en-US" sz="1100"/>
          </a:p>
        </p:txBody>
      </p:sp>
      <p:sp>
        <p:nvSpPr>
          <p:cNvPr id="24" name="AutoShape 26"/>
          <p:cNvSpPr/>
          <p:nvPr/>
        </p:nvSpPr>
        <p:spPr>
          <a:xfrm>
            <a:off x="762000" y="54102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7"/>
          <p:cNvSpPr/>
          <p:nvPr/>
        </p:nvSpPr>
        <p:spPr>
          <a:xfrm>
            <a:off x="939800" y="5334000"/>
            <a:ext cx="541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新园区 = 复用同一套模块/插件；新功能 = 新增插件，不改造旧插件</a:t>
            </a:r>
            <a:endParaRPr lang="en-US" sz="1100"/>
          </a:p>
        </p:txBody>
      </p:sp>
      <p:sp>
        <p:nvSpPr>
          <p:cNvPr id="26" name="AutoShape 28"/>
          <p:cNvSpPr/>
          <p:nvPr/>
        </p:nvSpPr>
        <p:spPr>
          <a:xfrm>
            <a:off x="762000" y="58420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9"/>
          <p:cNvSpPr/>
          <p:nvPr/>
        </p:nvSpPr>
        <p:spPr>
          <a:xfrm>
            <a:off x="939800" y="5765800"/>
            <a:ext cx="541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 + 动态菜单/权限：新模块自动出现在对应角色下</a:t>
            </a:r>
            <a:endParaRPr lang="en-US" sz="1100"/>
          </a:p>
        </p:txBody>
      </p:sp>
      <p:pic>
        <p:nvPicPr>
          <p:cNvPr id="28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1270000"/>
            <a:ext cx="279400" cy="279400"/>
          </a:xfrm>
          <a:prstGeom prst="rect">
            <a:avLst/>
          </a:prstGeom>
        </p:spPr>
      </p:pic>
      <p:sp>
        <p:nvSpPr>
          <p:cNvPr id="29" name="AutoShape 31"/>
          <p:cNvSpPr/>
          <p:nvPr/>
        </p:nvSpPr>
        <p:spPr>
          <a:xfrm>
            <a:off x="7086600" y="12573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四层应用分层</a:t>
            </a:r>
            <a:endParaRPr lang="en-US" sz="1100"/>
          </a:p>
        </p:txBody>
      </p:sp>
      <p:graphicFrame>
        <p:nvGraphicFramePr>
          <p:cNvPr id="30" name="Table 32"/>
          <p:cNvGraphicFramePr>
            <a:graphicFrameLocks noGrp="1"/>
          </p:cNvGraphicFramePr>
          <p:nvPr/>
        </p:nvGraphicFramePr>
        <p:xfrm>
          <a:off x="6731000" y="1676400"/>
          <a:ext cx="4699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68400"/>
                <a:gridCol w="1752600"/>
                <a:gridCol w="1778000"/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职责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扩展机制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接入层</a:t>
                      </a:r>
                      <a:b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（API 网关）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统一入口·鉴权·限流·路由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新服务自动注册，网关统一路由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业务服务层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五大业务域 + 共享服务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新增域=新增微服务，插件化挂载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能力服务层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物联/AI/视频/流程/消息/报表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能力持续增强，被多域复用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集成服务层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ESB 集成、外部系统对接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接口标准化，对接即扩展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31" name="Picture 3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4445000"/>
            <a:ext cx="279400" cy="279400"/>
          </a:xfrm>
          <a:prstGeom prst="rect">
            <a:avLst/>
          </a:prstGeom>
        </p:spPr>
      </p:pic>
      <p:sp>
        <p:nvSpPr>
          <p:cNvPr id="32" name="AutoShape 34"/>
          <p:cNvSpPr/>
          <p:nvPr/>
        </p:nvSpPr>
        <p:spPr>
          <a:xfrm>
            <a:off x="7086600" y="44323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接口与二开能力</a:t>
            </a:r>
            <a:endParaRPr lang="en-US" sz="1100"/>
          </a:p>
        </p:txBody>
      </p:sp>
      <p:sp>
        <p:nvSpPr>
          <p:cNvPr id="33" name="AutoShape 35"/>
          <p:cNvSpPr/>
          <p:nvPr/>
        </p:nvSpPr>
        <p:spPr>
          <a:xfrm>
            <a:off x="9423400" y="4457700"/>
            <a:ext cx="1625600" cy="254000"/>
          </a:xfrm>
          <a:prstGeom prst="roundRect">
            <a:avLst>
              <a:gd name="adj" fmla="val 2000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6"/>
          <p:cNvSpPr/>
          <p:nvPr/>
        </p:nvSpPr>
        <p:spPr>
          <a:xfrm>
            <a:off x="9423400" y="4483100"/>
            <a:ext cx="1625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响应招标 IT 评分 6 分</a:t>
            </a:r>
            <a:endParaRPr lang="en-US" sz="1100"/>
          </a:p>
        </p:txBody>
      </p:sp>
      <p:sp>
        <p:nvSpPr>
          <p:cNvPr id="35" name="AutoShape 37"/>
          <p:cNvSpPr/>
          <p:nvPr/>
        </p:nvSpPr>
        <p:spPr>
          <a:xfrm>
            <a:off x="6731000" y="49276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8"/>
          <p:cNvSpPr/>
          <p:nvPr/>
        </p:nvSpPr>
        <p:spPr>
          <a:xfrm>
            <a:off x="6908800" y="4851400"/>
            <a:ext cx="452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全套 </a:t>
            </a: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 API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，新增字段在 API 中立即体现</a:t>
            </a:r>
            <a:endParaRPr lang="en-US" sz="1100"/>
          </a:p>
        </p:txBody>
      </p:sp>
      <p:sp>
        <p:nvSpPr>
          <p:cNvPr id="37" name="AutoShape 39"/>
          <p:cNvSpPr/>
          <p:nvPr/>
        </p:nvSpPr>
        <p:spPr>
          <a:xfrm>
            <a:off x="6731000" y="53340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40"/>
          <p:cNvSpPr/>
          <p:nvPr/>
        </p:nvSpPr>
        <p:spPr>
          <a:xfrm>
            <a:off x="6908800" y="5257800"/>
            <a:ext cx="452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API 支持增量 / 全量同步、失败重推、调用日志</a:t>
            </a:r>
            <a:endParaRPr lang="en-US" sz="1100"/>
          </a:p>
        </p:txBody>
      </p:sp>
      <p:sp>
        <p:nvSpPr>
          <p:cNvPr id="39" name="AutoShape 41"/>
          <p:cNvSpPr/>
          <p:nvPr/>
        </p:nvSpPr>
        <p:spPr>
          <a:xfrm>
            <a:off x="6731000" y="57404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2"/>
          <p:cNvSpPr/>
          <p:nvPr/>
        </p:nvSpPr>
        <p:spPr>
          <a:xfrm>
            <a:off x="6908800" y="5664200"/>
            <a:ext cx="452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可视化接口管理平台，可配置调度</a:t>
            </a:r>
            <a:endParaRPr lang="en-US" sz="1100"/>
          </a:p>
        </p:txBody>
      </p:sp>
      <p:sp>
        <p:nvSpPr>
          <p:cNvPr id="41" name="AutoShape 43"/>
          <p:cNvSpPr/>
          <p:nvPr/>
        </p:nvSpPr>
        <p:spPr>
          <a:xfrm>
            <a:off x="6731000" y="61468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4"/>
          <p:cNvSpPr/>
          <p:nvPr/>
        </p:nvSpPr>
        <p:spPr>
          <a:xfrm>
            <a:off x="6908800" y="6070600"/>
            <a:ext cx="452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二次开发代码 + 核心源码交付，支持甲方自主扩展</a:t>
            </a:r>
            <a:endParaRPr lang="en-US" sz="110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应用架构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89" y="847852"/>
            <a:ext cx="11133554" cy="601014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园区物流子系统架构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307975" y="1163320"/>
            <a:ext cx="11602720" cy="5070475"/>
            <a:chOff x="800" y="2360"/>
            <a:chExt cx="24000" cy="11280"/>
          </a:xfrm>
        </p:grpSpPr>
        <p:sp>
          <p:nvSpPr>
            <p:cNvPr id="8" name="p07_logistics-shape-7"/>
            <p:cNvSpPr/>
            <p:nvPr/>
          </p:nvSpPr>
          <p:spPr>
            <a:xfrm>
              <a:off x="800" y="2360"/>
              <a:ext cx="22100" cy="1200"/>
            </a:xfrm>
            <a:prstGeom prst="roundRect">
              <a:avLst>
                <a:gd name="adj" fmla="val 1333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" name="p07_logistics-shape-8"/>
            <p:cNvSpPr/>
            <p:nvPr/>
          </p:nvSpPr>
          <p:spPr>
            <a:xfrm>
              <a:off x="960" y="2520"/>
              <a:ext cx="2000" cy="880"/>
            </a:xfrm>
            <a:prstGeom prst="roundRect">
              <a:avLst>
                <a:gd name="adj" fmla="val 13636"/>
              </a:avLst>
            </a:prstGeom>
            <a:solidFill>
              <a:srgbClr val="143A5A"/>
            </a:solidFill>
          </p:spPr>
        </p:sp>
        <p:sp>
          <p:nvSpPr>
            <p:cNvPr id="10" name="p07_logistics-text-9"/>
            <p:cNvSpPr/>
            <p:nvPr/>
          </p:nvSpPr>
          <p:spPr>
            <a:xfrm>
              <a:off x="960" y="2520"/>
              <a:ext cx="2000" cy="8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角色入口层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" name="p07_logistics-shape-10"/>
            <p:cNvSpPr/>
            <p:nvPr/>
          </p:nvSpPr>
          <p:spPr>
            <a:xfrm>
              <a:off x="32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2" name="p07_logistics-text-11"/>
            <p:cNvSpPr/>
            <p:nvPr/>
          </p:nvSpPr>
          <p:spPr>
            <a:xfrm>
              <a:off x="34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供应商 / 货主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3" name="p07_logistics-shape-12"/>
            <p:cNvSpPr/>
            <p:nvPr/>
          </p:nvSpPr>
          <p:spPr>
            <a:xfrm>
              <a:off x="640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4" name="p07_logistics-text-13"/>
            <p:cNvSpPr/>
            <p:nvPr/>
          </p:nvSpPr>
          <p:spPr>
            <a:xfrm>
              <a:off x="652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司机移动端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5" name="p07_logistics-shape-14"/>
            <p:cNvSpPr/>
            <p:nvPr/>
          </p:nvSpPr>
          <p:spPr>
            <a:xfrm>
              <a:off x="952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6" name="p07_logistics-text-15"/>
            <p:cNvSpPr/>
            <p:nvPr/>
          </p:nvSpPr>
          <p:spPr>
            <a:xfrm>
              <a:off x="964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物流调度员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7" name="p07_logistics-shape-16"/>
            <p:cNvSpPr/>
            <p:nvPr/>
          </p:nvSpPr>
          <p:spPr>
            <a:xfrm>
              <a:off x="1264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8" name="p07_logistics-text-17"/>
            <p:cNvSpPr/>
            <p:nvPr/>
          </p:nvSpPr>
          <p:spPr>
            <a:xfrm>
              <a:off x="1276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门岗核验端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9" name="p07_logistics-shape-18"/>
            <p:cNvSpPr/>
            <p:nvPr/>
          </p:nvSpPr>
          <p:spPr>
            <a:xfrm>
              <a:off x="1576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0" name="p07_logistics-text-19"/>
            <p:cNvSpPr/>
            <p:nvPr/>
          </p:nvSpPr>
          <p:spPr>
            <a:xfrm>
              <a:off x="1588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月台作业端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1" name="p07_logistics-shape-20"/>
            <p:cNvSpPr/>
            <p:nvPr/>
          </p:nvSpPr>
          <p:spPr>
            <a:xfrm>
              <a:off x="188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2" name="p07_logistics-text-21"/>
            <p:cNvSpPr/>
            <p:nvPr/>
          </p:nvSpPr>
          <p:spPr>
            <a:xfrm>
              <a:off x="190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管理驾驶舱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3" name="p07_logistics-shape-22"/>
            <p:cNvSpPr/>
            <p:nvPr/>
          </p:nvSpPr>
          <p:spPr>
            <a:xfrm>
              <a:off x="800" y="37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  <a:effectLst>
              <a:outerShdw blurRad="76200" dist="25400" dir="5400000" algn="bl" rotWithShape="0">
                <a:srgbClr val="143A5A">
                  <a:alpha val="10000"/>
                </a:srgbClr>
              </a:outerShdw>
            </a:effectLst>
          </p:spPr>
        </p:sp>
        <p:sp>
          <p:nvSpPr>
            <p:cNvPr id="24" name="p07_logistics-shape-23"/>
            <p:cNvSpPr/>
            <p:nvPr/>
          </p:nvSpPr>
          <p:spPr>
            <a:xfrm>
              <a:off x="960" y="39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25" name="p07_logistics-text-24"/>
            <p:cNvSpPr/>
            <p:nvPr/>
          </p:nvSpPr>
          <p:spPr>
            <a:xfrm>
              <a:off x="960" y="39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业务闭环层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车辆全流程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6" name="p07_logistics-shape-25"/>
            <p:cNvSpPr/>
            <p:nvPr/>
          </p:nvSpPr>
          <p:spPr>
            <a:xfrm>
              <a:off x="548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27" name="p07_logistics-shape-26"/>
            <p:cNvSpPr/>
            <p:nvPr/>
          </p:nvSpPr>
          <p:spPr>
            <a:xfrm>
              <a:off x="784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28" name="p07_logistics-shape-27"/>
            <p:cNvSpPr/>
            <p:nvPr/>
          </p:nvSpPr>
          <p:spPr>
            <a:xfrm>
              <a:off x="1020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29" name="p07_logistics-shape-28"/>
            <p:cNvSpPr/>
            <p:nvPr/>
          </p:nvSpPr>
          <p:spPr>
            <a:xfrm>
              <a:off x="12560" y="4820"/>
              <a:ext cx="28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0" name="p07_logistics-shape-29"/>
            <p:cNvSpPr/>
            <p:nvPr/>
          </p:nvSpPr>
          <p:spPr>
            <a:xfrm>
              <a:off x="14920" y="4820"/>
              <a:ext cx="28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1" name="p07_logistics-shape-30"/>
            <p:cNvSpPr/>
            <p:nvPr/>
          </p:nvSpPr>
          <p:spPr>
            <a:xfrm>
              <a:off x="1728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32" name="p07_logistics-shape-31"/>
            <p:cNvSpPr/>
            <p:nvPr/>
          </p:nvSpPr>
          <p:spPr>
            <a:xfrm>
              <a:off x="1964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33" name="p07_logistics-shape-32"/>
            <p:cNvSpPr/>
            <p:nvPr/>
          </p:nvSpPr>
          <p:spPr>
            <a:xfrm>
              <a:off x="340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34" name="p07_logistics-text-33"/>
            <p:cNvSpPr/>
            <p:nvPr/>
          </p:nvSpPr>
          <p:spPr>
            <a:xfrm>
              <a:off x="348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车辆预约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5" name="p07_logistics-shape-34"/>
            <p:cNvSpPr/>
            <p:nvPr/>
          </p:nvSpPr>
          <p:spPr>
            <a:xfrm>
              <a:off x="576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36" name="p07_logistics-text-35"/>
            <p:cNvSpPr/>
            <p:nvPr/>
          </p:nvSpPr>
          <p:spPr>
            <a:xfrm>
              <a:off x="584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排队叫号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7" name="p07_logistics-shape-36"/>
            <p:cNvSpPr/>
            <p:nvPr/>
          </p:nvSpPr>
          <p:spPr>
            <a:xfrm>
              <a:off x="812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38" name="p07_logistics-text-37"/>
            <p:cNvSpPr/>
            <p:nvPr/>
          </p:nvSpPr>
          <p:spPr>
            <a:xfrm>
              <a:off x="820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入园核验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9" name="p07_logistics-shape-38"/>
            <p:cNvSpPr/>
            <p:nvPr/>
          </p:nvSpPr>
          <p:spPr>
            <a:xfrm>
              <a:off x="1048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40" name="p07_logistics-text-39"/>
            <p:cNvSpPr/>
            <p:nvPr/>
          </p:nvSpPr>
          <p:spPr>
            <a:xfrm>
              <a:off x="1056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园内引导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1" name="p07_logistics-shape-40"/>
            <p:cNvSpPr/>
            <p:nvPr/>
          </p:nvSpPr>
          <p:spPr>
            <a:xfrm>
              <a:off x="1284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42" name="p07_logistics-text-41"/>
            <p:cNvSpPr/>
            <p:nvPr/>
          </p:nvSpPr>
          <p:spPr>
            <a:xfrm>
              <a:off x="1292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月台分配</a:t>
              </a:r>
              <a:endParaRPr lang="en-US" altLang="en-US" sz="1000" b="1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3" name="p07_logistics-shape-42"/>
            <p:cNvSpPr/>
            <p:nvPr/>
          </p:nvSpPr>
          <p:spPr>
            <a:xfrm>
              <a:off x="1520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44" name="p07_logistics-text-43"/>
            <p:cNvSpPr/>
            <p:nvPr/>
          </p:nvSpPr>
          <p:spPr>
            <a:xfrm>
              <a:off x="1528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装卸作业</a:t>
              </a:r>
              <a:endParaRPr lang="en-US" altLang="en-US" sz="1000" b="1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5" name="p07_logistics-shape-44"/>
            <p:cNvSpPr/>
            <p:nvPr/>
          </p:nvSpPr>
          <p:spPr>
            <a:xfrm>
              <a:off x="1756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46" name="p07_logistics-text-45"/>
            <p:cNvSpPr/>
            <p:nvPr/>
          </p:nvSpPr>
          <p:spPr>
            <a:xfrm>
              <a:off x="1764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出园检查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7" name="p07_logistics-shape-46"/>
            <p:cNvSpPr/>
            <p:nvPr/>
          </p:nvSpPr>
          <p:spPr>
            <a:xfrm>
              <a:off x="1992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48" name="p07_logistics-text-47"/>
            <p:cNvSpPr/>
            <p:nvPr/>
          </p:nvSpPr>
          <p:spPr>
            <a:xfrm>
              <a:off x="2000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评价反馈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9" name="p07_logistics-text-48"/>
            <p:cNvSpPr/>
            <p:nvPr/>
          </p:nvSpPr>
          <p:spPr>
            <a:xfrm>
              <a:off x="3400" y="5460"/>
              <a:ext cx="1860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园内运输与跨园区调度复用统一车辆、司机、任务、路线与费用模型</a:t>
              </a:r>
              <a:endParaRPr lang="en-US" altLang="en-US" sz="9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0" name="p07_logistics-shape-49"/>
            <p:cNvSpPr/>
            <p:nvPr/>
          </p:nvSpPr>
          <p:spPr>
            <a:xfrm>
              <a:off x="800" y="626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1" name="p07_logistics-shape-50"/>
            <p:cNvSpPr/>
            <p:nvPr/>
          </p:nvSpPr>
          <p:spPr>
            <a:xfrm>
              <a:off x="960" y="646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6B8C4"/>
            </a:solidFill>
          </p:spPr>
        </p:sp>
        <p:sp>
          <p:nvSpPr>
            <p:cNvPr id="52" name="p07_logistics-text-51"/>
            <p:cNvSpPr/>
            <p:nvPr/>
          </p:nvSpPr>
          <p:spPr>
            <a:xfrm>
              <a:off x="960" y="646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4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应用功能层</a:t>
              </a:r>
              <a:endParaRPr lang="en-US" altLang="en-US" sz="14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3" name="p07_logistics-shape-52"/>
            <p:cNvSpPr/>
            <p:nvPr/>
          </p:nvSpPr>
          <p:spPr>
            <a:xfrm>
              <a:off x="328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4" name="p07_logistics-text-53"/>
            <p:cNvSpPr/>
            <p:nvPr/>
          </p:nvSpPr>
          <p:spPr>
            <a:xfrm>
              <a:off x="336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预约管理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5" name="p07_logistics-shape-54"/>
            <p:cNvSpPr/>
            <p:nvPr/>
          </p:nvSpPr>
          <p:spPr>
            <a:xfrm>
              <a:off x="540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6" name="p07_logistics-text-55"/>
            <p:cNvSpPr/>
            <p:nvPr/>
          </p:nvSpPr>
          <p:spPr>
            <a:xfrm>
              <a:off x="548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排队叫号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7" name="p07_logistics-shape-56"/>
            <p:cNvSpPr/>
            <p:nvPr/>
          </p:nvSpPr>
          <p:spPr>
            <a:xfrm>
              <a:off x="752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8" name="p07_logistics-text-57"/>
            <p:cNvSpPr/>
            <p:nvPr/>
          </p:nvSpPr>
          <p:spPr>
            <a:xfrm>
              <a:off x="760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入园核验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9" name="p07_logistics-shape-58"/>
            <p:cNvSpPr/>
            <p:nvPr/>
          </p:nvSpPr>
          <p:spPr>
            <a:xfrm>
              <a:off x="964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0" name="p07_logistics-text-59"/>
            <p:cNvSpPr/>
            <p:nvPr/>
          </p:nvSpPr>
          <p:spPr>
            <a:xfrm>
              <a:off x="972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园内导航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1" name="p07_logistics-shape-60"/>
            <p:cNvSpPr/>
            <p:nvPr/>
          </p:nvSpPr>
          <p:spPr>
            <a:xfrm>
              <a:off x="1176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2" name="p07_logistics-text-61"/>
            <p:cNvSpPr/>
            <p:nvPr/>
          </p:nvSpPr>
          <p:spPr>
            <a:xfrm>
              <a:off x="1184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月台管理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3" name="p07_logistics-shape-62"/>
            <p:cNvSpPr/>
            <p:nvPr/>
          </p:nvSpPr>
          <p:spPr>
            <a:xfrm>
              <a:off x="1388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4" name="p07_logistics-text-63"/>
            <p:cNvSpPr/>
            <p:nvPr/>
          </p:nvSpPr>
          <p:spPr>
            <a:xfrm>
              <a:off x="1396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装卸协同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5" name="p07_logistics-shape-64"/>
            <p:cNvSpPr/>
            <p:nvPr/>
          </p:nvSpPr>
          <p:spPr>
            <a:xfrm>
              <a:off x="1600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6" name="p07_logistics-text-65"/>
            <p:cNvSpPr/>
            <p:nvPr/>
          </p:nvSpPr>
          <p:spPr>
            <a:xfrm>
              <a:off x="1608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出园闭环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7" name="p07_logistics-shape-66"/>
            <p:cNvSpPr/>
            <p:nvPr/>
          </p:nvSpPr>
          <p:spPr>
            <a:xfrm>
              <a:off x="1812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8" name="p07_logistics-text-67"/>
            <p:cNvSpPr/>
            <p:nvPr/>
          </p:nvSpPr>
          <p:spPr>
            <a:xfrm>
              <a:off x="1820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车辆调度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9" name="p07_logistics-shape-68"/>
            <p:cNvSpPr/>
            <p:nvPr/>
          </p:nvSpPr>
          <p:spPr>
            <a:xfrm>
              <a:off x="2024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0" name="p07_logistics-text-69"/>
            <p:cNvSpPr/>
            <p:nvPr/>
          </p:nvSpPr>
          <p:spPr>
            <a:xfrm>
              <a:off x="2032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评价反馈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1" name="p07_logistics-shape-70"/>
            <p:cNvSpPr/>
            <p:nvPr/>
          </p:nvSpPr>
          <p:spPr>
            <a:xfrm>
              <a:off x="800" y="8740"/>
              <a:ext cx="22100" cy="16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2" name="p07_logistics-shape-71"/>
            <p:cNvSpPr/>
            <p:nvPr/>
          </p:nvSpPr>
          <p:spPr>
            <a:xfrm>
              <a:off x="960" y="8900"/>
              <a:ext cx="2000" cy="1280"/>
            </a:xfrm>
            <a:prstGeom prst="roundRect">
              <a:avLst>
                <a:gd name="adj" fmla="val 9375"/>
              </a:avLst>
            </a:prstGeom>
            <a:solidFill>
              <a:srgbClr val="143A5A"/>
            </a:solidFill>
          </p:spPr>
        </p:sp>
        <p:sp>
          <p:nvSpPr>
            <p:cNvPr id="73" name="p07_logistics-text-72"/>
            <p:cNvSpPr/>
            <p:nvPr/>
          </p:nvSpPr>
          <p:spPr>
            <a:xfrm>
              <a:off x="960" y="8900"/>
              <a:ext cx="2000" cy="12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公共平台层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4" name="p07_logistics-shape-73"/>
            <p:cNvSpPr/>
            <p:nvPr/>
          </p:nvSpPr>
          <p:spPr>
            <a:xfrm>
              <a:off x="3280" y="8940"/>
              <a:ext cx="250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5" name="p07_logistics-text-74"/>
            <p:cNvSpPr/>
            <p:nvPr/>
          </p:nvSpPr>
          <p:spPr>
            <a:xfrm>
              <a:off x="3360" y="8940"/>
              <a:ext cx="23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统一身份权限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6" name="p07_logistics-shape-75"/>
            <p:cNvSpPr/>
            <p:nvPr/>
          </p:nvSpPr>
          <p:spPr>
            <a:xfrm>
              <a:off x="6020" y="8940"/>
              <a:ext cx="250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7" name="p07_logistics-text-76"/>
            <p:cNvSpPr/>
            <p:nvPr/>
          </p:nvSpPr>
          <p:spPr>
            <a:xfrm>
              <a:off x="6100" y="8940"/>
              <a:ext cx="23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流程规则配置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8" name="p07_logistics-shape-77"/>
            <p:cNvSpPr/>
            <p:nvPr/>
          </p:nvSpPr>
          <p:spPr>
            <a:xfrm>
              <a:off x="8760" y="8940"/>
              <a:ext cx="250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9" name="p07_logistics-text-78"/>
            <p:cNvSpPr/>
            <p:nvPr/>
          </p:nvSpPr>
          <p:spPr>
            <a:xfrm>
              <a:off x="8840" y="8940"/>
              <a:ext cx="23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主数据管理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0" name="p07_logistics-shape-79"/>
            <p:cNvSpPr/>
            <p:nvPr/>
          </p:nvSpPr>
          <p:spPr>
            <a:xfrm>
              <a:off x="11500" y="8940"/>
              <a:ext cx="250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1" name="p07_logistics-text-80"/>
            <p:cNvSpPr/>
            <p:nvPr/>
          </p:nvSpPr>
          <p:spPr>
            <a:xfrm>
              <a:off x="11580" y="8940"/>
              <a:ext cx="23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微软雅黑" charset="0"/>
                </a:rPr>
                <a:t>ESB / API集成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82" name="p07_logistics-shape-81"/>
            <p:cNvSpPr/>
            <p:nvPr/>
          </p:nvSpPr>
          <p:spPr>
            <a:xfrm>
              <a:off x="14240" y="8940"/>
              <a:ext cx="250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3" name="p07_logistics-text-82"/>
            <p:cNvSpPr/>
            <p:nvPr/>
          </p:nvSpPr>
          <p:spPr>
            <a:xfrm>
              <a:off x="14320" y="8940"/>
              <a:ext cx="23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消息通知中心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4" name="p07_logistics-shape-83"/>
            <p:cNvSpPr/>
            <p:nvPr/>
          </p:nvSpPr>
          <p:spPr>
            <a:xfrm>
              <a:off x="16980" y="8940"/>
              <a:ext cx="250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5" name="p07_logistics-text-84"/>
            <p:cNvSpPr/>
            <p:nvPr/>
          </p:nvSpPr>
          <p:spPr>
            <a:xfrm>
              <a:off x="17060" y="8940"/>
              <a:ext cx="23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事件工单闭环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6" name="p07_logistics-shape-85"/>
            <p:cNvSpPr/>
            <p:nvPr/>
          </p:nvSpPr>
          <p:spPr>
            <a:xfrm>
              <a:off x="19720" y="8940"/>
              <a:ext cx="250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7" name="p07_logistics-text-86"/>
            <p:cNvSpPr/>
            <p:nvPr/>
          </p:nvSpPr>
          <p:spPr>
            <a:xfrm>
              <a:off x="19800" y="8940"/>
              <a:ext cx="23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指标驾驶舱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8" name="p07_logistics-text-87"/>
            <p:cNvSpPr/>
            <p:nvPr/>
          </p:nvSpPr>
          <p:spPr>
            <a:xfrm>
              <a:off x="3280" y="9680"/>
              <a:ext cx="1894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9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核心对象：供应商｜送发货单｜车辆司机｜预约排队单｜厂房月台｜物料货物｜装卸任务｜通行作业记录</a:t>
              </a:r>
              <a:endParaRPr lang="en-US" altLang="en-US" sz="9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9" name="p07_logistics-shape-88"/>
            <p:cNvSpPr/>
            <p:nvPr/>
          </p:nvSpPr>
          <p:spPr>
            <a:xfrm>
              <a:off x="800" y="105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0" name="p07_logistics-shape-89"/>
            <p:cNvSpPr/>
            <p:nvPr/>
          </p:nvSpPr>
          <p:spPr>
            <a:xfrm>
              <a:off x="960" y="107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91" name="p07_logistics-text-90"/>
            <p:cNvSpPr/>
            <p:nvPr/>
          </p:nvSpPr>
          <p:spPr>
            <a:xfrm>
              <a:off x="960" y="107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集成物联层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统一适配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2" name="p07_logistics-shape-91"/>
            <p:cNvSpPr/>
            <p:nvPr/>
          </p:nvSpPr>
          <p:spPr>
            <a:xfrm>
              <a:off x="3280" y="10780"/>
              <a:ext cx="910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3" name="p07_logistics-text-92"/>
            <p:cNvSpPr/>
            <p:nvPr/>
          </p:nvSpPr>
          <p:spPr>
            <a:xfrm>
              <a:off x="352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000" b="1" dirty="0">
                  <a:solidFill>
                    <a:srgbClr val="1878C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企业系统协同</a:t>
              </a:r>
              <a:endParaRPr lang="en-US" altLang="en-US" sz="1000" b="1" dirty="0">
                <a:solidFill>
                  <a:srgbClr val="1878C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4" name="p07_logistics-text-93"/>
            <p:cNvSpPr/>
            <p:nvPr/>
          </p:nvSpPr>
          <p:spPr>
            <a:xfrm>
              <a:off x="3520" y="11400"/>
              <a:ext cx="860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9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SRM供应商 · WMS仓储 · TMS运输 · ERP订单</a:t>
              </a:r>
              <a:endParaRPr lang="en-US" sz="9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9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车辆管理 · 道闸系统 · 电子出门条</a:t>
              </a:r>
              <a:endParaRPr lang="en-US" altLang="en-US" sz="9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5" name="p07_logistics-shape-94"/>
            <p:cNvSpPr/>
            <p:nvPr/>
          </p:nvSpPr>
          <p:spPr>
            <a:xfrm>
              <a:off x="12640" y="10780"/>
              <a:ext cx="956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6" name="p07_logistics-text-95"/>
            <p:cNvSpPr/>
            <p:nvPr/>
          </p:nvSpPr>
          <p:spPr>
            <a:xfrm>
              <a:off x="1288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000" b="1" dirty="0">
                  <a:solidFill>
                    <a:srgbClr val="16B8C4"/>
                  </a:solidFill>
                  <a:latin typeface="微软雅黑" charset="0"/>
                  <a:ea typeface="微软雅黑" charset="0"/>
                  <a:cs typeface="微软雅黑" charset="0"/>
                </a:rPr>
                <a:t>现场设备 / 数据源</a:t>
              </a:r>
              <a:endParaRPr lang="en-US" altLang="en-US" sz="1000" b="1" dirty="0">
                <a:solidFill>
                  <a:srgbClr val="16B8C4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7" name="p07_logistics-text-96"/>
            <p:cNvSpPr/>
            <p:nvPr/>
          </p:nvSpPr>
          <p:spPr>
            <a:xfrm>
              <a:off x="12880" y="11400"/>
              <a:ext cx="904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9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车牌识别 · 道闸设备 · 视频监控</a:t>
              </a:r>
              <a:endParaRPr lang="en-US" sz="9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9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司机定位 / 轨迹 · 月台状态（现场深化）</a:t>
              </a:r>
              <a:endParaRPr lang="en-US" altLang="en-US" sz="9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8" name="p07_logistics-shape-97"/>
            <p:cNvSpPr/>
            <p:nvPr/>
          </p:nvSpPr>
          <p:spPr>
            <a:xfrm>
              <a:off x="23160" y="2360"/>
              <a:ext cx="1640" cy="10460"/>
            </a:xfrm>
            <a:prstGeom prst="roundRect">
              <a:avLst>
                <a:gd name="adj" fmla="val 9756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99" name="p07_logistics-shape-98"/>
            <p:cNvSpPr/>
            <p:nvPr/>
          </p:nvSpPr>
          <p:spPr>
            <a:xfrm>
              <a:off x="23300" y="2520"/>
              <a:ext cx="1360" cy="900"/>
            </a:xfrm>
            <a:prstGeom prst="roundRect">
              <a:avLst>
                <a:gd name="adj" fmla="val 13333"/>
              </a:avLst>
            </a:prstGeom>
            <a:solidFill>
              <a:srgbClr val="F28C28"/>
            </a:solidFill>
          </p:spPr>
        </p:sp>
        <p:sp>
          <p:nvSpPr>
            <p:cNvPr id="100" name="p07_logistics-text-99"/>
            <p:cNvSpPr/>
            <p:nvPr/>
          </p:nvSpPr>
          <p:spPr>
            <a:xfrm>
              <a:off x="23300" y="2520"/>
              <a:ext cx="1360" cy="9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统一治理</a:t>
              </a:r>
              <a:endParaRPr lang="en-US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pic>
          <p:nvPicPr>
            <p:cNvPr id="101" name="p07_logistics-icon-100" descr="preencod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600" y="3700"/>
              <a:ext cx="760" cy="760"/>
            </a:xfrm>
            <a:prstGeom prst="rect">
              <a:avLst/>
            </a:prstGeom>
          </p:spPr>
        </p:pic>
        <p:sp>
          <p:nvSpPr>
            <p:cNvPr id="102" name="p07_logistics-shape-101"/>
            <p:cNvSpPr/>
            <p:nvPr/>
          </p:nvSpPr>
          <p:spPr>
            <a:xfrm>
              <a:off x="23340" y="47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3" name="p07_logistics-text-102"/>
            <p:cNvSpPr/>
            <p:nvPr/>
          </p:nvSpPr>
          <p:spPr>
            <a:xfrm>
              <a:off x="23420" y="47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身份认证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4" name="p07_logistics-shape-103"/>
            <p:cNvSpPr/>
            <p:nvPr/>
          </p:nvSpPr>
          <p:spPr>
            <a:xfrm>
              <a:off x="23340" y="60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5" name="p07_logistics-text-104"/>
            <p:cNvSpPr/>
            <p:nvPr/>
          </p:nvSpPr>
          <p:spPr>
            <a:xfrm>
              <a:off x="23420" y="60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权限分级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6" name="p07_logistics-shape-105"/>
            <p:cNvSpPr/>
            <p:nvPr/>
          </p:nvSpPr>
          <p:spPr>
            <a:xfrm>
              <a:off x="23340" y="73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7" name="p07_logistics-text-106"/>
            <p:cNvSpPr/>
            <p:nvPr/>
          </p:nvSpPr>
          <p:spPr>
            <a:xfrm>
              <a:off x="23420" y="73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事件工单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8" name="p07_logistics-shape-107"/>
            <p:cNvSpPr/>
            <p:nvPr/>
          </p:nvSpPr>
          <p:spPr>
            <a:xfrm>
              <a:off x="23340" y="86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9" name="p07_logistics-text-108"/>
            <p:cNvSpPr/>
            <p:nvPr/>
          </p:nvSpPr>
          <p:spPr>
            <a:xfrm>
              <a:off x="23420" y="86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日志审计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0" name="p07_logistics-shape-109"/>
            <p:cNvSpPr/>
            <p:nvPr/>
          </p:nvSpPr>
          <p:spPr>
            <a:xfrm>
              <a:off x="23340" y="99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1" name="p07_logistics-text-110"/>
            <p:cNvSpPr/>
            <p:nvPr/>
          </p:nvSpPr>
          <p:spPr>
            <a:xfrm>
              <a:off x="23420" y="99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运维监控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2" name="p07_logistics-shape-111"/>
            <p:cNvSpPr/>
            <p:nvPr/>
          </p:nvSpPr>
          <p:spPr>
            <a:xfrm>
              <a:off x="23340" y="11280"/>
              <a:ext cx="1280" cy="1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3" name="p07_logistics-text-112"/>
            <p:cNvSpPr/>
            <p:nvPr/>
          </p:nvSpPr>
          <p:spPr>
            <a:xfrm>
              <a:off x="23420" y="11280"/>
              <a:ext cx="112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异常重试</a:t>
              </a:r>
              <a:endParaRPr lang="en-US" altLang="en-US" sz="9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4" name="p07_logistics-shape-113"/>
            <p:cNvSpPr/>
            <p:nvPr/>
          </p:nvSpPr>
          <p:spPr>
            <a:xfrm>
              <a:off x="800" y="13040"/>
              <a:ext cx="24000" cy="600"/>
            </a:xfrm>
            <a:prstGeom prst="roundRect">
              <a:avLst>
                <a:gd name="adj" fmla="val 20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5" name="p07_logistics-text-114"/>
            <p:cNvSpPr/>
            <p:nvPr/>
          </p:nvSpPr>
          <p:spPr>
            <a:xfrm>
              <a:off x="1080" y="13040"/>
              <a:ext cx="234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900" b="1" dirty="0">
                  <a:solidFill>
                    <a:srgbClr val="F28C2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关键闭环</a:t>
              </a:r>
              <a:r>
                <a:rPr lang="en-US" altLang="en-US" sz="9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　爽约释放月台｜超时装卸告警｜接口失败重试补偿｜异常人工接管｜出园评价归档</a:t>
              </a:r>
              <a:endParaRPr lang="en-US" altLang="en-US" sz="9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39725" y="767715"/>
            <a:ext cx="8570595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altLang="en-US" sz="1300" dirty="0">
                <a:solidFill>
                  <a:srgbClr val="617487"/>
                </a:solidFill>
                <a:latin typeface="微软" charset="0"/>
                <a:ea typeface="微软" charset="0"/>
                <a:cs typeface="Noto Sans SC" panose="020B0200000000000000" pitchFamily="34" charset="-120"/>
                <a:sym typeface="+mn-ea"/>
              </a:rPr>
              <a:t>以预约排队为入口、月台作业为核心、车辆调度为延伸，贯通车辆全流程与跨园区协同</a:t>
            </a:r>
            <a:endParaRPr lang="en-US" altLang="en-US" sz="1300" dirty="0" smtClean="0">
              <a:solidFill>
                <a:srgbClr val="617487"/>
              </a:solidFill>
              <a:latin typeface="微软" charset="0"/>
              <a:ea typeface="微软" charset="0"/>
              <a:cs typeface="Noto Sans SC" panose="020B0200000000000000" pitchFamily="34" charset="-12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外协人员管理子系统架构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393065" y="1020445"/>
            <a:ext cx="11375390" cy="5327650"/>
            <a:chOff x="800" y="2360"/>
            <a:chExt cx="24000" cy="11280"/>
          </a:xfrm>
        </p:grpSpPr>
        <p:sp>
          <p:nvSpPr>
            <p:cNvPr id="8" name="p08_contractor-shape-7"/>
            <p:cNvSpPr/>
            <p:nvPr/>
          </p:nvSpPr>
          <p:spPr>
            <a:xfrm>
              <a:off x="800" y="2360"/>
              <a:ext cx="22100" cy="1200"/>
            </a:xfrm>
            <a:prstGeom prst="roundRect">
              <a:avLst>
                <a:gd name="adj" fmla="val 1333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" name="p08_contractor-shape-8"/>
            <p:cNvSpPr/>
            <p:nvPr/>
          </p:nvSpPr>
          <p:spPr>
            <a:xfrm>
              <a:off x="960" y="2520"/>
              <a:ext cx="2000" cy="880"/>
            </a:xfrm>
            <a:prstGeom prst="roundRect">
              <a:avLst>
                <a:gd name="adj" fmla="val 13636"/>
              </a:avLst>
            </a:prstGeom>
            <a:solidFill>
              <a:srgbClr val="143A5A"/>
            </a:solidFill>
          </p:spPr>
        </p:sp>
        <p:sp>
          <p:nvSpPr>
            <p:cNvPr id="10" name="p08_contractor-text-9"/>
            <p:cNvSpPr/>
            <p:nvPr/>
          </p:nvSpPr>
          <p:spPr>
            <a:xfrm>
              <a:off x="960" y="2520"/>
              <a:ext cx="2000" cy="8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角色入口层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" name="p08_contractor-shape-10"/>
            <p:cNvSpPr/>
            <p:nvPr/>
          </p:nvSpPr>
          <p:spPr>
            <a:xfrm>
              <a:off x="32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2" name="p08_contractor-text-11"/>
            <p:cNvSpPr/>
            <p:nvPr/>
          </p:nvSpPr>
          <p:spPr>
            <a:xfrm>
              <a:off x="34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外协单位工作台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3" name="p08_contractor-shape-12"/>
            <p:cNvSpPr/>
            <p:nvPr/>
          </p:nvSpPr>
          <p:spPr>
            <a:xfrm>
              <a:off x="640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4" name="p08_contractor-text-13"/>
            <p:cNvSpPr/>
            <p:nvPr/>
          </p:nvSpPr>
          <p:spPr>
            <a:xfrm>
              <a:off x="652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作业人员APP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5" name="p08_contractor-shape-14"/>
            <p:cNvSpPr/>
            <p:nvPr/>
          </p:nvSpPr>
          <p:spPr>
            <a:xfrm>
              <a:off x="952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6" name="p08_contractor-text-15"/>
            <p:cNvSpPr/>
            <p:nvPr/>
          </p:nvSpPr>
          <p:spPr>
            <a:xfrm>
              <a:off x="964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管理人员PC端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7" name="p08_contractor-shape-16"/>
            <p:cNvSpPr/>
            <p:nvPr/>
          </p:nvSpPr>
          <p:spPr>
            <a:xfrm>
              <a:off x="1264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8" name="p08_contractor-text-17"/>
            <p:cNvSpPr/>
            <p:nvPr/>
          </p:nvSpPr>
          <p:spPr>
            <a:xfrm>
              <a:off x="1276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现场PDA / PAD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9" name="p08_contractor-shape-18"/>
            <p:cNvSpPr/>
            <p:nvPr/>
          </p:nvSpPr>
          <p:spPr>
            <a:xfrm>
              <a:off x="1576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0" name="p08_contractor-text-19"/>
            <p:cNvSpPr/>
            <p:nvPr/>
          </p:nvSpPr>
          <p:spPr>
            <a:xfrm>
              <a:off x="1588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EHS管理端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1" name="p08_contractor-shape-20"/>
            <p:cNvSpPr/>
            <p:nvPr/>
          </p:nvSpPr>
          <p:spPr>
            <a:xfrm>
              <a:off x="188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2" name="p08_contractor-text-21"/>
            <p:cNvSpPr/>
            <p:nvPr/>
          </p:nvSpPr>
          <p:spPr>
            <a:xfrm>
              <a:off x="190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运营驾驶舱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3" name="p08_contractor-shape-22"/>
            <p:cNvSpPr/>
            <p:nvPr/>
          </p:nvSpPr>
          <p:spPr>
            <a:xfrm>
              <a:off x="800" y="37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  <a:effectLst>
              <a:outerShdw blurRad="76200" dist="25400" dir="5400000" algn="bl" rotWithShape="0">
                <a:srgbClr val="143A5A">
                  <a:alpha val="10000"/>
                </a:srgbClr>
              </a:outerShdw>
            </a:effectLst>
          </p:spPr>
        </p:sp>
        <p:sp>
          <p:nvSpPr>
            <p:cNvPr id="24" name="p08_contractor-shape-23"/>
            <p:cNvSpPr/>
            <p:nvPr/>
          </p:nvSpPr>
          <p:spPr>
            <a:xfrm>
              <a:off x="960" y="39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25" name="p08_contractor-text-24"/>
            <p:cNvSpPr/>
            <p:nvPr/>
          </p:nvSpPr>
          <p:spPr>
            <a:xfrm>
              <a:off x="960" y="39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业务闭环层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资格到结算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6" name="p08_contractor-shape-25"/>
            <p:cNvSpPr/>
            <p:nvPr/>
          </p:nvSpPr>
          <p:spPr>
            <a:xfrm>
              <a:off x="3320" y="4320"/>
              <a:ext cx="18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27" name="p08_contractor-text-26"/>
            <p:cNvSpPr/>
            <p:nvPr/>
          </p:nvSpPr>
          <p:spPr>
            <a:xfrm>
              <a:off x="3400" y="4320"/>
              <a:ext cx="17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单位人员录入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8" name="p08_contractor-shape-27"/>
            <p:cNvSpPr/>
            <p:nvPr/>
          </p:nvSpPr>
          <p:spPr>
            <a:xfrm>
              <a:off x="5200" y="4820"/>
              <a:ext cx="20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29" name="p08_contractor-shape-28"/>
            <p:cNvSpPr/>
            <p:nvPr/>
          </p:nvSpPr>
          <p:spPr>
            <a:xfrm>
              <a:off x="5400" y="4320"/>
              <a:ext cx="18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30" name="p08_contractor-text-29"/>
            <p:cNvSpPr/>
            <p:nvPr/>
          </p:nvSpPr>
          <p:spPr>
            <a:xfrm>
              <a:off x="5480" y="4320"/>
              <a:ext cx="17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资质培训达标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1" name="p08_contractor-shape-30"/>
            <p:cNvSpPr/>
            <p:nvPr/>
          </p:nvSpPr>
          <p:spPr>
            <a:xfrm>
              <a:off x="7280" y="4820"/>
              <a:ext cx="20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32" name="p08_contractor-shape-31"/>
            <p:cNvSpPr/>
            <p:nvPr/>
          </p:nvSpPr>
          <p:spPr>
            <a:xfrm>
              <a:off x="7480" y="4320"/>
              <a:ext cx="18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33" name="p08_contractor-text-32"/>
            <p:cNvSpPr/>
            <p:nvPr/>
          </p:nvSpPr>
          <p:spPr>
            <a:xfrm>
              <a:off x="7560" y="4320"/>
              <a:ext cx="17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准入审批发证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4" name="p08_contractor-shape-33"/>
            <p:cNvSpPr/>
            <p:nvPr/>
          </p:nvSpPr>
          <p:spPr>
            <a:xfrm>
              <a:off x="9360" y="4820"/>
              <a:ext cx="20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35" name="p08_contractor-shape-34"/>
            <p:cNvSpPr/>
            <p:nvPr/>
          </p:nvSpPr>
          <p:spPr>
            <a:xfrm>
              <a:off x="9560" y="4320"/>
              <a:ext cx="18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36" name="p08_contractor-text-35"/>
            <p:cNvSpPr/>
            <p:nvPr/>
          </p:nvSpPr>
          <p:spPr>
            <a:xfrm>
              <a:off x="9640" y="4320"/>
              <a:ext cx="17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授权与考勤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7" name="p08_contractor-shape-36"/>
            <p:cNvSpPr/>
            <p:nvPr/>
          </p:nvSpPr>
          <p:spPr>
            <a:xfrm>
              <a:off x="11440" y="4820"/>
              <a:ext cx="20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8" name="p08_contractor-shape-37"/>
            <p:cNvSpPr/>
            <p:nvPr/>
          </p:nvSpPr>
          <p:spPr>
            <a:xfrm>
              <a:off x="11640" y="4320"/>
              <a:ext cx="18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39" name="p08_contractor-text-38"/>
            <p:cNvSpPr/>
            <p:nvPr/>
          </p:nvSpPr>
          <p:spPr>
            <a:xfrm>
              <a:off x="11720" y="4320"/>
              <a:ext cx="17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作业安全留痕</a:t>
              </a:r>
              <a:endParaRPr lang="en-US" altLang="en-US" sz="1000" b="1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0" name="p08_contractor-shape-39"/>
            <p:cNvSpPr/>
            <p:nvPr/>
          </p:nvSpPr>
          <p:spPr>
            <a:xfrm>
              <a:off x="13520" y="4820"/>
              <a:ext cx="20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41" name="p08_contractor-shape-40"/>
            <p:cNvSpPr/>
            <p:nvPr/>
          </p:nvSpPr>
          <p:spPr>
            <a:xfrm>
              <a:off x="13720" y="4320"/>
              <a:ext cx="18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42" name="p08_contractor-text-41"/>
            <p:cNvSpPr/>
            <p:nvPr/>
          </p:nvSpPr>
          <p:spPr>
            <a:xfrm>
              <a:off x="13800" y="4320"/>
              <a:ext cx="17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隐患整改复核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3" name="p08_contractor-shape-42"/>
            <p:cNvSpPr/>
            <p:nvPr/>
          </p:nvSpPr>
          <p:spPr>
            <a:xfrm>
              <a:off x="15600" y="4820"/>
              <a:ext cx="20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4" name="p08_contractor-shape-43"/>
            <p:cNvSpPr/>
            <p:nvPr/>
          </p:nvSpPr>
          <p:spPr>
            <a:xfrm>
              <a:off x="15800" y="4320"/>
              <a:ext cx="18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45" name="p08_contractor-text-44"/>
            <p:cNvSpPr/>
            <p:nvPr/>
          </p:nvSpPr>
          <p:spPr>
            <a:xfrm>
              <a:off x="15880" y="4320"/>
              <a:ext cx="17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评价考核扣款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6" name="p08_contractor-shape-45"/>
            <p:cNvSpPr/>
            <p:nvPr/>
          </p:nvSpPr>
          <p:spPr>
            <a:xfrm>
              <a:off x="17680" y="4820"/>
              <a:ext cx="20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7" name="p08_contractor-shape-46"/>
            <p:cNvSpPr/>
            <p:nvPr/>
          </p:nvSpPr>
          <p:spPr>
            <a:xfrm>
              <a:off x="17880" y="4320"/>
              <a:ext cx="18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48" name="p08_contractor-text-47"/>
            <p:cNvSpPr/>
            <p:nvPr/>
          </p:nvSpPr>
          <p:spPr>
            <a:xfrm>
              <a:off x="17960" y="4320"/>
              <a:ext cx="17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费用审批结算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9" name="p08_contractor-shape-48"/>
            <p:cNvSpPr/>
            <p:nvPr/>
          </p:nvSpPr>
          <p:spPr>
            <a:xfrm>
              <a:off x="19760" y="4820"/>
              <a:ext cx="20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50" name="p08_contractor-shape-49"/>
            <p:cNvSpPr/>
            <p:nvPr/>
          </p:nvSpPr>
          <p:spPr>
            <a:xfrm>
              <a:off x="19960" y="4320"/>
              <a:ext cx="18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51" name="p08_contractor-text-50"/>
            <p:cNvSpPr/>
            <p:nvPr/>
          </p:nvSpPr>
          <p:spPr>
            <a:xfrm>
              <a:off x="20040" y="4320"/>
              <a:ext cx="17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离场销权入黑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2" name="p08_contractor-text-51"/>
            <p:cNvSpPr/>
            <p:nvPr/>
          </p:nvSpPr>
          <p:spPr>
            <a:xfrm>
              <a:off x="3320" y="5460"/>
              <a:ext cx="185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微软雅黑" charset="0"/>
                </a:rPr>
                <a:t>资格—权限—作业—评价—费用联动，关键状态自动驱动准入与门禁权限</a:t>
              </a:r>
              <a:endParaRPr lang="en-US" altLang="en-US" sz="1000" dirty="0">
                <a:solidFill>
                  <a:srgbClr val="617487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53" name="p08_contractor-shape-52"/>
            <p:cNvSpPr/>
            <p:nvPr/>
          </p:nvSpPr>
          <p:spPr>
            <a:xfrm>
              <a:off x="800" y="626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4" name="p08_contractor-shape-53"/>
            <p:cNvSpPr/>
            <p:nvPr/>
          </p:nvSpPr>
          <p:spPr>
            <a:xfrm>
              <a:off x="960" y="646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6B8C4"/>
            </a:solidFill>
          </p:spPr>
        </p:sp>
        <p:sp>
          <p:nvSpPr>
            <p:cNvPr id="55" name="p08_contractor-text-54"/>
            <p:cNvSpPr/>
            <p:nvPr/>
          </p:nvSpPr>
          <p:spPr>
            <a:xfrm>
              <a:off x="960" y="646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4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应用功能层</a:t>
              </a:r>
              <a:endParaRPr lang="en-US" altLang="en-US" sz="14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6" name="p08_contractor-shape-55"/>
            <p:cNvSpPr/>
            <p:nvPr/>
          </p:nvSpPr>
          <p:spPr>
            <a:xfrm>
              <a:off x="328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7" name="p08_contractor-text-56"/>
            <p:cNvSpPr/>
            <p:nvPr/>
          </p:nvSpPr>
          <p:spPr>
            <a:xfrm>
              <a:off x="336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单位人员档案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8" name="p08_contractor-shape-57"/>
            <p:cNvSpPr/>
            <p:nvPr/>
          </p:nvSpPr>
          <p:spPr>
            <a:xfrm>
              <a:off x="540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9" name="p08_contractor-text-58"/>
            <p:cNvSpPr/>
            <p:nvPr/>
          </p:nvSpPr>
          <p:spPr>
            <a:xfrm>
              <a:off x="548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资质培训准入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0" name="p08_contractor-shape-59"/>
            <p:cNvSpPr/>
            <p:nvPr/>
          </p:nvSpPr>
          <p:spPr>
            <a:xfrm>
              <a:off x="752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1" name="p08_contractor-text-60"/>
            <p:cNvSpPr/>
            <p:nvPr/>
          </p:nvSpPr>
          <p:spPr>
            <a:xfrm>
              <a:off x="760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考勤统计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2" name="p08_contractor-shape-61"/>
            <p:cNvSpPr/>
            <p:nvPr/>
          </p:nvSpPr>
          <p:spPr>
            <a:xfrm>
              <a:off x="964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3" name="p08_contractor-text-62"/>
            <p:cNvSpPr/>
            <p:nvPr/>
          </p:nvSpPr>
          <p:spPr>
            <a:xfrm>
              <a:off x="972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作业任务管理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4" name="p08_contractor-shape-63"/>
            <p:cNvSpPr/>
            <p:nvPr/>
          </p:nvSpPr>
          <p:spPr>
            <a:xfrm>
              <a:off x="1176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5" name="p08_contractor-text-64"/>
            <p:cNvSpPr/>
            <p:nvPr/>
          </p:nvSpPr>
          <p:spPr>
            <a:xfrm>
              <a:off x="1184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违规行为评估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6" name="p08_contractor-shape-65"/>
            <p:cNvSpPr/>
            <p:nvPr/>
          </p:nvSpPr>
          <p:spPr>
            <a:xfrm>
              <a:off x="1388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7" name="p08_contractor-text-66"/>
            <p:cNvSpPr/>
            <p:nvPr/>
          </p:nvSpPr>
          <p:spPr>
            <a:xfrm>
              <a:off x="1396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安全检查整改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8" name="p08_contractor-shape-67"/>
            <p:cNvSpPr/>
            <p:nvPr/>
          </p:nvSpPr>
          <p:spPr>
            <a:xfrm>
              <a:off x="1600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9" name="p08_contractor-text-68"/>
            <p:cNvSpPr/>
            <p:nvPr/>
          </p:nvSpPr>
          <p:spPr>
            <a:xfrm>
              <a:off x="1608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服务评价考核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0" name="p08_contractor-shape-69"/>
            <p:cNvSpPr/>
            <p:nvPr/>
          </p:nvSpPr>
          <p:spPr>
            <a:xfrm>
              <a:off x="1812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1" name="p08_contractor-text-70"/>
            <p:cNvSpPr/>
            <p:nvPr/>
          </p:nvSpPr>
          <p:spPr>
            <a:xfrm>
              <a:off x="1820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费用结算看板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2" name="p08_contractor-shape-71"/>
            <p:cNvSpPr/>
            <p:nvPr/>
          </p:nvSpPr>
          <p:spPr>
            <a:xfrm>
              <a:off x="2024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3" name="p08_contractor-text-72"/>
            <p:cNvSpPr/>
            <p:nvPr/>
          </p:nvSpPr>
          <p:spPr>
            <a:xfrm>
              <a:off x="2032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离场黑名单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4" name="p08_contractor-shape-73"/>
            <p:cNvSpPr/>
            <p:nvPr/>
          </p:nvSpPr>
          <p:spPr>
            <a:xfrm>
              <a:off x="800" y="8740"/>
              <a:ext cx="22100" cy="16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5" name="p08_contractor-shape-74"/>
            <p:cNvSpPr/>
            <p:nvPr/>
          </p:nvSpPr>
          <p:spPr>
            <a:xfrm>
              <a:off x="960" y="8900"/>
              <a:ext cx="2000" cy="1280"/>
            </a:xfrm>
            <a:prstGeom prst="roundRect">
              <a:avLst>
                <a:gd name="adj" fmla="val 9375"/>
              </a:avLst>
            </a:prstGeom>
            <a:solidFill>
              <a:srgbClr val="143A5A"/>
            </a:solidFill>
          </p:spPr>
        </p:sp>
        <p:sp>
          <p:nvSpPr>
            <p:cNvPr id="76" name="p08_contractor-text-75"/>
            <p:cNvSpPr/>
            <p:nvPr/>
          </p:nvSpPr>
          <p:spPr>
            <a:xfrm>
              <a:off x="960" y="8900"/>
              <a:ext cx="2000" cy="12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4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公共平台层</a:t>
              </a:r>
              <a:endParaRPr lang="en-US" altLang="en-US" sz="14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7" name="p08_contractor-shape-76"/>
            <p:cNvSpPr/>
            <p:nvPr/>
          </p:nvSpPr>
          <p:spPr>
            <a:xfrm>
              <a:off x="328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8" name="p08_contractor-text-77"/>
            <p:cNvSpPr/>
            <p:nvPr/>
          </p:nvSpPr>
          <p:spPr>
            <a:xfrm>
              <a:off x="336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组织用户中心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9" name="p08_contractor-shape-78"/>
            <p:cNvSpPr/>
            <p:nvPr/>
          </p:nvSpPr>
          <p:spPr>
            <a:xfrm>
              <a:off x="566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0" name="p08_contractor-text-79"/>
            <p:cNvSpPr/>
            <p:nvPr/>
          </p:nvSpPr>
          <p:spPr>
            <a:xfrm>
              <a:off x="574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空间地图中心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1" name="p08_contractor-shape-80"/>
            <p:cNvSpPr/>
            <p:nvPr/>
          </p:nvSpPr>
          <p:spPr>
            <a:xfrm>
              <a:off x="804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2" name="p08_contractor-text-81"/>
            <p:cNvSpPr/>
            <p:nvPr/>
          </p:nvSpPr>
          <p:spPr>
            <a:xfrm>
              <a:off x="812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事件告警中心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3" name="p08_contractor-shape-82"/>
            <p:cNvSpPr/>
            <p:nvPr/>
          </p:nvSpPr>
          <p:spPr>
            <a:xfrm>
              <a:off x="1042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4" name="p08_contractor-text-83"/>
            <p:cNvSpPr/>
            <p:nvPr/>
          </p:nvSpPr>
          <p:spPr>
            <a:xfrm>
              <a:off x="1050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工单流程中心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5" name="p08_contractor-shape-84"/>
            <p:cNvSpPr/>
            <p:nvPr/>
          </p:nvSpPr>
          <p:spPr>
            <a:xfrm>
              <a:off x="1280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6" name="p08_contractor-text-85"/>
            <p:cNvSpPr/>
            <p:nvPr/>
          </p:nvSpPr>
          <p:spPr>
            <a:xfrm>
              <a:off x="1288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消息中心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7" name="p08_contractor-shape-86"/>
            <p:cNvSpPr/>
            <p:nvPr/>
          </p:nvSpPr>
          <p:spPr>
            <a:xfrm>
              <a:off x="1518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8" name="p08_contractor-text-87"/>
            <p:cNvSpPr/>
            <p:nvPr/>
          </p:nvSpPr>
          <p:spPr>
            <a:xfrm>
              <a:off x="1526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权限审计中心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9" name="p08_contractor-shape-88"/>
            <p:cNvSpPr/>
            <p:nvPr/>
          </p:nvSpPr>
          <p:spPr>
            <a:xfrm>
              <a:off x="1756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0" name="p08_contractor-text-89"/>
            <p:cNvSpPr/>
            <p:nvPr/>
          </p:nvSpPr>
          <p:spPr>
            <a:xfrm>
              <a:off x="1764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接口任务中心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1" name="p08_contractor-shape-90"/>
            <p:cNvSpPr/>
            <p:nvPr/>
          </p:nvSpPr>
          <p:spPr>
            <a:xfrm>
              <a:off x="1994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2" name="p08_contractor-text-91"/>
            <p:cNvSpPr/>
            <p:nvPr/>
          </p:nvSpPr>
          <p:spPr>
            <a:xfrm>
              <a:off x="2002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指标报表中心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3" name="p08_contractor-text-92"/>
            <p:cNvSpPr/>
            <p:nvPr/>
          </p:nvSpPr>
          <p:spPr>
            <a:xfrm>
              <a:off x="3280" y="9680"/>
              <a:ext cx="1888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0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核心对象：外协单位｜人员档案｜证件资质｜培训考试｜准入权限｜考勤终表｜作业安全｜评价结算单</a:t>
              </a:r>
              <a:endParaRPr lang="en-US" altLang="en-US" sz="10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4" name="p08_contractor-shape-93"/>
            <p:cNvSpPr/>
            <p:nvPr/>
          </p:nvSpPr>
          <p:spPr>
            <a:xfrm>
              <a:off x="800" y="105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5" name="p08_contractor-shape-94"/>
            <p:cNvSpPr/>
            <p:nvPr/>
          </p:nvSpPr>
          <p:spPr>
            <a:xfrm>
              <a:off x="960" y="107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96" name="p08_contractor-text-95"/>
            <p:cNvSpPr/>
            <p:nvPr/>
          </p:nvSpPr>
          <p:spPr>
            <a:xfrm>
              <a:off x="960" y="107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集成物联层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状态联动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7" name="p08_contractor-shape-96"/>
            <p:cNvSpPr/>
            <p:nvPr/>
          </p:nvSpPr>
          <p:spPr>
            <a:xfrm>
              <a:off x="3280" y="10780"/>
              <a:ext cx="910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8" name="p08_contractor-text-97"/>
            <p:cNvSpPr/>
            <p:nvPr/>
          </p:nvSpPr>
          <p:spPr>
            <a:xfrm>
              <a:off x="352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200" b="1" dirty="0">
                  <a:solidFill>
                    <a:srgbClr val="1878C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企业系统协同</a:t>
              </a:r>
              <a:endParaRPr lang="en-US" altLang="en-US" sz="1200" b="1" dirty="0">
                <a:solidFill>
                  <a:srgbClr val="1878C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9" name="p08_contractor-text-98"/>
            <p:cNvSpPr/>
            <p:nvPr/>
          </p:nvSpPr>
          <p:spPr>
            <a:xfrm>
              <a:off x="3520" y="11400"/>
              <a:ext cx="860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iSungrow考勤 · 达实门禁一卡通 · EHS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人力资源 · BPM · ERP / 费控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00" name="p08_contractor-shape-99"/>
            <p:cNvSpPr/>
            <p:nvPr/>
          </p:nvSpPr>
          <p:spPr>
            <a:xfrm>
              <a:off x="12640" y="10780"/>
              <a:ext cx="956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01" name="p08_contractor-text-100"/>
            <p:cNvSpPr/>
            <p:nvPr/>
          </p:nvSpPr>
          <p:spPr>
            <a:xfrm>
              <a:off x="1288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200" b="1" dirty="0">
                  <a:solidFill>
                    <a:srgbClr val="16B8C4"/>
                  </a:solidFill>
                  <a:latin typeface="微软雅黑" charset="0"/>
                  <a:ea typeface="微软雅黑" charset="0"/>
                  <a:cs typeface="微软雅黑" charset="0"/>
                </a:rPr>
                <a:t>现场设备 / 数据源</a:t>
              </a:r>
              <a:endParaRPr lang="en-US" altLang="en-US" sz="1200" b="1" dirty="0">
                <a:solidFill>
                  <a:srgbClr val="16B8C4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02" name="p08_contractor-text-101"/>
            <p:cNvSpPr/>
            <p:nvPr/>
          </p:nvSpPr>
          <p:spPr>
            <a:xfrm>
              <a:off x="12880" y="11400"/>
              <a:ext cx="904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指纹打卡 · 手机定位 · 门禁记录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人员花名册 · EHS检查考核数据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03" name="p08_contractor-shape-102"/>
            <p:cNvSpPr/>
            <p:nvPr/>
          </p:nvSpPr>
          <p:spPr>
            <a:xfrm>
              <a:off x="23160" y="2360"/>
              <a:ext cx="1640" cy="10460"/>
            </a:xfrm>
            <a:prstGeom prst="roundRect">
              <a:avLst>
                <a:gd name="adj" fmla="val 9756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4" name="p08_contractor-shape-103"/>
            <p:cNvSpPr/>
            <p:nvPr/>
          </p:nvSpPr>
          <p:spPr>
            <a:xfrm>
              <a:off x="23300" y="2520"/>
              <a:ext cx="1360" cy="900"/>
            </a:xfrm>
            <a:prstGeom prst="roundRect">
              <a:avLst>
                <a:gd name="adj" fmla="val 13333"/>
              </a:avLst>
            </a:prstGeom>
            <a:solidFill>
              <a:srgbClr val="F28C28"/>
            </a:solidFill>
          </p:spPr>
        </p:sp>
        <p:sp>
          <p:nvSpPr>
            <p:cNvPr id="105" name="p08_contractor-text-104"/>
            <p:cNvSpPr/>
            <p:nvPr/>
          </p:nvSpPr>
          <p:spPr>
            <a:xfrm>
              <a:off x="23300" y="2520"/>
              <a:ext cx="1360" cy="9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统一治理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pic>
          <p:nvPicPr>
            <p:cNvPr id="106" name="p08_contractor-icon-105" descr="preencod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600" y="3700"/>
              <a:ext cx="760" cy="760"/>
            </a:xfrm>
            <a:prstGeom prst="rect">
              <a:avLst/>
            </a:prstGeom>
          </p:spPr>
        </p:pic>
        <p:sp>
          <p:nvSpPr>
            <p:cNvPr id="107" name="p08_contractor-shape-106"/>
            <p:cNvSpPr/>
            <p:nvPr/>
          </p:nvSpPr>
          <p:spPr>
            <a:xfrm>
              <a:off x="23340" y="47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8" name="p08_contractor-text-107"/>
            <p:cNvSpPr/>
            <p:nvPr/>
          </p:nvSpPr>
          <p:spPr>
            <a:xfrm>
              <a:off x="23420" y="47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实名身份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9" name="p08_contractor-shape-108"/>
            <p:cNvSpPr/>
            <p:nvPr/>
          </p:nvSpPr>
          <p:spPr>
            <a:xfrm>
              <a:off x="23340" y="60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0" name="p08_contractor-text-109"/>
            <p:cNvSpPr/>
            <p:nvPr/>
          </p:nvSpPr>
          <p:spPr>
            <a:xfrm>
              <a:off x="23420" y="60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资质校验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1" name="p08_contractor-shape-110"/>
            <p:cNvSpPr/>
            <p:nvPr/>
          </p:nvSpPr>
          <p:spPr>
            <a:xfrm>
              <a:off x="23340" y="73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2" name="p08_contractor-text-111"/>
            <p:cNvSpPr/>
            <p:nvPr/>
          </p:nvSpPr>
          <p:spPr>
            <a:xfrm>
              <a:off x="23420" y="73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权限联动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3" name="p08_contractor-shape-112"/>
            <p:cNvSpPr/>
            <p:nvPr/>
          </p:nvSpPr>
          <p:spPr>
            <a:xfrm>
              <a:off x="23340" y="86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4" name="p08_contractor-text-113"/>
            <p:cNvSpPr/>
            <p:nvPr/>
          </p:nvSpPr>
          <p:spPr>
            <a:xfrm>
              <a:off x="23420" y="86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安全闭环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5" name="p08_contractor-shape-114"/>
            <p:cNvSpPr/>
            <p:nvPr/>
          </p:nvSpPr>
          <p:spPr>
            <a:xfrm>
              <a:off x="23340" y="99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6" name="p08_contractor-text-115"/>
            <p:cNvSpPr/>
            <p:nvPr/>
          </p:nvSpPr>
          <p:spPr>
            <a:xfrm>
              <a:off x="23420" y="99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黑名单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7" name="p08_contractor-shape-116"/>
            <p:cNvSpPr/>
            <p:nvPr/>
          </p:nvSpPr>
          <p:spPr>
            <a:xfrm>
              <a:off x="23340" y="11280"/>
              <a:ext cx="1280" cy="1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8" name="p08_contractor-text-117"/>
            <p:cNvSpPr/>
            <p:nvPr/>
          </p:nvSpPr>
          <p:spPr>
            <a:xfrm>
              <a:off x="23420" y="11280"/>
              <a:ext cx="112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全程审计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9" name="p08_contractor-shape-118"/>
            <p:cNvSpPr/>
            <p:nvPr/>
          </p:nvSpPr>
          <p:spPr>
            <a:xfrm>
              <a:off x="800" y="13040"/>
              <a:ext cx="24000" cy="600"/>
            </a:xfrm>
            <a:prstGeom prst="roundRect">
              <a:avLst>
                <a:gd name="adj" fmla="val 20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20" name="p08_contractor-text-119"/>
            <p:cNvSpPr/>
            <p:nvPr/>
          </p:nvSpPr>
          <p:spPr>
            <a:xfrm>
              <a:off x="1080" y="13040"/>
              <a:ext cx="234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F28C2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关键闭环</a:t>
              </a: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　资格失效自动停权｜未培训限制准入｜异常考勤核查｜隐患复查关闭｜评价扣款联动结算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</p:grpSp>
      <p:sp>
        <p:nvSpPr>
          <p:cNvPr id="5" name="p08_contractor-text-3"/>
          <p:cNvSpPr/>
          <p:nvPr/>
        </p:nvSpPr>
        <p:spPr>
          <a:xfrm>
            <a:off x="489585" y="743585"/>
            <a:ext cx="11938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rPr>
              <a:t>贯通单位、人员、资质培训、准入考勤、作业安全、评价结算、离场黑名单的全过程闭环</a:t>
            </a:r>
            <a:endParaRPr lang="en-US" altLang="en-US" sz="1300" dirty="0">
              <a:solidFill>
                <a:srgbClr val="617487"/>
              </a:solidFill>
              <a:latin typeface="微软雅黑" charset="0"/>
              <a:ea typeface="微软雅黑" charset="0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智慧安防子系统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372745" y="1076960"/>
            <a:ext cx="11417300" cy="5210175"/>
            <a:chOff x="800" y="2360"/>
            <a:chExt cx="24000" cy="11280"/>
          </a:xfrm>
        </p:grpSpPr>
        <p:sp>
          <p:nvSpPr>
            <p:cNvPr id="8" name="p09_security-shape-7"/>
            <p:cNvSpPr/>
            <p:nvPr/>
          </p:nvSpPr>
          <p:spPr>
            <a:xfrm>
              <a:off x="800" y="2360"/>
              <a:ext cx="22100" cy="1200"/>
            </a:xfrm>
            <a:prstGeom prst="roundRect">
              <a:avLst>
                <a:gd name="adj" fmla="val 1333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" name="p09_security-shape-8"/>
            <p:cNvSpPr/>
            <p:nvPr/>
          </p:nvSpPr>
          <p:spPr>
            <a:xfrm>
              <a:off x="960" y="2520"/>
              <a:ext cx="2000" cy="880"/>
            </a:xfrm>
            <a:prstGeom prst="roundRect">
              <a:avLst>
                <a:gd name="adj" fmla="val 13636"/>
              </a:avLst>
            </a:prstGeom>
            <a:solidFill>
              <a:srgbClr val="143A5A"/>
            </a:solidFill>
          </p:spPr>
        </p:sp>
        <p:sp>
          <p:nvSpPr>
            <p:cNvPr id="10" name="p09_security-text-9"/>
            <p:cNvSpPr/>
            <p:nvPr/>
          </p:nvSpPr>
          <p:spPr>
            <a:xfrm>
              <a:off x="960" y="2520"/>
              <a:ext cx="2000" cy="8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角色入口层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" name="p09_security-shape-10"/>
            <p:cNvSpPr/>
            <p:nvPr/>
          </p:nvSpPr>
          <p:spPr>
            <a:xfrm>
              <a:off x="32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2" name="p09_security-text-11"/>
            <p:cNvSpPr/>
            <p:nvPr/>
          </p:nvSpPr>
          <p:spPr>
            <a:xfrm>
              <a:off x="34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集团安防管理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3" name="p09_security-shape-12"/>
            <p:cNvSpPr/>
            <p:nvPr/>
          </p:nvSpPr>
          <p:spPr>
            <a:xfrm>
              <a:off x="640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4" name="p09_security-text-13"/>
            <p:cNvSpPr/>
            <p:nvPr/>
          </p:nvSpPr>
          <p:spPr>
            <a:xfrm>
              <a:off x="652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园区安保人员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5" name="p09_security-shape-14"/>
            <p:cNvSpPr/>
            <p:nvPr/>
          </p:nvSpPr>
          <p:spPr>
            <a:xfrm>
              <a:off x="952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6" name="p09_security-text-15"/>
            <p:cNvSpPr/>
            <p:nvPr/>
          </p:nvSpPr>
          <p:spPr>
            <a:xfrm>
              <a:off x="964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EHS管理人员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7" name="p09_security-shape-16"/>
            <p:cNvSpPr/>
            <p:nvPr/>
          </p:nvSpPr>
          <p:spPr>
            <a:xfrm>
              <a:off x="1264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8" name="p09_security-text-17"/>
            <p:cNvSpPr/>
            <p:nvPr/>
          </p:nvSpPr>
          <p:spPr>
            <a:xfrm>
              <a:off x="1276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值班管理人员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9" name="p09_security-shape-18"/>
            <p:cNvSpPr/>
            <p:nvPr/>
          </p:nvSpPr>
          <p:spPr>
            <a:xfrm>
              <a:off x="1576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0" name="p09_security-text-19"/>
            <p:cNvSpPr/>
            <p:nvPr/>
          </p:nvSpPr>
          <p:spPr>
            <a:xfrm>
              <a:off x="1588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移动处置人员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1" name="p09_security-shape-20"/>
            <p:cNvSpPr/>
            <p:nvPr/>
          </p:nvSpPr>
          <p:spPr>
            <a:xfrm>
              <a:off x="188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2" name="p09_security-text-21"/>
            <p:cNvSpPr/>
            <p:nvPr/>
          </p:nvSpPr>
          <p:spPr>
            <a:xfrm>
              <a:off x="190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安防驾驶舱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3" name="p09_security-shape-22"/>
            <p:cNvSpPr/>
            <p:nvPr/>
          </p:nvSpPr>
          <p:spPr>
            <a:xfrm>
              <a:off x="800" y="37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  <a:effectLst>
              <a:outerShdw blurRad="76200" dist="25400" dir="5400000" algn="bl" rotWithShape="0">
                <a:srgbClr val="143A5A">
                  <a:alpha val="10000"/>
                </a:srgbClr>
              </a:outerShdw>
            </a:effectLst>
          </p:spPr>
        </p:sp>
        <p:sp>
          <p:nvSpPr>
            <p:cNvPr id="24" name="p09_security-shape-23"/>
            <p:cNvSpPr/>
            <p:nvPr/>
          </p:nvSpPr>
          <p:spPr>
            <a:xfrm>
              <a:off x="960" y="39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25" name="p09_security-text-24"/>
            <p:cNvSpPr/>
            <p:nvPr/>
          </p:nvSpPr>
          <p:spPr>
            <a:xfrm>
              <a:off x="960" y="39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安防闭环层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感知到复盘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6" name="p09_security-shape-25"/>
            <p:cNvSpPr/>
            <p:nvPr/>
          </p:nvSpPr>
          <p:spPr>
            <a:xfrm>
              <a:off x="340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27" name="p09_security-text-26"/>
            <p:cNvSpPr/>
            <p:nvPr/>
          </p:nvSpPr>
          <p:spPr>
            <a:xfrm>
              <a:off x="348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多源告警接入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8" name="p09_security-shape-27"/>
            <p:cNvSpPr/>
            <p:nvPr/>
          </p:nvSpPr>
          <p:spPr>
            <a:xfrm>
              <a:off x="548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29" name="p09_security-shape-28"/>
            <p:cNvSpPr/>
            <p:nvPr/>
          </p:nvSpPr>
          <p:spPr>
            <a:xfrm>
              <a:off x="576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30" name="p09_security-text-29"/>
            <p:cNvSpPr/>
            <p:nvPr/>
          </p:nvSpPr>
          <p:spPr>
            <a:xfrm>
              <a:off x="584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地图定位区域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1" name="p09_security-shape-30"/>
            <p:cNvSpPr/>
            <p:nvPr/>
          </p:nvSpPr>
          <p:spPr>
            <a:xfrm>
              <a:off x="784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32" name="p09_security-shape-31"/>
            <p:cNvSpPr/>
            <p:nvPr/>
          </p:nvSpPr>
          <p:spPr>
            <a:xfrm>
              <a:off x="812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33" name="p09_security-text-32"/>
            <p:cNvSpPr/>
            <p:nvPr/>
          </p:nvSpPr>
          <p:spPr>
            <a:xfrm>
              <a:off x="820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视频录像调阅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4" name="p09_security-shape-33"/>
            <p:cNvSpPr/>
            <p:nvPr/>
          </p:nvSpPr>
          <p:spPr>
            <a:xfrm>
              <a:off x="10200" y="4820"/>
              <a:ext cx="28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5" name="p09_security-shape-34"/>
            <p:cNvSpPr/>
            <p:nvPr/>
          </p:nvSpPr>
          <p:spPr>
            <a:xfrm>
              <a:off x="1048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36" name="p09_security-text-35"/>
            <p:cNvSpPr/>
            <p:nvPr/>
          </p:nvSpPr>
          <p:spPr>
            <a:xfrm>
              <a:off x="1056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微软雅黑" charset="0"/>
                </a:rPr>
                <a:t>AI风险识别</a:t>
              </a:r>
              <a:endParaRPr lang="en-US" altLang="en-US" sz="1000" b="1" dirty="0">
                <a:solidFill>
                  <a:srgbClr val="143A5A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7" name="p09_security-shape-36"/>
            <p:cNvSpPr/>
            <p:nvPr/>
          </p:nvSpPr>
          <p:spPr>
            <a:xfrm>
              <a:off x="12560" y="4820"/>
              <a:ext cx="28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8" name="p09_security-shape-37"/>
            <p:cNvSpPr/>
            <p:nvPr/>
          </p:nvSpPr>
          <p:spPr>
            <a:xfrm>
              <a:off x="1284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39" name="p09_security-text-38"/>
            <p:cNvSpPr/>
            <p:nvPr/>
          </p:nvSpPr>
          <p:spPr>
            <a:xfrm>
              <a:off x="1292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告警归一分级</a:t>
              </a:r>
              <a:endParaRPr lang="en-US" altLang="en-US" sz="1000" b="1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0" name="p09_security-shape-39"/>
            <p:cNvSpPr/>
            <p:nvPr/>
          </p:nvSpPr>
          <p:spPr>
            <a:xfrm>
              <a:off x="1492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1" name="p09_security-shape-40"/>
            <p:cNvSpPr/>
            <p:nvPr/>
          </p:nvSpPr>
          <p:spPr>
            <a:xfrm>
              <a:off x="1520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42" name="p09_security-text-41"/>
            <p:cNvSpPr/>
            <p:nvPr/>
          </p:nvSpPr>
          <p:spPr>
            <a:xfrm>
              <a:off x="1528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通知派单处置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3" name="p09_security-shape-42"/>
            <p:cNvSpPr/>
            <p:nvPr/>
          </p:nvSpPr>
          <p:spPr>
            <a:xfrm>
              <a:off x="1728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4" name="p09_security-shape-43"/>
            <p:cNvSpPr/>
            <p:nvPr/>
          </p:nvSpPr>
          <p:spPr>
            <a:xfrm>
              <a:off x="1756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45" name="p09_security-text-44"/>
            <p:cNvSpPr/>
            <p:nvPr/>
          </p:nvSpPr>
          <p:spPr>
            <a:xfrm>
              <a:off x="1764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证据复核关闭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6" name="p09_security-shape-45"/>
            <p:cNvSpPr/>
            <p:nvPr/>
          </p:nvSpPr>
          <p:spPr>
            <a:xfrm>
              <a:off x="1964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7" name="p09_security-shape-46"/>
            <p:cNvSpPr/>
            <p:nvPr/>
          </p:nvSpPr>
          <p:spPr>
            <a:xfrm>
              <a:off x="1992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48" name="p09_security-text-47"/>
            <p:cNvSpPr/>
            <p:nvPr/>
          </p:nvSpPr>
          <p:spPr>
            <a:xfrm>
              <a:off x="2000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统计优化规则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9" name="p09_security-text-48"/>
            <p:cNvSpPr/>
            <p:nvPr/>
          </p:nvSpPr>
          <p:spPr>
            <a:xfrm>
              <a:off x="3400" y="5460"/>
              <a:ext cx="1860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生产、周界、出入口、道路、仓库与危化区域统一纳管，事件处置结果反向优化规则与模型</a:t>
              </a:r>
              <a:endParaRPr lang="en-US" altLang="en-US" sz="10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0" name="p09_security-shape-49"/>
            <p:cNvSpPr/>
            <p:nvPr/>
          </p:nvSpPr>
          <p:spPr>
            <a:xfrm>
              <a:off x="800" y="626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1" name="p09_security-shape-50"/>
            <p:cNvSpPr/>
            <p:nvPr/>
          </p:nvSpPr>
          <p:spPr>
            <a:xfrm>
              <a:off x="960" y="646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6B8C4"/>
            </a:solidFill>
          </p:spPr>
        </p:sp>
        <p:sp>
          <p:nvSpPr>
            <p:cNvPr id="52" name="p09_security-text-51"/>
            <p:cNvSpPr/>
            <p:nvPr/>
          </p:nvSpPr>
          <p:spPr>
            <a:xfrm>
              <a:off x="960" y="646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应用功能层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3" name="p09_security-shape-52"/>
            <p:cNvSpPr/>
            <p:nvPr/>
          </p:nvSpPr>
          <p:spPr>
            <a:xfrm>
              <a:off x="32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4" name="p09_security-text-53"/>
            <p:cNvSpPr/>
            <p:nvPr/>
          </p:nvSpPr>
          <p:spPr>
            <a:xfrm>
              <a:off x="33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视频汇聚管理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5" name="p09_security-shape-54"/>
            <p:cNvSpPr/>
            <p:nvPr/>
          </p:nvSpPr>
          <p:spPr>
            <a:xfrm>
              <a:off x="56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6" name="p09_security-text-55"/>
            <p:cNvSpPr/>
            <p:nvPr/>
          </p:nvSpPr>
          <p:spPr>
            <a:xfrm>
              <a:off x="57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周界出入口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7" name="p09_security-shape-56"/>
            <p:cNvSpPr/>
            <p:nvPr/>
          </p:nvSpPr>
          <p:spPr>
            <a:xfrm>
              <a:off x="80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8" name="p09_security-text-57"/>
            <p:cNvSpPr/>
            <p:nvPr/>
          </p:nvSpPr>
          <p:spPr>
            <a:xfrm>
              <a:off x="81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道路车辆安全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9" name="p09_security-shape-58"/>
            <p:cNvSpPr/>
            <p:nvPr/>
          </p:nvSpPr>
          <p:spPr>
            <a:xfrm>
              <a:off x="104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0" name="p09_security-text-59"/>
            <p:cNvSpPr/>
            <p:nvPr/>
          </p:nvSpPr>
          <p:spPr>
            <a:xfrm>
              <a:off x="105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仓库危化监管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1" name="p09_security-shape-60"/>
            <p:cNvSpPr/>
            <p:nvPr/>
          </p:nvSpPr>
          <p:spPr>
            <a:xfrm>
              <a:off x="128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2" name="p09_security-text-61"/>
            <p:cNvSpPr/>
            <p:nvPr/>
          </p:nvSpPr>
          <p:spPr>
            <a:xfrm>
              <a:off x="129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AI视频分析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63" name="p09_security-shape-62"/>
            <p:cNvSpPr/>
            <p:nvPr/>
          </p:nvSpPr>
          <p:spPr>
            <a:xfrm>
              <a:off x="152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4" name="p09_security-text-63"/>
            <p:cNvSpPr/>
            <p:nvPr/>
          </p:nvSpPr>
          <p:spPr>
            <a:xfrm>
              <a:off x="153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智能告警中心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5" name="p09_security-shape-64"/>
            <p:cNvSpPr/>
            <p:nvPr/>
          </p:nvSpPr>
          <p:spPr>
            <a:xfrm>
              <a:off x="176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6" name="p09_security-text-65"/>
            <p:cNvSpPr/>
            <p:nvPr/>
          </p:nvSpPr>
          <p:spPr>
            <a:xfrm>
              <a:off x="177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视频巡查配置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7" name="p09_security-shape-66"/>
            <p:cNvSpPr/>
            <p:nvPr/>
          </p:nvSpPr>
          <p:spPr>
            <a:xfrm>
              <a:off x="20080" y="6660"/>
              <a:ext cx="212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8" name="p09_security-text-67"/>
            <p:cNvSpPr/>
            <p:nvPr/>
          </p:nvSpPr>
          <p:spPr>
            <a:xfrm>
              <a:off x="20160" y="6660"/>
              <a:ext cx="196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事件联动处置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9" name="p09_security-shape-68"/>
            <p:cNvSpPr/>
            <p:nvPr/>
          </p:nvSpPr>
          <p:spPr>
            <a:xfrm>
              <a:off x="800" y="8740"/>
              <a:ext cx="22100" cy="16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0" name="p09_security-shape-69"/>
            <p:cNvSpPr/>
            <p:nvPr/>
          </p:nvSpPr>
          <p:spPr>
            <a:xfrm>
              <a:off x="960" y="8900"/>
              <a:ext cx="2000" cy="1280"/>
            </a:xfrm>
            <a:prstGeom prst="roundRect">
              <a:avLst>
                <a:gd name="adj" fmla="val 9375"/>
              </a:avLst>
            </a:prstGeom>
            <a:solidFill>
              <a:srgbClr val="143A5A"/>
            </a:solidFill>
          </p:spPr>
        </p:sp>
        <p:sp>
          <p:nvSpPr>
            <p:cNvPr id="71" name="p09_security-text-70"/>
            <p:cNvSpPr/>
            <p:nvPr/>
          </p:nvSpPr>
          <p:spPr>
            <a:xfrm>
              <a:off x="960" y="8900"/>
              <a:ext cx="2000" cy="12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公共平台层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2" name="p09_security-shape-71"/>
            <p:cNvSpPr/>
            <p:nvPr/>
          </p:nvSpPr>
          <p:spPr>
            <a:xfrm>
              <a:off x="328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3" name="p09_security-text-72"/>
            <p:cNvSpPr/>
            <p:nvPr/>
          </p:nvSpPr>
          <p:spPr>
            <a:xfrm>
              <a:off x="336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统一身份认证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4" name="p09_security-shape-73"/>
            <p:cNvSpPr/>
            <p:nvPr/>
          </p:nvSpPr>
          <p:spPr>
            <a:xfrm>
              <a:off x="566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5" name="p09_security-text-74"/>
            <p:cNvSpPr/>
            <p:nvPr/>
          </p:nvSpPr>
          <p:spPr>
            <a:xfrm>
              <a:off x="574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组织与权限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6" name="p09_security-shape-75"/>
            <p:cNvSpPr/>
            <p:nvPr/>
          </p:nvSpPr>
          <p:spPr>
            <a:xfrm>
              <a:off x="804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7" name="p09_security-text-76"/>
            <p:cNvSpPr/>
            <p:nvPr/>
          </p:nvSpPr>
          <p:spPr>
            <a:xfrm>
              <a:off x="812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空间地图服务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8" name="p09_security-shape-77"/>
            <p:cNvSpPr/>
            <p:nvPr/>
          </p:nvSpPr>
          <p:spPr>
            <a:xfrm>
              <a:off x="1042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9" name="p09_security-text-78"/>
            <p:cNvSpPr/>
            <p:nvPr/>
          </p:nvSpPr>
          <p:spPr>
            <a:xfrm>
              <a:off x="1050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事件告警中心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0" name="p09_security-shape-79"/>
            <p:cNvSpPr/>
            <p:nvPr/>
          </p:nvSpPr>
          <p:spPr>
            <a:xfrm>
              <a:off x="1280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1" name="p09_security-text-80"/>
            <p:cNvSpPr/>
            <p:nvPr/>
          </p:nvSpPr>
          <p:spPr>
            <a:xfrm>
              <a:off x="1288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工单流程引擎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2" name="p09_security-shape-81"/>
            <p:cNvSpPr/>
            <p:nvPr/>
          </p:nvSpPr>
          <p:spPr>
            <a:xfrm>
              <a:off x="1518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3" name="p09_security-text-82"/>
            <p:cNvSpPr/>
            <p:nvPr/>
          </p:nvSpPr>
          <p:spPr>
            <a:xfrm>
              <a:off x="1526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消息通知服务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4" name="p09_security-shape-83"/>
            <p:cNvSpPr/>
            <p:nvPr/>
          </p:nvSpPr>
          <p:spPr>
            <a:xfrm>
              <a:off x="1756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5" name="p09_security-text-84"/>
            <p:cNvSpPr/>
            <p:nvPr/>
          </p:nvSpPr>
          <p:spPr>
            <a:xfrm>
              <a:off x="1764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接口管理审计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6" name="p09_security-shape-85"/>
            <p:cNvSpPr/>
            <p:nvPr/>
          </p:nvSpPr>
          <p:spPr>
            <a:xfrm>
              <a:off x="1994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7" name="p09_security-text-86"/>
            <p:cNvSpPr/>
            <p:nvPr/>
          </p:nvSpPr>
          <p:spPr>
            <a:xfrm>
              <a:off x="2002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日志运维监控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8" name="p09_security-text-87"/>
            <p:cNvSpPr/>
            <p:nvPr/>
          </p:nvSpPr>
          <p:spPr>
            <a:xfrm>
              <a:off x="3280" y="9680"/>
              <a:ext cx="1888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0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微软雅黑" charset="0"/>
                </a:rPr>
                <a:t>核心对象：摄像机与视频流｜录像索引｜AI告警｜门禁通行｜空间点位｜人员车辆特征｜处置工单｜审计日志</a:t>
              </a:r>
              <a:endParaRPr lang="en-US" altLang="en-US" sz="1000" dirty="0">
                <a:solidFill>
                  <a:srgbClr val="617487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89" name="p09_security-shape-88"/>
            <p:cNvSpPr/>
            <p:nvPr/>
          </p:nvSpPr>
          <p:spPr>
            <a:xfrm>
              <a:off x="800" y="105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0" name="p09_security-shape-89"/>
            <p:cNvSpPr/>
            <p:nvPr/>
          </p:nvSpPr>
          <p:spPr>
            <a:xfrm>
              <a:off x="960" y="107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91" name="p09_security-text-90"/>
            <p:cNvSpPr/>
            <p:nvPr/>
          </p:nvSpPr>
          <p:spPr>
            <a:xfrm>
              <a:off x="960" y="107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集成物联层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端边云协同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2" name="p09_security-shape-91"/>
            <p:cNvSpPr/>
            <p:nvPr/>
          </p:nvSpPr>
          <p:spPr>
            <a:xfrm>
              <a:off x="3280" y="10780"/>
              <a:ext cx="910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3" name="p09_security-text-92"/>
            <p:cNvSpPr/>
            <p:nvPr/>
          </p:nvSpPr>
          <p:spPr>
            <a:xfrm>
              <a:off x="352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200" b="1" dirty="0">
                  <a:solidFill>
                    <a:srgbClr val="1878C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平台与业务系统</a:t>
              </a:r>
              <a:endParaRPr lang="en-US" altLang="en-US" sz="1200" b="1" dirty="0">
                <a:solidFill>
                  <a:srgbClr val="1878C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4" name="p09_security-text-93"/>
            <p:cNvSpPr/>
            <p:nvPr/>
          </p:nvSpPr>
          <p:spPr>
            <a:xfrm>
              <a:off x="3520" y="11400"/>
              <a:ext cx="860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视频监控 · EHS · iSungrow / 钉钉 · 门禁一卡通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车辆管理 · 气体检测定位 · MDM / 空间数据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5" name="p09_security-shape-94"/>
            <p:cNvSpPr/>
            <p:nvPr/>
          </p:nvSpPr>
          <p:spPr>
            <a:xfrm>
              <a:off x="12640" y="10780"/>
              <a:ext cx="956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6" name="p09_security-text-95"/>
            <p:cNvSpPr/>
            <p:nvPr/>
          </p:nvSpPr>
          <p:spPr>
            <a:xfrm>
              <a:off x="1288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200" b="1" dirty="0">
                  <a:solidFill>
                    <a:srgbClr val="16B8C4"/>
                  </a:solidFill>
                  <a:latin typeface="微软雅黑" charset="0"/>
                  <a:ea typeface="微软雅黑" charset="0"/>
                  <a:cs typeface="微软雅黑" charset="0"/>
                </a:rPr>
                <a:t>感知设备 / 边缘资源</a:t>
              </a:r>
              <a:endParaRPr lang="en-US" altLang="en-US" sz="1200" b="1" dirty="0">
                <a:solidFill>
                  <a:srgbClr val="16B8C4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7" name="p09_security-text-96"/>
            <p:cNvSpPr/>
            <p:nvPr/>
          </p:nvSpPr>
          <p:spPr>
            <a:xfrm>
              <a:off x="12880" y="11400"/>
              <a:ext cx="904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摄像机 · 门禁道闸 · 周界防区 · 消防告警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气体检测 · 人员定位 · 其他物联设备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8" name="p09_security-shape-97"/>
            <p:cNvSpPr/>
            <p:nvPr/>
          </p:nvSpPr>
          <p:spPr>
            <a:xfrm>
              <a:off x="23160" y="2360"/>
              <a:ext cx="1640" cy="10460"/>
            </a:xfrm>
            <a:prstGeom prst="roundRect">
              <a:avLst>
                <a:gd name="adj" fmla="val 9756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99" name="p09_security-shape-98"/>
            <p:cNvSpPr/>
            <p:nvPr/>
          </p:nvSpPr>
          <p:spPr>
            <a:xfrm>
              <a:off x="23300" y="2520"/>
              <a:ext cx="1360" cy="900"/>
            </a:xfrm>
            <a:prstGeom prst="roundRect">
              <a:avLst>
                <a:gd name="adj" fmla="val 13333"/>
              </a:avLst>
            </a:prstGeom>
            <a:solidFill>
              <a:srgbClr val="F28C28"/>
            </a:solidFill>
          </p:spPr>
        </p:sp>
        <p:sp>
          <p:nvSpPr>
            <p:cNvPr id="100" name="p09_security-text-99"/>
            <p:cNvSpPr/>
            <p:nvPr/>
          </p:nvSpPr>
          <p:spPr>
            <a:xfrm>
              <a:off x="23300" y="2520"/>
              <a:ext cx="1360" cy="9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安全治理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pic>
          <p:nvPicPr>
            <p:cNvPr id="101" name="p09_security-icon-100" descr="preencod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600" y="3700"/>
              <a:ext cx="760" cy="760"/>
            </a:xfrm>
            <a:prstGeom prst="rect">
              <a:avLst/>
            </a:prstGeom>
          </p:spPr>
        </p:pic>
        <p:sp>
          <p:nvSpPr>
            <p:cNvPr id="102" name="p09_security-shape-101"/>
            <p:cNvSpPr/>
            <p:nvPr/>
          </p:nvSpPr>
          <p:spPr>
            <a:xfrm>
              <a:off x="23340" y="47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3" name="p09_security-text-102"/>
            <p:cNvSpPr/>
            <p:nvPr/>
          </p:nvSpPr>
          <p:spPr>
            <a:xfrm>
              <a:off x="23420" y="47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设备身份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4" name="p09_security-shape-103"/>
            <p:cNvSpPr/>
            <p:nvPr/>
          </p:nvSpPr>
          <p:spPr>
            <a:xfrm>
              <a:off x="23340" y="60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5" name="p09_security-text-104"/>
            <p:cNvSpPr/>
            <p:nvPr/>
          </p:nvSpPr>
          <p:spPr>
            <a:xfrm>
              <a:off x="23420" y="60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视频权限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6" name="p09_security-shape-105"/>
            <p:cNvSpPr/>
            <p:nvPr/>
          </p:nvSpPr>
          <p:spPr>
            <a:xfrm>
              <a:off x="23340" y="73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7" name="p09_security-text-106"/>
            <p:cNvSpPr/>
            <p:nvPr/>
          </p:nvSpPr>
          <p:spPr>
            <a:xfrm>
              <a:off x="23420" y="73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告警分级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8" name="p09_security-shape-107"/>
            <p:cNvSpPr/>
            <p:nvPr/>
          </p:nvSpPr>
          <p:spPr>
            <a:xfrm>
              <a:off x="23340" y="86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9" name="p09_security-text-108"/>
            <p:cNvSpPr/>
            <p:nvPr/>
          </p:nvSpPr>
          <p:spPr>
            <a:xfrm>
              <a:off x="23420" y="86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超时升级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0" name="p09_security-shape-109"/>
            <p:cNvSpPr/>
            <p:nvPr/>
          </p:nvSpPr>
          <p:spPr>
            <a:xfrm>
              <a:off x="23340" y="99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1" name="p09_security-text-110"/>
            <p:cNvSpPr/>
            <p:nvPr/>
          </p:nvSpPr>
          <p:spPr>
            <a:xfrm>
              <a:off x="23420" y="99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误报优化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2" name="p09_security-shape-111"/>
            <p:cNvSpPr/>
            <p:nvPr/>
          </p:nvSpPr>
          <p:spPr>
            <a:xfrm>
              <a:off x="23340" y="11280"/>
              <a:ext cx="1280" cy="1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3" name="p09_security-text-112"/>
            <p:cNvSpPr/>
            <p:nvPr/>
          </p:nvSpPr>
          <p:spPr>
            <a:xfrm>
              <a:off x="23420" y="11280"/>
              <a:ext cx="112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全程审计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4" name="p09_security-shape-113"/>
            <p:cNvSpPr/>
            <p:nvPr/>
          </p:nvSpPr>
          <p:spPr>
            <a:xfrm>
              <a:off x="800" y="13040"/>
              <a:ext cx="24000" cy="600"/>
            </a:xfrm>
            <a:prstGeom prst="roundRect">
              <a:avLst>
                <a:gd name="adj" fmla="val 20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5" name="p09_security-text-114"/>
            <p:cNvSpPr/>
            <p:nvPr/>
          </p:nvSpPr>
          <p:spPr>
            <a:xfrm>
              <a:off x="1080" y="13040"/>
              <a:ext cx="234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F28C2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重点识别</a:t>
              </a: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　安全穿戴｜入侵越界｜烟火倒地｜车辆逆行违停｜人车分流｜设备离线与视频质量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</p:grpSp>
      <p:sp>
        <p:nvSpPr>
          <p:cNvPr id="5" name="p09_security-text-3"/>
          <p:cNvSpPr/>
          <p:nvPr/>
        </p:nvSpPr>
        <p:spPr>
          <a:xfrm>
            <a:off x="448945" y="803910"/>
            <a:ext cx="11938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17487"/>
                </a:solidFill>
                <a:latin typeface="微软雅黑" charset="0"/>
                <a:ea typeface="微软雅黑" charset="0"/>
                <a:cs typeface="微软雅黑" charset="0"/>
              </a:rPr>
              <a:t>以统一视频汇聚为入口、AI识别与告警归一为核心、事件工单联动为闭环</a:t>
            </a:r>
            <a:endParaRPr lang="en-US" altLang="en-US" sz="1300" dirty="0">
              <a:solidFill>
                <a:srgbClr val="61748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智慧消防子系统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377825" y="1066165"/>
            <a:ext cx="11485880" cy="5252720"/>
            <a:chOff x="800" y="2360"/>
            <a:chExt cx="24000" cy="11280"/>
          </a:xfrm>
        </p:grpSpPr>
        <p:sp>
          <p:nvSpPr>
            <p:cNvPr id="8" name="p10_fire-shape-7"/>
            <p:cNvSpPr/>
            <p:nvPr/>
          </p:nvSpPr>
          <p:spPr>
            <a:xfrm>
              <a:off x="800" y="2360"/>
              <a:ext cx="22100" cy="1200"/>
            </a:xfrm>
            <a:prstGeom prst="roundRect">
              <a:avLst>
                <a:gd name="adj" fmla="val 1333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" name="p10_fire-shape-8"/>
            <p:cNvSpPr/>
            <p:nvPr/>
          </p:nvSpPr>
          <p:spPr>
            <a:xfrm>
              <a:off x="960" y="2520"/>
              <a:ext cx="2000" cy="880"/>
            </a:xfrm>
            <a:prstGeom prst="roundRect">
              <a:avLst>
                <a:gd name="adj" fmla="val 13636"/>
              </a:avLst>
            </a:prstGeom>
            <a:solidFill>
              <a:srgbClr val="143A5A"/>
            </a:solidFill>
          </p:spPr>
        </p:sp>
        <p:sp>
          <p:nvSpPr>
            <p:cNvPr id="10" name="p10_fire-text-9"/>
            <p:cNvSpPr/>
            <p:nvPr/>
          </p:nvSpPr>
          <p:spPr>
            <a:xfrm>
              <a:off x="960" y="2520"/>
              <a:ext cx="2000" cy="8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角色入口层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" name="p10_fire-shape-10"/>
            <p:cNvSpPr/>
            <p:nvPr/>
          </p:nvSpPr>
          <p:spPr>
            <a:xfrm>
              <a:off x="32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2" name="p10_fire-text-11"/>
            <p:cNvSpPr/>
            <p:nvPr/>
          </p:nvSpPr>
          <p:spPr>
            <a:xfrm>
              <a:off x="34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消防管理PC端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3" name="p10_fire-shape-12"/>
            <p:cNvSpPr/>
            <p:nvPr/>
          </p:nvSpPr>
          <p:spPr>
            <a:xfrm>
              <a:off x="640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4" name="p10_fire-text-13"/>
            <p:cNvSpPr/>
            <p:nvPr/>
          </p:nvSpPr>
          <p:spPr>
            <a:xfrm>
              <a:off x="652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值班人员移动端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5" name="p10_fire-shape-14"/>
            <p:cNvSpPr/>
            <p:nvPr/>
          </p:nvSpPr>
          <p:spPr>
            <a:xfrm>
              <a:off x="952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6" name="p10_fire-text-15"/>
            <p:cNvSpPr/>
            <p:nvPr/>
          </p:nvSpPr>
          <p:spPr>
            <a:xfrm>
              <a:off x="964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巡检维保PDA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7" name="p10_fire-shape-16"/>
            <p:cNvSpPr/>
            <p:nvPr/>
          </p:nvSpPr>
          <p:spPr>
            <a:xfrm>
              <a:off x="1264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8" name="p10_fire-text-17"/>
            <p:cNvSpPr/>
            <p:nvPr/>
          </p:nvSpPr>
          <p:spPr>
            <a:xfrm>
              <a:off x="1276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应急指挥大屏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9" name="p10_fire-shape-18"/>
            <p:cNvSpPr/>
            <p:nvPr/>
          </p:nvSpPr>
          <p:spPr>
            <a:xfrm>
              <a:off x="1576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0" name="p10_fire-text-19"/>
            <p:cNvSpPr/>
            <p:nvPr/>
          </p:nvSpPr>
          <p:spPr>
            <a:xfrm>
              <a:off x="1588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现场处置手机端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1" name="p10_fire-shape-20"/>
            <p:cNvSpPr/>
            <p:nvPr/>
          </p:nvSpPr>
          <p:spPr>
            <a:xfrm>
              <a:off x="188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2" name="p10_fire-text-21"/>
            <p:cNvSpPr/>
            <p:nvPr/>
          </p:nvSpPr>
          <p:spPr>
            <a:xfrm>
              <a:off x="190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消防一张图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3" name="p10_fire-shape-22"/>
            <p:cNvSpPr/>
            <p:nvPr/>
          </p:nvSpPr>
          <p:spPr>
            <a:xfrm>
              <a:off x="800" y="37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  <a:effectLst>
              <a:outerShdw blurRad="76200" dist="25400" dir="5400000" algn="bl" rotWithShape="0">
                <a:srgbClr val="143A5A">
                  <a:alpha val="10000"/>
                </a:srgbClr>
              </a:outerShdw>
            </a:effectLst>
          </p:spPr>
        </p:sp>
        <p:sp>
          <p:nvSpPr>
            <p:cNvPr id="24" name="p10_fire-shape-23"/>
            <p:cNvSpPr/>
            <p:nvPr/>
          </p:nvSpPr>
          <p:spPr>
            <a:xfrm>
              <a:off x="960" y="39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25" name="p10_fire-text-24"/>
            <p:cNvSpPr/>
            <p:nvPr/>
          </p:nvSpPr>
          <p:spPr>
            <a:xfrm>
              <a:off x="960" y="39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消防闭环层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监测到复盘</a:t>
              </a:r>
              <a:endParaRPr lang="en-US" sz="1200" dirty="0">
                <a:latin typeface="微软雅黑" charset="0"/>
                <a:ea typeface="微软雅黑" charset="0"/>
              </a:endParaRPr>
            </a:p>
          </p:txBody>
        </p:sp>
        <p:sp>
          <p:nvSpPr>
            <p:cNvPr id="26" name="p10_fire-shape-25"/>
            <p:cNvSpPr/>
            <p:nvPr/>
          </p:nvSpPr>
          <p:spPr>
            <a:xfrm>
              <a:off x="340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27" name="p10_fire-text-26"/>
            <p:cNvSpPr/>
            <p:nvPr/>
          </p:nvSpPr>
          <p:spPr>
            <a:xfrm>
              <a:off x="348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设施在线监测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8" name="p10_fire-shape-27"/>
            <p:cNvSpPr/>
            <p:nvPr/>
          </p:nvSpPr>
          <p:spPr>
            <a:xfrm>
              <a:off x="548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29" name="p10_fire-shape-28"/>
            <p:cNvSpPr/>
            <p:nvPr/>
          </p:nvSpPr>
          <p:spPr>
            <a:xfrm>
              <a:off x="576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30" name="p10_fire-text-29"/>
            <p:cNvSpPr/>
            <p:nvPr/>
          </p:nvSpPr>
          <p:spPr>
            <a:xfrm>
              <a:off x="584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风险早期预警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1" name="p10_fire-shape-30"/>
            <p:cNvSpPr/>
            <p:nvPr/>
          </p:nvSpPr>
          <p:spPr>
            <a:xfrm>
              <a:off x="7840" y="4820"/>
              <a:ext cx="28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2" name="p10_fire-shape-31"/>
            <p:cNvSpPr/>
            <p:nvPr/>
          </p:nvSpPr>
          <p:spPr>
            <a:xfrm>
              <a:off x="812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33" name="p10_fire-text-32"/>
            <p:cNvSpPr/>
            <p:nvPr/>
          </p:nvSpPr>
          <p:spPr>
            <a:xfrm>
              <a:off x="820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报警确认复核</a:t>
              </a:r>
              <a:endParaRPr lang="en-US" altLang="en-US" sz="1000" b="1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4" name="p10_fire-shape-33"/>
            <p:cNvSpPr/>
            <p:nvPr/>
          </p:nvSpPr>
          <p:spPr>
            <a:xfrm>
              <a:off x="10200" y="4820"/>
              <a:ext cx="28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5" name="p10_fire-shape-34"/>
            <p:cNvSpPr/>
            <p:nvPr/>
          </p:nvSpPr>
          <p:spPr>
            <a:xfrm>
              <a:off x="1048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36" name="p10_fire-text-35"/>
            <p:cNvSpPr/>
            <p:nvPr/>
          </p:nvSpPr>
          <p:spPr>
            <a:xfrm>
              <a:off x="1056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预案匹配通知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7" name="p10_fire-shape-36"/>
            <p:cNvSpPr/>
            <p:nvPr/>
          </p:nvSpPr>
          <p:spPr>
            <a:xfrm>
              <a:off x="12560" y="4820"/>
              <a:ext cx="28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8" name="p10_fire-shape-37"/>
            <p:cNvSpPr/>
            <p:nvPr/>
          </p:nvSpPr>
          <p:spPr>
            <a:xfrm>
              <a:off x="1284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39" name="p10_fire-text-38"/>
            <p:cNvSpPr/>
            <p:nvPr/>
          </p:nvSpPr>
          <p:spPr>
            <a:xfrm>
              <a:off x="1292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应急联动处置</a:t>
              </a:r>
              <a:endParaRPr lang="en-US" altLang="en-US" sz="1000" b="1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0" name="p10_fire-shape-39"/>
            <p:cNvSpPr/>
            <p:nvPr/>
          </p:nvSpPr>
          <p:spPr>
            <a:xfrm>
              <a:off x="1492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1" name="p10_fire-shape-40"/>
            <p:cNvSpPr/>
            <p:nvPr/>
          </p:nvSpPr>
          <p:spPr>
            <a:xfrm>
              <a:off x="1520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42" name="p10_fire-text-41"/>
            <p:cNvSpPr/>
            <p:nvPr/>
          </p:nvSpPr>
          <p:spPr>
            <a:xfrm>
              <a:off x="1528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巡检维保执行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3" name="p10_fire-shape-42"/>
            <p:cNvSpPr/>
            <p:nvPr/>
          </p:nvSpPr>
          <p:spPr>
            <a:xfrm>
              <a:off x="1728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4" name="p10_fire-shape-43"/>
            <p:cNvSpPr/>
            <p:nvPr/>
          </p:nvSpPr>
          <p:spPr>
            <a:xfrm>
              <a:off x="1756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45" name="p10_fire-text-44"/>
            <p:cNvSpPr/>
            <p:nvPr/>
          </p:nvSpPr>
          <p:spPr>
            <a:xfrm>
              <a:off x="1764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隐患整改销项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6" name="p10_fire-shape-45"/>
            <p:cNvSpPr/>
            <p:nvPr/>
          </p:nvSpPr>
          <p:spPr>
            <a:xfrm>
              <a:off x="1964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7" name="p10_fire-shape-46"/>
            <p:cNvSpPr/>
            <p:nvPr/>
          </p:nvSpPr>
          <p:spPr>
            <a:xfrm>
              <a:off x="1992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48" name="p10_fire-text-47"/>
            <p:cNvSpPr/>
            <p:nvPr/>
          </p:nvSpPr>
          <p:spPr>
            <a:xfrm>
              <a:off x="2000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复盘分析改进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9" name="p10_fire-text-48"/>
            <p:cNvSpPr/>
            <p:nvPr/>
          </p:nvSpPr>
          <p:spPr>
            <a:xfrm>
              <a:off x="3400" y="5460"/>
              <a:ext cx="1860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报警确认、预案启动、联动控制、人员疏散与结果复核均纳入统一事件工单链路</a:t>
              </a:r>
              <a:endParaRPr lang="en-US" altLang="en-US" sz="10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0" name="p10_fire-shape-49"/>
            <p:cNvSpPr/>
            <p:nvPr/>
          </p:nvSpPr>
          <p:spPr>
            <a:xfrm>
              <a:off x="800" y="626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1" name="p10_fire-shape-50"/>
            <p:cNvSpPr/>
            <p:nvPr/>
          </p:nvSpPr>
          <p:spPr>
            <a:xfrm>
              <a:off x="960" y="646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6B8C4"/>
            </a:solidFill>
          </p:spPr>
        </p:sp>
        <p:sp>
          <p:nvSpPr>
            <p:cNvPr id="52" name="p10_fire-text-51"/>
            <p:cNvSpPr/>
            <p:nvPr/>
          </p:nvSpPr>
          <p:spPr>
            <a:xfrm>
              <a:off x="960" y="646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应用功能层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3" name="p10_fire-shape-52"/>
            <p:cNvSpPr/>
            <p:nvPr/>
          </p:nvSpPr>
          <p:spPr>
            <a:xfrm>
              <a:off x="328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4" name="p10_fire-text-53"/>
            <p:cNvSpPr/>
            <p:nvPr/>
          </p:nvSpPr>
          <p:spPr>
            <a:xfrm>
              <a:off x="336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设备接入监测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5" name="p10_fire-shape-54"/>
            <p:cNvSpPr/>
            <p:nvPr/>
          </p:nvSpPr>
          <p:spPr>
            <a:xfrm>
              <a:off x="540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6" name="p10_fire-text-55"/>
            <p:cNvSpPr/>
            <p:nvPr/>
          </p:nvSpPr>
          <p:spPr>
            <a:xfrm>
              <a:off x="548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火灾早期预警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7" name="p10_fire-shape-56"/>
            <p:cNvSpPr/>
            <p:nvPr/>
          </p:nvSpPr>
          <p:spPr>
            <a:xfrm>
              <a:off x="752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8" name="p10_fire-text-57"/>
            <p:cNvSpPr/>
            <p:nvPr/>
          </p:nvSpPr>
          <p:spPr>
            <a:xfrm>
              <a:off x="760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报警确认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9" name="p10_fire-shape-58"/>
            <p:cNvSpPr/>
            <p:nvPr/>
          </p:nvSpPr>
          <p:spPr>
            <a:xfrm>
              <a:off x="964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0" name="p10_fire-text-59"/>
            <p:cNvSpPr/>
            <p:nvPr/>
          </p:nvSpPr>
          <p:spPr>
            <a:xfrm>
              <a:off x="972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应急联动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1" name="p10_fire-shape-60"/>
            <p:cNvSpPr/>
            <p:nvPr/>
          </p:nvSpPr>
          <p:spPr>
            <a:xfrm>
              <a:off x="1176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2" name="p10_fire-text-61"/>
            <p:cNvSpPr/>
            <p:nvPr/>
          </p:nvSpPr>
          <p:spPr>
            <a:xfrm>
              <a:off x="1184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消防一张图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3" name="p10_fire-shape-62"/>
            <p:cNvSpPr/>
            <p:nvPr/>
          </p:nvSpPr>
          <p:spPr>
            <a:xfrm>
              <a:off x="1388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4" name="p10_fire-text-63"/>
            <p:cNvSpPr/>
            <p:nvPr/>
          </p:nvSpPr>
          <p:spPr>
            <a:xfrm>
              <a:off x="1396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巡检与维保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5" name="p10_fire-shape-64"/>
            <p:cNvSpPr/>
            <p:nvPr/>
          </p:nvSpPr>
          <p:spPr>
            <a:xfrm>
              <a:off x="1600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6" name="p10_fire-text-65"/>
            <p:cNvSpPr/>
            <p:nvPr/>
          </p:nvSpPr>
          <p:spPr>
            <a:xfrm>
              <a:off x="1608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隐患整改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7" name="p10_fire-shape-66"/>
            <p:cNvSpPr/>
            <p:nvPr/>
          </p:nvSpPr>
          <p:spPr>
            <a:xfrm>
              <a:off x="1812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8" name="p10_fire-text-67"/>
            <p:cNvSpPr/>
            <p:nvPr/>
          </p:nvSpPr>
          <p:spPr>
            <a:xfrm>
              <a:off x="1820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培训演练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9" name="p10_fire-shape-68"/>
            <p:cNvSpPr/>
            <p:nvPr/>
          </p:nvSpPr>
          <p:spPr>
            <a:xfrm>
              <a:off x="20240" y="6660"/>
              <a:ext cx="196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0" name="p10_fire-text-69"/>
            <p:cNvSpPr/>
            <p:nvPr/>
          </p:nvSpPr>
          <p:spPr>
            <a:xfrm>
              <a:off x="20320" y="6660"/>
              <a:ext cx="180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统计分析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1" name="p10_fire-shape-70"/>
            <p:cNvSpPr/>
            <p:nvPr/>
          </p:nvSpPr>
          <p:spPr>
            <a:xfrm>
              <a:off x="800" y="8740"/>
              <a:ext cx="22100" cy="16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2" name="p10_fire-shape-71"/>
            <p:cNvSpPr/>
            <p:nvPr/>
          </p:nvSpPr>
          <p:spPr>
            <a:xfrm>
              <a:off x="960" y="8900"/>
              <a:ext cx="2000" cy="1280"/>
            </a:xfrm>
            <a:prstGeom prst="roundRect">
              <a:avLst>
                <a:gd name="adj" fmla="val 9375"/>
              </a:avLst>
            </a:prstGeom>
            <a:solidFill>
              <a:srgbClr val="143A5A"/>
            </a:solidFill>
          </p:spPr>
        </p:sp>
        <p:sp>
          <p:nvSpPr>
            <p:cNvPr id="73" name="p10_fire-text-72"/>
            <p:cNvSpPr/>
            <p:nvPr/>
          </p:nvSpPr>
          <p:spPr>
            <a:xfrm>
              <a:off x="960" y="8900"/>
              <a:ext cx="2000" cy="12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公共平台层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4" name="p10_fire-shape-73"/>
            <p:cNvSpPr/>
            <p:nvPr/>
          </p:nvSpPr>
          <p:spPr>
            <a:xfrm>
              <a:off x="328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5" name="p10_fire-text-74"/>
            <p:cNvSpPr/>
            <p:nvPr/>
          </p:nvSpPr>
          <p:spPr>
            <a:xfrm>
              <a:off x="336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统一门户身份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6" name="p10_fire-shape-75"/>
            <p:cNvSpPr/>
            <p:nvPr/>
          </p:nvSpPr>
          <p:spPr>
            <a:xfrm>
              <a:off x="566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7" name="p10_fire-text-76"/>
            <p:cNvSpPr/>
            <p:nvPr/>
          </p:nvSpPr>
          <p:spPr>
            <a:xfrm>
              <a:off x="574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空间地图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8" name="p10_fire-shape-77"/>
            <p:cNvSpPr/>
            <p:nvPr/>
          </p:nvSpPr>
          <p:spPr>
            <a:xfrm>
              <a:off x="804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9" name="p10_fire-text-78"/>
            <p:cNvSpPr/>
            <p:nvPr/>
          </p:nvSpPr>
          <p:spPr>
            <a:xfrm>
              <a:off x="812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资产设备台账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0" name="p10_fire-shape-79"/>
            <p:cNvSpPr/>
            <p:nvPr/>
          </p:nvSpPr>
          <p:spPr>
            <a:xfrm>
              <a:off x="1042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1" name="p10_fire-text-80"/>
            <p:cNvSpPr/>
            <p:nvPr/>
          </p:nvSpPr>
          <p:spPr>
            <a:xfrm>
              <a:off x="1050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事件中心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2" name="p10_fire-shape-81"/>
            <p:cNvSpPr/>
            <p:nvPr/>
          </p:nvSpPr>
          <p:spPr>
            <a:xfrm>
              <a:off x="1280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3" name="p10_fire-text-82"/>
            <p:cNvSpPr/>
            <p:nvPr/>
          </p:nvSpPr>
          <p:spPr>
            <a:xfrm>
              <a:off x="1288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工单中心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4" name="p10_fire-shape-83"/>
            <p:cNvSpPr/>
            <p:nvPr/>
          </p:nvSpPr>
          <p:spPr>
            <a:xfrm>
              <a:off x="1518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5" name="p10_fire-text-84"/>
            <p:cNvSpPr/>
            <p:nvPr/>
          </p:nvSpPr>
          <p:spPr>
            <a:xfrm>
              <a:off x="1526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流程规则引擎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6" name="p10_fire-shape-85"/>
            <p:cNvSpPr/>
            <p:nvPr/>
          </p:nvSpPr>
          <p:spPr>
            <a:xfrm>
              <a:off x="1756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7" name="p10_fire-text-86"/>
            <p:cNvSpPr/>
            <p:nvPr/>
          </p:nvSpPr>
          <p:spPr>
            <a:xfrm>
              <a:off x="1764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消息中心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8" name="p10_fire-shape-87"/>
            <p:cNvSpPr/>
            <p:nvPr/>
          </p:nvSpPr>
          <p:spPr>
            <a:xfrm>
              <a:off x="1994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9" name="p10_fire-text-88"/>
            <p:cNvSpPr/>
            <p:nvPr/>
          </p:nvSpPr>
          <p:spPr>
            <a:xfrm>
              <a:off x="2002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权限日志指标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0" name="p10_fire-text-89"/>
            <p:cNvSpPr/>
            <p:nvPr/>
          </p:nvSpPr>
          <p:spPr>
            <a:xfrm>
              <a:off x="3280" y="9680"/>
              <a:ext cx="1888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0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核心对象：园区空间｜消防设施台账｜设备状态｜火灾报警｜预警故障｜巡检维保｜隐患整改｜应急处置</a:t>
              </a:r>
              <a:endParaRPr lang="en-US" altLang="en-US" sz="10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1" name="p10_fire-shape-90"/>
            <p:cNvSpPr/>
            <p:nvPr/>
          </p:nvSpPr>
          <p:spPr>
            <a:xfrm>
              <a:off x="800" y="105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2" name="p10_fire-shape-91"/>
            <p:cNvSpPr/>
            <p:nvPr/>
          </p:nvSpPr>
          <p:spPr>
            <a:xfrm>
              <a:off x="960" y="107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93" name="p10_fire-text-92"/>
            <p:cNvSpPr/>
            <p:nvPr/>
          </p:nvSpPr>
          <p:spPr>
            <a:xfrm>
              <a:off x="960" y="107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感知接入层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统一物联</a:t>
              </a:r>
              <a:endParaRPr lang="en-US" sz="1200" dirty="0">
                <a:latin typeface="微软雅黑" charset="0"/>
                <a:ea typeface="微软雅黑" charset="0"/>
              </a:endParaRPr>
            </a:p>
          </p:txBody>
        </p:sp>
        <p:sp>
          <p:nvSpPr>
            <p:cNvPr id="94" name="p10_fire-shape-93"/>
            <p:cNvSpPr/>
            <p:nvPr/>
          </p:nvSpPr>
          <p:spPr>
            <a:xfrm>
              <a:off x="3280" y="10780"/>
              <a:ext cx="910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5" name="p10_fire-text-94"/>
            <p:cNvSpPr/>
            <p:nvPr/>
          </p:nvSpPr>
          <p:spPr>
            <a:xfrm>
              <a:off x="352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200" b="1" dirty="0">
                  <a:solidFill>
                    <a:srgbClr val="1878C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业务平台协同</a:t>
              </a:r>
              <a:endParaRPr lang="en-US" altLang="en-US" sz="1200" b="1" dirty="0">
                <a:solidFill>
                  <a:srgbClr val="1878C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6" name="p10_fire-text-95"/>
            <p:cNvSpPr/>
            <p:nvPr/>
          </p:nvSpPr>
          <p:spPr>
            <a:xfrm>
              <a:off x="3520" y="11400"/>
              <a:ext cx="860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视频平台 · 门禁系统 · EHS · EAM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消息中心 · 空间地图 · 应急资源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7" name="p10_fire-shape-96"/>
            <p:cNvSpPr/>
            <p:nvPr/>
          </p:nvSpPr>
          <p:spPr>
            <a:xfrm>
              <a:off x="12640" y="10780"/>
              <a:ext cx="956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8" name="p10_fire-text-97"/>
            <p:cNvSpPr/>
            <p:nvPr/>
          </p:nvSpPr>
          <p:spPr>
            <a:xfrm>
              <a:off x="1288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200" b="1" dirty="0">
                  <a:solidFill>
                    <a:srgbClr val="16B8C4"/>
                  </a:solidFill>
                  <a:latin typeface="微软雅黑" charset="0"/>
                  <a:ea typeface="微软雅黑" charset="0"/>
                  <a:cs typeface="微软雅黑" charset="0"/>
                </a:rPr>
                <a:t>消防设施 / 专业感知</a:t>
              </a:r>
              <a:endParaRPr lang="en-US" altLang="en-US" sz="1200" b="1" dirty="0">
                <a:solidFill>
                  <a:srgbClr val="16B8C4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9" name="p10_fire-text-98"/>
            <p:cNvSpPr/>
            <p:nvPr/>
          </p:nvSpPr>
          <p:spPr>
            <a:xfrm>
              <a:off x="12880" y="11400"/>
              <a:ext cx="904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消防主机探测器 · 水系统泵阀 · 防排烟 · 电气火灾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应急照明/消防电源 · 气体灭火 · 热成像视频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00" name="p10_fire-shape-99"/>
            <p:cNvSpPr/>
            <p:nvPr/>
          </p:nvSpPr>
          <p:spPr>
            <a:xfrm>
              <a:off x="23160" y="2360"/>
              <a:ext cx="1640" cy="10460"/>
            </a:xfrm>
            <a:prstGeom prst="roundRect">
              <a:avLst>
                <a:gd name="adj" fmla="val 9756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1" name="p10_fire-shape-100"/>
            <p:cNvSpPr/>
            <p:nvPr/>
          </p:nvSpPr>
          <p:spPr>
            <a:xfrm>
              <a:off x="23300" y="2520"/>
              <a:ext cx="1360" cy="900"/>
            </a:xfrm>
            <a:prstGeom prst="roundRect">
              <a:avLst>
                <a:gd name="adj" fmla="val 13333"/>
              </a:avLst>
            </a:prstGeom>
            <a:solidFill>
              <a:srgbClr val="F28C28"/>
            </a:solidFill>
          </p:spPr>
        </p:sp>
        <p:sp>
          <p:nvSpPr>
            <p:cNvPr id="102" name="p10_fire-text-101"/>
            <p:cNvSpPr/>
            <p:nvPr/>
          </p:nvSpPr>
          <p:spPr>
            <a:xfrm>
              <a:off x="23300" y="2520"/>
              <a:ext cx="1360" cy="9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安全控制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pic>
          <p:nvPicPr>
            <p:cNvPr id="103" name="p10_fire-icon-102" descr="preencod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600" y="3700"/>
              <a:ext cx="760" cy="760"/>
            </a:xfrm>
            <a:prstGeom prst="rect">
              <a:avLst/>
            </a:prstGeom>
          </p:spPr>
        </p:pic>
        <p:sp>
          <p:nvSpPr>
            <p:cNvPr id="104" name="p10_fire-shape-103"/>
            <p:cNvSpPr/>
            <p:nvPr/>
          </p:nvSpPr>
          <p:spPr>
            <a:xfrm>
              <a:off x="23340" y="47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5" name="p10_fire-text-104"/>
            <p:cNvSpPr/>
            <p:nvPr/>
          </p:nvSpPr>
          <p:spPr>
            <a:xfrm>
              <a:off x="23420" y="47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分级推送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6" name="p10_fire-shape-105"/>
            <p:cNvSpPr/>
            <p:nvPr/>
          </p:nvSpPr>
          <p:spPr>
            <a:xfrm>
              <a:off x="23340" y="60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7" name="p10_fire-text-106"/>
            <p:cNvSpPr/>
            <p:nvPr/>
          </p:nvSpPr>
          <p:spPr>
            <a:xfrm>
              <a:off x="23420" y="60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人工确认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8" name="p10_fire-shape-107"/>
            <p:cNvSpPr/>
            <p:nvPr/>
          </p:nvSpPr>
          <p:spPr>
            <a:xfrm>
              <a:off x="23340" y="73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9" name="p10_fire-text-108"/>
            <p:cNvSpPr/>
            <p:nvPr/>
          </p:nvSpPr>
          <p:spPr>
            <a:xfrm>
              <a:off x="23420" y="73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预案调度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0" name="p10_fire-shape-109"/>
            <p:cNvSpPr/>
            <p:nvPr/>
          </p:nvSpPr>
          <p:spPr>
            <a:xfrm>
              <a:off x="23340" y="86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1" name="p10_fire-text-110"/>
            <p:cNvSpPr/>
            <p:nvPr/>
          </p:nvSpPr>
          <p:spPr>
            <a:xfrm>
              <a:off x="23420" y="86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联动控制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2" name="p10_fire-shape-111"/>
            <p:cNvSpPr/>
            <p:nvPr/>
          </p:nvSpPr>
          <p:spPr>
            <a:xfrm>
              <a:off x="23340" y="99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3" name="p10_fire-text-112"/>
            <p:cNvSpPr/>
            <p:nvPr/>
          </p:nvSpPr>
          <p:spPr>
            <a:xfrm>
              <a:off x="23420" y="99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授权回退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4" name="p10_fire-shape-113"/>
            <p:cNvSpPr/>
            <p:nvPr/>
          </p:nvSpPr>
          <p:spPr>
            <a:xfrm>
              <a:off x="23340" y="11280"/>
              <a:ext cx="1280" cy="1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5" name="p10_fire-text-114"/>
            <p:cNvSpPr/>
            <p:nvPr/>
          </p:nvSpPr>
          <p:spPr>
            <a:xfrm>
              <a:off x="23420" y="11280"/>
              <a:ext cx="112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复核归档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6" name="p10_fire-shape-115"/>
            <p:cNvSpPr/>
            <p:nvPr/>
          </p:nvSpPr>
          <p:spPr>
            <a:xfrm>
              <a:off x="800" y="13040"/>
              <a:ext cx="24000" cy="600"/>
            </a:xfrm>
            <a:prstGeom prst="roundRect">
              <a:avLst>
                <a:gd name="adj" fmla="val 20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7" name="p10_fire-text-116"/>
            <p:cNvSpPr/>
            <p:nvPr/>
          </p:nvSpPr>
          <p:spPr>
            <a:xfrm>
              <a:off x="1080" y="13040"/>
              <a:ext cx="234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F28C2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应急联动</a:t>
              </a: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　广播疏散｜门禁通行｜视频复核｜防排烟控制｜应急资源调度｜人工授权与快速回退</a:t>
              </a:r>
              <a:endParaRPr lang="en-US" sz="1000" dirty="0"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5" name="p10_fire-text-3"/>
          <p:cNvSpPr/>
          <p:nvPr/>
        </p:nvSpPr>
        <p:spPr>
          <a:xfrm>
            <a:off x="454660" y="808990"/>
            <a:ext cx="11938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rPr>
              <a:t>以统一平台为底座，贯通消防感知、事件工单与应急联动，形成可视、可控、可追溯的消防闭环</a:t>
            </a:r>
            <a:endParaRPr lang="en-US" altLang="en-US" sz="1300" dirty="0">
              <a:solidFill>
                <a:srgbClr val="617487"/>
              </a:solidFill>
              <a:latin typeface="微软雅黑" charset="0"/>
              <a:ea typeface="微软雅黑" charset="0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宿舍</a:t>
            </a:r>
            <a:r>
              <a:rPr lang="zh-CN" altLang="en-US" dirty="0"/>
              <a:t>管理子系统架构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489585" y="1070610"/>
            <a:ext cx="11447145" cy="5245735"/>
            <a:chOff x="800" y="2360"/>
            <a:chExt cx="24000" cy="11280"/>
          </a:xfrm>
        </p:grpSpPr>
        <p:sp>
          <p:nvSpPr>
            <p:cNvPr id="8" name="p11_dormitory-shape-7"/>
            <p:cNvSpPr/>
            <p:nvPr/>
          </p:nvSpPr>
          <p:spPr>
            <a:xfrm>
              <a:off x="800" y="2360"/>
              <a:ext cx="22100" cy="1200"/>
            </a:xfrm>
            <a:prstGeom prst="roundRect">
              <a:avLst>
                <a:gd name="adj" fmla="val 1333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" name="p11_dormitory-shape-8"/>
            <p:cNvSpPr/>
            <p:nvPr/>
          </p:nvSpPr>
          <p:spPr>
            <a:xfrm>
              <a:off x="960" y="2520"/>
              <a:ext cx="2000" cy="880"/>
            </a:xfrm>
            <a:prstGeom prst="roundRect">
              <a:avLst>
                <a:gd name="adj" fmla="val 13636"/>
              </a:avLst>
            </a:prstGeom>
            <a:solidFill>
              <a:srgbClr val="143A5A"/>
            </a:solidFill>
          </p:spPr>
        </p:sp>
        <p:sp>
          <p:nvSpPr>
            <p:cNvPr id="10" name="p11_dormitory-text-9"/>
            <p:cNvSpPr/>
            <p:nvPr/>
          </p:nvSpPr>
          <p:spPr>
            <a:xfrm>
              <a:off x="960" y="2520"/>
              <a:ext cx="2000" cy="8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角色入口层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" name="p11_dormitory-shape-10"/>
            <p:cNvSpPr/>
            <p:nvPr/>
          </p:nvSpPr>
          <p:spPr>
            <a:xfrm>
              <a:off x="32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2" name="p11_dormitory-text-11"/>
            <p:cNvSpPr/>
            <p:nvPr/>
          </p:nvSpPr>
          <p:spPr>
            <a:xfrm>
              <a:off x="34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员工服务端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3" name="p11_dormitory-shape-12"/>
            <p:cNvSpPr/>
            <p:nvPr/>
          </p:nvSpPr>
          <p:spPr>
            <a:xfrm>
              <a:off x="640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4" name="p11_dormitory-text-13"/>
            <p:cNvSpPr/>
            <p:nvPr/>
          </p:nvSpPr>
          <p:spPr>
            <a:xfrm>
              <a:off x="652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HR / 宿管PC端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5" name="p11_dormitory-shape-14"/>
            <p:cNvSpPr/>
            <p:nvPr/>
          </p:nvSpPr>
          <p:spPr>
            <a:xfrm>
              <a:off x="952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6" name="p11_dormitory-text-15"/>
            <p:cNvSpPr/>
            <p:nvPr/>
          </p:nvSpPr>
          <p:spPr>
            <a:xfrm>
              <a:off x="964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iSungrow移动端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7" name="p11_dormitory-shape-16"/>
            <p:cNvSpPr/>
            <p:nvPr/>
          </p:nvSpPr>
          <p:spPr>
            <a:xfrm>
              <a:off x="1264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18" name="p11_dormitory-text-17"/>
            <p:cNvSpPr/>
            <p:nvPr/>
          </p:nvSpPr>
          <p:spPr>
            <a:xfrm>
              <a:off x="1276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维修PDA / PAD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9" name="p11_dormitory-shape-18"/>
            <p:cNvSpPr/>
            <p:nvPr/>
          </p:nvSpPr>
          <p:spPr>
            <a:xfrm>
              <a:off x="1576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0" name="p11_dormitory-text-19"/>
            <p:cNvSpPr/>
            <p:nvPr/>
          </p:nvSpPr>
          <p:spPr>
            <a:xfrm>
              <a:off x="1588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门禁管理端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1" name="p11_dormitory-shape-20"/>
            <p:cNvSpPr/>
            <p:nvPr/>
          </p:nvSpPr>
          <p:spPr>
            <a:xfrm>
              <a:off x="18880" y="2560"/>
              <a:ext cx="2900" cy="8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22" name="p11_dormitory-text-21"/>
            <p:cNvSpPr/>
            <p:nvPr/>
          </p:nvSpPr>
          <p:spPr>
            <a:xfrm>
              <a:off x="19000" y="2560"/>
              <a:ext cx="266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运营驾驶舱</a:t>
              </a:r>
              <a:endParaRPr lang="en-US" altLang="en-US" sz="12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3" name="p11_dormitory-shape-22"/>
            <p:cNvSpPr/>
            <p:nvPr/>
          </p:nvSpPr>
          <p:spPr>
            <a:xfrm>
              <a:off x="800" y="37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  <a:effectLst>
              <a:outerShdw blurRad="76200" dist="25400" dir="5400000" algn="bl" rotWithShape="0">
                <a:srgbClr val="143A5A">
                  <a:alpha val="10000"/>
                </a:srgbClr>
              </a:outerShdw>
            </a:effectLst>
          </p:spPr>
        </p:sp>
        <p:sp>
          <p:nvSpPr>
            <p:cNvPr id="24" name="p11_dormitory-shape-23"/>
            <p:cNvSpPr/>
            <p:nvPr/>
          </p:nvSpPr>
          <p:spPr>
            <a:xfrm>
              <a:off x="960" y="39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25" name="p11_dormitory-text-24"/>
            <p:cNvSpPr/>
            <p:nvPr/>
          </p:nvSpPr>
          <p:spPr>
            <a:xfrm>
              <a:off x="960" y="39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业务闭环层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入住到退宿</a:t>
              </a:r>
              <a:endParaRPr lang="en-US" sz="1200" dirty="0">
                <a:latin typeface="微软雅黑" charset="0"/>
                <a:ea typeface="微软雅黑" charset="0"/>
              </a:endParaRPr>
            </a:p>
          </p:txBody>
        </p:sp>
        <p:sp>
          <p:nvSpPr>
            <p:cNvPr id="26" name="p11_dormitory-shape-25"/>
            <p:cNvSpPr/>
            <p:nvPr/>
          </p:nvSpPr>
          <p:spPr>
            <a:xfrm>
              <a:off x="340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27" name="p11_dormitory-text-26"/>
            <p:cNvSpPr/>
            <p:nvPr/>
          </p:nvSpPr>
          <p:spPr>
            <a:xfrm>
              <a:off x="348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入住申请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28" name="p11_dormitory-shape-27"/>
            <p:cNvSpPr/>
            <p:nvPr/>
          </p:nvSpPr>
          <p:spPr>
            <a:xfrm>
              <a:off x="548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29" name="p11_dormitory-shape-28"/>
            <p:cNvSpPr/>
            <p:nvPr/>
          </p:nvSpPr>
          <p:spPr>
            <a:xfrm>
              <a:off x="576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30" name="p11_dormitory-text-29"/>
            <p:cNvSpPr/>
            <p:nvPr/>
          </p:nvSpPr>
          <p:spPr>
            <a:xfrm>
              <a:off x="584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审核智能分寝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1" name="p11_dormitory-shape-30"/>
            <p:cNvSpPr/>
            <p:nvPr/>
          </p:nvSpPr>
          <p:spPr>
            <a:xfrm>
              <a:off x="784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32" name="p11_dormitory-shape-31"/>
            <p:cNvSpPr/>
            <p:nvPr/>
          </p:nvSpPr>
          <p:spPr>
            <a:xfrm>
              <a:off x="812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33" name="p11_dormitory-text-32"/>
            <p:cNvSpPr/>
            <p:nvPr/>
          </p:nvSpPr>
          <p:spPr>
            <a:xfrm>
              <a:off x="820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身份核验签署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4" name="p11_dormitory-shape-33"/>
            <p:cNvSpPr/>
            <p:nvPr/>
          </p:nvSpPr>
          <p:spPr>
            <a:xfrm>
              <a:off x="10200" y="4820"/>
              <a:ext cx="28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5" name="p11_dormitory-shape-34"/>
            <p:cNvSpPr/>
            <p:nvPr/>
          </p:nvSpPr>
          <p:spPr>
            <a:xfrm>
              <a:off x="1048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36" name="p11_dormitory-text-35"/>
            <p:cNvSpPr/>
            <p:nvPr/>
          </p:nvSpPr>
          <p:spPr>
            <a:xfrm>
              <a:off x="1056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入住门禁授权</a:t>
              </a:r>
              <a:endParaRPr lang="en-US" altLang="en-US" sz="1000" b="1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37" name="p11_dormitory-shape-36"/>
            <p:cNvSpPr/>
            <p:nvPr/>
          </p:nvSpPr>
          <p:spPr>
            <a:xfrm>
              <a:off x="12560" y="4820"/>
              <a:ext cx="280" cy="14"/>
            </a:xfrm>
            <a:prstGeom prst="line">
              <a:avLst/>
            </a:prstGeom>
            <a:ln w="25400">
              <a:solidFill>
                <a:srgbClr val="F28C28"/>
              </a:solidFill>
              <a:prstDash val="solid"/>
              <a:tailEnd type="triangle"/>
            </a:ln>
          </p:spPr>
        </p:sp>
        <p:sp>
          <p:nvSpPr>
            <p:cNvPr id="38" name="p11_dormitory-shape-37"/>
            <p:cNvSpPr/>
            <p:nvPr/>
          </p:nvSpPr>
          <p:spPr>
            <a:xfrm>
              <a:off x="1284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39" name="p11_dormitory-text-38"/>
            <p:cNvSpPr/>
            <p:nvPr/>
          </p:nvSpPr>
          <p:spPr>
            <a:xfrm>
              <a:off x="1292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调宿关系同步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0" name="p11_dormitory-shape-39"/>
            <p:cNvSpPr/>
            <p:nvPr/>
          </p:nvSpPr>
          <p:spPr>
            <a:xfrm>
              <a:off x="1492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1" name="p11_dormitory-shape-40"/>
            <p:cNvSpPr/>
            <p:nvPr/>
          </p:nvSpPr>
          <p:spPr>
            <a:xfrm>
              <a:off x="1520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8F9F9"/>
            </a:solidFill>
            <a:ln w="12700">
              <a:solidFill>
                <a:srgbClr val="16B8C4"/>
              </a:solidFill>
              <a:prstDash val="solid"/>
            </a:ln>
          </p:spPr>
        </p:sp>
        <p:sp>
          <p:nvSpPr>
            <p:cNvPr id="42" name="p11_dormitory-text-41"/>
            <p:cNvSpPr/>
            <p:nvPr/>
          </p:nvSpPr>
          <p:spPr>
            <a:xfrm>
              <a:off x="1528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报修派单反馈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3" name="p11_dormitory-shape-42"/>
            <p:cNvSpPr/>
            <p:nvPr/>
          </p:nvSpPr>
          <p:spPr>
            <a:xfrm>
              <a:off x="1728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4" name="p11_dormitory-shape-43"/>
            <p:cNvSpPr/>
            <p:nvPr/>
          </p:nvSpPr>
          <p:spPr>
            <a:xfrm>
              <a:off x="1756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45" name="p11_dormitory-text-44"/>
            <p:cNvSpPr/>
            <p:nvPr/>
          </p:nvSpPr>
          <p:spPr>
            <a:xfrm>
              <a:off x="1764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水电计费结算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6" name="p11_dormitory-shape-45"/>
            <p:cNvSpPr/>
            <p:nvPr/>
          </p:nvSpPr>
          <p:spPr>
            <a:xfrm>
              <a:off x="19640" y="4820"/>
              <a:ext cx="280" cy="14"/>
            </a:xfrm>
            <a:prstGeom prst="line">
              <a:avLst/>
            </a:prstGeom>
            <a:ln w="25400">
              <a:solidFill>
                <a:srgbClr val="16B8C4"/>
              </a:solidFill>
              <a:prstDash val="solid"/>
              <a:tailEnd type="triangle"/>
            </a:ln>
          </p:spPr>
        </p:sp>
        <p:sp>
          <p:nvSpPr>
            <p:cNvPr id="47" name="p11_dormitory-shape-46"/>
            <p:cNvSpPr/>
            <p:nvPr/>
          </p:nvSpPr>
          <p:spPr>
            <a:xfrm>
              <a:off x="19920" y="4320"/>
              <a:ext cx="2080" cy="1000"/>
            </a:xfrm>
            <a:prstGeom prst="roundRect">
              <a:avLst>
                <a:gd name="adj" fmla="val 14000"/>
              </a:avLst>
            </a:prstGeom>
            <a:solidFill>
              <a:srgbClr val="EEF5FB"/>
            </a:solidFill>
            <a:ln w="12700">
              <a:solidFill>
                <a:srgbClr val="1878C8"/>
              </a:solidFill>
              <a:prstDash val="solid"/>
            </a:ln>
          </p:spPr>
        </p:sp>
        <p:sp>
          <p:nvSpPr>
            <p:cNvPr id="48" name="p11_dormitory-text-47"/>
            <p:cNvSpPr/>
            <p:nvPr/>
          </p:nvSpPr>
          <p:spPr>
            <a:xfrm>
              <a:off x="20000" y="4320"/>
              <a:ext cx="1920" cy="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退宿验收回收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49" name="p11_dormitory-text-48"/>
            <p:cNvSpPr/>
            <p:nvPr/>
          </p:nvSpPr>
          <p:spPr>
            <a:xfrm>
              <a:off x="3400" y="5460"/>
              <a:ext cx="1860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人员状态、房源床位、门禁权限、水电费用与维修服务同步更新，避免多系统状态不一致</a:t>
              </a:r>
              <a:endParaRPr lang="en-US" altLang="en-US" sz="10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0" name="p11_dormitory-shape-49"/>
            <p:cNvSpPr/>
            <p:nvPr/>
          </p:nvSpPr>
          <p:spPr>
            <a:xfrm>
              <a:off x="800" y="626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1" name="p11_dormitory-shape-50"/>
            <p:cNvSpPr/>
            <p:nvPr/>
          </p:nvSpPr>
          <p:spPr>
            <a:xfrm>
              <a:off x="960" y="646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6B8C4"/>
            </a:solidFill>
          </p:spPr>
        </p:sp>
        <p:sp>
          <p:nvSpPr>
            <p:cNvPr id="52" name="p11_dormitory-text-51"/>
            <p:cNvSpPr/>
            <p:nvPr/>
          </p:nvSpPr>
          <p:spPr>
            <a:xfrm>
              <a:off x="960" y="646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6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应用功能层</a:t>
              </a:r>
              <a:endParaRPr lang="en-US" altLang="en-US" sz="16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3" name="p11_dormitory-shape-52"/>
            <p:cNvSpPr/>
            <p:nvPr/>
          </p:nvSpPr>
          <p:spPr>
            <a:xfrm>
              <a:off x="32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4" name="p11_dormitory-text-53"/>
            <p:cNvSpPr/>
            <p:nvPr/>
          </p:nvSpPr>
          <p:spPr>
            <a:xfrm>
              <a:off x="33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房源床位管理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5" name="p11_dormitory-shape-54"/>
            <p:cNvSpPr/>
            <p:nvPr/>
          </p:nvSpPr>
          <p:spPr>
            <a:xfrm>
              <a:off x="56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6" name="p11_dormitory-text-55"/>
            <p:cNvSpPr/>
            <p:nvPr/>
          </p:nvSpPr>
          <p:spPr>
            <a:xfrm>
              <a:off x="57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入住申请审核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7" name="p11_dormitory-shape-56"/>
            <p:cNvSpPr/>
            <p:nvPr/>
          </p:nvSpPr>
          <p:spPr>
            <a:xfrm>
              <a:off x="80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58" name="p11_dormitory-text-57"/>
            <p:cNvSpPr/>
            <p:nvPr/>
          </p:nvSpPr>
          <p:spPr>
            <a:xfrm>
              <a:off x="81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智能分寝办理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59" name="p11_dormitory-shape-58"/>
            <p:cNvSpPr/>
            <p:nvPr/>
          </p:nvSpPr>
          <p:spPr>
            <a:xfrm>
              <a:off x="104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0" name="p11_dormitory-text-59"/>
            <p:cNvSpPr/>
            <p:nvPr/>
          </p:nvSpPr>
          <p:spPr>
            <a:xfrm>
              <a:off x="105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调宿管理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1" name="p11_dormitory-shape-60"/>
            <p:cNvSpPr/>
            <p:nvPr/>
          </p:nvSpPr>
          <p:spPr>
            <a:xfrm>
              <a:off x="128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2" name="p11_dormitory-text-61"/>
            <p:cNvSpPr/>
            <p:nvPr/>
          </p:nvSpPr>
          <p:spPr>
            <a:xfrm>
              <a:off x="129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维修工单服务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3" name="p11_dormitory-shape-62"/>
            <p:cNvSpPr/>
            <p:nvPr/>
          </p:nvSpPr>
          <p:spPr>
            <a:xfrm>
              <a:off x="152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4" name="p11_dormitory-text-63"/>
            <p:cNvSpPr/>
            <p:nvPr/>
          </p:nvSpPr>
          <p:spPr>
            <a:xfrm>
              <a:off x="153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水电费用管理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5" name="p11_dormitory-shape-64"/>
            <p:cNvSpPr/>
            <p:nvPr/>
          </p:nvSpPr>
          <p:spPr>
            <a:xfrm>
              <a:off x="17680" y="6660"/>
              <a:ext cx="224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6" name="p11_dormitory-text-65"/>
            <p:cNvSpPr/>
            <p:nvPr/>
          </p:nvSpPr>
          <p:spPr>
            <a:xfrm>
              <a:off x="17760" y="6660"/>
              <a:ext cx="208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门禁授权管理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7" name="p11_dormitory-shape-66"/>
            <p:cNvSpPr/>
            <p:nvPr/>
          </p:nvSpPr>
          <p:spPr>
            <a:xfrm>
              <a:off x="20080" y="6660"/>
              <a:ext cx="2120" cy="144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68" name="p11_dormitory-text-67"/>
            <p:cNvSpPr/>
            <p:nvPr/>
          </p:nvSpPr>
          <p:spPr>
            <a:xfrm>
              <a:off x="20160" y="6660"/>
              <a:ext cx="1960" cy="14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退宿运营分析</a:t>
              </a:r>
              <a:endParaRPr lang="en-US" altLang="en-US" sz="1000" dirty="0">
                <a:solidFill>
                  <a:srgbClr val="22354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69" name="p11_dormitory-shape-68"/>
            <p:cNvSpPr/>
            <p:nvPr/>
          </p:nvSpPr>
          <p:spPr>
            <a:xfrm>
              <a:off x="800" y="8740"/>
              <a:ext cx="22100" cy="16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0" name="p11_dormitory-shape-69"/>
            <p:cNvSpPr/>
            <p:nvPr/>
          </p:nvSpPr>
          <p:spPr>
            <a:xfrm>
              <a:off x="960" y="8900"/>
              <a:ext cx="2000" cy="1280"/>
            </a:xfrm>
            <a:prstGeom prst="roundRect">
              <a:avLst>
                <a:gd name="adj" fmla="val 9375"/>
              </a:avLst>
            </a:prstGeom>
            <a:solidFill>
              <a:srgbClr val="143A5A"/>
            </a:solidFill>
          </p:spPr>
        </p:sp>
        <p:sp>
          <p:nvSpPr>
            <p:cNvPr id="71" name="p11_dormitory-text-70"/>
            <p:cNvSpPr/>
            <p:nvPr/>
          </p:nvSpPr>
          <p:spPr>
            <a:xfrm>
              <a:off x="960" y="8900"/>
              <a:ext cx="2000" cy="12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公共平台层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2" name="p11_dormitory-shape-71"/>
            <p:cNvSpPr/>
            <p:nvPr/>
          </p:nvSpPr>
          <p:spPr>
            <a:xfrm>
              <a:off x="328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3" name="p11_dormitory-text-72"/>
            <p:cNvSpPr/>
            <p:nvPr/>
          </p:nvSpPr>
          <p:spPr>
            <a:xfrm>
              <a:off x="336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统一门户身份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4" name="p11_dormitory-shape-73"/>
            <p:cNvSpPr/>
            <p:nvPr/>
          </p:nvSpPr>
          <p:spPr>
            <a:xfrm>
              <a:off x="566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5" name="p11_dormitory-text-74"/>
            <p:cNvSpPr/>
            <p:nvPr/>
          </p:nvSpPr>
          <p:spPr>
            <a:xfrm>
              <a:off x="574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组织空间主数据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6" name="p11_dormitory-shape-75"/>
            <p:cNvSpPr/>
            <p:nvPr/>
          </p:nvSpPr>
          <p:spPr>
            <a:xfrm>
              <a:off x="804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7" name="p11_dormitory-text-76"/>
            <p:cNvSpPr/>
            <p:nvPr/>
          </p:nvSpPr>
          <p:spPr>
            <a:xfrm>
              <a:off x="812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流程审批引擎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78" name="p11_dormitory-shape-77"/>
            <p:cNvSpPr/>
            <p:nvPr/>
          </p:nvSpPr>
          <p:spPr>
            <a:xfrm>
              <a:off x="1042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79" name="p11_dormitory-text-78"/>
            <p:cNvSpPr/>
            <p:nvPr/>
          </p:nvSpPr>
          <p:spPr>
            <a:xfrm>
              <a:off x="1050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规则引擎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0" name="p11_dormitory-shape-79"/>
            <p:cNvSpPr/>
            <p:nvPr/>
          </p:nvSpPr>
          <p:spPr>
            <a:xfrm>
              <a:off x="1280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1" name="p11_dormitory-text-80"/>
            <p:cNvSpPr/>
            <p:nvPr/>
          </p:nvSpPr>
          <p:spPr>
            <a:xfrm>
              <a:off x="1288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事件工单中心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2" name="p11_dormitory-shape-81"/>
            <p:cNvSpPr/>
            <p:nvPr/>
          </p:nvSpPr>
          <p:spPr>
            <a:xfrm>
              <a:off x="1518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3" name="p11_dormitory-text-82"/>
            <p:cNvSpPr/>
            <p:nvPr/>
          </p:nvSpPr>
          <p:spPr>
            <a:xfrm>
              <a:off x="1526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消息中心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4" name="p11_dormitory-shape-83"/>
            <p:cNvSpPr/>
            <p:nvPr/>
          </p:nvSpPr>
          <p:spPr>
            <a:xfrm>
              <a:off x="1756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8F9F9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5" name="p11_dormitory-text-84"/>
            <p:cNvSpPr/>
            <p:nvPr/>
          </p:nvSpPr>
          <p:spPr>
            <a:xfrm>
              <a:off x="1764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权限日志审计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6" name="p11_dormitory-shape-85"/>
            <p:cNvSpPr/>
            <p:nvPr/>
          </p:nvSpPr>
          <p:spPr>
            <a:xfrm>
              <a:off x="19940" y="8940"/>
              <a:ext cx="2220" cy="600"/>
            </a:xfrm>
            <a:prstGeom prst="roundRect">
              <a:avLst>
                <a:gd name="adj" fmla="val 20000"/>
              </a:avLst>
            </a:prstGeom>
            <a:solidFill>
              <a:srgbClr val="EEF5FB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87" name="p11_dormitory-text-86"/>
            <p:cNvSpPr/>
            <p:nvPr/>
          </p:nvSpPr>
          <p:spPr>
            <a:xfrm>
              <a:off x="20020" y="8940"/>
              <a:ext cx="206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指标驾驶舱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8" name="p11_dormitory-text-87"/>
            <p:cNvSpPr/>
            <p:nvPr/>
          </p:nvSpPr>
          <p:spPr>
            <a:xfrm>
              <a:off x="3280" y="9680"/>
              <a:ext cx="18880" cy="4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000" dirty="0">
                  <a:solidFill>
                    <a:srgbClr val="617487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核心对象：房源床位｜人员入住｜调宿关系｜维修工单｜门禁权限｜水电读数｜费用结算｜退宿档案</a:t>
              </a:r>
              <a:endParaRPr lang="en-US" altLang="en-US" sz="10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89" name="p11_dormitory-shape-88"/>
            <p:cNvSpPr/>
            <p:nvPr/>
          </p:nvSpPr>
          <p:spPr>
            <a:xfrm>
              <a:off x="800" y="10580"/>
              <a:ext cx="22100" cy="2240"/>
            </a:xfrm>
            <a:prstGeom prst="roundRect">
              <a:avLst>
                <a:gd name="adj" fmla="val 7143"/>
              </a:avLst>
            </a:prstGeom>
            <a:solidFill>
              <a:srgbClr val="F7FAFC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0" name="p11_dormitory-shape-89"/>
            <p:cNvSpPr/>
            <p:nvPr/>
          </p:nvSpPr>
          <p:spPr>
            <a:xfrm>
              <a:off x="960" y="10780"/>
              <a:ext cx="2000" cy="1840"/>
            </a:xfrm>
            <a:prstGeom prst="roundRect">
              <a:avLst>
                <a:gd name="adj" fmla="val 6522"/>
              </a:avLst>
            </a:prstGeom>
            <a:solidFill>
              <a:srgbClr val="1878C8"/>
            </a:solidFill>
          </p:spPr>
        </p:sp>
        <p:sp>
          <p:nvSpPr>
            <p:cNvPr id="91" name="p11_dormitory-text-90"/>
            <p:cNvSpPr/>
            <p:nvPr/>
          </p:nvSpPr>
          <p:spPr>
            <a:xfrm>
              <a:off x="960" y="10780"/>
              <a:ext cx="2000" cy="18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集成物联层</a:t>
              </a:r>
              <a:endParaRPr lang="en-US" sz="1200" dirty="0">
                <a:latin typeface="微软雅黑" charset="0"/>
                <a:ea typeface="微软雅黑" charset="0"/>
              </a:endParaRPr>
            </a:p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状态同步</a:t>
              </a:r>
              <a:endParaRPr lang="en-US" sz="1200" dirty="0">
                <a:latin typeface="微软雅黑" charset="0"/>
                <a:ea typeface="微软雅黑" charset="0"/>
              </a:endParaRPr>
            </a:p>
          </p:txBody>
        </p:sp>
        <p:sp>
          <p:nvSpPr>
            <p:cNvPr id="92" name="p11_dormitory-shape-91"/>
            <p:cNvSpPr/>
            <p:nvPr/>
          </p:nvSpPr>
          <p:spPr>
            <a:xfrm>
              <a:off x="3280" y="10780"/>
              <a:ext cx="910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3" name="p11_dormitory-text-92"/>
            <p:cNvSpPr/>
            <p:nvPr/>
          </p:nvSpPr>
          <p:spPr>
            <a:xfrm>
              <a:off x="352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200" b="1" dirty="0">
                  <a:solidFill>
                    <a:srgbClr val="1878C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企业系统协同</a:t>
              </a:r>
              <a:endParaRPr lang="en-US" altLang="en-US" sz="1200" b="1" dirty="0">
                <a:solidFill>
                  <a:srgbClr val="1878C8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94" name="p11_dormitory-text-93"/>
            <p:cNvSpPr/>
            <p:nvPr/>
          </p:nvSpPr>
          <p:spPr>
            <a:xfrm>
              <a:off x="3520" y="11400"/>
              <a:ext cx="860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人员主数据 · BPM · PS / WTS · 身份认证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门禁系统 · 物业工单 · 费用薪酬 · 数据驾驶舱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5" name="p11_dormitory-shape-94"/>
            <p:cNvSpPr/>
            <p:nvPr/>
          </p:nvSpPr>
          <p:spPr>
            <a:xfrm>
              <a:off x="12640" y="10780"/>
              <a:ext cx="9560" cy="184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2700">
              <a:solidFill>
                <a:srgbClr val="C9D8E5"/>
              </a:solidFill>
              <a:prstDash val="solid"/>
            </a:ln>
          </p:spPr>
        </p:sp>
        <p:sp>
          <p:nvSpPr>
            <p:cNvPr id="96" name="p11_dormitory-text-95"/>
            <p:cNvSpPr/>
            <p:nvPr/>
          </p:nvSpPr>
          <p:spPr>
            <a:xfrm>
              <a:off x="12880" y="10920"/>
              <a:ext cx="5200" cy="44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altLang="en-US" sz="1200" b="1" dirty="0">
                  <a:solidFill>
                    <a:srgbClr val="16B8C4"/>
                  </a:solidFill>
                  <a:latin typeface="微软雅黑" charset="0"/>
                  <a:ea typeface="微软雅黑" charset="0"/>
                  <a:cs typeface="微软雅黑" charset="0"/>
                </a:rPr>
                <a:t>现场设备 / 数据源</a:t>
              </a:r>
              <a:endParaRPr lang="en-US" altLang="en-US" sz="1200" b="1" dirty="0">
                <a:solidFill>
                  <a:srgbClr val="16B8C4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7" name="p11_dormitory-text-96"/>
            <p:cNvSpPr/>
            <p:nvPr/>
          </p:nvSpPr>
          <p:spPr>
            <a:xfrm>
              <a:off x="12880" y="11400"/>
              <a:ext cx="9040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门禁设备 · 智能水电表 · 空间房源台账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  <a:p>
              <a:pPr marL="0" indent="0" algn="l">
                <a:lnSpc>
                  <a:spcPts val="1350"/>
                </a:lnSpc>
                <a:buNone/>
              </a:pP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微软雅黑" charset="0"/>
                </a:rPr>
                <a:t>员工 / HR申请数据 · 现场深化设备</a:t>
              </a:r>
              <a:endParaRPr lang="en-US" sz="1000" dirty="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8" name="p11_dormitory-shape-97"/>
            <p:cNvSpPr/>
            <p:nvPr/>
          </p:nvSpPr>
          <p:spPr>
            <a:xfrm>
              <a:off x="23160" y="2360"/>
              <a:ext cx="1640" cy="10460"/>
            </a:xfrm>
            <a:prstGeom prst="roundRect">
              <a:avLst>
                <a:gd name="adj" fmla="val 9756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99" name="p11_dormitory-shape-98"/>
            <p:cNvSpPr/>
            <p:nvPr/>
          </p:nvSpPr>
          <p:spPr>
            <a:xfrm>
              <a:off x="23300" y="2520"/>
              <a:ext cx="1360" cy="900"/>
            </a:xfrm>
            <a:prstGeom prst="roundRect">
              <a:avLst>
                <a:gd name="adj" fmla="val 13333"/>
              </a:avLst>
            </a:prstGeom>
            <a:solidFill>
              <a:srgbClr val="F28C28"/>
            </a:solidFill>
          </p:spPr>
        </p:sp>
        <p:sp>
          <p:nvSpPr>
            <p:cNvPr id="100" name="p11_dormitory-text-99"/>
            <p:cNvSpPr/>
            <p:nvPr/>
          </p:nvSpPr>
          <p:spPr>
            <a:xfrm>
              <a:off x="23300" y="2520"/>
              <a:ext cx="1360" cy="9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200" dirty="0">
                  <a:solidFill>
                    <a:srgbClr val="FFFFFF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统一治理</a:t>
              </a:r>
              <a:endParaRPr lang="en-US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pic>
          <p:nvPicPr>
            <p:cNvPr id="101" name="p11_dormitory-icon-100" descr="preencod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600" y="3700"/>
              <a:ext cx="760" cy="760"/>
            </a:xfrm>
            <a:prstGeom prst="rect">
              <a:avLst/>
            </a:prstGeom>
          </p:spPr>
        </p:pic>
        <p:sp>
          <p:nvSpPr>
            <p:cNvPr id="102" name="p11_dormitory-shape-101"/>
            <p:cNvSpPr/>
            <p:nvPr/>
          </p:nvSpPr>
          <p:spPr>
            <a:xfrm>
              <a:off x="23340" y="47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3" name="p11_dormitory-text-102"/>
            <p:cNvSpPr/>
            <p:nvPr/>
          </p:nvSpPr>
          <p:spPr>
            <a:xfrm>
              <a:off x="23420" y="47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人员实名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4" name="p11_dormitory-shape-103"/>
            <p:cNvSpPr/>
            <p:nvPr/>
          </p:nvSpPr>
          <p:spPr>
            <a:xfrm>
              <a:off x="23340" y="60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5" name="p11_dormitory-text-104"/>
            <p:cNvSpPr/>
            <p:nvPr/>
          </p:nvSpPr>
          <p:spPr>
            <a:xfrm>
              <a:off x="23420" y="60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房源规则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6" name="p11_dormitory-shape-105"/>
            <p:cNvSpPr/>
            <p:nvPr/>
          </p:nvSpPr>
          <p:spPr>
            <a:xfrm>
              <a:off x="23340" y="73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7" name="p11_dormitory-text-106"/>
            <p:cNvSpPr/>
            <p:nvPr/>
          </p:nvSpPr>
          <p:spPr>
            <a:xfrm>
              <a:off x="23420" y="73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权限同步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08" name="p11_dormitory-shape-107"/>
            <p:cNvSpPr/>
            <p:nvPr/>
          </p:nvSpPr>
          <p:spPr>
            <a:xfrm>
              <a:off x="23340" y="86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09" name="p11_dormitory-text-108"/>
            <p:cNvSpPr/>
            <p:nvPr/>
          </p:nvSpPr>
          <p:spPr>
            <a:xfrm>
              <a:off x="23420" y="86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计费口径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0" name="p11_dormitory-shape-109"/>
            <p:cNvSpPr/>
            <p:nvPr/>
          </p:nvSpPr>
          <p:spPr>
            <a:xfrm>
              <a:off x="23340" y="9980"/>
              <a:ext cx="1280" cy="108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1" name="p11_dormitory-text-110"/>
            <p:cNvSpPr/>
            <p:nvPr/>
          </p:nvSpPr>
          <p:spPr>
            <a:xfrm>
              <a:off x="23420" y="9980"/>
              <a:ext cx="1120" cy="10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服务评价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2" name="p11_dormitory-shape-111"/>
            <p:cNvSpPr/>
            <p:nvPr/>
          </p:nvSpPr>
          <p:spPr>
            <a:xfrm>
              <a:off x="23340" y="11280"/>
              <a:ext cx="1280" cy="1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3" name="p11_dormitory-text-112"/>
            <p:cNvSpPr/>
            <p:nvPr/>
          </p:nvSpPr>
          <p:spPr>
            <a:xfrm>
              <a:off x="23420" y="11280"/>
              <a:ext cx="1120" cy="1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dirty="0">
                  <a:solidFill>
                    <a:srgbClr val="143A5A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日志审计</a:t>
              </a:r>
              <a:endParaRPr lang="en-US" altLang="en-US" sz="1000" dirty="0">
                <a:solidFill>
                  <a:srgbClr val="143A5A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endParaRPr>
            </a:p>
          </p:txBody>
        </p:sp>
        <p:sp>
          <p:nvSpPr>
            <p:cNvPr id="114" name="p11_dormitory-shape-113"/>
            <p:cNvSpPr/>
            <p:nvPr/>
          </p:nvSpPr>
          <p:spPr>
            <a:xfrm>
              <a:off x="800" y="13040"/>
              <a:ext cx="24000" cy="600"/>
            </a:xfrm>
            <a:prstGeom prst="roundRect">
              <a:avLst>
                <a:gd name="adj" fmla="val 20000"/>
              </a:avLst>
            </a:prstGeom>
            <a:solidFill>
              <a:srgbClr val="FFF3E8"/>
            </a:solidFill>
            <a:ln w="12700">
              <a:solidFill>
                <a:srgbClr val="F28C28"/>
              </a:solidFill>
              <a:prstDash val="solid"/>
            </a:ln>
          </p:spPr>
        </p:sp>
        <p:sp>
          <p:nvSpPr>
            <p:cNvPr id="115" name="p11_dormitory-text-114"/>
            <p:cNvSpPr/>
            <p:nvPr/>
          </p:nvSpPr>
          <p:spPr>
            <a:xfrm>
              <a:off x="1080" y="13040"/>
              <a:ext cx="2344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en-US" sz="1000" b="1" dirty="0">
                  <a:solidFill>
                    <a:srgbClr val="F28C2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状态闭环</a:t>
              </a:r>
              <a:r>
                <a:rPr lang="en-US" altLang="en-US" sz="1000" dirty="0">
                  <a:solidFill>
                    <a:srgbClr val="223548"/>
                  </a:solidFill>
                  <a:latin typeface="微软雅黑" charset="0"/>
                  <a:ea typeface="微软雅黑" charset="0"/>
                  <a:cs typeface="Noto Sans SC" panose="020B0200000000000000" pitchFamily="34" charset="-120"/>
                </a:rPr>
                <a:t>　入住授权回收｜调宿关系同步｜报修验收评价｜水电分摊结算｜退宿验房清账</a:t>
              </a:r>
              <a:endParaRPr lang="en-US" sz="1000" dirty="0"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5" name="p11_dormitory-text-3"/>
          <p:cNvSpPr/>
          <p:nvPr/>
        </p:nvSpPr>
        <p:spPr>
          <a:xfrm>
            <a:off x="489585" y="765810"/>
            <a:ext cx="11938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17487"/>
                </a:solidFill>
                <a:latin typeface="微软雅黑" charset="0"/>
                <a:ea typeface="微软雅黑" charset="0"/>
                <a:cs typeface="Noto Sans SC" panose="020B0200000000000000" pitchFamily="34" charset="-120"/>
              </a:rPr>
              <a:t>以宿舍全生命周期为主线，贯通人员、空间、权限、计量、费用与物业服务数据</a:t>
            </a:r>
            <a:endParaRPr lang="en-US" altLang="en-US" sz="1300" dirty="0">
              <a:solidFill>
                <a:srgbClr val="617487"/>
              </a:solidFill>
              <a:latin typeface="微软雅黑" charset="0"/>
              <a:ea typeface="微软雅黑" charset="0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数据架构</a:t>
            </a:r>
            <a:endParaRPr lang="zh-CN" altLang="en-US" dirty="0"/>
          </a:p>
        </p:txBody>
      </p:sp>
      <p:pic>
        <p:nvPicPr>
          <p:cNvPr id="5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168400"/>
            <a:ext cx="279400" cy="279400"/>
          </a:xfrm>
          <a:prstGeom prst="rect">
            <a:avLst/>
          </a:prstGeom>
        </p:spPr>
      </p:pic>
      <p:sp>
        <p:nvSpPr>
          <p:cNvPr id="6" name="AutoShape 9"/>
          <p:cNvSpPr/>
          <p:nvPr/>
        </p:nvSpPr>
        <p:spPr>
          <a:xfrm>
            <a:off x="1117600" y="11557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多租户数据模型（多园区隔离）</a:t>
            </a:r>
            <a:endParaRPr lang="en-US" sz="1100"/>
          </a:p>
        </p:txBody>
      </p:sp>
      <p:sp>
        <p:nvSpPr>
          <p:cNvPr id="7" name="AutoShape 10"/>
          <p:cNvSpPr/>
          <p:nvPr/>
        </p:nvSpPr>
        <p:spPr>
          <a:xfrm>
            <a:off x="5080000" y="1181100"/>
            <a:ext cx="660400" cy="254000"/>
          </a:xfrm>
          <a:prstGeom prst="roundRect">
            <a:avLst>
              <a:gd name="adj" fmla="val 2000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11"/>
          <p:cNvSpPr/>
          <p:nvPr/>
        </p:nvSpPr>
        <p:spPr>
          <a:xfrm>
            <a:off x="5080000" y="1206500"/>
            <a:ext cx="66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</a:t>
            </a:r>
            <a:endParaRPr lang="en-US" sz="1100"/>
          </a:p>
        </p:txBody>
      </p:sp>
      <p:sp>
        <p:nvSpPr>
          <p:cNvPr id="9" name="AutoShape 12"/>
          <p:cNvSpPr/>
          <p:nvPr/>
        </p:nvSpPr>
        <p:spPr>
          <a:xfrm>
            <a:off x="762000" y="1549400"/>
            <a:ext cx="2921000" cy="635000"/>
          </a:xfrm>
          <a:prstGeom prst="roundRect">
            <a:avLst>
              <a:gd name="adj" fmla="val 12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3"/>
          <p:cNvSpPr/>
          <p:nvPr/>
        </p:nvSpPr>
        <p:spPr>
          <a:xfrm>
            <a:off x="914400" y="1600200"/>
            <a:ext cx="2641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共享主数据</a:t>
            </a:r>
            <a:endParaRPr lang="en-US" sz="1100" dirty="0"/>
          </a:p>
        </p:txBody>
      </p:sp>
      <p:sp>
        <p:nvSpPr>
          <p:cNvPr id="11" name="AutoShape 14"/>
          <p:cNvSpPr/>
          <p:nvPr/>
        </p:nvSpPr>
        <p:spPr>
          <a:xfrm>
            <a:off x="914400" y="1854200"/>
            <a:ext cx="2641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园区</a:t>
            </a:r>
            <a:r>
              <a:rPr lang="en-US" sz="95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5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人员</a:t>
            </a:r>
            <a:r>
              <a:rPr lang="en-US" sz="95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5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资产</a:t>
            </a:r>
            <a:r>
              <a:rPr lang="en-US" sz="95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5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空间，统一维护、多园复用（对接</a:t>
            </a:r>
            <a:r>
              <a:rPr lang="en-US" sz="95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MDM）</a:t>
            </a:r>
            <a:endParaRPr lang="en-US" sz="1100" dirty="0"/>
          </a:p>
        </p:txBody>
      </p:sp>
      <p:cxnSp>
        <p:nvCxnSpPr>
          <p:cNvPr id="12" name="Connector 15"/>
          <p:cNvCxnSpPr/>
          <p:nvPr/>
        </p:nvCxnSpPr>
        <p:spPr>
          <a:xfrm rot="-122724">
            <a:off x="3759313" y="18478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" name="AutoShape 16"/>
          <p:cNvSpPr/>
          <p:nvPr/>
        </p:nvSpPr>
        <p:spPr>
          <a:xfrm>
            <a:off x="4191000" y="1549400"/>
            <a:ext cx="3581400" cy="635000"/>
          </a:xfrm>
          <a:prstGeom prst="roundRect">
            <a:avLst>
              <a:gd name="adj" fmla="val 12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7"/>
          <p:cNvSpPr/>
          <p:nvPr/>
        </p:nvSpPr>
        <p:spPr>
          <a:xfrm>
            <a:off x="4343400" y="16002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分园业务数据 · 两级隔离</a:t>
            </a:r>
            <a:endParaRPr lang="en-US" sz="1100"/>
          </a:p>
        </p:txBody>
      </p:sp>
      <p:sp>
        <p:nvSpPr>
          <p:cNvPr id="15" name="AutoShape 18"/>
          <p:cNvSpPr/>
          <p:nvPr/>
        </p:nvSpPr>
        <p:spPr>
          <a:xfrm>
            <a:off x="4343400" y="18542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强隔离：分库/分 Schema（独立园区）；轻隔离：共享库 + 租户字段</a:t>
            </a:r>
            <a:endParaRPr lang="en-US" sz="1100"/>
          </a:p>
        </p:txBody>
      </p:sp>
      <p:cxnSp>
        <p:nvCxnSpPr>
          <p:cNvPr id="16" name="Connector 19"/>
          <p:cNvCxnSpPr/>
          <p:nvPr/>
        </p:nvCxnSpPr>
        <p:spPr>
          <a:xfrm rot="-132155">
            <a:off x="7848722" y="18478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" name="AutoShape 20"/>
          <p:cNvSpPr/>
          <p:nvPr/>
        </p:nvSpPr>
        <p:spPr>
          <a:xfrm>
            <a:off x="8255000" y="1549400"/>
            <a:ext cx="3175000" cy="635000"/>
          </a:xfrm>
          <a:prstGeom prst="roundRect">
            <a:avLst>
              <a:gd name="adj" fmla="val 12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21"/>
          <p:cNvSpPr/>
          <p:nvPr/>
        </p:nvSpPr>
        <p:spPr>
          <a:xfrm>
            <a:off x="8407400" y="1600200"/>
            <a:ext cx="289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租户初始化</a:t>
            </a:r>
            <a:endParaRPr lang="en-US" sz="1100"/>
          </a:p>
        </p:txBody>
      </p:sp>
      <p:sp>
        <p:nvSpPr>
          <p:cNvPr id="19" name="AutoShape 22"/>
          <p:cNvSpPr/>
          <p:nvPr/>
        </p:nvSpPr>
        <p:spPr>
          <a:xfrm>
            <a:off x="8407400" y="1854200"/>
            <a:ext cx="2895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新园区 = 初始化租户数据 + 关联主数据，即插即用</a:t>
            </a:r>
            <a:endParaRPr lang="en-US" sz="1100"/>
          </a:p>
        </p:txBody>
      </p:sp>
      <p:pic>
        <p:nvPicPr>
          <p:cNvPr id="20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336800"/>
            <a:ext cx="279400" cy="279400"/>
          </a:xfrm>
          <a:prstGeom prst="rect">
            <a:avLst/>
          </a:prstGeom>
        </p:spPr>
      </p:pic>
      <p:sp>
        <p:nvSpPr>
          <p:cNvPr id="21" name="AutoShape 24"/>
          <p:cNvSpPr/>
          <p:nvPr/>
        </p:nvSpPr>
        <p:spPr>
          <a:xfrm>
            <a:off x="1117600" y="23241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混合存储架构（支撑 5PB + 性能）</a:t>
            </a:r>
            <a:endParaRPr lang="en-US" sz="1100"/>
          </a:p>
        </p:txBody>
      </p:sp>
      <p:graphicFrame>
        <p:nvGraphicFramePr>
          <p:cNvPr id="22" name="Table 25"/>
          <p:cNvGraphicFramePr>
            <a:graphicFrameLocks noGrp="1"/>
          </p:cNvGraphicFramePr>
          <p:nvPr/>
        </p:nvGraphicFramePr>
        <p:xfrm>
          <a:off x="762000" y="2692400"/>
          <a:ext cx="5461000" cy="22250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46200"/>
                <a:gridCol w="1879600"/>
                <a:gridCol w="2235200"/>
              </a:tblGrid>
              <a:tr h="30296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数据类型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存储方案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用途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</a:tr>
              <a:tr h="3760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结构化业务数据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关系库（MySQL</a:t>
                      </a:r>
                      <a:r>
                        <a:rPr lang="en-US" sz="1000" b="0" i="0" u="none" strike="noStrike" dirty="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/PG）+ </a:t>
                      </a: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分库分表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单据、配置、主数据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1602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高并发时序数据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时序数据库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IoT </a:t>
                      </a: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遥测、能耗、传感器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</a:tr>
              <a:tr h="31602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非结构化视频/图片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对象存储</a:t>
                      </a: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（分布式文件）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录像、抓拍、附件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1602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全文检索 &amp; 日志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搜索引擎（ES）/ 日志系统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检索、审计、操作日志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</a:tr>
              <a:tr h="31602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分析 / 报表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OLAP / </a:t>
                      </a: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数仓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20+ </a:t>
                      </a:r>
                      <a:r>
                        <a:rPr lang="en-US" sz="10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定制报表、指标看板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23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6694" y="2705100"/>
            <a:ext cx="279400" cy="279400"/>
          </a:xfrm>
          <a:prstGeom prst="rect">
            <a:avLst/>
          </a:prstGeom>
        </p:spPr>
      </p:pic>
      <p:sp>
        <p:nvSpPr>
          <p:cNvPr id="24" name="AutoShape 27"/>
          <p:cNvSpPr/>
          <p:nvPr/>
        </p:nvSpPr>
        <p:spPr>
          <a:xfrm>
            <a:off x="7352294" y="2692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数据分层与治理</a:t>
            </a:r>
            <a:endParaRPr lang="en-US" sz="1100" dirty="0"/>
          </a:p>
        </p:txBody>
      </p:sp>
      <p:sp>
        <p:nvSpPr>
          <p:cNvPr id="25" name="AutoShape 28"/>
          <p:cNvSpPr/>
          <p:nvPr/>
        </p:nvSpPr>
        <p:spPr>
          <a:xfrm>
            <a:off x="6996694" y="31115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9"/>
          <p:cNvSpPr/>
          <p:nvPr/>
        </p:nvSpPr>
        <p:spPr>
          <a:xfrm>
            <a:off x="7174494" y="30353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三级分层：主数据 → 业务数据 → 指标看板，所有域统一收口</a:t>
            </a:r>
            <a:endParaRPr lang="en-US" sz="1100"/>
          </a:p>
        </p:txBody>
      </p:sp>
      <p:sp>
        <p:nvSpPr>
          <p:cNvPr id="27" name="AutoShape 30"/>
          <p:cNvSpPr/>
          <p:nvPr/>
        </p:nvSpPr>
        <p:spPr>
          <a:xfrm>
            <a:off x="6996694" y="35179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31"/>
          <p:cNvSpPr/>
          <p:nvPr/>
        </p:nvSpPr>
        <p:spPr>
          <a:xfrm>
            <a:off x="7174494" y="34417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统一指标目录：口径 / 计算逻辑统一定义，新增园区 / 模块自动纳入</a:t>
            </a:r>
            <a:endParaRPr lang="en-US" sz="1100"/>
          </a:p>
        </p:txBody>
      </p:sp>
      <p:sp>
        <p:nvSpPr>
          <p:cNvPr id="29" name="AutoShape 32"/>
          <p:cNvSpPr/>
          <p:nvPr/>
        </p:nvSpPr>
        <p:spPr>
          <a:xfrm>
            <a:off x="6996694" y="39243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3"/>
          <p:cNvSpPr/>
          <p:nvPr/>
        </p:nvSpPr>
        <p:spPr>
          <a:xfrm>
            <a:off x="7174494" y="38481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数据资产 L1–L5：按企业标准建立数据资产清单</a:t>
            </a:r>
            <a:endParaRPr lang="en-US" sz="1100"/>
          </a:p>
        </p:txBody>
      </p:sp>
      <p:sp>
        <p:nvSpPr>
          <p:cNvPr id="31" name="AutoShape 34"/>
          <p:cNvSpPr/>
          <p:nvPr/>
        </p:nvSpPr>
        <p:spPr>
          <a:xfrm>
            <a:off x="6996694" y="43307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5"/>
          <p:cNvSpPr/>
          <p:nvPr/>
        </p:nvSpPr>
        <p:spPr>
          <a:xfrm>
            <a:off x="7174494" y="42545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分类分级 + 脱敏 + 存储加密：响应合规要求（PIA / SRA）</a:t>
            </a:r>
            <a:endParaRPr lang="en-US" sz="1100"/>
          </a:p>
        </p:txBody>
      </p:sp>
      <p:sp>
        <p:nvSpPr>
          <p:cNvPr id="33" name="AutoShape 36"/>
          <p:cNvSpPr/>
          <p:nvPr/>
        </p:nvSpPr>
        <p:spPr>
          <a:xfrm>
            <a:off x="762000" y="52578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F0F6FF">
              <a:alpha val="100000"/>
            </a:srgbClr>
          </a:solidFill>
          <a:ln w="12700" cap="flat" cmpd="sng">
            <a:solidFill>
              <a:srgbClr val="A0BE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7"/>
          <p:cNvSpPr/>
          <p:nvPr/>
        </p:nvSpPr>
        <p:spPr>
          <a:xfrm>
            <a:off x="762000" y="5257800"/>
            <a:ext cx="63500" cy="1016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8"/>
          <p:cNvSpPr/>
          <p:nvPr/>
        </p:nvSpPr>
        <p:spPr>
          <a:xfrm>
            <a:off x="990600" y="53467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物流数据如何融入</a:t>
            </a:r>
            <a:endParaRPr lang="en-US" sz="1100"/>
          </a:p>
        </p:txBody>
      </p:sp>
      <p:sp>
        <p:nvSpPr>
          <p:cNvPr id="36" name="AutoShape 39"/>
          <p:cNvSpPr/>
          <p:nvPr/>
        </p:nvSpPr>
        <p:spPr>
          <a:xfrm>
            <a:off x="990600" y="5638800"/>
            <a:ext cx="10236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05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物流作为独立域，其单据 / 轨迹等数据经数据集成平台汇聚，统一纳入指标看板——既保持独立完整，又进入园区全局视图。数据量增长由时序库 + 对象存储 + 分库分表共同承担，</a:t>
            </a:r>
            <a:r>
              <a:rPr lang="en-US" sz="1050" b="1" i="0" u="none" strike="noStrike">
                <a:solidFill>
                  <a:srgbClr val="2A63AA"/>
                </a:solidFill>
                <a:latin typeface="Noto Sans SC"/>
                <a:ea typeface="Noto Sans SC"/>
                <a:cs typeface="Noto Sans SC"/>
                <a:sym typeface="Noto Sans SC"/>
              </a:rPr>
              <a:t>水平扩展无瓶颈</a:t>
            </a:r>
            <a:r>
              <a:rPr lang="en-US" sz="105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37" name="矩形 36"/>
          <p:cNvSpPr/>
          <p:nvPr/>
        </p:nvSpPr>
        <p:spPr>
          <a:xfrm>
            <a:off x="6742878" y="2692400"/>
            <a:ext cx="4687122" cy="2225040"/>
          </a:xfrm>
          <a:prstGeom prst="rect">
            <a:avLst/>
          </a:prstGeom>
          <a:noFill/>
          <a:ln w="3175">
            <a:solidFill>
              <a:srgbClr val="7385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技术架构</a:t>
            </a:r>
            <a:endParaRPr lang="zh-CN" altLang="en-US" dirty="0"/>
          </a:p>
        </p:txBody>
      </p:sp>
      <p:pic>
        <p:nvPicPr>
          <p:cNvPr id="4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9585" y="949485"/>
            <a:ext cx="279400" cy="279400"/>
          </a:xfrm>
          <a:prstGeom prst="rect">
            <a:avLst/>
          </a:prstGeom>
        </p:spPr>
      </p:pic>
      <p:sp>
        <p:nvSpPr>
          <p:cNvPr id="5" name="AutoShape 9"/>
          <p:cNvSpPr/>
          <p:nvPr/>
        </p:nvSpPr>
        <p:spPr>
          <a:xfrm>
            <a:off x="845185" y="936785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无状态应用 + 容器化水平扩展</a:t>
            </a:r>
            <a:endParaRPr lang="en-US" sz="1100"/>
          </a:p>
        </p:txBody>
      </p:sp>
      <p:sp>
        <p:nvSpPr>
          <p:cNvPr id="6" name="AutoShape 10"/>
          <p:cNvSpPr/>
          <p:nvPr/>
        </p:nvSpPr>
        <p:spPr>
          <a:xfrm>
            <a:off x="489585" y="1305085"/>
            <a:ext cx="15748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11"/>
          <p:cNvSpPr/>
          <p:nvPr/>
        </p:nvSpPr>
        <p:spPr>
          <a:xfrm>
            <a:off x="540385" y="1457485"/>
            <a:ext cx="1473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无状态应用</a:t>
            </a:r>
            <a:endParaRPr lang="en-US" sz="1100"/>
          </a:p>
        </p:txBody>
      </p:sp>
      <p:cxnSp>
        <p:nvCxnSpPr>
          <p:cNvPr id="8" name="Connector 12"/>
          <p:cNvCxnSpPr/>
          <p:nvPr/>
        </p:nvCxnSpPr>
        <p:spPr>
          <a:xfrm rot="-132155">
            <a:off x="2115307" y="1578135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AutoShape 13"/>
          <p:cNvSpPr/>
          <p:nvPr/>
        </p:nvSpPr>
        <p:spPr>
          <a:xfrm>
            <a:off x="2496185" y="1305085"/>
            <a:ext cx="17272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4"/>
          <p:cNvSpPr/>
          <p:nvPr/>
        </p:nvSpPr>
        <p:spPr>
          <a:xfrm>
            <a:off x="2546985" y="1457485"/>
            <a:ext cx="162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K8s 容器编排</a:t>
            </a:r>
            <a:endParaRPr lang="en-US" sz="1100"/>
          </a:p>
        </p:txBody>
      </p:sp>
      <p:cxnSp>
        <p:nvCxnSpPr>
          <p:cNvPr id="11" name="Connector 15"/>
          <p:cNvCxnSpPr/>
          <p:nvPr/>
        </p:nvCxnSpPr>
        <p:spPr>
          <a:xfrm rot="-143156">
            <a:off x="4274317" y="1578135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AutoShape 16"/>
          <p:cNvSpPr/>
          <p:nvPr/>
        </p:nvSpPr>
        <p:spPr>
          <a:xfrm>
            <a:off x="4629785" y="1305085"/>
            <a:ext cx="11938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7"/>
          <p:cNvSpPr/>
          <p:nvPr/>
        </p:nvSpPr>
        <p:spPr>
          <a:xfrm>
            <a:off x="4680585" y="1457485"/>
            <a:ext cx="1092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弹性伸缩</a:t>
            </a:r>
            <a:endParaRPr lang="en-US" sz="1100"/>
          </a:p>
        </p:txBody>
      </p:sp>
      <p:sp>
        <p:nvSpPr>
          <p:cNvPr id="14" name="AutoShape 18"/>
          <p:cNvSpPr/>
          <p:nvPr/>
        </p:nvSpPr>
        <p:spPr>
          <a:xfrm>
            <a:off x="489585" y="1914685"/>
            <a:ext cx="558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承载层：Docker + Kubernetes ｜ 支持滚动更新、灰度发布</a:t>
            </a:r>
            <a:endParaRPr lang="en-US" sz="1100"/>
          </a:p>
        </p:txBody>
      </p:sp>
      <p:sp>
        <p:nvSpPr>
          <p:cNvPr id="15" name="AutoShape 19"/>
          <p:cNvSpPr/>
          <p:nvPr/>
        </p:nvSpPr>
        <p:spPr>
          <a:xfrm>
            <a:off x="489585" y="2244885"/>
            <a:ext cx="1651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5000</a:t>
            </a:r>
            <a:endParaRPr lang="en-US" sz="1100"/>
          </a:p>
        </p:txBody>
      </p:sp>
      <p:sp>
        <p:nvSpPr>
          <p:cNvPr id="16" name="AutoShape 20"/>
          <p:cNvSpPr/>
          <p:nvPr/>
        </p:nvSpPr>
        <p:spPr>
          <a:xfrm>
            <a:off x="489585" y="2778285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并发在线</a:t>
            </a:r>
            <a:endParaRPr lang="en-US" sz="1100"/>
          </a:p>
        </p:txBody>
      </p:sp>
      <p:cxnSp>
        <p:nvCxnSpPr>
          <p:cNvPr id="17" name="Connector 21"/>
          <p:cNvCxnSpPr/>
          <p:nvPr/>
        </p:nvCxnSpPr>
        <p:spPr>
          <a:xfrm rot="5328390">
            <a:off x="1911985" y="2594201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22"/>
          <p:cNvSpPr/>
          <p:nvPr/>
        </p:nvSpPr>
        <p:spPr>
          <a:xfrm>
            <a:off x="2343785" y="2244885"/>
            <a:ext cx="1651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1000</a:t>
            </a:r>
            <a:endParaRPr lang="en-US" sz="1100"/>
          </a:p>
        </p:txBody>
      </p:sp>
      <p:sp>
        <p:nvSpPr>
          <p:cNvPr id="19" name="AutoShape 23"/>
          <p:cNvSpPr/>
          <p:nvPr/>
        </p:nvSpPr>
        <p:spPr>
          <a:xfrm>
            <a:off x="2343785" y="2778285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高峰并发</a:t>
            </a:r>
            <a:endParaRPr lang="en-US" sz="1100"/>
          </a:p>
        </p:txBody>
      </p:sp>
      <p:pic>
        <p:nvPicPr>
          <p:cNvPr id="20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585" y="3235485"/>
            <a:ext cx="279400" cy="279400"/>
          </a:xfrm>
          <a:prstGeom prst="rect">
            <a:avLst/>
          </a:prstGeom>
        </p:spPr>
      </p:pic>
      <p:sp>
        <p:nvSpPr>
          <p:cNvPr id="21" name="AutoShape 25"/>
          <p:cNvSpPr/>
          <p:nvPr/>
        </p:nvSpPr>
        <p:spPr>
          <a:xfrm>
            <a:off x="845185" y="3222785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中间件集群化（高可用基底）</a:t>
            </a:r>
            <a:endParaRPr lang="en-US" sz="1100"/>
          </a:p>
        </p:txBody>
      </p:sp>
      <p:graphicFrame>
        <p:nvGraphicFramePr>
          <p:cNvPr id="22" name="Table 26"/>
          <p:cNvGraphicFramePr>
            <a:graphicFrameLocks noGrp="1"/>
          </p:cNvGraphicFramePr>
          <p:nvPr/>
        </p:nvGraphicFramePr>
        <p:xfrm>
          <a:off x="489585" y="3591085"/>
          <a:ext cx="5334000" cy="18821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9000"/>
                <a:gridCol w="3175000"/>
              </a:tblGrid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中间件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消息队列（Kafka / RabbitMQ）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解耦 + 削峰（告警、事件、数据上报）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Redis 集群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缓存、会话、热点数据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注册中心 + 配置中心 + 网关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微服务治理，新增服务自动注册 / 路由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23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4585" y="949485"/>
            <a:ext cx="279400" cy="279400"/>
          </a:xfrm>
          <a:prstGeom prst="rect">
            <a:avLst/>
          </a:prstGeom>
        </p:spPr>
      </p:pic>
      <p:sp>
        <p:nvSpPr>
          <p:cNvPr id="24" name="AutoShape 28"/>
          <p:cNvSpPr/>
          <p:nvPr/>
        </p:nvSpPr>
        <p:spPr>
          <a:xfrm>
            <a:off x="6560185" y="936785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IoT 设备接入可扩展设计</a:t>
            </a:r>
            <a:endParaRPr lang="en-US" sz="1100"/>
          </a:p>
        </p:txBody>
      </p:sp>
      <p:sp>
        <p:nvSpPr>
          <p:cNvPr id="25" name="AutoShape 29"/>
          <p:cNvSpPr/>
          <p:nvPr/>
        </p:nvSpPr>
        <p:spPr>
          <a:xfrm>
            <a:off x="8748971" y="974885"/>
            <a:ext cx="660400" cy="254000"/>
          </a:xfrm>
          <a:prstGeom prst="roundRect">
            <a:avLst>
              <a:gd name="adj" fmla="val 2000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30"/>
          <p:cNvSpPr/>
          <p:nvPr/>
        </p:nvSpPr>
        <p:spPr>
          <a:xfrm>
            <a:off x="8748971" y="1000285"/>
            <a:ext cx="66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重点</a:t>
            </a:r>
            <a:endParaRPr lang="en-US" sz="1100"/>
          </a:p>
        </p:txBody>
      </p:sp>
      <p:sp>
        <p:nvSpPr>
          <p:cNvPr id="27" name="AutoShape 31"/>
          <p:cNvSpPr/>
          <p:nvPr/>
        </p:nvSpPr>
        <p:spPr>
          <a:xfrm>
            <a:off x="6204585" y="1305085"/>
            <a:ext cx="4953000" cy="787400"/>
          </a:xfrm>
          <a:prstGeom prst="roundRect">
            <a:avLst>
              <a:gd name="adj" fmla="val 9677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32"/>
          <p:cNvSpPr/>
          <p:nvPr/>
        </p:nvSpPr>
        <p:spPr>
          <a:xfrm>
            <a:off x="6204585" y="1305085"/>
            <a:ext cx="63500" cy="787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33"/>
          <p:cNvSpPr/>
          <p:nvPr/>
        </p:nvSpPr>
        <p:spPr>
          <a:xfrm>
            <a:off x="6433185" y="1381285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多协议接入 · 统一适配层</a:t>
            </a:r>
            <a:endParaRPr lang="en-US" sz="1100"/>
          </a:p>
        </p:txBody>
      </p:sp>
      <p:sp>
        <p:nvSpPr>
          <p:cNvPr id="30" name="AutoShape 34"/>
          <p:cNvSpPr/>
          <p:nvPr/>
        </p:nvSpPr>
        <p:spPr>
          <a:xfrm>
            <a:off x="6433185" y="163528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MQTT · HTTP · CoAP · GB28181 · NB-IoT · 485 等</a:t>
            </a:r>
            <a:endParaRPr lang="en-US" sz="1100"/>
          </a:p>
        </p:txBody>
      </p:sp>
      <p:sp>
        <p:nvSpPr>
          <p:cNvPr id="31" name="AutoShape 35"/>
          <p:cNvSpPr/>
          <p:nvPr/>
        </p:nvSpPr>
        <p:spPr>
          <a:xfrm>
            <a:off x="6204585" y="2168685"/>
            <a:ext cx="4953000" cy="787400"/>
          </a:xfrm>
          <a:prstGeom prst="roundRect">
            <a:avLst>
              <a:gd name="adj" fmla="val 9677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6"/>
          <p:cNvSpPr/>
          <p:nvPr/>
        </p:nvSpPr>
        <p:spPr>
          <a:xfrm>
            <a:off x="6204585" y="2168685"/>
            <a:ext cx="63500" cy="787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7"/>
          <p:cNvSpPr/>
          <p:nvPr/>
        </p:nvSpPr>
        <p:spPr>
          <a:xfrm>
            <a:off x="6433185" y="2244885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物模型 + 设备影子</a:t>
            </a:r>
            <a:endParaRPr lang="en-US" sz="1100"/>
          </a:p>
        </p:txBody>
      </p:sp>
      <p:sp>
        <p:nvSpPr>
          <p:cNvPr id="34" name="AutoShape 38"/>
          <p:cNvSpPr/>
          <p:nvPr/>
        </p:nvSpPr>
        <p:spPr>
          <a:xfrm>
            <a:off x="6433185" y="249888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新设备 = 定义物模型 + 协议适配器，即插即用、不写死代码</a:t>
            </a:r>
            <a:endParaRPr lang="en-US" sz="1100"/>
          </a:p>
        </p:txBody>
      </p:sp>
      <p:sp>
        <p:nvSpPr>
          <p:cNvPr id="35" name="AutoShape 39"/>
          <p:cNvSpPr/>
          <p:nvPr/>
        </p:nvSpPr>
        <p:spPr>
          <a:xfrm>
            <a:off x="6204585" y="3032285"/>
            <a:ext cx="4953000" cy="787400"/>
          </a:xfrm>
          <a:prstGeom prst="roundRect">
            <a:avLst>
              <a:gd name="adj" fmla="val 9677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0"/>
          <p:cNvSpPr/>
          <p:nvPr/>
        </p:nvSpPr>
        <p:spPr>
          <a:xfrm>
            <a:off x="6204585" y="3032285"/>
            <a:ext cx="63500" cy="787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41"/>
          <p:cNvSpPr/>
          <p:nvPr/>
        </p:nvSpPr>
        <p:spPr>
          <a:xfrm>
            <a:off x="6433185" y="3108485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设备白名单 + 分区管理</a:t>
            </a:r>
            <a:endParaRPr lang="en-US" sz="1100"/>
          </a:p>
        </p:txBody>
      </p:sp>
      <p:sp>
        <p:nvSpPr>
          <p:cNvPr id="38" name="AutoShape 42"/>
          <p:cNvSpPr/>
          <p:nvPr/>
        </p:nvSpPr>
        <p:spPr>
          <a:xfrm>
            <a:off x="6433185" y="336248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按园区 / 类型管控海量设备；OTA 升级 + 完整台账</a:t>
            </a:r>
            <a:endParaRPr lang="en-US" sz="1100"/>
          </a:p>
        </p:txBody>
      </p:sp>
      <p:sp>
        <p:nvSpPr>
          <p:cNvPr id="39" name="AutoShape 43"/>
          <p:cNvSpPr/>
          <p:nvPr/>
        </p:nvSpPr>
        <p:spPr>
          <a:xfrm>
            <a:off x="6204585" y="3895885"/>
            <a:ext cx="4953000" cy="787400"/>
          </a:xfrm>
          <a:prstGeom prst="roundRect">
            <a:avLst>
              <a:gd name="adj" fmla="val 9677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4"/>
          <p:cNvSpPr/>
          <p:nvPr/>
        </p:nvSpPr>
        <p:spPr>
          <a:xfrm>
            <a:off x="6204585" y="3895885"/>
            <a:ext cx="63500" cy="787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5"/>
          <p:cNvSpPr/>
          <p:nvPr/>
        </p:nvSpPr>
        <p:spPr>
          <a:xfrm>
            <a:off x="6433185" y="3972085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视频接入（GB/T28181）</a:t>
            </a:r>
            <a:endParaRPr lang="en-US" sz="1100"/>
          </a:p>
        </p:txBody>
      </p:sp>
      <p:sp>
        <p:nvSpPr>
          <p:cNvPr id="42" name="AutoShape 46"/>
          <p:cNvSpPr/>
          <p:nvPr/>
        </p:nvSpPr>
        <p:spPr>
          <a:xfrm>
            <a:off x="6433185" y="422608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标准协议接入，接入服务器可横向堆叠扩展</a:t>
            </a:r>
            <a:endParaRPr lang="en-US" sz="1100"/>
          </a:p>
        </p:txBody>
      </p:sp>
      <p:pic>
        <p:nvPicPr>
          <p:cNvPr id="43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2251" y="5006815"/>
            <a:ext cx="279400" cy="279400"/>
          </a:xfrm>
          <a:prstGeom prst="rect">
            <a:avLst/>
          </a:prstGeom>
        </p:spPr>
      </p:pic>
      <p:sp>
        <p:nvSpPr>
          <p:cNvPr id="44" name="AutoShape 9"/>
          <p:cNvSpPr/>
          <p:nvPr/>
        </p:nvSpPr>
        <p:spPr>
          <a:xfrm>
            <a:off x="6557851" y="4994115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AI 算法可扩展（算法仓）</a:t>
            </a:r>
            <a:endParaRPr lang="en-US" sz="1100"/>
          </a:p>
        </p:txBody>
      </p:sp>
      <p:sp>
        <p:nvSpPr>
          <p:cNvPr id="45" name="AutoShape 10"/>
          <p:cNvSpPr/>
          <p:nvPr/>
        </p:nvSpPr>
        <p:spPr>
          <a:xfrm>
            <a:off x="8748971" y="5006815"/>
            <a:ext cx="660400" cy="254000"/>
          </a:xfrm>
          <a:prstGeom prst="roundRect">
            <a:avLst>
              <a:gd name="adj" fmla="val 2000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11"/>
          <p:cNvSpPr/>
          <p:nvPr/>
        </p:nvSpPr>
        <p:spPr>
          <a:xfrm>
            <a:off x="8748971" y="5032215"/>
            <a:ext cx="66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重点</a:t>
            </a:r>
            <a:endParaRPr lang="en-US" sz="1100"/>
          </a:p>
        </p:txBody>
      </p:sp>
      <p:sp>
        <p:nvSpPr>
          <p:cNvPr id="47" name="AutoShape 12"/>
          <p:cNvSpPr/>
          <p:nvPr/>
        </p:nvSpPr>
        <p:spPr>
          <a:xfrm>
            <a:off x="6202251" y="5362415"/>
            <a:ext cx="16002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13"/>
          <p:cNvSpPr/>
          <p:nvPr/>
        </p:nvSpPr>
        <p:spPr>
          <a:xfrm>
            <a:off x="6253051" y="5514815"/>
            <a:ext cx="1498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算法仓上架/下架</a:t>
            </a:r>
            <a:endParaRPr lang="en-US" sz="1100"/>
          </a:p>
        </p:txBody>
      </p:sp>
      <p:cxnSp>
        <p:nvCxnSpPr>
          <p:cNvPr id="49" name="Connector 14"/>
          <p:cNvCxnSpPr/>
          <p:nvPr/>
        </p:nvCxnSpPr>
        <p:spPr>
          <a:xfrm rot="-143156">
            <a:off x="7853383" y="5635465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AutoShape 15"/>
          <p:cNvSpPr/>
          <p:nvPr/>
        </p:nvSpPr>
        <p:spPr>
          <a:xfrm>
            <a:off x="8208851" y="5362415"/>
            <a:ext cx="13208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16"/>
          <p:cNvSpPr/>
          <p:nvPr/>
        </p:nvSpPr>
        <p:spPr>
          <a:xfrm>
            <a:off x="8259651" y="5514815"/>
            <a:ext cx="121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绑定摄像机</a:t>
            </a:r>
            <a:endParaRPr lang="en-US" sz="1100"/>
          </a:p>
        </p:txBody>
      </p:sp>
      <p:cxnSp>
        <p:nvCxnSpPr>
          <p:cNvPr id="52" name="Connector 17"/>
          <p:cNvCxnSpPr/>
          <p:nvPr/>
        </p:nvCxnSpPr>
        <p:spPr>
          <a:xfrm rot="-143156">
            <a:off x="9580583" y="5635465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AutoShape 18"/>
          <p:cNvSpPr/>
          <p:nvPr/>
        </p:nvSpPr>
        <p:spPr>
          <a:xfrm>
            <a:off x="9936051" y="5362415"/>
            <a:ext cx="1397000" cy="558800"/>
          </a:xfrm>
          <a:prstGeom prst="roundRect">
            <a:avLst>
              <a:gd name="adj" fmla="val 13636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3D424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19"/>
          <p:cNvSpPr/>
          <p:nvPr/>
        </p:nvSpPr>
        <p:spPr>
          <a:xfrm>
            <a:off x="9986851" y="5514815"/>
            <a:ext cx="1295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生成分析计划</a:t>
            </a:r>
            <a:endParaRPr lang="en-US" sz="110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部署架构</a:t>
            </a:r>
            <a:endParaRPr lang="zh-CN" altLang="en-US" dirty="0"/>
          </a:p>
        </p:txBody>
      </p:sp>
      <p:sp>
        <p:nvSpPr>
          <p:cNvPr id="4" name="AutoShape 8"/>
          <p:cNvSpPr/>
          <p:nvPr/>
        </p:nvSpPr>
        <p:spPr>
          <a:xfrm>
            <a:off x="762000" y="1219200"/>
            <a:ext cx="10668000" cy="279400"/>
          </a:xfrm>
          <a:prstGeom prst="roundRect">
            <a:avLst>
              <a:gd name="adj" fmla="val 18181"/>
            </a:avLst>
          </a:prstGeom>
          <a:solidFill>
            <a:srgbClr val="7A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9"/>
          <p:cNvSpPr/>
          <p:nvPr/>
        </p:nvSpPr>
        <p:spPr>
          <a:xfrm>
            <a:off x="965200" y="12319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总部中心 · 集中管控 · 统一运维</a:t>
            </a:r>
            <a:endParaRPr lang="en-US" sz="1100"/>
          </a:p>
        </p:txBody>
      </p:sp>
      <p:sp>
        <p:nvSpPr>
          <p:cNvPr id="6" name="AutoShape 10"/>
          <p:cNvSpPr/>
          <p:nvPr/>
        </p:nvSpPr>
        <p:spPr>
          <a:xfrm>
            <a:off x="762000" y="14986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F7E6E6">
              <a:alpha val="100000"/>
            </a:srgbClr>
          </a:solidFill>
          <a:ln w="12700" cap="flat" cmpd="sng">
            <a:solidFill>
              <a:srgbClr val="7A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11"/>
          <p:cNvSpPr/>
          <p:nvPr/>
        </p:nvSpPr>
        <p:spPr>
          <a:xfrm>
            <a:off x="9652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12"/>
          <p:cNvSpPr/>
          <p:nvPr/>
        </p:nvSpPr>
        <p:spPr>
          <a:xfrm>
            <a:off x="10160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数据湖 / 数仓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全园汇聚</a:t>
            </a:r>
            <a:endParaRPr lang="en-US" sz="1100"/>
          </a:p>
        </p:txBody>
      </p:sp>
      <p:sp>
        <p:nvSpPr>
          <p:cNvPr id="9" name="AutoShape 13"/>
          <p:cNvSpPr/>
          <p:nvPr/>
        </p:nvSpPr>
        <p:spPr>
          <a:xfrm>
            <a:off x="30353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4"/>
          <p:cNvSpPr/>
          <p:nvPr/>
        </p:nvSpPr>
        <p:spPr>
          <a:xfrm>
            <a:off x="30861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集团级看板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跨园态势</a:t>
            </a:r>
            <a:endParaRPr lang="en-US" sz="1100"/>
          </a:p>
        </p:txBody>
      </p:sp>
      <p:sp>
        <p:nvSpPr>
          <p:cNvPr id="11" name="AutoShape 15"/>
          <p:cNvSpPr/>
          <p:nvPr/>
        </p:nvSpPr>
        <p:spPr>
          <a:xfrm>
            <a:off x="51054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6"/>
          <p:cNvSpPr/>
          <p:nvPr/>
        </p:nvSpPr>
        <p:spPr>
          <a:xfrm>
            <a:off x="51562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统一主数据 / SSO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MDM</a:t>
            </a:r>
            <a:endParaRPr lang="en-US" sz="1100"/>
          </a:p>
        </p:txBody>
      </p:sp>
      <p:sp>
        <p:nvSpPr>
          <p:cNvPr id="13" name="AutoShape 17"/>
          <p:cNvSpPr/>
          <p:nvPr/>
        </p:nvSpPr>
        <p:spPr>
          <a:xfrm>
            <a:off x="71755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8"/>
          <p:cNvSpPr/>
          <p:nvPr/>
        </p:nvSpPr>
        <p:spPr>
          <a:xfrm>
            <a:off x="72263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统一运维 / 升级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版本·审计</a:t>
            </a:r>
            <a:endParaRPr lang="en-US" sz="1100"/>
          </a:p>
        </p:txBody>
      </p:sp>
      <p:sp>
        <p:nvSpPr>
          <p:cNvPr id="15" name="AutoShape 19"/>
          <p:cNvSpPr/>
          <p:nvPr/>
        </p:nvSpPr>
        <p:spPr>
          <a:xfrm>
            <a:off x="9245600" y="1574800"/>
            <a:ext cx="1968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20"/>
          <p:cNvSpPr/>
          <p:nvPr/>
        </p:nvSpPr>
        <p:spPr>
          <a:xfrm>
            <a:off x="9296400" y="1600200"/>
            <a:ext cx="1866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算法仓 / 模型中心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AI 集中</a:t>
            </a:r>
            <a:endParaRPr lang="en-US" sz="1100"/>
          </a:p>
        </p:txBody>
      </p:sp>
      <p:cxnSp>
        <p:nvCxnSpPr>
          <p:cNvPr id="17" name="Connector 21"/>
          <p:cNvCxnSpPr/>
          <p:nvPr/>
        </p:nvCxnSpPr>
        <p:spPr>
          <a:xfrm rot="5228255">
            <a:off x="5969000" y="22544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18" name="AutoShape 22"/>
          <p:cNvSpPr/>
          <p:nvPr/>
        </p:nvSpPr>
        <p:spPr>
          <a:xfrm>
            <a:off x="6350000" y="2159000"/>
            <a:ext cx="330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专线 / VPN · 实时增量同步</a:t>
            </a:r>
            <a:endParaRPr lang="en-US" sz="1100"/>
          </a:p>
        </p:txBody>
      </p:sp>
      <p:sp>
        <p:nvSpPr>
          <p:cNvPr id="19" name="AutoShape 23"/>
          <p:cNvSpPr/>
          <p:nvPr/>
        </p:nvSpPr>
        <p:spPr>
          <a:xfrm>
            <a:off x="762000" y="2438400"/>
            <a:ext cx="10668000" cy="279400"/>
          </a:xfrm>
          <a:prstGeom prst="roundRect">
            <a:avLst>
              <a:gd name="adj" fmla="val 18181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4"/>
          <p:cNvSpPr/>
          <p:nvPr/>
        </p:nvSpPr>
        <p:spPr>
          <a:xfrm>
            <a:off x="965200" y="24511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分园区本地节点 · 独立可运行（断网可用）</a:t>
            </a:r>
            <a:endParaRPr lang="en-US" sz="1100"/>
          </a:p>
        </p:txBody>
      </p:sp>
      <p:sp>
        <p:nvSpPr>
          <p:cNvPr id="21" name="AutoShape 25"/>
          <p:cNvSpPr/>
          <p:nvPr/>
        </p:nvSpPr>
        <p:spPr>
          <a:xfrm>
            <a:off x="762000" y="27178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FBF0F0">
              <a:alpha val="100000"/>
            </a:srgbClr>
          </a:solidFill>
          <a:ln w="12700" cap="flat" cmpd="sng">
            <a:solidFill>
              <a:srgbClr val="C9302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6"/>
          <p:cNvSpPr/>
          <p:nvPr/>
        </p:nvSpPr>
        <p:spPr>
          <a:xfrm>
            <a:off x="965200" y="2794000"/>
            <a:ext cx="24892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7"/>
          <p:cNvSpPr/>
          <p:nvPr/>
        </p:nvSpPr>
        <p:spPr>
          <a:xfrm>
            <a:off x="1016000" y="28194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 A 边缘节点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独立运行</a:t>
            </a:r>
            <a:endParaRPr lang="en-US" sz="1100"/>
          </a:p>
        </p:txBody>
      </p:sp>
      <p:sp>
        <p:nvSpPr>
          <p:cNvPr id="24" name="AutoShape 28"/>
          <p:cNvSpPr/>
          <p:nvPr/>
        </p:nvSpPr>
        <p:spPr>
          <a:xfrm>
            <a:off x="3556000" y="2794000"/>
            <a:ext cx="24892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9"/>
          <p:cNvSpPr/>
          <p:nvPr/>
        </p:nvSpPr>
        <p:spPr>
          <a:xfrm>
            <a:off x="3606800" y="28194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 B 边缘节点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独立运行</a:t>
            </a:r>
            <a:endParaRPr lang="en-US" sz="1100"/>
          </a:p>
        </p:txBody>
      </p:sp>
      <p:sp>
        <p:nvSpPr>
          <p:cNvPr id="26" name="AutoShape 30"/>
          <p:cNvSpPr/>
          <p:nvPr/>
        </p:nvSpPr>
        <p:spPr>
          <a:xfrm>
            <a:off x="6146800" y="2794000"/>
            <a:ext cx="24892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31"/>
          <p:cNvSpPr/>
          <p:nvPr/>
        </p:nvSpPr>
        <p:spPr>
          <a:xfrm>
            <a:off x="6197600" y="28194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园区 C 边缘节点</a:t>
            </a:r>
            <a:b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独立运行</a:t>
            </a:r>
            <a:endParaRPr lang="en-US" sz="1100"/>
          </a:p>
        </p:txBody>
      </p:sp>
      <p:sp>
        <p:nvSpPr>
          <p:cNvPr id="28" name="AutoShape 32"/>
          <p:cNvSpPr/>
          <p:nvPr/>
        </p:nvSpPr>
        <p:spPr>
          <a:xfrm>
            <a:off x="8737600" y="2794000"/>
            <a:ext cx="24892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A63A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33"/>
          <p:cNvSpPr/>
          <p:nvPr/>
        </p:nvSpPr>
        <p:spPr>
          <a:xfrm>
            <a:off x="8788400" y="28194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集团复制 · 新园区</a:t>
            </a:r>
            <a:b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1" i="0" u="none" strike="noStrike">
                <a:solidFill>
                  <a:srgbClr val="2A63AA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一键初始化</a:t>
            </a:r>
            <a:endParaRPr lang="en-US" sz="1100"/>
          </a:p>
        </p:txBody>
      </p:sp>
      <p:pic>
        <p:nvPicPr>
          <p:cNvPr id="30" name="Picture 3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3505200"/>
            <a:ext cx="279400" cy="279400"/>
          </a:xfrm>
          <a:prstGeom prst="rect">
            <a:avLst/>
          </a:prstGeom>
        </p:spPr>
      </p:pic>
      <p:sp>
        <p:nvSpPr>
          <p:cNvPr id="31" name="AutoShape 35"/>
          <p:cNvSpPr/>
          <p:nvPr/>
        </p:nvSpPr>
        <p:spPr>
          <a:xfrm>
            <a:off x="1117600" y="3492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部署分层策略</a:t>
            </a:r>
            <a:endParaRPr lang="en-US" sz="1100"/>
          </a:p>
        </p:txBody>
      </p:sp>
      <p:graphicFrame>
        <p:nvGraphicFramePr>
          <p:cNvPr id="32" name="Table 36"/>
          <p:cNvGraphicFramePr>
            <a:graphicFrameLocks noGrp="1"/>
          </p:cNvGraphicFramePr>
          <p:nvPr/>
        </p:nvGraphicFramePr>
        <p:xfrm>
          <a:off x="762000" y="3860800"/>
          <a:ext cx="5461000" cy="22885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68400"/>
                <a:gridCol w="2311400"/>
                <a:gridCol w="1981200"/>
              </a:tblGrid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层级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部署内容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总部中心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数据湖、集团看板、主数据、SSO、运维监控、算法仓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集中管控，跨园统一视图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分园节点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业务应用、本地视频/AI、本地 IoT 采集、本地告警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独立可运行（断网可用）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同步机制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边缘 → 中心数据同步 / 汇聚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事件 + 增量同步，断网缓存、恢复续传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33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505200"/>
            <a:ext cx="279400" cy="279400"/>
          </a:xfrm>
          <a:prstGeom prst="rect">
            <a:avLst/>
          </a:prstGeom>
        </p:spPr>
      </p:pic>
      <p:sp>
        <p:nvSpPr>
          <p:cNvPr id="34" name="AutoShape 38"/>
          <p:cNvSpPr/>
          <p:nvPr/>
        </p:nvSpPr>
        <p:spPr>
          <a:xfrm>
            <a:off x="6832600" y="3492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关键扩展设计</a:t>
            </a:r>
            <a:endParaRPr lang="en-US" sz="1100"/>
          </a:p>
        </p:txBody>
      </p:sp>
      <p:sp>
        <p:nvSpPr>
          <p:cNvPr id="35" name="AutoShape 39"/>
          <p:cNvSpPr/>
          <p:nvPr/>
        </p:nvSpPr>
        <p:spPr>
          <a:xfrm>
            <a:off x="6477000" y="38608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0"/>
          <p:cNvSpPr/>
          <p:nvPr/>
        </p:nvSpPr>
        <p:spPr>
          <a:xfrm>
            <a:off x="6654800" y="37846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05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一键建园</a:t>
            </a:r>
            <a:r>
              <a:rPr lang="en-US" sz="105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r>
              <a:rPr lang="en-US" sz="105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050" b="0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新园区</a:t>
            </a:r>
            <a:r>
              <a:rPr lang="en-US" sz="105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 = </a:t>
            </a:r>
            <a:r>
              <a:rPr lang="en-US" sz="1050" b="0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初始化租户</a:t>
            </a:r>
            <a:r>
              <a:rPr lang="en-US" sz="105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050" b="0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部署标准边缘节点</a:t>
            </a:r>
            <a:r>
              <a:rPr lang="en-US" sz="105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050" b="0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关联总部，模板化开通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7" name="AutoShape 41"/>
          <p:cNvSpPr/>
          <p:nvPr/>
        </p:nvSpPr>
        <p:spPr>
          <a:xfrm>
            <a:off x="6477000" y="42672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42"/>
          <p:cNvSpPr/>
          <p:nvPr/>
        </p:nvSpPr>
        <p:spPr>
          <a:xfrm>
            <a:off x="6654800" y="41910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统一版本、统一升级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：总部统一运维升级，边缘可滚动灰度</a:t>
            </a:r>
            <a:endParaRPr lang="en-US" sz="1100" dirty="0"/>
          </a:p>
        </p:txBody>
      </p:sp>
      <p:sp>
        <p:nvSpPr>
          <p:cNvPr id="39" name="AutoShape 43"/>
          <p:cNvSpPr/>
          <p:nvPr/>
        </p:nvSpPr>
        <p:spPr>
          <a:xfrm>
            <a:off x="6477000" y="46736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4"/>
          <p:cNvSpPr/>
          <p:nvPr/>
        </p:nvSpPr>
        <p:spPr>
          <a:xfrm>
            <a:off x="6654800" y="45974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弹性扩容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：单个园区增长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该园区边缘节点横向扩展（K8s）</a:t>
            </a:r>
            <a:endParaRPr lang="en-US" sz="1100" dirty="0"/>
          </a:p>
        </p:txBody>
      </p:sp>
      <p:sp>
        <p:nvSpPr>
          <p:cNvPr id="41" name="AutoShape 45"/>
          <p:cNvSpPr/>
          <p:nvPr/>
        </p:nvSpPr>
        <p:spPr>
          <a:xfrm>
            <a:off x="6477000" y="50800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6"/>
          <p:cNvSpPr/>
          <p:nvPr/>
        </p:nvSpPr>
        <p:spPr>
          <a:xfrm>
            <a:off x="6654800" y="50038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高可用容灾</a:t>
            </a: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：总部中心 + 分园区双重容灾，业务不中断</a:t>
            </a:r>
            <a:endParaRPr lang="en-US" sz="110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四类主要的扩展路径设计</a:t>
            </a:r>
            <a:endParaRPr lang="zh-CN" altLang="en-US" dirty="0"/>
          </a:p>
        </p:txBody>
      </p:sp>
      <p:graphicFrame>
        <p:nvGraphicFramePr>
          <p:cNvPr id="5" name="Table 8"/>
          <p:cNvGraphicFramePr>
            <a:graphicFrameLocks noGrp="1"/>
          </p:cNvGraphicFramePr>
          <p:nvPr/>
        </p:nvGraphicFramePr>
        <p:xfrm>
          <a:off x="426500" y="1149761"/>
          <a:ext cx="10668000" cy="3708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33600"/>
                <a:gridCol w="5588000"/>
                <a:gridCol w="294640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增长类型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架构应对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影响面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4246">
                        <a:alpha val="100000"/>
                      </a:srgbClr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新增园区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多租户数据隔离 + 模板化边缘节点 + 总分同步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零改存量</a:t>
                      </a:r>
                      <a:r>
                        <a:rPr lang="en-US" sz="11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，新租户即可用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新增用户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无状态应用水平扩容 + SSO + 动态权限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自动伸缩</a:t>
                      </a: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，无需停服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</a:t>
                      </a:r>
                      <a:r>
                        <a:rPr lang="en-US" sz="1100" b="1" i="0" u="none" strike="noStrike" dirty="0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IoT </a:t>
                      </a: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设备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物模型 + 协议适配器 + 设备白名单 + 分区管理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即插即用</a:t>
                      </a: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，不写死代码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新增功能模块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 / 插件化 + 动态菜单权限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 dirty="0" err="1">
                          <a:solidFill>
                            <a:srgbClr val="CC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新增服务</a:t>
                      </a:r>
                      <a:r>
                        <a:rPr lang="en-US" sz="1100" b="0" i="0" u="none" strike="noStrike" dirty="0" err="1">
                          <a:solidFill>
                            <a:srgbClr val="3D424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，不动存量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AutoShape 9"/>
          <p:cNvSpPr/>
          <p:nvPr/>
        </p:nvSpPr>
        <p:spPr>
          <a:xfrm>
            <a:off x="426500" y="5112161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F2FBF5">
              <a:alpha val="100000"/>
            </a:srgbClr>
          </a:solidFill>
          <a:ln w="12700" cap="flat" cmpd="sng">
            <a:solidFill>
              <a:srgbClr val="B4DCB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10"/>
          <p:cNvSpPr/>
          <p:nvPr/>
        </p:nvSpPr>
        <p:spPr>
          <a:xfrm>
            <a:off x="426500" y="5112161"/>
            <a:ext cx="63500" cy="10160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100" y="5213761"/>
            <a:ext cx="279400" cy="279400"/>
          </a:xfrm>
          <a:prstGeom prst="rect">
            <a:avLst/>
          </a:prstGeom>
        </p:spPr>
      </p:pic>
      <p:sp>
        <p:nvSpPr>
          <p:cNvPr id="13" name="AutoShape 12"/>
          <p:cNvSpPr/>
          <p:nvPr/>
        </p:nvSpPr>
        <p:spPr>
          <a:xfrm>
            <a:off x="1036100" y="5201061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扩展性保证的核心闭环</a:t>
            </a:r>
            <a:endParaRPr lang="en-US" sz="1100"/>
          </a:p>
        </p:txBody>
      </p:sp>
      <p:sp>
        <p:nvSpPr>
          <p:cNvPr id="15" name="AutoShape 13"/>
          <p:cNvSpPr/>
          <p:nvPr/>
        </p:nvSpPr>
        <p:spPr>
          <a:xfrm>
            <a:off x="655100" y="5569361"/>
            <a:ext cx="10236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多租户</a:t>
            </a:r>
            <a:r>
              <a:rPr lang="en-US" sz="120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（园区）× </a:t>
            </a:r>
            <a:r>
              <a:rPr lang="en-US" sz="12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微服务插件化</a:t>
            </a:r>
            <a:r>
              <a:rPr lang="en-US" sz="120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（模块）× </a:t>
            </a:r>
            <a:r>
              <a:rPr lang="en-US" sz="12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物模型</a:t>
            </a:r>
            <a:r>
              <a:rPr lang="en-US" sz="120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（设备）× </a:t>
            </a:r>
            <a:r>
              <a:rPr lang="en-US" sz="12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无状态弹性</a:t>
            </a:r>
            <a:r>
              <a:rPr lang="en-US" sz="1200" b="0" i="0" u="none" strike="noStrike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（用户）＝ 四类增长均不影响存量、可平滑扩展</a:t>
            </a:r>
            <a:endParaRPr lang="en-US" sz="110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376555" y="2472690"/>
            <a:ext cx="2636520" cy="1912620"/>
            <a:chOff x="593" y="3894"/>
            <a:chExt cx="4152" cy="3012"/>
          </a:xfrm>
        </p:grpSpPr>
        <p:sp>
          <p:nvSpPr>
            <p:cNvPr id="6" name="NY19-1"/>
            <p:cNvSpPr txBox="1"/>
            <p:nvPr/>
          </p:nvSpPr>
          <p:spPr>
            <a:xfrm>
              <a:off x="593" y="4309"/>
              <a:ext cx="4153" cy="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914400">
                <a:defRPr/>
              </a:pPr>
              <a:r>
                <a:rPr lang="zh-CN" altLang="en-US" sz="60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目录</a:t>
              </a:r>
              <a:endParaRPr lang="en-US" altLang="zh-CN" sz="60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  <a:p>
              <a:pPr algn="dist" defTabSz="914400">
                <a:defRPr/>
              </a:pPr>
              <a:r>
                <a:rPr lang="en-US" altLang="zh-CN" sz="24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CONTENTS</a:t>
              </a:r>
              <a:endParaRPr lang="zh-CN" altLang="en-US" sz="24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8" name="NY-1"/>
            <p:cNvCxnSpPr/>
            <p:nvPr>
              <p:custDataLst>
                <p:tags r:id="rId2"/>
              </p:custDataLst>
            </p:nvPr>
          </p:nvCxnSpPr>
          <p:spPr>
            <a:xfrm>
              <a:off x="618" y="3894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  <p:cxnSp>
          <p:nvCxnSpPr>
            <p:cNvPr id="9" name="NY-2"/>
            <p:cNvCxnSpPr/>
            <p:nvPr>
              <p:custDataLst>
                <p:tags r:id="rId3"/>
              </p:custDataLst>
            </p:nvPr>
          </p:nvCxnSpPr>
          <p:spPr>
            <a:xfrm>
              <a:off x="618" y="6906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</p:grpSp>
      <p:grpSp>
        <p:nvGrpSpPr>
          <p:cNvPr id="10" name="组合 9"/>
          <p:cNvGrpSpPr/>
          <p:nvPr/>
        </p:nvGrpSpPr>
        <p:grpSpPr>
          <a:xfrm>
            <a:off x="3623945" y="1803400"/>
            <a:ext cx="6550660" cy="3251835"/>
            <a:chOff x="5891" y="2888"/>
            <a:chExt cx="10316" cy="5121"/>
          </a:xfrm>
        </p:grpSpPr>
        <p:sp>
          <p:nvSpPr>
            <p:cNvPr id="20" name="文本框 19"/>
            <p:cNvSpPr txBox="1"/>
            <p:nvPr>
              <p:custDataLst>
                <p:tags r:id="rId4"/>
              </p:custDataLst>
            </p:nvPr>
          </p:nvSpPr>
          <p:spPr>
            <a:xfrm>
              <a:off x="5891" y="288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i="0" u="none" strike="noStrike" cap="none" spc="-15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01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联想</a:t>
              </a: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制造智慧园案例解析</a:t>
              </a:r>
              <a:endParaRPr lang="zh-CN" altLang="en-US" sz="2400" dirty="0">
                <a:solidFill>
                  <a:schemeClr val="bg1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5891" y="4023"/>
              <a:ext cx="10316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02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阳光智慧园区建设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方案总体架构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5891" y="515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03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系统演示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892" y="742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05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差异化服务优势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5893" y="629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04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实施方案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</p:grp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场景演示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89584" y="966855"/>
            <a:ext cx="9994117" cy="471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F172A"/>
                </a:solidFill>
                <a:effectLst/>
                <a:latin typeface="PingFang SC" panose="020B0400000000000000" charset="-122"/>
              </a:rPr>
              <a:t>平台整体</a:t>
            </a:r>
            <a:endParaRPr lang="en-US" altLang="zh-CN" sz="1200" b="0" i="0" dirty="0">
              <a:solidFill>
                <a:srgbClr val="0F172A"/>
              </a:solidFill>
              <a:effectLst/>
              <a:latin typeface="PingFang SC" panose="020B0400000000000000" charset="-122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F172A"/>
                </a:solidFill>
                <a:effectLst/>
                <a:latin typeface="PingFang SC" panose="020B0400000000000000" charset="-122"/>
              </a:rPr>
              <a:t>新增园区</a:t>
            </a:r>
            <a:endParaRPr lang="en-US" altLang="zh-CN" sz="1200" b="0" i="0" dirty="0">
              <a:solidFill>
                <a:srgbClr val="0F172A"/>
              </a:solidFill>
              <a:effectLst/>
              <a:latin typeface="PingFang SC" panose="020B0400000000000000" charset="-122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rgbClr val="0F172A"/>
                </a:solidFill>
                <a:latin typeface="PingFang SC" panose="020B0400000000000000" charset="-122"/>
              </a:rPr>
              <a:t>新增设备</a:t>
            </a:r>
            <a:endParaRPr lang="en-US" altLang="zh-CN" sz="1200" dirty="0">
              <a:solidFill>
                <a:srgbClr val="0F172A"/>
              </a:solidFill>
              <a:latin typeface="PingFang SC" panose="020B0400000000000000" charset="-122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F172A"/>
                </a:solidFill>
                <a:effectLst/>
                <a:latin typeface="PingFang SC" panose="020B0400000000000000" charset="-122"/>
              </a:rPr>
              <a:t>数据集成</a:t>
            </a:r>
            <a:endParaRPr lang="en-US" altLang="zh-CN" sz="1200" b="0" i="0" dirty="0">
              <a:solidFill>
                <a:srgbClr val="0F172A"/>
              </a:solidFill>
              <a:effectLst/>
              <a:latin typeface="PingFang SC" panose="020B0400000000000000" charset="-122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endParaRPr lang="en-US" altLang="zh-CN" sz="1200" b="0" i="0" dirty="0">
              <a:solidFill>
                <a:srgbClr val="0F172A"/>
              </a:solidFill>
              <a:effectLst/>
              <a:latin typeface="PingFang SC" panose="020B0400000000000000" charset="-122"/>
            </a:endParaRPr>
          </a:p>
          <a:p>
            <a:pPr marL="342900" marR="0" lvl="0" indent="-342900" algn="l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sz="1200" dirty="0">
                <a:solidFill>
                  <a:srgbClr val="0F172A"/>
                </a:solidFill>
                <a:latin typeface="PingFang SC" panose="020B0400000000000000" charset="-122"/>
              </a:rPr>
              <a:t>5</a:t>
            </a:r>
            <a:r>
              <a:rPr lang="zh-CN" altLang="en-US" sz="1200" dirty="0">
                <a:solidFill>
                  <a:srgbClr val="0F172A"/>
                </a:solidFill>
                <a:latin typeface="PingFang SC" panose="020B0400000000000000" charset="-122"/>
              </a:rPr>
              <a:t>大子系统</a:t>
            </a:r>
            <a:endParaRPr lang="en-US" altLang="zh-CN" sz="1200" dirty="0">
              <a:solidFill>
                <a:srgbClr val="0F172A"/>
              </a:solidFill>
              <a:latin typeface="PingFang SC" panose="020B0400000000000000" charset="-122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rgbClr val="0F172A"/>
                </a:solidFill>
                <a:latin typeface="PingFang SC" panose="020B0400000000000000" charset="-122"/>
              </a:rPr>
              <a:t>智慧物流</a:t>
            </a:r>
            <a:endParaRPr lang="en-US" altLang="zh-CN" sz="1200" dirty="0">
              <a:solidFill>
                <a:srgbClr val="0F172A"/>
              </a:solidFill>
              <a:latin typeface="PingFang SC" panose="020B0400000000000000" charset="-122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F172A"/>
                </a:solidFill>
                <a:effectLst/>
                <a:latin typeface="PingFang SC" panose="020B0400000000000000" charset="-122"/>
              </a:rPr>
              <a:t>外协人员管理</a:t>
            </a:r>
            <a:endParaRPr lang="en-US" altLang="zh-CN" sz="1200" b="0" i="0" dirty="0">
              <a:solidFill>
                <a:srgbClr val="0F172A"/>
              </a:solidFill>
              <a:effectLst/>
              <a:latin typeface="PingFang SC" panose="020B0400000000000000" charset="-122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200" dirty="0">
                <a:solidFill>
                  <a:srgbClr val="0F172A"/>
                </a:solidFill>
                <a:latin typeface="PingFang SC" panose="020B0400000000000000" charset="-122"/>
              </a:rPr>
              <a:t>智慧安防</a:t>
            </a:r>
            <a:endParaRPr lang="en-US" altLang="zh-CN" sz="1200" dirty="0">
              <a:solidFill>
                <a:srgbClr val="0F172A"/>
              </a:solidFill>
              <a:latin typeface="PingFang SC" panose="020B0400000000000000" charset="-122"/>
            </a:endParaRPr>
          </a:p>
          <a:p>
            <a:pPr marL="800100" lvl="1" indent="-342900">
              <a:lnSpc>
                <a:spcPts val="1950"/>
              </a:lnSpc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endParaRPr lang="zh-CN" altLang="zh-CN" sz="1200" b="0" i="0" dirty="0">
              <a:solidFill>
                <a:srgbClr val="0F172A"/>
              </a:solidFill>
              <a:effectLst/>
              <a:latin typeface="PingFang SC" panose="020B0400000000000000" charset="-122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376555" y="2472690"/>
            <a:ext cx="2636520" cy="1912620"/>
            <a:chOff x="593" y="3894"/>
            <a:chExt cx="4152" cy="3012"/>
          </a:xfrm>
        </p:grpSpPr>
        <p:sp>
          <p:nvSpPr>
            <p:cNvPr id="6" name="NY19-1"/>
            <p:cNvSpPr txBox="1"/>
            <p:nvPr/>
          </p:nvSpPr>
          <p:spPr>
            <a:xfrm>
              <a:off x="593" y="4309"/>
              <a:ext cx="4153" cy="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914400">
                <a:defRPr/>
              </a:pPr>
              <a:r>
                <a:rPr lang="zh-CN" altLang="en-US" sz="60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目录</a:t>
              </a:r>
              <a:endParaRPr lang="en-US" altLang="zh-CN" sz="60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  <a:p>
              <a:pPr algn="dist" defTabSz="914400">
                <a:defRPr/>
              </a:pPr>
              <a:r>
                <a:rPr lang="en-US" altLang="zh-CN" sz="24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CONTENTS</a:t>
              </a:r>
              <a:endParaRPr lang="zh-CN" altLang="en-US" sz="24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8" name="NY-1"/>
            <p:cNvCxnSpPr/>
            <p:nvPr>
              <p:custDataLst>
                <p:tags r:id="rId2"/>
              </p:custDataLst>
            </p:nvPr>
          </p:nvCxnSpPr>
          <p:spPr>
            <a:xfrm>
              <a:off x="618" y="3894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  <p:cxnSp>
          <p:nvCxnSpPr>
            <p:cNvPr id="9" name="NY-2"/>
            <p:cNvCxnSpPr/>
            <p:nvPr>
              <p:custDataLst>
                <p:tags r:id="rId3"/>
              </p:custDataLst>
            </p:nvPr>
          </p:nvCxnSpPr>
          <p:spPr>
            <a:xfrm>
              <a:off x="618" y="6906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</p:grpSp>
      <p:grpSp>
        <p:nvGrpSpPr>
          <p:cNvPr id="10" name="组合 9"/>
          <p:cNvGrpSpPr/>
          <p:nvPr/>
        </p:nvGrpSpPr>
        <p:grpSpPr>
          <a:xfrm>
            <a:off x="3623945" y="1803400"/>
            <a:ext cx="6550660" cy="3251835"/>
            <a:chOff x="5891" y="2888"/>
            <a:chExt cx="10316" cy="5121"/>
          </a:xfrm>
        </p:grpSpPr>
        <p:sp>
          <p:nvSpPr>
            <p:cNvPr id="20" name="文本框 19"/>
            <p:cNvSpPr txBox="1"/>
            <p:nvPr>
              <p:custDataLst>
                <p:tags r:id="rId4"/>
              </p:custDataLst>
            </p:nvPr>
          </p:nvSpPr>
          <p:spPr>
            <a:xfrm>
              <a:off x="5891" y="288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i="0" u="none" strike="noStrike" cap="none" spc="-15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01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联想</a:t>
              </a: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制造智慧园案例解析</a:t>
              </a:r>
              <a:endParaRPr lang="zh-CN" altLang="en-US" sz="2400" dirty="0">
                <a:solidFill>
                  <a:schemeClr val="bg1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5891" y="4023"/>
              <a:ext cx="10316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02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阳光智慧园区建设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方案总体架构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5891" y="515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03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系统演示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892" y="742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05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差异化服务优势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5893" y="629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04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实施方案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实施方案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376555" y="2472690"/>
            <a:ext cx="2636520" cy="1912620"/>
            <a:chOff x="593" y="3894"/>
            <a:chExt cx="4152" cy="3012"/>
          </a:xfrm>
        </p:grpSpPr>
        <p:sp>
          <p:nvSpPr>
            <p:cNvPr id="6" name="NY19-1"/>
            <p:cNvSpPr txBox="1"/>
            <p:nvPr/>
          </p:nvSpPr>
          <p:spPr>
            <a:xfrm>
              <a:off x="593" y="4309"/>
              <a:ext cx="4153" cy="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914400">
                <a:defRPr/>
              </a:pPr>
              <a:r>
                <a:rPr lang="zh-CN" altLang="en-US" sz="60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目录</a:t>
              </a:r>
              <a:endParaRPr lang="en-US" altLang="zh-CN" sz="60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  <a:p>
              <a:pPr algn="dist" defTabSz="914400">
                <a:defRPr/>
              </a:pPr>
              <a:r>
                <a:rPr lang="en-US" altLang="zh-CN" sz="24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CONTENTS</a:t>
              </a:r>
              <a:endParaRPr lang="zh-CN" altLang="en-US" sz="24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8" name="NY-1"/>
            <p:cNvCxnSpPr/>
            <p:nvPr>
              <p:custDataLst>
                <p:tags r:id="rId2"/>
              </p:custDataLst>
            </p:nvPr>
          </p:nvCxnSpPr>
          <p:spPr>
            <a:xfrm>
              <a:off x="618" y="3894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  <p:cxnSp>
          <p:nvCxnSpPr>
            <p:cNvPr id="9" name="NY-2"/>
            <p:cNvCxnSpPr/>
            <p:nvPr>
              <p:custDataLst>
                <p:tags r:id="rId3"/>
              </p:custDataLst>
            </p:nvPr>
          </p:nvCxnSpPr>
          <p:spPr>
            <a:xfrm>
              <a:off x="618" y="6906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</p:grpSp>
      <p:grpSp>
        <p:nvGrpSpPr>
          <p:cNvPr id="10" name="组合 9"/>
          <p:cNvGrpSpPr/>
          <p:nvPr/>
        </p:nvGrpSpPr>
        <p:grpSpPr>
          <a:xfrm>
            <a:off x="3623945" y="1803400"/>
            <a:ext cx="6550660" cy="3251835"/>
            <a:chOff x="5891" y="2888"/>
            <a:chExt cx="10316" cy="5121"/>
          </a:xfrm>
        </p:grpSpPr>
        <p:sp>
          <p:nvSpPr>
            <p:cNvPr id="20" name="文本框 19"/>
            <p:cNvSpPr txBox="1"/>
            <p:nvPr>
              <p:custDataLst>
                <p:tags r:id="rId4"/>
              </p:custDataLst>
            </p:nvPr>
          </p:nvSpPr>
          <p:spPr>
            <a:xfrm>
              <a:off x="5891" y="288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i="0" u="none" strike="noStrike" cap="none" spc="-15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01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联想</a:t>
              </a: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制造智慧园案例解析</a:t>
              </a:r>
              <a:endParaRPr lang="zh-CN" altLang="en-US" sz="2400" dirty="0">
                <a:solidFill>
                  <a:schemeClr val="bg1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5891" y="4023"/>
              <a:ext cx="10316" cy="5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02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阳光智慧园区建设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方案总体架构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5891" y="515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03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系统演示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892" y="742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05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差异化服务优势</a:t>
              </a:r>
              <a:endPara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5893" y="629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7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04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实施方案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</p:grp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差异化服务方案与优势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753850" y="6400800"/>
            <a:ext cx="438150" cy="155575"/>
          </a:xfrm>
        </p:spPr>
        <p:txBody>
          <a:bodyPr/>
          <a:lstStyle/>
          <a:p>
            <a:fld id="{6D22F896-40B5-4ADD-8801-0D06FADFA09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3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4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5.xml><?xml version="1.0" encoding="utf-8"?>
<p:tagLst xmlns:p="http://schemas.openxmlformats.org/presentationml/2006/main">
  <p:tag name="KSO_WM_FULL_TEXT_BEAUTIFY_COPY_ID" val="7"/>
  <p:tag name="KSO_WM_DIAGRAM_VIRTUALLY_FRAME" val="{&quot;height&quot;:286.6,&quot;left&quot;:29.65,&quot;top&quot;:126.7,&quot;width&quot;:712.65}"/>
</p:tagLst>
</file>

<file path=ppt/tags/tag6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7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8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9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10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11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12.xml><?xml version="1.0" encoding="utf-8"?>
<p:tagLst xmlns:p="http://schemas.openxmlformats.org/presentationml/2006/main">
  <p:tag name="KSO_WM_FULL_TEXT_BEAUTIFY_COPY_ID" val="7"/>
  <p:tag name="KSO_WM_DIAGRAM_VIRTUALLY_FRAME" val="{&quot;height&quot;:286.6,&quot;left&quot;:29.65,&quot;top&quot;:126.7,&quot;width&quot;:712.65}"/>
</p:tagLst>
</file>

<file path=ppt/tags/tag13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14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15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16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17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18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19.xml><?xml version="1.0" encoding="utf-8"?>
<p:tagLst xmlns:p="http://schemas.openxmlformats.org/presentationml/2006/main">
  <p:tag name="KSO_WM_FULL_TEXT_BEAUTIFY_COPY_ID" val="7"/>
  <p:tag name="KSO_WM_DIAGRAM_VIRTUALLY_FRAME" val="{&quot;height&quot;:286.6,&quot;left&quot;:29.65,&quot;top&quot;:126.7,&quot;width&quot;:712.65}"/>
</p:tagLst>
</file>

<file path=ppt/tags/tag20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21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22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23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24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25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26.xml><?xml version="1.0" encoding="utf-8"?>
<p:tagLst xmlns:p="http://schemas.openxmlformats.org/presentationml/2006/main">
  <p:tag name="KSO_WM_FULL_TEXT_BEAUTIFY_COPY_ID" val="7"/>
  <p:tag name="KSO_WM_DIAGRAM_VIRTUALLY_FRAME" val="{&quot;height&quot;:286.6,&quot;left&quot;:29.65,&quot;top&quot;:126.7,&quot;width&quot;:712.65}"/>
</p:tagLst>
</file>

<file path=ppt/tags/tag27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28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29.xml><?xml version="1.0" encoding="utf-8"?>
<p:tagLst xmlns:p="http://schemas.openxmlformats.org/presentationml/2006/main">
  <p:tag name="KSO_WM_DIAGRAM_VIRTUALLY_FRAME" val="{&quot;height&quot;:286.6,&quot;left&quot;:29.65,&quot;top&quot;:126.7,&quot;width&quot;:712.65}"/>
</p:tagLst>
</file>

<file path=ppt/tags/tag33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Lenovo Master">
  <a:themeElements>
    <a:clrScheme name="自定义 1">
      <a:dk1>
        <a:srgbClr val="000000"/>
      </a:dk1>
      <a:lt1>
        <a:srgbClr val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fcc3add5-0e56-4736-93a8-bbb065da711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704020202020204" pitchFamily="34" charset="0"/>
            <a:cs typeface="Arial" panose="020B07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item1.xml><?xml version="1.0" encoding="utf-8"?>
<p:properties xmlns:pc="http://schemas.microsoft.com/office/infopath/2007/PartnerControls" xmlns:xsi="http://www.w3.org/2001/XMLSchema-instance" xmlns:p="http://schemas.microsoft.com/office/2006/metadata/properties">
  <documentManagement>
    <lcf76f155ced4ddcb4097134ff3c332f xmlns="15be9eda-85ee-42b1-b68f-386bf0763910">
      <Terms xmlns="http://schemas.microsoft.com/office/infopath/2007/PartnerControls"/>
    </lcf76f155ced4ddcb4097134ff3c332f>
    <TaxCatchAll xmlns="3b88d3f0-92a2-48be-bb86-c94a3d032d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ma:contentTypeID="0x0101002BB60893D840B64B88B9BF2BF38638AA" ma:contentTypeName="文档" ma:contentTypeVersion="15" ct:_="" ma:contentTypeDescription="新建文档。" ma:contentTypeScope="" ma:_="" ma:versionID="53ffe5a10e571abcdbd2044b74aef8b3">
  <xsd:schema xmlns:xsd="http://www.w3.org/2001/XMLSchema" xmlns:p="http://schemas.microsoft.com/office/2006/metadata/properties" xmlns:xs="http://www.w3.org/2001/XMLSchema" xmlns:ns2="15be9eda-85ee-42b1-b68f-386bf0763910" xmlns:ns3="3b88d3f0-92a2-48be-bb86-c94a3d032d2b" ns3:_="" ma:root="true" ns2:_="" ma:fieldsID="f31436666236638c6fdc49612b3e0a01" targetNamespace="http://schemas.microsoft.com/office/2006/metadata/properties">
    <xsd:import namespace="15be9eda-85ee-42b1-b68f-386bf0763910"/>
    <xsd:import namespace="3b88d3f0-92a2-48be-bb86-c94a3d032d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pc="http://schemas.microsoft.com/office/infopath/2007/PartnerControls" xmlns:dms="http://schemas.microsoft.com/office/2006/documentManagement/types" xmlns:xs="http://www.w3.org/2001/XMLSchema" elementFormDefault="qualified" targetNamespace="15be9eda-85ee-42b1-b68f-386bf0763910">
    <xsd:import namespace="http://schemas.microsoft.com/office/2006/documentManagement/types"/>
    <xsd:import namespace="http://schemas.microsoft.com/office/infopath/2007/PartnerControls"/>
    <xsd:element ma:index="8" ma:internalName="MediaServiceMetadata" name="MediaServiceMetadata" ma:readOnly="true" ma:displayName="MediaServiceMetadata" ma:hidden="true" nillable="true">
      <xsd:simpleType>
        <xsd:restriction base="dms:Note"/>
      </xsd:simpleType>
    </xsd:element>
    <xsd:element ma:index="9" ma:internalName="MediaServiceFastMetadata" name="MediaServiceFastMetadata" ma:readOnly="true" ma:displayName="MediaServiceFastMetadata" ma:hidden="true" nillable="true">
      <xsd:simpleType>
        <xsd:restriction base="dms:Note"/>
      </xsd:simpleType>
    </xsd:element>
    <xsd:element ma:isKeyword="false" ma:index="13" ma:fieldId="{5cf76f15-5ced-4ddc-b409-7134ff3c332f}" ma:termSetId="09814cd3-568e-fe90-9814-8d621ff8fb84" ma:open="true" ma:taxonomyMulti="true" ma:taxonomyFieldName="MediaServiceImageTags" ma:internalName="lcf76f155ced4ddcb4097134ff3c332f" name="lcf76f155ced4ddcb4097134ff3c332f" ma:anchorId="fba54fb3-c3e1-fe81-a776-ca4b69148c4d" ma:readOnly="false" ma:displayName="图像标记" nillable="true" ma:taxonomy="true" ma:sspId="10b2ab70-381d-4de1-873d-678182fc5963">
      <xsd:complexType>
        <xsd:sequence>
          <xsd:element ref="pc:Terms" maxOccurs="1" minOccurs="0"/>
        </xsd:sequence>
      </xsd:complexType>
    </xsd:element>
    <xsd:element ma:index="15" ma:internalName="MediaServiceOCR" name="MediaServiceOCR" ma:readOnly="true" ma:displayName="Extracted Text" nillable="true">
      <xsd:simpleType>
        <xsd:restriction base="dms:Note">
          <xsd:maxLength value="255"/>
        </xsd:restriction>
      </xsd:simpleType>
    </xsd:element>
    <xsd:element ma:index="16" ma:internalName="MediaServiceGenerationTime" name="MediaServiceGenerationTime" ma:readOnly="true" ma:displayName="MediaServiceGenerationTime" ma:hidden="true" nillable="true">
      <xsd:simpleType>
        <xsd:restriction base="dms:Text"/>
      </xsd:simpleType>
    </xsd:element>
    <xsd:element ma:index="17" ma:internalName="MediaServiceEventHashCode" name="MediaServiceEventHashCode" ma:readOnly="true" ma:displayName="MediaServiceEventHashCode" ma:hidden="true" nillable="true">
      <xsd:simpleType>
        <xsd:restriction base="dms:Text"/>
      </xsd:simpleType>
    </xsd:element>
    <xsd:element ma:index="18" ma:indexed="true" ma:internalName="MediaServiceDateTaken" name="MediaServiceDateTaken" ma:readOnly="true" ma:displayName="MediaServiceDateTaken" ma:hidden="true" nillable="true">
      <xsd:simpleType>
        <xsd:restriction base="dms:Text"/>
      </xsd:simpleType>
    </xsd:element>
    <xsd:element ma:index="19" ma:internalName="MediaLengthInSeconds" name="MediaLengthInSeconds" ma:readOnly="true" ma:displayName="MediaLengthInSeconds" ma:hidden="true" nillable="true">
      <xsd:simpleType>
        <xsd:restriction base="dms:Unknown"/>
      </xsd:simpleType>
    </xsd:element>
    <xsd:element ma:index="20" ma:indexed="true" ma:internalName="MediaServiceObjectDetectorVersions" name="MediaServiceObjectDetectorVersions" ma:readOnly="true" ma:displayName="MediaServiceObjectDetectorVersions" ma:hidden="true" nillable="true">
      <xsd:simpleType>
        <xsd:restriction base="dms:Text"/>
      </xsd:simpleType>
    </xsd:element>
    <xsd:element ma:index="21" ma:internalName="MediaServiceSearchProperties" name="MediaServiceSearchProperties" ma:readOnly="true" ma:displayName="MediaServiceSearchProperties" ma:hidden="true" nillable="true">
      <xsd:simpleType>
        <xsd:restriction base="dms:Note"/>
      </xsd:simpleType>
    </xsd:element>
    <xsd:element ma:index="22" ma:internalName="MediaServiceBillingMetadata" name="MediaServiceBillingMetadata" ma:readOnly="true" ma:displayName="MediaServiceBillingMetadata" ma:hidden="true" nillable="true">
      <xsd:simpleType>
        <xsd:restriction base="dms:Note"/>
      </xsd:simpleType>
    </xsd:element>
  </xsd:schema>
  <xsd:schema xmlns:xsd="http://www.w3.org/2001/XMLSchema" xmlns:pc="http://schemas.microsoft.com/office/infopath/2007/PartnerControls" xmlns:dms="http://schemas.microsoft.com/office/2006/documentManagement/types" xmlns:xs="http://www.w3.org/2001/XMLSchema" elementFormDefault="qualified" targetNamespace="3b88d3f0-92a2-48be-bb86-c94a3d032d2b">
    <xsd:import namespace="http://schemas.microsoft.com/office/2006/documentManagement/types"/>
    <xsd:import namespace="http://schemas.microsoft.com/office/infopath/2007/PartnerControls"/>
    <xsd:element ma:index="10" ma:internalName="SharedWithUsers" name="SharedWithUsers" ma:readOnly="true" ma:displayName="共享对象:" nillable="true">
      <xsd:complexType>
        <xsd:complexContent>
          <xsd:extension base="dms:UserMulti">
            <xsd:sequence>
              <xsd:element maxOccurs="unbounded" minOccurs="0" name="UserInfo">
                <xsd:complexType>
                  <xsd:sequence>
                    <xsd:element type="xsd:string" minOccurs="0" name="DisplayName"/>
                    <xsd:element type="dms:UserId" minOccurs="0" name="AccountId" nillable="true"/>
                    <xsd:element type="xsd:string" minOccurs="0" name="AccountType"/>
                  </xsd:sequence>
                </xsd:complexType>
              </xsd:element>
            </xsd:sequence>
          </xsd:extension>
        </xsd:complexContent>
      </xsd:complexType>
    </xsd:element>
    <xsd:element ma:index="11" ma:internalName="SharedWithDetails" name="SharedWithDetails" ma:readOnly="true" ma:displayName="共享对象详细信息" nillable="true">
      <xsd:simpleType>
        <xsd:restriction base="dms:Note">
          <xsd:maxLength value="255"/>
        </xsd:restriction>
      </xsd:simpleType>
    </xsd:element>
    <xsd:element ma:index="14" ma:list="{e283749e-8e17-4a52-9ab2-987b3f85377b}" ma:internalName="TaxCatchAll" name="TaxCatchAll" ma:web="3b88d3f0-92a2-48be-bb86-c94a3d032d2b" ma:displayName="Taxonomy Catch All Column" ma:hidden="true" nillable="true" ma:showField="CatchAllData">
      <xsd:complexType>
        <xsd:complexContent>
          <xsd:extension base="dms:MultiChoiceLookup">
            <xsd:sequence>
              <xsd:element maxOccurs="unbounded" type="dms:Lookup" minOccurs="0" name="Value" nillable="true"/>
            </xsd:sequence>
          </xsd:extension>
        </xsd:complexContent>
      </xsd:complexType>
    </xsd:element>
  </xsd:schema>
  <xsd:schema xmlns:xsd="http://www.w3.org/2001/XMLSchema" xmlns:dc="http://purl.org/dc/elements/1.1/" xmlns:xsi="http://www.w3.org/2001/XMLSchema-instance" xmlns:odoc="http://schemas.microsoft.com/internal/obd" xmlns="http://schemas.openxmlformats.org/package/2006/metadata/core-properties" xmlns:dcterms="http://purl.org/dc/terms/" blockDefault="#all" attributeFormDefault="unqualified" elementFormDefault="qualified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maxOccurs="1" ma:index="0" minOccurs="0" type="xsd:string" name="contentType" ma:displayName="内容类型"/>
        <xsd:element ref="dc:title" maxOccurs="1" ma:index="4" minOccurs="0" ma:displayName="标题"/>
        <xsd:element ref="dc:subject" maxOccurs="1" minOccurs="0"/>
        <xsd:element ref="dc:description" maxOccurs="1" minOccurs="0"/>
        <xsd:element maxOccurs="1" minOccurs="0" type="xsd:string" name="keywords"/>
        <xsd:element ref="dc:language" maxOccurs="1" minOccurs="0"/>
        <xsd:element maxOccurs="1" minOccurs="0" type="xsd:string" name="category"/>
        <xsd:element maxOccurs="1" minOccurs="0" type="xsd:string" name="version"/>
        <xsd:element maxOccurs="1" minOccurs="0" type="xsd:string" name="revision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maxOccurs="1" minOccurs="0" type="xsd:string" name="lastModifiedBy"/>
        <xsd:element ref="dcterms:modified" maxOccurs="1" minOccurs="0"/>
        <xsd:element maxOccurs="1" minOccurs="0" type="xsd:string" name="contentStatus"/>
      </xsd:all>
    </xsd:complexType>
  </xsd:schema>
  <xs:schema xmlns:pc="http://schemas.microsoft.com/office/infopath/2007/PartnerControls" xmlns:xs="http://www.w3.org/2001/XMLSchema" attributeFormDefault="unqualified" elementFormDefault="qualified" targetNamespace="http://schemas.microsoft.com/office/infopath/2007/PartnerControls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0.xml><?xml version="1.0" encoding="utf-8"?>
<ds:datastoreItem xmlns:ds="http://schemas.openxmlformats.org/officeDocument/2006/customXml" ds:itemID="{B6CB367A-89A7-4E90-9A81-064D3008B375}">
  <ds:schemaRefs/>
</ds:datastoreItem>
</file>

<file path=customXml/itemProps31.xml><?xml version="1.0" encoding="utf-8"?>
<ds:datastoreItem xmlns:ds="http://schemas.openxmlformats.org/officeDocument/2006/customXml" ds:itemID="{09A40E22-E7CA-40AF-8B7F-84ABE1FB5F4F}">
  <ds:schemaRefs/>
</ds:datastoreItem>
</file>

<file path=customXml/itemProps32.xml><?xml version="1.0" encoding="utf-8"?>
<ds:datastoreItem xmlns:ds="http://schemas.openxmlformats.org/officeDocument/2006/customXml" ds:itemID="{3420404D-B505-4AD6-ADF1-1935439F22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5864</Words>
  <Application>WPS 表格</Application>
  <PresentationFormat>宽屏</PresentationFormat>
  <Paragraphs>1028</Paragraphs>
  <Slides>22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汉仪旗黑</vt:lpstr>
      <vt:lpstr>Arial</vt:lpstr>
      <vt:lpstr>方正兰亭黑简体</vt:lpstr>
      <vt:lpstr>汉仪中黑KW</vt:lpstr>
      <vt:lpstr>Noto Sans SC</vt:lpstr>
      <vt:lpstr>Thonburi</vt:lpstr>
      <vt:lpstr>Inter</vt:lpstr>
      <vt:lpstr>宋体</vt:lpstr>
      <vt:lpstr>Arial Unicode MS</vt:lpstr>
      <vt:lpstr>PingFang SC</vt:lpstr>
      <vt:lpstr>Inter</vt:lpstr>
      <vt:lpstr>Noto Sans SC</vt:lpstr>
      <vt:lpstr>微软雅黑</vt:lpstr>
      <vt:lpstr>汉仪书宋二KW</vt:lpstr>
      <vt:lpstr>苹方-简</vt:lpstr>
      <vt:lpstr>Noto Sans SC</vt:lpstr>
      <vt:lpstr>Noto Sans SC</vt:lpstr>
      <vt:lpstr>微软</vt:lpstr>
      <vt:lpstr>Lenovo Master</vt:lpstr>
      <vt:lpstr>TCLayout.ActiveDocument.1</vt:lpstr>
      <vt:lpstr>PowerPoint 演示文稿</vt:lpstr>
      <vt:lpstr>PowerPoint 演示文稿</vt:lpstr>
      <vt:lpstr>案例</vt:lpstr>
      <vt:lpstr>总体架构</vt:lpstr>
      <vt:lpstr>应用架构</vt:lpstr>
      <vt:lpstr>应用架构</vt:lpstr>
      <vt:lpstr>园区物流子系统架构</vt:lpstr>
      <vt:lpstr>外协人员管理子系统架构</vt:lpstr>
      <vt:lpstr>安防子系统</vt:lpstr>
      <vt:lpstr>消防子系统</vt:lpstr>
      <vt:lpstr>宿舍子系统架构</vt:lpstr>
      <vt:lpstr>数据架构</vt:lpstr>
      <vt:lpstr>技术架构</vt:lpstr>
      <vt:lpstr>部署架构</vt:lpstr>
      <vt:lpstr>四类主要的扩展路径设计</vt:lpstr>
      <vt:lpstr>PowerPoint 演示文稿</vt:lpstr>
      <vt:lpstr>场景演示</vt:lpstr>
      <vt:lpstr>PowerPoint 演示文稿</vt:lpstr>
      <vt:lpstr>实施方案</vt:lpstr>
      <vt:lpstr>PowerPoint 演示文稿</vt:lpstr>
      <vt:lpstr>差异化服务方案与优势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libo32</dc:creator>
  <cp:lastModifiedBy>RADI</cp:lastModifiedBy>
  <cp:revision>44</cp:revision>
  <cp:lastPrinted>2026-09-07T16:43:23Z</cp:lastPrinted>
  <dcterms:created xsi:type="dcterms:W3CDTF">2026-09-07T16:43:23Z</dcterms:created>
  <dcterms:modified xsi:type="dcterms:W3CDTF">2026-09-07T16:43:23Z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0x0101002BB60893D840B64B88B9BF2BF38638AA</vt:lpwstr>
  </property>
  <property fmtid="{D5CDD505-2E9C-101B-9397-08002B2CF9AE}" pid="3" name="MediaServiceImageTags">
    <vt:lpwstr/>
  </property>
  <property fmtid="{D5CDD505-2E9C-101B-9397-08002B2CF9AE}" pid="4" name="KSOProductBuildVer">
    <vt:lpwstr>2052-12.1.25205.25205</vt:lpwstr>
  </property>
  <property fmtid="{D5CDD505-2E9C-101B-9397-08002B2CF9AE}" pid="5" name="ICV">
    <vt:lpwstr>C2AEAC3706841EF778D19E6AFB0E6720_43</vt:lpwstr>
  </property>
</Properties>
</file>