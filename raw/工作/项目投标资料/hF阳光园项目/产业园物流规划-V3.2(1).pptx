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719" r:id="rId3"/>
    <p:sldId id="803" r:id="rId4"/>
    <p:sldId id="820" r:id="rId5"/>
    <p:sldId id="805" r:id="rId6"/>
    <p:sldId id="823" r:id="rId7"/>
    <p:sldId id="824" r:id="rId8"/>
    <p:sldId id="826" r:id="rId9"/>
    <p:sldId id="825" r:id="rId10"/>
    <p:sldId id="721" r:id="rId11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（二选一）" id="{2EEE4CBB-73DD-4604-98AB-C3C73E24E377}">
          <p14:sldIdLst>
            <p14:sldId id="719"/>
          </p14:sldIdLst>
        </p14:section>
        <p14:section name="目录（二选一）" id="{9303BBDF-96A4-4EC5-B1A6-C538B5377BF9}">
          <p14:sldIdLst/>
        </p14:section>
        <p14:section name="正文" id="{6C1D7F25-E764-42A0-8939-B69A4510DA47}">
          <p14:sldIdLst>
            <p14:sldId id="803"/>
            <p14:sldId id="820"/>
            <p14:sldId id="805"/>
            <p14:sldId id="823"/>
            <p14:sldId id="824"/>
            <p14:sldId id="826"/>
            <p14:sldId id="825"/>
          </p14:sldIdLst>
        </p14:section>
        <p14:section name="封底" id="{1C3A2B6B-4FD5-450C-96BE-65DDE2F490B9}">
          <p14:sldIdLst>
            <p14:sldId id="721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数字化运维公共账号01" initials="数字化运维公共账号0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B70"/>
    <a:srgbClr val="FFFFFF"/>
    <a:srgbClr val="AFAFAF"/>
    <a:srgbClr val="FF7900"/>
    <a:srgbClr val="ECECEC"/>
    <a:srgbClr val="2B686F"/>
    <a:srgbClr val="AC148F"/>
    <a:srgbClr val="EEB83F"/>
    <a:srgbClr val="606060"/>
    <a:srgbClr val="9798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79"/>
  </p:normalViewPr>
  <p:slideViewPr>
    <p:cSldViewPr snapToGrid="0">
      <p:cViewPr>
        <p:scale>
          <a:sx n="66" d="100"/>
          <a:sy n="66" d="100"/>
        </p:scale>
        <p:origin x="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8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5T15:16:20.545" idx="1">
    <p:pos x="7296" y="640"/>
    <p:text/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64EA3-99AB-AB42-B6D5-435C8B45EE9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5780A-6FED-6646-B760-9689D9D47F6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EBA84-12BD-9348-991F-05D463FA2A5D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39AA0-45D0-1048-A5F3-6A3C0A02A50F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标题 1"/>
          <p:cNvSpPr>
            <a:spLocks noGrp="1"/>
          </p:cNvSpPr>
          <p:nvPr>
            <p:ph type="ctrTitle" hasCustomPrompt="1"/>
          </p:nvPr>
        </p:nvSpPr>
        <p:spPr>
          <a:xfrm>
            <a:off x="365655" y="401051"/>
            <a:ext cx="6267449" cy="770606"/>
          </a:xfrm>
        </p:spPr>
        <p:txBody>
          <a:bodyPr anchor="b">
            <a:normAutofit/>
          </a:bodyPr>
          <a:lstStyle>
            <a:lvl1pPr algn="l">
              <a:defRPr sz="3200" b="0" i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请输入演示文稿名称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365655" y="6220432"/>
            <a:ext cx="11151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Helvetica" panose="020B0604020202030204"/>
                <a:ea typeface="微软雅黑" panose="020B0503020204020204" pitchFamily="34" charset="-122"/>
                <a:cs typeface="+mn-cs"/>
              </a:rPr>
              <a:t>密级：秘密</a:t>
            </a:r>
            <a:endParaRPr lang="zh-CN" altLang="en-US" sz="1050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737540" y="6216015"/>
            <a:ext cx="18224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演讲人：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2498270" y="6137728"/>
            <a:ext cx="1061720" cy="39701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05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戴永明</a:t>
            </a:r>
            <a:endParaRPr lang="zh-CN" altLang="en-US" dirty="0"/>
          </a:p>
        </p:txBody>
      </p:sp>
      <p:pic>
        <p:nvPicPr>
          <p:cNvPr id="11" name="图片 10" descr="ppt cover2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7790" y="655981"/>
            <a:ext cx="1599537" cy="36970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5006783" y="6274222"/>
            <a:ext cx="2356862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900" dirty="0">
                <a:solidFill>
                  <a:srgbClr val="979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en-US" altLang="en-GB" sz="900" dirty="0">
                <a:solidFill>
                  <a:srgbClr val="979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900" dirty="0">
                <a:solidFill>
                  <a:srgbClr val="979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Copyright © SUNGROW.Confidential</a:t>
            </a:r>
            <a:endParaRPr lang="zh-CN" altLang="en-US" sz="900" dirty="0">
              <a:solidFill>
                <a:srgbClr val="9798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6985" y="6274763"/>
            <a:ext cx="1300342" cy="27753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" t="17624" r="1747" b="19126"/>
          <a:stretch>
            <a:fillRect/>
          </a:stretch>
        </p:blipFill>
        <p:spPr>
          <a:xfrm>
            <a:off x="429453" y="1562344"/>
            <a:ext cx="11322654" cy="41715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321287"/>
            <a:ext cx="12192000" cy="536713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0" y="448"/>
            <a:ext cx="12192000" cy="675051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 descr="ppt cover2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7835" y="568960"/>
            <a:ext cx="2280285" cy="527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5056451" y="6426234"/>
            <a:ext cx="2373806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900" dirty="0">
                <a:solidFill>
                  <a:srgbClr val="979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en-US" altLang="en-GB" sz="900" dirty="0">
                <a:solidFill>
                  <a:srgbClr val="979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900" dirty="0">
                <a:solidFill>
                  <a:srgbClr val="979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Copyright © </a:t>
            </a:r>
            <a:r>
              <a:rPr lang="en-GB" altLang="zh-CN" sz="900" dirty="0" err="1">
                <a:solidFill>
                  <a:srgbClr val="979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SUNGROW.Confidential</a:t>
            </a:r>
            <a:endParaRPr lang="zh-CN" altLang="en-US" sz="900" dirty="0">
              <a:solidFill>
                <a:srgbClr val="9798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54241" y="1600200"/>
            <a:ext cx="6267449" cy="770606"/>
          </a:xfrm>
        </p:spPr>
        <p:txBody>
          <a:bodyPr anchor="b">
            <a:normAutofit/>
          </a:bodyPr>
          <a:lstStyle>
            <a:lvl1pPr algn="l">
              <a:defRPr sz="36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请输入演示文稿名称</a:t>
            </a:r>
            <a:endParaRPr lang="zh-CN" altLang="en-US" dirty="0"/>
          </a:p>
        </p:txBody>
      </p:sp>
      <p:sp>
        <p:nvSpPr>
          <p:cNvPr id="34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854242" y="2397251"/>
            <a:ext cx="6267450" cy="508035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72864" y="3411747"/>
            <a:ext cx="11151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Helvetica" panose="020B0604020202030204"/>
                <a:ea typeface="微软雅黑" panose="020B0503020204020204" pitchFamily="34" charset="-122"/>
                <a:cs typeface="+mn-cs"/>
              </a:rPr>
              <a:t>密级：秘密</a:t>
            </a:r>
            <a:endParaRPr lang="zh-CN" altLang="en-US" sz="1050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221291" y="3412259"/>
            <a:ext cx="18224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演讲人：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7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2982021" y="3323462"/>
            <a:ext cx="1061720" cy="39701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05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戴永明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 cover  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8" name="矩形 7"/>
          <p:cNvSpPr/>
          <p:nvPr userDrawn="1"/>
        </p:nvSpPr>
        <p:spPr>
          <a:xfrm>
            <a:off x="6985" y="6316345"/>
            <a:ext cx="12194540" cy="5505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707285" y="1908561"/>
            <a:ext cx="6267450" cy="508035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</a:t>
            </a:r>
            <a:endParaRPr lang="zh-CN" altLang="en-US" dirty="0"/>
          </a:p>
        </p:txBody>
      </p:sp>
      <p:sp>
        <p:nvSpPr>
          <p:cNvPr id="24" name="标题 1"/>
          <p:cNvSpPr>
            <a:spLocks noGrp="1"/>
          </p:cNvSpPr>
          <p:nvPr>
            <p:ph type="ctrTitle" hasCustomPrompt="1"/>
          </p:nvPr>
        </p:nvSpPr>
        <p:spPr>
          <a:xfrm>
            <a:off x="707285" y="1113521"/>
            <a:ext cx="6267449" cy="770606"/>
          </a:xfrm>
        </p:spPr>
        <p:txBody>
          <a:bodyPr anchor="b">
            <a:normAutofit/>
          </a:bodyPr>
          <a:lstStyle>
            <a:lvl1pPr algn="l">
              <a:defRPr sz="36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请输入演示文稿名称</a:t>
            </a:r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4919768" y="6426233"/>
            <a:ext cx="2368973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en-US" altLang="en-GB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Copyright © </a:t>
            </a:r>
            <a:r>
              <a:rPr lang="en-GB" altLang="zh-CN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SUNGROW.Confidential</a:t>
            </a:r>
            <a:endParaRPr lang="zh-CN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zh-CN" altLang="en-US" dirty="0"/>
          </a:p>
        </p:txBody>
      </p:sp>
      <p:sp useBgFill="1">
        <p:nvSpPr>
          <p:cNvPr id="15" name="矩形 14"/>
          <p:cNvSpPr/>
          <p:nvPr userDrawn="1"/>
        </p:nvSpPr>
        <p:spPr>
          <a:xfrm>
            <a:off x="9606500" y="6426923"/>
            <a:ext cx="1459230" cy="264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8" name="矩形 17"/>
          <p:cNvSpPr/>
          <p:nvPr userDrawn="1"/>
        </p:nvSpPr>
        <p:spPr>
          <a:xfrm>
            <a:off x="267335" y="6383020"/>
            <a:ext cx="1459230" cy="264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52416" y="2917298"/>
            <a:ext cx="11151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30204"/>
                <a:ea typeface="微软雅黑" panose="020B0503020204020204" pitchFamily="34" charset="-122"/>
                <a:cs typeface="+mn-cs"/>
              </a:rPr>
              <a:t>密级：秘密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sp useBgFill="1">
        <p:nvSpPr>
          <p:cNvPr id="16" name="矩形 15"/>
          <p:cNvSpPr/>
          <p:nvPr userDrawn="1"/>
        </p:nvSpPr>
        <p:spPr>
          <a:xfrm>
            <a:off x="-2540" y="0"/>
            <a:ext cx="12194540" cy="5969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6150" y="571239"/>
            <a:ext cx="2274490" cy="526022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2124052" y="2924434"/>
            <a:ext cx="18224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anose="020B0604020202030204"/>
                <a:ea typeface="微软雅黑" panose="020B0503020204020204" pitchFamily="34" charset="-122"/>
                <a:cs typeface="+mn-cs"/>
              </a:rPr>
              <a:t>演讲人：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 panose="020B0604020202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2842742" y="2850601"/>
            <a:ext cx="1061720" cy="39701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05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戴永明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未标题-2_画板 1"/>
          <p:cNvPicPr>
            <a:picLocks noChangeAspect="1"/>
          </p:cNvPicPr>
          <p:nvPr userDrawn="1"/>
        </p:nvPicPr>
        <p:blipFill>
          <a:blip r:embed="rId2"/>
          <a:srcRect r="62011"/>
          <a:stretch>
            <a:fillRect/>
          </a:stretch>
        </p:blipFill>
        <p:spPr>
          <a:xfrm>
            <a:off x="0" y="0"/>
            <a:ext cx="4623435" cy="68586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725" y="995113"/>
            <a:ext cx="454057" cy="51728"/>
          </a:xfrm>
          <a:prstGeom prst="rect">
            <a:avLst/>
          </a:prstGeom>
        </p:spPr>
      </p:pic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477897" y="6436725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79897"/>
                </a:solidFill>
                <a:effectLst/>
                <a:uLnTx/>
                <a:uFillTx/>
                <a:latin typeface="Helvetica" panose="020B0604020202030204"/>
                <a:ea typeface="微软雅黑" panose="020B0503020204020204" pitchFamily="34" charset="-122"/>
                <a:cs typeface="+mn-cs"/>
              </a:rPr>
              <a:t>密级：秘密</a:t>
            </a:r>
            <a:endParaRPr kumimoji="1" lang="zh-CN" altLang="en-US" sz="800" dirty="0">
              <a:solidFill>
                <a:srgbClr val="979897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 userDrawn="1"/>
        </p:nvSpPr>
        <p:spPr>
          <a:xfrm>
            <a:off x="6694714" y="10613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65" y="975321"/>
            <a:ext cx="454057" cy="51728"/>
          </a:xfrm>
          <a:prstGeom prst="rect">
            <a:avLst/>
          </a:prstGeom>
        </p:spPr>
      </p:pic>
      <p:sp>
        <p:nvSpPr>
          <p:cNvPr id="3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8498" y="389488"/>
            <a:ext cx="8306489" cy="480332"/>
          </a:xfrm>
        </p:spPr>
        <p:txBody>
          <a:bodyPr anchor="t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694714" y="10613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78498" y="1324417"/>
            <a:ext cx="8306489" cy="3841141"/>
          </a:xfrm>
        </p:spPr>
        <p:txBody>
          <a:bodyPr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单击输入你的正文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65" y="975321"/>
            <a:ext cx="454057" cy="51728"/>
          </a:xfrm>
          <a:prstGeom prst="rect">
            <a:avLst/>
          </a:prstGeom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二级标题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8498" y="389488"/>
            <a:ext cx="8306489" cy="480332"/>
          </a:xfrm>
        </p:spPr>
        <p:txBody>
          <a:bodyPr anchor="t"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694714" y="10613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78497" y="1273358"/>
            <a:ext cx="8306489" cy="598053"/>
          </a:xfrm>
        </p:spPr>
        <p:txBody>
          <a:bodyPr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单击此处添加二级标题</a:t>
            </a:r>
            <a:endParaRPr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half" idx="14" hasCustomPrompt="1"/>
          </p:nvPr>
        </p:nvSpPr>
        <p:spPr>
          <a:xfrm>
            <a:off x="578498" y="1905917"/>
            <a:ext cx="8306490" cy="3642227"/>
          </a:xfrm>
        </p:spPr>
        <p:txBody>
          <a:bodyPr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单击输入你的正文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65" y="975321"/>
            <a:ext cx="454057" cy="51728"/>
          </a:xfrm>
          <a:prstGeom prst="rect">
            <a:avLst/>
          </a:prstGeom>
        </p:spPr>
      </p:pic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二级标题、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8498" y="389488"/>
            <a:ext cx="8306489" cy="85996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单击此处添加标题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694714" y="10613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78497" y="1672210"/>
            <a:ext cx="8306489" cy="598053"/>
          </a:xfrm>
        </p:spPr>
        <p:txBody>
          <a:bodyPr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单击此处添加二级标题</a:t>
            </a:r>
            <a:endParaRPr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half" idx="14" hasCustomPrompt="1"/>
          </p:nvPr>
        </p:nvSpPr>
        <p:spPr>
          <a:xfrm>
            <a:off x="578498" y="2279350"/>
            <a:ext cx="8306490" cy="3447015"/>
          </a:xfrm>
        </p:spPr>
        <p:txBody>
          <a:bodyPr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单击输入你的正文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9" y="1346962"/>
            <a:ext cx="454057" cy="51728"/>
          </a:xfrm>
          <a:prstGeom prst="rect">
            <a:avLst/>
          </a:prstGeom>
        </p:spPr>
      </p:pic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8498" y="389488"/>
            <a:ext cx="9479902" cy="48033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694714" y="10613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13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78498" y="1307066"/>
            <a:ext cx="5380208" cy="385524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单击输入你的正文</a:t>
            </a:r>
            <a:endParaRPr lang="zh-CN" altLang="en-US" dirty="0"/>
          </a:p>
        </p:txBody>
      </p:sp>
      <p:sp>
        <p:nvSpPr>
          <p:cNvPr id="9" name="文本占位符 3"/>
          <p:cNvSpPr>
            <a:spLocks noGrp="1"/>
          </p:cNvSpPr>
          <p:nvPr>
            <p:ph type="body" sz="half" idx="14" hasCustomPrompt="1"/>
          </p:nvPr>
        </p:nvSpPr>
        <p:spPr>
          <a:xfrm>
            <a:off x="6247979" y="1307066"/>
            <a:ext cx="5380208" cy="385524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单击输入你的正文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65" y="975321"/>
            <a:ext cx="454057" cy="51728"/>
          </a:xfrm>
          <a:prstGeom prst="rect">
            <a:avLst/>
          </a:prstGeom>
        </p:spPr>
      </p:pic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 userDrawn="1"/>
        </p:nvSpPr>
        <p:spPr>
          <a:xfrm>
            <a:off x="6694714" y="10613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9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78498" y="1690267"/>
            <a:ext cx="5380208" cy="362251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单击输入你的正文</a:t>
            </a:r>
            <a:endParaRPr lang="zh-CN" altLang="en-US" dirty="0"/>
          </a:p>
        </p:txBody>
      </p:sp>
      <p:sp>
        <p:nvSpPr>
          <p:cNvPr id="11" name="文本占位符 3"/>
          <p:cNvSpPr>
            <a:spLocks noGrp="1"/>
          </p:cNvSpPr>
          <p:nvPr>
            <p:ph type="body" sz="half" idx="14" hasCustomPrompt="1"/>
          </p:nvPr>
        </p:nvSpPr>
        <p:spPr>
          <a:xfrm>
            <a:off x="6247979" y="1690267"/>
            <a:ext cx="5380208" cy="362251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单击输入你的正文</a:t>
            </a:r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578498" y="389488"/>
            <a:ext cx="8306489" cy="85996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单击此处添加标题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9" y="1346962"/>
            <a:ext cx="454057" cy="51728"/>
          </a:xfrm>
          <a:prstGeom prst="rect">
            <a:avLst/>
          </a:prstGeom>
        </p:spPr>
      </p:pic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78498" y="389488"/>
            <a:ext cx="9479902" cy="48033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694714" y="10613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idx="14"/>
          </p:nvPr>
        </p:nvSpPr>
        <p:spPr>
          <a:xfrm>
            <a:off x="8517993" y="2150746"/>
            <a:ext cx="3110194" cy="2023603"/>
          </a:xfrm>
        </p:spPr>
        <p:txBody>
          <a:bodyPr/>
          <a:lstStyle>
            <a:lvl1pPr marL="0" indent="0">
              <a:buNone/>
              <a:defRPr sz="2000">
                <a:solidFill>
                  <a:srgbClr val="60606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14" name="文本占位符 9"/>
          <p:cNvSpPr>
            <a:spLocks noGrp="1"/>
          </p:cNvSpPr>
          <p:nvPr>
            <p:ph type="body" idx="37" hasCustomPrompt="1"/>
          </p:nvPr>
        </p:nvSpPr>
        <p:spPr>
          <a:xfrm>
            <a:off x="576614" y="4302015"/>
            <a:ext cx="3108998" cy="965200"/>
          </a:xfrm>
        </p:spPr>
        <p:txBody>
          <a:bodyPr>
            <a:noAutofit/>
          </a:bodyPr>
          <a:lstStyle>
            <a:lvl1pPr marL="0" indent="0">
              <a:buNone/>
              <a:defRPr sz="1100" b="0">
                <a:solidFill>
                  <a:srgbClr val="606060"/>
                </a:solidFill>
                <a:latin typeface="+mn-ea"/>
                <a:ea typeface="+mn-ea"/>
                <a:cs typeface="Microsoft YaHei Regular" panose="020B0502040204020203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此处添加内容标题</a:t>
            </a:r>
            <a:endParaRPr lang="zh-CN" altLang="en-US" dirty="0"/>
          </a:p>
        </p:txBody>
      </p:sp>
      <p:sp>
        <p:nvSpPr>
          <p:cNvPr id="15" name="文本占位符 10"/>
          <p:cNvSpPr>
            <a:spLocks noGrp="1"/>
          </p:cNvSpPr>
          <p:nvPr>
            <p:ph type="body" idx="26" hasCustomPrompt="1"/>
          </p:nvPr>
        </p:nvSpPr>
        <p:spPr>
          <a:xfrm>
            <a:off x="4543653" y="4302015"/>
            <a:ext cx="3146722" cy="965200"/>
          </a:xfrm>
        </p:spPr>
        <p:txBody>
          <a:bodyPr>
            <a:noAutofit/>
          </a:bodyPr>
          <a:lstStyle>
            <a:lvl1pPr marL="0" indent="0">
              <a:buNone/>
              <a:defRPr sz="1100" b="0">
                <a:solidFill>
                  <a:srgbClr val="606060"/>
                </a:solidFill>
                <a:latin typeface="+mn-ea"/>
                <a:ea typeface="+mn-ea"/>
                <a:cs typeface="Microsoft YaHei Regular" panose="020B0502040204020203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此处添加内容标题</a:t>
            </a:r>
            <a:endParaRPr lang="zh-CN" altLang="en-US" dirty="0"/>
          </a:p>
        </p:txBody>
      </p:sp>
      <p:sp>
        <p:nvSpPr>
          <p:cNvPr id="16" name="文本占位符 11"/>
          <p:cNvSpPr>
            <a:spLocks noGrp="1"/>
          </p:cNvSpPr>
          <p:nvPr>
            <p:ph type="body" idx="38" hasCustomPrompt="1"/>
          </p:nvPr>
        </p:nvSpPr>
        <p:spPr>
          <a:xfrm>
            <a:off x="8517994" y="4302015"/>
            <a:ext cx="3110194" cy="965200"/>
          </a:xfrm>
        </p:spPr>
        <p:txBody>
          <a:bodyPr>
            <a:noAutofit/>
          </a:bodyPr>
          <a:lstStyle>
            <a:lvl1pPr marL="0" indent="0">
              <a:buNone/>
              <a:defRPr sz="1100" b="0">
                <a:solidFill>
                  <a:srgbClr val="606060"/>
                </a:solidFill>
                <a:latin typeface="+mn-ea"/>
                <a:ea typeface="+mn-ea"/>
                <a:cs typeface="Microsoft YaHei Regular" panose="020B0502040204020203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此处添加内容标题</a:t>
            </a:r>
            <a:endParaRPr lang="zh-CN" altLang="en-US" dirty="0"/>
          </a:p>
        </p:txBody>
      </p:sp>
      <p:sp>
        <p:nvSpPr>
          <p:cNvPr id="17" name="图片占位符 8"/>
          <p:cNvSpPr>
            <a:spLocks noGrp="1"/>
          </p:cNvSpPr>
          <p:nvPr>
            <p:ph type="pic" idx="39"/>
          </p:nvPr>
        </p:nvSpPr>
        <p:spPr>
          <a:xfrm>
            <a:off x="4540988" y="2167679"/>
            <a:ext cx="3110194" cy="2023603"/>
          </a:xfrm>
        </p:spPr>
        <p:txBody>
          <a:bodyPr/>
          <a:lstStyle>
            <a:lvl1pPr marL="0" indent="0">
              <a:buNone/>
              <a:defRPr sz="2000">
                <a:solidFill>
                  <a:srgbClr val="60606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18" name="图片占位符 8"/>
          <p:cNvSpPr>
            <a:spLocks noGrp="1"/>
          </p:cNvSpPr>
          <p:nvPr>
            <p:ph type="pic" idx="40"/>
          </p:nvPr>
        </p:nvSpPr>
        <p:spPr>
          <a:xfrm>
            <a:off x="578498" y="2150745"/>
            <a:ext cx="3110194" cy="2023603"/>
          </a:xfrm>
        </p:spPr>
        <p:txBody>
          <a:bodyPr/>
          <a:lstStyle>
            <a:lvl1pPr marL="0" indent="0">
              <a:buNone/>
              <a:defRPr sz="2000">
                <a:solidFill>
                  <a:srgbClr val="60606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zh-CN" altLang="en-US" dirty="0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65" y="975321"/>
            <a:ext cx="454057" cy="51728"/>
          </a:xfrm>
          <a:prstGeom prst="rect">
            <a:avLst/>
          </a:prstGeom>
        </p:spPr>
      </p:pic>
      <p:sp>
        <p:nvSpPr>
          <p:cNvPr id="1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/>
          <p:cNvSpPr txBox="1"/>
          <p:nvPr userDrawn="1"/>
        </p:nvSpPr>
        <p:spPr>
          <a:xfrm>
            <a:off x="6694714" y="10613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11" name="图片占位符 8"/>
          <p:cNvSpPr>
            <a:spLocks noGrp="1"/>
          </p:cNvSpPr>
          <p:nvPr>
            <p:ph type="pic" idx="14"/>
          </p:nvPr>
        </p:nvSpPr>
        <p:spPr>
          <a:xfrm>
            <a:off x="8517993" y="2150746"/>
            <a:ext cx="3110194" cy="2023603"/>
          </a:xfrm>
        </p:spPr>
        <p:txBody>
          <a:bodyPr/>
          <a:lstStyle>
            <a:lvl1pPr marL="0" indent="0">
              <a:buNone/>
              <a:defRPr sz="2000">
                <a:solidFill>
                  <a:srgbClr val="60606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zh-CN" altLang="en-US" dirty="0"/>
          </a:p>
        </p:txBody>
      </p:sp>
      <p:sp>
        <p:nvSpPr>
          <p:cNvPr id="14" name="文本占位符 9"/>
          <p:cNvSpPr>
            <a:spLocks noGrp="1"/>
          </p:cNvSpPr>
          <p:nvPr>
            <p:ph type="body" idx="37" hasCustomPrompt="1"/>
          </p:nvPr>
        </p:nvSpPr>
        <p:spPr>
          <a:xfrm>
            <a:off x="576614" y="4302015"/>
            <a:ext cx="3108998" cy="965200"/>
          </a:xfrm>
        </p:spPr>
        <p:txBody>
          <a:bodyPr>
            <a:noAutofit/>
          </a:bodyPr>
          <a:lstStyle>
            <a:lvl1pPr marL="0" indent="0">
              <a:buNone/>
              <a:defRPr sz="1100" b="0">
                <a:solidFill>
                  <a:srgbClr val="606060"/>
                </a:solidFill>
                <a:latin typeface="+mn-ea"/>
                <a:ea typeface="+mn-ea"/>
                <a:cs typeface="Microsoft YaHei Regular" panose="020B0502040204020203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此处添加内容标题</a:t>
            </a:r>
            <a:endParaRPr lang="zh-CN" altLang="en-US" dirty="0"/>
          </a:p>
        </p:txBody>
      </p:sp>
      <p:sp>
        <p:nvSpPr>
          <p:cNvPr id="15" name="文本占位符 10"/>
          <p:cNvSpPr>
            <a:spLocks noGrp="1"/>
          </p:cNvSpPr>
          <p:nvPr>
            <p:ph type="body" idx="26" hasCustomPrompt="1"/>
          </p:nvPr>
        </p:nvSpPr>
        <p:spPr>
          <a:xfrm>
            <a:off x="4543653" y="4302015"/>
            <a:ext cx="3146722" cy="965200"/>
          </a:xfrm>
        </p:spPr>
        <p:txBody>
          <a:bodyPr>
            <a:noAutofit/>
          </a:bodyPr>
          <a:lstStyle>
            <a:lvl1pPr marL="0" indent="0">
              <a:buNone/>
              <a:defRPr sz="1100" b="0">
                <a:solidFill>
                  <a:srgbClr val="606060"/>
                </a:solidFill>
                <a:latin typeface="+mn-ea"/>
                <a:ea typeface="+mn-ea"/>
                <a:cs typeface="Microsoft YaHei Regular" panose="020B0502040204020203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此处添加内容标题</a:t>
            </a:r>
            <a:endParaRPr lang="zh-CN" altLang="en-US" dirty="0"/>
          </a:p>
        </p:txBody>
      </p:sp>
      <p:sp>
        <p:nvSpPr>
          <p:cNvPr id="16" name="文本占位符 11"/>
          <p:cNvSpPr>
            <a:spLocks noGrp="1"/>
          </p:cNvSpPr>
          <p:nvPr>
            <p:ph type="body" idx="38" hasCustomPrompt="1"/>
          </p:nvPr>
        </p:nvSpPr>
        <p:spPr>
          <a:xfrm>
            <a:off x="8517994" y="4302015"/>
            <a:ext cx="3110194" cy="965200"/>
          </a:xfrm>
        </p:spPr>
        <p:txBody>
          <a:bodyPr>
            <a:noAutofit/>
          </a:bodyPr>
          <a:lstStyle>
            <a:lvl1pPr marL="0" indent="0">
              <a:buNone/>
              <a:defRPr sz="1100" b="0">
                <a:solidFill>
                  <a:srgbClr val="606060"/>
                </a:solidFill>
                <a:latin typeface="+mn-ea"/>
                <a:ea typeface="+mn-ea"/>
                <a:cs typeface="Microsoft YaHei Regular" panose="020B0502040204020203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此处添加内容标题</a:t>
            </a:r>
            <a:endParaRPr lang="zh-CN" altLang="en-US" dirty="0"/>
          </a:p>
        </p:txBody>
      </p:sp>
      <p:sp>
        <p:nvSpPr>
          <p:cNvPr id="17" name="图片占位符 8"/>
          <p:cNvSpPr>
            <a:spLocks noGrp="1"/>
          </p:cNvSpPr>
          <p:nvPr>
            <p:ph type="pic" idx="39"/>
          </p:nvPr>
        </p:nvSpPr>
        <p:spPr>
          <a:xfrm>
            <a:off x="4540988" y="2167679"/>
            <a:ext cx="3110194" cy="2023603"/>
          </a:xfrm>
        </p:spPr>
        <p:txBody>
          <a:bodyPr/>
          <a:lstStyle>
            <a:lvl1pPr marL="0" indent="0">
              <a:buNone/>
              <a:defRPr sz="2000">
                <a:solidFill>
                  <a:srgbClr val="60606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zh-CN" altLang="en-US" dirty="0"/>
          </a:p>
        </p:txBody>
      </p:sp>
      <p:sp>
        <p:nvSpPr>
          <p:cNvPr id="18" name="图片占位符 8"/>
          <p:cNvSpPr>
            <a:spLocks noGrp="1"/>
          </p:cNvSpPr>
          <p:nvPr>
            <p:ph type="pic" idx="40"/>
          </p:nvPr>
        </p:nvSpPr>
        <p:spPr>
          <a:xfrm>
            <a:off x="578498" y="2150745"/>
            <a:ext cx="3110194" cy="2023603"/>
          </a:xfrm>
        </p:spPr>
        <p:txBody>
          <a:bodyPr/>
          <a:lstStyle>
            <a:lvl1pPr marL="0" indent="0">
              <a:buNone/>
              <a:defRPr sz="2000">
                <a:solidFill>
                  <a:srgbClr val="60606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>
            <p:ph type="title" hasCustomPrompt="1"/>
          </p:nvPr>
        </p:nvSpPr>
        <p:spPr>
          <a:xfrm>
            <a:off x="578498" y="389488"/>
            <a:ext cx="8306489" cy="85996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单击此处添加标题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9" y="1346962"/>
            <a:ext cx="454057" cy="51728"/>
          </a:xfrm>
          <a:prstGeom prst="rect">
            <a:avLst/>
          </a:prstGeom>
        </p:spPr>
      </p:pic>
      <p:sp>
        <p:nvSpPr>
          <p:cNvPr id="1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kumimoji="1" lang="zh-CN" altLang="en-US" dirty="0"/>
              <a:t>单击此处添加全图</a:t>
            </a:r>
            <a:endParaRPr kumimoji="1"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强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3"/>
          <p:cNvSpPr>
            <a:spLocks noGrp="1"/>
          </p:cNvSpPr>
          <p:nvPr>
            <p:ph type="body" idx="25" hasCustomPrompt="1"/>
          </p:nvPr>
        </p:nvSpPr>
        <p:spPr>
          <a:xfrm>
            <a:off x="142876" y="259715"/>
            <a:ext cx="8742112" cy="472948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0" i="0">
                <a:solidFill>
                  <a:srgbClr val="FF7900"/>
                </a:solidFill>
                <a:latin typeface="+mn-ea"/>
                <a:ea typeface="+mn-ea"/>
                <a:cs typeface="微软雅黑 Light" panose="020B0502040204020203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单击此处输入正文。</a:t>
            </a:r>
            <a:endParaRPr lang="en-US" altLang="zh-CN" dirty="0">
              <a:sym typeface="+mn-ea"/>
            </a:endParaRPr>
          </a:p>
          <a:p>
            <a:pPr lvl="0"/>
            <a:endParaRPr lang="en-US" altLang="zh-CN"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78498" y="389488"/>
            <a:ext cx="9479902" cy="48033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65" y="975321"/>
            <a:ext cx="454057" cy="51728"/>
          </a:xfrm>
          <a:prstGeom prst="rect">
            <a:avLst/>
          </a:prstGeom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578498" y="389488"/>
            <a:ext cx="8306489" cy="85996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单击此处添加标题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9" y="1346962"/>
            <a:ext cx="454057" cy="51728"/>
          </a:xfrm>
          <a:prstGeom prst="rect">
            <a:avLst/>
          </a:prstGeom>
        </p:spPr>
      </p:pic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2">
    <p:bg>
      <p:bgPr>
        <a:solidFill>
          <a:srgbClr val="606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776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6180363"/>
            <a:ext cx="12192000" cy="6776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41393" y="6426233"/>
            <a:ext cx="23556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900" dirty="0">
                <a:solidFill>
                  <a:srgbClr val="ECEC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en-US" altLang="en-GB" sz="900" dirty="0">
                <a:solidFill>
                  <a:srgbClr val="ECEC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900" dirty="0">
                <a:solidFill>
                  <a:srgbClr val="ECEC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Copyright © SUNGROW.Confidential</a:t>
            </a:r>
            <a:endParaRPr lang="zh-CN" altLang="en-US" sz="900" dirty="0">
              <a:solidFill>
                <a:srgbClr val="ECEC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477897" y="640519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CECEC"/>
                </a:solidFill>
                <a:effectLst/>
                <a:uLnTx/>
                <a:uFillTx/>
                <a:latin typeface="Helvetica" panose="020B0604020202030204"/>
                <a:ea typeface="微软雅黑" panose="020B0503020204020204" pitchFamily="34" charset="-122"/>
                <a:cs typeface="+mn-cs"/>
              </a:rPr>
              <a:t>密级：秘密</a:t>
            </a:r>
            <a:endParaRPr kumimoji="1" lang="zh-CN" altLang="en-US" sz="1000" dirty="0">
              <a:solidFill>
                <a:srgbClr val="ECECEC"/>
              </a:solidFill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ECECEC"/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948" y="238506"/>
            <a:ext cx="1109701" cy="51239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812" y="6441241"/>
            <a:ext cx="984738" cy="2101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3">
    <p:bg>
      <p:bgPr>
        <a:solidFill>
          <a:srgbClr val="ECEC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页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矩形 17"/>
          <p:cNvSpPr/>
          <p:nvPr userDrawn="1"/>
        </p:nvSpPr>
        <p:spPr>
          <a:xfrm>
            <a:off x="6985" y="6316345"/>
            <a:ext cx="12194540" cy="5505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4958337" y="6409590"/>
            <a:ext cx="2411363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en-US" altLang="en-GB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Copyright © </a:t>
            </a:r>
            <a:r>
              <a:rPr lang="en-GB" altLang="zh-CN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SUNGROW.Confidential</a:t>
            </a:r>
            <a:endParaRPr lang="zh-CN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zh-CN" alt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089" y="2760049"/>
            <a:ext cx="2274490" cy="526022"/>
          </a:xfrm>
          <a:prstGeom prst="rect">
            <a:avLst/>
          </a:prstGeom>
        </p:spPr>
      </p:pic>
      <p:pic>
        <p:nvPicPr>
          <p:cNvPr id="12" name="图片 11" descr="ppt cove  r2-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9760" y="3453730"/>
            <a:ext cx="595875" cy="72000"/>
          </a:xfrm>
          <a:prstGeom prst="rect">
            <a:avLst/>
          </a:prstGeom>
        </p:spPr>
      </p:pic>
      <p:sp useBgFill="1">
        <p:nvSpPr>
          <p:cNvPr id="13" name="矩形 12"/>
          <p:cNvSpPr/>
          <p:nvPr userDrawn="1"/>
        </p:nvSpPr>
        <p:spPr>
          <a:xfrm>
            <a:off x="-2540" y="0"/>
            <a:ext cx="12194540" cy="5505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image" Target="../media/image13.png"/><Relationship Id="rId21" Type="http://schemas.openxmlformats.org/officeDocument/2006/relationships/image" Target="../media/image12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78498" y="365125"/>
            <a:ext cx="110572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8498" y="1825625"/>
            <a:ext cx="110572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971081" y="6359086"/>
            <a:ext cx="527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2306834" y="210272"/>
            <a:ext cx="648072" cy="648072"/>
          </a:xfrm>
          <a:prstGeom prst="rect">
            <a:avLst/>
          </a:prstGeom>
          <a:solidFill>
            <a:srgbClr val="FE6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2306834" y="851520"/>
            <a:ext cx="648072" cy="64807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2306834" y="-5758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en-US" sz="1000" dirty="0">
                <a:latin typeface="+mj-ea"/>
                <a:ea typeface="+mj-ea"/>
              </a:rPr>
              <a:t>主色</a:t>
            </a:r>
            <a:endParaRPr kumimoji="1" lang="zh-CN" altLang="en-US" sz="1000" dirty="0"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306834" y="300001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en-US" sz="1000" dirty="0">
                <a:latin typeface="+mj-ea"/>
                <a:ea typeface="+mj-ea"/>
              </a:rPr>
              <a:t>辅助色</a:t>
            </a:r>
            <a:endParaRPr kumimoji="1" lang="zh-CN" altLang="en-US" sz="1000" dirty="0">
              <a:latin typeface="+mj-ea"/>
              <a:ea typeface="+mj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06834" y="3282898"/>
            <a:ext cx="648072" cy="648072"/>
          </a:xfrm>
          <a:prstGeom prst="rect">
            <a:avLst/>
          </a:prstGeom>
          <a:solidFill>
            <a:srgbClr val="EEB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12306834" y="3927558"/>
            <a:ext cx="648072" cy="648072"/>
          </a:xfrm>
          <a:prstGeom prst="rect">
            <a:avLst/>
          </a:prstGeom>
          <a:solidFill>
            <a:srgbClr val="54B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2306834" y="3419727"/>
            <a:ext cx="5760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1"/>
                </a:solidFill>
              </a:rPr>
              <a:t>R238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G184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B63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306834" y="4073772"/>
            <a:ext cx="5760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1"/>
                </a:solidFill>
              </a:rPr>
              <a:t>R84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G178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B68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306834" y="1508953"/>
            <a:ext cx="648072" cy="648072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2306834" y="4572218"/>
            <a:ext cx="648072" cy="648072"/>
          </a:xfrm>
          <a:prstGeom prst="rect">
            <a:avLst/>
          </a:prstGeom>
          <a:solidFill>
            <a:srgbClr val="55BA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2306834" y="5216878"/>
            <a:ext cx="648072" cy="648072"/>
          </a:xfrm>
          <a:prstGeom prst="rect">
            <a:avLst/>
          </a:prstGeom>
          <a:solidFill>
            <a:srgbClr val="6E9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2306834" y="210272"/>
            <a:ext cx="648072" cy="648072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/>
          <p:cNvSpPr/>
          <p:nvPr userDrawn="1"/>
        </p:nvSpPr>
        <p:spPr>
          <a:xfrm>
            <a:off x="12306834" y="860410"/>
            <a:ext cx="648072" cy="64807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12306834" y="-5758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en-US" sz="1000" dirty="0">
                <a:latin typeface="+mj-ea"/>
                <a:ea typeface="+mj-ea"/>
              </a:rPr>
              <a:t>主色</a:t>
            </a:r>
            <a:endParaRPr kumimoji="1" lang="zh-CN" altLang="en-US" sz="1000" dirty="0">
              <a:latin typeface="+mj-ea"/>
              <a:ea typeface="+mj-ea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12306834" y="349483"/>
            <a:ext cx="5760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1"/>
                </a:solidFill>
              </a:rPr>
              <a:t>R255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G121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B0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12306834" y="1508953"/>
            <a:ext cx="648072" cy="648072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矩形 47"/>
          <p:cNvSpPr/>
          <p:nvPr userDrawn="1"/>
        </p:nvSpPr>
        <p:spPr>
          <a:xfrm>
            <a:off x="12306834" y="2170270"/>
            <a:ext cx="648072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49" name="文本框 48"/>
          <p:cNvSpPr txBox="1"/>
          <p:nvPr userDrawn="1"/>
        </p:nvSpPr>
        <p:spPr>
          <a:xfrm>
            <a:off x="12306834" y="1640469"/>
            <a:ext cx="5760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1"/>
                </a:solidFill>
              </a:rPr>
              <a:t>R96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G96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B96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12306834" y="993050"/>
            <a:ext cx="5760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R236</a:t>
            </a:r>
            <a:endParaRPr lang="en-US" altLang="zh-CN" sz="900" dirty="0"/>
          </a:p>
          <a:p>
            <a:r>
              <a:rPr lang="en-US" altLang="zh-CN" sz="900" dirty="0"/>
              <a:t>G236</a:t>
            </a:r>
            <a:endParaRPr lang="en-US" altLang="zh-CN" sz="900" dirty="0"/>
          </a:p>
          <a:p>
            <a:r>
              <a:rPr lang="en-US" altLang="zh-CN" sz="900" dirty="0"/>
              <a:t>B236</a:t>
            </a:r>
            <a:endParaRPr lang="zh-CN" altLang="en-US" sz="900" dirty="0"/>
          </a:p>
        </p:txBody>
      </p:sp>
      <p:sp>
        <p:nvSpPr>
          <p:cNvPr id="52" name="文本框 51"/>
          <p:cNvSpPr txBox="1"/>
          <p:nvPr userDrawn="1"/>
        </p:nvSpPr>
        <p:spPr>
          <a:xfrm>
            <a:off x="12306834" y="2308449"/>
            <a:ext cx="5760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R255</a:t>
            </a:r>
            <a:endParaRPr lang="en-US" altLang="zh-CN" sz="900" dirty="0"/>
          </a:p>
          <a:p>
            <a:r>
              <a:rPr lang="en-US" altLang="zh-CN" sz="900" dirty="0"/>
              <a:t>G255</a:t>
            </a:r>
            <a:endParaRPr lang="en-US" altLang="zh-CN" sz="900" dirty="0"/>
          </a:p>
          <a:p>
            <a:r>
              <a:rPr lang="en-US" altLang="zh-CN" sz="900" dirty="0"/>
              <a:t>B255</a:t>
            </a:r>
            <a:endParaRPr lang="zh-CN" altLang="en-US" sz="900" dirty="0"/>
          </a:p>
        </p:txBody>
      </p:sp>
      <p:sp>
        <p:nvSpPr>
          <p:cNvPr id="53" name="矩形 52"/>
          <p:cNvSpPr/>
          <p:nvPr userDrawn="1"/>
        </p:nvSpPr>
        <p:spPr>
          <a:xfrm>
            <a:off x="12306834" y="5806617"/>
            <a:ext cx="648072" cy="648072"/>
          </a:xfrm>
          <a:prstGeom prst="rect">
            <a:avLst/>
          </a:prstGeom>
          <a:solidFill>
            <a:srgbClr val="2B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2306834" y="4701455"/>
            <a:ext cx="5760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1"/>
                </a:solidFill>
              </a:rPr>
              <a:t>R85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G186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B190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306834" y="5298786"/>
            <a:ext cx="5760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1"/>
                </a:solidFill>
              </a:rPr>
              <a:t>R110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G146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B255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54" name="文本框 53"/>
          <p:cNvSpPr txBox="1"/>
          <p:nvPr userDrawn="1"/>
        </p:nvSpPr>
        <p:spPr>
          <a:xfrm>
            <a:off x="12306834" y="5940869"/>
            <a:ext cx="5760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bg1"/>
                </a:solidFill>
              </a:rPr>
              <a:t>R43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G104</a:t>
            </a:r>
            <a:endParaRPr lang="en-US" altLang="zh-CN" sz="900" dirty="0">
              <a:solidFill>
                <a:schemeClr val="bg1"/>
              </a:solidFill>
            </a:endParaRPr>
          </a:p>
          <a:p>
            <a:r>
              <a:rPr lang="en-US" altLang="zh-CN" sz="900" dirty="0">
                <a:solidFill>
                  <a:schemeClr val="bg1"/>
                </a:solidFill>
              </a:rPr>
              <a:t>B111</a:t>
            </a:r>
            <a:endParaRPr lang="zh-CN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文本框 54"/>
          <p:cNvSpPr txBox="1"/>
          <p:nvPr userDrawn="1"/>
        </p:nvSpPr>
        <p:spPr>
          <a:xfrm>
            <a:off x="4806941" y="6426233"/>
            <a:ext cx="2490086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900" dirty="0">
                <a:solidFill>
                  <a:srgbClr val="979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en-US" altLang="en-GB" sz="900" dirty="0">
                <a:solidFill>
                  <a:srgbClr val="979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altLang="zh-CN" sz="900" dirty="0">
                <a:solidFill>
                  <a:srgbClr val="979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Copyright © SUNGROW.Confidential</a:t>
            </a:r>
            <a:endParaRPr lang="zh-CN" altLang="en-US" sz="900" dirty="0">
              <a:solidFill>
                <a:srgbClr val="97989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图片 57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800" y="440227"/>
            <a:ext cx="927100" cy="109071"/>
          </a:xfrm>
          <a:prstGeom prst="rect">
            <a:avLst/>
          </a:prstGeom>
        </p:spPr>
      </p:pic>
      <p:sp>
        <p:nvSpPr>
          <p:cNvPr id="36" name="文本框 35"/>
          <p:cNvSpPr txBox="1"/>
          <p:nvPr userDrawn="1"/>
        </p:nvSpPr>
        <p:spPr>
          <a:xfrm>
            <a:off x="477897" y="6426215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79897"/>
                </a:solidFill>
                <a:effectLst/>
                <a:uLnTx/>
                <a:uFillTx/>
                <a:latin typeface="Helvetica" panose="020B0604020202030204"/>
                <a:ea typeface="微软雅黑" panose="020B0503020204020204" pitchFamily="34" charset="-122"/>
                <a:cs typeface="+mn-cs"/>
              </a:rPr>
              <a:t>密级：秘密</a:t>
            </a:r>
            <a:endParaRPr kumimoji="1" lang="zh-CN" altLang="en-US" sz="800" dirty="0">
              <a:solidFill>
                <a:srgbClr val="979897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051" y="6438459"/>
            <a:ext cx="997769" cy="2129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06060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60606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60606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60606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0606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06060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5.png"/><Relationship Id="rId2" Type="http://schemas.openxmlformats.org/officeDocument/2006/relationships/tags" Target="../tags/tag1.xml"/><Relationship Id="rId11" Type="http://schemas.openxmlformats.org/officeDocument/2006/relationships/comments" Target="../comments/comment1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产业园</a:t>
            </a:r>
            <a:r>
              <a:rPr lang="zh-CN" altLang="en-US"/>
              <a:t>物流规划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物流规划</a:t>
            </a:r>
            <a:r>
              <a:rPr lang="en-US" altLang="zh-CN" sz="2400" dirty="0"/>
              <a:t>-</a:t>
            </a:r>
            <a:r>
              <a:rPr lang="zh-CN" altLang="en-US" sz="2400" dirty="0"/>
              <a:t>物流线路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half" idx="2"/>
          </p:nvPr>
        </p:nvSpPr>
        <p:spPr>
          <a:xfrm>
            <a:off x="609600" y="1077595"/>
            <a:ext cx="5080000" cy="5551805"/>
          </a:xfrm>
        </p:spPr>
        <p:txBody>
          <a:bodyPr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物流线路：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如图所示，车间上红色或蓝色小长方体标注为月台口，其中蓝色为内部转运车辆停靠月台口，红色为内部外部车辆共用月台口。</a:t>
            </a:r>
            <a:endParaRPr lang="en-US" altLang="zh-CN" sz="12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200" b="1" dirty="0"/>
              <a:t>双向通道</a:t>
            </a:r>
            <a:r>
              <a:rPr lang="zh-CN" altLang="en-US" sz="1200" dirty="0"/>
              <a:t>：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b="1" dirty="0"/>
              <a:t>菖蒲路</a:t>
            </a:r>
            <a:r>
              <a:rPr lang="zh-CN" altLang="en-US" sz="1200" dirty="0"/>
              <a:t>：产业园主物流通道，结合所连接外部道路特点，西门为主要物流进出口，东门为次要物流进出口。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b="1" dirty="0"/>
              <a:t>电动力车间东侧道路</a:t>
            </a:r>
            <a:r>
              <a:rPr lang="zh-CN" altLang="en-US" sz="1200" dirty="0"/>
              <a:t>：双向送货出货通道，结合道路宽度及连接东西向通道宽度，此段道路允许调头折返。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en-US" altLang="zh-CN" sz="1200" b="1" dirty="0"/>
              <a:t>M7</a:t>
            </a:r>
            <a:r>
              <a:rPr lang="zh-CN" altLang="en-US" sz="1200" b="1" dirty="0"/>
              <a:t>与</a:t>
            </a:r>
            <a:r>
              <a:rPr lang="en-US" altLang="zh-CN" sz="1200" b="1" dirty="0"/>
              <a:t>M6/M6</a:t>
            </a:r>
            <a:r>
              <a:rPr lang="zh-CN" altLang="en-US" sz="1200" b="1" dirty="0"/>
              <a:t>与</a:t>
            </a:r>
            <a:r>
              <a:rPr lang="en-US" altLang="zh-CN" sz="1200" b="1" dirty="0"/>
              <a:t>M5/M5</a:t>
            </a:r>
            <a:r>
              <a:rPr lang="zh-CN" altLang="en-US" sz="1200" b="1" dirty="0"/>
              <a:t>与</a:t>
            </a:r>
            <a:r>
              <a:rPr lang="en-US" altLang="zh-CN" sz="1200" b="1" dirty="0"/>
              <a:t>M4</a:t>
            </a:r>
            <a:r>
              <a:rPr lang="zh-CN" altLang="en-US" sz="1200" b="1" dirty="0"/>
              <a:t>中间道路</a:t>
            </a:r>
            <a:r>
              <a:rPr lang="zh-CN" altLang="en-US" sz="1200" dirty="0"/>
              <a:t>：双向送货出货通道，不允许调头，完成装货卸货后，沿环线至西门</a:t>
            </a:r>
            <a:r>
              <a:rPr lang="en-US" altLang="zh-CN" sz="1200" dirty="0"/>
              <a:t>/</a:t>
            </a:r>
            <a:r>
              <a:rPr lang="zh-CN" altLang="en-US" sz="1200" dirty="0"/>
              <a:t>东门</a:t>
            </a:r>
            <a:r>
              <a:rPr lang="en-US" altLang="zh-CN" sz="1200" dirty="0"/>
              <a:t>/</a:t>
            </a:r>
            <a:r>
              <a:rPr lang="zh-CN" altLang="en-US" sz="1200" dirty="0"/>
              <a:t>南三门出厂区。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/>
              <a:t>单向通道：</a:t>
            </a:r>
            <a:endParaRPr lang="en-US" altLang="zh-CN" sz="1200" dirty="0"/>
          </a:p>
          <a:p>
            <a:pPr>
              <a:lnSpc>
                <a:spcPct val="150000"/>
              </a:lnSpc>
            </a:pPr>
            <a:r>
              <a:rPr lang="zh-CN" altLang="en-US" sz="1200" b="1" dirty="0"/>
              <a:t>除菖蒲路外其余南北向道路</a:t>
            </a:r>
            <a:r>
              <a:rPr lang="zh-CN" altLang="en-US" sz="1200" dirty="0"/>
              <a:t>：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菖蒲路以北，各车间物料配送及产品出货按围绕车间顺时针环线运输，自西门或东门进入至与目的车间相邻南北支路进入，完成装卸后，沿顺时针方向驶入最近南北双向车道至菖蒲路主干道，从西门或东门驶出产业园。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菖蒲路以南，自西门或东门进入，至目的车间装卸口完成货物装卸后，汇入</a:t>
            </a:r>
            <a:r>
              <a:rPr lang="en-US" altLang="zh-CN" sz="1200" dirty="0"/>
              <a:t>M13</a:t>
            </a:r>
            <a:r>
              <a:rPr lang="zh-CN" altLang="en-US" sz="1200" dirty="0"/>
              <a:t>与堆场间南北双向车道，自南三门驶出产业园。</a:t>
            </a:r>
            <a:endParaRPr lang="zh-CN" altLang="en-US" sz="1200" dirty="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3263" y="761950"/>
            <a:ext cx="5384380" cy="545085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65312" y="3619357"/>
            <a:ext cx="805769" cy="1403598"/>
          </a:xfrm>
          <a:prstGeom prst="rect">
            <a:avLst/>
          </a:prstGeom>
        </p:spPr>
      </p:pic>
      <p:cxnSp>
        <p:nvCxnSpPr>
          <p:cNvPr id="6" name="直接箭头连接符 5"/>
          <p:cNvCxnSpPr/>
          <p:nvPr>
            <p:custDataLst>
              <p:tags r:id="rId4"/>
            </p:custDataLst>
          </p:nvPr>
        </p:nvCxnSpPr>
        <p:spPr>
          <a:xfrm>
            <a:off x="10061697" y="3542270"/>
            <a:ext cx="0" cy="14806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5"/>
            </p:custDataLst>
          </p:nvPr>
        </p:nvCxnSpPr>
        <p:spPr>
          <a:xfrm flipV="1">
            <a:off x="10165492" y="3542270"/>
            <a:ext cx="0" cy="14806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592065" y="842172"/>
            <a:ext cx="77435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000" b="0" cap="none" spc="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北门</a:t>
            </a:r>
            <a:endParaRPr lang="zh-CN" altLang="en-US" sz="2000" b="0" cap="none" spc="0" dirty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91161" y="5626620"/>
            <a:ext cx="95194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00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南二</a:t>
            </a:r>
            <a:r>
              <a:rPr lang="zh-CN" altLang="en-US" sz="2000" b="0" cap="none" spc="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门</a:t>
            </a:r>
            <a:endParaRPr lang="zh-CN" altLang="en-US" sz="2000" b="0" cap="none" spc="0" dirty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6009563" y="3248220"/>
            <a:ext cx="774356" cy="3987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00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西</a:t>
            </a:r>
            <a:r>
              <a:rPr lang="zh-CN" altLang="en-US" sz="2000" b="0" cap="none" spc="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门</a:t>
            </a:r>
            <a:endParaRPr lang="zh-CN" altLang="en-US" sz="2000" b="0" cap="none" spc="0" dirty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10498903" y="3228945"/>
            <a:ext cx="774356" cy="3987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00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东</a:t>
            </a:r>
            <a:r>
              <a:rPr lang="zh-CN" altLang="en-US" sz="2000" b="0" cap="none" spc="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门</a:t>
            </a:r>
            <a:endParaRPr lang="zh-CN" altLang="en-US" sz="2000" b="0" cap="none" spc="0" dirty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7867135" y="1746422"/>
            <a:ext cx="0" cy="16825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503773" y="5626620"/>
            <a:ext cx="95194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00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南三</a:t>
            </a:r>
            <a:r>
              <a:rPr lang="zh-CN" altLang="en-US" sz="2000" b="0" cap="none" spc="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门</a:t>
            </a:r>
            <a:endParaRPr lang="zh-CN" altLang="en-US" sz="2000" b="0" cap="none" spc="0" dirty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8287162" y="4978439"/>
            <a:ext cx="774356" cy="22987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900" dirty="0">
                <a:ln w="0"/>
                <a:solidFill>
                  <a:srgbClr val="AFAFA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FF"/>
                </a:highlight>
              </a:rPr>
              <a:t>M17</a:t>
            </a:r>
            <a:endParaRPr lang="zh-CN" altLang="en-US" sz="900" b="0" cap="none" spc="0" dirty="0">
              <a:ln w="0"/>
              <a:solidFill>
                <a:srgbClr val="AFAFA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FF"/>
              </a:highlight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8287162" y="4205740"/>
            <a:ext cx="774356" cy="22987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900" dirty="0">
                <a:ln w="0"/>
                <a:solidFill>
                  <a:srgbClr val="AFAFA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FF"/>
                </a:highlight>
              </a:rPr>
              <a:t>M16</a:t>
            </a:r>
            <a:endParaRPr lang="zh-CN" altLang="en-US" sz="900" b="0" cap="none" spc="0" dirty="0">
              <a:ln w="0"/>
              <a:solidFill>
                <a:srgbClr val="AFAFAF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FF"/>
              </a:highlight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768965" y="1885950"/>
            <a:ext cx="76200" cy="144000"/>
          </a:xfrm>
          <a:prstGeom prst="rect">
            <a:avLst/>
          </a:prstGeom>
          <a:solidFill>
            <a:srgbClr val="F57B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124315" y="1885950"/>
            <a:ext cx="76200" cy="144000"/>
          </a:xfrm>
          <a:prstGeom prst="rect">
            <a:avLst/>
          </a:prstGeom>
          <a:solidFill>
            <a:srgbClr val="F57B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722235" y="1876425"/>
            <a:ext cx="76200" cy="14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124315" y="1885950"/>
            <a:ext cx="76200" cy="14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846310" y="1885950"/>
            <a:ext cx="76200" cy="14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846310" y="2372995"/>
            <a:ext cx="76200" cy="14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0049510" y="2372995"/>
            <a:ext cx="76200" cy="14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 rot="5400000">
            <a:off x="7628255" y="3968115"/>
            <a:ext cx="76200" cy="14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202" y="1036586"/>
            <a:ext cx="5283200" cy="5395968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物流规划</a:t>
            </a:r>
            <a:r>
              <a:rPr lang="en-US" altLang="zh-CN" sz="2400" dirty="0"/>
              <a:t>-</a:t>
            </a:r>
            <a:r>
              <a:rPr lang="zh-CN" altLang="en-US" sz="2400" dirty="0"/>
              <a:t>物流线路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half" idx="2"/>
          </p:nvPr>
        </p:nvSpPr>
        <p:spPr>
          <a:xfrm>
            <a:off x="609598" y="1077384"/>
            <a:ext cx="5079999" cy="5281702"/>
          </a:xfrm>
        </p:spPr>
        <p:txBody>
          <a:bodyPr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规划逻辑：</a:t>
            </a:r>
            <a:endParaRPr lang="en-US" altLang="zh-CN" sz="12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200" b="1" dirty="0"/>
              <a:t>菖蒲路为主物流通道</a:t>
            </a:r>
            <a:r>
              <a:rPr lang="zh-CN" altLang="en-US" sz="1200" dirty="0"/>
              <a:t>：贯穿产业园且与外部道路相连道路分南北向阳光大道</a:t>
            </a:r>
            <a:r>
              <a:rPr lang="en-US" altLang="zh-CN" sz="1200" dirty="0"/>
              <a:t>+</a:t>
            </a:r>
            <a:r>
              <a:rPr lang="zh-CN" altLang="en-US" sz="1200" dirty="0"/>
              <a:t>规划支路，东西向菖蒲路，结合北二门定义通勤及访客通道及南一门未与铭传路主路相连，因此定义东西向菖蒲路为主物流通道。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200" b="1" dirty="0"/>
              <a:t>西门为主物流通道，东门为次要物流通道，南三门为辅助物流通道</a:t>
            </a:r>
            <a:r>
              <a:rPr lang="zh-CN" altLang="en-US" sz="1200" dirty="0"/>
              <a:t>：西门相连长宁大道，双向</a:t>
            </a:r>
            <a:r>
              <a:rPr lang="en-US" altLang="zh-CN" sz="1200" dirty="0"/>
              <a:t>8</a:t>
            </a:r>
            <a:r>
              <a:rPr lang="zh-CN" altLang="en-US" sz="1200" dirty="0"/>
              <a:t>车道，为相邻外部最宽道路，作为主物流进出口，东门为菖蒲路进出园区口，作为次物流出入口，南三门直通铭传路，作为辅助物流出入口。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200" b="1" dirty="0"/>
              <a:t>以菖蒲路及阳光大道</a:t>
            </a:r>
            <a:r>
              <a:rPr lang="en-US" altLang="zh-CN" sz="1200" b="1" dirty="0"/>
              <a:t>+</a:t>
            </a:r>
            <a:r>
              <a:rPr lang="zh-CN" altLang="en-US" sz="1200" b="1" dirty="0"/>
              <a:t>规划支路为界，划分产业园为四个区域，根据就近原则，结合出入口定位，制定物流线路：</a:t>
            </a:r>
            <a:endParaRPr lang="en-US" altLang="zh-CN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西北角区域（</a:t>
            </a:r>
            <a:r>
              <a:rPr lang="en-US" altLang="zh-CN" sz="1200" dirty="0"/>
              <a:t>M6/M7/M8/M9/M13</a:t>
            </a:r>
            <a:r>
              <a:rPr lang="zh-CN" altLang="en-US" sz="1200" dirty="0"/>
              <a:t>）优先从西门进西门出。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东北角区域及电动力（</a:t>
            </a:r>
            <a:r>
              <a:rPr lang="en-US" altLang="zh-CN" sz="1200" dirty="0"/>
              <a:t>M3/M4/M5/M10/M11/</a:t>
            </a:r>
            <a:r>
              <a:rPr lang="zh-CN" altLang="en-US" sz="1200" dirty="0"/>
              <a:t>电动力车间）优先从东门进东门出。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西南角区域（</a:t>
            </a:r>
            <a:r>
              <a:rPr lang="en-US" altLang="zh-CN" sz="1200" dirty="0"/>
              <a:t>M15/M18/M19</a:t>
            </a:r>
            <a:r>
              <a:rPr lang="zh-CN" altLang="en-US" sz="1200" dirty="0"/>
              <a:t>）优先从西门进南三门出。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/>
              <a:t>M12</a:t>
            </a:r>
            <a:r>
              <a:rPr lang="zh-CN" altLang="en-US" sz="1200" dirty="0"/>
              <a:t>集中式堆场，优先自西门进，东门或南三门出。</a:t>
            </a:r>
            <a:endParaRPr lang="en-US" altLang="zh-C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规划条件</a:t>
            </a:r>
            <a:r>
              <a:rPr lang="en-US" altLang="zh-CN" sz="2400" dirty="0"/>
              <a:t>-</a:t>
            </a:r>
            <a:r>
              <a:rPr lang="zh-CN" altLang="en-US" sz="2400" dirty="0"/>
              <a:t>道路条件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9202" y="1032781"/>
            <a:ext cx="5283200" cy="5395728"/>
          </a:xfrm>
          <a:prstGeom prst="rect">
            <a:avLst/>
          </a:prstGeom>
        </p:spPr>
      </p:pic>
      <p:sp>
        <p:nvSpPr>
          <p:cNvPr id="8" name="文本占位符 5"/>
          <p:cNvSpPr>
            <a:spLocks noGrp="1"/>
          </p:cNvSpPr>
          <p:nvPr>
            <p:ph type="body" sz="half" idx="2"/>
          </p:nvPr>
        </p:nvSpPr>
        <p:spPr>
          <a:xfrm>
            <a:off x="609598" y="1077384"/>
            <a:ext cx="5486402" cy="5281702"/>
          </a:xfrm>
        </p:spPr>
        <p:txBody>
          <a:bodyPr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外部条件：</a:t>
            </a:r>
            <a:endParaRPr lang="en-US" altLang="zh-CN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/>
              <a:t>明珠大道</a:t>
            </a:r>
            <a:r>
              <a:rPr lang="zh-CN" altLang="en-US" sz="1000" b="1" dirty="0"/>
              <a:t>（北 ↑ ）</a:t>
            </a:r>
            <a:r>
              <a:rPr lang="zh-CN" altLang="en-US" sz="1200" b="1" dirty="0"/>
              <a:t>：</a:t>
            </a:r>
            <a:endParaRPr lang="en-US" altLang="zh-CN" sz="1200" b="1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双向</a:t>
            </a:r>
            <a:r>
              <a:rPr lang="en-US" altLang="zh-CN" sz="1200" dirty="0"/>
              <a:t>6</a:t>
            </a:r>
            <a:r>
              <a:rPr lang="zh-CN" altLang="en-US" sz="1200" dirty="0"/>
              <a:t>车道，产业园段道路分主路加辅路形式，产业园北</a:t>
            </a:r>
            <a:r>
              <a:rPr lang="en-US" altLang="zh-CN" sz="1200" dirty="0"/>
              <a:t>1</a:t>
            </a:r>
            <a:r>
              <a:rPr lang="zh-CN" altLang="en-US" sz="1200" dirty="0"/>
              <a:t>门及北</a:t>
            </a:r>
            <a:r>
              <a:rPr lang="en-US" altLang="zh-CN" sz="1200" dirty="0"/>
              <a:t>2</a:t>
            </a:r>
            <a:r>
              <a:rPr lang="zh-CN" altLang="en-US" sz="1200" dirty="0"/>
              <a:t>们与主路相连。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/>
              <a:t>铭 传 路</a:t>
            </a:r>
            <a:r>
              <a:rPr lang="zh-CN" altLang="en-US" sz="1050" b="1" dirty="0"/>
              <a:t>（南 ↓ ）</a:t>
            </a:r>
            <a:r>
              <a:rPr lang="zh-CN" altLang="en-US" sz="1200" b="1" dirty="0"/>
              <a:t>：</a:t>
            </a:r>
            <a:endParaRPr lang="en-US" altLang="zh-CN" sz="1200" b="1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双向</a:t>
            </a:r>
            <a:r>
              <a:rPr lang="en-US" altLang="zh-CN" sz="1200" dirty="0"/>
              <a:t>6</a:t>
            </a:r>
            <a:r>
              <a:rPr lang="zh-CN" altLang="en-US" sz="1200" dirty="0"/>
              <a:t>车道，产业园段道路分主路加辅路形式，辅路与产业园南</a:t>
            </a:r>
            <a:r>
              <a:rPr lang="en-US" altLang="zh-CN" sz="1200" dirty="0"/>
              <a:t>1</a:t>
            </a:r>
            <a:r>
              <a:rPr lang="zh-CN" altLang="en-US" sz="1200" dirty="0"/>
              <a:t>门相连，主路与产业园南</a:t>
            </a:r>
            <a:r>
              <a:rPr lang="en-US" altLang="zh-CN" sz="1200" dirty="0"/>
              <a:t>2</a:t>
            </a:r>
            <a:r>
              <a:rPr lang="zh-CN" altLang="en-US" sz="1200" dirty="0"/>
              <a:t>门相连。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/>
              <a:t>长宁大道</a:t>
            </a:r>
            <a:r>
              <a:rPr lang="zh-CN" altLang="en-US" sz="1000" b="1" dirty="0"/>
              <a:t>（西← ）</a:t>
            </a:r>
            <a:r>
              <a:rPr lang="zh-CN" altLang="en-US" sz="1200" b="1" dirty="0"/>
              <a:t>：</a:t>
            </a:r>
            <a:endParaRPr lang="en-US" altLang="zh-CN" sz="1200" b="1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双向</a:t>
            </a:r>
            <a:r>
              <a:rPr lang="en-US" altLang="zh-CN" sz="1200" dirty="0"/>
              <a:t>8</a:t>
            </a:r>
            <a:r>
              <a:rPr lang="zh-CN" altLang="en-US" sz="1200" dirty="0"/>
              <a:t>车道（最宽外部道路），产业园段道路仅为主路，主路与产业园西门相连。</a:t>
            </a:r>
            <a:endParaRPr lang="en-US" altLang="zh-CN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/>
              <a:t>量子大道</a:t>
            </a:r>
            <a:r>
              <a:rPr lang="zh-CN" altLang="en-US" sz="1000" b="1" dirty="0"/>
              <a:t>（东→ ）</a:t>
            </a:r>
            <a:r>
              <a:rPr lang="zh-CN" altLang="en-US" sz="1200" b="1" dirty="0"/>
              <a:t>：</a:t>
            </a:r>
            <a:endParaRPr lang="en-US" altLang="zh-CN" sz="1200" b="1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双向</a:t>
            </a:r>
            <a:r>
              <a:rPr lang="en-US" altLang="zh-CN" sz="1200" dirty="0"/>
              <a:t>4</a:t>
            </a:r>
            <a:r>
              <a:rPr lang="zh-CN" altLang="en-US" sz="1200" dirty="0"/>
              <a:t>车道（最窄外部道路），产业园段道路仅为主路，主路与产业园东门相连。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b="1" dirty="0"/>
              <a:t>内部条件：</a:t>
            </a:r>
            <a:endParaRPr lang="en-US" altLang="zh-CN" sz="1200" b="1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/>
              <a:t>东西方向：</a:t>
            </a:r>
            <a:r>
              <a:rPr lang="zh-CN" altLang="en-US" sz="1200" dirty="0"/>
              <a:t>菖蒲路道路宽度约为</a:t>
            </a:r>
            <a:r>
              <a:rPr lang="en-US" altLang="zh-CN" sz="1200" dirty="0"/>
              <a:t>15m</a:t>
            </a:r>
            <a:r>
              <a:rPr lang="zh-CN" altLang="en-US" sz="1200" dirty="0"/>
              <a:t>，考虑产业园内货车占比及停车卸货情况，实际按双向双车道使用。除菖蒲路外其余东西向道路，宽度小于</a:t>
            </a:r>
            <a:r>
              <a:rPr lang="en-US" altLang="zh-CN" sz="1200" dirty="0"/>
              <a:t>8m</a:t>
            </a:r>
            <a:r>
              <a:rPr lang="zh-CN" altLang="en-US" sz="1200" dirty="0"/>
              <a:t>，考虑货车通行及人员安全，实际按单向单车道使用。</a:t>
            </a:r>
            <a:endParaRPr lang="en-US" altLang="zh-CN" sz="1200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/>
              <a:t>南北方向：</a:t>
            </a:r>
            <a:r>
              <a:rPr lang="zh-CN" altLang="en-US" sz="1200" dirty="0"/>
              <a:t>南北向道路宽度约为</a:t>
            </a:r>
            <a:r>
              <a:rPr lang="en-US" altLang="zh-CN" sz="1200" dirty="0"/>
              <a:t>12m</a:t>
            </a:r>
            <a:r>
              <a:rPr lang="zh-CN" altLang="en-US" sz="1200" dirty="0"/>
              <a:t>，考虑产业园内货车占比及停车卸货情况，实际按双向双车道使用。</a:t>
            </a:r>
            <a:endParaRPr lang="en-US" altLang="zh-CN" sz="12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物流规划</a:t>
            </a:r>
            <a:r>
              <a:rPr lang="en-US" altLang="zh-CN" sz="2400" dirty="0"/>
              <a:t>-</a:t>
            </a:r>
            <a:r>
              <a:rPr lang="zh-CN" altLang="en-US" sz="2400" dirty="0"/>
              <a:t>情况说明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half" idx="2"/>
          </p:nvPr>
        </p:nvSpPr>
        <p:spPr>
          <a:xfrm>
            <a:off x="609598" y="1003243"/>
            <a:ext cx="5079999" cy="5281702"/>
          </a:xfrm>
        </p:spPr>
        <p:txBody>
          <a:bodyPr>
            <a:noAutofit/>
          </a:bodyPr>
          <a:lstStyle/>
          <a:p>
            <a:r>
              <a:rPr lang="zh-CN" altLang="en-US" sz="1600" b="1" dirty="0"/>
              <a:t>优先权和排队情况说明：</a:t>
            </a:r>
            <a:endParaRPr lang="en-US" altLang="zh-CN" sz="1600" b="1" dirty="0"/>
          </a:p>
          <a:p>
            <a:r>
              <a:rPr lang="zh-CN" altLang="en-US" sz="1600" dirty="0"/>
              <a:t>外协：基本上比较少，用于园区间转运，需要时找专人预约使用，预约时会提前说明空闲时间，司机会在空闲时间来装卸货，基本不需要排队。</a:t>
            </a:r>
            <a:endParaRPr lang="zh-CN" altLang="en-US" sz="1600" dirty="0"/>
          </a:p>
          <a:p>
            <a:pPr>
              <a:buNone/>
            </a:pPr>
            <a:r>
              <a:rPr lang="zh-CN" altLang="en-US" sz="1600" dirty="0"/>
              <a:t>内部车辆：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/>
              <a:t>    </a:t>
            </a:r>
            <a:r>
              <a:rPr lang="zh-CN" altLang="en-US" sz="1600" dirty="0"/>
              <a:t>①转运公交车循环送货，有优先卸货权 </a:t>
            </a:r>
            <a:endParaRPr lang="en-US" altLang="zh-CN" sz="1600" dirty="0"/>
          </a:p>
          <a:p>
            <a:pPr>
              <a:buNone/>
            </a:pPr>
            <a:r>
              <a:rPr lang="en-US" altLang="zh-CN" sz="1600" dirty="0"/>
              <a:t>    </a:t>
            </a:r>
            <a:r>
              <a:rPr lang="zh-CN" altLang="en-US" sz="1600" dirty="0"/>
              <a:t>②平板车，用于垃圾、跨厂房物料转运，公交车循环送货，有优先卸货权</a:t>
            </a:r>
            <a:endParaRPr lang="zh-CN" altLang="en-US" sz="1600" dirty="0"/>
          </a:p>
          <a:p>
            <a:pPr>
              <a:buNone/>
            </a:pPr>
            <a:r>
              <a:rPr lang="zh-CN" altLang="en-US" sz="1600" dirty="0"/>
              <a:t>外部车辆：供应商送货，需要预约、排队等候</a:t>
            </a:r>
            <a:endParaRPr lang="en-US" altLang="zh-CN" sz="1600" dirty="0"/>
          </a:p>
          <a:p>
            <a:pPr>
              <a:buNone/>
            </a:pPr>
            <a:endParaRPr lang="en-US" altLang="zh-CN" sz="1600" dirty="0"/>
          </a:p>
          <a:p>
            <a:pPr>
              <a:buNone/>
            </a:pPr>
            <a:r>
              <a:rPr lang="en-US" altLang="zh-CN" sz="1600" b="1" dirty="0" err="1"/>
              <a:t>M6</a:t>
            </a:r>
            <a:r>
              <a:rPr lang="zh-CN" altLang="en-US" sz="1600" b="1" dirty="0"/>
              <a:t>与电动力厂房高峰期每日物流口物流车辆统计：</a:t>
            </a:r>
            <a:endParaRPr lang="zh-CN" altLang="en-US" sz="1600" b="1" dirty="0"/>
          </a:p>
          <a:p>
            <a:pPr>
              <a:buNone/>
            </a:pPr>
            <a:r>
              <a:rPr lang="en-US" altLang="zh-CN" sz="1600" dirty="0"/>
              <a:t>M6</a:t>
            </a:r>
            <a:r>
              <a:rPr lang="zh-CN" altLang="en-US" sz="1600" dirty="0"/>
              <a:t>车间西边</a:t>
            </a:r>
            <a:r>
              <a:rPr lang="en-US" altLang="zh-CN" sz="1600" dirty="0"/>
              <a:t>2</a:t>
            </a:r>
            <a:r>
              <a:rPr lang="zh-CN" altLang="en-US" sz="1600" dirty="0"/>
              <a:t>号门：外部车辆</a:t>
            </a:r>
            <a:r>
              <a:rPr lang="en-US" altLang="zh-CN" sz="1600" dirty="0"/>
              <a:t>23</a:t>
            </a:r>
            <a:r>
              <a:rPr lang="zh-CN" altLang="en-US" sz="1600" dirty="0"/>
              <a:t>辆</a:t>
            </a:r>
            <a:endParaRPr lang="zh-CN" altLang="en-US" sz="1600" dirty="0"/>
          </a:p>
          <a:p>
            <a:pPr>
              <a:buNone/>
            </a:pPr>
            <a:r>
              <a:rPr lang="en-US" altLang="zh-CN" sz="1600" dirty="0"/>
              <a:t>M6</a:t>
            </a:r>
            <a:r>
              <a:rPr lang="zh-CN" altLang="en-US" sz="1600" dirty="0"/>
              <a:t>车间东边</a:t>
            </a:r>
            <a:r>
              <a:rPr lang="en-US" altLang="zh-CN" sz="1600" dirty="0"/>
              <a:t>4</a:t>
            </a:r>
            <a:r>
              <a:rPr lang="zh-CN" altLang="en-US" sz="1600" dirty="0"/>
              <a:t>号门：内部转运（</a:t>
            </a:r>
            <a:r>
              <a:rPr lang="en-US" altLang="zh-CN" sz="1600" dirty="0"/>
              <a:t>4</a:t>
            </a:r>
            <a:r>
              <a:rPr lang="zh-CN" altLang="en-US" sz="1600" dirty="0"/>
              <a:t>米</a:t>
            </a:r>
            <a:r>
              <a:rPr lang="en-US" altLang="zh-CN" sz="1600" dirty="0"/>
              <a:t>2</a:t>
            </a:r>
            <a:r>
              <a:rPr lang="zh-CN" altLang="en-US" sz="1600" dirty="0"/>
              <a:t>厢货）：白班</a:t>
            </a:r>
            <a:r>
              <a:rPr lang="en-US" altLang="zh-CN" sz="1600" dirty="0"/>
              <a:t>28</a:t>
            </a:r>
            <a:r>
              <a:rPr lang="zh-CN" altLang="en-US" sz="1600" dirty="0"/>
              <a:t>辆，夜班</a:t>
            </a:r>
            <a:r>
              <a:rPr lang="en-US" altLang="zh-CN" sz="1600" dirty="0"/>
              <a:t>16</a:t>
            </a:r>
            <a:r>
              <a:rPr lang="zh-CN" altLang="en-US" sz="1600" dirty="0"/>
              <a:t>辆</a:t>
            </a:r>
            <a:r>
              <a:rPr lang="en-US" altLang="zh-CN" sz="1600" dirty="0"/>
              <a:t>   </a:t>
            </a:r>
            <a:r>
              <a:rPr lang="zh-CN" altLang="en-US" sz="1600" dirty="0"/>
              <a:t>外部车辆：</a:t>
            </a:r>
            <a:r>
              <a:rPr lang="en-US" altLang="zh-CN" sz="1600" dirty="0"/>
              <a:t>16</a:t>
            </a:r>
            <a:r>
              <a:rPr lang="zh-CN" altLang="en-US" sz="1600" dirty="0"/>
              <a:t>辆</a:t>
            </a:r>
            <a:endParaRPr lang="zh-CN" altLang="en-US" sz="1600" dirty="0"/>
          </a:p>
          <a:p>
            <a:pPr>
              <a:buNone/>
            </a:pPr>
            <a:r>
              <a:rPr lang="zh-CN" altLang="en-US" sz="1600" dirty="0"/>
              <a:t>电动力厂房卸货平台：内部转运（</a:t>
            </a:r>
            <a:r>
              <a:rPr lang="en-US" altLang="zh-CN" sz="1600" dirty="0"/>
              <a:t>4</a:t>
            </a:r>
            <a:r>
              <a:rPr lang="zh-CN" altLang="en-US" sz="1600" dirty="0"/>
              <a:t>米</a:t>
            </a:r>
            <a:r>
              <a:rPr lang="en-US" altLang="zh-CN" sz="1600" dirty="0"/>
              <a:t>2</a:t>
            </a:r>
            <a:r>
              <a:rPr lang="zh-CN" altLang="en-US" sz="1600" dirty="0"/>
              <a:t>厢货）：白班</a:t>
            </a:r>
            <a:r>
              <a:rPr lang="en-US" altLang="zh-CN" sz="1600" dirty="0"/>
              <a:t>26</a:t>
            </a:r>
            <a:r>
              <a:rPr lang="zh-CN" altLang="en-US" sz="1600" dirty="0"/>
              <a:t>辆，夜班</a:t>
            </a:r>
            <a:r>
              <a:rPr lang="en-US" altLang="zh-CN" sz="1600" dirty="0"/>
              <a:t>11</a:t>
            </a:r>
            <a:r>
              <a:rPr lang="zh-CN" altLang="en-US" sz="1600" dirty="0"/>
              <a:t>辆</a:t>
            </a:r>
            <a:r>
              <a:rPr lang="en-US" altLang="zh-CN" sz="1600" dirty="0"/>
              <a:t>   </a:t>
            </a:r>
            <a:r>
              <a:rPr lang="zh-CN" altLang="en-US" sz="1600" dirty="0"/>
              <a:t>外部车辆：</a:t>
            </a:r>
            <a:r>
              <a:rPr lang="en-US" altLang="zh-CN" sz="1600" dirty="0"/>
              <a:t>46</a:t>
            </a:r>
            <a:r>
              <a:rPr lang="zh-CN" altLang="en-US" sz="1600" dirty="0"/>
              <a:t>辆</a:t>
            </a:r>
            <a:endParaRPr lang="zh-CN" altLang="en-US" sz="1600" dirty="0"/>
          </a:p>
          <a:p>
            <a:pPr>
              <a:buNone/>
            </a:pPr>
            <a:r>
              <a:rPr lang="zh-CN" altLang="en-US" sz="1600" dirty="0"/>
              <a:t>可停靠车辆：</a:t>
            </a:r>
            <a:r>
              <a:rPr lang="en-US" altLang="zh-CN" sz="1600" dirty="0"/>
              <a:t>9</a:t>
            </a:r>
            <a:r>
              <a:rPr lang="zh-CN" altLang="en-US" sz="1600" dirty="0"/>
              <a:t>米</a:t>
            </a:r>
            <a:r>
              <a:rPr lang="en-US" altLang="zh-CN" sz="1600" dirty="0"/>
              <a:t>6   4</a:t>
            </a:r>
            <a:r>
              <a:rPr lang="zh-CN" altLang="en-US" sz="1600" dirty="0"/>
              <a:t>辆</a:t>
            </a:r>
            <a:endParaRPr lang="en-US" altLang="zh-CN" sz="1600" dirty="0"/>
          </a:p>
        </p:txBody>
      </p:sp>
      <p:sp>
        <p:nvSpPr>
          <p:cNvPr id="2" name="文本框 1"/>
          <p:cNvSpPr txBox="1"/>
          <p:nvPr/>
        </p:nvSpPr>
        <p:spPr>
          <a:xfrm>
            <a:off x="6502405" y="1003243"/>
            <a:ext cx="50799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其他说明：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fontAlgn="auto">
              <a:lnSpc>
                <a:spcPct val="120000"/>
              </a:lnSpc>
              <a:spcAft>
                <a:spcPts val="0"/>
              </a:spcAft>
              <a:buClrTx/>
              <a:buSzTx/>
              <a:defRPr/>
            </a:pPr>
            <a:r>
              <a:rPr lang="en-US" altLang="zh-CN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东西两门考虑设为物流通道，以保障物流车进出有序。</a:t>
            </a:r>
            <a:endParaRPr lang="en-US" altLang="zh-CN" sz="1600" dirty="0">
              <a:solidFill>
                <a:srgbClr val="606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通勤及来访通道：北一门</a:t>
            </a:r>
            <a:r>
              <a:rPr lang="en-US" altLang="zh-CN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北二门</a:t>
            </a:r>
            <a:r>
              <a:rPr lang="en-US" altLang="zh-CN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南一门</a:t>
            </a:r>
            <a:endParaRPr lang="zh-CN" altLang="en-US" sz="1600" dirty="0">
              <a:solidFill>
                <a:srgbClr val="606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fontAlgn="auto">
              <a:lnSpc>
                <a:spcPct val="12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北侧两门作为员工和访客出入通道，北二门承担部分内部车辆进出功能（限为小型箱货）。</a:t>
            </a:r>
            <a:endParaRPr lang="zh-CN" altLang="en-US" sz="1600" dirty="0">
              <a:solidFill>
                <a:srgbClr val="606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fontAlgn="auto">
              <a:lnSpc>
                <a:spcPct val="12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南一门作为员工和施工单位出入，同时兼顾电动力部分访客接待。</a:t>
            </a:r>
            <a:endParaRPr lang="en-US" altLang="zh-CN" sz="1600" dirty="0">
              <a:solidFill>
                <a:srgbClr val="606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fontAlgn="auto">
              <a:lnSpc>
                <a:spcPct val="12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en-US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南二门暂作阳光储能员工通勤入口。</a:t>
            </a:r>
            <a:endParaRPr lang="en-US" altLang="zh-CN" sz="1600" dirty="0">
              <a:solidFill>
                <a:srgbClr val="606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fontAlgn="auto">
              <a:lnSpc>
                <a:spcPct val="120000"/>
              </a:lnSpc>
              <a:spcAft>
                <a:spcPts val="0"/>
              </a:spcAft>
              <a:buClrTx/>
              <a:buSzTx/>
              <a:defRPr/>
            </a:pPr>
            <a:r>
              <a:rPr lang="en-US" altLang="zh-CN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600" dirty="0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南三门暂做阳光储能物流出口。</a:t>
            </a:r>
            <a:endParaRPr lang="en-US" altLang="zh-CN" sz="1600" dirty="0">
              <a:solidFill>
                <a:srgbClr val="606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月台最大停留时间：</a:t>
            </a:r>
            <a:endParaRPr lang="zh-CN" altLang="en-US" sz="1600" b="1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    外协、内部车辆：</a:t>
            </a:r>
            <a:r>
              <a:rPr lang="en-US" altLang="zh-CN" sz="1600" dirty="0" err="1"/>
              <a:t>1H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    外部车辆：</a:t>
            </a:r>
            <a:r>
              <a:rPr lang="en-US" altLang="zh-CN" sz="1600" dirty="0" err="1"/>
              <a:t>2H</a:t>
            </a:r>
            <a:r>
              <a:rPr lang="zh-CN" altLang="en-US" sz="1600" dirty="0"/>
              <a:t>（</a:t>
            </a:r>
            <a:r>
              <a:rPr lang="en-US" altLang="zh-CN" sz="1600" dirty="0" err="1"/>
              <a:t>M4</a:t>
            </a:r>
            <a:r>
              <a:rPr lang="zh-CN" altLang="en-US" sz="1600" dirty="0"/>
              <a:t>东侧、</a:t>
            </a:r>
            <a:r>
              <a:rPr lang="en-US" altLang="zh-CN" sz="1600" dirty="0" err="1"/>
              <a:t>M12</a:t>
            </a:r>
            <a:r>
              <a:rPr lang="zh-CN" altLang="en-US" sz="1600" dirty="0"/>
              <a:t>堆场</a:t>
            </a:r>
            <a:endParaRPr lang="zh-CN" altLang="en-US" sz="1600" dirty="0"/>
          </a:p>
          <a:p>
            <a:pPr marR="0" lvl="0" fontAlgn="auto">
              <a:lnSpc>
                <a:spcPct val="120000"/>
              </a:lnSpc>
              <a:spcAft>
                <a:spcPts val="0"/>
              </a:spcAft>
              <a:buClrTx/>
              <a:buSzTx/>
              <a:defRPr/>
            </a:pPr>
            <a:endParaRPr lang="en-US" altLang="zh-CN" sz="1600" dirty="0">
              <a:solidFill>
                <a:srgbClr val="606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95" y="75565"/>
            <a:ext cx="11647170" cy="61614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50" y="151765"/>
            <a:ext cx="11688445" cy="6206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E5DA641C-B17E-4136-B66A-BE4927EA7F1E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81610"/>
            <a:ext cx="11871960" cy="57829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23"/>
          <p:cNvSpPr txBox="1"/>
          <p:nvPr/>
        </p:nvSpPr>
        <p:spPr>
          <a:xfrm>
            <a:off x="492125" y="2717130"/>
            <a:ext cx="6006465" cy="96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i="0" kern="1200">
                <a:solidFill>
                  <a:schemeClr val="bg1"/>
                </a:solidFill>
                <a:latin typeface="+mj-ea"/>
                <a:ea typeface="+mj-ea"/>
                <a:cs typeface="微软雅黑 Semibold" panose="020B07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dirty="0"/>
              <a:t>谢谢</a:t>
            </a:r>
            <a:endParaRPr lang="zh-CN" altLang="en-US" sz="4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6.35543307086618,&quot;left&quot;:473.19393700787407,&quot;top&quot;:253.74763779527558,&quot;width&quot;:414.4642519685038}"/>
</p:tagLst>
</file>

<file path=ppt/tags/tag2.xml><?xml version="1.0" encoding="utf-8"?>
<p:tagLst xmlns:p="http://schemas.openxmlformats.org/presentationml/2006/main">
  <p:tag name="KSO_WM_DIAGRAM_VIRTUALLY_FRAME" val="{&quot;height&quot;:156.35543307086618,&quot;left&quot;:473.19393700787407,&quot;top&quot;:253.74763779527558,&quot;width&quot;:414.4642519685038}"/>
</p:tagLst>
</file>

<file path=ppt/tags/tag3.xml><?xml version="1.0" encoding="utf-8"?>
<p:tagLst xmlns:p="http://schemas.openxmlformats.org/presentationml/2006/main">
  <p:tag name="KSO_WM_DIAGRAM_VIRTUALLY_FRAME" val="{&quot;height&quot;:156.35543307086618,&quot;left&quot;:473.19393700787407,&quot;top&quot;:253.74763779527558,&quot;width&quot;:414.4642519685038}"/>
</p:tagLst>
</file>

<file path=ppt/tags/tag4.xml><?xml version="1.0" encoding="utf-8"?>
<p:tagLst xmlns:p="http://schemas.openxmlformats.org/presentationml/2006/main">
  <p:tag name="KSO_WM_DIAGRAM_VIRTUALLY_FRAME" val="{&quot;height&quot;:156.35543307086618,&quot;left&quot;:473.19393700787407,&quot;top&quot;:253.74763779527558,&quot;width&quot;:414.4642519685038}"/>
</p:tagLst>
</file>

<file path=ppt/tags/tag5.xml><?xml version="1.0" encoding="utf-8"?>
<p:tagLst xmlns:p="http://schemas.openxmlformats.org/presentationml/2006/main">
  <p:tag name="KSO_WM_DIAGRAM_VIRTUALLY_FRAME" val="{&quot;height&quot;:156.35543307086618,&quot;left&quot;:473.19393700787407,&quot;top&quot;:253.74763779527558,&quot;width&quot;:414.4642519685038}"/>
</p:tagLst>
</file>

<file path=ppt/tags/tag6.xml><?xml version="1.0" encoding="utf-8"?>
<p:tagLst xmlns:p="http://schemas.openxmlformats.org/presentationml/2006/main">
  <p:tag name="KSO_WM_DIAGRAM_VIRTUALLY_FRAME" val="{&quot;height&quot;:156.35543307086618,&quot;left&quot;:473.19393700787407,&quot;top&quot;:253.74763779527558,&quot;width&quot;:414.4642519685038}"/>
</p:tagLst>
</file>

<file path=ppt/tags/tag7.xml><?xml version="1.0" encoding="utf-8"?>
<p:tagLst xmlns:p="http://schemas.openxmlformats.org/presentationml/2006/main">
  <p:tag name="KSO_WM_DIAGRAM_VIRTUALLY_FRAME" val="{&quot;height&quot;:156.35543307086618,&quot;left&quot;:473.19393700787407,&quot;top&quot;:253.74763779527558,&quot;width&quot;:414.4642519685038}"/>
</p:tagLst>
</file>

<file path=ppt/tags/tag8.xml><?xml version="1.0" encoding="utf-8"?>
<p:tagLst xmlns:p="http://schemas.openxmlformats.org/presentationml/2006/main">
  <p:tag name="KSO_WPP_MARK_KEY" val="dcaef426-b41f-4d48-9f98-e693685ba844"/>
  <p:tag name="COMMONDATA" val="eyJoZGlkIjoiZGZiZjJjMGVhZGJiZDczMWU1ODg2NzIxMWU3NGJhYjQifQ=="/>
</p:tagLst>
</file>

<file path=ppt/theme/theme1.xml><?xml version="1.0" encoding="utf-8"?>
<a:theme xmlns:a="http://schemas.openxmlformats.org/drawingml/2006/main" name="阳光电源">
  <a:themeElements>
    <a:clrScheme name="自定义 1">
      <a:dk1>
        <a:srgbClr val="5F605F"/>
      </a:dk1>
      <a:lt1>
        <a:srgbClr val="FFFFFF"/>
      </a:lt1>
      <a:dk2>
        <a:srgbClr val="EBECEB"/>
      </a:dk2>
      <a:lt2>
        <a:srgbClr val="FF7901"/>
      </a:lt2>
      <a:accent1>
        <a:srgbClr val="EBECEB"/>
      </a:accent1>
      <a:accent2>
        <a:srgbClr val="EDB73F"/>
      </a:accent2>
      <a:accent3>
        <a:srgbClr val="54B144"/>
      </a:accent3>
      <a:accent4>
        <a:srgbClr val="54BABE"/>
      </a:accent4>
      <a:accent5>
        <a:srgbClr val="6D92FE"/>
      </a:accent5>
      <a:accent6>
        <a:srgbClr val="2A686F"/>
      </a:accent6>
      <a:hlink>
        <a:srgbClr val="FF7900"/>
      </a:hlink>
      <a:folHlink>
        <a:srgbClr val="5F605F"/>
      </a:folHlink>
    </a:clrScheme>
    <a:fontScheme name="自定义 6">
      <a:majorFont>
        <a:latin typeface="Helvetica"/>
        <a:ea typeface="微软雅黑"/>
        <a:cs typeface=""/>
      </a:majorFont>
      <a:minorFont>
        <a:latin typeface="Helvetic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1692</Words>
  <Application>WPS 演示</Application>
  <PresentationFormat>宽屏</PresentationFormat>
  <Paragraphs>100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Helvetica</vt:lpstr>
      <vt:lpstr>Microsoft YaHei Regular</vt:lpstr>
      <vt:lpstr>微软雅黑 Light</vt:lpstr>
      <vt:lpstr>微软雅黑 Semibold</vt:lpstr>
      <vt:lpstr>黑体</vt:lpstr>
      <vt:lpstr>KSOF7FC4CF2A</vt:lpstr>
      <vt:lpstr>Segoe Print</vt:lpstr>
      <vt:lpstr>Arial Unicode MS</vt:lpstr>
      <vt:lpstr>等线</vt:lpstr>
      <vt:lpstr>Helvetica</vt:lpstr>
      <vt:lpstr>Microsoft YaHei Regular</vt:lpstr>
      <vt:lpstr>Wingdings</vt:lpstr>
      <vt:lpstr>微软雅黑 Semibold</vt:lpstr>
      <vt:lpstr>Helvetica LT Pro</vt:lpstr>
      <vt:lpstr>Oxford Regular</vt:lpstr>
      <vt:lpstr>Kata SemiBold</vt:lpstr>
      <vt:lpstr>阳光电源</vt:lpstr>
      <vt:lpstr>产业园物流规划</vt:lpstr>
      <vt:lpstr>物流规划-物流线路</vt:lpstr>
      <vt:lpstr>物流规划-物流线路</vt:lpstr>
      <vt:lpstr>规划条件-道路条件</vt:lpstr>
      <vt:lpstr>物流规划-情况说明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M4车间规划</dc:title>
  <dc:creator>wang yunqi</dc:creator>
  <cp:lastModifiedBy>qzuser</cp:lastModifiedBy>
  <cp:revision>69</cp:revision>
  <dcterms:created xsi:type="dcterms:W3CDTF">2024-03-30T13:34:00Z</dcterms:created>
  <dcterms:modified xsi:type="dcterms:W3CDTF">2026-06-12T07:36:46Z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072F35B643F44FBB9F02AD24E6A04324</vt:lpwstr>
  </property>
</Properties>
</file>