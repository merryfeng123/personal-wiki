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加权总分</c:v>
                </c:pt>
              </c:strCache>
            </c:strRef>
          </c:tx>
          <c:spPr>
            <a:solidFill>
              <a:srgbClr val="178A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2C2C2A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78A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A59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249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929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唯智 vTradEx</c:v>
                  </c:pt>
                  <c:pt idx="1">
                    <c:v>巨沃 GWALL</c:v>
                  </c:pt>
                  <c:pt idx="2">
                    <c:v>SAP TM+EWM</c:v>
                  </c:pt>
                  <c:pt idx="3">
                    <c:v>科箭 Comtop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4.35</c:v>
                </c:pt>
                <c:pt idx="1">
                  <c:v>4.25</c:v>
                </c:pt>
                <c:pt idx="2">
                  <c:v>3.6</c:v>
                </c:pt>
                <c:pt idx="3">
                  <c:v>3.5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300" u="none">
                  <a:solidFill>
                    <a:srgbClr val="2C2C2A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C2C2A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299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1097280"/>
            <a:ext cx="2103120" cy="2103120"/>
          </a:xfrm>
          <a:prstGeom prst="roundRect">
            <a:avLst>
              <a:gd name="adj" fmla="val 7826"/>
            </a:avLst>
          </a:prstGeom>
          <a:solidFill>
            <a:srgbClr val="12496E"/>
          </a:solidFill>
          <a:ln w="12700">
            <a:solidFill>
              <a:srgbClr val="178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1645920"/>
            <a:ext cx="2103120" cy="2103120"/>
          </a:xfrm>
          <a:prstGeom prst="roundRect">
            <a:avLst>
              <a:gd name="adj" fmla="val 7826"/>
            </a:avLst>
          </a:prstGeom>
          <a:solidFill>
            <a:srgbClr val="12496E"/>
          </a:solidFill>
          <a:ln w="12700">
            <a:solidFill>
              <a:srgbClr val="3AA5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2194560"/>
            <a:ext cx="2103120" cy="2103120"/>
          </a:xfrm>
          <a:prstGeom prst="roundRect">
            <a:avLst>
              <a:gd name="adj" fmla="val 7826"/>
            </a:avLst>
          </a:prstGeom>
          <a:solidFill>
            <a:srgbClr val="178A7A"/>
          </a:solidFill>
          <a:ln w="12700">
            <a:solidFill>
              <a:srgbClr val="3AA59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A5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阳光电源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园区智慧物流方案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货车调度与转运效率提升 · 位置与时效可视管理 · 接入 IOC 平台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智能预约  +  YMS 在园调度  +  厂内定位   一体化方案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汇报材料 · 供内部评审与选型参考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项目概览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三个工业园区，货车进出频繁，亟需统一调度与可视管控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78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个工业园区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统一平台、数据打通、多园协同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69164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965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350–480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2628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亩 / 单园区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3291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23–32 万平方米作业空间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965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88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≈200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32104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车次 / 天 · 单园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3291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高峰集中，拥堵与等待突出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343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核心目标：提升园区内货车调度与转运效率 · 货车位置实时可视 · 各环节转运时间量化管理 · 数据统一接入 IOC 平台并与业务系统联动。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阳光电源 · 园区智慧物流方案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需求分析：不是"纯 TMS"，而是"厂内物流"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核心诉求属于园区内 In-plant Logistics 范畴，据此确定方案重心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8A929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 TMS 覆盖的范围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出厂之后的在途运输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承运商协同与运费结算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路线优化、在途轨迹可视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对"园区内"场景覆盖弱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E7F3F0"/>
          </a:solidFill>
          <a:ln w="19050">
            <a:solidFill>
              <a:srgbClr val="3AA59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965960"/>
            <a:ext cx="502920" cy="502920"/>
          </a:xfrm>
          <a:prstGeom prst="ellipse">
            <a:avLst/>
          </a:prstGeom>
          <a:solidFill>
            <a:srgbClr val="178A7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厂内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7804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8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本项目真正需要的能力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269748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智能预约 —— 削峰填谷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排队叫号与月台调度（YMS）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厂内定位与货车位置可视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转运时效量化 + 接入 IOC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solidFill>
            <a:srgbClr val="F7EE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方案定位：以「智能预约 + YMS + 厂内定位感知」为核心，TMS 作为外部运输环节的补充。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阳光电源 · 园区智慧物流方案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总体方案架构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 — 网络 — 平台 — 集成 — IOC 五层，数据自下而上逐层汇聚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63040" y="1417320"/>
            <a:ext cx="9235440" cy="658368"/>
          </a:xfrm>
          <a:prstGeom prst="roundRect">
            <a:avLst>
              <a:gd name="adj" fmla="val 11111"/>
            </a:avLst>
          </a:prstGeom>
          <a:solidFill>
            <a:srgbClr val="178A7A"/>
          </a:solidFill>
          <a:ln/>
        </p:spPr>
      </p:sp>
      <p:sp>
        <p:nvSpPr>
          <p:cNvPr id="5" name="Text 3"/>
          <p:cNvSpPr/>
          <p:nvPr/>
        </p:nvSpPr>
        <p:spPr>
          <a:xfrm>
            <a:off x="1691640" y="14173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IOC 决策层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0" y="141732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统一大屏 · 一张图指挥 · 跨园数据决策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2080260"/>
            <a:ext cx="256032" cy="128016"/>
          </a:xfrm>
          <a:prstGeom prst="triangle">
            <a:avLst/>
          </a:prstGeom>
          <a:solidFill>
            <a:srgbClr val="8A9299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2221992"/>
            <a:ext cx="9235440" cy="658368"/>
          </a:xfrm>
          <a:prstGeom prst="roundRect">
            <a:avLst>
              <a:gd name="adj" fmla="val 11111"/>
            </a:avLst>
          </a:prstGeom>
          <a:solidFill>
            <a:srgbClr val="0B3B5C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2219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集成层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222199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 / Kafka / MQTT 接口 · 对接 SAP · WMS · MES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2884932"/>
            <a:ext cx="256032" cy="128016"/>
          </a:xfrm>
          <a:prstGeom prst="triangle">
            <a:avLst/>
          </a:prstGeom>
          <a:solidFill>
            <a:srgbClr val="8A9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463040" y="3026664"/>
            <a:ext cx="9235440" cy="658368"/>
          </a:xfrm>
          <a:prstGeom prst="roundRect">
            <a:avLst>
              <a:gd name="adj" fmla="val 11111"/>
            </a:avLst>
          </a:prstGeom>
          <a:solidFill>
            <a:srgbClr val="12496E"/>
          </a:solidFill>
          <a:ln/>
        </p:spPr>
      </p:sp>
      <p:sp>
        <p:nvSpPr>
          <p:cNvPr id="13" name="Text 11"/>
          <p:cNvSpPr/>
          <p:nvPr/>
        </p:nvSpPr>
        <p:spPr>
          <a:xfrm>
            <a:off x="1691640" y="302666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0" y="3026664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智能预约 · 排队叫号 · YMS 在园调度 · 时效引擎 · 可视化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3689604"/>
            <a:ext cx="256032" cy="128016"/>
          </a:xfrm>
          <a:prstGeom prst="triangle">
            <a:avLst/>
          </a:prstGeom>
          <a:solidFill>
            <a:srgbClr val="8A9299"/>
          </a:solidFill>
          <a:ln/>
        </p:spPr>
      </p:sp>
      <p:sp>
        <p:nvSpPr>
          <p:cNvPr id="16" name="Shape 14"/>
          <p:cNvSpPr/>
          <p:nvPr/>
        </p:nvSpPr>
        <p:spPr>
          <a:xfrm>
            <a:off x="1463040" y="3831336"/>
            <a:ext cx="9235440" cy="658368"/>
          </a:xfrm>
          <a:prstGeom prst="roundRect">
            <a:avLst>
              <a:gd name="adj" fmla="val 11111"/>
            </a:avLst>
          </a:prstGeom>
          <a:solidFill>
            <a:srgbClr val="0B3B5C"/>
          </a:solidFill>
          <a:ln/>
        </p:spPr>
      </p:sp>
      <p:sp>
        <p:nvSpPr>
          <p:cNvPr id="17" name="Text 15"/>
          <p:cNvSpPr/>
          <p:nvPr/>
        </p:nvSpPr>
        <p:spPr>
          <a:xfrm>
            <a:off x="1691640" y="383133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网络层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0" y="3831336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5G · 工业 WiFi · 物联网专网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4494276"/>
            <a:ext cx="256032" cy="128016"/>
          </a:xfrm>
          <a:prstGeom prst="triangle">
            <a:avLst/>
          </a:prstGeom>
          <a:solidFill>
            <a:srgbClr val="8A9299"/>
          </a:solidFill>
          <a:ln/>
        </p:spPr>
      </p:sp>
      <p:sp>
        <p:nvSpPr>
          <p:cNvPr id="20" name="Shape 18"/>
          <p:cNvSpPr/>
          <p:nvPr/>
        </p:nvSpPr>
        <p:spPr>
          <a:xfrm>
            <a:off x="1463040" y="4636008"/>
            <a:ext cx="9235440" cy="658368"/>
          </a:xfrm>
          <a:prstGeom prst="roundRect">
            <a:avLst>
              <a:gd name="adj" fmla="val 11111"/>
            </a:avLst>
          </a:prstGeom>
          <a:solidFill>
            <a:srgbClr val="C8801F"/>
          </a:solidFill>
          <a:ln/>
        </p:spPr>
      </p:sp>
      <p:sp>
        <p:nvSpPr>
          <p:cNvPr id="21" name="Text 19"/>
          <p:cNvSpPr/>
          <p:nvPr/>
        </p:nvSpPr>
        <p:spPr>
          <a:xfrm>
            <a:off x="1691640" y="46360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14800" y="463600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LPR 门禁 · 视频 AI · 电子围栏 · 北斗/UWB · 司机端 · 地磅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0" y="5298948"/>
            <a:ext cx="256032" cy="128016"/>
          </a:xfrm>
          <a:prstGeom prst="triangle">
            <a:avLst/>
          </a:prstGeom>
          <a:solidFill>
            <a:srgbClr val="8A9299"/>
          </a:solidFill>
          <a:ln/>
        </p:spPr>
      </p:sp>
      <p:sp>
        <p:nvSpPr>
          <p:cNvPr id="24" name="Shape 22"/>
          <p:cNvSpPr/>
          <p:nvPr/>
        </p:nvSpPr>
        <p:spPr>
          <a:xfrm>
            <a:off x="1463040" y="5440680"/>
            <a:ext cx="9235440" cy="658368"/>
          </a:xfrm>
          <a:prstGeom prst="roundRect">
            <a:avLst>
              <a:gd name="adj" fmla="val 11111"/>
            </a:avLst>
          </a:prstGeom>
          <a:solidFill>
            <a:srgbClr val="B08A3E"/>
          </a:solidFill>
          <a:ln/>
        </p:spPr>
      </p:sp>
      <p:sp>
        <p:nvSpPr>
          <p:cNvPr id="25" name="Text 23"/>
          <p:cNvSpPr/>
          <p:nvPr/>
        </p:nvSpPr>
        <p:spPr>
          <a:xfrm>
            <a:off x="1691640" y="54406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三大园区现场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114800" y="544068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货车 · 月台 · 蓄车场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6172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▲  数据自下而上逐层上送至 IOC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阳光电源 · 园区智慧物流方案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核心功能总览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五大模块协同，覆盖"预约—准入—定位—时效—可视"全链路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56232"/>
            <a:ext cx="457200" cy="457200"/>
          </a:xfrm>
          <a:prstGeom prst="ellipse">
            <a:avLst/>
          </a:prstGeom>
          <a:solidFill>
            <a:srgbClr val="178A7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智能预约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司机小程序按时间窗预约，系统按月台产能配额，削峰填谷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856232"/>
            <a:ext cx="457200" cy="457200"/>
          </a:xfrm>
          <a:prstGeom prst="ellipse">
            <a:avLst/>
          </a:prstGeom>
          <a:solidFill>
            <a:srgbClr val="0B3B5C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5780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排队叫号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0872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LPR 联动道闸自动准入，蓄车场等候、叫号进厂、月台分配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1856232"/>
            <a:ext cx="457200" cy="457200"/>
          </a:xfrm>
          <a:prstGeom prst="ellipse">
            <a:avLst/>
          </a:prstGeom>
          <a:solidFill>
            <a:srgbClr val="C8801F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5256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厂内定位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85632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LPR + 视频 AI + 电子围栏，货车位置米级可视、超时预警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096512"/>
            <a:ext cx="457200" cy="457200"/>
          </a:xfrm>
          <a:prstGeom prst="ellipse">
            <a:avLst/>
          </a:prstGeom>
          <a:solidFill>
            <a:srgbClr val="12496E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时效引擎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6112" y="47091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全流程时间戳，各环节时长与在园停留自动统计、超时告警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34840" y="384048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4096512"/>
            <a:ext cx="457200" cy="457200"/>
          </a:xfrm>
          <a:prstGeom prst="ellipse">
            <a:avLst/>
          </a:prstGeom>
          <a:solidFill>
            <a:srgbClr val="178A7A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可视化一张图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90872" y="47091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三园统一，实时呈现位置、排队、月台利用率与 KPI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29600" y="384048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E7F3F0"/>
          </a:solidFill>
          <a:ln w="12700">
            <a:solidFill>
              <a:srgbClr val="3AA5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85632" y="4096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8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建设优先级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485632" y="4572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智能预约 = 投入产出比最高，建议第一优先建设；定位按精度分级部署，避免过度投资。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阳光电源 · 园区智慧物流方案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智能预约：削峰是第一优先级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 车次/天总量不高，拥堵来自到场时间集中形成的"波峰"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预约前：高峰拥堵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84048" cy="457200"/>
          </a:xfrm>
          <a:prstGeom prst="roundRect">
            <a:avLst>
              <a:gd name="adj" fmla="val 7143"/>
            </a:avLst>
          </a:prstGeom>
          <a:solidFill>
            <a:srgbClr val="C8801F"/>
          </a:solidFill>
          <a:ln/>
        </p:spPr>
      </p:sp>
      <p:sp>
        <p:nvSpPr>
          <p:cNvPr id="6" name="Shape 4"/>
          <p:cNvSpPr/>
          <p:nvPr/>
        </p:nvSpPr>
        <p:spPr>
          <a:xfrm>
            <a:off x="1426464" y="3383280"/>
            <a:ext cx="384048" cy="731520"/>
          </a:xfrm>
          <a:prstGeom prst="roundRect">
            <a:avLst>
              <a:gd name="adj" fmla="val 7143"/>
            </a:avLst>
          </a:prstGeom>
          <a:solidFill>
            <a:srgbClr val="C8801F"/>
          </a:solidFill>
          <a:ln/>
        </p:spPr>
      </p:sp>
      <p:sp>
        <p:nvSpPr>
          <p:cNvPr id="7" name="Shape 5"/>
          <p:cNvSpPr/>
          <p:nvPr/>
        </p:nvSpPr>
        <p:spPr>
          <a:xfrm>
            <a:off x="1938528" y="2286000"/>
            <a:ext cx="384048" cy="1828800"/>
          </a:xfrm>
          <a:prstGeom prst="roundRect">
            <a:avLst>
              <a:gd name="adj" fmla="val 7143"/>
            </a:avLst>
          </a:prstGeom>
          <a:solidFill>
            <a:srgbClr val="C8801F"/>
          </a:solidFill>
          <a:ln/>
        </p:spPr>
      </p:sp>
      <p:sp>
        <p:nvSpPr>
          <p:cNvPr id="8" name="Shape 6"/>
          <p:cNvSpPr/>
          <p:nvPr/>
        </p:nvSpPr>
        <p:spPr>
          <a:xfrm>
            <a:off x="2450592" y="2377440"/>
            <a:ext cx="384048" cy="1737360"/>
          </a:xfrm>
          <a:prstGeom prst="roundRect">
            <a:avLst>
              <a:gd name="adj" fmla="val 7143"/>
            </a:avLst>
          </a:prstGeom>
          <a:solidFill>
            <a:srgbClr val="C8801F"/>
          </a:solidFill>
          <a:ln/>
        </p:spPr>
      </p:sp>
      <p:sp>
        <p:nvSpPr>
          <p:cNvPr id="9" name="Shape 7"/>
          <p:cNvSpPr/>
          <p:nvPr/>
        </p:nvSpPr>
        <p:spPr>
          <a:xfrm>
            <a:off x="2962656" y="3566160"/>
            <a:ext cx="384048" cy="548640"/>
          </a:xfrm>
          <a:prstGeom prst="roundRect">
            <a:avLst>
              <a:gd name="adj" fmla="val 7143"/>
            </a:avLst>
          </a:prstGeom>
          <a:solidFill>
            <a:srgbClr val="C8801F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3657600"/>
            <a:ext cx="384048" cy="457200"/>
          </a:xfrm>
          <a:prstGeom prst="roundRect">
            <a:avLst>
              <a:gd name="adj" fmla="val 7143"/>
            </a:avLst>
          </a:prstGeom>
          <a:solidFill>
            <a:srgbClr val="C8801F"/>
          </a:solidFill>
          <a:ln/>
        </p:spPr>
      </p:sp>
      <p:sp>
        <p:nvSpPr>
          <p:cNvPr id="11" name="Shape 9"/>
          <p:cNvSpPr/>
          <p:nvPr/>
        </p:nvSpPr>
        <p:spPr>
          <a:xfrm>
            <a:off x="3986784" y="2468880"/>
            <a:ext cx="384048" cy="1645920"/>
          </a:xfrm>
          <a:prstGeom prst="roundRect">
            <a:avLst>
              <a:gd name="adj" fmla="val 7143"/>
            </a:avLst>
          </a:prstGeom>
          <a:solidFill>
            <a:srgbClr val="C8801F"/>
          </a:solidFill>
          <a:ln/>
        </p:spPr>
      </p:sp>
      <p:sp>
        <p:nvSpPr>
          <p:cNvPr id="12" name="Shape 10"/>
          <p:cNvSpPr/>
          <p:nvPr/>
        </p:nvSpPr>
        <p:spPr>
          <a:xfrm>
            <a:off x="4498848" y="3474720"/>
            <a:ext cx="384048" cy="640080"/>
          </a:xfrm>
          <a:prstGeom prst="roundRect">
            <a:avLst>
              <a:gd name="adj" fmla="val 7143"/>
            </a:avLst>
          </a:prstGeom>
          <a:solidFill>
            <a:srgbClr val="C8801F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114800"/>
            <a:ext cx="4096512" cy="0"/>
          </a:xfrm>
          <a:prstGeom prst="line">
            <a:avLst/>
          </a:prstGeom>
          <a:noFill/>
          <a:ln w="12700">
            <a:solidFill>
              <a:srgbClr val="8A92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预约后：削峰填谷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3200400"/>
            <a:ext cx="384048" cy="914400"/>
          </a:xfrm>
          <a:prstGeom prst="roundRect">
            <a:avLst>
              <a:gd name="adj" fmla="val 7143"/>
            </a:avLst>
          </a:prstGeom>
          <a:solidFill>
            <a:srgbClr val="178A7A"/>
          </a:solidFill>
          <a:ln/>
        </p:spPr>
      </p:sp>
      <p:sp>
        <p:nvSpPr>
          <p:cNvPr id="16" name="Shape 14"/>
          <p:cNvSpPr/>
          <p:nvPr/>
        </p:nvSpPr>
        <p:spPr>
          <a:xfrm>
            <a:off x="7004304" y="3108960"/>
            <a:ext cx="384048" cy="1005840"/>
          </a:xfrm>
          <a:prstGeom prst="roundRect">
            <a:avLst>
              <a:gd name="adj" fmla="val 7143"/>
            </a:avLst>
          </a:prstGeom>
          <a:solidFill>
            <a:srgbClr val="178A7A"/>
          </a:solidFill>
          <a:ln/>
        </p:spPr>
      </p:sp>
      <p:sp>
        <p:nvSpPr>
          <p:cNvPr id="17" name="Shape 15"/>
          <p:cNvSpPr/>
          <p:nvPr/>
        </p:nvSpPr>
        <p:spPr>
          <a:xfrm>
            <a:off x="7516368" y="3017520"/>
            <a:ext cx="384048" cy="1097280"/>
          </a:xfrm>
          <a:prstGeom prst="roundRect">
            <a:avLst>
              <a:gd name="adj" fmla="val 7143"/>
            </a:avLst>
          </a:prstGeom>
          <a:solidFill>
            <a:srgbClr val="178A7A"/>
          </a:solidFill>
          <a:ln/>
        </p:spPr>
      </p:sp>
      <p:sp>
        <p:nvSpPr>
          <p:cNvPr id="18" name="Shape 16"/>
          <p:cNvSpPr/>
          <p:nvPr/>
        </p:nvSpPr>
        <p:spPr>
          <a:xfrm>
            <a:off x="8028432" y="3108960"/>
            <a:ext cx="384048" cy="1005840"/>
          </a:xfrm>
          <a:prstGeom prst="roundRect">
            <a:avLst>
              <a:gd name="adj" fmla="val 7143"/>
            </a:avLst>
          </a:prstGeom>
          <a:solidFill>
            <a:srgbClr val="178A7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40496" y="3200400"/>
            <a:ext cx="384048" cy="914400"/>
          </a:xfrm>
          <a:prstGeom prst="roundRect">
            <a:avLst>
              <a:gd name="adj" fmla="val 7143"/>
            </a:avLst>
          </a:prstGeom>
          <a:solidFill>
            <a:srgbClr val="178A7A"/>
          </a:solidFill>
          <a:ln/>
        </p:spPr>
      </p:sp>
      <p:sp>
        <p:nvSpPr>
          <p:cNvPr id="20" name="Shape 18"/>
          <p:cNvSpPr/>
          <p:nvPr/>
        </p:nvSpPr>
        <p:spPr>
          <a:xfrm>
            <a:off x="9052560" y="3108960"/>
            <a:ext cx="384048" cy="1005840"/>
          </a:xfrm>
          <a:prstGeom prst="roundRect">
            <a:avLst>
              <a:gd name="adj" fmla="val 7143"/>
            </a:avLst>
          </a:prstGeom>
          <a:solidFill>
            <a:srgbClr val="178A7A"/>
          </a:solidFill>
          <a:ln/>
        </p:spPr>
      </p:sp>
      <p:sp>
        <p:nvSpPr>
          <p:cNvPr id="21" name="Shape 19"/>
          <p:cNvSpPr/>
          <p:nvPr/>
        </p:nvSpPr>
        <p:spPr>
          <a:xfrm>
            <a:off x="9564624" y="3017520"/>
            <a:ext cx="384048" cy="1097280"/>
          </a:xfrm>
          <a:prstGeom prst="roundRect">
            <a:avLst>
              <a:gd name="adj" fmla="val 7143"/>
            </a:avLst>
          </a:prstGeom>
          <a:solidFill>
            <a:srgbClr val="178A7A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76688" y="3200400"/>
            <a:ext cx="384048" cy="914400"/>
          </a:xfrm>
          <a:prstGeom prst="roundRect">
            <a:avLst>
              <a:gd name="adj" fmla="val 7143"/>
            </a:avLst>
          </a:prstGeom>
          <a:solidFill>
            <a:srgbClr val="178A7A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0" y="4114800"/>
            <a:ext cx="4096512" cy="0"/>
          </a:xfrm>
          <a:prstGeom prst="line">
            <a:avLst/>
          </a:prstGeom>
          <a:noFill/>
          <a:ln w="12700">
            <a:solidFill>
              <a:srgbClr val="8A92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3108960"/>
            <a:ext cx="822960" cy="457200"/>
          </a:xfrm>
          <a:prstGeom prst="rightArrow">
            <a:avLst/>
          </a:prstGeom>
          <a:solidFill>
            <a:srgbClr val="0B3B5C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7091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司机小程序按时间窗自主预约，系统按月台产能自动分配配额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支持绿色通道、紧急插单、晚点过号等特殊场景策略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让入园"可预期、可管控"，从源头减少排队与在园停留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阳光电源 · 园区智慧物流方案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无人化准入与排队叫号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LPR 联动道闸地磅，自动准入、蓄车等候、叫号进厂、月台分配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1572768" cy="1280160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" y="2240280"/>
            <a:ext cx="438912" cy="438912"/>
          </a:xfrm>
          <a:prstGeom prst="ellipse">
            <a:avLst/>
          </a:prstGeom>
          <a:solidFill>
            <a:srgbClr val="0B3B5C"/>
          </a:solidFill>
          <a:ln/>
        </p:spPr>
      </p:sp>
      <p:sp>
        <p:nvSpPr>
          <p:cNvPr id="6" name="Text 4"/>
          <p:cNvSpPr/>
          <p:nvPr/>
        </p:nvSpPr>
        <p:spPr>
          <a:xfrm>
            <a:off x="1161288" y="2240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到场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185416" y="2606040"/>
            <a:ext cx="274320" cy="274320"/>
          </a:xfrm>
          <a:prstGeom prst="rightArrow">
            <a:avLst/>
          </a:prstGeom>
          <a:solidFill>
            <a:srgbClr val="8A9299"/>
          </a:solidFill>
          <a:ln/>
        </p:spPr>
      </p:sp>
      <p:sp>
        <p:nvSpPr>
          <p:cNvPr id="9" name="Shape 7"/>
          <p:cNvSpPr/>
          <p:nvPr/>
        </p:nvSpPr>
        <p:spPr>
          <a:xfrm>
            <a:off x="2496312" y="2103120"/>
            <a:ext cx="1572768" cy="1280160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2240280"/>
            <a:ext cx="438912" cy="438912"/>
          </a:xfrm>
          <a:prstGeom prst="ellipse">
            <a:avLst/>
          </a:prstGeom>
          <a:solidFill>
            <a:srgbClr val="0B3B5C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2240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42032" y="274320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LPR 识别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道闸抬杆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87368" y="2606040"/>
            <a:ext cx="274320" cy="274320"/>
          </a:xfrm>
          <a:prstGeom prst="rightArrow">
            <a:avLst/>
          </a:prstGeom>
          <a:solidFill>
            <a:srgbClr val="8A9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4398264" y="2103120"/>
            <a:ext cx="1572768" cy="1280160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65192" y="2240280"/>
            <a:ext cx="438912" cy="438912"/>
          </a:xfrm>
          <a:prstGeom prst="ellipse">
            <a:avLst/>
          </a:prstGeom>
          <a:solidFill>
            <a:srgbClr val="0B3B5C"/>
          </a:solidFill>
          <a:ln/>
        </p:spPr>
      </p:sp>
      <p:sp>
        <p:nvSpPr>
          <p:cNvPr id="16" name="Text 14"/>
          <p:cNvSpPr/>
          <p:nvPr/>
        </p:nvSpPr>
        <p:spPr>
          <a:xfrm>
            <a:off x="4965192" y="2240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43984" y="274320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地磅过磅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89320" y="2606040"/>
            <a:ext cx="274320" cy="274320"/>
          </a:xfrm>
          <a:prstGeom prst="rightArrow">
            <a:avLst/>
          </a:prstGeom>
          <a:solidFill>
            <a:srgbClr val="8A9299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0216" y="2103120"/>
            <a:ext cx="1572768" cy="1280160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67144" y="2240280"/>
            <a:ext cx="438912" cy="438912"/>
          </a:xfrm>
          <a:prstGeom prst="ellipse">
            <a:avLst/>
          </a:prstGeom>
          <a:solidFill>
            <a:srgbClr val="0B3B5C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144" y="2240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45936" y="274320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蓄车场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等候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91272" y="2606040"/>
            <a:ext cx="274320" cy="274320"/>
          </a:xfrm>
          <a:prstGeom prst="rightArrow">
            <a:avLst/>
          </a:prstGeom>
          <a:solidFill>
            <a:srgbClr val="8A9299"/>
          </a:solidFill>
          <a:ln/>
        </p:spPr>
      </p:sp>
      <p:sp>
        <p:nvSpPr>
          <p:cNvPr id="24" name="Shape 22"/>
          <p:cNvSpPr/>
          <p:nvPr/>
        </p:nvSpPr>
        <p:spPr>
          <a:xfrm>
            <a:off x="8202168" y="2103120"/>
            <a:ext cx="1572768" cy="1280160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69096" y="2240280"/>
            <a:ext cx="438912" cy="438912"/>
          </a:xfrm>
          <a:prstGeom prst="ellipse">
            <a:avLst/>
          </a:prstGeom>
          <a:solidFill>
            <a:srgbClr val="0B3B5C"/>
          </a:solidFill>
          <a:ln/>
        </p:spPr>
      </p:sp>
      <p:sp>
        <p:nvSpPr>
          <p:cNvPr id="26" name="Text 24"/>
          <p:cNvSpPr/>
          <p:nvPr/>
        </p:nvSpPr>
        <p:spPr>
          <a:xfrm>
            <a:off x="8769096" y="2240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47888" y="274320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叫号进厂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793224" y="2606040"/>
            <a:ext cx="274320" cy="274320"/>
          </a:xfrm>
          <a:prstGeom prst="rightArrow">
            <a:avLst/>
          </a:prstGeom>
          <a:solidFill>
            <a:srgbClr val="8A9299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04120" y="2103120"/>
            <a:ext cx="1572768" cy="1280160"/>
          </a:xfrm>
          <a:prstGeom prst="roundRect">
            <a:avLst>
              <a:gd name="adj" fmla="val 7143"/>
            </a:avLst>
          </a:prstGeom>
          <a:solidFill>
            <a:srgbClr val="178A7A"/>
          </a:solidFill>
          <a:ln w="12700">
            <a:solidFill>
              <a:srgbClr val="178A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71048" y="224028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671048" y="2240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8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149840" y="274320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自动分配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1828800" y="41148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EAF1F4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0" y="4251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 99.5%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1828800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车牌识别率（蓝/黄/新能源）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75120" y="41148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7EEDD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0" y="4251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8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200 ms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6675120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单次识别速度，支撑无人值守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阳光电源 · 园区智慧物流方案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厂内定位与货车位置可视（分级部署）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按精度需求分级投资，多数场景无需全域 UWB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2651760" cy="1024128"/>
          </a:xfrm>
          <a:prstGeom prst="roundRect">
            <a:avLst>
              <a:gd name="adj" fmla="val 7143"/>
            </a:avLst>
          </a:prstGeom>
          <a:solidFill>
            <a:srgbClr val="0B3B5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2423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大门与关键卡口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1600200"/>
            <a:ext cx="6035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LPR + 道闸，掌握"进/出/在场"状态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46920" y="1892808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3B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770632"/>
            <a:ext cx="2651760" cy="1024128"/>
          </a:xfrm>
          <a:prstGeom prst="roundRect">
            <a:avLst>
              <a:gd name="adj" fmla="val 7143"/>
            </a:avLst>
          </a:prstGeom>
          <a:solidFill>
            <a:srgbClr val="178A7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70632"/>
            <a:ext cx="2423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主干道与月台区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770632"/>
            <a:ext cx="6035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视频 AI + 电子围栏，米级位置、月台占用、超时预警（复用存量摄像头）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46920" y="3063240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8A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8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推荐主用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941064"/>
            <a:ext cx="2651760" cy="1024128"/>
          </a:xfrm>
          <a:prstGeom prst="roundRect">
            <a:avLst>
              <a:gd name="adj" fmla="val 7143"/>
            </a:avLst>
          </a:prstGeom>
          <a:solidFill>
            <a:srgbClr val="C8801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41064"/>
            <a:ext cx="2423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危化 / 装卸关键区（可选）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3941064"/>
            <a:ext cx="6035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北斗 RTK（室外厘米级）+ UWB（室内亚米级）融合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46920" y="4233672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80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按需高精度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111496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111496"/>
            <a:ext cx="2651760" cy="1024128"/>
          </a:xfrm>
          <a:prstGeom prst="roundRect">
            <a:avLst>
              <a:gd name="adj" fmla="val 7143"/>
            </a:avLst>
          </a:prstGeom>
          <a:solidFill>
            <a:srgbClr val="5F5E5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11496"/>
            <a:ext cx="2423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司机端小程序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5111496"/>
            <a:ext cx="6035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辅助 GPS / 北斗定位，推送任务与叫号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46920" y="5404104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F5E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辅助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阳光电源 · 园区智慧物流方案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转运时效引擎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为每辆车打全流程时间戳，各环节时长自动计算、超时预警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0120" y="2286000"/>
            <a:ext cx="457200" cy="457200"/>
          </a:xfrm>
          <a:prstGeom prst="ellipse">
            <a:avLst/>
          </a:prstGeom>
          <a:solidFill>
            <a:srgbClr val="0B3B5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417320" y="2514600"/>
            <a:ext cx="557784" cy="0"/>
          </a:xfrm>
          <a:prstGeom prst="line">
            <a:avLst/>
          </a:prstGeom>
          <a:noFill/>
          <a:ln w="19050">
            <a:solidFill>
              <a:srgbClr val="8A92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86584" y="2286000"/>
            <a:ext cx="457200" cy="457200"/>
          </a:xfrm>
          <a:prstGeom prst="ellipse">
            <a:avLst/>
          </a:prstGeom>
          <a:solidFill>
            <a:srgbClr val="178A7A"/>
          </a:solidFill>
          <a:ln/>
        </p:spPr>
      </p:sp>
      <p:sp>
        <p:nvSpPr>
          <p:cNvPr id="9" name="Text 7"/>
          <p:cNvSpPr/>
          <p:nvPr/>
        </p:nvSpPr>
        <p:spPr>
          <a:xfrm>
            <a:off x="2386584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75104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到场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843784" y="2514600"/>
            <a:ext cx="557784" cy="0"/>
          </a:xfrm>
          <a:prstGeom prst="line">
            <a:avLst/>
          </a:prstGeom>
          <a:noFill/>
          <a:ln w="19050">
            <a:solidFill>
              <a:srgbClr val="8A92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3048" y="2286000"/>
            <a:ext cx="457200" cy="457200"/>
          </a:xfrm>
          <a:prstGeom prst="ellipse">
            <a:avLst/>
          </a:prstGeom>
          <a:solidFill>
            <a:srgbClr val="0B3B5C"/>
          </a:solidFill>
          <a:ln/>
        </p:spPr>
      </p:sp>
      <p:sp>
        <p:nvSpPr>
          <p:cNvPr id="13" name="Text 11"/>
          <p:cNvSpPr/>
          <p:nvPr/>
        </p:nvSpPr>
        <p:spPr>
          <a:xfrm>
            <a:off x="381304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01568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入园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70248" y="2514600"/>
            <a:ext cx="557784" cy="0"/>
          </a:xfrm>
          <a:prstGeom prst="line">
            <a:avLst/>
          </a:prstGeom>
          <a:noFill/>
          <a:ln w="19050">
            <a:solidFill>
              <a:srgbClr val="8A92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39512" y="2286000"/>
            <a:ext cx="457200" cy="457200"/>
          </a:xfrm>
          <a:prstGeom prst="ellipse">
            <a:avLst/>
          </a:prstGeom>
          <a:solidFill>
            <a:srgbClr val="178A7A"/>
          </a:solidFill>
          <a:ln/>
        </p:spPr>
      </p:sp>
      <p:sp>
        <p:nvSpPr>
          <p:cNvPr id="17" name="Text 15"/>
          <p:cNvSpPr/>
          <p:nvPr/>
        </p:nvSpPr>
        <p:spPr>
          <a:xfrm>
            <a:off x="523951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28032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96712" y="2514600"/>
            <a:ext cx="557784" cy="0"/>
          </a:xfrm>
          <a:prstGeom prst="line">
            <a:avLst/>
          </a:prstGeom>
          <a:noFill/>
          <a:ln w="19050">
            <a:solidFill>
              <a:srgbClr val="8A92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5976" y="2286000"/>
            <a:ext cx="457200" cy="457200"/>
          </a:xfrm>
          <a:prstGeom prst="ellipse">
            <a:avLst/>
          </a:prstGeom>
          <a:solidFill>
            <a:srgbClr val="0B3B5C"/>
          </a:solidFill>
          <a:ln/>
        </p:spPr>
      </p:sp>
      <p:sp>
        <p:nvSpPr>
          <p:cNvPr id="21" name="Text 19"/>
          <p:cNvSpPr/>
          <p:nvPr/>
        </p:nvSpPr>
        <p:spPr>
          <a:xfrm>
            <a:off x="666597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54496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123176" y="2514600"/>
            <a:ext cx="557784" cy="0"/>
          </a:xfrm>
          <a:prstGeom prst="line">
            <a:avLst/>
          </a:prstGeom>
          <a:noFill/>
          <a:ln w="19050">
            <a:solidFill>
              <a:srgbClr val="8A92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2440" y="2286000"/>
            <a:ext cx="457200" cy="457200"/>
          </a:xfrm>
          <a:prstGeom prst="ellipse">
            <a:avLst/>
          </a:prstGeom>
          <a:solidFill>
            <a:srgbClr val="178A7A"/>
          </a:solidFill>
          <a:ln/>
        </p:spPr>
      </p:sp>
      <p:sp>
        <p:nvSpPr>
          <p:cNvPr id="25" name="Text 23"/>
          <p:cNvSpPr/>
          <p:nvPr/>
        </p:nvSpPr>
        <p:spPr>
          <a:xfrm>
            <a:off x="80924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80960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装卸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开始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549640" y="2514600"/>
            <a:ext cx="557784" cy="0"/>
          </a:xfrm>
          <a:prstGeom prst="line">
            <a:avLst/>
          </a:prstGeom>
          <a:noFill/>
          <a:ln w="19050">
            <a:solidFill>
              <a:srgbClr val="8A92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18904" y="2286000"/>
            <a:ext cx="457200" cy="457200"/>
          </a:xfrm>
          <a:prstGeom prst="ellipse">
            <a:avLst/>
          </a:prstGeom>
          <a:solidFill>
            <a:srgbClr val="0B3B5C"/>
          </a:solidFill>
          <a:ln/>
        </p:spPr>
      </p:sp>
      <p:sp>
        <p:nvSpPr>
          <p:cNvPr id="29" name="Text 27"/>
          <p:cNvSpPr/>
          <p:nvPr/>
        </p:nvSpPr>
        <p:spPr>
          <a:xfrm>
            <a:off x="9518904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07424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装卸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976104" y="2514600"/>
            <a:ext cx="557784" cy="0"/>
          </a:xfrm>
          <a:prstGeom prst="line">
            <a:avLst/>
          </a:prstGeom>
          <a:noFill/>
          <a:ln w="19050">
            <a:solidFill>
              <a:srgbClr val="8A92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45368" y="2286000"/>
            <a:ext cx="457200" cy="457200"/>
          </a:xfrm>
          <a:prstGeom prst="ellipse">
            <a:avLst/>
          </a:prstGeom>
          <a:solidFill>
            <a:srgbClr val="178A7A"/>
          </a:solidFill>
          <a:ln/>
        </p:spPr>
      </p:sp>
      <p:sp>
        <p:nvSpPr>
          <p:cNvPr id="33" name="Text 31"/>
          <p:cNvSpPr/>
          <p:nvPr/>
        </p:nvSpPr>
        <p:spPr>
          <a:xfrm>
            <a:off x="1094536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533888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离场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" y="3749040"/>
            <a:ext cx="10881360" cy="548640"/>
          </a:xfrm>
          <a:prstGeom prst="rect">
            <a:avLst/>
          </a:prstGeom>
          <a:solidFill>
            <a:srgbClr val="EAF1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派生指标：各环节时长 · 在园停留 · 月台占用时长 · 超时车次自动预警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" y="45720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这是"转运时间可视管理"与后续持续优化的数据底座——把"时间"变成可分析、可考核、可优化的运营数据。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阳光电源 · 园区智慧物流方案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可视化"一张图"与多园协同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三园统一平台、数据打通，重点 KPI 上大屏支撑决策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21408"/>
            <a:ext cx="411480" cy="411480"/>
          </a:xfrm>
          <a:prstGeom prst="ellipse">
            <a:avLst/>
          </a:prstGeom>
          <a:solidFill>
            <a:srgbClr val="178A7A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7373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平均在园时长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34840" y="173736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90872" y="2121408"/>
            <a:ext cx="411480" cy="411480"/>
          </a:xfrm>
          <a:prstGeom prst="ellipse">
            <a:avLst/>
          </a:prstGeom>
          <a:solidFill>
            <a:srgbClr val="0B3B5C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7373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平均排队时长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173736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85632" y="2121408"/>
            <a:ext cx="411480" cy="411480"/>
          </a:xfrm>
          <a:prstGeom prst="ellipse">
            <a:avLst/>
          </a:prstGeom>
          <a:solidFill>
            <a:srgbClr val="C8801F"/>
          </a:solidFill>
          <a:ln/>
        </p:spPr>
      </p:sp>
      <p:sp>
        <p:nvSpPr>
          <p:cNvPr id="12" name="Text 10"/>
          <p:cNvSpPr/>
          <p:nvPr/>
        </p:nvSpPr>
        <p:spPr>
          <a:xfrm>
            <a:off x="9098280" y="17373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平均装卸时长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538728"/>
            <a:ext cx="411480" cy="411480"/>
          </a:xfrm>
          <a:prstGeom prst="ellipse">
            <a:avLst/>
          </a:prstGeom>
          <a:solidFill>
            <a:srgbClr val="12496E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1546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月台利用率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34840" y="315468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90872" y="3538728"/>
            <a:ext cx="411480" cy="411480"/>
          </a:xfrm>
          <a:prstGeom prst="ellipse">
            <a:avLst/>
          </a:prstGeom>
          <a:solidFill>
            <a:srgbClr val="178A7A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31546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预约准时率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0" y="315468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5632" y="3538728"/>
            <a:ext cx="411480" cy="411480"/>
          </a:xfrm>
          <a:prstGeom prst="ellipse">
            <a:avLst/>
          </a:prstGeom>
          <a:solidFill>
            <a:srgbClr val="C8801F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280" y="31546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超时车次 / 日吞吐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solidFill>
            <a:srgbClr val="F7EE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多园协同：跨园调拨可视，统一口径对比三园运营水平，管理由"事后"走向"实时"。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阳光电源 · 园区智慧物流方案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 IOC 平台及业务系统集成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标准接口上送 IOC，并与 SAP / WMS / MES 打通实现物流—生产协同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37760" y="274320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178A7A"/>
          </a:solidFill>
          <a:ln/>
        </p:spPr>
      </p:sp>
      <p:sp>
        <p:nvSpPr>
          <p:cNvPr id="5" name="Text 3"/>
          <p:cNvSpPr/>
          <p:nvPr/>
        </p:nvSpPr>
        <p:spPr>
          <a:xfrm>
            <a:off x="493776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IOC 平台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93776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F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一张图 · 决策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642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物流平台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车辆位置/状态/时效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2057400"/>
            <a:ext cx="3977640" cy="1280160"/>
          </a:xfrm>
          <a:prstGeom prst="line">
            <a:avLst/>
          </a:prstGeom>
          <a:noFill/>
          <a:ln w="15875">
            <a:solidFill>
              <a:srgbClr val="8A929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9052560" y="15544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0" y="16642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49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SAP ERP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256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 / 到货齐套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241280" y="2057400"/>
            <a:ext cx="-4160520" cy="1280160"/>
          </a:xfrm>
          <a:prstGeom prst="line">
            <a:avLst/>
          </a:prstGeom>
          <a:noFill/>
          <a:ln w="15875">
            <a:solidFill>
              <a:srgbClr val="8A929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914400" y="42976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407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49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WMS 仓储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846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装卸与库存联动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4800600"/>
            <a:ext cx="3977640" cy="-1463040"/>
          </a:xfrm>
          <a:prstGeom prst="line">
            <a:avLst/>
          </a:prstGeom>
          <a:noFill/>
          <a:ln w="15875">
            <a:solidFill>
              <a:srgbClr val="8A929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052560" y="42976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4407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MES 生产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52560" y="4846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线边库 / 补料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241280" y="4800600"/>
            <a:ext cx="-4160520" cy="-1463040"/>
          </a:xfrm>
          <a:prstGeom prst="line">
            <a:avLst/>
          </a:prstGeom>
          <a:noFill/>
          <a:ln w="15875">
            <a:solidFill>
              <a:srgbClr val="8A9299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3566160" y="5623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实时位置/状态走 MQTT / Kafka；KPI / 报表走 RESTful API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阳光电源 · 园区智慧物流方案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系统选型建议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以"预约 + YMS + 感知"为核心，TMS 为外部补充（详见选型对比表）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 w="15875">
            <a:solidFill>
              <a:srgbClr val="178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唯智 vTradEx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931920" y="1847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8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★★★★★  主选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35915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TMS+WMS+OMS+YMS+ROS 一体化，大型制造客户多，一家覆盖大部分诉求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 w="15875">
            <a:solidFill>
              <a:srgbClr val="178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巨沃 GWALL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464040" y="1847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8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★★★★★  主选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235915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园区预约/月台调度/道闸联动专长，原生集成道闸·地磅·大屏，场景最贴合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 w="15875">
            <a:solidFill>
              <a:srgbClr val="0B3B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科箭 Comtop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931920" y="38130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★★★★  在途强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32511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TMS 云全程可视化，制造/汽车经验多；厂内 YMS 需补强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61188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 w="15875">
            <a:solidFill>
              <a:srgbClr val="124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SAP TM + EWM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464040" y="38130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49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★★★☆  集成优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432511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 ERP 原生集成、数据一致性最好；但实施重、成本高、周期长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solidFill>
            <a:srgbClr val="F7EE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外部车队/在途可视可加 G7 易流 或 oTMS；感知硬件（车牌/视频/道闸/定位）由海康、大华及专业定位厂商提供，与平台解耦采购。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阳光电源 · 园区智慧物流方案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加权评分结果（园区物流核心场景）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分制加权总分，仅供选型排序参考，最终以 POC 实测为准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645920"/>
          <a:ext cx="7315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737360"/>
            <a:ext cx="3108960" cy="4023360"/>
          </a:xfrm>
          <a:prstGeom prst="roundRect">
            <a:avLst>
              <a:gd name="adj" fmla="val 2941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8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解读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41080" y="2423160"/>
            <a:ext cx="2697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唯智、巨沃在核心场景领先，建议作为主选进入 POC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科箭在途可视强，厂内需补 YMS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SAP 集成最优，但实施成本与周期偏高，宜作集成优先备选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阳光电源 · 园区智慧物流方案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实施路径与分期建议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单园试点 → 优化 → 复制推广，风险最低、最易取得内部认可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178A7A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8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920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第一阶段 · 试点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8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2–3 个月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34290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 1 个园区做 POC：预约、LPR 门禁、视频 AI 定位、时效引擎，打通 IOC 与 SAP，跑通一套 KPI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78808" y="3200400"/>
            <a:ext cx="237744" cy="365760"/>
          </a:xfrm>
          <a:prstGeom prst="rightArrow">
            <a:avLst/>
          </a:prstGeom>
          <a:solidFill>
            <a:srgbClr val="8A9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18288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8288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B3B5C"/>
          </a:solidFill>
          <a:ln/>
        </p:spPr>
      </p:sp>
      <p:sp>
        <p:nvSpPr>
          <p:cNvPr id="14" name="Shape 12"/>
          <p:cNvSpPr/>
          <p:nvPr/>
        </p:nvSpPr>
        <p:spPr>
          <a:xfrm>
            <a:off x="4690872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69087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1920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第二阶段 · 优化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90872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B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1–2 个月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90872" y="34290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基于试点数据优化预约配额与叫号调度策略，视需要在关键区补充高精度定位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73568" y="3200400"/>
            <a:ext cx="237744" cy="365760"/>
          </a:xfrm>
          <a:prstGeom prst="rightArrow">
            <a:avLst/>
          </a:prstGeom>
          <a:solidFill>
            <a:srgbClr val="8A9299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18288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4F7F9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18288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C8801F"/>
          </a:solidFill>
          <a:ln/>
        </p:spPr>
      </p:sp>
      <p:sp>
        <p:nvSpPr>
          <p:cNvPr id="22" name="Shape 20"/>
          <p:cNvSpPr/>
          <p:nvPr/>
        </p:nvSpPr>
        <p:spPr>
          <a:xfrm>
            <a:off x="8485632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48563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8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98280" y="1920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第三阶段 · 复制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85632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8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2–3 个月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85632" y="34290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5E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成熟方案复制到另外两个园区，构建三园统一平台与多园协同一张图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阳光电源 · 园区智慧物流方案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预期效益与下一步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178A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0876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A5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效率提升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08760" y="2011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预约削峰 + 叫号调度，缩短排队与在园停留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02920" cy="502920"/>
          </a:xfrm>
          <a:prstGeom prst="ellipse">
            <a:avLst/>
          </a:prstGeom>
          <a:solidFill>
            <a:srgbClr val="178A7A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9516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A5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管理透明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95160" y="2011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位置与时效实时可视，异常自动预警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178A7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A5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资源优化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246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月台利用率与调度可量化，减少闲置与冲突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880360"/>
            <a:ext cx="502920" cy="502920"/>
          </a:xfrm>
          <a:prstGeom prst="ellipse">
            <a:avLst/>
          </a:prstGeom>
          <a:solidFill>
            <a:srgbClr val="178A7A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9516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A5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数据驱动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995160" y="3246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统一接入 IOC，沉淀可持续优化的运营数据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4480560"/>
            <a:ext cx="10515600" cy="1554480"/>
          </a:xfrm>
          <a:prstGeom prst="roundRect">
            <a:avLst>
              <a:gd name="adj" fmla="val 5882"/>
            </a:avLst>
          </a:prstGeom>
          <a:solidFill>
            <a:srgbClr val="12496E"/>
          </a:solidFill>
          <a:ln w="12700">
            <a:solidFill>
              <a:srgbClr val="178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A5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下一步建议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5074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确认 IOC 平台生态与 ERP 是否为 SAP 两项前提   ②  选定 1 个园区启动 POC   ③  邀请候选厂商方案演示与试点比对，以实测数据定最终选型与三园推广。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2026-08-06T05:24:55Z</dcterms:created>
  <dcterms:modified xsi:type="dcterms:W3CDTF">2026-08-06T05:24:55Z</dcterms:modified>
</cp:coreProperties>
</file>