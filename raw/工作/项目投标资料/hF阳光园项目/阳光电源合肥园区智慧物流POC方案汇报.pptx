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642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42642"/>
                </a:solidFill>
                <a:latin typeface="Microsoft YaHei"/>
              </a:rPr>
              <a:t>POC 前后关键指标对比（基线 = 100）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试点前基线（指数化）</c:v>
                </c:pt>
              </c:strCache>
            </c:strRef>
          </c:tx>
          <c:spPr>
            <a:solidFill>
              <a:srgbClr val="B9C7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A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平均在园时长</c:v>
                  </c:pt>
                  <c:pt idx="1">
                    <c:v>平均排队时长</c:v>
                  </c:pt>
                  <c:pt idx="2">
                    <c:v>月台利用率</c:v>
                  </c:pt>
                  <c:pt idx="3">
                    <c:v>异常处理效率</c:v>
                  </c:pt>
                  <c:pt idx="4">
                    <c:v>单据人工环节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POC 目标值（指数化）</c:v>
                </c:pt>
              </c:strCache>
            </c:strRef>
          </c:tx>
          <c:spPr>
            <a:solidFill>
              <a:srgbClr val="E223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A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平均在园时长</c:v>
                  </c:pt>
                  <c:pt idx="1">
                    <c:v>平均排队时长</c:v>
                  </c:pt>
                  <c:pt idx="2">
                    <c:v>月台利用率</c:v>
                  </c:pt>
                  <c:pt idx="3">
                    <c:v>异常处理效率</c:v>
                  </c:pt>
                  <c:pt idx="4">
                    <c:v>单据人工环节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60</c:v>
                </c:pt>
                <c:pt idx="2">
                  <c:v>130</c:v>
                </c:pt>
                <c:pt idx="3">
                  <c:v>150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3A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7591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  <c:min val="0"/>
        </c:scaling>
        <c:delete val="0"/>
        <c:axPos val="l"/>
        <c:majorGridlines>
          <c:spPr>
            <a:ln w="12700" cap="flat">
              <a:solidFill>
                <a:srgbClr val="EC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591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F759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开场：本次汇报的目的是把上一阶段《园区智慧物流方案建议书》的结论落到具体产品与可验证的 POC 上。重点讲三件事：多月台多任务怎么管、三个园区怎么统一、POC 怎么验收。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POC 不是演示功能清单，而是用真实车流验证两个最不确定的点：多月台多任务链路、多园区策略隔离。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配合交互动画演示：动画左侧地图会按这 11 个环节移动车辆，右侧同步显示任务流与月台状态。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这一页是客户最关心的。要说清楚：多月台不是"多做几次预约"，而是一条任务流串起来，中间不落地、不重复排队。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客户最担心的是"三园一套系统会不会互相绑死"。答案：数据隔离靠组织层级，业务差异靠策略配置，统一靠主数据与 KPI 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结尾落到三个动作：前提确认、口径确认、基线采集。并邀请客户看交互动画演示。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023360"/>
            <a:ext cx="3108960" cy="3108960"/>
          </a:xfrm>
          <a:prstGeom prst="ellipse">
            <a:avLst/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286000"/>
            <a:ext cx="960120" cy="96012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SUNGROW · HEFEI YARD ｜ SMART LOGISTICS POC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" y="18105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阳光电源合肥园区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6384" y="2487168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智慧物流模块 POC 方案汇报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巨沃 GWALL-YMS 园区物流管理系统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多月台 · 多任务 · 多园区 场景 ｜ 单园试点跑通后复制三园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预约削峰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23744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一车多月台任务流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24528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厂内位置可视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25312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转运时效引擎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26096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三园统一平台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汇报单位：联想（方案集成）  ｜  产品方：深圳市巨沃科技有限公司  ｜  2026 年 8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653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项目回顾与 POC 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788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从方案建议书到可验证的试点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572768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8653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08576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现状痛点与需求定位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2788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厂内物流的真实瓶颈在哪里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1572768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8653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57616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YMS 能力与需求映射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788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 功能点逐项对应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3950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9536" y="45354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场景设计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9536" y="4873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多月台 · 多任务 · 多园区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15968" y="3657600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3950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08576" y="45354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集成与部署方案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8576" y="4873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/ WMS / IOC / 硬件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5008" y="3657600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3950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57616" y="45354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 · 计划 · 风险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57616" y="4873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怎么算跑通，怎么推三园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WE ARE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项目回顾：从方案建议书走到 POC 验证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04288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1E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35915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分部门需求调研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个部门问题清单 + 补遗清单，覆盖决策层、物流、仓储、IT、EHS、承运商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0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1E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35915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方案建议书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21024" y="2926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明确核心诉求属厂内物流范畴，定位「智能预约 + YMS + 定位感知」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25312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9632" y="169164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36992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1E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37376" y="235915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系统选型对比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37376" y="2926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对比国产一体化、SAP 原生、在途可视三条路线，YMS 与本场景贴合度最高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41664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15984" y="169164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53728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53344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4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53728" y="235915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方案与验证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253728" y="2926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以巨沃 GWALL-YMS 承载智慧物流模块，选一个园区跑通全流程并量化验收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4315968"/>
            <a:ext cx="11064240" cy="1481328"/>
          </a:xfrm>
          <a:prstGeom prst="roundRect">
            <a:avLst>
              <a:gd name="adj" fmla="val 3086"/>
            </a:avLst>
          </a:prstGeom>
          <a:solidFill>
            <a:srgbClr val="ECF3FA"/>
          </a:solidFill>
          <a:ln w="12700">
            <a:solidFill>
              <a:srgbClr val="D2E1F0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本次汇报要回答的一句话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8680" y="480974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YMS 能不能承接阳光电源「货车入园后走多个月台、干多段任务」的真实作业，以及三个园区能不能在一个平台里既统一口径又各自按需配置策略 —— POC 就是用真实车流把这两件事验出来。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OBJECTIVES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三个必须验证的目标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493008" cy="3703320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0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81328" y="1956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流程能跑通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542032"/>
            <a:ext cx="2889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→ 签到 → 排队叫号 → 入园 → 过磅 → 多月台作业 → 出门证 → 出园，全链路在系统内闭环，无线下电话与纸质单据。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" y="373075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验收要点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4005072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一车双月台任务不断链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异常（超时、插队、爽约）有处置路径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司机端可独立完成全部操作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1645920"/>
            <a:ext cx="3493008" cy="3703320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1920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0368" y="1956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数据能算清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26864" y="2542032"/>
            <a:ext cx="2889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每辆车每个环节都有时间戳，在园时长、排队时长、装卸时长、转场时长可按车 / 单 / 供应商追溯。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26864" y="373075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验收要点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26864" y="4005072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口径与业务方达成一致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基线数据与试点数据可对比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指标可按统一口径上送 IOC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1645920"/>
            <a:ext cx="3493008" cy="3703320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1920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79408" y="1956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策略能复制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5904" y="2542032"/>
            <a:ext cx="2889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试点园区跑通的流程与策略，可在第二、第三园区以配置方式复用，同时允许园区级差异。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75904" y="373075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验收要点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75904" y="4005072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 › 园区 › 部门 三级数据隔离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 / 签到 / 过磅策略按园区独立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复制阶段以配置为主、开发为辅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现状痛点：单园 200 车次不算多，难的是"挤在一起"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38528"/>
            <a:ext cx="219456" cy="219456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1865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到场时间集中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77824" y="2322576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车辆按自己节奏到场，高峰几小时内挤满，园区外道路与门岗排长队，而低峰月台空转。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627632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1938528"/>
            <a:ext cx="219456" cy="21945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865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月台资源不均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26864" y="2322576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同一时段部分月台排队、部分闲置，缺乏按车型 / 货类 / 产能的统一分配规则。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627632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1938528"/>
            <a:ext cx="219456" cy="219456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3376" y="1865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车在哪不知道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5904" y="2322576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入园后位置靠对讲和人跑，调度看不到全局，找车、催车占用大量沟通成本。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67328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" y="4078224"/>
            <a:ext cx="219456" cy="219456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05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时效没有数据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77824" y="446227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在园多久、卡在哪一段全凭印象，缺少基线，改善效果无法量化，也无法考核承运商。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3767328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4078224"/>
            <a:ext cx="219456" cy="21945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4005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多月台靠人喊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26864" y="446227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一车要卸完再去装、要过两次磅时，全靠现场协调，转场等待长且无记录。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3767328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5904" y="4078224"/>
            <a:ext cx="219456" cy="219456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23376" y="4005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三园各自为政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75904" y="446227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三个园区规则不一、口径不一，集团层面无法横向比较，也无法跨园调拨与复制经验。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结论：瓶颈不在总量，而在时间分布与协同规则 —— 这决定了 POC 必须先做预约削峰与任务流编排，而不是先铺硬件。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需求定位：厂内物流 ≠ 传统 TMS，YMS 才是主角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58384" cy="3200400"/>
          </a:xfrm>
          <a:prstGeom prst="roundRect">
            <a:avLst>
              <a:gd name="adj" fmla="val 1429"/>
            </a:avLst>
          </a:prstGeom>
          <a:solidFill>
            <a:srgbClr val="F0F4F9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847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 TMS 擅长的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2860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出厂之后的在途运输与承运商协同</a:t>
            </a:r>
            <a:endParaRPr lang="en-US" sz="12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干线路线优化与运费结算</a:t>
            </a:r>
            <a:endParaRPr lang="en-US" sz="12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在途轨迹可视与到达预测</a:t>
            </a:r>
            <a:endParaRPr lang="en-US" sz="12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订单发运履约跟踪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" y="39136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对「车停在哪个月台、排队多久、装卸多长」覆盖弱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1627632"/>
            <a:ext cx="5358384" cy="3200400"/>
          </a:xfrm>
          <a:prstGeom prst="roundRect">
            <a:avLst>
              <a:gd name="adj" fmla="val 1429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1847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本项目真正需要的（YMS）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65392" y="22860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预约与时段配额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削峰填谷，按月台产能放行
</a:t>
            </a:r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排队叫号与蓄车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虚拟队列、月台空闲触发叫号
</a:t>
            </a:r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月台与作业点调度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策略化分配、预锁定、多月台流转
</a:t>
            </a:r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厂内位置与动线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电子围栏、园内导航、偏航预警
</a:t>
            </a:r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转运时效引擎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全链时间戳、超时预警、效能分析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5029200"/>
            <a:ext cx="11064240" cy="969264"/>
          </a:xfrm>
          <a:prstGeom prst="roundRect">
            <a:avLst>
              <a:gd name="adj" fmla="val 4717"/>
            </a:avLst>
          </a:prstGeom>
          <a:solidFill>
            <a:srgbClr val="ECF6F3"/>
          </a:solidFill>
          <a:ln w="12700">
            <a:solidFill>
              <a:srgbClr val="BFE0D7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5230368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E5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方案重心：以「智能预约 + YMS 园区调度 + 分级定位感知」为核心，TMS 仅作为出厂在途环节的补充；巨沃 GWALL-YMS 正是这一重心上的专用产品。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MAPPING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 智慧物流需求 ↔ GWALL-YMS 能力逐项对应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566160"/>
                <a:gridCol w="310896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SOW 需求子模块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业务要求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YMS 对应能力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车辆预约管理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多端预约、内部代预约、爽约处理、配额控制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预约单 + 预约策略 + 预约容量看板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标准功能配置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车辆入园管理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车牌识别放行、电子证件、黑白名单、拍照贴标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出入园申请单 + 签到策略 + 道闸集成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 + 硬件对接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车辆排队叫号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虚拟队列、优先级、紧急插队、超时过号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排队策略 + 园区排队看板 + LED 大屏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标准功能配置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月台可视化管理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月台空满、预锁定、车型适配、物料在途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月台分配策略 + 月台排队 / 排版看板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标准功能配置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车辆停靠引导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园内路线导航、偏航预警、到位识别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GPS+RTK 导航 + 电子围栏 + 图文导航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 + 定位对接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多月台多任务作业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一车多月台、跨库转场、地点间流转排队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任务流引擎 + 地点排队规则 + 任务流看板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标准功能配置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称重与过磅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进出双向过磅、无人值守、净重校验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磅重单 + IOT 地磅集成 + 校验规则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 + 硬件对接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车辆出园管理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电子出门证、装车核准、EPO 联动、归档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出门证 + 装车核准 + 道闸放行校验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 + 接口开发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报表与效率分析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人效 / 月台效率 / 园区 / 预约四类报表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数据中心报表 + 数据驾驶舱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 + 报表定制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多园区管理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三园统一平台、策略独立、口径统一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集团-园区-部门三级组织与数据隔离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标准功能配置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1572768"/>
            <a:ext cx="11064240" cy="365760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 需求子模块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44368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业务要求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10528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YMS 对应能力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19488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实现方式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5870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10 项需求中 5 项由标准功能配置即可满足，另 5 项仅需硬件 / 接口 / 报表层面的对接，无颠覆性定制开发 —— 这是选择 YMS 而非通用平台自研的主要理由。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总体架构：感知 — 网络 — 平台 — 集成 — IOC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9105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IOC 决策层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27248" y="159105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园区智能运营中心：物流一张图、跨园对比看板、告警指挥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0" y="22677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▼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66928" y="241401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41401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27248" y="241401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/ Kafka / MQTT：SAP · SRM · WMS · MES · EPO · 费控 · IOC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0" y="309067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▼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66928" y="323697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23697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平台层 · GWALL-YMS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27248" y="323697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3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· 签到 · 排队叫号 · 月台调度 · 任务流引擎 · 时效引擎 · 报表驾驶舱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0" y="391363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▼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66928" y="405993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0599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27248" y="405993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 / 工业 WiFi / 物联网专网：感知回传与终端联动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473659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▼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66928" y="488289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2F4C77"/>
          </a:solidFill>
          <a:ln w="12700">
            <a:solidFill>
              <a:srgbClr val="2F4C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88289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27248" y="488289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道闸 · 视频 AI · 电子围栏 · 北斗 RTK / UWB · IOT 地磅 · 司机端小程序 · LED 大屏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22208" y="1591056"/>
            <a:ext cx="3108960" cy="3986784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0" y="17922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阶段的取舍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78240" y="2231136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22311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252374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预约削峰 + 排队叫号 + 月台任务流：投入产出比最高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78240" y="3072384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30723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78240" y="33649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存量摄像头做视频 AI 与电子围栏，避免全园铺高精度定位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78240" y="391363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3913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78240" y="42062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UWB / RTK 仅在危化与关键装卸区按需补点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78240" y="475488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47548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必打通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78240" y="504748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/ WMS / EPO 与 IOC 四个接口，缺一不成闭环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范围与边界：一个园区、两条业务线、全部关键场景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657600" cy="2011680"/>
          </a:xfrm>
          <a:prstGeom prst="roundRect">
            <a:avLst>
              <a:gd name="adj" fmla="val 2273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试点园区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合肥总部园区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占地约 480 亩 ｜ 日吞吐 ≈ 220 车次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个月台 ｜ 2 台地磅 ｜ 2 个门岗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43984" y="1627632"/>
            <a:ext cx="35661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0016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 POC（In Scope）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0016" y="2139696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送货收料 + 提货发运两条业务线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一车单月台 / 一车多月台 / 无月台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进出双向过磅与净重校验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司机端小程序全流程自助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47888" y="1627632"/>
            <a:ext cx="3383280" cy="2011680"/>
          </a:xfrm>
          <a:prstGeom prst="roundRect">
            <a:avLst>
              <a:gd name="adj" fmla="val 2273"/>
            </a:avLst>
          </a:prstGeom>
          <a:solidFill>
            <a:srgbClr val="F6F7F9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暂不纳入（Out of Scope）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03920" y="2139696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出厂后干线在途与运费结算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叉车 / 人员安全定位（UWB）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另外两个园区的正式上线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危化品全流程（仅做规则验证）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8770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必须覆盖的六类场景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279392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45312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单月台标准送货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预约→叫号→A 月台卸货→出园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15968" y="4279392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445312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一车双月台混合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卸原材料后转月台装成品，双向过磅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65008" y="4279392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47888" y="445312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一车三月台提货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同库跨区 + 跨库转场，三单合并装载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5212080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9808" y="538581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385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80160" y="5340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无月台地面作业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5614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危化 / 大件在作业点排队与独占管控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15968" y="5212080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98848" y="538581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98848" y="5385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S5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0" y="5340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异常场景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5614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爽约、晚点过号、超时占用、紧急插队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65008" y="5212080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47888" y="538581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7888" y="5385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S6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778240" y="5340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多园区策略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78240" y="5614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同平台内两套不同排队 / 过磅策略并行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END-TO-END BLUEPRINT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端到端业务蓝图：11 个环节、3 段作业、5 类角色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785616" cy="384048"/>
          </a:xfrm>
          <a:prstGeom prst="roundRect">
            <a:avLst>
              <a:gd name="adj" fmla="val 14286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2763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入园作业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车辆预约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54480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到场签到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排队叫号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9856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9856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入园放行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35424" y="1627632"/>
            <a:ext cx="3785616" cy="384048"/>
          </a:xfrm>
          <a:prstGeom prst="roundRect">
            <a:avLst>
              <a:gd name="adj" fmla="val 14286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162763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园内作业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90288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0288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进场称重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22976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月台停靠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55664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55664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装卸作业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88352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88352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转月台流转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1627632"/>
            <a:ext cx="2852928" cy="384048"/>
          </a:xfrm>
          <a:prstGeom prst="roundRect">
            <a:avLst>
              <a:gd name="adj" fmla="val 14286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16276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出园作业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58784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58784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离场称重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91472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91472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出门证核准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424160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424160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道闸放行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角色与系统触点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3584448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FDECEB"/>
          </a:solidFill>
          <a:ln w="12700">
            <a:solidFill>
              <a:srgbClr val="F6C9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5844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 / 承运商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3584448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小程序预约、签到、看队列、收叫号、看导航、出示电子出门证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4096512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0965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门岗 / 安防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09651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无感放行为主，例外情况人工核验；危化与特殊车辆双确认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4608576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6085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 / 月台负责人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26080" y="4608576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按系统分配接车，开工完工报量，装卸凭证上传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5120640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51206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调度中心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26080" y="512064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看板监控队列与月台，处理插队、超时、改派等异常干预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6928" y="5632704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56327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 / IOC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26080" y="563270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KPI 与趋势，做配额与资源决策，跨园横向对比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· TASK FLOW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核心一：多月台多任务如何管 —— 任务流（Task Flow）模型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64240" cy="749808"/>
          </a:xfrm>
          <a:prstGeom prst="roundRect">
            <a:avLst>
              <a:gd name="adj" fmla="val 6098"/>
            </a:avLst>
          </a:prstGeom>
          <a:solidFill>
            <a:srgbClr val="FDECEB"/>
          </a:solidFill>
          <a:ln w="12700">
            <a:solidFill>
              <a:srgbClr val="F6C9C6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7276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一张预约单 = 一条任务流 = N 个任务节点。每个节点绑定「地点 + 业务类型 + 顺序 + 状态」，节点完成自动激活下一节点，车辆无需重新预约、无需二次登记。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示例：一车双月台 + 双向过磅（POC 场景 S2）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地磅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进场过磅（重车）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磅重单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15184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98064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62656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19856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62656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A-03 月台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62656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原材料卸货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SRM 到货单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50992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93792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B-02 月台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93792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成品装货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93792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提货单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77456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60336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24928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24928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82128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24928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地磅 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24928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离场过磅（重车）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24928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净重校验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08592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491472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56064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56064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113264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656064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东门岗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56064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出门证核准出园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656064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电子出门证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" y="4517136"/>
            <a:ext cx="182880" cy="18288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44439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地点间流转的排队规则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77824" y="47183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园内转场启用独立排队策略：已在园车辆优先于场外车辆，避免"进得来、转不动"。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36208" y="4517136"/>
            <a:ext cx="182880" cy="182880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44439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节点级预锁定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547104" y="47183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叫号时即对后续月台做软预锁，多月台任务中途不再重复排队等待。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5358384"/>
            <a:ext cx="182880" cy="18288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7824" y="5285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分段计时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77824" y="5559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/ 行驶 / 装卸 / 转场分别计时，能精确定位是哪一段拖慢了整车。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36208" y="5358384"/>
            <a:ext cx="182880" cy="182880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47104" y="5285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异常不断链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547104" y="5559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任一节点超时、跳台、改派，任务流状态机自动修正并留痕，不需要重开单据。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COVERAGE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核心一（续）：月台与作业点场景全覆盖矩阵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  <a:gridCol w="28346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场景类型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典型业务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YMS 处理机制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POC 验证方式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单边 / 双边月台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常规收料、常规发运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月台属性建模，按车型与可作业数分配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真实车流连续跑 3 个工作日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一车多月台（同库）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同一仓库不同区域连续装货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任务流自动流转 + 后续月台软预锁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场景：一车三月台合并装载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一车多月台（跨库）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先卸原材料再到成品仓装车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跨库转场路线重算 + 地点间排队规则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 场景：一车双月台 + 双向过磅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无月台地面作业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危化品、大件、露天堆场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作业点建模，同样具备排队 / 锁定 / 计时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S4 场景：单车独占 + 围栏告警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一月台多车协同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大批量到货需并行卸车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月台可作业数配置 + 并行任务编排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高峰时段压力观察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逆向 / 回收任务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空桶、包材、退货返厂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逆向任务与正向共用任务流引擎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顺路回收，一车两段任务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过磅节点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进场 / 离场、单向 / 双向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过磅节点可按园区与业务类型配置开关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总部双向过磅、新港空车免磅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异常与例外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超时占用、跳台、临时改派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异常事件登记 + 分级干预 + 责任追溯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人为制造 5 类异常并观察处置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1572768"/>
            <a:ext cx="11064240" cy="402336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5727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场景类型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44368" y="1572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典型业务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87568" y="1572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YMS 处理机制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87968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验证方式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53583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上述 8 类场景均由 YMS 标准能力 + 策略配置实现，POC 阶段全部纳入验证，避免上线后才发现"这类车管不了"。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ORCHESTRATION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多任务并行时，人 / 车 / 场 / 具怎么协同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15184" cy="29260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836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车与月台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35915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月台按车型、货类、可作业数匹配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预锁定避免抢位与空等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空满状态与占用时长实时上屏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超阈值自动预警并支持改派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15184" cy="29260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21024" y="18836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司机与任务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21024" y="235915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一次下发全部任务节点与顺序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叫号、导航、偏航提醒推送到端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分段计时，停留时长可考核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违规与爽约进入黑白名单机制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1645920"/>
            <a:ext cx="2615184" cy="29260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18836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叉车与班组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37376" y="235915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装卸任务与月台任务同源派发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工作量统计到班组 / 到人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备货完成才叫车，减少车等货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人效报表支撑班次与人力配置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15984" y="1645920"/>
            <a:ext cx="2615184" cy="29260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53728" y="18836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单据与凭证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53728" y="235915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装车照片、提货单、磅单在线归集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三单合并开一张电子出门证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凭证不齐无法核准出园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全链留痕，支持审计追溯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882896"/>
            <a:ext cx="11064240" cy="969264"/>
          </a:xfrm>
          <a:prstGeom prst="roundRect">
            <a:avLst>
              <a:gd name="adj" fmla="val 4717"/>
            </a:avLst>
          </a:prstGeom>
          <a:solidFill>
            <a:srgbClr val="ECF3FA"/>
          </a:solidFill>
          <a:ln w="12700">
            <a:solidFill>
              <a:srgbClr val="D2E1F0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协同的本质是"信号先到、资源先到、车最后到"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3218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入园动作即触发仓库备货、叉车派工、月台预锁；车到位时人机料已就位，装卸等待被前移消解 —— 这也是在园时长能压缩 30% 以上的主要来源。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· MULTI-YARD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核心二：三个园区，一个平台 —— 统一而不僵化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4572000" cy="2651760"/>
          </a:xfrm>
          <a:prstGeom prst="roundRect">
            <a:avLst>
              <a:gd name="adj" fmla="val 1724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73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组织与数据隔离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57984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24406B"/>
          </a:solidFill>
          <a:ln w="12700">
            <a:solidFill>
              <a:srgbClr val="4060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15798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集团总部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11680" y="215798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全域数据、统一 KPI 口径、配额与规则基线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7280" y="2852928"/>
            <a:ext cx="3749040" cy="548640"/>
          </a:xfrm>
          <a:prstGeom prst="roundRect">
            <a:avLst>
              <a:gd name="adj" fmla="val 8333"/>
            </a:avLst>
          </a:prstGeom>
          <a:solidFill>
            <a:srgbClr val="2F4C77"/>
          </a:solidFill>
          <a:ln w="12700">
            <a:solidFill>
              <a:srgbClr val="4060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85292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85292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独立策略、独立看板，仅见本园区数据与流程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0" y="3547872"/>
            <a:ext cx="3474720" cy="548640"/>
          </a:xfrm>
          <a:prstGeom prst="roundRect">
            <a:avLst>
              <a:gd name="adj" fmla="val 8333"/>
            </a:avLst>
          </a:prstGeom>
          <a:solidFill>
            <a:srgbClr val="3A5A88"/>
          </a:solidFill>
          <a:ln w="12700">
            <a:solidFill>
              <a:srgbClr val="4060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9616" y="35478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 / 班组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0" y="354787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按角色授权，仅见本职范围的单据与任务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31536" y="15910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同一平台内，三园策略按需差异化配置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1536" y="1938528"/>
          <a:ext cx="6199632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164592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合肥总部园区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合肥高新园区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合肥新港园区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排队策略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全局队列 + 月台二次排队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危化绿色通道免排队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月台独立队列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签到围栏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过磅规则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进出双向过磅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危化强制双向过磅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空车免进场、离场必磅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月台形态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个月台，单边为主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 + 无月台作业点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个月台，以装货为主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主要业务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送货 / 提货混合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危化 + 逆向回收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成品发运，一车多月台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KPI 口径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集团统一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集团统一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集团统一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431536" y="1938528"/>
            <a:ext cx="6199632" cy="329184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04688" y="19385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策略项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766560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合肥总部园区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412480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合肥高新园区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058400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合肥新港园区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" y="4480560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86384" y="46634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86384" y="5029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车辆、承运商、月台编码与 KPI 口径全集团一致，跨园可直接横向比较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383280" y="4480560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02736" y="46634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E3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02736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02736" y="5029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 / 签到 / 过磅 / 流程策略按园区配置，互不干扰，改一园不动其他园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99632" y="4480560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19088" y="46634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19088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19088" y="5029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试点园区的策略模板可整套复制到新园区，第二、三园以配置为主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015984" y="4480560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235440" y="46634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3544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可协同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9235440" y="5029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跨园调拨、共享承运商与黑白名单，一张图看三园车流与月台利用率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集成方案：YMS 居中，向上送 IOC、向内连业务、向下控硬件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315968" y="3017520"/>
            <a:ext cx="3566160" cy="877824"/>
          </a:xfrm>
          <a:prstGeom prst="roundRect">
            <a:avLst>
              <a:gd name="adj" fmla="val 5208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15968" y="31272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GWALL-YMS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15968" y="3456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3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园区物流协同中枢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15968" y="1627632"/>
            <a:ext cx="3566160" cy="969264"/>
          </a:xfrm>
          <a:prstGeom prst="roundRect">
            <a:avLst>
              <a:gd name="adj" fmla="val 4717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IOC 智慧园区平台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07408" y="2029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/ 状态走 MQTT · Kafka ｜ KPI 报表走 REST 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16168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业务系统（内）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975104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1975104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ERP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47088" y="197510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 / 发货凭证、成本中心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542032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254203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47088" y="254203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到货单与预约自动匹配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108960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310896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WMS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847088" y="310896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收货过账、备货下架、装车确认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675888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367588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 / PMC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847088" y="367588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到货计划、齐套与插单优先级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13632" y="329184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39328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第三方与安防（外）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39328" y="1975104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22208" y="1975104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EPO 出门证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02368" y="197510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出门证开具规则与联动字段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39328" y="2542032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22208" y="254203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达实门禁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02368" y="25420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人员与车辆权限一卡通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39328" y="3108960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522208" y="31089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红门道闸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02368" y="31089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抬杆、黑白名单校验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39328" y="3675888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22208" y="3675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费控 / 财务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02368" y="36758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调度费用与成本中心回写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82128" y="329184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16168" y="3986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669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车牌识别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671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1671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智能道闸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673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7673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 地磅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675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3675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AI / 电子围栏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677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9677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北斗 RTK 导航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5679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5679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LED 排队大屏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1681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1681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司机端小程序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6928" y="5157216"/>
            <a:ext cx="11064240" cy="969264"/>
          </a:xfrm>
          <a:prstGeom prst="roundRect">
            <a:avLst>
              <a:gd name="adj" fmla="val 4717"/>
            </a:avLst>
          </a:prstGeom>
          <a:solidFill>
            <a:srgbClr val="FFF6E8"/>
          </a:solidFill>
          <a:ln w="12700">
            <a:solidFill>
              <a:srgbClr val="F0DCB8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68680" y="5285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两个必须先确认的前提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68680" y="5559552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IOC 平台的生态归属与数据接入规范（MQTT / Kafka 主题格式、刷新频率、是否页面嵌入）；② ERP 是否为 SAP 及版本 —— 这两项直接决定接口工作量与实施排期，建议在 POC 启动前一周内闭环。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 TIERS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厂内位置可视：按精度分级部署，不做过度投资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4708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44752" y="1773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门岗与关键卡口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44752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+ 智能道闸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掌握车辆「进 / 出 / 在场」状态与时间戳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03920" y="164592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复用存量设备为主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36224" y="195681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36224" y="19568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743200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6384" y="294436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44752" y="2871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主干道与月台区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44752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AI + 电子围栏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米级位置、月台占用识别、违停与超时预警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复用存量摄像头，成本低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936224" y="305409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36224" y="305409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3840480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04164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44752" y="3968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司机端定位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44752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 GPS / 北斗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31920" y="384048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辅助定位、签到、导航与叫号推送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03920" y="384048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零硬件投入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936224" y="415137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36224" y="4151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" y="4937760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6F7F9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6384" y="513892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5F7591"/>
          </a:solidFill>
          <a:ln w="12700">
            <a:solidFill>
              <a:srgbClr val="5F75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44752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危化与关键装卸区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444752" y="5394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北斗 RTK + UWB 融合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31920" y="493776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室外厘米级、厂房内亚米级无缝定位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503920" y="493776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按需补点，POC 后评估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936224" y="524865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36224" y="52486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对货车调度场景，前三级即可满足「车在哪、停多久、去哪个月台」的可视需求；UWB 更适合叉车与人员安全定位，建议放到后续阶段单独立项。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 ENGINE &amp; KPI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转运时效引擎：给每辆车打满时间戳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206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8872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1790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2374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2958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3542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1208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4243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4126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4827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4710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2376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5411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11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5294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转场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5995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995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5878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离台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3544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6579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6579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6462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出磅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24128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7163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7163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57046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出园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2578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个节点自动打点，任意两点相减即为该环节时长 —— 无需人工填报，无法事后修改。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9923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14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KPI 指标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口径定义（POC 建议）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管理价值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平均在园时长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入园放行 → 出园放行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整体转运效率的总量指标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平均排队时长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签到 → 入园放行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衡量预约削峰与叫号调度效果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平均装卸时长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开工 → 完工（按月台汇总）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定位月台与作业瓶颈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平均转场时长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离台 → 下一月台上台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多月台任务的专属瓶颈指标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月台利用率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月台占用时长 ÷ 可用时长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评估月台资源配置是否均衡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预约准时率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在预约时段内签到车次 ÷ 总车次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衡量承运商履约与预约机制成效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异常车次占比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触发超时 / 违规 / 改派的车次占比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异常监控与承运商考核依据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566928" y="2999232"/>
            <a:ext cx="11064240" cy="347472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8368" y="2999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指标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2944368" y="29992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口径定义（POC 建议）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7516368" y="2999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管理价值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566928" y="58887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口径必须在 POC 启动前与物流部、仓储部书面确认，否则试点数据无法与现有台账对比，效益也无法认定。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验收指标：拿数据说话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27632"/>
          <a:ext cx="6675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34656" y="1627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验收清单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34656" y="2011680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99248" y="2011680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30%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796528" y="207568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平均在园时长下降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796528" y="232257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以确认口径的试点前台账为基线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34656" y="2706624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99248" y="2706624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40%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796528" y="277063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平均排队时长下降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96528" y="301752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预约削峰 + 叫号调度的直接效果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534656" y="3401568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699248" y="3401568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796528" y="346557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车辆位置与环节时效可视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796528" y="3712464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每车 11 个时间戳完整无缺失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534656" y="4096512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99248" y="4096512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796528" y="416052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多月台任务断链次数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796528" y="4407408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一车多月台不得重复预约或线下协调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34656" y="4791456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699248" y="479145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95%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796528" y="48554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识别与自动放行成功率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796528" y="510235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例外走人工，但需系统留痕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534656" y="5486400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699248" y="5486400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4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8796528" y="555040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关键接口打通数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796528" y="579729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· WMS · EPO · IOC 全部联调通过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6928" y="50292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指标为 POC 目标值，最终以试点数据实测为准；基线数据需在 POC 启动前完成 2 周台账采集。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实施计划：8 周跑通一个园区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91840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91840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34256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34256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6672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76672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19088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61504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46336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46336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88752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19751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需求确认与基线采集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2011680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201168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口径确认、台账采集、前提闭环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系统部署与基础配置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2395728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2395728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组织、月台、车辆、承运商主数据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" y="2743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策略配置与流程搭建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76672" y="2779776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31536" y="277977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/ 签到 / 排队 / 月台分配 / 任务流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6928" y="31272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硬件集成调测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19088" y="3163824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2F4C77"/>
          </a:solidFill>
          <a:ln w="12700">
            <a:solidFill>
              <a:srgbClr val="2F4C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163824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道闸、地磅、摄像头、大屏联调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" y="3511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接口联调（SAP/WMS/EPO/IOC）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19088" y="3547872"/>
            <a:ext cx="3127248" cy="237744"/>
          </a:xfrm>
          <a:prstGeom prst="roundRect">
            <a:avLst>
              <a:gd name="adj" fmla="val 1538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35478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四个关键接口逐一验证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" y="38953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多月台多任务场景验证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03920" y="3931920"/>
            <a:ext cx="1563624" cy="237744"/>
          </a:xfrm>
          <a:prstGeom prst="roundRect">
            <a:avLst>
              <a:gd name="adj" fmla="val 15385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58784" y="393192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S1–S6 六类场景验证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" y="42793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司机与现场培训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25128" y="4315968"/>
            <a:ext cx="1563624" cy="237744"/>
          </a:xfrm>
          <a:prstGeom prst="roundRect">
            <a:avLst>
              <a:gd name="adj" fmla="val 15385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79992" y="4315968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承运商宣导 · 司机端推广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" y="46634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真实车流试运行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067544" y="4700016"/>
            <a:ext cx="1563624" cy="237744"/>
          </a:xfrm>
          <a:prstGeom prst="roundRect">
            <a:avLst>
              <a:gd name="adj" fmla="val 15385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22408" y="4700016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3 个工作日全量车流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6928" y="5047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数据复盘与验收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1109960" y="5084064"/>
            <a:ext cx="521208" cy="237744"/>
          </a:xfrm>
          <a:prstGeom prst="roundRect">
            <a:avLst>
              <a:gd name="adj" fmla="val 15385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64824" y="508406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6928" y="5504688"/>
            <a:ext cx="2615184" cy="658368"/>
          </a:xfrm>
          <a:prstGeom prst="roundRect">
            <a:avLst>
              <a:gd name="adj" fmla="val 694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13232" y="5504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280160" y="5504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前提闭环 · 基线就绪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83280" y="5504688"/>
            <a:ext cx="2615184" cy="658368"/>
          </a:xfrm>
          <a:prstGeom prst="roundRect">
            <a:avLst>
              <a:gd name="adj" fmla="val 694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529584" y="5504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096512" y="5504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系统与硬件可用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99632" y="5504688"/>
            <a:ext cx="2615184" cy="658368"/>
          </a:xfrm>
          <a:prstGeom prst="roundRect">
            <a:avLst>
              <a:gd name="adj" fmla="val 694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345936" y="5504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W7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912864" y="5504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六类场景跑通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015984" y="5504688"/>
            <a:ext cx="2615184" cy="658368"/>
          </a:xfrm>
          <a:prstGeom prst="roundRect">
            <a:avLst>
              <a:gd name="adj" fmla="val 6944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162288" y="5504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W8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729216" y="5504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数据验收 · 复制决策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PREREQUISITES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需要贵司配合与确认的事项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653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65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决策与范围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304288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试点园区最终确认与业务 Owner 指定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验收指标与口径的书面确认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期间的决策与例会机制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645920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8653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865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数据与资料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53712" y="2304288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2 个月车流台账（分时段 / 车型 / 月台）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 CAD / 平面图与道路通行规则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月台、厂房、车辆、承运商主数据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5008" y="1645920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8653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865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与接口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02752" y="2304288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IOC 生态归属与数据接入规范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是否 SAP 及可提供的接口类型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WMS / EPO 接口人与联调窗口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部署方式与等保合规要求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877056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096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096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现场与硬件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4535424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现有道闸 / 地磅 / 摄像头品牌型号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蓄车场位置与容量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施工布线、供电与作业窗口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5968" y="3877056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53712" y="4096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4096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组织与人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53712" y="4535424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承运商宣导与预约使用约束条款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司机端推广与培训安排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门岗、仓储、调度的配合人员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47888" y="3877056"/>
            <a:ext cx="3383280" cy="2048256"/>
          </a:xfrm>
          <a:prstGeom prst="roundRect">
            <a:avLst>
              <a:gd name="adj" fmla="val 2232"/>
            </a:avLst>
          </a:prstGeom>
          <a:solidFill>
            <a:srgbClr val="FDECEB"/>
          </a:solidFill>
          <a:ln w="12700">
            <a:solidFill>
              <a:srgbClr val="F6C9C6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4078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最高优先级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407408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IOC 平台生态与接入规范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ERP 是否为 SAP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试点园区与 KPI 口径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这三项未闭环，POC 排期无法锁定。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&amp; MITIGATION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风险识别与对策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9344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320040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司机与外部承运商不配合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抵触使用小程序、操作不熟、爽约晚点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实操培训 + 合同条款约束 + 奖惩与黑白名单绑定 + 客服响应机制；POC 期间设现场帮扶岗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接口前提未按期闭环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IOC 规范与 ERP 版本迟迟不明确，接口返工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启动前设为准入门槛；先以标准接口 + 中间表方式跑通业务，接口细节并行细化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多月台场景规则遗漏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实际作业中存在未预见的转场与例外情况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POC 明确纳入 8 类场景矩阵；预留策略配置能力，例外走异常事件登记而非停系统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基线数据缺失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现有台账不完整，效益无法量化认定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启动前 2 周专项采集；口径书面确认；必要时以人工抽样测时作为补充基线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高峰并发压力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高峰时段叫号与月台分配集中触发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按实际峰值做压力设定；预约配额按月台产能约束，从源头限流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制度覆盖不到的例外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不可抗力、临时急单、新旧流程衔接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建立特殊情况处理机制与授权层级；定期复盘并回写策略配置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1609344"/>
            <a:ext cx="11064240" cy="566928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934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389888" y="160934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58768" y="16093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59168" y="16093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5760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经验值：园区物流项目失败的主因很少是系统功能不足，而是司机不用、数据没基线、接口没打通 —— 三项都属可管理风险。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｜ 阳光电源园区智慧物流 POC 汇报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86384" y="11338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单园跑通 → 复制三园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6384" y="2048256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2249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2416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试点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42416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8 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2416" y="3255264"/>
            <a:ext cx="2962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E3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合肥总部园区：预约削峰、LPR 门禁、视频 AI 定位、任务流与时效引擎，打通 SAP / WMS / EPO / IOC，跑通一套 KPI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98848" y="2048256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249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优化调参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4–6 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255264"/>
            <a:ext cx="2962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基于试点数据优化预约配额、叫号与月台分配策略；按需在危化与关键装卸区补高精度定位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11312" y="2048256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249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67344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三园复制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67344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8–10 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67344" y="3255264"/>
            <a:ext cx="2962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策略模板整套复制至高新、新港园区，构建三园统一平台与跨园协同一张图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本次建议的下一步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10235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5102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IOC 生态与 ERP 前提（本周内）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510235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56832" y="5102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确认试点园区与 KPI 口径（本周内）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5046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" y="5504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2 周基线台账采集（下周起）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55046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56832" y="5504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YMS 标准环境做一次现场实操演示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035040" y="60899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× 巨沃科技  ｜  阳光电源园区智慧物流 POC  ｜  2026.08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阳光电源合肥园区智慧物流模块 POC 方案汇报</dc:title>
  <dc:subject>PptxGenJS Presentation</dc:subject>
  <dc:creator>联想 × 巨沃科技</dc:creator>
  <cp:lastModifiedBy>联想 × 巨沃科技</cp:lastModifiedBy>
  <cp:revision>1</cp:revision>
  <dcterms:created xsi:type="dcterms:W3CDTF">2026-08-17T14:34:31Z</dcterms:created>
  <dcterms:modified xsi:type="dcterms:W3CDTF">2026-08-17T14:34:31Z</dcterms:modified>
</cp:coreProperties>
</file>