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4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5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16777215" r:id="rId5"/>
    <p:sldId id="276" r:id="rId6"/>
    <p:sldId id="16777228" r:id="rId7"/>
    <p:sldId id="16777220" r:id="rId8"/>
    <p:sldId id="16777221" r:id="rId9"/>
    <p:sldId id="16777229" r:id="rId10"/>
    <p:sldId id="16777230" r:id="rId11"/>
    <p:sldId id="16777231" r:id="rId12"/>
    <p:sldId id="16777232" r:id="rId13"/>
    <p:sldId id="16777233" r:id="rId14"/>
    <p:sldId id="16777234" r:id="rId15"/>
    <p:sldId id="16777222" r:id="rId16"/>
    <p:sldId id="16777223" r:id="rId17"/>
    <p:sldId id="16777224" r:id="rId18"/>
    <p:sldId id="16777225" r:id="rId19"/>
    <p:sldId id="16777226" r:id="rId20"/>
    <p:sldId id="16777227" r:id="rId21"/>
    <p:sldId id="16777235" r:id="rId22"/>
    <p:sldId id="16777239" r:id="rId23"/>
    <p:sldId id="16777236" r:id="rId24"/>
    <p:sldId id="16777240" r:id="rId25"/>
    <p:sldId id="16777238" r:id="rId26"/>
  </p:sldIdLst>
  <p:sldSz cx="12192000" cy="6858000"/>
  <p:notesSz cx="6858000" cy="9872663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及目录" id="{E97A3F09-39D3-4C74-8F78-64CC23BCC0D7}">
          <p14:sldIdLst>
            <p14:sldId id="16777215"/>
            <p14:sldId id="276"/>
          </p14:sldIdLst>
        </p14:section>
        <p14:section name="项目理解与建设目标&#10;" id="{393B0730-D900-4092-8018-7A6E9526015F}">
          <p14:sldIdLst>
            <p14:sldId id="16777228"/>
            <p14:sldId id="16777220"/>
            <p14:sldId id="16777221"/>
            <p14:sldId id="16777229"/>
            <p14:sldId id="16777230"/>
            <p14:sldId id="16777231"/>
            <p14:sldId id="16777232"/>
            <p14:sldId id="16777233"/>
            <p14:sldId id="16777234"/>
            <p14:sldId id="16777222"/>
            <p14:sldId id="16777223"/>
            <p14:sldId id="16777224"/>
            <p14:sldId id="16777225"/>
            <p14:sldId id="16777226"/>
            <p14:sldId id="16777227"/>
            <p14:sldId id="16777235"/>
            <p14:sldId id="16777239"/>
            <p14:sldId id="16777236"/>
            <p14:sldId id="16777240"/>
            <p14:sldId id="16777238"/>
          </p14:sldIdLst>
        </p14:section>
        <p14:section name="现状分析与核心挑战&#10;" id="{11258722-EEC7-45FB-9D8C-05E7B0AE03E5}">
          <p14:sldIdLst/>
        </p14:section>
        <p14:section name="总体建设方案&#10;" id="{EC63BB88-31BB-47CD-ABCD-90939EB7F450}">
          <p14:sldIdLst/>
        </p14:section>
        <p14:section name="业务场景建设&#10;" id="{0EA4528E-3DB7-40F8-A715-CEEE30B11AD1}">
          <p14:sldIdLst/>
        </p14:section>
        <p14:section name="项目实施保障&#10;" id="{FB11FC26-F6BE-4FF9-B771-BA0A19037754}">
          <p14:sldIdLst/>
        </p14:section>
        <p14:section name="结束页" id="{BFE47CE3-8DAC-4E35-B963-16CB4FC33299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85D8"/>
    <a:srgbClr val="243EAB"/>
    <a:srgbClr val="2B44AD"/>
    <a:srgbClr val="98A8F9"/>
    <a:srgbClr val="7081CC"/>
    <a:srgbClr val="2C3E50"/>
    <a:srgbClr val="0144AE"/>
    <a:srgbClr val="6F89F9"/>
    <a:srgbClr val="3147AC"/>
    <a:srgbClr val="2535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84856" autoAdjust="0"/>
  </p:normalViewPr>
  <p:slideViewPr>
    <p:cSldViewPr snapToGrid="0">
      <p:cViewPr varScale="1">
        <p:scale>
          <a:sx n="131" d="100"/>
          <a:sy n="131" d="100"/>
        </p:scale>
        <p:origin x="13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8E1C1-EB76-4184-A623-1F1D0D8C56DB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2026/9/1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7363"/>
            <a:ext cx="29718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9377363"/>
            <a:ext cx="29718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F91C8-888E-4593-98D3-92DBA7B5C4AA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C8C697B2-CE4C-43FB-BDDF-454C37B4187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68313" y="1233488"/>
            <a:ext cx="592137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51219"/>
            <a:ext cx="548640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71800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377317"/>
            <a:ext cx="2971800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AF117B90-CF89-489E-9DB8-7A5C7B9EC6E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ESB</a:t>
            </a:r>
          </a:p>
          <a:p>
            <a:r>
              <a:rPr lang="zh-CN" altLang="en-US" dirty="0"/>
              <a:t>数据湖、数仓？</a:t>
            </a:r>
            <a:endParaRPr lang="en-US" altLang="zh-CN" dirty="0"/>
          </a:p>
          <a:p>
            <a:r>
              <a:rPr lang="en-US" altLang="zh-CN" dirty="0"/>
              <a:t>IOT</a:t>
            </a:r>
            <a:r>
              <a:rPr lang="zh-CN" altLang="en-US" dirty="0"/>
              <a:t>平台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算法管理</a:t>
            </a:r>
            <a:endParaRPr lang="en-US" altLang="zh-CN" dirty="0"/>
          </a:p>
          <a:p>
            <a:r>
              <a:rPr lang="zh-CN" altLang="en-US" dirty="0"/>
              <a:t>报表工具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117B90-CF89-489E-9DB8-7A5C7B9EC6E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756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99CEF-E98C-03D7-52F2-1607336BE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DCCB93-B290-BD40-E22C-4F84E15EB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891C53-7231-5E74-5E3C-BB17309AE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980187-3DEB-492E-A551-D12E0F46A9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2810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C7E31-D092-3BA0-6214-3A825413F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26C6D5-7CA3-CC54-E32C-AB73E028F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577CA9-2114-D929-A8CA-6F15FA130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8B20E6-BED0-7309-14C8-4C8A35F692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8232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B6EDA-A04E-FB3A-815E-778E5A599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A8EEEF-4947-E47F-A8DE-171DA7CE6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F8EFFB-A36E-3D3B-E09E-77A97A9CA6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7E36A0-B306-AD05-4205-0E4B136DC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3652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" y="1788"/>
            <a:ext cx="12192000" cy="6856212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9200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标准版</a:t>
            </a:r>
            <a:br>
              <a:rPr lang="en-US" altLang="zh-CN"/>
            </a:br>
            <a:r>
              <a:rPr lang="zh-CN" altLang="en-US"/>
              <a:t>演示标题</a:t>
            </a:r>
            <a:br>
              <a:rPr lang="en-US" altLang="zh-CN"/>
            </a:br>
            <a:r>
              <a:rPr lang="zh-CN" altLang="en-US"/>
              <a:t>区域</a:t>
            </a:r>
            <a:endParaRPr lang="en-US"/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9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主讲人姓名 </a:t>
            </a:r>
            <a:r>
              <a:rPr lang="en-US" altLang="zh-CN"/>
              <a:t>| </a:t>
            </a:r>
            <a:r>
              <a:rPr lang="zh-CN" altLang="en-US"/>
              <a:t>日期</a:t>
            </a:r>
          </a:p>
        </p:txBody>
      </p:sp>
      <p:sp>
        <p:nvSpPr>
          <p:cNvPr id="5" name="文本框 4"/>
          <p:cNvSpPr txBox="1"/>
          <p:nvPr userDrawn="1"/>
        </p:nvSpPr>
        <p:spPr>
          <a:xfrm>
            <a:off x="2612400" y="816114"/>
            <a:ext cx="61909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联想全栈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AI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让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AI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成为创新生产力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760612" y="6501661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 Lenovo Internal. All rights reserved.</a:t>
            </a:r>
          </a:p>
        </p:txBody>
      </p:sp>
      <p:pic>
        <p:nvPicPr>
          <p:cNvPr id="10" name="图片 9" descr="徽标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1733" y="425070"/>
            <a:ext cx="2510119" cy="141194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Header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6212"/>
          </a:xfrm>
          <a:prstGeom prst="rect">
            <a:avLst/>
          </a:prstGeom>
        </p:spPr>
      </p:pic>
      <p:pic>
        <p:nvPicPr>
          <p:cNvPr id="7" name="图片 6" descr="城市的风景&#10;&#10;描述已自动生成"/>
          <p:cNvPicPr>
            <a:picLocks noChangeAspect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>
            <a:off x="7618809" y="-1787"/>
            <a:ext cx="4573189" cy="685978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sp>
        <p:nvSpPr>
          <p:cNvPr id="2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3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9200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章节标题区域</a:t>
            </a:r>
            <a:endParaRPr lang="en-US"/>
          </a:p>
        </p:txBody>
      </p:sp>
      <p:sp>
        <p:nvSpPr>
          <p:cNvPr id="27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1"/>
            <a:ext cx="6265272" cy="34624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副标题区域</a:t>
            </a:r>
          </a:p>
        </p:txBody>
      </p:sp>
      <p:sp>
        <p:nvSpPr>
          <p:cNvPr id="5" name="文本框 4"/>
          <p:cNvSpPr txBox="1"/>
          <p:nvPr userDrawn="1"/>
        </p:nvSpPr>
        <p:spPr>
          <a:xfrm>
            <a:off x="682053" y="701410"/>
            <a:ext cx="61909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联想全栈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AI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让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AI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成为创新生产力</a:t>
            </a:r>
          </a:p>
        </p:txBody>
      </p:sp>
      <p:sp>
        <p:nvSpPr>
          <p:cNvPr id="15" name="TextBox 1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 Lenovo Internal. All rights reserved.</a:t>
            </a: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65988" y="6454323"/>
            <a:ext cx="964049" cy="193146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9214" cy="6859568"/>
          </a:xfrm>
          <a:prstGeom prst="rect">
            <a:avLst/>
          </a:prstGeom>
          <a:solidFill>
            <a:srgbClr val="00B0F0">
              <a:alpha val="27059"/>
            </a:srgbClr>
          </a:solidFill>
          <a:ln>
            <a:solidFill>
              <a:schemeClr val="bg1"/>
            </a:solidFill>
          </a:ln>
        </p:spPr>
      </p:pic>
      <p:grpSp>
        <p:nvGrpSpPr>
          <p:cNvPr id="5" name="组合 4"/>
          <p:cNvGrpSpPr/>
          <p:nvPr userDrawn="1"/>
        </p:nvGrpSpPr>
        <p:grpSpPr>
          <a:xfrm>
            <a:off x="576032" y="6384550"/>
            <a:ext cx="3422591" cy="230832"/>
            <a:chOff x="156932" y="6508375"/>
            <a:chExt cx="3422591" cy="230832"/>
          </a:xfrm>
        </p:grpSpPr>
        <p:sp>
          <p:nvSpPr>
            <p:cNvPr id="6" name="Footer Placeholder 1"/>
            <p:cNvSpPr txBox="1"/>
            <p:nvPr/>
          </p:nvSpPr>
          <p:spPr>
            <a:xfrm>
              <a:off x="1353903" y="6508375"/>
              <a:ext cx="2225620" cy="2308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spAutoFit/>
            </a:bodyPr>
            <a:lstStyle>
              <a:lvl1pPr defTabSz="2437130">
                <a:lnSpc>
                  <a:spcPct val="100000"/>
                </a:lnSpc>
                <a:spcBef>
                  <a:spcPts val="0"/>
                </a:spcBef>
                <a:defRPr sz="18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 marL="0" marR="0" lvl="0" indent="0" algn="l" defTabSz="121856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sz="9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 panose="020B0604020202020204"/>
                  <a:cs typeface="Arial" panose="020B0604020202020204"/>
                  <a:sym typeface="Arial" panose="020B0604020202020204"/>
                </a:rPr>
                <a:t>202</a:t>
              </a:r>
              <a:r>
                <a:rPr kumimoji="0" lang="en-US" sz="9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 panose="020B0604020202020204"/>
                  <a:cs typeface="Arial" panose="020B0604020202020204"/>
                  <a:sym typeface="Arial" panose="020B0604020202020204"/>
                </a:rPr>
                <a:t>6</a:t>
              </a:r>
              <a:r>
                <a:rPr kumimoji="0" sz="9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 panose="020B0604020202020204"/>
                  <a:cs typeface="Arial" panose="020B0604020202020204"/>
                  <a:sym typeface="Arial" panose="020B0604020202020204"/>
                </a:rPr>
                <a:t> Lenovo Internal. All rights reserved.</a:t>
              </a:r>
            </a:p>
          </p:txBody>
        </p:sp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3" cstate="screen"/>
            <a:stretch>
              <a:fillRect/>
            </a:stretch>
          </p:blipFill>
          <p:spPr>
            <a:xfrm>
              <a:off x="156932" y="6508375"/>
              <a:ext cx="1063923" cy="213100"/>
            </a:xfrm>
            <a:prstGeom prst="rect">
              <a:avLst/>
            </a:prstGeom>
          </p:spPr>
        </p:pic>
      </p:grp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13956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图片 1" descr="图片包含 徽标&#10;&#10;AI 生成的内容可能不正确。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82131" y="-109571"/>
            <a:ext cx="2555914" cy="1437702"/>
          </a:xfrm>
          <a:prstGeom prst="rect">
            <a:avLst/>
          </a:prstGeom>
        </p:spPr>
      </p:pic>
      <p:sp>
        <p:nvSpPr>
          <p:cNvPr id="3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489585" y="317500"/>
            <a:ext cx="9869170" cy="4184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9200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2800" b="1" kern="1200" cap="none" spc="-15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losing Slide_Black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" y="1788"/>
            <a:ext cx="12192000" cy="6856212"/>
          </a:xfrm>
          <a:prstGeom prst="rect">
            <a:avLst/>
          </a:prstGeom>
        </p:spPr>
      </p:pic>
      <p:grpSp>
        <p:nvGrpSpPr>
          <p:cNvPr id="166" name="Group 165"/>
          <p:cNvGrpSpPr/>
          <p:nvPr userDrawn="1"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167" name="Freeform 5"/>
            <p:cNvSpPr/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68" name="Freeform 6"/>
            <p:cNvSpPr/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69" name="Freeform 7"/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0" name="Freeform 8"/>
            <p:cNvSpPr/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1" name="Freeform 9"/>
            <p:cNvSpPr/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2" name="Freeform 10"/>
            <p:cNvSpPr/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3" name="Oval 11"/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26894" y="442057"/>
            <a:ext cx="635919" cy="3110037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6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5080" imgH="5080" progId="TCLayout.ActiveDocument.1">
                  <p:embed/>
                </p:oleObj>
              </mc:Choice>
              <mc:Fallback>
                <p:oleObj name="think-cell 幻灯片" r:id="rId7" imgW="5080" imgH="5080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hf hdr="0" ftr="0" dt="0"/>
  <p:txStyles>
    <p:titleStyle>
      <a:lvl1pPr algn="ctr" defTabSz="1219200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600" indent="-3810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4000" indent="-3048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2965" indent="-3048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2565" indent="-3048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1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image" Target="../media/image10.png"/><Relationship Id="rId4" Type="http://schemas.openxmlformats.org/officeDocument/2006/relationships/tags" Target="../tags/tag6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9" Type="http://schemas.openxmlformats.org/officeDocument/2006/relationships/notesSlide" Target="../notesSlides/notesSlide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9" Type="http://schemas.openxmlformats.org/officeDocument/2006/relationships/notesSlide" Target="../notesSlides/notesSlide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0" y="3160667"/>
            <a:ext cx="12192000" cy="1272540"/>
          </a:xfrm>
          <a:prstGeom prst="rect">
            <a:avLst/>
          </a:prstGeom>
        </p:spPr>
        <p:txBody>
          <a:bodyPr lIns="0" tIns="0" rIns="0" bIns="0" anchor="b" anchorCtr="0"/>
          <a:lstStyle>
            <a:lvl1pPr defTabSz="1219200">
              <a:lnSpc>
                <a:spcPts val="5700"/>
              </a:lnSpc>
              <a:spcBef>
                <a:spcPct val="0"/>
              </a:spcBef>
              <a:buNone/>
              <a:defRPr kumimoji="1" lang="en-US" sz="5400" b="1" cap="none" spc="-150" baseline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阳光电源</a:t>
            </a:r>
            <a:endParaRPr kumimoji="1" lang="en-US" altLang="zh-CN" sz="6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智慧园区一期项目</a:t>
            </a:r>
            <a:endParaRPr kumimoji="1" lang="en-US" altLang="zh-CN" sz="6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建设方案述标汇报</a:t>
            </a:r>
          </a:p>
        </p:txBody>
      </p:sp>
      <p:sp>
        <p:nvSpPr>
          <p:cNvPr id="2" name="标题 7"/>
          <p:cNvSpPr txBox="1"/>
          <p:nvPr/>
        </p:nvSpPr>
        <p:spPr bwMode="gray">
          <a:xfrm>
            <a:off x="0" y="5388530"/>
            <a:ext cx="12192000" cy="1209578"/>
          </a:xfrm>
          <a:prstGeom prst="rect">
            <a:avLst/>
          </a:prstGeom>
        </p:spPr>
        <p:txBody>
          <a:bodyPr lIns="0" tIns="60949" rIns="121899" bIns="60949" anchor="ctr" anchorCtr="0">
            <a:noAutofit/>
          </a:bodyPr>
          <a:lstStyle>
            <a:defPPr>
              <a:defRPr lang="en-US"/>
            </a:defPPr>
            <a:lvl1pPr marL="0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ea"/>
              </a:defRPr>
            </a:lvl1pPr>
            <a:lvl2pPr marL="609600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ea"/>
              </a:defRPr>
            </a:lvl2pPr>
            <a:lvl3pPr marL="1219200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ea"/>
              </a:defRPr>
            </a:lvl3pPr>
            <a:lvl4pPr marL="1828165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ea"/>
              </a:defRPr>
            </a:lvl4pPr>
            <a:lvl5pPr marL="2437765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ea"/>
              </a:defRPr>
            </a:lvl5pPr>
            <a:lvl6pPr marL="3047365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ea"/>
              </a:defRPr>
            </a:lvl6pPr>
            <a:lvl7pPr marL="3656965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ea"/>
              </a:defRPr>
            </a:lvl7pPr>
            <a:lvl8pPr marL="4266565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ea"/>
              </a:defRPr>
            </a:lvl8pPr>
            <a:lvl9pPr marL="4876165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ea"/>
              </a:defRPr>
            </a:lvl9pPr>
          </a:lstStyle>
          <a:p>
            <a:pPr marL="0" marR="0" lvl="0" indent="0" algn="ctr" defTabSz="12185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152400" dist="76200" dir="2700000" algn="tl">
                    <a:srgbClr val="002060">
                      <a:alpha val="67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联想集团 项目组</a:t>
            </a:r>
            <a:endParaRPr kumimoji="1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152400" dist="76200" dir="2700000" algn="tl">
                  <a:srgbClr val="002060">
                    <a:alpha val="67000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defTabSz="12185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1" lang="en-US" altLang="zh-CN" b="1" dirty="0">
                <a:solidFill>
                  <a:schemeClr val="bg1"/>
                </a:solidFill>
                <a:effectLst>
                  <a:outerShdw blurRad="152400" dist="76200" dir="2700000" algn="tl">
                    <a:srgbClr val="002060">
                      <a:alpha val="67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2026</a:t>
            </a:r>
            <a:r>
              <a:rPr kumimoji="1" lang="zh-CN" altLang="en-US" b="1" dirty="0">
                <a:solidFill>
                  <a:schemeClr val="bg1"/>
                </a:solidFill>
                <a:effectLst>
                  <a:outerShdw blurRad="152400" dist="76200" dir="2700000" algn="tl">
                    <a:srgbClr val="002060">
                      <a:alpha val="67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</a:t>
            </a:r>
            <a:r>
              <a:rPr kumimoji="1" lang="en-US" altLang="zh-CN" b="1" dirty="0">
                <a:solidFill>
                  <a:schemeClr val="bg1"/>
                </a:solidFill>
                <a:effectLst>
                  <a:outerShdw blurRad="152400" dist="76200" dir="2700000" algn="tl">
                    <a:srgbClr val="002060">
                      <a:alpha val="67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9</a:t>
            </a:r>
            <a:r>
              <a:rPr kumimoji="1" lang="zh-CN" altLang="en-US" b="1" dirty="0">
                <a:solidFill>
                  <a:schemeClr val="bg1"/>
                </a:solidFill>
                <a:effectLst>
                  <a:outerShdw blurRad="152400" dist="76200" dir="2700000" algn="tl">
                    <a:srgbClr val="002060">
                      <a:alpha val="67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月</a:t>
            </a:r>
            <a:r>
              <a:rPr kumimoji="1" lang="en-US" altLang="zh-CN" b="1" dirty="0">
                <a:solidFill>
                  <a:schemeClr val="bg1"/>
                </a:solidFill>
                <a:effectLst>
                  <a:outerShdw blurRad="152400" dist="76200" dir="2700000" algn="tl">
                    <a:srgbClr val="002060">
                      <a:alpha val="67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10</a:t>
            </a:r>
            <a:r>
              <a:rPr kumimoji="1" lang="zh-CN" altLang="en-US" b="1" dirty="0">
                <a:solidFill>
                  <a:schemeClr val="bg1"/>
                </a:solidFill>
                <a:effectLst>
                  <a:outerShdw blurRad="152400" dist="76200" dir="2700000" algn="tl">
                    <a:srgbClr val="002060">
                      <a:alpha val="67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日</a:t>
            </a:r>
            <a:endParaRPr kumimoji="1" altLang="zh-CN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152400" dist="76200" dir="2700000" algn="tl">
                  <a:srgbClr val="002060">
                    <a:alpha val="67000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1"/>
            </p:custDataLst>
          </p:nvPr>
        </p:nvGrpSpPr>
        <p:grpSpPr>
          <a:xfrm>
            <a:off x="376555" y="2472690"/>
            <a:ext cx="2636520" cy="1912620"/>
            <a:chOff x="593" y="3894"/>
            <a:chExt cx="4152" cy="3012"/>
          </a:xfrm>
        </p:grpSpPr>
        <p:sp>
          <p:nvSpPr>
            <p:cNvPr id="6" name="NY19-1"/>
            <p:cNvSpPr txBox="1"/>
            <p:nvPr/>
          </p:nvSpPr>
          <p:spPr>
            <a:xfrm>
              <a:off x="593" y="4309"/>
              <a:ext cx="4153" cy="21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 defTabSz="914400">
                <a:defRPr/>
              </a:pPr>
              <a:r>
                <a:rPr lang="zh-CN" altLang="en-US" sz="6000" b="1" kern="0">
                  <a:solidFill>
                    <a:prstClr val="white"/>
                  </a:solidFill>
                  <a:latin typeface="+mn-ea"/>
                  <a:cs typeface="+mn-ea"/>
                  <a:sym typeface="+mn-lt"/>
                </a:rPr>
                <a:t>目录</a:t>
              </a:r>
              <a:endParaRPr lang="en-US" altLang="zh-CN" sz="6000" b="1" kern="0">
                <a:solidFill>
                  <a:prstClr val="white"/>
                </a:solidFill>
                <a:latin typeface="+mn-ea"/>
                <a:cs typeface="+mn-ea"/>
                <a:sym typeface="+mn-lt"/>
              </a:endParaRPr>
            </a:p>
            <a:p>
              <a:pPr algn="dist" defTabSz="914400">
                <a:defRPr/>
              </a:pPr>
              <a:r>
                <a:rPr lang="en-US" altLang="zh-CN" sz="2400" b="1" kern="0">
                  <a:solidFill>
                    <a:prstClr val="white"/>
                  </a:solidFill>
                  <a:latin typeface="+mn-ea"/>
                  <a:cs typeface="+mn-ea"/>
                  <a:sym typeface="+mn-lt"/>
                </a:rPr>
                <a:t>CONTENTS</a:t>
              </a:r>
              <a:endParaRPr lang="zh-CN" altLang="en-US" sz="2400" b="1" kern="0">
                <a:solidFill>
                  <a:prstClr val="white"/>
                </a:solidFill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8" name="NY-1"/>
            <p:cNvCxnSpPr/>
            <p:nvPr>
              <p:custDataLst>
                <p:tags r:id="rId6"/>
              </p:custDataLst>
            </p:nvPr>
          </p:nvCxnSpPr>
          <p:spPr>
            <a:xfrm>
              <a:off x="618" y="3894"/>
              <a:ext cx="4103" cy="0"/>
            </a:xfrm>
            <a:prstGeom prst="line">
              <a:avLst/>
            </a:prstGeom>
            <a:noFill/>
            <a:ln w="3175" cap="rnd" cmpd="sng" algn="ctr">
              <a:gradFill flip="none" rotWithShape="1">
                <a:gsLst>
                  <a:gs pos="0">
                    <a:srgbClr val="E1140A">
                      <a:lumMod val="5000"/>
                      <a:lumOff val="95000"/>
                      <a:alpha val="0"/>
                    </a:srgbClr>
                  </a:gs>
                  <a:gs pos="5200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10800000" scaled="1"/>
                <a:tileRect/>
              </a:gradFill>
              <a:prstDash val="solid"/>
              <a:round/>
              <a:headEnd type="none"/>
              <a:tailEnd type="none" w="med" len="med"/>
            </a:ln>
            <a:effectLst/>
          </p:spPr>
        </p:cxnSp>
        <p:cxnSp>
          <p:nvCxnSpPr>
            <p:cNvPr id="9" name="NY-2"/>
            <p:cNvCxnSpPr/>
            <p:nvPr>
              <p:custDataLst>
                <p:tags r:id="rId7"/>
              </p:custDataLst>
            </p:nvPr>
          </p:nvCxnSpPr>
          <p:spPr>
            <a:xfrm>
              <a:off x="618" y="6906"/>
              <a:ext cx="4103" cy="0"/>
            </a:xfrm>
            <a:prstGeom prst="line">
              <a:avLst/>
            </a:prstGeom>
            <a:noFill/>
            <a:ln w="3175" cap="rnd" cmpd="sng" algn="ctr">
              <a:gradFill flip="none" rotWithShape="1">
                <a:gsLst>
                  <a:gs pos="0">
                    <a:srgbClr val="E1140A">
                      <a:lumMod val="5000"/>
                      <a:lumOff val="95000"/>
                      <a:alpha val="0"/>
                    </a:srgbClr>
                  </a:gs>
                  <a:gs pos="5200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10800000" scaled="1"/>
                <a:tileRect/>
              </a:gradFill>
              <a:prstDash val="solid"/>
              <a:round/>
              <a:headEnd type="none"/>
              <a:tailEnd type="none" w="med" len="med"/>
            </a:ln>
            <a:effectLst/>
          </p:spPr>
        </p:cxnSp>
      </p:grpSp>
      <p:grpSp>
        <p:nvGrpSpPr>
          <p:cNvPr id="10" name="组合 9"/>
          <p:cNvGrpSpPr/>
          <p:nvPr/>
        </p:nvGrpSpPr>
        <p:grpSpPr>
          <a:xfrm>
            <a:off x="3623945" y="1803400"/>
            <a:ext cx="6550660" cy="3252470"/>
            <a:chOff x="5891" y="2888"/>
            <a:chExt cx="10316" cy="5122"/>
          </a:xfrm>
        </p:grpSpPr>
        <p:sp>
          <p:nvSpPr>
            <p:cNvPr id="20" name="文本框 19"/>
            <p:cNvSpPr txBox="1"/>
            <p:nvPr>
              <p:custDataLst>
                <p:tags r:id="rId2"/>
              </p:custDataLst>
            </p:nvPr>
          </p:nvSpPr>
          <p:spPr>
            <a:xfrm>
              <a:off x="5891" y="2888"/>
              <a:ext cx="8398" cy="5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i="0" u="none" strike="noStrike" cap="none" spc="-150" normalizeH="0" baseline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+mn-ea"/>
                  <a:ea typeface="+mn-ea"/>
                  <a:sym typeface="+mn-lt"/>
                </a:rPr>
                <a:t>01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联想</a:t>
              </a:r>
              <a:r>
                <a:rPr lang="zh-CN" altLang="en-US" sz="2400" dirty="0">
                  <a:solidFill>
                    <a:schemeClr val="bg1"/>
                  </a:solidFill>
                  <a:latin typeface="+mn-ea"/>
                  <a:ea typeface="+mn-ea"/>
                  <a:sym typeface="+mn-lt"/>
                </a:rPr>
                <a:t>制造智慧园案例解析（朱尤栋）</a:t>
              </a:r>
            </a:p>
          </p:txBody>
        </p:sp>
        <p:sp>
          <p:nvSpPr>
            <p:cNvPr id="3" name="文本框 2"/>
            <p:cNvSpPr txBox="1"/>
            <p:nvPr>
              <p:custDataLst>
                <p:tags r:id="rId3"/>
              </p:custDataLst>
            </p:nvPr>
          </p:nvSpPr>
          <p:spPr>
            <a:xfrm>
              <a:off x="5891" y="4023"/>
              <a:ext cx="10316" cy="5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6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-1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02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阳光智慧园区建设</a:t>
              </a:r>
              <a:r>
                <a:rPr lang="zh-CN" altLang="en-US" sz="240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方案总体架构（</a:t>
              </a:r>
              <a:r>
                <a:rPr lang="en-US" altLang="zh-CN" sz="240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DW</a:t>
              </a:r>
              <a:r>
                <a:rPr lang="zh-CN" altLang="en-US" sz="240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）</a:t>
              </a:r>
              <a:endParaRPr lang="zh-CN" altLang="en-US" sz="2400" noProof="0" dirty="0">
                <a:solidFill>
                  <a:srgbClr val="FFFFFF"/>
                </a:solidFill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4"/>
              </p:custDataLst>
            </p:nvPr>
          </p:nvSpPr>
          <p:spPr>
            <a:xfrm>
              <a:off x="5891" y="5158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6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-1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03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系统演示（伍玉斌 田磊）</a:t>
              </a:r>
              <a:endParaRPr kumimoji="1" lang="zh-CN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5892" y="7428"/>
              <a:ext cx="7335" cy="5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6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05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差异化服务优势（朱尤栋 田磊）</a:t>
              </a:r>
              <a:endParaRPr lang="zh-CN" altLang="en-US" sz="2400" noProof="0" dirty="0">
                <a:solidFill>
                  <a:srgbClr val="FFFFFF"/>
                </a:solidFill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5"/>
              </p:custDataLst>
            </p:nvPr>
          </p:nvSpPr>
          <p:spPr>
            <a:xfrm>
              <a:off x="5893" y="6293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6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04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实施方案（伍玉斌）</a:t>
              </a:r>
              <a:endParaRPr kumimoji="1" lang="zh-CN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sym typeface="+mn-lt"/>
              </a:endParaRP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4B1CE716-DE25-7DB5-B466-1E72D11DB2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15524" y="2084123"/>
            <a:ext cx="5868978" cy="330551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011E771-559B-5669-9468-993CDCCEC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5ACBBEF-F777-E452-F6FA-DA350C509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1E1EB0-C183-039E-86DB-43CDC8307237}"/>
              </a:ext>
            </a:extLst>
          </p:cNvPr>
          <p:cNvSpPr txBox="1"/>
          <p:nvPr/>
        </p:nvSpPr>
        <p:spPr>
          <a:xfrm>
            <a:off x="774290" y="1238864"/>
            <a:ext cx="497283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济南黄金广场（办公园区）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联想武汉基地（制造园区）改造升级经验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联想南方基地（制造园区）整合型母本工厂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联想天津基地（制造园区）绿色低碳工业小镇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武汉联特（制造园区）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联想墨西哥工厂（制造园区）全球灯塔工厂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浙江能源集团白马湖实验室园区（研发园区）</a:t>
            </a:r>
          </a:p>
        </p:txBody>
      </p:sp>
    </p:spTree>
    <p:extLst>
      <p:ext uri="{BB962C8B-B14F-4D97-AF65-F5344CB8AC3E}">
        <p14:creationId xmlns:p14="http://schemas.microsoft.com/office/powerpoint/2010/main" val="2973837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A5C831E-A67D-9DB9-A07F-568E99E99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D23D645-AAC8-D39F-A521-34E037DB6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总体架构</a:t>
            </a:r>
          </a:p>
        </p:txBody>
      </p:sp>
      <p:sp>
        <p:nvSpPr>
          <p:cNvPr id="4" name="AutoShape 8">
            <a:extLst>
              <a:ext uri="{FF2B5EF4-FFF2-40B4-BE49-F238E27FC236}">
                <a16:creationId xmlns:a16="http://schemas.microsoft.com/office/drawing/2014/main" id="{04076ECC-86CA-7589-3B24-01FAC4BD66BD}"/>
              </a:ext>
            </a:extLst>
          </p:cNvPr>
          <p:cNvSpPr/>
          <p:nvPr/>
        </p:nvSpPr>
        <p:spPr>
          <a:xfrm>
            <a:off x="624114" y="1248229"/>
            <a:ext cx="10668000" cy="304800"/>
          </a:xfrm>
          <a:prstGeom prst="roundRect">
            <a:avLst>
              <a:gd name="adj" fmla="val 16666"/>
            </a:avLst>
          </a:prstGeom>
          <a:solidFill>
            <a:srgbClr val="C930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9">
            <a:extLst>
              <a:ext uri="{FF2B5EF4-FFF2-40B4-BE49-F238E27FC236}">
                <a16:creationId xmlns:a16="http://schemas.microsoft.com/office/drawing/2014/main" id="{DE672F76-7C88-E067-4A3F-D7460AAD4C1C}"/>
              </a:ext>
            </a:extLst>
          </p:cNvPr>
          <p:cNvSpPr/>
          <p:nvPr/>
        </p:nvSpPr>
        <p:spPr>
          <a:xfrm>
            <a:off x="827314" y="1273629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展示层 · 多端接入</a:t>
            </a:r>
            <a:endParaRPr lang="en-US" sz="1100"/>
          </a:p>
        </p:txBody>
      </p:sp>
      <p:sp>
        <p:nvSpPr>
          <p:cNvPr id="6" name="AutoShape 10">
            <a:extLst>
              <a:ext uri="{FF2B5EF4-FFF2-40B4-BE49-F238E27FC236}">
                <a16:creationId xmlns:a16="http://schemas.microsoft.com/office/drawing/2014/main" id="{8A6129C5-7841-40C7-36AD-10775BAECBAC}"/>
              </a:ext>
            </a:extLst>
          </p:cNvPr>
          <p:cNvSpPr/>
          <p:nvPr/>
        </p:nvSpPr>
        <p:spPr>
          <a:xfrm>
            <a:off x="624114" y="1553029"/>
            <a:ext cx="10668000" cy="533400"/>
          </a:xfrm>
          <a:prstGeom prst="roundRect">
            <a:avLst>
              <a:gd name="adj" fmla="val 0"/>
            </a:avLst>
          </a:prstGeom>
          <a:solidFill>
            <a:srgbClr val="FBF0F0">
              <a:alpha val="100000"/>
            </a:srgbClr>
          </a:solidFill>
          <a:ln w="12700" cap="flat" cmpd="sng">
            <a:solidFill>
              <a:srgbClr val="C9302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1">
            <a:extLst>
              <a:ext uri="{FF2B5EF4-FFF2-40B4-BE49-F238E27FC236}">
                <a16:creationId xmlns:a16="http://schemas.microsoft.com/office/drawing/2014/main" id="{62CA1A24-FB7F-E399-5DC0-FB9D33128168}"/>
              </a:ext>
            </a:extLst>
          </p:cNvPr>
          <p:cNvSpPr/>
          <p:nvPr/>
        </p:nvSpPr>
        <p:spPr>
          <a:xfrm>
            <a:off x="827314" y="1629229"/>
            <a:ext cx="1968500" cy="4064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2">
            <a:extLst>
              <a:ext uri="{FF2B5EF4-FFF2-40B4-BE49-F238E27FC236}">
                <a16:creationId xmlns:a16="http://schemas.microsoft.com/office/drawing/2014/main" id="{900112EE-71FC-BF13-1589-1EDF2D7AF972}"/>
              </a:ext>
            </a:extLst>
          </p:cNvPr>
          <p:cNvSpPr/>
          <p:nvPr/>
        </p:nvSpPr>
        <p:spPr>
          <a:xfrm>
            <a:off x="878114" y="1667329"/>
            <a:ext cx="18669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PC 浏览器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B/S 免装</a:t>
            </a:r>
            <a:endParaRPr lang="en-US" sz="1100"/>
          </a:p>
        </p:txBody>
      </p:sp>
      <p:sp>
        <p:nvSpPr>
          <p:cNvPr id="9" name="AutoShape 13">
            <a:extLst>
              <a:ext uri="{FF2B5EF4-FFF2-40B4-BE49-F238E27FC236}">
                <a16:creationId xmlns:a16="http://schemas.microsoft.com/office/drawing/2014/main" id="{C610B6F0-D41A-95B7-B4A8-8D52879732CE}"/>
              </a:ext>
            </a:extLst>
          </p:cNvPr>
          <p:cNvSpPr/>
          <p:nvPr/>
        </p:nvSpPr>
        <p:spPr>
          <a:xfrm>
            <a:off x="2897414" y="1629229"/>
            <a:ext cx="1968500" cy="4064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034E1BF0-9105-CE8E-CEC4-B3D28EB352DD}"/>
              </a:ext>
            </a:extLst>
          </p:cNvPr>
          <p:cNvSpPr/>
          <p:nvPr/>
        </p:nvSpPr>
        <p:spPr>
          <a:xfrm>
            <a:off x="2948214" y="1667329"/>
            <a:ext cx="18669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移动端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APP / 小程序</a:t>
            </a:r>
            <a:endParaRPr lang="en-US" sz="1100"/>
          </a:p>
        </p:txBody>
      </p:sp>
      <p:sp>
        <p:nvSpPr>
          <p:cNvPr id="11" name="AutoShape 15">
            <a:extLst>
              <a:ext uri="{FF2B5EF4-FFF2-40B4-BE49-F238E27FC236}">
                <a16:creationId xmlns:a16="http://schemas.microsoft.com/office/drawing/2014/main" id="{EC2928FA-391E-CB0C-BFAE-7EDBAD2E980E}"/>
              </a:ext>
            </a:extLst>
          </p:cNvPr>
          <p:cNvSpPr/>
          <p:nvPr/>
        </p:nvSpPr>
        <p:spPr>
          <a:xfrm>
            <a:off x="4967514" y="1629229"/>
            <a:ext cx="1968500" cy="4064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6">
            <a:extLst>
              <a:ext uri="{FF2B5EF4-FFF2-40B4-BE49-F238E27FC236}">
                <a16:creationId xmlns:a16="http://schemas.microsoft.com/office/drawing/2014/main" id="{69D4F6E5-3912-72A5-96FD-2C60F07405C7}"/>
              </a:ext>
            </a:extLst>
          </p:cNvPr>
          <p:cNvSpPr/>
          <p:nvPr/>
        </p:nvSpPr>
        <p:spPr>
          <a:xfrm>
            <a:off x="5018314" y="1667329"/>
            <a:ext cx="18669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PDA / PAD / 穿戴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现场扫码作业</a:t>
            </a:r>
            <a:endParaRPr lang="en-US" sz="1100"/>
          </a:p>
        </p:txBody>
      </p:sp>
      <p:sp>
        <p:nvSpPr>
          <p:cNvPr id="13" name="AutoShape 17">
            <a:extLst>
              <a:ext uri="{FF2B5EF4-FFF2-40B4-BE49-F238E27FC236}">
                <a16:creationId xmlns:a16="http://schemas.microsoft.com/office/drawing/2014/main" id="{179F34F7-D7D4-4F63-63DB-A77DD98920DC}"/>
              </a:ext>
            </a:extLst>
          </p:cNvPr>
          <p:cNvSpPr/>
          <p:nvPr/>
        </p:nvSpPr>
        <p:spPr>
          <a:xfrm>
            <a:off x="7037614" y="1629229"/>
            <a:ext cx="1968500" cy="4064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8">
            <a:extLst>
              <a:ext uri="{FF2B5EF4-FFF2-40B4-BE49-F238E27FC236}">
                <a16:creationId xmlns:a16="http://schemas.microsoft.com/office/drawing/2014/main" id="{C7915604-52A9-006E-3824-A9D6EEDDCD1F}"/>
              </a:ext>
            </a:extLst>
          </p:cNvPr>
          <p:cNvSpPr/>
          <p:nvPr/>
        </p:nvSpPr>
        <p:spPr>
          <a:xfrm>
            <a:off x="7088414" y="1667329"/>
            <a:ext cx="18669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大屏 / 驾驶舱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园区·集团级看板</a:t>
            </a:r>
            <a:endParaRPr lang="en-US" sz="1100"/>
          </a:p>
        </p:txBody>
      </p:sp>
      <p:sp>
        <p:nvSpPr>
          <p:cNvPr id="15" name="AutoShape 19">
            <a:extLst>
              <a:ext uri="{FF2B5EF4-FFF2-40B4-BE49-F238E27FC236}">
                <a16:creationId xmlns:a16="http://schemas.microsoft.com/office/drawing/2014/main" id="{BBABC7E1-E722-F0D2-154C-8AED977E0445}"/>
              </a:ext>
            </a:extLst>
          </p:cNvPr>
          <p:cNvSpPr/>
          <p:nvPr/>
        </p:nvSpPr>
        <p:spPr>
          <a:xfrm>
            <a:off x="9107714" y="1629229"/>
            <a:ext cx="1968500" cy="4064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0">
            <a:extLst>
              <a:ext uri="{FF2B5EF4-FFF2-40B4-BE49-F238E27FC236}">
                <a16:creationId xmlns:a16="http://schemas.microsoft.com/office/drawing/2014/main" id="{A2B5C386-02F7-2129-254C-FF9EA169A4F3}"/>
              </a:ext>
            </a:extLst>
          </p:cNvPr>
          <p:cNvSpPr/>
          <p:nvPr/>
        </p:nvSpPr>
        <p:spPr>
          <a:xfrm>
            <a:off x="9158514" y="1667329"/>
            <a:ext cx="18669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iSungrow / 钉钉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消息推送·待办</a:t>
            </a:r>
            <a:endParaRPr lang="en-US" sz="1100"/>
          </a:p>
        </p:txBody>
      </p:sp>
      <p:cxnSp>
        <p:nvCxnSpPr>
          <p:cNvPr id="17" name="Connector 21">
            <a:extLst>
              <a:ext uri="{FF2B5EF4-FFF2-40B4-BE49-F238E27FC236}">
                <a16:creationId xmlns:a16="http://schemas.microsoft.com/office/drawing/2014/main" id="{5A1DACDE-C39C-C6DC-A513-A308FB2D9DD3}"/>
              </a:ext>
            </a:extLst>
          </p:cNvPr>
          <p:cNvCxnSpPr/>
          <p:nvPr/>
        </p:nvCxnSpPr>
        <p:spPr>
          <a:xfrm rot="5243846">
            <a:off x="5818414" y="2270723"/>
            <a:ext cx="27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8" name="AutoShape 22">
            <a:extLst>
              <a:ext uri="{FF2B5EF4-FFF2-40B4-BE49-F238E27FC236}">
                <a16:creationId xmlns:a16="http://schemas.microsoft.com/office/drawing/2014/main" id="{E077F077-1949-073D-EB17-F0BB28460F5D}"/>
              </a:ext>
            </a:extLst>
          </p:cNvPr>
          <p:cNvSpPr/>
          <p:nvPr/>
        </p:nvSpPr>
        <p:spPr>
          <a:xfrm>
            <a:off x="6212114" y="2162629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标准 API / 网关</a:t>
            </a:r>
            <a:endParaRPr lang="en-US" sz="1100"/>
          </a:p>
        </p:txBody>
      </p:sp>
      <p:sp>
        <p:nvSpPr>
          <p:cNvPr id="19" name="AutoShape 23">
            <a:extLst>
              <a:ext uri="{FF2B5EF4-FFF2-40B4-BE49-F238E27FC236}">
                <a16:creationId xmlns:a16="http://schemas.microsoft.com/office/drawing/2014/main" id="{2A37F793-723A-DA3F-E6C0-8757F50F5D75}"/>
              </a:ext>
            </a:extLst>
          </p:cNvPr>
          <p:cNvSpPr/>
          <p:nvPr/>
        </p:nvSpPr>
        <p:spPr>
          <a:xfrm>
            <a:off x="624114" y="2467429"/>
            <a:ext cx="10668000" cy="304800"/>
          </a:xfrm>
          <a:prstGeom prst="roundRect">
            <a:avLst>
              <a:gd name="adj" fmla="val 16666"/>
            </a:avLst>
          </a:prstGeom>
          <a:solidFill>
            <a:srgbClr val="7A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4">
            <a:extLst>
              <a:ext uri="{FF2B5EF4-FFF2-40B4-BE49-F238E27FC236}">
                <a16:creationId xmlns:a16="http://schemas.microsoft.com/office/drawing/2014/main" id="{6A4D721E-3694-D536-70B1-C29FCA4E9B82}"/>
              </a:ext>
            </a:extLst>
          </p:cNvPr>
          <p:cNvSpPr/>
          <p:nvPr/>
        </p:nvSpPr>
        <p:spPr>
          <a:xfrm>
            <a:off x="827314" y="2492829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业务应用层 · 五大业务域（远近耦合）</a:t>
            </a:r>
            <a:endParaRPr lang="en-US" sz="1100"/>
          </a:p>
        </p:txBody>
      </p:sp>
      <p:sp>
        <p:nvSpPr>
          <p:cNvPr id="21" name="AutoShape 25">
            <a:extLst>
              <a:ext uri="{FF2B5EF4-FFF2-40B4-BE49-F238E27FC236}">
                <a16:creationId xmlns:a16="http://schemas.microsoft.com/office/drawing/2014/main" id="{12C07CB2-C71A-4678-F278-E2BCDD1F8746}"/>
              </a:ext>
            </a:extLst>
          </p:cNvPr>
          <p:cNvSpPr/>
          <p:nvPr/>
        </p:nvSpPr>
        <p:spPr>
          <a:xfrm>
            <a:off x="624114" y="2772229"/>
            <a:ext cx="10668000" cy="660400"/>
          </a:xfrm>
          <a:prstGeom prst="roundRect">
            <a:avLst>
              <a:gd name="adj" fmla="val 0"/>
            </a:avLst>
          </a:prstGeom>
          <a:solidFill>
            <a:srgbClr val="F7E6E6">
              <a:alpha val="100000"/>
            </a:srgbClr>
          </a:solidFill>
          <a:ln w="12700" cap="flat" cmpd="sng">
            <a:solidFill>
              <a:srgbClr val="7A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6">
            <a:extLst>
              <a:ext uri="{FF2B5EF4-FFF2-40B4-BE49-F238E27FC236}">
                <a16:creationId xmlns:a16="http://schemas.microsoft.com/office/drawing/2014/main" id="{685FDA41-409F-594C-B1C6-E2511BF5B6BF}"/>
              </a:ext>
            </a:extLst>
          </p:cNvPr>
          <p:cNvSpPr/>
          <p:nvPr/>
        </p:nvSpPr>
        <p:spPr>
          <a:xfrm>
            <a:off x="827314" y="2848429"/>
            <a:ext cx="1968500" cy="5588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7">
            <a:extLst>
              <a:ext uri="{FF2B5EF4-FFF2-40B4-BE49-F238E27FC236}">
                <a16:creationId xmlns:a16="http://schemas.microsoft.com/office/drawing/2014/main" id="{C6B91BB3-AACE-6A8D-20B9-60DB960B97BA}"/>
              </a:ext>
            </a:extLst>
          </p:cNvPr>
          <p:cNvSpPr/>
          <p:nvPr/>
        </p:nvSpPr>
        <p:spPr>
          <a:xfrm>
            <a:off x="878114" y="2899229"/>
            <a:ext cx="18669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智慧安防</a:t>
            </a:r>
            <a:b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深融合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AI+视频+告警</a:t>
            </a:r>
            <a:endParaRPr lang="en-US" sz="1100"/>
          </a:p>
        </p:txBody>
      </p:sp>
      <p:sp>
        <p:nvSpPr>
          <p:cNvPr id="24" name="AutoShape 28">
            <a:extLst>
              <a:ext uri="{FF2B5EF4-FFF2-40B4-BE49-F238E27FC236}">
                <a16:creationId xmlns:a16="http://schemas.microsoft.com/office/drawing/2014/main" id="{041DA7C0-E250-9111-E1F8-7FAE18D0ECA6}"/>
              </a:ext>
            </a:extLst>
          </p:cNvPr>
          <p:cNvSpPr/>
          <p:nvPr/>
        </p:nvSpPr>
        <p:spPr>
          <a:xfrm>
            <a:off x="2897414" y="2848429"/>
            <a:ext cx="1968500" cy="5588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9">
            <a:extLst>
              <a:ext uri="{FF2B5EF4-FFF2-40B4-BE49-F238E27FC236}">
                <a16:creationId xmlns:a16="http://schemas.microsoft.com/office/drawing/2014/main" id="{6A714ED7-CEDF-64F5-E006-3CF139B1845E}"/>
              </a:ext>
            </a:extLst>
          </p:cNvPr>
          <p:cNvSpPr/>
          <p:nvPr/>
        </p:nvSpPr>
        <p:spPr>
          <a:xfrm>
            <a:off x="2948214" y="2899229"/>
            <a:ext cx="18669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12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智慧消防</a:t>
            </a:r>
            <a:b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 dirty="0" err="1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深融合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物联+安消一体</a:t>
            </a:r>
            <a:endParaRPr lang="en-US" sz="1100" dirty="0"/>
          </a:p>
        </p:txBody>
      </p:sp>
      <p:sp>
        <p:nvSpPr>
          <p:cNvPr id="26" name="AutoShape 30">
            <a:extLst>
              <a:ext uri="{FF2B5EF4-FFF2-40B4-BE49-F238E27FC236}">
                <a16:creationId xmlns:a16="http://schemas.microsoft.com/office/drawing/2014/main" id="{3252C48E-5F72-F6BF-AEEE-EB951AC30DC8}"/>
              </a:ext>
            </a:extLst>
          </p:cNvPr>
          <p:cNvSpPr/>
          <p:nvPr/>
        </p:nvSpPr>
        <p:spPr>
          <a:xfrm>
            <a:off x="4967514" y="2848429"/>
            <a:ext cx="1968500" cy="5588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31">
            <a:extLst>
              <a:ext uri="{FF2B5EF4-FFF2-40B4-BE49-F238E27FC236}">
                <a16:creationId xmlns:a16="http://schemas.microsoft.com/office/drawing/2014/main" id="{BA77CF78-C342-CFEB-9041-EF3A00BEFC2E}"/>
              </a:ext>
            </a:extLst>
          </p:cNvPr>
          <p:cNvSpPr/>
          <p:nvPr/>
        </p:nvSpPr>
        <p:spPr>
          <a:xfrm>
            <a:off x="5018314" y="2899229"/>
            <a:ext cx="18669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12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宿舍管理</a:t>
            </a:r>
            <a:b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 dirty="0" err="1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深融合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主数据+门禁+工单</a:t>
            </a:r>
            <a:endParaRPr lang="en-US" sz="1100" dirty="0"/>
          </a:p>
        </p:txBody>
      </p:sp>
      <p:sp>
        <p:nvSpPr>
          <p:cNvPr id="28" name="AutoShape 32">
            <a:extLst>
              <a:ext uri="{FF2B5EF4-FFF2-40B4-BE49-F238E27FC236}">
                <a16:creationId xmlns:a16="http://schemas.microsoft.com/office/drawing/2014/main" id="{96A978B7-1166-E677-EFA2-56290787AB27}"/>
              </a:ext>
            </a:extLst>
          </p:cNvPr>
          <p:cNvSpPr/>
          <p:nvPr/>
        </p:nvSpPr>
        <p:spPr>
          <a:xfrm>
            <a:off x="7037614" y="2848429"/>
            <a:ext cx="1968500" cy="5588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3">
            <a:extLst>
              <a:ext uri="{FF2B5EF4-FFF2-40B4-BE49-F238E27FC236}">
                <a16:creationId xmlns:a16="http://schemas.microsoft.com/office/drawing/2014/main" id="{81348E4A-596C-3D27-F157-FF551547B0DD}"/>
              </a:ext>
            </a:extLst>
          </p:cNvPr>
          <p:cNvSpPr/>
          <p:nvPr/>
        </p:nvSpPr>
        <p:spPr>
          <a:xfrm>
            <a:off x="7088414" y="2899229"/>
            <a:ext cx="18669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外协管理</a:t>
            </a:r>
            <a:b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中耦合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人员+流程+EHS</a:t>
            </a:r>
            <a:endParaRPr lang="en-US" sz="1100"/>
          </a:p>
        </p:txBody>
      </p:sp>
      <p:sp>
        <p:nvSpPr>
          <p:cNvPr id="30" name="AutoShape 34">
            <a:extLst>
              <a:ext uri="{FF2B5EF4-FFF2-40B4-BE49-F238E27FC236}">
                <a16:creationId xmlns:a16="http://schemas.microsoft.com/office/drawing/2014/main" id="{E8637B0A-72A6-021B-81D2-CDE945C554A9}"/>
              </a:ext>
            </a:extLst>
          </p:cNvPr>
          <p:cNvSpPr/>
          <p:nvPr/>
        </p:nvSpPr>
        <p:spPr>
          <a:xfrm>
            <a:off x="9107714" y="2848429"/>
            <a:ext cx="1968500" cy="5588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A63AA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5">
            <a:extLst>
              <a:ext uri="{FF2B5EF4-FFF2-40B4-BE49-F238E27FC236}">
                <a16:creationId xmlns:a16="http://schemas.microsoft.com/office/drawing/2014/main" id="{0F61624E-9161-6314-DBD0-56D09435B217}"/>
              </a:ext>
            </a:extLst>
          </p:cNvPr>
          <p:cNvSpPr/>
          <p:nvPr/>
        </p:nvSpPr>
        <p:spPr>
          <a:xfrm>
            <a:off x="9158514" y="2899229"/>
            <a:ext cx="18669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智慧物流</a:t>
            </a:r>
            <a:b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2A63AA"/>
                </a:solidFill>
                <a:latin typeface="Noto Sans SC"/>
                <a:ea typeface="Noto Sans SC"/>
                <a:cs typeface="Noto Sans SC"/>
                <a:sym typeface="Noto Sans SC"/>
              </a:rPr>
              <a:t>轻挂载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独立域+标准接口</a:t>
            </a:r>
            <a:endParaRPr lang="en-US" sz="1100"/>
          </a:p>
        </p:txBody>
      </p:sp>
      <p:cxnSp>
        <p:nvCxnSpPr>
          <p:cNvPr id="32" name="Connector 36">
            <a:extLst>
              <a:ext uri="{FF2B5EF4-FFF2-40B4-BE49-F238E27FC236}">
                <a16:creationId xmlns:a16="http://schemas.microsoft.com/office/drawing/2014/main" id="{51D1731A-1355-6D63-E621-95AF71CD6A4A}"/>
              </a:ext>
            </a:extLst>
          </p:cNvPr>
          <p:cNvCxnSpPr/>
          <p:nvPr/>
        </p:nvCxnSpPr>
        <p:spPr>
          <a:xfrm rot="5243846">
            <a:off x="5818414" y="3616923"/>
            <a:ext cx="27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3" name="AutoShape 37">
            <a:extLst>
              <a:ext uri="{FF2B5EF4-FFF2-40B4-BE49-F238E27FC236}">
                <a16:creationId xmlns:a16="http://schemas.microsoft.com/office/drawing/2014/main" id="{435FAD5F-D603-5CD6-8F8F-6E72336E8549}"/>
              </a:ext>
            </a:extLst>
          </p:cNvPr>
          <p:cNvSpPr/>
          <p:nvPr/>
        </p:nvSpPr>
        <p:spPr>
          <a:xfrm>
            <a:off x="6212114" y="3508829"/>
            <a:ext cx="279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服务注册 / 统一路由</a:t>
            </a:r>
            <a:endParaRPr lang="en-US" sz="1100"/>
          </a:p>
        </p:txBody>
      </p:sp>
      <p:sp>
        <p:nvSpPr>
          <p:cNvPr id="34" name="AutoShape 38">
            <a:extLst>
              <a:ext uri="{FF2B5EF4-FFF2-40B4-BE49-F238E27FC236}">
                <a16:creationId xmlns:a16="http://schemas.microsoft.com/office/drawing/2014/main" id="{BD537C09-7F94-8263-C468-D04F11FDFFD4}"/>
              </a:ext>
            </a:extLst>
          </p:cNvPr>
          <p:cNvSpPr/>
          <p:nvPr/>
        </p:nvSpPr>
        <p:spPr>
          <a:xfrm>
            <a:off x="624114" y="3813629"/>
            <a:ext cx="10668000" cy="304800"/>
          </a:xfrm>
          <a:prstGeom prst="roundRect">
            <a:avLst>
              <a:gd name="adj" fmla="val 16666"/>
            </a:avLst>
          </a:prstGeom>
          <a:solidFill>
            <a:srgbClr val="3D424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9">
            <a:extLst>
              <a:ext uri="{FF2B5EF4-FFF2-40B4-BE49-F238E27FC236}">
                <a16:creationId xmlns:a16="http://schemas.microsoft.com/office/drawing/2014/main" id="{F088C450-0FDD-5518-E874-B7FE667A50E0}"/>
              </a:ext>
            </a:extLst>
          </p:cNvPr>
          <p:cNvSpPr/>
          <p:nvPr/>
        </p:nvSpPr>
        <p:spPr>
          <a:xfrm>
            <a:off x="827314" y="3839029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平台服务底座 · 横向共性能力（所有域共享）</a:t>
            </a:r>
            <a:endParaRPr lang="en-US" sz="1100"/>
          </a:p>
        </p:txBody>
      </p:sp>
      <p:sp>
        <p:nvSpPr>
          <p:cNvPr id="36" name="AutoShape 40">
            <a:extLst>
              <a:ext uri="{FF2B5EF4-FFF2-40B4-BE49-F238E27FC236}">
                <a16:creationId xmlns:a16="http://schemas.microsoft.com/office/drawing/2014/main" id="{2C1E2B95-1BA8-1C2B-4788-00867DFD0BE7}"/>
              </a:ext>
            </a:extLst>
          </p:cNvPr>
          <p:cNvSpPr/>
          <p:nvPr/>
        </p:nvSpPr>
        <p:spPr>
          <a:xfrm>
            <a:off x="624114" y="4118429"/>
            <a:ext cx="10668000" cy="990600"/>
          </a:xfrm>
          <a:prstGeom prst="roundRect">
            <a:avLst>
              <a:gd name="adj" fmla="val 0"/>
            </a:avLst>
          </a:prstGeom>
          <a:solidFill>
            <a:srgbClr val="F2F3F4">
              <a:alpha val="100000"/>
            </a:srgbClr>
          </a:solidFill>
          <a:ln w="12700" cap="flat" cmpd="sng">
            <a:solidFill>
              <a:srgbClr val="3D424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41">
            <a:extLst>
              <a:ext uri="{FF2B5EF4-FFF2-40B4-BE49-F238E27FC236}">
                <a16:creationId xmlns:a16="http://schemas.microsoft.com/office/drawing/2014/main" id="{718D32F5-81AF-B2BD-0A94-3CED2C5648DD}"/>
              </a:ext>
            </a:extLst>
          </p:cNvPr>
          <p:cNvSpPr/>
          <p:nvPr/>
        </p:nvSpPr>
        <p:spPr>
          <a:xfrm>
            <a:off x="827314" y="4194629"/>
            <a:ext cx="3302000" cy="254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424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42">
            <a:extLst>
              <a:ext uri="{FF2B5EF4-FFF2-40B4-BE49-F238E27FC236}">
                <a16:creationId xmlns:a16="http://schemas.microsoft.com/office/drawing/2014/main" id="{C4348EEF-B095-A6C2-1E59-AAB7EF3FE280}"/>
              </a:ext>
            </a:extLst>
          </p:cNvPr>
          <p:cNvSpPr/>
          <p:nvPr/>
        </p:nvSpPr>
        <p:spPr>
          <a:xfrm>
            <a:off x="878114" y="4220029"/>
            <a:ext cx="320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物联网平台</a:t>
            </a: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｜ 物模型·协议适配</a:t>
            </a:r>
            <a:endParaRPr lang="en-US" sz="1100"/>
          </a:p>
        </p:txBody>
      </p:sp>
      <p:sp>
        <p:nvSpPr>
          <p:cNvPr id="39" name="AutoShape 43">
            <a:extLst>
              <a:ext uri="{FF2B5EF4-FFF2-40B4-BE49-F238E27FC236}">
                <a16:creationId xmlns:a16="http://schemas.microsoft.com/office/drawing/2014/main" id="{3B716F65-8567-1ECF-0D7A-063DB800C641}"/>
              </a:ext>
            </a:extLst>
          </p:cNvPr>
          <p:cNvSpPr/>
          <p:nvPr/>
        </p:nvSpPr>
        <p:spPr>
          <a:xfrm>
            <a:off x="4230914" y="4194629"/>
            <a:ext cx="3302000" cy="254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424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4">
            <a:extLst>
              <a:ext uri="{FF2B5EF4-FFF2-40B4-BE49-F238E27FC236}">
                <a16:creationId xmlns:a16="http://schemas.microsoft.com/office/drawing/2014/main" id="{F297E44D-B766-FB3F-0B25-CD2E98F42A4B}"/>
              </a:ext>
            </a:extLst>
          </p:cNvPr>
          <p:cNvSpPr/>
          <p:nvPr/>
        </p:nvSpPr>
        <p:spPr>
          <a:xfrm>
            <a:off x="4281714" y="4220029"/>
            <a:ext cx="320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数据集成平台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｜ </a:t>
            </a: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ESB·接口治理</a:t>
            </a:r>
            <a:endParaRPr lang="en-US" sz="1100" dirty="0"/>
          </a:p>
        </p:txBody>
      </p:sp>
      <p:sp>
        <p:nvSpPr>
          <p:cNvPr id="41" name="AutoShape 45">
            <a:extLst>
              <a:ext uri="{FF2B5EF4-FFF2-40B4-BE49-F238E27FC236}">
                <a16:creationId xmlns:a16="http://schemas.microsoft.com/office/drawing/2014/main" id="{50B70B8F-1D70-8BA9-A251-E677C0531714}"/>
              </a:ext>
            </a:extLst>
          </p:cNvPr>
          <p:cNvSpPr/>
          <p:nvPr/>
        </p:nvSpPr>
        <p:spPr>
          <a:xfrm>
            <a:off x="7634514" y="4194629"/>
            <a:ext cx="3302000" cy="254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424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6">
            <a:extLst>
              <a:ext uri="{FF2B5EF4-FFF2-40B4-BE49-F238E27FC236}">
                <a16:creationId xmlns:a16="http://schemas.microsoft.com/office/drawing/2014/main" id="{DEF31BA0-A18A-FD25-960B-73BB4F3B143C}"/>
              </a:ext>
            </a:extLst>
          </p:cNvPr>
          <p:cNvSpPr/>
          <p:nvPr/>
        </p:nvSpPr>
        <p:spPr>
          <a:xfrm>
            <a:off x="7685314" y="4220029"/>
            <a:ext cx="320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05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园区工单池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｜ </a:t>
            </a: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</a:t>
            </a:r>
            <a:r>
              <a:rPr lang="zh-CN" alt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工单管理</a:t>
            </a:r>
            <a:endParaRPr lang="en-US" sz="1100" dirty="0"/>
          </a:p>
        </p:txBody>
      </p:sp>
      <p:sp>
        <p:nvSpPr>
          <p:cNvPr id="43" name="AutoShape 47">
            <a:extLst>
              <a:ext uri="{FF2B5EF4-FFF2-40B4-BE49-F238E27FC236}">
                <a16:creationId xmlns:a16="http://schemas.microsoft.com/office/drawing/2014/main" id="{7FC9D1DF-0EE4-2C97-A027-4E8B8317D595}"/>
              </a:ext>
            </a:extLst>
          </p:cNvPr>
          <p:cNvSpPr/>
          <p:nvPr/>
        </p:nvSpPr>
        <p:spPr>
          <a:xfrm>
            <a:off x="827314" y="4524829"/>
            <a:ext cx="3302000" cy="254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424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AutoShape 48">
            <a:extLst>
              <a:ext uri="{FF2B5EF4-FFF2-40B4-BE49-F238E27FC236}">
                <a16:creationId xmlns:a16="http://schemas.microsoft.com/office/drawing/2014/main" id="{16A564A8-1ACA-F385-8713-1E45357F8408}"/>
              </a:ext>
            </a:extLst>
          </p:cNvPr>
          <p:cNvSpPr/>
          <p:nvPr/>
        </p:nvSpPr>
        <p:spPr>
          <a:xfrm>
            <a:off x="878114" y="4550229"/>
            <a:ext cx="320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视频 &amp; 流媒体</a:t>
            </a: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｜ GB28181·NVR</a:t>
            </a:r>
            <a:endParaRPr lang="en-US" sz="1100"/>
          </a:p>
        </p:txBody>
      </p:sp>
      <p:sp>
        <p:nvSpPr>
          <p:cNvPr id="45" name="AutoShape 49">
            <a:extLst>
              <a:ext uri="{FF2B5EF4-FFF2-40B4-BE49-F238E27FC236}">
                <a16:creationId xmlns:a16="http://schemas.microsoft.com/office/drawing/2014/main" id="{927561BF-5532-01F3-3705-AD86809942A8}"/>
              </a:ext>
            </a:extLst>
          </p:cNvPr>
          <p:cNvSpPr/>
          <p:nvPr/>
        </p:nvSpPr>
        <p:spPr>
          <a:xfrm>
            <a:off x="4230914" y="4524829"/>
            <a:ext cx="3302000" cy="254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424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AutoShape 50">
            <a:extLst>
              <a:ext uri="{FF2B5EF4-FFF2-40B4-BE49-F238E27FC236}">
                <a16:creationId xmlns:a16="http://schemas.microsoft.com/office/drawing/2014/main" id="{CFA6FAA9-4A8B-D527-1BA8-FA92958FD06D}"/>
              </a:ext>
            </a:extLst>
          </p:cNvPr>
          <p:cNvSpPr/>
          <p:nvPr/>
        </p:nvSpPr>
        <p:spPr>
          <a:xfrm>
            <a:off x="4281714" y="4550229"/>
            <a:ext cx="320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en-US" sz="105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算法仓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｜ </a:t>
            </a: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算法编排调度</a:t>
            </a:r>
            <a:endParaRPr lang="en-US" sz="1100" dirty="0"/>
          </a:p>
        </p:txBody>
      </p:sp>
      <p:sp>
        <p:nvSpPr>
          <p:cNvPr id="47" name="AutoShape 51">
            <a:extLst>
              <a:ext uri="{FF2B5EF4-FFF2-40B4-BE49-F238E27FC236}">
                <a16:creationId xmlns:a16="http://schemas.microsoft.com/office/drawing/2014/main" id="{D3DED98C-68A3-F196-5AF5-69472DEFB2B4}"/>
              </a:ext>
            </a:extLst>
          </p:cNvPr>
          <p:cNvSpPr/>
          <p:nvPr/>
        </p:nvSpPr>
        <p:spPr>
          <a:xfrm>
            <a:off x="7634514" y="4524829"/>
            <a:ext cx="3302000" cy="254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424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AutoShape 52">
            <a:extLst>
              <a:ext uri="{FF2B5EF4-FFF2-40B4-BE49-F238E27FC236}">
                <a16:creationId xmlns:a16="http://schemas.microsoft.com/office/drawing/2014/main" id="{26705E1F-A2F4-2BEA-8F81-1DD8563F264C}"/>
              </a:ext>
            </a:extLst>
          </p:cNvPr>
          <p:cNvSpPr/>
          <p:nvPr/>
        </p:nvSpPr>
        <p:spPr>
          <a:xfrm>
            <a:off x="7685314" y="4550229"/>
            <a:ext cx="320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流程引擎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｜ </a:t>
            </a: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BPM</a:t>
            </a:r>
            <a:endParaRPr lang="en-US" sz="1100" dirty="0"/>
          </a:p>
        </p:txBody>
      </p:sp>
      <p:sp>
        <p:nvSpPr>
          <p:cNvPr id="49" name="AutoShape 53">
            <a:extLst>
              <a:ext uri="{FF2B5EF4-FFF2-40B4-BE49-F238E27FC236}">
                <a16:creationId xmlns:a16="http://schemas.microsoft.com/office/drawing/2014/main" id="{37155C3F-BE4D-954E-2C25-0AF2919BD12D}"/>
              </a:ext>
            </a:extLst>
          </p:cNvPr>
          <p:cNvSpPr/>
          <p:nvPr/>
        </p:nvSpPr>
        <p:spPr>
          <a:xfrm>
            <a:off x="827314" y="4855029"/>
            <a:ext cx="3302000" cy="254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424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54">
            <a:extLst>
              <a:ext uri="{FF2B5EF4-FFF2-40B4-BE49-F238E27FC236}">
                <a16:creationId xmlns:a16="http://schemas.microsoft.com/office/drawing/2014/main" id="{F5E116D2-73C7-D798-6612-09AF67AE6418}"/>
              </a:ext>
            </a:extLst>
          </p:cNvPr>
          <p:cNvSpPr/>
          <p:nvPr/>
        </p:nvSpPr>
        <p:spPr>
          <a:xfrm>
            <a:off x="878114" y="4880429"/>
            <a:ext cx="320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报表</a:t>
            </a:r>
            <a:r>
              <a:rPr lang="zh-CN" altLang="en-US" sz="105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r>
              <a:rPr lang="en-US" sz="105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05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看板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｜ </a:t>
            </a: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定制报表</a:t>
            </a:r>
            <a:endParaRPr lang="en-US" sz="1100" dirty="0"/>
          </a:p>
        </p:txBody>
      </p:sp>
      <p:sp>
        <p:nvSpPr>
          <p:cNvPr id="51" name="AutoShape 55">
            <a:extLst>
              <a:ext uri="{FF2B5EF4-FFF2-40B4-BE49-F238E27FC236}">
                <a16:creationId xmlns:a16="http://schemas.microsoft.com/office/drawing/2014/main" id="{F797F1D0-259D-AB13-7C0B-E5B56FA31DF5}"/>
              </a:ext>
            </a:extLst>
          </p:cNvPr>
          <p:cNvSpPr/>
          <p:nvPr/>
        </p:nvSpPr>
        <p:spPr>
          <a:xfrm>
            <a:off x="4230914" y="4855029"/>
            <a:ext cx="3302000" cy="254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424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AutoShape 56">
            <a:extLst>
              <a:ext uri="{FF2B5EF4-FFF2-40B4-BE49-F238E27FC236}">
                <a16:creationId xmlns:a16="http://schemas.microsoft.com/office/drawing/2014/main" id="{C5B2BC6F-D4BE-E407-CDFF-C9039F363541}"/>
              </a:ext>
            </a:extLst>
          </p:cNvPr>
          <p:cNvSpPr/>
          <p:nvPr/>
        </p:nvSpPr>
        <p:spPr>
          <a:xfrm>
            <a:off x="4281714" y="4880429"/>
            <a:ext cx="320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统一权限</a:t>
            </a: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｜ RBAC·SSO</a:t>
            </a:r>
            <a:endParaRPr lang="en-US" sz="1100"/>
          </a:p>
        </p:txBody>
      </p:sp>
      <p:sp>
        <p:nvSpPr>
          <p:cNvPr id="53" name="AutoShape 57">
            <a:extLst>
              <a:ext uri="{FF2B5EF4-FFF2-40B4-BE49-F238E27FC236}">
                <a16:creationId xmlns:a16="http://schemas.microsoft.com/office/drawing/2014/main" id="{39EB89ED-58D0-809D-F404-B116F878B750}"/>
              </a:ext>
            </a:extLst>
          </p:cNvPr>
          <p:cNvSpPr/>
          <p:nvPr/>
        </p:nvSpPr>
        <p:spPr>
          <a:xfrm>
            <a:off x="7634514" y="4855029"/>
            <a:ext cx="3302000" cy="254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424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AutoShape 58">
            <a:extLst>
              <a:ext uri="{FF2B5EF4-FFF2-40B4-BE49-F238E27FC236}">
                <a16:creationId xmlns:a16="http://schemas.microsoft.com/office/drawing/2014/main" id="{86DF5ECA-2719-E299-0A7E-5B572FCBD072}"/>
              </a:ext>
            </a:extLst>
          </p:cNvPr>
          <p:cNvSpPr/>
          <p:nvPr/>
        </p:nvSpPr>
        <p:spPr>
          <a:xfrm>
            <a:off x="7685314" y="4880429"/>
            <a:ext cx="320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消息推送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｜ </a:t>
            </a: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钉钉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短信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邮件</a:t>
            </a:r>
            <a:endParaRPr lang="en-US" sz="1100" dirty="0"/>
          </a:p>
        </p:txBody>
      </p:sp>
      <p:cxnSp>
        <p:nvCxnSpPr>
          <p:cNvPr id="55" name="Connector 59">
            <a:extLst>
              <a:ext uri="{FF2B5EF4-FFF2-40B4-BE49-F238E27FC236}">
                <a16:creationId xmlns:a16="http://schemas.microsoft.com/office/drawing/2014/main" id="{0A638989-6CE4-5C4D-01D0-BD0536A31CC3}"/>
              </a:ext>
            </a:extLst>
          </p:cNvPr>
          <p:cNvCxnSpPr/>
          <p:nvPr/>
        </p:nvCxnSpPr>
        <p:spPr>
          <a:xfrm rot="5243846">
            <a:off x="5818414" y="5293323"/>
            <a:ext cx="27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6" name="AutoShape 60">
            <a:extLst>
              <a:ext uri="{FF2B5EF4-FFF2-40B4-BE49-F238E27FC236}">
                <a16:creationId xmlns:a16="http://schemas.microsoft.com/office/drawing/2014/main" id="{0B0D698A-FC3F-6783-AC5D-FC49C6DC0353}"/>
              </a:ext>
            </a:extLst>
          </p:cNvPr>
          <p:cNvSpPr/>
          <p:nvPr/>
        </p:nvSpPr>
        <p:spPr>
          <a:xfrm>
            <a:off x="6212114" y="5185229"/>
            <a:ext cx="228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数据总线</a:t>
            </a:r>
            <a:endParaRPr lang="en-US" sz="1100"/>
          </a:p>
        </p:txBody>
      </p:sp>
      <p:sp>
        <p:nvSpPr>
          <p:cNvPr id="57" name="AutoShape 61">
            <a:extLst>
              <a:ext uri="{FF2B5EF4-FFF2-40B4-BE49-F238E27FC236}">
                <a16:creationId xmlns:a16="http://schemas.microsoft.com/office/drawing/2014/main" id="{D62B984D-3978-1C73-42F4-2BDF7B9E862D}"/>
              </a:ext>
            </a:extLst>
          </p:cNvPr>
          <p:cNvSpPr/>
          <p:nvPr/>
        </p:nvSpPr>
        <p:spPr>
          <a:xfrm>
            <a:off x="624114" y="5490029"/>
            <a:ext cx="10668000" cy="304800"/>
          </a:xfrm>
          <a:prstGeom prst="roundRect">
            <a:avLst>
              <a:gd name="adj" fmla="val 16666"/>
            </a:avLst>
          </a:prstGeom>
          <a:solidFill>
            <a:srgbClr val="6B72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AutoShape 62">
            <a:extLst>
              <a:ext uri="{FF2B5EF4-FFF2-40B4-BE49-F238E27FC236}">
                <a16:creationId xmlns:a16="http://schemas.microsoft.com/office/drawing/2014/main" id="{BB8A7F62-E591-C30F-91EE-EF80AC153107}"/>
              </a:ext>
            </a:extLst>
          </p:cNvPr>
          <p:cNvSpPr/>
          <p:nvPr/>
        </p:nvSpPr>
        <p:spPr>
          <a:xfrm>
            <a:off x="827314" y="5515429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集成与数据层</a:t>
            </a:r>
            <a:r>
              <a:rPr lang="en-US" sz="13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· ESB </a:t>
            </a:r>
            <a:r>
              <a:rPr lang="en-US" sz="13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统一集成（纵向贯穿</a:t>
            </a:r>
            <a:r>
              <a:rPr lang="en-US" sz="13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</p:txBody>
      </p:sp>
      <p:sp>
        <p:nvSpPr>
          <p:cNvPr id="59" name="AutoShape 63">
            <a:extLst>
              <a:ext uri="{FF2B5EF4-FFF2-40B4-BE49-F238E27FC236}">
                <a16:creationId xmlns:a16="http://schemas.microsoft.com/office/drawing/2014/main" id="{9CFB423B-DF63-FCCB-CCDD-B57964854BAE}"/>
              </a:ext>
            </a:extLst>
          </p:cNvPr>
          <p:cNvSpPr/>
          <p:nvPr/>
        </p:nvSpPr>
        <p:spPr>
          <a:xfrm>
            <a:off x="624114" y="5794829"/>
            <a:ext cx="10668000" cy="381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6B7280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AutoShape 64">
            <a:extLst>
              <a:ext uri="{FF2B5EF4-FFF2-40B4-BE49-F238E27FC236}">
                <a16:creationId xmlns:a16="http://schemas.microsoft.com/office/drawing/2014/main" id="{92B1F3A8-ADA6-0595-3002-0442DB05D236}"/>
              </a:ext>
            </a:extLst>
          </p:cNvPr>
          <p:cNvSpPr/>
          <p:nvPr/>
        </p:nvSpPr>
        <p:spPr>
          <a:xfrm>
            <a:off x="827314" y="5845629"/>
            <a:ext cx="10261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 dirty="0" err="1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iSungrow</a:t>
            </a:r>
            <a:r>
              <a:rPr lang="en-US" sz="1100" b="0" i="0" u="none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 · BPM · MDM · EHS · ERP · WMS · TMS · EAM · EMS · </a:t>
            </a:r>
            <a:r>
              <a:rPr lang="en-US" sz="1100" b="0" i="0" u="none" strike="noStrike" dirty="0" err="1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数据湖</a:t>
            </a:r>
            <a:r>
              <a:rPr lang="en-US" sz="1100" b="0" i="0" u="none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100" b="0" i="0" u="none" strike="noStrike" dirty="0" err="1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费控</a:t>
            </a:r>
            <a:r>
              <a:rPr lang="en-US" sz="1100" b="0" i="0" u="none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100" b="0" i="0" u="none" strike="noStrike" dirty="0" err="1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第三方平台</a:t>
            </a:r>
            <a:r>
              <a:rPr lang="en-US" sz="1100" b="0" i="0" u="none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100" b="0" i="0" u="none" strike="noStrike" dirty="0" err="1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统一认证</a:t>
            </a:r>
            <a:endParaRPr lang="en-US" sz="1100" dirty="0"/>
          </a:p>
        </p:txBody>
      </p:sp>
      <p:sp>
        <p:nvSpPr>
          <p:cNvPr id="62" name="AutoShape 45">
            <a:extLst>
              <a:ext uri="{FF2B5EF4-FFF2-40B4-BE49-F238E27FC236}">
                <a16:creationId xmlns:a16="http://schemas.microsoft.com/office/drawing/2014/main" id="{3AE79FF8-87B8-33B1-7C19-17E8F95DD0B2}"/>
              </a:ext>
            </a:extLst>
          </p:cNvPr>
          <p:cNvSpPr/>
          <p:nvPr/>
        </p:nvSpPr>
        <p:spPr>
          <a:xfrm>
            <a:off x="7990114" y="6480629"/>
            <a:ext cx="3302000" cy="254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424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" name="AutoShape 46">
            <a:extLst>
              <a:ext uri="{FF2B5EF4-FFF2-40B4-BE49-F238E27FC236}">
                <a16:creationId xmlns:a16="http://schemas.microsoft.com/office/drawing/2014/main" id="{6A277177-7861-4CF2-A171-43D5D605D921}"/>
              </a:ext>
            </a:extLst>
          </p:cNvPr>
          <p:cNvSpPr/>
          <p:nvPr/>
        </p:nvSpPr>
        <p:spPr>
          <a:xfrm>
            <a:off x="8040914" y="6506029"/>
            <a:ext cx="320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05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系统管理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｜ </a:t>
            </a: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可视化编排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4306499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69580F5-8590-5D67-9CE6-00AF1B6975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B57F73C-8C97-6F70-556C-A422BE001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应用架构</a:t>
            </a:r>
          </a:p>
        </p:txBody>
      </p:sp>
      <p:cxnSp>
        <p:nvCxnSpPr>
          <p:cNvPr id="4" name="Connector 6">
            <a:extLst>
              <a:ext uri="{FF2B5EF4-FFF2-40B4-BE49-F238E27FC236}">
                <a16:creationId xmlns:a16="http://schemas.microsoft.com/office/drawing/2014/main" id="{FFAE2504-2486-8D1F-5968-6E4C0DD344FD}"/>
              </a:ext>
            </a:extLst>
          </p:cNvPr>
          <p:cNvCxnSpPr/>
          <p:nvPr/>
        </p:nvCxnSpPr>
        <p:spPr>
          <a:xfrm rot="-4092">
            <a:off x="762004" y="1111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7">
            <a:extLst>
              <a:ext uri="{FF2B5EF4-FFF2-40B4-BE49-F238E27FC236}">
                <a16:creationId xmlns:a16="http://schemas.microsoft.com/office/drawing/2014/main" id="{D7DAAB4A-545B-B0B3-2DC5-B7017FE902E0}"/>
              </a:ext>
            </a:extLst>
          </p:cNvPr>
          <p:cNvSpPr/>
          <p:nvPr/>
        </p:nvSpPr>
        <p:spPr>
          <a:xfrm>
            <a:off x="762000" y="6350000"/>
            <a:ext cx="609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阳光电源智慧园区平台 · 扩展性强化技术方案</a:t>
            </a:r>
            <a:endParaRPr lang="en-US" sz="1100"/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0983D0B1-37C3-EDA3-64FF-2AD0822A9E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270000"/>
            <a:ext cx="279400" cy="279400"/>
          </a:xfrm>
          <a:prstGeom prst="rect">
            <a:avLst/>
          </a:prstGeom>
        </p:spPr>
      </p:pic>
      <p:sp>
        <p:nvSpPr>
          <p:cNvPr id="7" name="AutoShape 9">
            <a:extLst>
              <a:ext uri="{FF2B5EF4-FFF2-40B4-BE49-F238E27FC236}">
                <a16:creationId xmlns:a16="http://schemas.microsoft.com/office/drawing/2014/main" id="{0FEB2F33-8460-64BD-9448-FCE016D2DD47}"/>
              </a:ext>
            </a:extLst>
          </p:cNvPr>
          <p:cNvSpPr/>
          <p:nvPr/>
        </p:nvSpPr>
        <p:spPr>
          <a:xfrm>
            <a:off x="1117600" y="12573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设计原则</a:t>
            </a:r>
            <a:endParaRPr lang="en-US" sz="1100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508ACDEF-1891-0A23-FE99-AB0B449F156A}"/>
              </a:ext>
            </a:extLst>
          </p:cNvPr>
          <p:cNvSpPr/>
          <p:nvPr/>
        </p:nvSpPr>
        <p:spPr>
          <a:xfrm>
            <a:off x="762000" y="16764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lang="en-US" sz="1100"/>
          </a:p>
        </p:txBody>
      </p:sp>
      <p:sp>
        <p:nvSpPr>
          <p:cNvPr id="9" name="AutoShape 11">
            <a:extLst>
              <a:ext uri="{FF2B5EF4-FFF2-40B4-BE49-F238E27FC236}">
                <a16:creationId xmlns:a16="http://schemas.microsoft.com/office/drawing/2014/main" id="{2D032BF5-91AA-3435-23C9-93AED43B041C}"/>
              </a:ext>
            </a:extLst>
          </p:cNvPr>
          <p:cNvSpPr/>
          <p:nvPr/>
        </p:nvSpPr>
        <p:spPr>
          <a:xfrm>
            <a:off x="1244600" y="16764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按业务域拆分独立服务</a:t>
            </a:r>
            <a:endParaRPr lang="en-US" sz="1100"/>
          </a:p>
        </p:txBody>
      </p:sp>
      <p:sp>
        <p:nvSpPr>
          <p:cNvPr id="10" name="AutoShape 12">
            <a:extLst>
              <a:ext uri="{FF2B5EF4-FFF2-40B4-BE49-F238E27FC236}">
                <a16:creationId xmlns:a16="http://schemas.microsoft.com/office/drawing/2014/main" id="{7C53D2A8-4132-219F-D082-7DF0AE0A818E}"/>
              </a:ext>
            </a:extLst>
          </p:cNvPr>
          <p:cNvSpPr/>
          <p:nvPr/>
        </p:nvSpPr>
        <p:spPr>
          <a:xfrm>
            <a:off x="1244600" y="1955800"/>
            <a:ext cx="5105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安防·消防·宿舍·外协·物流各自为独立应用服务（Domain Service）</a:t>
            </a:r>
            <a:endParaRPr lang="en-US" sz="1100"/>
          </a:p>
        </p:txBody>
      </p:sp>
      <p:cxnSp>
        <p:nvCxnSpPr>
          <p:cNvPr id="11" name="Connector 13">
            <a:extLst>
              <a:ext uri="{FF2B5EF4-FFF2-40B4-BE49-F238E27FC236}">
                <a16:creationId xmlns:a16="http://schemas.microsoft.com/office/drawing/2014/main" id="{51F3BA94-CF85-708C-06A1-1FDB319ECF00}"/>
              </a:ext>
            </a:extLst>
          </p:cNvPr>
          <p:cNvCxnSpPr/>
          <p:nvPr/>
        </p:nvCxnSpPr>
        <p:spPr>
          <a:xfrm rot="-7813">
            <a:off x="762007" y="24828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4">
            <a:extLst>
              <a:ext uri="{FF2B5EF4-FFF2-40B4-BE49-F238E27FC236}">
                <a16:creationId xmlns:a16="http://schemas.microsoft.com/office/drawing/2014/main" id="{98E1AB66-9513-DB2E-A488-434F533DBF26}"/>
              </a:ext>
            </a:extLst>
          </p:cNvPr>
          <p:cNvSpPr/>
          <p:nvPr/>
        </p:nvSpPr>
        <p:spPr>
          <a:xfrm>
            <a:off x="762000" y="25908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lang="en-US" sz="1100"/>
          </a:p>
        </p:txBody>
      </p:sp>
      <p:sp>
        <p:nvSpPr>
          <p:cNvPr id="13" name="AutoShape 15">
            <a:extLst>
              <a:ext uri="{FF2B5EF4-FFF2-40B4-BE49-F238E27FC236}">
                <a16:creationId xmlns:a16="http://schemas.microsoft.com/office/drawing/2014/main" id="{DEC6D3F1-CE9D-406D-2B91-2956A1B07F16}"/>
              </a:ext>
            </a:extLst>
          </p:cNvPr>
          <p:cNvSpPr/>
          <p:nvPr/>
        </p:nvSpPr>
        <p:spPr>
          <a:xfrm>
            <a:off x="1244600" y="25908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共性能力下沉为共享服务</a:t>
            </a:r>
            <a:endParaRPr lang="en-US" sz="110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84F0C23F-586D-22EC-3B14-C7A8CCAA7AB6}"/>
              </a:ext>
            </a:extLst>
          </p:cNvPr>
          <p:cNvSpPr/>
          <p:nvPr/>
        </p:nvSpPr>
        <p:spPr>
          <a:xfrm>
            <a:off x="1244600" y="2870200"/>
            <a:ext cx="5105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用户权限·消息·流程·报表·主数据等平台级复用，避免每个域重复建设</a:t>
            </a:r>
            <a:endParaRPr lang="en-US" sz="1100"/>
          </a:p>
        </p:txBody>
      </p:sp>
      <p:cxnSp>
        <p:nvCxnSpPr>
          <p:cNvPr id="15" name="Connector 17">
            <a:extLst>
              <a:ext uri="{FF2B5EF4-FFF2-40B4-BE49-F238E27FC236}">
                <a16:creationId xmlns:a16="http://schemas.microsoft.com/office/drawing/2014/main" id="{4D6A6797-A5B6-05B3-71E6-FC3E7A50A21B}"/>
              </a:ext>
            </a:extLst>
          </p:cNvPr>
          <p:cNvCxnSpPr/>
          <p:nvPr/>
        </p:nvCxnSpPr>
        <p:spPr>
          <a:xfrm rot="-7813">
            <a:off x="762007" y="33972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8">
            <a:extLst>
              <a:ext uri="{FF2B5EF4-FFF2-40B4-BE49-F238E27FC236}">
                <a16:creationId xmlns:a16="http://schemas.microsoft.com/office/drawing/2014/main" id="{81778DE0-67D7-9EA8-8460-AA7875310462}"/>
              </a:ext>
            </a:extLst>
          </p:cNvPr>
          <p:cNvSpPr/>
          <p:nvPr/>
        </p:nvSpPr>
        <p:spPr>
          <a:xfrm>
            <a:off x="762000" y="35052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lang="en-US" sz="1100"/>
          </a:p>
        </p:txBody>
      </p:sp>
      <p:sp>
        <p:nvSpPr>
          <p:cNvPr id="17" name="AutoShape 19">
            <a:extLst>
              <a:ext uri="{FF2B5EF4-FFF2-40B4-BE49-F238E27FC236}">
                <a16:creationId xmlns:a16="http://schemas.microsoft.com/office/drawing/2014/main" id="{3BD6DD24-9140-5041-3117-D77E2BAD2126}"/>
              </a:ext>
            </a:extLst>
          </p:cNvPr>
          <p:cNvSpPr/>
          <p:nvPr/>
        </p:nvSpPr>
        <p:spPr>
          <a:xfrm>
            <a:off x="1244600" y="35052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新增功能 = 新增服务 / 插件</a:t>
            </a:r>
            <a:endParaRPr lang="en-US" sz="1100"/>
          </a:p>
        </p:txBody>
      </p:sp>
      <p:sp>
        <p:nvSpPr>
          <p:cNvPr id="18" name="AutoShape 20">
            <a:extLst>
              <a:ext uri="{FF2B5EF4-FFF2-40B4-BE49-F238E27FC236}">
                <a16:creationId xmlns:a16="http://schemas.microsoft.com/office/drawing/2014/main" id="{E9BC27E3-B5DF-6860-9A79-F49B62683702}"/>
              </a:ext>
            </a:extLst>
          </p:cNvPr>
          <p:cNvSpPr/>
          <p:nvPr/>
        </p:nvSpPr>
        <p:spPr>
          <a:xfrm>
            <a:off x="1244600" y="3784600"/>
            <a:ext cx="5105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通过标准 API 注册进平台，可插拔、不动存量</a:t>
            </a:r>
            <a:endParaRPr lang="en-US" sz="1100"/>
          </a:p>
        </p:txBody>
      </p:sp>
      <p:cxnSp>
        <p:nvCxnSpPr>
          <p:cNvPr id="19" name="Connector 21">
            <a:extLst>
              <a:ext uri="{FF2B5EF4-FFF2-40B4-BE49-F238E27FC236}">
                <a16:creationId xmlns:a16="http://schemas.microsoft.com/office/drawing/2014/main" id="{CB21FD7C-B4D1-89E5-0AEA-FF6B4DF3966C}"/>
              </a:ext>
            </a:extLst>
          </p:cNvPr>
          <p:cNvCxnSpPr/>
          <p:nvPr/>
        </p:nvCxnSpPr>
        <p:spPr>
          <a:xfrm rot="-7813">
            <a:off x="762007" y="43116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" name="Picture 22">
            <a:extLst>
              <a:ext uri="{FF2B5EF4-FFF2-40B4-BE49-F238E27FC236}">
                <a16:creationId xmlns:a16="http://schemas.microsoft.com/office/drawing/2014/main" id="{AEC7EC7B-5644-8BB9-9F70-A388400D02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4521200"/>
            <a:ext cx="279400" cy="279400"/>
          </a:xfrm>
          <a:prstGeom prst="rect">
            <a:avLst/>
          </a:prstGeom>
        </p:spPr>
      </p:pic>
      <p:sp>
        <p:nvSpPr>
          <p:cNvPr id="21" name="AutoShape 23">
            <a:extLst>
              <a:ext uri="{FF2B5EF4-FFF2-40B4-BE49-F238E27FC236}">
                <a16:creationId xmlns:a16="http://schemas.microsoft.com/office/drawing/2014/main" id="{5FE3F59A-831B-E35A-78A9-9208DFEDF2AD}"/>
              </a:ext>
            </a:extLst>
          </p:cNvPr>
          <p:cNvSpPr/>
          <p:nvPr/>
        </p:nvSpPr>
        <p:spPr>
          <a:xfrm>
            <a:off x="1117600" y="45085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插件化 / 模块化机制（核心）</a:t>
            </a:r>
            <a:endParaRPr lang="en-US" sz="1100"/>
          </a:p>
        </p:txBody>
      </p:sp>
      <p:sp>
        <p:nvSpPr>
          <p:cNvPr id="22" name="AutoShape 24">
            <a:extLst>
              <a:ext uri="{FF2B5EF4-FFF2-40B4-BE49-F238E27FC236}">
                <a16:creationId xmlns:a16="http://schemas.microsoft.com/office/drawing/2014/main" id="{EA16212D-C66F-C56C-9BF6-C57BD742815D}"/>
              </a:ext>
            </a:extLst>
          </p:cNvPr>
          <p:cNvSpPr/>
          <p:nvPr/>
        </p:nvSpPr>
        <p:spPr>
          <a:xfrm>
            <a:off x="762000" y="49784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5">
            <a:extLst>
              <a:ext uri="{FF2B5EF4-FFF2-40B4-BE49-F238E27FC236}">
                <a16:creationId xmlns:a16="http://schemas.microsoft.com/office/drawing/2014/main" id="{62DC7587-74B5-9885-47DF-7FC589E5DD24}"/>
              </a:ext>
            </a:extLst>
          </p:cNvPr>
          <p:cNvSpPr/>
          <p:nvPr/>
        </p:nvSpPr>
        <p:spPr>
          <a:xfrm>
            <a:off x="939800" y="4902200"/>
            <a:ext cx="541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模块化插件框架：新业务域以“插件”挂载，注册路由·菜单·权限·数据模型即可用</a:t>
            </a:r>
            <a:endParaRPr lang="en-US" sz="1100"/>
          </a:p>
        </p:txBody>
      </p:sp>
      <p:sp>
        <p:nvSpPr>
          <p:cNvPr id="24" name="AutoShape 26">
            <a:extLst>
              <a:ext uri="{FF2B5EF4-FFF2-40B4-BE49-F238E27FC236}">
                <a16:creationId xmlns:a16="http://schemas.microsoft.com/office/drawing/2014/main" id="{A8CBEDC0-F70A-0E41-4756-354C84984628}"/>
              </a:ext>
            </a:extLst>
          </p:cNvPr>
          <p:cNvSpPr/>
          <p:nvPr/>
        </p:nvSpPr>
        <p:spPr>
          <a:xfrm>
            <a:off x="762000" y="54102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7">
            <a:extLst>
              <a:ext uri="{FF2B5EF4-FFF2-40B4-BE49-F238E27FC236}">
                <a16:creationId xmlns:a16="http://schemas.microsoft.com/office/drawing/2014/main" id="{3ED48D26-F462-90D4-E1F9-27205FCA302B}"/>
              </a:ext>
            </a:extLst>
          </p:cNvPr>
          <p:cNvSpPr/>
          <p:nvPr/>
        </p:nvSpPr>
        <p:spPr>
          <a:xfrm>
            <a:off x="939800" y="5334000"/>
            <a:ext cx="541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新园区 = 复用同一套模块/插件；新功能 = 新增插件，不改造旧插件</a:t>
            </a:r>
            <a:endParaRPr lang="en-US" sz="1100"/>
          </a:p>
        </p:txBody>
      </p:sp>
      <p:sp>
        <p:nvSpPr>
          <p:cNvPr id="26" name="AutoShape 28">
            <a:extLst>
              <a:ext uri="{FF2B5EF4-FFF2-40B4-BE49-F238E27FC236}">
                <a16:creationId xmlns:a16="http://schemas.microsoft.com/office/drawing/2014/main" id="{4AE09EE7-F1E5-835F-D9CE-4A1979761FD8}"/>
              </a:ext>
            </a:extLst>
          </p:cNvPr>
          <p:cNvSpPr/>
          <p:nvPr/>
        </p:nvSpPr>
        <p:spPr>
          <a:xfrm>
            <a:off x="762000" y="58420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9">
            <a:extLst>
              <a:ext uri="{FF2B5EF4-FFF2-40B4-BE49-F238E27FC236}">
                <a16:creationId xmlns:a16="http://schemas.microsoft.com/office/drawing/2014/main" id="{70618E35-C9C6-D5EA-7C1A-1EC5B639A99B}"/>
              </a:ext>
            </a:extLst>
          </p:cNvPr>
          <p:cNvSpPr/>
          <p:nvPr/>
        </p:nvSpPr>
        <p:spPr>
          <a:xfrm>
            <a:off x="939800" y="5765800"/>
            <a:ext cx="541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前后端分离 + 动态菜单/权限：新模块自动出现在对应角色下</a:t>
            </a:r>
            <a:endParaRPr lang="en-US" sz="1100"/>
          </a:p>
        </p:txBody>
      </p:sp>
      <p:pic>
        <p:nvPicPr>
          <p:cNvPr id="28" name="Picture 30">
            <a:extLst>
              <a:ext uri="{FF2B5EF4-FFF2-40B4-BE49-F238E27FC236}">
                <a16:creationId xmlns:a16="http://schemas.microsoft.com/office/drawing/2014/main" id="{C72C2993-71C3-9D35-D7FB-77826ADCFC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1000" y="1270000"/>
            <a:ext cx="279400" cy="279400"/>
          </a:xfrm>
          <a:prstGeom prst="rect">
            <a:avLst/>
          </a:prstGeom>
        </p:spPr>
      </p:pic>
      <p:sp>
        <p:nvSpPr>
          <p:cNvPr id="29" name="AutoShape 31">
            <a:extLst>
              <a:ext uri="{FF2B5EF4-FFF2-40B4-BE49-F238E27FC236}">
                <a16:creationId xmlns:a16="http://schemas.microsoft.com/office/drawing/2014/main" id="{CB635FF6-CBF6-EC36-5642-E8D67B1DAAFF}"/>
              </a:ext>
            </a:extLst>
          </p:cNvPr>
          <p:cNvSpPr/>
          <p:nvPr/>
        </p:nvSpPr>
        <p:spPr>
          <a:xfrm>
            <a:off x="7086600" y="12573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四层应用分层</a:t>
            </a:r>
            <a:endParaRPr lang="en-US" sz="1100"/>
          </a:p>
        </p:txBody>
      </p:sp>
      <p:graphicFrame>
        <p:nvGraphicFramePr>
          <p:cNvPr id="30" name="Table 32">
            <a:extLst>
              <a:ext uri="{FF2B5EF4-FFF2-40B4-BE49-F238E27FC236}">
                <a16:creationId xmlns:a16="http://schemas.microsoft.com/office/drawing/2014/main" id="{C7696174-1534-56EC-DA44-AFE93BBF6F5C}"/>
              </a:ext>
            </a:extLst>
          </p:cNvPr>
          <p:cNvGraphicFramePr>
            <a:graphicFrameLocks noGrp="1"/>
          </p:cNvGraphicFramePr>
          <p:nvPr/>
        </p:nvGraphicFramePr>
        <p:xfrm>
          <a:off x="6731000" y="1676400"/>
          <a:ext cx="4699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层次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职责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扩展机制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接入层</a:t>
                      </a:r>
                      <a:b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（API 网关）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统一入口·鉴权·限流·路由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新服务自动注册，网关统一路由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业务服务层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五大业务域 + 共享服务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新增域=新增微服务，插件化挂载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能力服务层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物联/AI/视频/流程/消息/报表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能力持续增强，被多域复用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集成服务层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ESB 集成、外部系统对接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接口标准化，对接即扩展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1" name="Picture 33">
            <a:extLst>
              <a:ext uri="{FF2B5EF4-FFF2-40B4-BE49-F238E27FC236}">
                <a16:creationId xmlns:a16="http://schemas.microsoft.com/office/drawing/2014/main" id="{FD7A8B33-66CE-E19E-17F0-D2CE493611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1000" y="4445000"/>
            <a:ext cx="279400" cy="279400"/>
          </a:xfrm>
          <a:prstGeom prst="rect">
            <a:avLst/>
          </a:prstGeom>
        </p:spPr>
      </p:pic>
      <p:sp>
        <p:nvSpPr>
          <p:cNvPr id="32" name="AutoShape 34">
            <a:extLst>
              <a:ext uri="{FF2B5EF4-FFF2-40B4-BE49-F238E27FC236}">
                <a16:creationId xmlns:a16="http://schemas.microsoft.com/office/drawing/2014/main" id="{C0A2D5E0-F66A-182E-E9DB-7BB1158FF65A}"/>
              </a:ext>
            </a:extLst>
          </p:cNvPr>
          <p:cNvSpPr/>
          <p:nvPr/>
        </p:nvSpPr>
        <p:spPr>
          <a:xfrm>
            <a:off x="7086600" y="44323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接口与二开能力</a:t>
            </a:r>
            <a:endParaRPr lang="en-US" sz="1100"/>
          </a:p>
        </p:txBody>
      </p:sp>
      <p:sp>
        <p:nvSpPr>
          <p:cNvPr id="33" name="AutoShape 35">
            <a:extLst>
              <a:ext uri="{FF2B5EF4-FFF2-40B4-BE49-F238E27FC236}">
                <a16:creationId xmlns:a16="http://schemas.microsoft.com/office/drawing/2014/main" id="{C305C8AC-63E2-C2F2-AD71-F314E2D72929}"/>
              </a:ext>
            </a:extLst>
          </p:cNvPr>
          <p:cNvSpPr/>
          <p:nvPr/>
        </p:nvSpPr>
        <p:spPr>
          <a:xfrm>
            <a:off x="9423400" y="4457700"/>
            <a:ext cx="1625600" cy="254000"/>
          </a:xfrm>
          <a:prstGeom prst="roundRect">
            <a:avLst>
              <a:gd name="adj" fmla="val 2000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6">
            <a:extLst>
              <a:ext uri="{FF2B5EF4-FFF2-40B4-BE49-F238E27FC236}">
                <a16:creationId xmlns:a16="http://schemas.microsoft.com/office/drawing/2014/main" id="{B85C2C9E-BA65-0162-8513-314832C2D477}"/>
              </a:ext>
            </a:extLst>
          </p:cNvPr>
          <p:cNvSpPr/>
          <p:nvPr/>
        </p:nvSpPr>
        <p:spPr>
          <a:xfrm>
            <a:off x="9423400" y="4483100"/>
            <a:ext cx="16256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5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响应招标 IT 评分 6 分</a:t>
            </a:r>
            <a:endParaRPr lang="en-US" sz="1100"/>
          </a:p>
        </p:txBody>
      </p:sp>
      <p:sp>
        <p:nvSpPr>
          <p:cNvPr id="35" name="AutoShape 37">
            <a:extLst>
              <a:ext uri="{FF2B5EF4-FFF2-40B4-BE49-F238E27FC236}">
                <a16:creationId xmlns:a16="http://schemas.microsoft.com/office/drawing/2014/main" id="{375EBBD8-E72D-1D4B-C00C-9E0ED5720E1C}"/>
              </a:ext>
            </a:extLst>
          </p:cNvPr>
          <p:cNvSpPr/>
          <p:nvPr/>
        </p:nvSpPr>
        <p:spPr>
          <a:xfrm>
            <a:off x="6731000" y="49276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8">
            <a:extLst>
              <a:ext uri="{FF2B5EF4-FFF2-40B4-BE49-F238E27FC236}">
                <a16:creationId xmlns:a16="http://schemas.microsoft.com/office/drawing/2014/main" id="{228CC24D-6910-5C9A-A568-9875B1BBCBB7}"/>
              </a:ext>
            </a:extLst>
          </p:cNvPr>
          <p:cNvSpPr/>
          <p:nvPr/>
        </p:nvSpPr>
        <p:spPr>
          <a:xfrm>
            <a:off x="6908800" y="4851400"/>
            <a:ext cx="452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全套 </a:t>
            </a:r>
            <a:r>
              <a:rPr lang="en-US" sz="105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Restful API</a:t>
            </a: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，新增字段在 API 中立即体现</a:t>
            </a:r>
            <a:endParaRPr lang="en-US" sz="1100"/>
          </a:p>
        </p:txBody>
      </p:sp>
      <p:sp>
        <p:nvSpPr>
          <p:cNvPr id="37" name="AutoShape 39">
            <a:extLst>
              <a:ext uri="{FF2B5EF4-FFF2-40B4-BE49-F238E27FC236}">
                <a16:creationId xmlns:a16="http://schemas.microsoft.com/office/drawing/2014/main" id="{0D987590-7990-BD3A-FBC2-241F4513A950}"/>
              </a:ext>
            </a:extLst>
          </p:cNvPr>
          <p:cNvSpPr/>
          <p:nvPr/>
        </p:nvSpPr>
        <p:spPr>
          <a:xfrm>
            <a:off x="6731000" y="53340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40">
            <a:extLst>
              <a:ext uri="{FF2B5EF4-FFF2-40B4-BE49-F238E27FC236}">
                <a16:creationId xmlns:a16="http://schemas.microsoft.com/office/drawing/2014/main" id="{A8D17170-ABA9-95A9-9EDF-FDC18269C326}"/>
              </a:ext>
            </a:extLst>
          </p:cNvPr>
          <p:cNvSpPr/>
          <p:nvPr/>
        </p:nvSpPr>
        <p:spPr>
          <a:xfrm>
            <a:off x="6908800" y="5257800"/>
            <a:ext cx="452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API 支持增量 / 全量同步、失败重推、调用日志</a:t>
            </a:r>
            <a:endParaRPr lang="en-US" sz="1100"/>
          </a:p>
        </p:txBody>
      </p:sp>
      <p:sp>
        <p:nvSpPr>
          <p:cNvPr id="39" name="AutoShape 41">
            <a:extLst>
              <a:ext uri="{FF2B5EF4-FFF2-40B4-BE49-F238E27FC236}">
                <a16:creationId xmlns:a16="http://schemas.microsoft.com/office/drawing/2014/main" id="{38ACA457-D685-C7F0-716D-FB8A681E5D68}"/>
              </a:ext>
            </a:extLst>
          </p:cNvPr>
          <p:cNvSpPr/>
          <p:nvPr/>
        </p:nvSpPr>
        <p:spPr>
          <a:xfrm>
            <a:off x="6731000" y="57404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2">
            <a:extLst>
              <a:ext uri="{FF2B5EF4-FFF2-40B4-BE49-F238E27FC236}">
                <a16:creationId xmlns:a16="http://schemas.microsoft.com/office/drawing/2014/main" id="{725A3357-ACA0-D494-4A17-FCE75764029E}"/>
              </a:ext>
            </a:extLst>
          </p:cNvPr>
          <p:cNvSpPr/>
          <p:nvPr/>
        </p:nvSpPr>
        <p:spPr>
          <a:xfrm>
            <a:off x="6908800" y="5664200"/>
            <a:ext cx="452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可视化接口管理平台，可配置调度</a:t>
            </a:r>
            <a:endParaRPr lang="en-US" sz="1100"/>
          </a:p>
        </p:txBody>
      </p:sp>
      <p:sp>
        <p:nvSpPr>
          <p:cNvPr id="41" name="AutoShape 43">
            <a:extLst>
              <a:ext uri="{FF2B5EF4-FFF2-40B4-BE49-F238E27FC236}">
                <a16:creationId xmlns:a16="http://schemas.microsoft.com/office/drawing/2014/main" id="{833FF267-1DAE-3042-4301-7501AB396D12}"/>
              </a:ext>
            </a:extLst>
          </p:cNvPr>
          <p:cNvSpPr/>
          <p:nvPr/>
        </p:nvSpPr>
        <p:spPr>
          <a:xfrm>
            <a:off x="6731000" y="61468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4">
            <a:extLst>
              <a:ext uri="{FF2B5EF4-FFF2-40B4-BE49-F238E27FC236}">
                <a16:creationId xmlns:a16="http://schemas.microsoft.com/office/drawing/2014/main" id="{5479DE4B-FD69-6A92-6A7D-EECE1820DCB4}"/>
              </a:ext>
            </a:extLst>
          </p:cNvPr>
          <p:cNvSpPr/>
          <p:nvPr/>
        </p:nvSpPr>
        <p:spPr>
          <a:xfrm>
            <a:off x="6908800" y="6070600"/>
            <a:ext cx="452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二次开发代码 + 核心源码交付，支持甲方自主扩展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26728443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D8E8003-2F22-6C0A-90A2-A964881A7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3CE65C-E743-CD52-573E-5286AB9FC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应用架构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3B2DB0-51A3-1B78-1136-18B9F39FC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389" y="847852"/>
            <a:ext cx="11133554" cy="601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27932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2E5CE24-299C-15DA-1F0A-3E6CF585B8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B703A3F-47E2-1922-C1B1-9A12C163C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园区物流子系统架构</a:t>
            </a:r>
          </a:p>
        </p:txBody>
      </p:sp>
    </p:spTree>
    <p:extLst>
      <p:ext uri="{BB962C8B-B14F-4D97-AF65-F5344CB8AC3E}">
        <p14:creationId xmlns:p14="http://schemas.microsoft.com/office/powerpoint/2010/main" val="113669903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F563A3F-32ED-E3C1-DD2D-F0A7FD6D8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9C36D9D-D0FE-B1AD-117A-EC69D8354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外协人员管理子系统架构</a:t>
            </a:r>
          </a:p>
        </p:txBody>
      </p:sp>
    </p:spTree>
    <p:extLst>
      <p:ext uri="{BB962C8B-B14F-4D97-AF65-F5344CB8AC3E}">
        <p14:creationId xmlns:p14="http://schemas.microsoft.com/office/powerpoint/2010/main" val="362434880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5AD80AF-7824-E9B7-59D5-79FE55EC29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0C4DC32-92D8-1657-1532-0F7F55A00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安防子系统</a:t>
            </a:r>
          </a:p>
        </p:txBody>
      </p:sp>
    </p:spTree>
    <p:extLst>
      <p:ext uri="{BB962C8B-B14F-4D97-AF65-F5344CB8AC3E}">
        <p14:creationId xmlns:p14="http://schemas.microsoft.com/office/powerpoint/2010/main" val="265086769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38C0800-C334-CAFF-F3C9-01616FB97E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9E8EF95-FDCF-2EB2-824F-C2AD179A6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消防子系统</a:t>
            </a:r>
          </a:p>
        </p:txBody>
      </p:sp>
    </p:spTree>
    <p:extLst>
      <p:ext uri="{BB962C8B-B14F-4D97-AF65-F5344CB8AC3E}">
        <p14:creationId xmlns:p14="http://schemas.microsoft.com/office/powerpoint/2010/main" val="7629945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6B8F9C9-72B0-7B87-FA37-FA4458266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BA4FCDF-039F-8592-2E09-CA71122A7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宿舍子系统架构</a:t>
            </a:r>
          </a:p>
        </p:txBody>
      </p:sp>
    </p:spTree>
    <p:extLst>
      <p:ext uri="{BB962C8B-B14F-4D97-AF65-F5344CB8AC3E}">
        <p14:creationId xmlns:p14="http://schemas.microsoft.com/office/powerpoint/2010/main" val="221482136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A8B97EC-5763-12D1-6A59-FE223486C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639380A-3CB9-C1C8-690A-F04D322D6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数据架构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3BF66FB8-1225-CAFC-8805-F003BC7619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168400"/>
            <a:ext cx="279400" cy="279400"/>
          </a:xfrm>
          <a:prstGeom prst="rect">
            <a:avLst/>
          </a:prstGeom>
        </p:spPr>
      </p:pic>
      <p:sp>
        <p:nvSpPr>
          <p:cNvPr id="6" name="AutoShape 9">
            <a:extLst>
              <a:ext uri="{FF2B5EF4-FFF2-40B4-BE49-F238E27FC236}">
                <a16:creationId xmlns:a16="http://schemas.microsoft.com/office/drawing/2014/main" id="{206D40A3-E730-7EF4-E7F7-71261D5CCB60}"/>
              </a:ext>
            </a:extLst>
          </p:cNvPr>
          <p:cNvSpPr/>
          <p:nvPr/>
        </p:nvSpPr>
        <p:spPr>
          <a:xfrm>
            <a:off x="1117600" y="11557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多租户数据模型（多园区隔离）</a:t>
            </a:r>
            <a:endParaRPr lang="en-US" sz="1100"/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2A292008-755A-C01A-8CF1-A24874FC7D8D}"/>
              </a:ext>
            </a:extLst>
          </p:cNvPr>
          <p:cNvSpPr/>
          <p:nvPr/>
        </p:nvSpPr>
        <p:spPr>
          <a:xfrm>
            <a:off x="5080000" y="1181100"/>
            <a:ext cx="660400" cy="254000"/>
          </a:xfrm>
          <a:prstGeom prst="roundRect">
            <a:avLst>
              <a:gd name="adj" fmla="val 2000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1">
            <a:extLst>
              <a:ext uri="{FF2B5EF4-FFF2-40B4-BE49-F238E27FC236}">
                <a16:creationId xmlns:a16="http://schemas.microsoft.com/office/drawing/2014/main" id="{3FF51651-E331-114A-F5EC-A9DE07350ED2}"/>
              </a:ext>
            </a:extLst>
          </p:cNvPr>
          <p:cNvSpPr/>
          <p:nvPr/>
        </p:nvSpPr>
        <p:spPr>
          <a:xfrm>
            <a:off x="5080000" y="1206500"/>
            <a:ext cx="66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</a:t>
            </a:r>
            <a:endParaRPr lang="en-US" sz="1100"/>
          </a:p>
        </p:txBody>
      </p:sp>
      <p:sp>
        <p:nvSpPr>
          <p:cNvPr id="9" name="AutoShape 12">
            <a:extLst>
              <a:ext uri="{FF2B5EF4-FFF2-40B4-BE49-F238E27FC236}">
                <a16:creationId xmlns:a16="http://schemas.microsoft.com/office/drawing/2014/main" id="{823F73E2-D90D-887C-70BC-EB4448C22A61}"/>
              </a:ext>
            </a:extLst>
          </p:cNvPr>
          <p:cNvSpPr/>
          <p:nvPr/>
        </p:nvSpPr>
        <p:spPr>
          <a:xfrm>
            <a:off x="762000" y="1549400"/>
            <a:ext cx="2921000" cy="635000"/>
          </a:xfrm>
          <a:prstGeom prst="roundRect">
            <a:avLst>
              <a:gd name="adj" fmla="val 12000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3">
            <a:extLst>
              <a:ext uri="{FF2B5EF4-FFF2-40B4-BE49-F238E27FC236}">
                <a16:creationId xmlns:a16="http://schemas.microsoft.com/office/drawing/2014/main" id="{4B6FCF59-90B4-9ACE-5238-74AAA22194BC}"/>
              </a:ext>
            </a:extLst>
          </p:cNvPr>
          <p:cNvSpPr/>
          <p:nvPr/>
        </p:nvSpPr>
        <p:spPr>
          <a:xfrm>
            <a:off x="914400" y="1600200"/>
            <a:ext cx="2641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共享主数据</a:t>
            </a:r>
            <a:endParaRPr lang="en-US" sz="1100" dirty="0"/>
          </a:p>
        </p:txBody>
      </p:sp>
      <p:sp>
        <p:nvSpPr>
          <p:cNvPr id="11" name="AutoShape 14">
            <a:extLst>
              <a:ext uri="{FF2B5EF4-FFF2-40B4-BE49-F238E27FC236}">
                <a16:creationId xmlns:a16="http://schemas.microsoft.com/office/drawing/2014/main" id="{2E3B8EF3-BF72-093C-087C-D016C1A87518}"/>
              </a:ext>
            </a:extLst>
          </p:cNvPr>
          <p:cNvSpPr/>
          <p:nvPr/>
        </p:nvSpPr>
        <p:spPr>
          <a:xfrm>
            <a:off x="914400" y="1854200"/>
            <a:ext cx="2641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5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园区</a:t>
            </a:r>
            <a:r>
              <a:rPr lang="en-US" sz="95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95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人员</a:t>
            </a:r>
            <a:r>
              <a:rPr lang="en-US" sz="95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95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资产</a:t>
            </a:r>
            <a:r>
              <a:rPr lang="en-US" sz="95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95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空间，统一维护、多园复用（对接</a:t>
            </a:r>
            <a:r>
              <a:rPr lang="en-US" sz="95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MDM）</a:t>
            </a:r>
            <a:endParaRPr lang="en-US" sz="1100" dirty="0"/>
          </a:p>
        </p:txBody>
      </p:sp>
      <p:cxnSp>
        <p:nvCxnSpPr>
          <p:cNvPr id="12" name="Connector 15">
            <a:extLst>
              <a:ext uri="{FF2B5EF4-FFF2-40B4-BE49-F238E27FC236}">
                <a16:creationId xmlns:a16="http://schemas.microsoft.com/office/drawing/2014/main" id="{5948D46F-1325-D618-DE29-01A5B6887A98}"/>
              </a:ext>
            </a:extLst>
          </p:cNvPr>
          <p:cNvCxnSpPr/>
          <p:nvPr/>
        </p:nvCxnSpPr>
        <p:spPr>
          <a:xfrm rot="-122724">
            <a:off x="3759313" y="1847850"/>
            <a:ext cx="35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3" name="AutoShape 16">
            <a:extLst>
              <a:ext uri="{FF2B5EF4-FFF2-40B4-BE49-F238E27FC236}">
                <a16:creationId xmlns:a16="http://schemas.microsoft.com/office/drawing/2014/main" id="{885866B6-E96B-068A-9DFF-93CCFD0344DA}"/>
              </a:ext>
            </a:extLst>
          </p:cNvPr>
          <p:cNvSpPr/>
          <p:nvPr/>
        </p:nvSpPr>
        <p:spPr>
          <a:xfrm>
            <a:off x="4191000" y="1549400"/>
            <a:ext cx="3581400" cy="635000"/>
          </a:xfrm>
          <a:prstGeom prst="roundRect">
            <a:avLst>
              <a:gd name="adj" fmla="val 12000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7">
            <a:extLst>
              <a:ext uri="{FF2B5EF4-FFF2-40B4-BE49-F238E27FC236}">
                <a16:creationId xmlns:a16="http://schemas.microsoft.com/office/drawing/2014/main" id="{E8B93720-8CD9-ED6A-0D19-1D1531606DDC}"/>
              </a:ext>
            </a:extLst>
          </p:cNvPr>
          <p:cNvSpPr/>
          <p:nvPr/>
        </p:nvSpPr>
        <p:spPr>
          <a:xfrm>
            <a:off x="4343400" y="1600200"/>
            <a:ext cx="330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分园业务数据 · 两级隔离</a:t>
            </a:r>
            <a:endParaRPr lang="en-US" sz="1100"/>
          </a:p>
        </p:txBody>
      </p:sp>
      <p:sp>
        <p:nvSpPr>
          <p:cNvPr id="15" name="AutoShape 18">
            <a:extLst>
              <a:ext uri="{FF2B5EF4-FFF2-40B4-BE49-F238E27FC236}">
                <a16:creationId xmlns:a16="http://schemas.microsoft.com/office/drawing/2014/main" id="{4B1B4E35-451C-C21E-CD5E-8FA331D010CA}"/>
              </a:ext>
            </a:extLst>
          </p:cNvPr>
          <p:cNvSpPr/>
          <p:nvPr/>
        </p:nvSpPr>
        <p:spPr>
          <a:xfrm>
            <a:off x="4343400" y="18542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5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强隔离：分库/分 Schema（独立园区）；轻隔离：共享库 + 租户字段</a:t>
            </a:r>
            <a:endParaRPr lang="en-US" sz="1100"/>
          </a:p>
        </p:txBody>
      </p:sp>
      <p:cxnSp>
        <p:nvCxnSpPr>
          <p:cNvPr id="16" name="Connector 19">
            <a:extLst>
              <a:ext uri="{FF2B5EF4-FFF2-40B4-BE49-F238E27FC236}">
                <a16:creationId xmlns:a16="http://schemas.microsoft.com/office/drawing/2014/main" id="{31781139-C1B9-B339-90FD-3284CF36926E}"/>
              </a:ext>
            </a:extLst>
          </p:cNvPr>
          <p:cNvCxnSpPr/>
          <p:nvPr/>
        </p:nvCxnSpPr>
        <p:spPr>
          <a:xfrm rot="-132155">
            <a:off x="7848722" y="1847850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7" name="AutoShape 20">
            <a:extLst>
              <a:ext uri="{FF2B5EF4-FFF2-40B4-BE49-F238E27FC236}">
                <a16:creationId xmlns:a16="http://schemas.microsoft.com/office/drawing/2014/main" id="{93447F6B-3BF9-E5C1-1A3E-7C7AD804F641}"/>
              </a:ext>
            </a:extLst>
          </p:cNvPr>
          <p:cNvSpPr/>
          <p:nvPr/>
        </p:nvSpPr>
        <p:spPr>
          <a:xfrm>
            <a:off x="8255000" y="1549400"/>
            <a:ext cx="3175000" cy="635000"/>
          </a:xfrm>
          <a:prstGeom prst="roundRect">
            <a:avLst>
              <a:gd name="adj" fmla="val 12000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1">
            <a:extLst>
              <a:ext uri="{FF2B5EF4-FFF2-40B4-BE49-F238E27FC236}">
                <a16:creationId xmlns:a16="http://schemas.microsoft.com/office/drawing/2014/main" id="{2DD1C296-91F8-9A9B-D377-C5409A600850}"/>
              </a:ext>
            </a:extLst>
          </p:cNvPr>
          <p:cNvSpPr/>
          <p:nvPr/>
        </p:nvSpPr>
        <p:spPr>
          <a:xfrm>
            <a:off x="8407400" y="1600200"/>
            <a:ext cx="2895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租户初始化</a:t>
            </a:r>
            <a:endParaRPr lang="en-US" sz="1100"/>
          </a:p>
        </p:txBody>
      </p:sp>
      <p:sp>
        <p:nvSpPr>
          <p:cNvPr id="19" name="AutoShape 22">
            <a:extLst>
              <a:ext uri="{FF2B5EF4-FFF2-40B4-BE49-F238E27FC236}">
                <a16:creationId xmlns:a16="http://schemas.microsoft.com/office/drawing/2014/main" id="{7E97013B-D1F2-A5DC-137E-B08257388748}"/>
              </a:ext>
            </a:extLst>
          </p:cNvPr>
          <p:cNvSpPr/>
          <p:nvPr/>
        </p:nvSpPr>
        <p:spPr>
          <a:xfrm>
            <a:off x="8407400" y="1854200"/>
            <a:ext cx="2895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5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新园区 = 初始化租户数据 + 关联主数据，即插即用</a:t>
            </a:r>
            <a:endParaRPr lang="en-US" sz="1100"/>
          </a:p>
        </p:txBody>
      </p:sp>
      <p:pic>
        <p:nvPicPr>
          <p:cNvPr id="20" name="Picture 23">
            <a:extLst>
              <a:ext uri="{FF2B5EF4-FFF2-40B4-BE49-F238E27FC236}">
                <a16:creationId xmlns:a16="http://schemas.microsoft.com/office/drawing/2014/main" id="{26A71995-F0F9-D780-A714-E775D28FA5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336800"/>
            <a:ext cx="279400" cy="279400"/>
          </a:xfrm>
          <a:prstGeom prst="rect">
            <a:avLst/>
          </a:prstGeom>
        </p:spPr>
      </p:pic>
      <p:sp>
        <p:nvSpPr>
          <p:cNvPr id="21" name="AutoShape 24">
            <a:extLst>
              <a:ext uri="{FF2B5EF4-FFF2-40B4-BE49-F238E27FC236}">
                <a16:creationId xmlns:a16="http://schemas.microsoft.com/office/drawing/2014/main" id="{D1636435-B7CA-1B2C-A5EA-0C55368A0A8F}"/>
              </a:ext>
            </a:extLst>
          </p:cNvPr>
          <p:cNvSpPr/>
          <p:nvPr/>
        </p:nvSpPr>
        <p:spPr>
          <a:xfrm>
            <a:off x="1117600" y="23241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混合存储架构（支撑 5PB + 性能）</a:t>
            </a:r>
            <a:endParaRPr lang="en-US" sz="1100"/>
          </a:p>
        </p:txBody>
      </p:sp>
      <p:graphicFrame>
        <p:nvGraphicFramePr>
          <p:cNvPr id="22" name="Table 25">
            <a:extLst>
              <a:ext uri="{FF2B5EF4-FFF2-40B4-BE49-F238E27FC236}">
                <a16:creationId xmlns:a16="http://schemas.microsoft.com/office/drawing/2014/main" id="{09840302-375D-8335-BCBE-8616CC5023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661128"/>
              </p:ext>
            </p:extLst>
          </p:nvPr>
        </p:nvGraphicFramePr>
        <p:xfrm>
          <a:off x="762000" y="2692400"/>
          <a:ext cx="5461000" cy="222504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96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数据类型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存储方案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用途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0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结构化业务数据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 dirty="0" err="1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关系库（MySQL</a:t>
                      </a:r>
                      <a:r>
                        <a:rPr lang="en-US" sz="1000" b="0" i="0" u="none" strike="noStrike" dirty="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/PG）+ </a:t>
                      </a:r>
                      <a:r>
                        <a:rPr lang="en-US" sz="1000" b="0" i="0" u="none" strike="noStrike" dirty="0" err="1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分库分表</a:t>
                      </a:r>
                      <a:endParaRPr lang="en-US" sz="1100" dirty="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单据、配置、主数据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02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高并发时序数据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时序数据库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IoT </a:t>
                      </a:r>
                      <a:r>
                        <a:rPr lang="en-US" sz="1000" b="0" i="0" u="none" strike="noStrike" dirty="0" err="1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遥测、能耗、传感器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02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非结构化视频/图片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对象存储</a:t>
                      </a: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（分布式文件）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 dirty="0" err="1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录像、抓拍、附件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02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全文检索 &amp; 日志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搜索引擎（ES）/ 日志系统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检索、审计、操作日志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02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分析 / 报表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OLAP / </a:t>
                      </a:r>
                      <a:r>
                        <a:rPr lang="en-US" sz="1000" b="0" i="0" u="none" strike="noStrike" dirty="0" err="1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数仓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20+ </a:t>
                      </a:r>
                      <a:r>
                        <a:rPr lang="en-US" sz="1000" b="0" i="0" u="none" strike="noStrike" dirty="0" err="1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定制报表、指标看板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3" name="Picture 26">
            <a:extLst>
              <a:ext uri="{FF2B5EF4-FFF2-40B4-BE49-F238E27FC236}">
                <a16:creationId xmlns:a16="http://schemas.microsoft.com/office/drawing/2014/main" id="{6B93177C-220C-D66B-3FAB-C456492F4E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6694" y="2705100"/>
            <a:ext cx="279400" cy="279400"/>
          </a:xfrm>
          <a:prstGeom prst="rect">
            <a:avLst/>
          </a:prstGeom>
        </p:spPr>
      </p:pic>
      <p:sp>
        <p:nvSpPr>
          <p:cNvPr id="24" name="AutoShape 27">
            <a:extLst>
              <a:ext uri="{FF2B5EF4-FFF2-40B4-BE49-F238E27FC236}">
                <a16:creationId xmlns:a16="http://schemas.microsoft.com/office/drawing/2014/main" id="{6394574F-3749-0DC5-9A63-20CB2C790CDE}"/>
              </a:ext>
            </a:extLst>
          </p:cNvPr>
          <p:cNvSpPr/>
          <p:nvPr/>
        </p:nvSpPr>
        <p:spPr>
          <a:xfrm>
            <a:off x="7352294" y="26924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数据分层与治理</a:t>
            </a:r>
            <a:endParaRPr lang="en-US" sz="1100" dirty="0"/>
          </a:p>
        </p:txBody>
      </p:sp>
      <p:sp>
        <p:nvSpPr>
          <p:cNvPr id="25" name="AutoShape 28">
            <a:extLst>
              <a:ext uri="{FF2B5EF4-FFF2-40B4-BE49-F238E27FC236}">
                <a16:creationId xmlns:a16="http://schemas.microsoft.com/office/drawing/2014/main" id="{2DFD26B5-567D-D6D4-9EC6-01E25076044F}"/>
              </a:ext>
            </a:extLst>
          </p:cNvPr>
          <p:cNvSpPr/>
          <p:nvPr/>
        </p:nvSpPr>
        <p:spPr>
          <a:xfrm>
            <a:off x="6996694" y="31115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9">
            <a:extLst>
              <a:ext uri="{FF2B5EF4-FFF2-40B4-BE49-F238E27FC236}">
                <a16:creationId xmlns:a16="http://schemas.microsoft.com/office/drawing/2014/main" id="{8BEB2BB0-F1DD-0F08-7549-3FA1A06815EE}"/>
              </a:ext>
            </a:extLst>
          </p:cNvPr>
          <p:cNvSpPr/>
          <p:nvPr/>
        </p:nvSpPr>
        <p:spPr>
          <a:xfrm>
            <a:off x="7174494" y="3035300"/>
            <a:ext cx="477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三级分层：主数据 → 业务数据 → 指标看板，所有域统一收口</a:t>
            </a:r>
            <a:endParaRPr lang="en-US" sz="1100"/>
          </a:p>
        </p:txBody>
      </p:sp>
      <p:sp>
        <p:nvSpPr>
          <p:cNvPr id="27" name="AutoShape 30">
            <a:extLst>
              <a:ext uri="{FF2B5EF4-FFF2-40B4-BE49-F238E27FC236}">
                <a16:creationId xmlns:a16="http://schemas.microsoft.com/office/drawing/2014/main" id="{CE3DCCA3-5FCA-C13E-C993-423FC8E436D8}"/>
              </a:ext>
            </a:extLst>
          </p:cNvPr>
          <p:cNvSpPr/>
          <p:nvPr/>
        </p:nvSpPr>
        <p:spPr>
          <a:xfrm>
            <a:off x="6996694" y="35179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31">
            <a:extLst>
              <a:ext uri="{FF2B5EF4-FFF2-40B4-BE49-F238E27FC236}">
                <a16:creationId xmlns:a16="http://schemas.microsoft.com/office/drawing/2014/main" id="{33F2B8F9-7D78-DF17-335F-C98ED854E42A}"/>
              </a:ext>
            </a:extLst>
          </p:cNvPr>
          <p:cNvSpPr/>
          <p:nvPr/>
        </p:nvSpPr>
        <p:spPr>
          <a:xfrm>
            <a:off x="7174494" y="3441700"/>
            <a:ext cx="477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统一指标目录：口径 / 计算逻辑统一定义，新增园区 / 模块自动纳入</a:t>
            </a:r>
            <a:endParaRPr lang="en-US" sz="1100"/>
          </a:p>
        </p:txBody>
      </p:sp>
      <p:sp>
        <p:nvSpPr>
          <p:cNvPr id="29" name="AutoShape 32">
            <a:extLst>
              <a:ext uri="{FF2B5EF4-FFF2-40B4-BE49-F238E27FC236}">
                <a16:creationId xmlns:a16="http://schemas.microsoft.com/office/drawing/2014/main" id="{2B995906-AF93-36A2-B6AE-A18ACCC3870D}"/>
              </a:ext>
            </a:extLst>
          </p:cNvPr>
          <p:cNvSpPr/>
          <p:nvPr/>
        </p:nvSpPr>
        <p:spPr>
          <a:xfrm>
            <a:off x="6996694" y="39243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3">
            <a:extLst>
              <a:ext uri="{FF2B5EF4-FFF2-40B4-BE49-F238E27FC236}">
                <a16:creationId xmlns:a16="http://schemas.microsoft.com/office/drawing/2014/main" id="{71F629F7-9A0F-7846-F83F-48C352DA77AA}"/>
              </a:ext>
            </a:extLst>
          </p:cNvPr>
          <p:cNvSpPr/>
          <p:nvPr/>
        </p:nvSpPr>
        <p:spPr>
          <a:xfrm>
            <a:off x="7174494" y="3848100"/>
            <a:ext cx="477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数据资产 L1–L5：按企业标准建立数据资产清单</a:t>
            </a:r>
            <a:endParaRPr lang="en-US" sz="1100"/>
          </a:p>
        </p:txBody>
      </p:sp>
      <p:sp>
        <p:nvSpPr>
          <p:cNvPr id="31" name="AutoShape 34">
            <a:extLst>
              <a:ext uri="{FF2B5EF4-FFF2-40B4-BE49-F238E27FC236}">
                <a16:creationId xmlns:a16="http://schemas.microsoft.com/office/drawing/2014/main" id="{6A08FC1D-34A0-D283-B620-67A04B44D776}"/>
              </a:ext>
            </a:extLst>
          </p:cNvPr>
          <p:cNvSpPr/>
          <p:nvPr/>
        </p:nvSpPr>
        <p:spPr>
          <a:xfrm>
            <a:off x="6996694" y="43307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5">
            <a:extLst>
              <a:ext uri="{FF2B5EF4-FFF2-40B4-BE49-F238E27FC236}">
                <a16:creationId xmlns:a16="http://schemas.microsoft.com/office/drawing/2014/main" id="{8415B0D7-421A-AD39-33AE-0FBEF8C636F3}"/>
              </a:ext>
            </a:extLst>
          </p:cNvPr>
          <p:cNvSpPr/>
          <p:nvPr/>
        </p:nvSpPr>
        <p:spPr>
          <a:xfrm>
            <a:off x="7174494" y="4254500"/>
            <a:ext cx="477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分类分级 + 脱敏 + 存储加密：响应合规要求（PIA / SRA）</a:t>
            </a:r>
            <a:endParaRPr lang="en-US" sz="1100"/>
          </a:p>
        </p:txBody>
      </p:sp>
      <p:sp>
        <p:nvSpPr>
          <p:cNvPr id="33" name="AutoShape 36">
            <a:extLst>
              <a:ext uri="{FF2B5EF4-FFF2-40B4-BE49-F238E27FC236}">
                <a16:creationId xmlns:a16="http://schemas.microsoft.com/office/drawing/2014/main" id="{C6ECABD3-30EA-099A-F178-E1FD2398F54C}"/>
              </a:ext>
            </a:extLst>
          </p:cNvPr>
          <p:cNvSpPr/>
          <p:nvPr/>
        </p:nvSpPr>
        <p:spPr>
          <a:xfrm>
            <a:off x="762000" y="5257800"/>
            <a:ext cx="10668000" cy="1016000"/>
          </a:xfrm>
          <a:prstGeom prst="roundRect">
            <a:avLst>
              <a:gd name="adj" fmla="val 10000"/>
            </a:avLst>
          </a:prstGeom>
          <a:solidFill>
            <a:srgbClr val="F0F6FF">
              <a:alpha val="100000"/>
            </a:srgbClr>
          </a:solidFill>
          <a:ln w="12700" cap="flat" cmpd="sng">
            <a:solidFill>
              <a:srgbClr val="A0BE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7">
            <a:extLst>
              <a:ext uri="{FF2B5EF4-FFF2-40B4-BE49-F238E27FC236}">
                <a16:creationId xmlns:a16="http://schemas.microsoft.com/office/drawing/2014/main" id="{F5710422-86BF-0374-486C-438A27F2DA5C}"/>
              </a:ext>
            </a:extLst>
          </p:cNvPr>
          <p:cNvSpPr/>
          <p:nvPr/>
        </p:nvSpPr>
        <p:spPr>
          <a:xfrm>
            <a:off x="762000" y="5257800"/>
            <a:ext cx="63500" cy="10160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8">
            <a:extLst>
              <a:ext uri="{FF2B5EF4-FFF2-40B4-BE49-F238E27FC236}">
                <a16:creationId xmlns:a16="http://schemas.microsoft.com/office/drawing/2014/main" id="{D0CB0C01-5185-CE3D-F49E-432A74749714}"/>
              </a:ext>
            </a:extLst>
          </p:cNvPr>
          <p:cNvSpPr/>
          <p:nvPr/>
        </p:nvSpPr>
        <p:spPr>
          <a:xfrm>
            <a:off x="990600" y="53467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物流数据如何融入</a:t>
            </a:r>
            <a:endParaRPr lang="en-US" sz="1100"/>
          </a:p>
        </p:txBody>
      </p:sp>
      <p:sp>
        <p:nvSpPr>
          <p:cNvPr id="36" name="AutoShape 39">
            <a:extLst>
              <a:ext uri="{FF2B5EF4-FFF2-40B4-BE49-F238E27FC236}">
                <a16:creationId xmlns:a16="http://schemas.microsoft.com/office/drawing/2014/main" id="{AF2817D5-D41B-09B5-8D00-99F01BC94D3A}"/>
              </a:ext>
            </a:extLst>
          </p:cNvPr>
          <p:cNvSpPr/>
          <p:nvPr/>
        </p:nvSpPr>
        <p:spPr>
          <a:xfrm>
            <a:off x="990600" y="5638800"/>
            <a:ext cx="10236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50" b="0" i="0" u="none" strike="noStrike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物流作为独立域，其单据 / 轨迹等数据经数据集成平台汇聚，统一纳入指标看板——既保持独立完整，又进入园区全局视图。数据量增长由时序库 + 对象存储 + 分库分表共同承担，</a:t>
            </a:r>
            <a:r>
              <a:rPr lang="en-US" sz="1050" b="1" i="0" u="none" strike="noStrike">
                <a:solidFill>
                  <a:srgbClr val="2A63AA"/>
                </a:solidFill>
                <a:latin typeface="Noto Sans SC"/>
                <a:ea typeface="Noto Sans SC"/>
                <a:cs typeface="Noto Sans SC"/>
                <a:sym typeface="Noto Sans SC"/>
              </a:rPr>
              <a:t>水平扩展无瓶颈</a:t>
            </a:r>
            <a:r>
              <a:rPr lang="en-US" sz="1050" b="0" i="0" u="none" strike="noStrike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BEF3A10-4E58-4677-326A-FE77C5874590}"/>
              </a:ext>
            </a:extLst>
          </p:cNvPr>
          <p:cNvSpPr/>
          <p:nvPr/>
        </p:nvSpPr>
        <p:spPr>
          <a:xfrm>
            <a:off x="6742878" y="2692400"/>
            <a:ext cx="4687122" cy="2225040"/>
          </a:xfrm>
          <a:prstGeom prst="rect">
            <a:avLst/>
          </a:prstGeom>
          <a:noFill/>
          <a:ln w="3175">
            <a:solidFill>
              <a:srgbClr val="7385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algn="l"/>
            <a:endParaRPr lang="zh-CN" altLang="en-US" sz="1600" dirty="0" err="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299067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699BCC-6C5E-851B-15B0-51698B5D2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73E63EA-A78E-3757-33A3-6A1E4CAF4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技术架构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DEA25192-213D-B151-5D9D-78E410CF84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9585" y="949485"/>
            <a:ext cx="279400" cy="279400"/>
          </a:xfrm>
          <a:prstGeom prst="rect">
            <a:avLst/>
          </a:prstGeom>
        </p:spPr>
      </p:pic>
      <p:sp>
        <p:nvSpPr>
          <p:cNvPr id="5" name="AutoShape 9">
            <a:extLst>
              <a:ext uri="{FF2B5EF4-FFF2-40B4-BE49-F238E27FC236}">
                <a16:creationId xmlns:a16="http://schemas.microsoft.com/office/drawing/2014/main" id="{D59DFF91-1DDA-E397-031A-50608D762789}"/>
              </a:ext>
            </a:extLst>
          </p:cNvPr>
          <p:cNvSpPr/>
          <p:nvPr/>
        </p:nvSpPr>
        <p:spPr>
          <a:xfrm>
            <a:off x="845185" y="936785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无状态应用 + 容器化水平扩展</a:t>
            </a:r>
            <a:endParaRPr lang="en-US" sz="1100"/>
          </a:p>
        </p:txBody>
      </p:sp>
      <p:sp>
        <p:nvSpPr>
          <p:cNvPr id="6" name="AutoShape 10">
            <a:extLst>
              <a:ext uri="{FF2B5EF4-FFF2-40B4-BE49-F238E27FC236}">
                <a16:creationId xmlns:a16="http://schemas.microsoft.com/office/drawing/2014/main" id="{6EC116C0-4E93-3474-B60B-EC0E1A5E4BD2}"/>
              </a:ext>
            </a:extLst>
          </p:cNvPr>
          <p:cNvSpPr/>
          <p:nvPr/>
        </p:nvSpPr>
        <p:spPr>
          <a:xfrm>
            <a:off x="489585" y="1305085"/>
            <a:ext cx="1574800" cy="558800"/>
          </a:xfrm>
          <a:prstGeom prst="roundRect">
            <a:avLst>
              <a:gd name="adj" fmla="val 13636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1">
            <a:extLst>
              <a:ext uri="{FF2B5EF4-FFF2-40B4-BE49-F238E27FC236}">
                <a16:creationId xmlns:a16="http://schemas.microsoft.com/office/drawing/2014/main" id="{5B4103C6-E653-A448-B8D0-6300556C2D24}"/>
              </a:ext>
            </a:extLst>
          </p:cNvPr>
          <p:cNvSpPr/>
          <p:nvPr/>
        </p:nvSpPr>
        <p:spPr>
          <a:xfrm>
            <a:off x="540385" y="1457485"/>
            <a:ext cx="1473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无状态应用</a:t>
            </a:r>
            <a:endParaRPr lang="en-US" sz="1100"/>
          </a:p>
        </p:txBody>
      </p:sp>
      <p:cxnSp>
        <p:nvCxnSpPr>
          <p:cNvPr id="8" name="Connector 12">
            <a:extLst>
              <a:ext uri="{FF2B5EF4-FFF2-40B4-BE49-F238E27FC236}">
                <a16:creationId xmlns:a16="http://schemas.microsoft.com/office/drawing/2014/main" id="{AF0E9E64-ECAE-6A27-B15A-7F9C91A7DC3A}"/>
              </a:ext>
            </a:extLst>
          </p:cNvPr>
          <p:cNvCxnSpPr/>
          <p:nvPr/>
        </p:nvCxnSpPr>
        <p:spPr>
          <a:xfrm rot="-132155">
            <a:off x="2115307" y="1578135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" name="AutoShape 13">
            <a:extLst>
              <a:ext uri="{FF2B5EF4-FFF2-40B4-BE49-F238E27FC236}">
                <a16:creationId xmlns:a16="http://schemas.microsoft.com/office/drawing/2014/main" id="{3CFA8E48-BE6D-6803-BC69-9783D10129DC}"/>
              </a:ext>
            </a:extLst>
          </p:cNvPr>
          <p:cNvSpPr/>
          <p:nvPr/>
        </p:nvSpPr>
        <p:spPr>
          <a:xfrm>
            <a:off x="2496185" y="1305085"/>
            <a:ext cx="1727200" cy="558800"/>
          </a:xfrm>
          <a:prstGeom prst="roundRect">
            <a:avLst>
              <a:gd name="adj" fmla="val 13636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030985D9-F0F5-31FB-E5E9-C3D1E8496A8C}"/>
              </a:ext>
            </a:extLst>
          </p:cNvPr>
          <p:cNvSpPr/>
          <p:nvPr/>
        </p:nvSpPr>
        <p:spPr>
          <a:xfrm>
            <a:off x="2546985" y="1457485"/>
            <a:ext cx="1625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K8s 容器编排</a:t>
            </a:r>
            <a:endParaRPr lang="en-US" sz="1100"/>
          </a:p>
        </p:txBody>
      </p:sp>
      <p:cxnSp>
        <p:nvCxnSpPr>
          <p:cNvPr id="11" name="Connector 15">
            <a:extLst>
              <a:ext uri="{FF2B5EF4-FFF2-40B4-BE49-F238E27FC236}">
                <a16:creationId xmlns:a16="http://schemas.microsoft.com/office/drawing/2014/main" id="{84890E28-973C-0C18-E164-BF0F17FBDB1F}"/>
              </a:ext>
            </a:extLst>
          </p:cNvPr>
          <p:cNvCxnSpPr/>
          <p:nvPr/>
        </p:nvCxnSpPr>
        <p:spPr>
          <a:xfrm rot="-143156">
            <a:off x="4274317" y="1578135"/>
            <a:ext cx="30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2" name="AutoShape 16">
            <a:extLst>
              <a:ext uri="{FF2B5EF4-FFF2-40B4-BE49-F238E27FC236}">
                <a16:creationId xmlns:a16="http://schemas.microsoft.com/office/drawing/2014/main" id="{E18D34B7-27AE-FC3D-C264-7345BEC6EAF6}"/>
              </a:ext>
            </a:extLst>
          </p:cNvPr>
          <p:cNvSpPr/>
          <p:nvPr/>
        </p:nvSpPr>
        <p:spPr>
          <a:xfrm>
            <a:off x="4629785" y="1305085"/>
            <a:ext cx="1193800" cy="558800"/>
          </a:xfrm>
          <a:prstGeom prst="roundRect">
            <a:avLst>
              <a:gd name="adj" fmla="val 13636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7">
            <a:extLst>
              <a:ext uri="{FF2B5EF4-FFF2-40B4-BE49-F238E27FC236}">
                <a16:creationId xmlns:a16="http://schemas.microsoft.com/office/drawing/2014/main" id="{29FDA544-7665-999E-C29C-71B2E7B2E60F}"/>
              </a:ext>
            </a:extLst>
          </p:cNvPr>
          <p:cNvSpPr/>
          <p:nvPr/>
        </p:nvSpPr>
        <p:spPr>
          <a:xfrm>
            <a:off x="4680585" y="1457485"/>
            <a:ext cx="1092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弹性伸缩</a:t>
            </a:r>
            <a:endParaRPr lang="en-US" sz="1100"/>
          </a:p>
        </p:txBody>
      </p:sp>
      <p:sp>
        <p:nvSpPr>
          <p:cNvPr id="14" name="AutoShape 18">
            <a:extLst>
              <a:ext uri="{FF2B5EF4-FFF2-40B4-BE49-F238E27FC236}">
                <a16:creationId xmlns:a16="http://schemas.microsoft.com/office/drawing/2014/main" id="{DD000E33-6457-5B0A-B93F-DF96E0B3A0C7}"/>
              </a:ext>
            </a:extLst>
          </p:cNvPr>
          <p:cNvSpPr/>
          <p:nvPr/>
        </p:nvSpPr>
        <p:spPr>
          <a:xfrm>
            <a:off x="489585" y="1914685"/>
            <a:ext cx="558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承载层：Docker + Kubernetes ｜ 支持滚动更新、灰度发布</a:t>
            </a:r>
            <a:endParaRPr lang="en-US" sz="1100"/>
          </a:p>
        </p:txBody>
      </p:sp>
      <p:sp>
        <p:nvSpPr>
          <p:cNvPr id="15" name="AutoShape 19">
            <a:extLst>
              <a:ext uri="{FF2B5EF4-FFF2-40B4-BE49-F238E27FC236}">
                <a16:creationId xmlns:a16="http://schemas.microsoft.com/office/drawing/2014/main" id="{BA68A0A9-6909-E486-10D6-735B97A82AE4}"/>
              </a:ext>
            </a:extLst>
          </p:cNvPr>
          <p:cNvSpPr/>
          <p:nvPr/>
        </p:nvSpPr>
        <p:spPr>
          <a:xfrm>
            <a:off x="489585" y="2244885"/>
            <a:ext cx="1651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5000</a:t>
            </a:r>
            <a:endParaRPr lang="en-US" sz="1100"/>
          </a:p>
        </p:txBody>
      </p:sp>
      <p:sp>
        <p:nvSpPr>
          <p:cNvPr id="16" name="AutoShape 20">
            <a:extLst>
              <a:ext uri="{FF2B5EF4-FFF2-40B4-BE49-F238E27FC236}">
                <a16:creationId xmlns:a16="http://schemas.microsoft.com/office/drawing/2014/main" id="{925CBDC8-4543-5C34-98F5-0AA99520A9EF}"/>
              </a:ext>
            </a:extLst>
          </p:cNvPr>
          <p:cNvSpPr/>
          <p:nvPr/>
        </p:nvSpPr>
        <p:spPr>
          <a:xfrm>
            <a:off x="489585" y="2778285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并发在线</a:t>
            </a:r>
            <a:endParaRPr lang="en-US" sz="1100"/>
          </a:p>
        </p:txBody>
      </p:sp>
      <p:cxnSp>
        <p:nvCxnSpPr>
          <p:cNvPr id="17" name="Connector 21">
            <a:extLst>
              <a:ext uri="{FF2B5EF4-FFF2-40B4-BE49-F238E27FC236}">
                <a16:creationId xmlns:a16="http://schemas.microsoft.com/office/drawing/2014/main" id="{8F0A4587-EF06-3D17-2526-84E46F3BE3AA}"/>
              </a:ext>
            </a:extLst>
          </p:cNvPr>
          <p:cNvCxnSpPr/>
          <p:nvPr/>
        </p:nvCxnSpPr>
        <p:spPr>
          <a:xfrm rot="5328390">
            <a:off x="1911985" y="2594201"/>
            <a:ext cx="60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22">
            <a:extLst>
              <a:ext uri="{FF2B5EF4-FFF2-40B4-BE49-F238E27FC236}">
                <a16:creationId xmlns:a16="http://schemas.microsoft.com/office/drawing/2014/main" id="{5095BE5C-9346-3A50-1E04-70E5D9BB5060}"/>
              </a:ext>
            </a:extLst>
          </p:cNvPr>
          <p:cNvSpPr/>
          <p:nvPr/>
        </p:nvSpPr>
        <p:spPr>
          <a:xfrm>
            <a:off x="2343785" y="2244885"/>
            <a:ext cx="1651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1000</a:t>
            </a:r>
            <a:endParaRPr lang="en-US" sz="1100"/>
          </a:p>
        </p:txBody>
      </p:sp>
      <p:sp>
        <p:nvSpPr>
          <p:cNvPr id="19" name="AutoShape 23">
            <a:extLst>
              <a:ext uri="{FF2B5EF4-FFF2-40B4-BE49-F238E27FC236}">
                <a16:creationId xmlns:a16="http://schemas.microsoft.com/office/drawing/2014/main" id="{F3FB9422-B2BF-AD24-0C2F-822589A02EFB}"/>
              </a:ext>
            </a:extLst>
          </p:cNvPr>
          <p:cNvSpPr/>
          <p:nvPr/>
        </p:nvSpPr>
        <p:spPr>
          <a:xfrm>
            <a:off x="2343785" y="2778285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高峰并发</a:t>
            </a:r>
            <a:endParaRPr lang="en-US" sz="1100"/>
          </a:p>
        </p:txBody>
      </p:sp>
      <p:pic>
        <p:nvPicPr>
          <p:cNvPr id="20" name="Picture 24">
            <a:extLst>
              <a:ext uri="{FF2B5EF4-FFF2-40B4-BE49-F238E27FC236}">
                <a16:creationId xmlns:a16="http://schemas.microsoft.com/office/drawing/2014/main" id="{14E6295E-8224-F783-B693-89240F7E7A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585" y="3235485"/>
            <a:ext cx="279400" cy="279400"/>
          </a:xfrm>
          <a:prstGeom prst="rect">
            <a:avLst/>
          </a:prstGeom>
        </p:spPr>
      </p:pic>
      <p:sp>
        <p:nvSpPr>
          <p:cNvPr id="21" name="AutoShape 25">
            <a:extLst>
              <a:ext uri="{FF2B5EF4-FFF2-40B4-BE49-F238E27FC236}">
                <a16:creationId xmlns:a16="http://schemas.microsoft.com/office/drawing/2014/main" id="{5F31C54B-417F-CD5F-49D9-931D9EB503CD}"/>
              </a:ext>
            </a:extLst>
          </p:cNvPr>
          <p:cNvSpPr/>
          <p:nvPr/>
        </p:nvSpPr>
        <p:spPr>
          <a:xfrm>
            <a:off x="845185" y="3222785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中间件集群化（高可用基底）</a:t>
            </a:r>
            <a:endParaRPr lang="en-US" sz="1100"/>
          </a:p>
        </p:txBody>
      </p:sp>
      <p:graphicFrame>
        <p:nvGraphicFramePr>
          <p:cNvPr id="22" name="Table 26">
            <a:extLst>
              <a:ext uri="{FF2B5EF4-FFF2-40B4-BE49-F238E27FC236}">
                <a16:creationId xmlns:a16="http://schemas.microsoft.com/office/drawing/2014/main" id="{9C5375D0-BE2F-ABE7-A7ED-E1477DAC4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938195"/>
              </p:ext>
            </p:extLst>
          </p:nvPr>
        </p:nvGraphicFramePr>
        <p:xfrm>
          <a:off x="489585" y="3591085"/>
          <a:ext cx="5334000" cy="188214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中间件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作用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消息队列（Kafka / RabbitMQ）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解耦 + 削峰（告警、事件、数据上报）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Redis 集群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缓存、会话、热点数据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注册中心 + 配置中心 + 网关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微服务治理，新增服务自动注册 / 路由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3" name="Picture 27">
            <a:extLst>
              <a:ext uri="{FF2B5EF4-FFF2-40B4-BE49-F238E27FC236}">
                <a16:creationId xmlns:a16="http://schemas.microsoft.com/office/drawing/2014/main" id="{DBE53B5E-1B0C-950C-5D4F-4ED44C6275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4585" y="949485"/>
            <a:ext cx="279400" cy="279400"/>
          </a:xfrm>
          <a:prstGeom prst="rect">
            <a:avLst/>
          </a:prstGeom>
        </p:spPr>
      </p:pic>
      <p:sp>
        <p:nvSpPr>
          <p:cNvPr id="24" name="AutoShape 28">
            <a:extLst>
              <a:ext uri="{FF2B5EF4-FFF2-40B4-BE49-F238E27FC236}">
                <a16:creationId xmlns:a16="http://schemas.microsoft.com/office/drawing/2014/main" id="{1520F938-4559-C2A8-751A-6E7AD1A78469}"/>
              </a:ext>
            </a:extLst>
          </p:cNvPr>
          <p:cNvSpPr/>
          <p:nvPr/>
        </p:nvSpPr>
        <p:spPr>
          <a:xfrm>
            <a:off x="6560185" y="936785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IoT 设备接入可扩展设计</a:t>
            </a:r>
            <a:endParaRPr lang="en-US" sz="1100"/>
          </a:p>
        </p:txBody>
      </p:sp>
      <p:sp>
        <p:nvSpPr>
          <p:cNvPr id="25" name="AutoShape 29">
            <a:extLst>
              <a:ext uri="{FF2B5EF4-FFF2-40B4-BE49-F238E27FC236}">
                <a16:creationId xmlns:a16="http://schemas.microsoft.com/office/drawing/2014/main" id="{C12BB63D-DB07-C02E-9A94-68189C0EF511}"/>
              </a:ext>
            </a:extLst>
          </p:cNvPr>
          <p:cNvSpPr/>
          <p:nvPr/>
        </p:nvSpPr>
        <p:spPr>
          <a:xfrm>
            <a:off x="8748971" y="974885"/>
            <a:ext cx="660400" cy="254000"/>
          </a:xfrm>
          <a:prstGeom prst="roundRect">
            <a:avLst>
              <a:gd name="adj" fmla="val 2000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0">
            <a:extLst>
              <a:ext uri="{FF2B5EF4-FFF2-40B4-BE49-F238E27FC236}">
                <a16:creationId xmlns:a16="http://schemas.microsoft.com/office/drawing/2014/main" id="{58CE7D30-6590-C9B3-E7B8-C1AE8959AA43}"/>
              </a:ext>
            </a:extLst>
          </p:cNvPr>
          <p:cNvSpPr/>
          <p:nvPr/>
        </p:nvSpPr>
        <p:spPr>
          <a:xfrm>
            <a:off x="8748971" y="1000285"/>
            <a:ext cx="66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重点</a:t>
            </a:r>
            <a:endParaRPr lang="en-US" sz="1100"/>
          </a:p>
        </p:txBody>
      </p:sp>
      <p:sp>
        <p:nvSpPr>
          <p:cNvPr id="27" name="AutoShape 31">
            <a:extLst>
              <a:ext uri="{FF2B5EF4-FFF2-40B4-BE49-F238E27FC236}">
                <a16:creationId xmlns:a16="http://schemas.microsoft.com/office/drawing/2014/main" id="{F8D7C91F-189C-2DD9-2DDF-352640C36B8D}"/>
              </a:ext>
            </a:extLst>
          </p:cNvPr>
          <p:cNvSpPr/>
          <p:nvPr/>
        </p:nvSpPr>
        <p:spPr>
          <a:xfrm>
            <a:off x="6204585" y="1305085"/>
            <a:ext cx="4953000" cy="787400"/>
          </a:xfrm>
          <a:prstGeom prst="roundRect">
            <a:avLst>
              <a:gd name="adj" fmla="val 9677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32">
            <a:extLst>
              <a:ext uri="{FF2B5EF4-FFF2-40B4-BE49-F238E27FC236}">
                <a16:creationId xmlns:a16="http://schemas.microsoft.com/office/drawing/2014/main" id="{FE152DC4-FCFD-A0EB-5CA5-907F420CD9A4}"/>
              </a:ext>
            </a:extLst>
          </p:cNvPr>
          <p:cNvSpPr/>
          <p:nvPr/>
        </p:nvSpPr>
        <p:spPr>
          <a:xfrm>
            <a:off x="6204585" y="1305085"/>
            <a:ext cx="63500" cy="7874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3">
            <a:extLst>
              <a:ext uri="{FF2B5EF4-FFF2-40B4-BE49-F238E27FC236}">
                <a16:creationId xmlns:a16="http://schemas.microsoft.com/office/drawing/2014/main" id="{91A3B172-B354-6837-F8C5-7586E181EC95}"/>
              </a:ext>
            </a:extLst>
          </p:cNvPr>
          <p:cNvSpPr/>
          <p:nvPr/>
        </p:nvSpPr>
        <p:spPr>
          <a:xfrm>
            <a:off x="6433185" y="1381285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多协议接入 · 统一适配层</a:t>
            </a:r>
            <a:endParaRPr lang="en-US" sz="1100"/>
          </a:p>
        </p:txBody>
      </p:sp>
      <p:sp>
        <p:nvSpPr>
          <p:cNvPr id="30" name="AutoShape 34">
            <a:extLst>
              <a:ext uri="{FF2B5EF4-FFF2-40B4-BE49-F238E27FC236}">
                <a16:creationId xmlns:a16="http://schemas.microsoft.com/office/drawing/2014/main" id="{6363FAFD-FF61-6100-54E1-EE7E62F18627}"/>
              </a:ext>
            </a:extLst>
          </p:cNvPr>
          <p:cNvSpPr/>
          <p:nvPr/>
        </p:nvSpPr>
        <p:spPr>
          <a:xfrm>
            <a:off x="6433185" y="1635285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MQTT · HTTP · CoAP · GB28181 · NB-IoT · 485 等</a:t>
            </a:r>
            <a:endParaRPr lang="en-US" sz="1100"/>
          </a:p>
        </p:txBody>
      </p:sp>
      <p:sp>
        <p:nvSpPr>
          <p:cNvPr id="31" name="AutoShape 35">
            <a:extLst>
              <a:ext uri="{FF2B5EF4-FFF2-40B4-BE49-F238E27FC236}">
                <a16:creationId xmlns:a16="http://schemas.microsoft.com/office/drawing/2014/main" id="{3B7BB3F9-8423-7554-1DB6-77A130DC40BA}"/>
              </a:ext>
            </a:extLst>
          </p:cNvPr>
          <p:cNvSpPr/>
          <p:nvPr/>
        </p:nvSpPr>
        <p:spPr>
          <a:xfrm>
            <a:off x="6204585" y="2168685"/>
            <a:ext cx="4953000" cy="787400"/>
          </a:xfrm>
          <a:prstGeom prst="roundRect">
            <a:avLst>
              <a:gd name="adj" fmla="val 9677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6">
            <a:extLst>
              <a:ext uri="{FF2B5EF4-FFF2-40B4-BE49-F238E27FC236}">
                <a16:creationId xmlns:a16="http://schemas.microsoft.com/office/drawing/2014/main" id="{47A6A3D7-5FE7-C4F2-E418-AFB2034A064C}"/>
              </a:ext>
            </a:extLst>
          </p:cNvPr>
          <p:cNvSpPr/>
          <p:nvPr/>
        </p:nvSpPr>
        <p:spPr>
          <a:xfrm>
            <a:off x="6204585" y="2168685"/>
            <a:ext cx="63500" cy="7874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7">
            <a:extLst>
              <a:ext uri="{FF2B5EF4-FFF2-40B4-BE49-F238E27FC236}">
                <a16:creationId xmlns:a16="http://schemas.microsoft.com/office/drawing/2014/main" id="{28991FBB-93C1-C531-B663-56256B321686}"/>
              </a:ext>
            </a:extLst>
          </p:cNvPr>
          <p:cNvSpPr/>
          <p:nvPr/>
        </p:nvSpPr>
        <p:spPr>
          <a:xfrm>
            <a:off x="6433185" y="2244885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物模型 + 设备影子</a:t>
            </a:r>
            <a:endParaRPr lang="en-US" sz="1100"/>
          </a:p>
        </p:txBody>
      </p:sp>
      <p:sp>
        <p:nvSpPr>
          <p:cNvPr id="34" name="AutoShape 38">
            <a:extLst>
              <a:ext uri="{FF2B5EF4-FFF2-40B4-BE49-F238E27FC236}">
                <a16:creationId xmlns:a16="http://schemas.microsoft.com/office/drawing/2014/main" id="{A852D170-2F73-2752-A6C0-61B6C1399944}"/>
              </a:ext>
            </a:extLst>
          </p:cNvPr>
          <p:cNvSpPr/>
          <p:nvPr/>
        </p:nvSpPr>
        <p:spPr>
          <a:xfrm>
            <a:off x="6433185" y="2498885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新设备 = 定义物模型 + 协议适配器，即插即用、不写死代码</a:t>
            </a:r>
            <a:endParaRPr lang="en-US" sz="1100"/>
          </a:p>
        </p:txBody>
      </p:sp>
      <p:sp>
        <p:nvSpPr>
          <p:cNvPr id="35" name="AutoShape 39">
            <a:extLst>
              <a:ext uri="{FF2B5EF4-FFF2-40B4-BE49-F238E27FC236}">
                <a16:creationId xmlns:a16="http://schemas.microsoft.com/office/drawing/2014/main" id="{50E11060-BF97-CA6B-3497-5D058B15FCF6}"/>
              </a:ext>
            </a:extLst>
          </p:cNvPr>
          <p:cNvSpPr/>
          <p:nvPr/>
        </p:nvSpPr>
        <p:spPr>
          <a:xfrm>
            <a:off x="6204585" y="3032285"/>
            <a:ext cx="4953000" cy="787400"/>
          </a:xfrm>
          <a:prstGeom prst="roundRect">
            <a:avLst>
              <a:gd name="adj" fmla="val 9677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40">
            <a:extLst>
              <a:ext uri="{FF2B5EF4-FFF2-40B4-BE49-F238E27FC236}">
                <a16:creationId xmlns:a16="http://schemas.microsoft.com/office/drawing/2014/main" id="{EE4C7146-465F-A136-C9CA-5D12AA9953C7}"/>
              </a:ext>
            </a:extLst>
          </p:cNvPr>
          <p:cNvSpPr/>
          <p:nvPr/>
        </p:nvSpPr>
        <p:spPr>
          <a:xfrm>
            <a:off x="6204585" y="3032285"/>
            <a:ext cx="63500" cy="7874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41">
            <a:extLst>
              <a:ext uri="{FF2B5EF4-FFF2-40B4-BE49-F238E27FC236}">
                <a16:creationId xmlns:a16="http://schemas.microsoft.com/office/drawing/2014/main" id="{54E15634-B825-407D-B9A0-2C48C0C9C046}"/>
              </a:ext>
            </a:extLst>
          </p:cNvPr>
          <p:cNvSpPr/>
          <p:nvPr/>
        </p:nvSpPr>
        <p:spPr>
          <a:xfrm>
            <a:off x="6433185" y="3108485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设备白名单 + 分区管理</a:t>
            </a:r>
            <a:endParaRPr lang="en-US" sz="1100"/>
          </a:p>
        </p:txBody>
      </p:sp>
      <p:sp>
        <p:nvSpPr>
          <p:cNvPr id="38" name="AutoShape 42">
            <a:extLst>
              <a:ext uri="{FF2B5EF4-FFF2-40B4-BE49-F238E27FC236}">
                <a16:creationId xmlns:a16="http://schemas.microsoft.com/office/drawing/2014/main" id="{F7595695-F051-FF5D-ACDC-0A23D296D07C}"/>
              </a:ext>
            </a:extLst>
          </p:cNvPr>
          <p:cNvSpPr/>
          <p:nvPr/>
        </p:nvSpPr>
        <p:spPr>
          <a:xfrm>
            <a:off x="6433185" y="3362485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按园区 / 类型管控海量设备；OTA 升级 + 完整台账</a:t>
            </a:r>
            <a:endParaRPr lang="en-US" sz="1100"/>
          </a:p>
        </p:txBody>
      </p:sp>
      <p:sp>
        <p:nvSpPr>
          <p:cNvPr id="39" name="AutoShape 43">
            <a:extLst>
              <a:ext uri="{FF2B5EF4-FFF2-40B4-BE49-F238E27FC236}">
                <a16:creationId xmlns:a16="http://schemas.microsoft.com/office/drawing/2014/main" id="{795CC7D6-6E6C-1922-FEAC-8F8566373D3D}"/>
              </a:ext>
            </a:extLst>
          </p:cNvPr>
          <p:cNvSpPr/>
          <p:nvPr/>
        </p:nvSpPr>
        <p:spPr>
          <a:xfrm>
            <a:off x="6204585" y="3895885"/>
            <a:ext cx="4953000" cy="787400"/>
          </a:xfrm>
          <a:prstGeom prst="roundRect">
            <a:avLst>
              <a:gd name="adj" fmla="val 9677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4">
            <a:extLst>
              <a:ext uri="{FF2B5EF4-FFF2-40B4-BE49-F238E27FC236}">
                <a16:creationId xmlns:a16="http://schemas.microsoft.com/office/drawing/2014/main" id="{B5531F21-E848-4413-4793-26524DC6618A}"/>
              </a:ext>
            </a:extLst>
          </p:cNvPr>
          <p:cNvSpPr/>
          <p:nvPr/>
        </p:nvSpPr>
        <p:spPr>
          <a:xfrm>
            <a:off x="6204585" y="3895885"/>
            <a:ext cx="63500" cy="7874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45">
            <a:extLst>
              <a:ext uri="{FF2B5EF4-FFF2-40B4-BE49-F238E27FC236}">
                <a16:creationId xmlns:a16="http://schemas.microsoft.com/office/drawing/2014/main" id="{2869DC8E-819A-7B6A-1351-A551B75338D8}"/>
              </a:ext>
            </a:extLst>
          </p:cNvPr>
          <p:cNvSpPr/>
          <p:nvPr/>
        </p:nvSpPr>
        <p:spPr>
          <a:xfrm>
            <a:off x="6433185" y="3972085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视频接入（GB/T28181）</a:t>
            </a:r>
            <a:endParaRPr lang="en-US" sz="1100"/>
          </a:p>
        </p:txBody>
      </p:sp>
      <p:sp>
        <p:nvSpPr>
          <p:cNvPr id="42" name="AutoShape 46">
            <a:extLst>
              <a:ext uri="{FF2B5EF4-FFF2-40B4-BE49-F238E27FC236}">
                <a16:creationId xmlns:a16="http://schemas.microsoft.com/office/drawing/2014/main" id="{708796AF-55A2-333A-6005-083B16CC059E}"/>
              </a:ext>
            </a:extLst>
          </p:cNvPr>
          <p:cNvSpPr/>
          <p:nvPr/>
        </p:nvSpPr>
        <p:spPr>
          <a:xfrm>
            <a:off x="6433185" y="4226085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标准协议接入，接入服务器可横向堆叠扩展</a:t>
            </a:r>
            <a:endParaRPr lang="en-US" sz="1100"/>
          </a:p>
        </p:txBody>
      </p:sp>
      <p:pic>
        <p:nvPicPr>
          <p:cNvPr id="43" name="Picture 8">
            <a:extLst>
              <a:ext uri="{FF2B5EF4-FFF2-40B4-BE49-F238E27FC236}">
                <a16:creationId xmlns:a16="http://schemas.microsoft.com/office/drawing/2014/main" id="{D901FE4E-B419-A161-58AA-19D5D20908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2251" y="5006815"/>
            <a:ext cx="279400" cy="279400"/>
          </a:xfrm>
          <a:prstGeom prst="rect">
            <a:avLst/>
          </a:prstGeom>
        </p:spPr>
      </p:pic>
      <p:sp>
        <p:nvSpPr>
          <p:cNvPr id="44" name="AutoShape 9">
            <a:extLst>
              <a:ext uri="{FF2B5EF4-FFF2-40B4-BE49-F238E27FC236}">
                <a16:creationId xmlns:a16="http://schemas.microsoft.com/office/drawing/2014/main" id="{AD8CD823-3569-2F46-1CBA-4538AEB6746E}"/>
              </a:ext>
            </a:extLst>
          </p:cNvPr>
          <p:cNvSpPr/>
          <p:nvPr/>
        </p:nvSpPr>
        <p:spPr>
          <a:xfrm>
            <a:off x="6557851" y="4994115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AI 算法可扩展（算法仓）</a:t>
            </a:r>
            <a:endParaRPr lang="en-US" sz="1100"/>
          </a:p>
        </p:txBody>
      </p:sp>
      <p:sp>
        <p:nvSpPr>
          <p:cNvPr id="45" name="AutoShape 10">
            <a:extLst>
              <a:ext uri="{FF2B5EF4-FFF2-40B4-BE49-F238E27FC236}">
                <a16:creationId xmlns:a16="http://schemas.microsoft.com/office/drawing/2014/main" id="{B60DA09E-39B5-9780-2935-90784912FAD5}"/>
              </a:ext>
            </a:extLst>
          </p:cNvPr>
          <p:cNvSpPr/>
          <p:nvPr/>
        </p:nvSpPr>
        <p:spPr>
          <a:xfrm>
            <a:off x="8748971" y="5006815"/>
            <a:ext cx="660400" cy="254000"/>
          </a:xfrm>
          <a:prstGeom prst="roundRect">
            <a:avLst>
              <a:gd name="adj" fmla="val 2000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AutoShape 11">
            <a:extLst>
              <a:ext uri="{FF2B5EF4-FFF2-40B4-BE49-F238E27FC236}">
                <a16:creationId xmlns:a16="http://schemas.microsoft.com/office/drawing/2014/main" id="{3F853D4B-FDE6-811E-FB09-F88CD4515281}"/>
              </a:ext>
            </a:extLst>
          </p:cNvPr>
          <p:cNvSpPr/>
          <p:nvPr/>
        </p:nvSpPr>
        <p:spPr>
          <a:xfrm>
            <a:off x="8748971" y="5032215"/>
            <a:ext cx="66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重点</a:t>
            </a:r>
            <a:endParaRPr lang="en-US" sz="1100"/>
          </a:p>
        </p:txBody>
      </p:sp>
      <p:sp>
        <p:nvSpPr>
          <p:cNvPr id="47" name="AutoShape 12">
            <a:extLst>
              <a:ext uri="{FF2B5EF4-FFF2-40B4-BE49-F238E27FC236}">
                <a16:creationId xmlns:a16="http://schemas.microsoft.com/office/drawing/2014/main" id="{09D4F840-B285-9432-33A3-EBAF9FE9FC7C}"/>
              </a:ext>
            </a:extLst>
          </p:cNvPr>
          <p:cNvSpPr/>
          <p:nvPr/>
        </p:nvSpPr>
        <p:spPr>
          <a:xfrm>
            <a:off x="6202251" y="5362415"/>
            <a:ext cx="1600200" cy="558800"/>
          </a:xfrm>
          <a:prstGeom prst="roundRect">
            <a:avLst>
              <a:gd name="adj" fmla="val 13636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AutoShape 13">
            <a:extLst>
              <a:ext uri="{FF2B5EF4-FFF2-40B4-BE49-F238E27FC236}">
                <a16:creationId xmlns:a16="http://schemas.microsoft.com/office/drawing/2014/main" id="{EE802F8C-4915-F4EB-DCBC-C8FF92EB2CBD}"/>
              </a:ext>
            </a:extLst>
          </p:cNvPr>
          <p:cNvSpPr/>
          <p:nvPr/>
        </p:nvSpPr>
        <p:spPr>
          <a:xfrm>
            <a:off x="6253051" y="5514815"/>
            <a:ext cx="1498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算法仓上架/下架</a:t>
            </a:r>
            <a:endParaRPr lang="en-US" sz="1100"/>
          </a:p>
        </p:txBody>
      </p:sp>
      <p:cxnSp>
        <p:nvCxnSpPr>
          <p:cNvPr id="49" name="Connector 14">
            <a:extLst>
              <a:ext uri="{FF2B5EF4-FFF2-40B4-BE49-F238E27FC236}">
                <a16:creationId xmlns:a16="http://schemas.microsoft.com/office/drawing/2014/main" id="{51EC3BE1-B3ED-80BC-B934-7E5CB342968B}"/>
              </a:ext>
            </a:extLst>
          </p:cNvPr>
          <p:cNvCxnSpPr/>
          <p:nvPr/>
        </p:nvCxnSpPr>
        <p:spPr>
          <a:xfrm rot="-143156">
            <a:off x="7853383" y="5635465"/>
            <a:ext cx="30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0" name="AutoShape 15">
            <a:extLst>
              <a:ext uri="{FF2B5EF4-FFF2-40B4-BE49-F238E27FC236}">
                <a16:creationId xmlns:a16="http://schemas.microsoft.com/office/drawing/2014/main" id="{49A42D19-24C0-AFDE-4F37-AE8759F78E06}"/>
              </a:ext>
            </a:extLst>
          </p:cNvPr>
          <p:cNvSpPr/>
          <p:nvPr/>
        </p:nvSpPr>
        <p:spPr>
          <a:xfrm>
            <a:off x="8208851" y="5362415"/>
            <a:ext cx="1320800" cy="558800"/>
          </a:xfrm>
          <a:prstGeom prst="roundRect">
            <a:avLst>
              <a:gd name="adj" fmla="val 13636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16">
            <a:extLst>
              <a:ext uri="{FF2B5EF4-FFF2-40B4-BE49-F238E27FC236}">
                <a16:creationId xmlns:a16="http://schemas.microsoft.com/office/drawing/2014/main" id="{ACA097E2-00E8-2330-8CC0-863F72254897}"/>
              </a:ext>
            </a:extLst>
          </p:cNvPr>
          <p:cNvSpPr/>
          <p:nvPr/>
        </p:nvSpPr>
        <p:spPr>
          <a:xfrm>
            <a:off x="8259651" y="5514815"/>
            <a:ext cx="1219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绑定摄像机</a:t>
            </a:r>
            <a:endParaRPr lang="en-US" sz="1100"/>
          </a:p>
        </p:txBody>
      </p:sp>
      <p:cxnSp>
        <p:nvCxnSpPr>
          <p:cNvPr id="52" name="Connector 17">
            <a:extLst>
              <a:ext uri="{FF2B5EF4-FFF2-40B4-BE49-F238E27FC236}">
                <a16:creationId xmlns:a16="http://schemas.microsoft.com/office/drawing/2014/main" id="{D3D7DD05-3589-F0DD-5840-8E630AE579F1}"/>
              </a:ext>
            </a:extLst>
          </p:cNvPr>
          <p:cNvCxnSpPr/>
          <p:nvPr/>
        </p:nvCxnSpPr>
        <p:spPr>
          <a:xfrm rot="-143156">
            <a:off x="9580583" y="5635465"/>
            <a:ext cx="30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3" name="AutoShape 18">
            <a:extLst>
              <a:ext uri="{FF2B5EF4-FFF2-40B4-BE49-F238E27FC236}">
                <a16:creationId xmlns:a16="http://schemas.microsoft.com/office/drawing/2014/main" id="{148569E2-BF5B-230B-CE1A-BF057D775DD5}"/>
              </a:ext>
            </a:extLst>
          </p:cNvPr>
          <p:cNvSpPr/>
          <p:nvPr/>
        </p:nvSpPr>
        <p:spPr>
          <a:xfrm>
            <a:off x="9936051" y="5362415"/>
            <a:ext cx="1397000" cy="558800"/>
          </a:xfrm>
          <a:prstGeom prst="roundRect">
            <a:avLst>
              <a:gd name="adj" fmla="val 13636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AutoShape 19">
            <a:extLst>
              <a:ext uri="{FF2B5EF4-FFF2-40B4-BE49-F238E27FC236}">
                <a16:creationId xmlns:a16="http://schemas.microsoft.com/office/drawing/2014/main" id="{66A2D3D1-BD70-EA90-555A-53E356F89F25}"/>
              </a:ext>
            </a:extLst>
          </p:cNvPr>
          <p:cNvSpPr/>
          <p:nvPr/>
        </p:nvSpPr>
        <p:spPr>
          <a:xfrm>
            <a:off x="9986851" y="5514815"/>
            <a:ext cx="1295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生成分析计划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64182931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C3C9F15-B7AA-12AD-40EE-BF9B8C2034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8B9F752-185F-94D6-F784-43B50A4E4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部署架构</a:t>
            </a:r>
          </a:p>
        </p:txBody>
      </p:sp>
      <p:sp>
        <p:nvSpPr>
          <p:cNvPr id="4" name="AutoShape 8">
            <a:extLst>
              <a:ext uri="{FF2B5EF4-FFF2-40B4-BE49-F238E27FC236}">
                <a16:creationId xmlns:a16="http://schemas.microsoft.com/office/drawing/2014/main" id="{50726E58-D57D-9679-B3C2-0BE1EEF380C9}"/>
              </a:ext>
            </a:extLst>
          </p:cNvPr>
          <p:cNvSpPr/>
          <p:nvPr/>
        </p:nvSpPr>
        <p:spPr>
          <a:xfrm>
            <a:off x="762000" y="1219200"/>
            <a:ext cx="10668000" cy="279400"/>
          </a:xfrm>
          <a:prstGeom prst="roundRect">
            <a:avLst>
              <a:gd name="adj" fmla="val 18181"/>
            </a:avLst>
          </a:prstGeom>
          <a:solidFill>
            <a:srgbClr val="7A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9">
            <a:extLst>
              <a:ext uri="{FF2B5EF4-FFF2-40B4-BE49-F238E27FC236}">
                <a16:creationId xmlns:a16="http://schemas.microsoft.com/office/drawing/2014/main" id="{D279BAFB-217D-E1D5-EB05-C0E751B02955}"/>
              </a:ext>
            </a:extLst>
          </p:cNvPr>
          <p:cNvSpPr/>
          <p:nvPr/>
        </p:nvSpPr>
        <p:spPr>
          <a:xfrm>
            <a:off x="965200" y="12319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总部中心 · 集中管控 · 统一运维</a:t>
            </a:r>
            <a:endParaRPr lang="en-US" sz="1100"/>
          </a:p>
        </p:txBody>
      </p:sp>
      <p:sp>
        <p:nvSpPr>
          <p:cNvPr id="6" name="AutoShape 10">
            <a:extLst>
              <a:ext uri="{FF2B5EF4-FFF2-40B4-BE49-F238E27FC236}">
                <a16:creationId xmlns:a16="http://schemas.microsoft.com/office/drawing/2014/main" id="{D6AB14C0-F37E-5DB6-880A-86FF93F8A2B2}"/>
              </a:ext>
            </a:extLst>
          </p:cNvPr>
          <p:cNvSpPr/>
          <p:nvPr/>
        </p:nvSpPr>
        <p:spPr>
          <a:xfrm>
            <a:off x="762000" y="1498600"/>
            <a:ext cx="10668000" cy="584200"/>
          </a:xfrm>
          <a:prstGeom prst="roundRect">
            <a:avLst>
              <a:gd name="adj" fmla="val 0"/>
            </a:avLst>
          </a:prstGeom>
          <a:solidFill>
            <a:srgbClr val="F7E6E6">
              <a:alpha val="100000"/>
            </a:srgbClr>
          </a:solidFill>
          <a:ln w="12700" cap="flat" cmpd="sng">
            <a:solidFill>
              <a:srgbClr val="7A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1">
            <a:extLst>
              <a:ext uri="{FF2B5EF4-FFF2-40B4-BE49-F238E27FC236}">
                <a16:creationId xmlns:a16="http://schemas.microsoft.com/office/drawing/2014/main" id="{CA39C25F-E48A-A90D-C126-CEB6C6543EEB}"/>
              </a:ext>
            </a:extLst>
          </p:cNvPr>
          <p:cNvSpPr/>
          <p:nvPr/>
        </p:nvSpPr>
        <p:spPr>
          <a:xfrm>
            <a:off x="965200" y="1574800"/>
            <a:ext cx="1968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2">
            <a:extLst>
              <a:ext uri="{FF2B5EF4-FFF2-40B4-BE49-F238E27FC236}">
                <a16:creationId xmlns:a16="http://schemas.microsoft.com/office/drawing/2014/main" id="{E7530DE0-FBC9-6873-9737-0EDA20A5084A}"/>
              </a:ext>
            </a:extLst>
          </p:cNvPr>
          <p:cNvSpPr/>
          <p:nvPr/>
        </p:nvSpPr>
        <p:spPr>
          <a:xfrm>
            <a:off x="1016000" y="1600200"/>
            <a:ext cx="18669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数据湖 / 数仓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全园汇聚</a:t>
            </a:r>
            <a:endParaRPr lang="en-US" sz="1100"/>
          </a:p>
        </p:txBody>
      </p:sp>
      <p:sp>
        <p:nvSpPr>
          <p:cNvPr id="9" name="AutoShape 13">
            <a:extLst>
              <a:ext uri="{FF2B5EF4-FFF2-40B4-BE49-F238E27FC236}">
                <a16:creationId xmlns:a16="http://schemas.microsoft.com/office/drawing/2014/main" id="{ADAA7F9B-6B07-9E0C-5997-B70FB911206E}"/>
              </a:ext>
            </a:extLst>
          </p:cNvPr>
          <p:cNvSpPr/>
          <p:nvPr/>
        </p:nvSpPr>
        <p:spPr>
          <a:xfrm>
            <a:off x="3035300" y="1574800"/>
            <a:ext cx="1968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37119665-36F1-9AC5-1C57-88508350E416}"/>
              </a:ext>
            </a:extLst>
          </p:cNvPr>
          <p:cNvSpPr/>
          <p:nvPr/>
        </p:nvSpPr>
        <p:spPr>
          <a:xfrm>
            <a:off x="3086100" y="1600200"/>
            <a:ext cx="18669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集团级看板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跨园态势</a:t>
            </a:r>
            <a:endParaRPr lang="en-US" sz="1100"/>
          </a:p>
        </p:txBody>
      </p:sp>
      <p:sp>
        <p:nvSpPr>
          <p:cNvPr id="11" name="AutoShape 15">
            <a:extLst>
              <a:ext uri="{FF2B5EF4-FFF2-40B4-BE49-F238E27FC236}">
                <a16:creationId xmlns:a16="http://schemas.microsoft.com/office/drawing/2014/main" id="{BA49BF40-9A96-A091-BC6E-235A44ACD3F3}"/>
              </a:ext>
            </a:extLst>
          </p:cNvPr>
          <p:cNvSpPr/>
          <p:nvPr/>
        </p:nvSpPr>
        <p:spPr>
          <a:xfrm>
            <a:off x="5105400" y="1574800"/>
            <a:ext cx="1968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6">
            <a:extLst>
              <a:ext uri="{FF2B5EF4-FFF2-40B4-BE49-F238E27FC236}">
                <a16:creationId xmlns:a16="http://schemas.microsoft.com/office/drawing/2014/main" id="{873FE255-5ABE-7761-95D6-DC8995C83E35}"/>
              </a:ext>
            </a:extLst>
          </p:cNvPr>
          <p:cNvSpPr/>
          <p:nvPr/>
        </p:nvSpPr>
        <p:spPr>
          <a:xfrm>
            <a:off x="5156200" y="1600200"/>
            <a:ext cx="18669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统一主数据 / SSO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MDM</a:t>
            </a:r>
            <a:endParaRPr lang="en-US" sz="1100"/>
          </a:p>
        </p:txBody>
      </p:sp>
      <p:sp>
        <p:nvSpPr>
          <p:cNvPr id="13" name="AutoShape 17">
            <a:extLst>
              <a:ext uri="{FF2B5EF4-FFF2-40B4-BE49-F238E27FC236}">
                <a16:creationId xmlns:a16="http://schemas.microsoft.com/office/drawing/2014/main" id="{C500DD19-C8C9-1483-B65C-A23DF88EAE33}"/>
              </a:ext>
            </a:extLst>
          </p:cNvPr>
          <p:cNvSpPr/>
          <p:nvPr/>
        </p:nvSpPr>
        <p:spPr>
          <a:xfrm>
            <a:off x="7175500" y="1574800"/>
            <a:ext cx="1968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8">
            <a:extLst>
              <a:ext uri="{FF2B5EF4-FFF2-40B4-BE49-F238E27FC236}">
                <a16:creationId xmlns:a16="http://schemas.microsoft.com/office/drawing/2014/main" id="{ECAF756E-D497-4B14-7846-54AF159CEB6E}"/>
              </a:ext>
            </a:extLst>
          </p:cNvPr>
          <p:cNvSpPr/>
          <p:nvPr/>
        </p:nvSpPr>
        <p:spPr>
          <a:xfrm>
            <a:off x="7226300" y="1600200"/>
            <a:ext cx="18669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统一运维 / 升级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版本·审计</a:t>
            </a:r>
            <a:endParaRPr lang="en-US" sz="1100"/>
          </a:p>
        </p:txBody>
      </p:sp>
      <p:sp>
        <p:nvSpPr>
          <p:cNvPr id="15" name="AutoShape 19">
            <a:extLst>
              <a:ext uri="{FF2B5EF4-FFF2-40B4-BE49-F238E27FC236}">
                <a16:creationId xmlns:a16="http://schemas.microsoft.com/office/drawing/2014/main" id="{98A9DAE1-9A30-9962-122E-36D032A17007}"/>
              </a:ext>
            </a:extLst>
          </p:cNvPr>
          <p:cNvSpPr/>
          <p:nvPr/>
        </p:nvSpPr>
        <p:spPr>
          <a:xfrm>
            <a:off x="9245600" y="1574800"/>
            <a:ext cx="1968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0">
            <a:extLst>
              <a:ext uri="{FF2B5EF4-FFF2-40B4-BE49-F238E27FC236}">
                <a16:creationId xmlns:a16="http://schemas.microsoft.com/office/drawing/2014/main" id="{BCE094F0-C4BF-B8DD-3007-51A2668BBA5D}"/>
              </a:ext>
            </a:extLst>
          </p:cNvPr>
          <p:cNvSpPr/>
          <p:nvPr/>
        </p:nvSpPr>
        <p:spPr>
          <a:xfrm>
            <a:off x="9296400" y="1600200"/>
            <a:ext cx="18669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算法仓 / 模型中心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AI 集中</a:t>
            </a:r>
            <a:endParaRPr lang="en-US" sz="1100"/>
          </a:p>
        </p:txBody>
      </p:sp>
      <p:cxnSp>
        <p:nvCxnSpPr>
          <p:cNvPr id="17" name="Connector 21">
            <a:extLst>
              <a:ext uri="{FF2B5EF4-FFF2-40B4-BE49-F238E27FC236}">
                <a16:creationId xmlns:a16="http://schemas.microsoft.com/office/drawing/2014/main" id="{F5767821-3FC8-32F5-83B2-CBCD56B2EE63}"/>
              </a:ext>
            </a:extLst>
          </p:cNvPr>
          <p:cNvCxnSpPr/>
          <p:nvPr/>
        </p:nvCxnSpPr>
        <p:spPr>
          <a:xfrm rot="5228255">
            <a:off x="5969000" y="22544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triangle" w="lg" len="lg"/>
            <a:tailEnd type="triangle" w="lg" len="lg"/>
          </a:ln>
        </p:spPr>
      </p:cxnSp>
      <p:sp>
        <p:nvSpPr>
          <p:cNvPr id="18" name="AutoShape 22">
            <a:extLst>
              <a:ext uri="{FF2B5EF4-FFF2-40B4-BE49-F238E27FC236}">
                <a16:creationId xmlns:a16="http://schemas.microsoft.com/office/drawing/2014/main" id="{61B38859-F6A7-9CD0-86DB-873E394B6BBB}"/>
              </a:ext>
            </a:extLst>
          </p:cNvPr>
          <p:cNvSpPr/>
          <p:nvPr/>
        </p:nvSpPr>
        <p:spPr>
          <a:xfrm>
            <a:off x="6350000" y="2159000"/>
            <a:ext cx="330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专线 / VPN · 实时增量同步</a:t>
            </a:r>
            <a:endParaRPr lang="en-US" sz="1100"/>
          </a:p>
        </p:txBody>
      </p:sp>
      <p:sp>
        <p:nvSpPr>
          <p:cNvPr id="19" name="AutoShape 23">
            <a:extLst>
              <a:ext uri="{FF2B5EF4-FFF2-40B4-BE49-F238E27FC236}">
                <a16:creationId xmlns:a16="http://schemas.microsoft.com/office/drawing/2014/main" id="{C4043455-0D79-655A-7FF3-6C1AFC93FA7B}"/>
              </a:ext>
            </a:extLst>
          </p:cNvPr>
          <p:cNvSpPr/>
          <p:nvPr/>
        </p:nvSpPr>
        <p:spPr>
          <a:xfrm>
            <a:off x="762000" y="2438400"/>
            <a:ext cx="10668000" cy="279400"/>
          </a:xfrm>
          <a:prstGeom prst="roundRect">
            <a:avLst>
              <a:gd name="adj" fmla="val 18181"/>
            </a:avLst>
          </a:prstGeom>
          <a:solidFill>
            <a:srgbClr val="C930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4">
            <a:extLst>
              <a:ext uri="{FF2B5EF4-FFF2-40B4-BE49-F238E27FC236}">
                <a16:creationId xmlns:a16="http://schemas.microsoft.com/office/drawing/2014/main" id="{386BDD3C-E465-19AA-2A05-2CDA53F86F6D}"/>
              </a:ext>
            </a:extLst>
          </p:cNvPr>
          <p:cNvSpPr/>
          <p:nvPr/>
        </p:nvSpPr>
        <p:spPr>
          <a:xfrm>
            <a:off x="965200" y="24511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分园区本地节点 · 独立可运行（断网可用）</a:t>
            </a:r>
            <a:endParaRPr lang="en-US" sz="1100"/>
          </a:p>
        </p:txBody>
      </p:sp>
      <p:sp>
        <p:nvSpPr>
          <p:cNvPr id="21" name="AutoShape 25">
            <a:extLst>
              <a:ext uri="{FF2B5EF4-FFF2-40B4-BE49-F238E27FC236}">
                <a16:creationId xmlns:a16="http://schemas.microsoft.com/office/drawing/2014/main" id="{3B5AE26D-388E-67F2-1C5D-F5E07FAC9523}"/>
              </a:ext>
            </a:extLst>
          </p:cNvPr>
          <p:cNvSpPr/>
          <p:nvPr/>
        </p:nvSpPr>
        <p:spPr>
          <a:xfrm>
            <a:off x="762000" y="2717800"/>
            <a:ext cx="10668000" cy="584200"/>
          </a:xfrm>
          <a:prstGeom prst="roundRect">
            <a:avLst>
              <a:gd name="adj" fmla="val 0"/>
            </a:avLst>
          </a:prstGeom>
          <a:solidFill>
            <a:srgbClr val="FBF0F0">
              <a:alpha val="100000"/>
            </a:srgbClr>
          </a:solidFill>
          <a:ln w="12700" cap="flat" cmpd="sng">
            <a:solidFill>
              <a:srgbClr val="C9302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6">
            <a:extLst>
              <a:ext uri="{FF2B5EF4-FFF2-40B4-BE49-F238E27FC236}">
                <a16:creationId xmlns:a16="http://schemas.microsoft.com/office/drawing/2014/main" id="{344A6E27-2D68-18C4-BE30-B37C113E03A9}"/>
              </a:ext>
            </a:extLst>
          </p:cNvPr>
          <p:cNvSpPr/>
          <p:nvPr/>
        </p:nvSpPr>
        <p:spPr>
          <a:xfrm>
            <a:off x="965200" y="2794000"/>
            <a:ext cx="24892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7">
            <a:extLst>
              <a:ext uri="{FF2B5EF4-FFF2-40B4-BE49-F238E27FC236}">
                <a16:creationId xmlns:a16="http://schemas.microsoft.com/office/drawing/2014/main" id="{73414276-9770-E700-83F3-A1BED4A957BB}"/>
              </a:ext>
            </a:extLst>
          </p:cNvPr>
          <p:cNvSpPr/>
          <p:nvPr/>
        </p:nvSpPr>
        <p:spPr>
          <a:xfrm>
            <a:off x="1016000" y="2819400"/>
            <a:ext cx="2387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园区 A 边缘节点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独立运行</a:t>
            </a:r>
            <a:endParaRPr lang="en-US" sz="1100"/>
          </a:p>
        </p:txBody>
      </p:sp>
      <p:sp>
        <p:nvSpPr>
          <p:cNvPr id="24" name="AutoShape 28">
            <a:extLst>
              <a:ext uri="{FF2B5EF4-FFF2-40B4-BE49-F238E27FC236}">
                <a16:creationId xmlns:a16="http://schemas.microsoft.com/office/drawing/2014/main" id="{65FB0B69-7F28-7C59-6AD8-2C163571C70E}"/>
              </a:ext>
            </a:extLst>
          </p:cNvPr>
          <p:cNvSpPr/>
          <p:nvPr/>
        </p:nvSpPr>
        <p:spPr>
          <a:xfrm>
            <a:off x="3556000" y="2794000"/>
            <a:ext cx="24892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9">
            <a:extLst>
              <a:ext uri="{FF2B5EF4-FFF2-40B4-BE49-F238E27FC236}">
                <a16:creationId xmlns:a16="http://schemas.microsoft.com/office/drawing/2014/main" id="{D14D4B9A-38AC-CCAE-60F7-1BAD48E1CCA9}"/>
              </a:ext>
            </a:extLst>
          </p:cNvPr>
          <p:cNvSpPr/>
          <p:nvPr/>
        </p:nvSpPr>
        <p:spPr>
          <a:xfrm>
            <a:off x="3606800" y="2819400"/>
            <a:ext cx="2387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园区 B 边缘节点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独立运行</a:t>
            </a:r>
            <a:endParaRPr lang="en-US" sz="1100"/>
          </a:p>
        </p:txBody>
      </p:sp>
      <p:sp>
        <p:nvSpPr>
          <p:cNvPr id="26" name="AutoShape 30">
            <a:extLst>
              <a:ext uri="{FF2B5EF4-FFF2-40B4-BE49-F238E27FC236}">
                <a16:creationId xmlns:a16="http://schemas.microsoft.com/office/drawing/2014/main" id="{93F5BA22-135C-8F70-F9B1-3EED591CE5EB}"/>
              </a:ext>
            </a:extLst>
          </p:cNvPr>
          <p:cNvSpPr/>
          <p:nvPr/>
        </p:nvSpPr>
        <p:spPr>
          <a:xfrm>
            <a:off x="6146800" y="2794000"/>
            <a:ext cx="24892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31">
            <a:extLst>
              <a:ext uri="{FF2B5EF4-FFF2-40B4-BE49-F238E27FC236}">
                <a16:creationId xmlns:a16="http://schemas.microsoft.com/office/drawing/2014/main" id="{B2FCB6E2-9835-6A26-F15A-7CFD53B24784}"/>
              </a:ext>
            </a:extLst>
          </p:cNvPr>
          <p:cNvSpPr/>
          <p:nvPr/>
        </p:nvSpPr>
        <p:spPr>
          <a:xfrm>
            <a:off x="6197600" y="2819400"/>
            <a:ext cx="2387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园区 C 边缘节点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独立运行</a:t>
            </a:r>
            <a:endParaRPr lang="en-US" sz="1100"/>
          </a:p>
        </p:txBody>
      </p:sp>
      <p:sp>
        <p:nvSpPr>
          <p:cNvPr id="28" name="AutoShape 32">
            <a:extLst>
              <a:ext uri="{FF2B5EF4-FFF2-40B4-BE49-F238E27FC236}">
                <a16:creationId xmlns:a16="http://schemas.microsoft.com/office/drawing/2014/main" id="{4451674A-F82A-D79A-EBC8-2BEB24274DEC}"/>
              </a:ext>
            </a:extLst>
          </p:cNvPr>
          <p:cNvSpPr/>
          <p:nvPr/>
        </p:nvSpPr>
        <p:spPr>
          <a:xfrm>
            <a:off x="8737600" y="2794000"/>
            <a:ext cx="24892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A63AA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3">
            <a:extLst>
              <a:ext uri="{FF2B5EF4-FFF2-40B4-BE49-F238E27FC236}">
                <a16:creationId xmlns:a16="http://schemas.microsoft.com/office/drawing/2014/main" id="{E28FE721-B6D1-B275-17E4-D687D6E7C293}"/>
              </a:ext>
            </a:extLst>
          </p:cNvPr>
          <p:cNvSpPr/>
          <p:nvPr/>
        </p:nvSpPr>
        <p:spPr>
          <a:xfrm>
            <a:off x="8788400" y="2819400"/>
            <a:ext cx="2387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集团复制 · 新园区</a:t>
            </a:r>
            <a:b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1" i="0" u="none" strike="noStrike">
                <a:solidFill>
                  <a:srgbClr val="2A63AA"/>
                </a:solidFill>
                <a:latin typeface="Noto Sans SC"/>
                <a:ea typeface="Noto Sans SC"/>
                <a:cs typeface="Noto Sans SC"/>
                <a:sym typeface="Noto Sans SC"/>
              </a:rPr>
              <a:t>一键初始化</a:t>
            </a:r>
            <a:endParaRPr lang="en-US" sz="1100"/>
          </a:p>
        </p:txBody>
      </p:sp>
      <p:pic>
        <p:nvPicPr>
          <p:cNvPr id="30" name="Picture 34">
            <a:extLst>
              <a:ext uri="{FF2B5EF4-FFF2-40B4-BE49-F238E27FC236}">
                <a16:creationId xmlns:a16="http://schemas.microsoft.com/office/drawing/2014/main" id="{B0EC9AA5-C682-63B5-0D4D-AD85ADC70E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3505200"/>
            <a:ext cx="279400" cy="279400"/>
          </a:xfrm>
          <a:prstGeom prst="rect">
            <a:avLst/>
          </a:prstGeom>
        </p:spPr>
      </p:pic>
      <p:sp>
        <p:nvSpPr>
          <p:cNvPr id="31" name="AutoShape 35">
            <a:extLst>
              <a:ext uri="{FF2B5EF4-FFF2-40B4-BE49-F238E27FC236}">
                <a16:creationId xmlns:a16="http://schemas.microsoft.com/office/drawing/2014/main" id="{7106F6E2-F144-FB4C-CAA0-4852CA714EC1}"/>
              </a:ext>
            </a:extLst>
          </p:cNvPr>
          <p:cNvSpPr/>
          <p:nvPr/>
        </p:nvSpPr>
        <p:spPr>
          <a:xfrm>
            <a:off x="1117600" y="34925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部署分层策略</a:t>
            </a:r>
            <a:endParaRPr lang="en-US" sz="1100"/>
          </a:p>
        </p:txBody>
      </p:sp>
      <p:graphicFrame>
        <p:nvGraphicFramePr>
          <p:cNvPr id="32" name="Table 36">
            <a:extLst>
              <a:ext uri="{FF2B5EF4-FFF2-40B4-BE49-F238E27FC236}">
                <a16:creationId xmlns:a16="http://schemas.microsoft.com/office/drawing/2014/main" id="{6AB142B2-D666-7EF4-9004-EDA9A4850F5F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3860800"/>
          <a:ext cx="5461000" cy="228854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层级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部署内容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说明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总部中心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数据湖、集团看板、主数据、SSO、运维监控、算法仓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集中管控，跨园统一视图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分园节点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业务应用、本地视频/AI、本地 IoT 采集、本地告警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独立可运行（断网可用）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同步机制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边缘 → 中心数据同步 / 汇聚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事件 + 增量同步，断网缓存、恢复续传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3" name="Picture 37">
            <a:extLst>
              <a:ext uri="{FF2B5EF4-FFF2-40B4-BE49-F238E27FC236}">
                <a16:creationId xmlns:a16="http://schemas.microsoft.com/office/drawing/2014/main" id="{4DC1C8C8-D817-487B-A914-00BC2CA584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7000" y="3505200"/>
            <a:ext cx="279400" cy="279400"/>
          </a:xfrm>
          <a:prstGeom prst="rect">
            <a:avLst/>
          </a:prstGeom>
        </p:spPr>
      </p:pic>
      <p:sp>
        <p:nvSpPr>
          <p:cNvPr id="34" name="AutoShape 38">
            <a:extLst>
              <a:ext uri="{FF2B5EF4-FFF2-40B4-BE49-F238E27FC236}">
                <a16:creationId xmlns:a16="http://schemas.microsoft.com/office/drawing/2014/main" id="{2493B291-218E-6B1D-12DD-67BEF0DE2E8C}"/>
              </a:ext>
            </a:extLst>
          </p:cNvPr>
          <p:cNvSpPr/>
          <p:nvPr/>
        </p:nvSpPr>
        <p:spPr>
          <a:xfrm>
            <a:off x="6832600" y="3492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关键扩展设计</a:t>
            </a:r>
            <a:endParaRPr lang="en-US" sz="1100"/>
          </a:p>
        </p:txBody>
      </p:sp>
      <p:sp>
        <p:nvSpPr>
          <p:cNvPr id="35" name="AutoShape 39">
            <a:extLst>
              <a:ext uri="{FF2B5EF4-FFF2-40B4-BE49-F238E27FC236}">
                <a16:creationId xmlns:a16="http://schemas.microsoft.com/office/drawing/2014/main" id="{E1171C6C-2D9C-FBF1-3D1D-A57221493040}"/>
              </a:ext>
            </a:extLst>
          </p:cNvPr>
          <p:cNvSpPr/>
          <p:nvPr/>
        </p:nvSpPr>
        <p:spPr>
          <a:xfrm>
            <a:off x="6477000" y="38608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40">
            <a:extLst>
              <a:ext uri="{FF2B5EF4-FFF2-40B4-BE49-F238E27FC236}">
                <a16:creationId xmlns:a16="http://schemas.microsoft.com/office/drawing/2014/main" id="{17B1DCB3-8D3B-AAD3-50FF-D76802E52C36}"/>
              </a:ext>
            </a:extLst>
          </p:cNvPr>
          <p:cNvSpPr/>
          <p:nvPr/>
        </p:nvSpPr>
        <p:spPr>
          <a:xfrm>
            <a:off x="6654800" y="3784600"/>
            <a:ext cx="477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1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“</a:t>
            </a:r>
            <a:r>
              <a:rPr lang="en-US" sz="1050" b="1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一键建园</a:t>
            </a:r>
            <a:r>
              <a:rPr lang="en-US" sz="1050" b="1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r>
              <a:rPr lang="en-US" sz="1050" b="0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050" b="0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新园区</a:t>
            </a:r>
            <a:r>
              <a:rPr lang="en-US" sz="1050" b="0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 = </a:t>
            </a:r>
            <a:r>
              <a:rPr lang="en-US" sz="1050" b="0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初始化租户</a:t>
            </a:r>
            <a:r>
              <a:rPr lang="en-US" sz="1050" b="0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050" b="0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部署标准边缘节点</a:t>
            </a:r>
            <a:r>
              <a:rPr lang="en-US" sz="1050" b="0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050" b="0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关联总部，模板化开通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7" name="AutoShape 41">
            <a:extLst>
              <a:ext uri="{FF2B5EF4-FFF2-40B4-BE49-F238E27FC236}">
                <a16:creationId xmlns:a16="http://schemas.microsoft.com/office/drawing/2014/main" id="{6F916985-50DA-EFED-2611-37895BAE5F62}"/>
              </a:ext>
            </a:extLst>
          </p:cNvPr>
          <p:cNvSpPr/>
          <p:nvPr/>
        </p:nvSpPr>
        <p:spPr>
          <a:xfrm>
            <a:off x="6477000" y="42672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42">
            <a:extLst>
              <a:ext uri="{FF2B5EF4-FFF2-40B4-BE49-F238E27FC236}">
                <a16:creationId xmlns:a16="http://schemas.microsoft.com/office/drawing/2014/main" id="{76FC4821-21AD-0A90-D691-B75D637925FB}"/>
              </a:ext>
            </a:extLst>
          </p:cNvPr>
          <p:cNvSpPr/>
          <p:nvPr/>
        </p:nvSpPr>
        <p:spPr>
          <a:xfrm>
            <a:off x="6654800" y="4191000"/>
            <a:ext cx="477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统一版本、统一升级</a:t>
            </a: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：总部统一运维升级，边缘可滚动灰度</a:t>
            </a:r>
            <a:endParaRPr lang="en-US" sz="1100" dirty="0"/>
          </a:p>
        </p:txBody>
      </p:sp>
      <p:sp>
        <p:nvSpPr>
          <p:cNvPr id="39" name="AutoShape 43">
            <a:extLst>
              <a:ext uri="{FF2B5EF4-FFF2-40B4-BE49-F238E27FC236}">
                <a16:creationId xmlns:a16="http://schemas.microsoft.com/office/drawing/2014/main" id="{6909B4A3-E60D-A255-EA35-0E316957B8DE}"/>
              </a:ext>
            </a:extLst>
          </p:cNvPr>
          <p:cNvSpPr/>
          <p:nvPr/>
        </p:nvSpPr>
        <p:spPr>
          <a:xfrm>
            <a:off x="6477000" y="46736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4">
            <a:extLst>
              <a:ext uri="{FF2B5EF4-FFF2-40B4-BE49-F238E27FC236}">
                <a16:creationId xmlns:a16="http://schemas.microsoft.com/office/drawing/2014/main" id="{1D3A1BDE-8BF4-4414-2352-70C0D4DD9F3D}"/>
              </a:ext>
            </a:extLst>
          </p:cNvPr>
          <p:cNvSpPr/>
          <p:nvPr/>
        </p:nvSpPr>
        <p:spPr>
          <a:xfrm>
            <a:off x="6654800" y="4597400"/>
            <a:ext cx="477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弹性扩容</a:t>
            </a: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：单个园区增长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→ 该园区边缘节点横向扩展（K8s）</a:t>
            </a:r>
            <a:endParaRPr lang="en-US" sz="1100" dirty="0"/>
          </a:p>
        </p:txBody>
      </p:sp>
      <p:sp>
        <p:nvSpPr>
          <p:cNvPr id="41" name="AutoShape 45">
            <a:extLst>
              <a:ext uri="{FF2B5EF4-FFF2-40B4-BE49-F238E27FC236}">
                <a16:creationId xmlns:a16="http://schemas.microsoft.com/office/drawing/2014/main" id="{6B765B68-0B0A-68AF-7004-3F18823A95BA}"/>
              </a:ext>
            </a:extLst>
          </p:cNvPr>
          <p:cNvSpPr/>
          <p:nvPr/>
        </p:nvSpPr>
        <p:spPr>
          <a:xfrm>
            <a:off x="6477000" y="50800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6">
            <a:extLst>
              <a:ext uri="{FF2B5EF4-FFF2-40B4-BE49-F238E27FC236}">
                <a16:creationId xmlns:a16="http://schemas.microsoft.com/office/drawing/2014/main" id="{BCFA97E4-8379-5C02-954F-84E949794612}"/>
              </a:ext>
            </a:extLst>
          </p:cNvPr>
          <p:cNvSpPr/>
          <p:nvPr/>
        </p:nvSpPr>
        <p:spPr>
          <a:xfrm>
            <a:off x="6654800" y="5003800"/>
            <a:ext cx="477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高可用容灾</a:t>
            </a: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：总部中心 + 分园区双重容灾，业务不中断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89076557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6873C1F-7113-864E-51BC-12B643231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7284620-9BFA-B756-EE7A-601F8C548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四类主要的扩展路径设计</a:t>
            </a:r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AA503C91-8E0B-3038-9F00-19BA7C4EF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83328"/>
              </p:ext>
            </p:extLst>
          </p:nvPr>
        </p:nvGraphicFramePr>
        <p:xfrm>
          <a:off x="426500" y="1149761"/>
          <a:ext cx="10668000" cy="3708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增长类型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架构应对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影响面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 dirty="0" err="1">
                          <a:solidFill>
                            <a:srgbClr val="CC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新增园区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多租户数据隔离 + 模板化边缘节点 + 总分同步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 dirty="0" err="1">
                          <a:solidFill>
                            <a:srgbClr val="CC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零改存量</a:t>
                      </a:r>
                      <a:r>
                        <a:rPr lang="en-US" sz="1100" b="0" i="0" u="none" strike="noStrike" dirty="0" err="1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，新租户即可用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 dirty="0" err="1">
                          <a:solidFill>
                            <a:srgbClr val="CC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新增用户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无状态应用水平扩容 + SSO + 动态权限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CC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自动伸缩</a:t>
                      </a: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，无需停服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 dirty="0" err="1">
                          <a:solidFill>
                            <a:srgbClr val="CC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新增</a:t>
                      </a:r>
                      <a:r>
                        <a:rPr lang="en-US" sz="1100" b="1" i="0" u="none" strike="noStrike" dirty="0">
                          <a:solidFill>
                            <a:srgbClr val="CC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IoT </a:t>
                      </a:r>
                      <a:r>
                        <a:rPr lang="en-US" sz="1100" b="1" i="0" u="none" strike="noStrike" dirty="0" err="1">
                          <a:solidFill>
                            <a:srgbClr val="CC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设备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物模型 + 协议适配器 + 设备白名单 + 分区管理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CC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即插即用</a:t>
                      </a: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，不写死代码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 dirty="0" err="1">
                          <a:solidFill>
                            <a:srgbClr val="CC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新增功能模块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微服务 / 插件化 + 动态菜单权限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 dirty="0" err="1">
                          <a:solidFill>
                            <a:srgbClr val="CC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新增服务</a:t>
                      </a:r>
                      <a:r>
                        <a:rPr lang="en-US" sz="1100" b="0" i="0" u="none" strike="noStrike" dirty="0" err="1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，不动存量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AutoShape 9">
            <a:extLst>
              <a:ext uri="{FF2B5EF4-FFF2-40B4-BE49-F238E27FC236}">
                <a16:creationId xmlns:a16="http://schemas.microsoft.com/office/drawing/2014/main" id="{68D72721-C96C-5DDC-AD43-407BAF012C19}"/>
              </a:ext>
            </a:extLst>
          </p:cNvPr>
          <p:cNvSpPr/>
          <p:nvPr/>
        </p:nvSpPr>
        <p:spPr>
          <a:xfrm>
            <a:off x="426500" y="5112161"/>
            <a:ext cx="10668000" cy="1016000"/>
          </a:xfrm>
          <a:prstGeom prst="roundRect">
            <a:avLst>
              <a:gd name="adj" fmla="val 10000"/>
            </a:avLst>
          </a:prstGeom>
          <a:solidFill>
            <a:srgbClr val="F2FBF5">
              <a:alpha val="100000"/>
            </a:srgbClr>
          </a:solidFill>
          <a:ln w="12700" cap="flat" cmpd="sng">
            <a:solidFill>
              <a:srgbClr val="B4DCB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296B3050-17E4-4C3F-1BB6-E1BEE2027245}"/>
              </a:ext>
            </a:extLst>
          </p:cNvPr>
          <p:cNvSpPr/>
          <p:nvPr/>
        </p:nvSpPr>
        <p:spPr>
          <a:xfrm>
            <a:off x="426500" y="5112161"/>
            <a:ext cx="63500" cy="1016000"/>
          </a:xfrm>
          <a:prstGeom prst="roundRect">
            <a:avLst>
              <a:gd name="adj" fmla="val 0"/>
            </a:avLst>
          </a:prstGeom>
          <a:solidFill>
            <a:srgbClr val="28A7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>
            <a:extLst>
              <a:ext uri="{FF2B5EF4-FFF2-40B4-BE49-F238E27FC236}">
                <a16:creationId xmlns:a16="http://schemas.microsoft.com/office/drawing/2014/main" id="{2B56E2B5-1E40-4C49-BC47-1976AE244B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5100" y="5213761"/>
            <a:ext cx="279400" cy="279400"/>
          </a:xfrm>
          <a:prstGeom prst="rect">
            <a:avLst/>
          </a:prstGeom>
        </p:spPr>
      </p:pic>
      <p:sp>
        <p:nvSpPr>
          <p:cNvPr id="13" name="AutoShape 12">
            <a:extLst>
              <a:ext uri="{FF2B5EF4-FFF2-40B4-BE49-F238E27FC236}">
                <a16:creationId xmlns:a16="http://schemas.microsoft.com/office/drawing/2014/main" id="{CCCFBE23-35BC-F9FA-F1D8-9836486F7936}"/>
              </a:ext>
            </a:extLst>
          </p:cNvPr>
          <p:cNvSpPr/>
          <p:nvPr/>
        </p:nvSpPr>
        <p:spPr>
          <a:xfrm>
            <a:off x="1036100" y="5201061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扩展性保证的核心闭环</a:t>
            </a:r>
            <a:endParaRPr lang="en-US" sz="1100"/>
          </a:p>
        </p:txBody>
      </p:sp>
      <p:sp>
        <p:nvSpPr>
          <p:cNvPr id="15" name="AutoShape 13">
            <a:extLst>
              <a:ext uri="{FF2B5EF4-FFF2-40B4-BE49-F238E27FC236}">
                <a16:creationId xmlns:a16="http://schemas.microsoft.com/office/drawing/2014/main" id="{DB12A1CE-E136-6F96-9EC3-3ABC0C320E30}"/>
              </a:ext>
            </a:extLst>
          </p:cNvPr>
          <p:cNvSpPr/>
          <p:nvPr/>
        </p:nvSpPr>
        <p:spPr>
          <a:xfrm>
            <a:off x="655100" y="5569361"/>
            <a:ext cx="102362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多租户</a:t>
            </a:r>
            <a:r>
              <a:rPr lang="en-US" sz="1200" b="0" i="0" u="none" strike="noStrike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（园区）× </a:t>
            </a:r>
            <a:r>
              <a:rPr lang="en-US" sz="1200" b="1" i="0" u="none" strike="noStrike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微服务插件化</a:t>
            </a:r>
            <a:r>
              <a:rPr lang="en-US" sz="1200" b="0" i="0" u="none" strike="noStrike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（模块）× </a:t>
            </a:r>
            <a:r>
              <a:rPr lang="en-US" sz="1200" b="1" i="0" u="none" strike="noStrike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物模型</a:t>
            </a:r>
            <a:r>
              <a:rPr lang="en-US" sz="1200" b="0" i="0" u="none" strike="noStrike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（设备）× </a:t>
            </a:r>
            <a:r>
              <a:rPr lang="en-US" sz="1200" b="1" i="0" u="none" strike="noStrike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无状态弹性</a:t>
            </a:r>
            <a:r>
              <a:rPr lang="en-US" sz="1200" b="0" i="0" u="none" strike="noStrike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（用户）＝ 四类增长均不影响存量、可平滑扩展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99470482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5DBF1-06DA-05C2-ADF1-82A902C5E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C4BB947C-1E25-77E9-101D-8B90EF4DC4A9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76555" y="2472690"/>
            <a:ext cx="2636520" cy="1912620"/>
            <a:chOff x="593" y="3894"/>
            <a:chExt cx="4152" cy="3012"/>
          </a:xfrm>
        </p:grpSpPr>
        <p:sp>
          <p:nvSpPr>
            <p:cNvPr id="6" name="NY19-1">
              <a:extLst>
                <a:ext uri="{FF2B5EF4-FFF2-40B4-BE49-F238E27FC236}">
                  <a16:creationId xmlns:a16="http://schemas.microsoft.com/office/drawing/2014/main" id="{D41E65D4-F417-B956-589A-83EEE13233A4}"/>
                </a:ext>
              </a:extLst>
            </p:cNvPr>
            <p:cNvSpPr txBox="1"/>
            <p:nvPr/>
          </p:nvSpPr>
          <p:spPr>
            <a:xfrm>
              <a:off x="593" y="4309"/>
              <a:ext cx="4153" cy="21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 defTabSz="914400">
                <a:defRPr/>
              </a:pPr>
              <a:r>
                <a:rPr lang="zh-CN" altLang="en-US" sz="6000" b="1" kern="0">
                  <a:solidFill>
                    <a:prstClr val="white"/>
                  </a:solidFill>
                  <a:latin typeface="+mn-ea"/>
                  <a:cs typeface="+mn-ea"/>
                  <a:sym typeface="+mn-lt"/>
                </a:rPr>
                <a:t>目录</a:t>
              </a:r>
              <a:endParaRPr lang="en-US" altLang="zh-CN" sz="6000" b="1" kern="0">
                <a:solidFill>
                  <a:prstClr val="white"/>
                </a:solidFill>
                <a:latin typeface="+mn-ea"/>
                <a:cs typeface="+mn-ea"/>
                <a:sym typeface="+mn-lt"/>
              </a:endParaRPr>
            </a:p>
            <a:p>
              <a:pPr algn="dist" defTabSz="914400">
                <a:defRPr/>
              </a:pPr>
              <a:r>
                <a:rPr lang="en-US" altLang="zh-CN" sz="2400" b="1" kern="0">
                  <a:solidFill>
                    <a:prstClr val="white"/>
                  </a:solidFill>
                  <a:latin typeface="+mn-ea"/>
                  <a:cs typeface="+mn-ea"/>
                  <a:sym typeface="+mn-lt"/>
                </a:rPr>
                <a:t>CONTENTS</a:t>
              </a:r>
              <a:endParaRPr lang="zh-CN" altLang="en-US" sz="2400" b="1" kern="0">
                <a:solidFill>
                  <a:prstClr val="white"/>
                </a:solidFill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8" name="NY-1">
              <a:extLst>
                <a:ext uri="{FF2B5EF4-FFF2-40B4-BE49-F238E27FC236}">
                  <a16:creationId xmlns:a16="http://schemas.microsoft.com/office/drawing/2014/main" id="{BB86265D-C83D-8B23-60FB-2CFCC57AF864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618" y="3894"/>
              <a:ext cx="4103" cy="0"/>
            </a:xfrm>
            <a:prstGeom prst="line">
              <a:avLst/>
            </a:prstGeom>
            <a:noFill/>
            <a:ln w="3175" cap="rnd" cmpd="sng" algn="ctr">
              <a:gradFill flip="none" rotWithShape="1">
                <a:gsLst>
                  <a:gs pos="0">
                    <a:srgbClr val="E1140A">
                      <a:lumMod val="5000"/>
                      <a:lumOff val="95000"/>
                      <a:alpha val="0"/>
                    </a:srgbClr>
                  </a:gs>
                  <a:gs pos="5200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10800000" scaled="1"/>
                <a:tileRect/>
              </a:gradFill>
              <a:prstDash val="solid"/>
              <a:round/>
              <a:headEnd type="none"/>
              <a:tailEnd type="none" w="med" len="med"/>
            </a:ln>
            <a:effectLst/>
          </p:spPr>
        </p:cxnSp>
        <p:cxnSp>
          <p:nvCxnSpPr>
            <p:cNvPr id="9" name="NY-2">
              <a:extLst>
                <a:ext uri="{FF2B5EF4-FFF2-40B4-BE49-F238E27FC236}">
                  <a16:creationId xmlns:a16="http://schemas.microsoft.com/office/drawing/2014/main" id="{844F638E-D0B7-35D6-43BD-3858A7C76986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618" y="6906"/>
              <a:ext cx="4103" cy="0"/>
            </a:xfrm>
            <a:prstGeom prst="line">
              <a:avLst/>
            </a:prstGeom>
            <a:noFill/>
            <a:ln w="3175" cap="rnd" cmpd="sng" algn="ctr">
              <a:gradFill flip="none" rotWithShape="1">
                <a:gsLst>
                  <a:gs pos="0">
                    <a:srgbClr val="E1140A">
                      <a:lumMod val="5000"/>
                      <a:lumOff val="95000"/>
                      <a:alpha val="0"/>
                    </a:srgbClr>
                  </a:gs>
                  <a:gs pos="5200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10800000" scaled="1"/>
                <a:tileRect/>
              </a:gradFill>
              <a:prstDash val="solid"/>
              <a:round/>
              <a:headEnd type="none"/>
              <a:tailEnd type="none" w="med" len="med"/>
            </a:ln>
            <a:effectLst/>
          </p:spPr>
        </p:cxn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D4684F7-1D3C-785C-5C1C-B6610713944A}"/>
              </a:ext>
            </a:extLst>
          </p:cNvPr>
          <p:cNvGrpSpPr/>
          <p:nvPr/>
        </p:nvGrpSpPr>
        <p:grpSpPr>
          <a:xfrm>
            <a:off x="3623945" y="1803400"/>
            <a:ext cx="6550660" cy="3251835"/>
            <a:chOff x="5891" y="2888"/>
            <a:chExt cx="10316" cy="5121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8E313EF-ED58-7DD6-EB9A-8DFDC5BFA125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5891" y="2888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i="0" u="none" strike="noStrike" cap="none" spc="-150" normalizeH="0" baseline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+mn-ea"/>
                  <a:ea typeface="+mn-ea"/>
                  <a:sym typeface="+mn-lt"/>
                </a:rPr>
                <a:t>01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联想</a:t>
              </a:r>
              <a:r>
                <a:rPr lang="zh-CN" altLang="en-US" sz="2400" dirty="0">
                  <a:solidFill>
                    <a:schemeClr val="bg1"/>
                  </a:solidFill>
                  <a:latin typeface="+mn-ea"/>
                  <a:ea typeface="+mn-ea"/>
                  <a:sym typeface="+mn-lt"/>
                </a:rPr>
                <a:t>制造智慧园案例解析</a:t>
              </a: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0C98AAD5-82AC-67F3-7FB4-38C06EB56625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5891" y="4023"/>
              <a:ext cx="10316" cy="5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6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-1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02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阳光智慧园区建设</a:t>
              </a:r>
              <a:r>
                <a:rPr lang="zh-CN" altLang="en-US" sz="240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方案总体架构</a:t>
              </a:r>
              <a:endParaRPr lang="zh-CN" altLang="en-US" sz="2400" noProof="0" dirty="0">
                <a:solidFill>
                  <a:srgbClr val="FFFFFF"/>
                </a:solidFill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25D335D-F445-7E9E-681D-9418E6443CEE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5891" y="5158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6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-1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03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系统演示</a:t>
              </a:r>
              <a:endParaRPr kumimoji="1" lang="zh-CN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1FF889BF-B1C4-ABBC-83FA-DE1EFE5A384F}"/>
                </a:ext>
              </a:extLst>
            </p:cNvPr>
            <p:cNvSpPr txBox="1"/>
            <p:nvPr/>
          </p:nvSpPr>
          <p:spPr>
            <a:xfrm>
              <a:off x="5892" y="7428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6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05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差异化服务优势</a:t>
              </a:r>
              <a:endParaRPr lang="zh-CN" altLang="en-US" sz="2400" noProof="0" dirty="0">
                <a:solidFill>
                  <a:srgbClr val="FFFFFF"/>
                </a:solidFill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F155595-A820-007F-E132-62FD9B107B46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5893" y="6293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6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04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实施方案</a:t>
              </a:r>
              <a:endParaRPr kumimoji="1" lang="zh-CN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303760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B90AC81-E8F4-7325-FCD4-776561E911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0D737D2-2871-35F6-A7E3-93F33DFE1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场景演示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83F6FA-C535-2AFF-3BF2-FECD9C0089EA}"/>
              </a:ext>
            </a:extLst>
          </p:cNvPr>
          <p:cNvSpPr txBox="1"/>
          <p:nvPr/>
        </p:nvSpPr>
        <p:spPr>
          <a:xfrm>
            <a:off x="489584" y="966855"/>
            <a:ext cx="9994117" cy="471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lnSpc>
                <a:spcPts val="1950"/>
              </a:lnSpc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sz="1200" b="0" i="0" dirty="0">
                <a:solidFill>
                  <a:srgbClr val="0F172A"/>
                </a:solidFill>
                <a:effectLst/>
                <a:latin typeface="PingFang SC"/>
              </a:rPr>
              <a:t>平台整体</a:t>
            </a:r>
            <a:endParaRPr lang="en-US" altLang="zh-CN" sz="1200" b="0" i="0" dirty="0">
              <a:solidFill>
                <a:srgbClr val="0F172A"/>
              </a:solidFill>
              <a:effectLst/>
              <a:latin typeface="PingFang SC"/>
            </a:endParaRPr>
          </a:p>
          <a:p>
            <a:pPr marL="800100" lvl="1" indent="-342900">
              <a:lnSpc>
                <a:spcPts val="1950"/>
              </a:lnSpc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sz="1200" b="0" i="0" dirty="0">
                <a:solidFill>
                  <a:srgbClr val="0F172A"/>
                </a:solidFill>
                <a:effectLst/>
                <a:latin typeface="PingFang SC"/>
              </a:rPr>
              <a:t>新增园区</a:t>
            </a:r>
            <a:endParaRPr lang="en-US" altLang="zh-CN" sz="1200" b="0" i="0" dirty="0">
              <a:solidFill>
                <a:srgbClr val="0F172A"/>
              </a:solidFill>
              <a:effectLst/>
              <a:latin typeface="PingFang SC"/>
            </a:endParaRPr>
          </a:p>
          <a:p>
            <a:pPr marL="800100" lvl="1" indent="-342900">
              <a:lnSpc>
                <a:spcPts val="1950"/>
              </a:lnSpc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sz="1200" dirty="0">
                <a:solidFill>
                  <a:srgbClr val="0F172A"/>
                </a:solidFill>
                <a:latin typeface="PingFang SC"/>
              </a:rPr>
              <a:t>新增设备</a:t>
            </a:r>
            <a:endParaRPr lang="en-US" altLang="zh-CN" sz="1200" dirty="0">
              <a:solidFill>
                <a:srgbClr val="0F172A"/>
              </a:solidFill>
              <a:latin typeface="PingFang SC"/>
            </a:endParaRPr>
          </a:p>
          <a:p>
            <a:pPr marL="800100" lvl="1" indent="-342900">
              <a:lnSpc>
                <a:spcPts val="1950"/>
              </a:lnSpc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sz="1200" b="0" i="0" dirty="0">
                <a:solidFill>
                  <a:srgbClr val="0F172A"/>
                </a:solidFill>
                <a:effectLst/>
                <a:latin typeface="PingFang SC"/>
              </a:rPr>
              <a:t>数据集成</a:t>
            </a:r>
            <a:endParaRPr lang="en-US" altLang="zh-CN" sz="1200" b="0" i="0" dirty="0">
              <a:solidFill>
                <a:srgbClr val="0F172A"/>
              </a:solidFill>
              <a:effectLst/>
              <a:latin typeface="PingFang SC"/>
            </a:endParaRPr>
          </a:p>
          <a:p>
            <a:pPr marL="800100" lvl="1" indent="-342900">
              <a:lnSpc>
                <a:spcPts val="1950"/>
              </a:lnSpc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endParaRPr lang="en-US" altLang="zh-CN" sz="1200" b="0" i="0" dirty="0">
              <a:solidFill>
                <a:srgbClr val="0F172A"/>
              </a:solidFill>
              <a:effectLst/>
              <a:latin typeface="PingFang SC"/>
            </a:endParaRPr>
          </a:p>
          <a:p>
            <a:pPr marL="342900" marR="0" lvl="0" indent="-342900" algn="l">
              <a:lnSpc>
                <a:spcPts val="1950"/>
              </a:lnSpc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altLang="zh-CN" sz="1200" dirty="0">
                <a:solidFill>
                  <a:srgbClr val="0F172A"/>
                </a:solidFill>
                <a:latin typeface="PingFang SC"/>
              </a:rPr>
              <a:t>5</a:t>
            </a:r>
            <a:r>
              <a:rPr lang="zh-CN" altLang="en-US" sz="1200" dirty="0">
                <a:solidFill>
                  <a:srgbClr val="0F172A"/>
                </a:solidFill>
                <a:latin typeface="PingFang SC"/>
              </a:rPr>
              <a:t>大子系统</a:t>
            </a:r>
            <a:endParaRPr lang="en-US" altLang="zh-CN" sz="1200" dirty="0">
              <a:solidFill>
                <a:srgbClr val="0F172A"/>
              </a:solidFill>
              <a:latin typeface="PingFang SC"/>
            </a:endParaRPr>
          </a:p>
          <a:p>
            <a:pPr marL="800100" lvl="1" indent="-342900">
              <a:lnSpc>
                <a:spcPts val="1950"/>
              </a:lnSpc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sz="1200" dirty="0">
                <a:solidFill>
                  <a:srgbClr val="0F172A"/>
                </a:solidFill>
                <a:latin typeface="PingFang SC"/>
              </a:rPr>
              <a:t>智慧物流</a:t>
            </a:r>
            <a:endParaRPr lang="en-US" altLang="zh-CN" sz="1200" dirty="0">
              <a:solidFill>
                <a:srgbClr val="0F172A"/>
              </a:solidFill>
              <a:latin typeface="PingFang SC"/>
            </a:endParaRPr>
          </a:p>
          <a:p>
            <a:pPr marL="800100" lvl="1" indent="-342900">
              <a:lnSpc>
                <a:spcPts val="1950"/>
              </a:lnSpc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sz="1200" b="0" i="0" dirty="0">
                <a:solidFill>
                  <a:srgbClr val="0F172A"/>
                </a:solidFill>
                <a:effectLst/>
                <a:latin typeface="PingFang SC"/>
              </a:rPr>
              <a:t>外协人员管理</a:t>
            </a:r>
            <a:endParaRPr lang="en-US" altLang="zh-CN" sz="1200" b="0" i="0" dirty="0">
              <a:solidFill>
                <a:srgbClr val="0F172A"/>
              </a:solidFill>
              <a:effectLst/>
              <a:latin typeface="PingFang SC"/>
            </a:endParaRPr>
          </a:p>
          <a:p>
            <a:pPr marL="800100" lvl="1" indent="-342900">
              <a:lnSpc>
                <a:spcPts val="1950"/>
              </a:lnSpc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sz="1200" dirty="0">
                <a:solidFill>
                  <a:srgbClr val="0F172A"/>
                </a:solidFill>
                <a:latin typeface="PingFang SC"/>
              </a:rPr>
              <a:t>智慧安防</a:t>
            </a:r>
            <a:endParaRPr lang="en-US" altLang="zh-CN" sz="1200" dirty="0">
              <a:solidFill>
                <a:srgbClr val="0F172A"/>
              </a:solidFill>
              <a:latin typeface="PingFang SC"/>
            </a:endParaRPr>
          </a:p>
          <a:p>
            <a:pPr marL="800100" lvl="1" indent="-342900">
              <a:lnSpc>
                <a:spcPts val="1950"/>
              </a:lnSpc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endParaRPr lang="zh-CN" altLang="zh-CN" sz="1200" b="0" i="0" dirty="0">
              <a:solidFill>
                <a:srgbClr val="0F172A"/>
              </a:solidFill>
              <a:effectLst/>
              <a:latin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232676636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B0CC4-A196-01AC-C325-FA3139AD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7AF229FA-00CB-E0F9-D071-B8EE91360F79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76555" y="2472690"/>
            <a:ext cx="2636520" cy="1912620"/>
            <a:chOff x="593" y="3894"/>
            <a:chExt cx="4152" cy="3012"/>
          </a:xfrm>
        </p:grpSpPr>
        <p:sp>
          <p:nvSpPr>
            <p:cNvPr id="6" name="NY19-1">
              <a:extLst>
                <a:ext uri="{FF2B5EF4-FFF2-40B4-BE49-F238E27FC236}">
                  <a16:creationId xmlns:a16="http://schemas.microsoft.com/office/drawing/2014/main" id="{57EF85CD-FE3E-A2B8-0D0D-2819321097DE}"/>
                </a:ext>
              </a:extLst>
            </p:cNvPr>
            <p:cNvSpPr txBox="1"/>
            <p:nvPr/>
          </p:nvSpPr>
          <p:spPr>
            <a:xfrm>
              <a:off x="593" y="4309"/>
              <a:ext cx="4153" cy="21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 defTabSz="914400">
                <a:defRPr/>
              </a:pPr>
              <a:r>
                <a:rPr lang="zh-CN" altLang="en-US" sz="6000" b="1" kern="0">
                  <a:solidFill>
                    <a:prstClr val="white"/>
                  </a:solidFill>
                  <a:latin typeface="+mn-ea"/>
                  <a:cs typeface="+mn-ea"/>
                  <a:sym typeface="+mn-lt"/>
                </a:rPr>
                <a:t>目录</a:t>
              </a:r>
              <a:endParaRPr lang="en-US" altLang="zh-CN" sz="6000" b="1" kern="0">
                <a:solidFill>
                  <a:prstClr val="white"/>
                </a:solidFill>
                <a:latin typeface="+mn-ea"/>
                <a:cs typeface="+mn-ea"/>
                <a:sym typeface="+mn-lt"/>
              </a:endParaRPr>
            </a:p>
            <a:p>
              <a:pPr algn="dist" defTabSz="914400">
                <a:defRPr/>
              </a:pPr>
              <a:r>
                <a:rPr lang="en-US" altLang="zh-CN" sz="2400" b="1" kern="0">
                  <a:solidFill>
                    <a:prstClr val="white"/>
                  </a:solidFill>
                  <a:latin typeface="+mn-ea"/>
                  <a:cs typeface="+mn-ea"/>
                  <a:sym typeface="+mn-lt"/>
                </a:rPr>
                <a:t>CONTENTS</a:t>
              </a:r>
              <a:endParaRPr lang="zh-CN" altLang="en-US" sz="2400" b="1" kern="0">
                <a:solidFill>
                  <a:prstClr val="white"/>
                </a:solidFill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8" name="NY-1">
              <a:extLst>
                <a:ext uri="{FF2B5EF4-FFF2-40B4-BE49-F238E27FC236}">
                  <a16:creationId xmlns:a16="http://schemas.microsoft.com/office/drawing/2014/main" id="{3E90402D-DA8C-1F43-4033-A33D319EF3EE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618" y="3894"/>
              <a:ext cx="4103" cy="0"/>
            </a:xfrm>
            <a:prstGeom prst="line">
              <a:avLst/>
            </a:prstGeom>
            <a:noFill/>
            <a:ln w="3175" cap="rnd" cmpd="sng" algn="ctr">
              <a:gradFill flip="none" rotWithShape="1">
                <a:gsLst>
                  <a:gs pos="0">
                    <a:srgbClr val="E1140A">
                      <a:lumMod val="5000"/>
                      <a:lumOff val="95000"/>
                      <a:alpha val="0"/>
                    </a:srgbClr>
                  </a:gs>
                  <a:gs pos="5200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10800000" scaled="1"/>
                <a:tileRect/>
              </a:gradFill>
              <a:prstDash val="solid"/>
              <a:round/>
              <a:headEnd type="none"/>
              <a:tailEnd type="none" w="med" len="med"/>
            </a:ln>
            <a:effectLst/>
          </p:spPr>
        </p:cxnSp>
        <p:cxnSp>
          <p:nvCxnSpPr>
            <p:cNvPr id="9" name="NY-2">
              <a:extLst>
                <a:ext uri="{FF2B5EF4-FFF2-40B4-BE49-F238E27FC236}">
                  <a16:creationId xmlns:a16="http://schemas.microsoft.com/office/drawing/2014/main" id="{B63EEB8F-B258-DB9C-4E25-51BD4467F255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618" y="6906"/>
              <a:ext cx="4103" cy="0"/>
            </a:xfrm>
            <a:prstGeom prst="line">
              <a:avLst/>
            </a:prstGeom>
            <a:noFill/>
            <a:ln w="3175" cap="rnd" cmpd="sng" algn="ctr">
              <a:gradFill flip="none" rotWithShape="1">
                <a:gsLst>
                  <a:gs pos="0">
                    <a:srgbClr val="E1140A">
                      <a:lumMod val="5000"/>
                      <a:lumOff val="95000"/>
                      <a:alpha val="0"/>
                    </a:srgbClr>
                  </a:gs>
                  <a:gs pos="5200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10800000" scaled="1"/>
                <a:tileRect/>
              </a:gradFill>
              <a:prstDash val="solid"/>
              <a:round/>
              <a:headEnd type="none"/>
              <a:tailEnd type="none" w="med" len="med"/>
            </a:ln>
            <a:effectLst/>
          </p:spPr>
        </p:cxn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F01F550-47CE-FB30-2805-AD8F81234E04}"/>
              </a:ext>
            </a:extLst>
          </p:cNvPr>
          <p:cNvGrpSpPr/>
          <p:nvPr/>
        </p:nvGrpSpPr>
        <p:grpSpPr>
          <a:xfrm>
            <a:off x="3623945" y="1803400"/>
            <a:ext cx="6550660" cy="3251835"/>
            <a:chOff x="5891" y="2888"/>
            <a:chExt cx="10316" cy="5121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7296A19B-1FCA-5365-C057-14ACDD2A209F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5891" y="2888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i="0" u="none" strike="noStrike" cap="none" spc="-150" normalizeH="0" baseline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+mn-ea"/>
                  <a:ea typeface="+mn-ea"/>
                  <a:sym typeface="+mn-lt"/>
                </a:rPr>
                <a:t>01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联想</a:t>
              </a:r>
              <a:r>
                <a:rPr lang="zh-CN" altLang="en-US" sz="2400" dirty="0">
                  <a:solidFill>
                    <a:schemeClr val="bg1"/>
                  </a:solidFill>
                  <a:latin typeface="+mn-ea"/>
                  <a:ea typeface="+mn-ea"/>
                  <a:sym typeface="+mn-lt"/>
                </a:rPr>
                <a:t>制造智慧园案例解析</a:t>
              </a: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C61E5CC3-B0CA-DC1D-1503-51983E580D4A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5891" y="4023"/>
              <a:ext cx="10316" cy="5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6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-1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02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阳光智慧园区建设</a:t>
              </a:r>
              <a:r>
                <a:rPr lang="zh-CN" altLang="en-US" sz="240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方案总体架构</a:t>
              </a:r>
              <a:endParaRPr lang="zh-CN" altLang="en-US" sz="2400" noProof="0" dirty="0">
                <a:solidFill>
                  <a:srgbClr val="FFFFFF"/>
                </a:solidFill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CB88429-D31C-F20A-BD0E-D4CA1857EFBD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5891" y="5158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6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-1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03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系统演示</a:t>
              </a:r>
              <a:endParaRPr kumimoji="1" lang="zh-CN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AA658C8F-22B7-532B-1F1B-A7A1E1A4DFD7}"/>
                </a:ext>
              </a:extLst>
            </p:cNvPr>
            <p:cNvSpPr txBox="1"/>
            <p:nvPr/>
          </p:nvSpPr>
          <p:spPr>
            <a:xfrm>
              <a:off x="5892" y="7428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6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05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差异化服务优势</a:t>
              </a:r>
              <a:endParaRPr lang="zh-CN" altLang="en-US" sz="2400" noProof="0" dirty="0">
                <a:solidFill>
                  <a:srgbClr val="FFFFFF"/>
                </a:solidFill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A1DC3EF-11BB-573A-26A2-E923933C7313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5893" y="6293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6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04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实施方案</a:t>
              </a:r>
              <a:endParaRPr kumimoji="1" lang="zh-CN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412551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1CFCA56-5741-F94E-DA9F-FEB7EEF39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19</a:t>
            </a:fld>
            <a:endParaRPr 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063C1BF-B175-C26D-D666-14DC83D09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实施方案</a:t>
            </a:r>
          </a:p>
        </p:txBody>
      </p:sp>
    </p:spTree>
    <p:extLst>
      <p:ext uri="{BB962C8B-B14F-4D97-AF65-F5344CB8AC3E}">
        <p14:creationId xmlns:p14="http://schemas.microsoft.com/office/powerpoint/2010/main" val="63785275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9C126-DCBF-2D9F-AC25-95D5E47CF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36F48AFF-0A2B-0BA9-C9EF-B1C99FE14D27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76555" y="2472690"/>
            <a:ext cx="2636520" cy="1912620"/>
            <a:chOff x="593" y="3894"/>
            <a:chExt cx="4152" cy="3012"/>
          </a:xfrm>
        </p:grpSpPr>
        <p:sp>
          <p:nvSpPr>
            <p:cNvPr id="6" name="NY19-1">
              <a:extLst>
                <a:ext uri="{FF2B5EF4-FFF2-40B4-BE49-F238E27FC236}">
                  <a16:creationId xmlns:a16="http://schemas.microsoft.com/office/drawing/2014/main" id="{E52367BF-1E4F-0D59-85B8-A8E22AB58255}"/>
                </a:ext>
              </a:extLst>
            </p:cNvPr>
            <p:cNvSpPr txBox="1"/>
            <p:nvPr/>
          </p:nvSpPr>
          <p:spPr>
            <a:xfrm>
              <a:off x="593" y="4309"/>
              <a:ext cx="4153" cy="21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 defTabSz="914400">
                <a:defRPr/>
              </a:pPr>
              <a:r>
                <a:rPr lang="zh-CN" altLang="en-US" sz="6000" b="1" kern="0">
                  <a:solidFill>
                    <a:prstClr val="white"/>
                  </a:solidFill>
                  <a:latin typeface="+mn-ea"/>
                  <a:cs typeface="+mn-ea"/>
                  <a:sym typeface="+mn-lt"/>
                </a:rPr>
                <a:t>目录</a:t>
              </a:r>
              <a:endParaRPr lang="en-US" altLang="zh-CN" sz="6000" b="1" kern="0">
                <a:solidFill>
                  <a:prstClr val="white"/>
                </a:solidFill>
                <a:latin typeface="+mn-ea"/>
                <a:cs typeface="+mn-ea"/>
                <a:sym typeface="+mn-lt"/>
              </a:endParaRPr>
            </a:p>
            <a:p>
              <a:pPr algn="dist" defTabSz="914400">
                <a:defRPr/>
              </a:pPr>
              <a:r>
                <a:rPr lang="en-US" altLang="zh-CN" sz="2400" b="1" kern="0">
                  <a:solidFill>
                    <a:prstClr val="white"/>
                  </a:solidFill>
                  <a:latin typeface="+mn-ea"/>
                  <a:cs typeface="+mn-ea"/>
                  <a:sym typeface="+mn-lt"/>
                </a:rPr>
                <a:t>CONTENTS</a:t>
              </a:r>
              <a:endParaRPr lang="zh-CN" altLang="en-US" sz="2400" b="1" kern="0">
                <a:solidFill>
                  <a:prstClr val="white"/>
                </a:solidFill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8" name="NY-1">
              <a:extLst>
                <a:ext uri="{FF2B5EF4-FFF2-40B4-BE49-F238E27FC236}">
                  <a16:creationId xmlns:a16="http://schemas.microsoft.com/office/drawing/2014/main" id="{471E5F60-5C2F-E2B8-916C-0CC3CCB4C958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618" y="3894"/>
              <a:ext cx="4103" cy="0"/>
            </a:xfrm>
            <a:prstGeom prst="line">
              <a:avLst/>
            </a:prstGeom>
            <a:noFill/>
            <a:ln w="3175" cap="rnd" cmpd="sng" algn="ctr">
              <a:gradFill flip="none" rotWithShape="1">
                <a:gsLst>
                  <a:gs pos="0">
                    <a:srgbClr val="E1140A">
                      <a:lumMod val="5000"/>
                      <a:lumOff val="95000"/>
                      <a:alpha val="0"/>
                    </a:srgbClr>
                  </a:gs>
                  <a:gs pos="5200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10800000" scaled="1"/>
                <a:tileRect/>
              </a:gradFill>
              <a:prstDash val="solid"/>
              <a:round/>
              <a:headEnd type="none"/>
              <a:tailEnd type="none" w="med" len="med"/>
            </a:ln>
            <a:effectLst/>
          </p:spPr>
        </p:cxnSp>
        <p:cxnSp>
          <p:nvCxnSpPr>
            <p:cNvPr id="9" name="NY-2">
              <a:extLst>
                <a:ext uri="{FF2B5EF4-FFF2-40B4-BE49-F238E27FC236}">
                  <a16:creationId xmlns:a16="http://schemas.microsoft.com/office/drawing/2014/main" id="{C013C0B2-BD3D-AAC4-F0BF-BA220AFC272F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618" y="6906"/>
              <a:ext cx="4103" cy="0"/>
            </a:xfrm>
            <a:prstGeom prst="line">
              <a:avLst/>
            </a:prstGeom>
            <a:noFill/>
            <a:ln w="3175" cap="rnd" cmpd="sng" algn="ctr">
              <a:gradFill flip="none" rotWithShape="1">
                <a:gsLst>
                  <a:gs pos="0">
                    <a:srgbClr val="E1140A">
                      <a:lumMod val="5000"/>
                      <a:lumOff val="95000"/>
                      <a:alpha val="0"/>
                    </a:srgbClr>
                  </a:gs>
                  <a:gs pos="5200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10800000" scaled="1"/>
                <a:tileRect/>
              </a:gradFill>
              <a:prstDash val="solid"/>
              <a:round/>
              <a:headEnd type="none"/>
              <a:tailEnd type="none" w="med" len="med"/>
            </a:ln>
            <a:effectLst/>
          </p:spPr>
        </p:cxn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CD2A9D5-64BF-7FBE-649C-1F98DB575A8E}"/>
              </a:ext>
            </a:extLst>
          </p:cNvPr>
          <p:cNvGrpSpPr/>
          <p:nvPr/>
        </p:nvGrpSpPr>
        <p:grpSpPr>
          <a:xfrm>
            <a:off x="3623945" y="1803400"/>
            <a:ext cx="6550660" cy="3251835"/>
            <a:chOff x="5891" y="2888"/>
            <a:chExt cx="10316" cy="5121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DB22FC1-4A94-DD7E-F7B3-53F13B9BDC4C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5891" y="2888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i="0" u="none" strike="noStrike" cap="none" spc="-150" normalizeH="0" baseline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+mn-ea"/>
                  <a:ea typeface="+mn-ea"/>
                  <a:sym typeface="+mn-lt"/>
                </a:rPr>
                <a:t>01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联想</a:t>
              </a:r>
              <a:r>
                <a:rPr lang="zh-CN" altLang="en-US" sz="2400" dirty="0">
                  <a:solidFill>
                    <a:schemeClr val="bg1"/>
                  </a:solidFill>
                  <a:latin typeface="+mn-ea"/>
                  <a:ea typeface="+mn-ea"/>
                  <a:sym typeface="+mn-lt"/>
                </a:rPr>
                <a:t>制造智慧园案例解析</a:t>
              </a: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B21DB526-4BC5-6576-9F47-73731B4DFFE1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5891" y="4023"/>
              <a:ext cx="10316" cy="5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6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-1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02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阳光智慧园区建设</a:t>
              </a:r>
              <a:r>
                <a:rPr lang="zh-CN" altLang="en-US" sz="240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方案总体架构</a:t>
              </a:r>
              <a:endParaRPr lang="zh-CN" altLang="en-US" sz="2400" noProof="0" dirty="0">
                <a:solidFill>
                  <a:srgbClr val="FFFFFF"/>
                </a:solidFill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11F38705-3F51-5580-185D-2D50A54CF6BF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5891" y="5158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6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-1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03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系统演示</a:t>
              </a:r>
              <a:endParaRPr kumimoji="1" lang="zh-CN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A18F2F9D-25DF-7AF5-1AA2-31A4F2E4DD36}"/>
                </a:ext>
              </a:extLst>
            </p:cNvPr>
            <p:cNvSpPr txBox="1"/>
            <p:nvPr/>
          </p:nvSpPr>
          <p:spPr>
            <a:xfrm>
              <a:off x="5892" y="7428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6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05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差异化服务优势</a:t>
              </a:r>
              <a:endParaRPr lang="zh-CN" altLang="en-US" sz="2400" noProof="0" dirty="0">
                <a:solidFill>
                  <a:srgbClr val="FFFFFF"/>
                </a:solidFill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322F6AD9-CFF2-F4DA-D51D-33EE1D5A8F2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5893" y="6293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6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04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实施方案</a:t>
              </a:r>
              <a:endParaRPr kumimoji="1" lang="zh-CN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566602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CBA66-C329-2DE8-C7FE-C1DFF2112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AB2CC26-8FD5-9711-5650-C23285708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9CA6529-6326-394B-B166-EFE92464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差异化服务方案与优势</a:t>
            </a:r>
          </a:p>
        </p:txBody>
      </p:sp>
    </p:spTree>
    <p:extLst>
      <p:ext uri="{BB962C8B-B14F-4D97-AF65-F5344CB8AC3E}">
        <p14:creationId xmlns:p14="http://schemas.microsoft.com/office/powerpoint/2010/main" val="39815859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3E07B75-003E-B9B2-7F1D-3C87B4DE3F2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850" y="6400800"/>
            <a:ext cx="438150" cy="155575"/>
          </a:xfrm>
        </p:spPr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542603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"/>
  <p:tag name="KSO_WM_DIAGRAM_VIRTUALLY_FRAME" val="{&quot;height&quot;:286.6,&quot;left&quot;:29.65,&quot;top&quot;:126.7,&quot;width&quot;:712.6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"/>
  <p:tag name="KSO_WM_DIAGRAM_VIRTUALLY_FRAME" val="{&quot;height&quot;:286.6,&quot;left&quot;:29.65,&quot;top&quot;:126.7,&quot;width&quot;:712.6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"/>
  <p:tag name="KSO_WM_DIAGRAM_VIRTUALLY_FRAME" val="{&quot;height&quot;:286.6,&quot;left&quot;:29.65,&quot;top&quot;:126.7,&quot;width&quot;:712.6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"/>
  <p:tag name="KSO_WM_DIAGRAM_VIRTUALLY_FRAME" val="{&quot;height&quot;:286.6,&quot;left&quot;:29.65,&quot;top&quot;:126.7,&quot;width&quot;:712.6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heme/theme1.xml><?xml version="1.0" encoding="utf-8"?>
<a:theme xmlns:a="http://schemas.openxmlformats.org/drawingml/2006/main" name="Lenovo Master">
  <a:themeElements>
    <a:clrScheme name="自定义 1">
      <a:dk1>
        <a:srgbClr val="000000"/>
      </a:dk1>
      <a:lt1>
        <a:srgbClr val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fcc3add5-0e56-4736-93a8-bbb065da711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be9eda-85ee-42b1-b68f-386bf0763910">
      <Terms xmlns="http://schemas.microsoft.com/office/infopath/2007/PartnerControls"/>
    </lcf76f155ced4ddcb4097134ff3c332f>
    <TaxCatchAll xmlns="3b88d3f0-92a2-48be-bb86-c94a3d032d2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2BB60893D840B64B88B9BF2BF38638AA" ma:contentTypeVersion="15" ma:contentTypeDescription="新建文档。" ma:contentTypeScope="" ma:versionID="53ffe5a10e571abcdbd2044b74aef8b3">
  <xsd:schema xmlns:xsd="http://www.w3.org/2001/XMLSchema" xmlns:xs="http://www.w3.org/2001/XMLSchema" xmlns:p="http://schemas.microsoft.com/office/2006/metadata/properties" xmlns:ns2="15be9eda-85ee-42b1-b68f-386bf0763910" xmlns:ns3="3b88d3f0-92a2-48be-bb86-c94a3d032d2b" targetNamespace="http://schemas.microsoft.com/office/2006/metadata/properties" ma:root="true" ma:fieldsID="f31436666236638c6fdc49612b3e0a01" ns2:_="" ns3:_="">
    <xsd:import namespace="15be9eda-85ee-42b1-b68f-386bf0763910"/>
    <xsd:import namespace="3b88d3f0-92a2-48be-bb86-c94a3d032d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be9eda-85ee-42b1-b68f-386bf07639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图像标记" ma:readOnly="false" ma:fieldId="{5cf76f15-5ced-4ddc-b409-7134ff3c332f}" ma:taxonomyMulti="true" ma:sspId="10b2ab70-381d-4de1-873d-678182fc596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88d3f0-92a2-48be-bb86-c94a3d032d2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e283749e-8e17-4a52-9ab2-987b3f85377b}" ma:internalName="TaxCatchAll" ma:showField="CatchAllData" ma:web="3b88d3f0-92a2-48be-bb86-c94a3d032d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CB367A-89A7-4E90-9A81-064D3008B375}">
  <ds:schemaRefs/>
</ds:datastoreItem>
</file>

<file path=customXml/itemProps2.xml><?xml version="1.0" encoding="utf-8"?>
<ds:datastoreItem xmlns:ds="http://schemas.openxmlformats.org/officeDocument/2006/customXml" ds:itemID="{09A40E22-E7CA-40AF-8B7F-84ABE1FB5F4F}">
  <ds:schemaRefs/>
</ds:datastoreItem>
</file>

<file path=customXml/itemProps3.xml><?xml version="1.0" encoding="utf-8"?>
<ds:datastoreItem xmlns:ds="http://schemas.openxmlformats.org/officeDocument/2006/customXml" ds:itemID="{3420404D-B505-4AD6-ADF1-1935439F229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1394</Words>
  <Application>Microsoft Office PowerPoint</Application>
  <PresentationFormat>宽屏</PresentationFormat>
  <Paragraphs>273</Paragraphs>
  <Slides>22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Inter</vt:lpstr>
      <vt:lpstr>Noto Sans SC</vt:lpstr>
      <vt:lpstr>PingFang SC</vt:lpstr>
      <vt:lpstr>微软雅黑</vt:lpstr>
      <vt:lpstr>Arial</vt:lpstr>
      <vt:lpstr>Lenovo Master</vt:lpstr>
      <vt:lpstr>think-cell 幻灯片</vt:lpstr>
      <vt:lpstr>PowerPoint 演示文稿</vt:lpstr>
      <vt:lpstr>PowerPoint 演示文稿</vt:lpstr>
      <vt:lpstr>案例</vt:lpstr>
      <vt:lpstr>总体架构</vt:lpstr>
      <vt:lpstr>应用架构</vt:lpstr>
      <vt:lpstr>应用架构</vt:lpstr>
      <vt:lpstr>园区物流子系统架构</vt:lpstr>
      <vt:lpstr>外协人员管理子系统架构</vt:lpstr>
      <vt:lpstr>安防子系统</vt:lpstr>
      <vt:lpstr>消防子系统</vt:lpstr>
      <vt:lpstr>宿舍子系统架构</vt:lpstr>
      <vt:lpstr>数据架构</vt:lpstr>
      <vt:lpstr>技术架构</vt:lpstr>
      <vt:lpstr>部署架构</vt:lpstr>
      <vt:lpstr>四类主要的扩展路径设计</vt:lpstr>
      <vt:lpstr>PowerPoint 演示文稿</vt:lpstr>
      <vt:lpstr>场景演示</vt:lpstr>
      <vt:lpstr>PowerPoint 演示文稿</vt:lpstr>
      <vt:lpstr>实施方案</vt:lpstr>
      <vt:lpstr>PowerPoint 演示文稿</vt:lpstr>
      <vt:lpstr>差异化服务方案与优势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libo32</dc:creator>
  <cp:lastModifiedBy>Youdong YD6 Zhu</cp:lastModifiedBy>
  <cp:revision>41</cp:revision>
  <cp:lastPrinted>2023-10-24T01:37:00Z</cp:lastPrinted>
  <dcterms:created xsi:type="dcterms:W3CDTF">2023-06-13T11:51:00Z</dcterms:created>
  <dcterms:modified xsi:type="dcterms:W3CDTF">2026-09-01T03:48:33Z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0x0101002BB60893D840B64B88B9BF2BF38638AA</vt:lpwstr>
  </property>
  <property fmtid="{D5CDD505-2E9C-101B-9397-08002B2CF9AE}" pid="3" name="MediaServiceImageTags">
    <vt:lpwstr/>
  </property>
  <property fmtid="{D5CDD505-2E9C-101B-9397-08002B2CF9AE}" pid="4" name="KSOProductBuildVer">
    <vt:lpwstr>2052-12.1.0.28043</vt:lpwstr>
  </property>
  <property fmtid="{D5CDD505-2E9C-101B-9397-08002B2CF9AE}" pid="5" name="ICV">
    <vt:lpwstr>07664E5C2A9F4E7B80730C6F421C5AD2_13</vt:lpwstr>
  </property>
</Properties>
</file>