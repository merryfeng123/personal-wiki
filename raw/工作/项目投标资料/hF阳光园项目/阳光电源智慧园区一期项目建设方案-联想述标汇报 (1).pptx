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5.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预期提升/下降幅度(%)</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入园手续时长↓</c:v>
                  </c:pt>
                  <c:pt idx="1">
                    <c:v>车辆平均等待↓</c:v>
                  </c:pt>
                  <c:pt idx="2">
                    <c:v>月台使用率↑</c:v>
                  </c:pt>
                  <c:pt idx="3">
                    <c:v>安全事件响应↑</c:v>
                  </c:pt>
                  <c:pt idx="4">
                    <c:v>物业人效↑</c:v>
                  </c:pt>
                  <c:pt idx="5">
                    <c:v>费用核算工时↓</c:v>
                  </c:pt>
                </c:lvl>
              </c:multiLvlStrCache>
            </c:multiLvlStrRef>
          </c:cat>
          <c:val>
            <c:numRef>
              <c:f>Sheet1!$B$2:$B$7</c:f>
              <c:numCache>
                <c:formatCode>General</c:formatCode>
                <c:ptCount val="6"/>
                <c:pt idx="0">
                  <c:v>60</c:v>
                </c:pt>
                <c:pt idx="1">
                  <c:v>40</c:v>
                </c:pt>
                <c:pt idx="2">
                  <c:v>20</c:v>
                </c:pt>
                <c:pt idx="3">
                  <c:v>50</c:v>
                </c:pt>
                <c:pt idx="4">
                  <c:v>35</c:v>
                </c:pt>
                <c:pt idx="5">
                  <c:v>70</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园区安全态势趋势（示意）</a:t>
            </a:r>
          </a:p>
        </c:rich>
      </c:tx>
      <c:layout/>
      <c:overlay val="0"/>
    </c:title>
    <c:autoTitleDeleted val="0"/>
    <c:plotArea>
      <c:layout/>
      <c:lineChart>
        <c:varyColors val="0"/>
        <c:ser>
          <c:idx val="0"/>
          <c:order val="0"/>
          <c:tx>
            <c:strRef>
              <c:f>Sheet1!$B$1</c:f>
              <c:strCache>
                <c:ptCount val="1"/>
                <c:pt idx="0">
                  <c:v>告警数</c:v>
                </c:pt>
              </c:strCache>
            </c:strRef>
          </c:tx>
          <c:spPr>
            <a:solidFill>
              <a:srgbClr val="F97B00"/>
            </a:solidFill>
            <a:ln w="31750" cap="flat">
              <a:solidFill>
                <a:srgbClr val="F97B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97B00"/>
              </a:solidFill>
              <a:ln w="9525" cap="flat">
                <a:solidFill>
                  <a:srgbClr val="F97B00"/>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Sheet1!$B$2:$B$7</c:f>
              <c:numCache>
                <c:formatCode>General</c:formatCode>
                <c:ptCount val="6"/>
                <c:pt idx="0">
                  <c:v>86</c:v>
                </c:pt>
                <c:pt idx="1">
                  <c:v>74</c:v>
                </c:pt>
                <c:pt idx="2">
                  <c:v>61</c:v>
                </c:pt>
                <c:pt idx="3">
                  <c:v>48</c:v>
                </c:pt>
                <c:pt idx="4">
                  <c:v>35</c:v>
                </c:pt>
                <c:pt idx="5">
                  <c:v>26</c:v>
                </c:pt>
              </c:numCache>
            </c:numRef>
          </c:val>
          <c:smooth val="0"/>
        </c:ser>
        <c:ser>
          <c:idx val="1"/>
          <c:order val="1"/>
          <c:tx>
            <c:strRef>
              <c:f>Sheet1!$C$1</c:f>
              <c:strCache>
                <c:ptCount val="1"/>
                <c:pt idx="0">
                  <c:v>闭环率(%)</c:v>
                </c:pt>
              </c:strCache>
            </c:strRef>
          </c:tx>
          <c:spPr>
            <a:solidFill>
              <a:srgbClr val="6FA8DC"/>
            </a:solidFill>
            <a:ln w="31750" cap="flat">
              <a:solidFill>
                <a:srgbClr val="6FA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FA8DC"/>
              </a:solidFill>
              <a:ln w="9525" cap="flat">
                <a:solidFill>
                  <a:srgbClr val="6FA8DC"/>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Sheet1!$C$2:$C$7</c:f>
              <c:numCache>
                <c:formatCode>General</c:formatCode>
                <c:ptCount val="6"/>
                <c:pt idx="0">
                  <c:v>71</c:v>
                </c:pt>
                <c:pt idx="1">
                  <c:v>78</c:v>
                </c:pt>
                <c:pt idx="2">
                  <c:v>84</c:v>
                </c:pt>
                <c:pt idx="3">
                  <c:v>89</c:v>
                </c:pt>
                <c:pt idx="4">
                  <c:v>93</c:v>
                </c:pt>
                <c:pt idx="5">
                  <c:v>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BFCCD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A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BFCCDA"/>
                </a:solidFill>
                <a:latin typeface="Calibri"/>
              </a:defRPr>
            </a:pPr>
            <a:endParaRPr lang="en-US"/>
          </a:p>
        </c:txPr>
        <c:crossAx val="2094734554"/>
        <c:crosses val="autoZero"/>
        <c:crossBetween val="between"/>
      </c:valAx>
      <c:spPr>
        <a:solidFill>
          <a:srgbClr val="FFFFFF">
            <a:alpha val="0"/>
          </a:srgbClr>
        </a:solidFill>
        <a:ln>
          <a:noFill/>
        </a:ln>
        <a:effectLst/>
      </c:spPr>
    </c:plotArea>
    <c:legend>
      <c:legendPos val="b"/>
      <c:overlay val="0"/>
      <c:txPr>
        <a:bodyPr/>
        <a:lstStyle/>
        <a:p>
          <a:pPr>
            <a:defRPr sz="90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工单类型分布（示意）</a:t>
            </a:r>
          </a:p>
        </c:rich>
      </c:tx>
      <c:layout/>
      <c:overlay val="0"/>
    </c:title>
    <c:autoTitleDeleted val="0"/>
    <c:plotArea>
      <c:layout/>
      <c:doughnutChart>
        <c:varyColors val="1"/>
        <c:ser>
          <c:idx val="0"/>
          <c:order val="0"/>
          <c:tx>
            <c:strRef>
              <c:f>Sheet1!$B$1</c:f>
              <c:strCache>
                <c:ptCount val="1"/>
                <c:pt idx="0">
                  <c:v>工单构成</c:v>
                </c:pt>
              </c:strCache>
            </c:strRef>
          </c:tx>
          <c:spPr>
            <a:solidFill>
              <a:schemeClr val="accent1"/>
            </a:solidFill>
            <a:ln w="9525" cap="flat">
              <a:solidFill>
                <a:srgbClr val="F9F9F9"/>
              </a:solidFill>
              <a:prstDash val="solid"/>
              <a:round/>
            </a:ln>
            <a:effectLst/>
          </c:spPr>
          <c:dPt>
            <c:idx val="0"/>
            <c:bubble3D val="0"/>
            <c:spPr>
              <a:solidFill>
                <a:srgbClr val="F97B00"/>
              </a:solidFill>
              <a:effectLst/>
            </c:spPr>
          </c:dPt>
          <c:dPt>
            <c:idx val="1"/>
            <c:bubble3D val="0"/>
            <c:spPr>
              <a:solidFill>
                <a:srgbClr val="FF9F3D"/>
              </a:solidFill>
              <a:effectLst/>
            </c:spPr>
          </c:dPt>
          <c:dPt>
            <c:idx val="2"/>
            <c:bubble3D val="0"/>
            <c:spPr>
              <a:solidFill>
                <a:srgbClr val="FFC98A"/>
              </a:solidFill>
              <a:effectLst/>
            </c:spPr>
          </c:dPt>
          <c:dPt>
            <c:idx val="3"/>
            <c:bubble3D val="0"/>
            <c:spPr>
              <a:solidFill>
                <a:srgbClr val="6FA8DC"/>
              </a:solidFill>
              <a:effectLst/>
            </c:spPr>
          </c:dPt>
          <c:dPt>
            <c:idx val="4"/>
            <c:bubble3D val="0"/>
            <c:spPr>
              <a:solidFill>
                <a:srgbClr val="9BB8CF"/>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消防</c:v>
                </c:pt>
                <c:pt idx="1">
                  <c:v>安防</c:v>
                </c:pt>
                <c:pt idx="2">
                  <c:v>设备</c:v>
                </c:pt>
                <c:pt idx="3">
                  <c:v>物业报修</c:v>
                </c:pt>
                <c:pt idx="4">
                  <c:v>外协</c:v>
                </c:pt>
              </c:strCache>
            </c:strRef>
          </c:cat>
          <c:val>
            <c:numRef>
              <c:f>Sheet1!$B$2:$B$6</c:f>
              <c:numCache>
                <c:ptCount val="5"/>
                <c:pt idx="0">
                  <c:v>22</c:v>
                </c:pt>
                <c:pt idx="1">
                  <c:v>18</c:v>
                </c:pt>
                <c:pt idx="2">
                  <c:v>15</c:v>
                </c:pt>
                <c:pt idx="3">
                  <c:v>33</c:v>
                </c:pt>
                <c:pt idx="4">
                  <c:v>12</c:v>
                </c:pt>
              </c:numCache>
            </c:numRef>
          </c:val>
        </c:ser>
        <c:firstSliceAng val="0"/>
        <c:holeSize val="52"/>
      </c:doughnutChart>
      <c:spPr>
        <a:noFill/>
        <a:ln>
          <a:noFill/>
        </a:ln>
        <a:effectLst/>
      </c:spPr>
    </c:plotArea>
    <c:legend>
      <c:legendPos val="b"/>
      <c:overlay val="0"/>
      <c:txPr>
        <a:bodyPr/>
        <a:lstStyle/>
        <a:p>
          <a:pPr>
            <a:defRPr sz="85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月台占用数</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6-8</c:v>
                  </c:pt>
                  <c:pt idx="1">
                    <c:v>8-10</c:v>
                  </c:pt>
                  <c:pt idx="2">
                    <c:v>10-12</c:v>
                  </c:pt>
                  <c:pt idx="3">
                    <c:v>12-14</c:v>
                  </c:pt>
                  <c:pt idx="4">
                    <c:v>14-16</c:v>
                  </c:pt>
                  <c:pt idx="5">
                    <c:v>16-18</c:v>
                  </c:pt>
                  <c:pt idx="6">
                    <c:v>18-20</c:v>
                  </c:pt>
                  <c:pt idx="7">
                    <c:v>20-22</c:v>
                  </c:pt>
                </c:lvl>
              </c:multiLvlStrCache>
            </c:multiLvlStrRef>
          </c:cat>
          <c:val>
            <c:numRef>
              <c:f>Sheet1!$B$2:$B$9</c:f>
              <c:numCache>
                <c:formatCode>General</c:formatCode>
                <c:ptCount val="8"/>
                <c:pt idx="0">
                  <c:v>4</c:v>
                </c:pt>
                <c:pt idx="1">
                  <c:v>11</c:v>
                </c:pt>
                <c:pt idx="2">
                  <c:v>14</c:v>
                </c:pt>
                <c:pt idx="3">
                  <c:v>6</c:v>
                </c:pt>
                <c:pt idx="4">
                  <c:v>12</c:v>
                </c:pt>
                <c:pt idx="5">
                  <c:v>15</c:v>
                </c:pt>
                <c:pt idx="6">
                  <c:v>9</c:v>
                </c:pt>
                <c:pt idx="7">
                  <c:v>3</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8"/>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入住率(%)</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单人间</c:v>
                  </c:pt>
                  <c:pt idx="1">
                    <c:v>双人间</c:v>
                  </c:pt>
                  <c:pt idx="2">
                    <c:v>四人间</c:v>
                  </c:pt>
                  <c:pt idx="3">
                    <c:v>六人间</c:v>
                  </c:pt>
                </c:lvl>
              </c:multiLvlStrCache>
            </c:multiLvlStrRef>
          </c:cat>
          <c:val>
            <c:numRef>
              <c:f>Sheet1!$B$2:$B$5</c:f>
              <c:numCache>
                <c:formatCode>General</c:formatCode>
                <c:ptCount val="4"/>
                <c:pt idx="0">
                  <c:v>92</c:v>
                </c:pt>
                <c:pt idx="1">
                  <c:v>85</c:v>
                </c:pt>
                <c:pt idx="2">
                  <c:v>78</c:v>
                </c:pt>
                <c:pt idx="3">
                  <c:v>66</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封面。阳光电源智慧园区一期项目投标述标汇报，投标主体联想（北京）有限公司。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目录。共五个部分，重点是第二部分建设方案与场景流程模拟。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用一页把项目规模、核心任务与关键议题讲清楚。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痛点来自招标现状描述，并给出根因判断。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痛点来自落到四个统一，为后面架构做铺垫。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明确物流是重点难点，并给出结构化的解题思路。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六大目标对齐强调聚焦、可结项。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范围界定既显示理解深度，也是后续变更控制的基线。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这是本部分最具说服力的一页：把痛点、举措和验收指标一一对应。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不用外部效益基准背书，改讲可复用的数据标准、流程模板与联动策略。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整体规划、分步实施，兼顾扩展性与可复制性。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总体规划一页看全，强调底座层是五个子系统共用、一次建设长期复用。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架构图强调解耦与可扩展，回应可扩展性要求。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轻量化2.5D建模路线；主数据来自MDM。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统一一个池子、闭环、分级分类、按角色隔离数据权限。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大屏作为亮点但强调预算与落地（客户第2点意见）。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把物流竞争力定位在平台方法论与集成服务经验，而非园区物流运营经验。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物流是重点：先给全景和量化目标，后面逐环节展开。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预约与叫号是缓解拥堵的第一道闸，强调排期算法与司机端低门槛。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入园与引导环节，重点说明与红门道闸、达实门禁、SRM/WMS的联动。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月台是物流的瓶颈点，用波峰波谷分析证明"数据能变成管理动作"。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评价闭环体现"运营级"要求：不只管别人，也管自己的服务水平。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跨园区调度是一期必须上线的能力，务必讲透。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九大类设施对齐检测准确率≥95%写入验收指标。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误报率是消防平台能否被真正使用的关键，给出四道关卡的具体做法。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给出应急处置的时间轴目标，让"联动"变成可考核的指标。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日常管理最容易被忽略，但决定系统能否长期用起来。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一张图强调实用主义：不追求炫酷3D，优先加载速度与可用性。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安防含软硬件一体化，强调利旧与算法仓能力。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这一页直接对应场景看板与无人机定位要求。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越界检测采用振动光纤+摄像头双确认。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安防最后一页收在联动与数据资产，体现"运营级"深度。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宿舍管理覆盖其他园区，做跨园区设计。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宿舍第二页把费用、退宿、统计讲完，形成完整闭环。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外协管理覆盖物业、食堂、超市、维修。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外协服务质量管理含工单结算、满意度、绩效、扣分扣款奖励、服务商台账。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移动与多屏是员工体验的关键，同时把系统管理模块一并说明。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用一次真实配送把物流全链路讲通，领导不需要理解功能清单也能听懂价值。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消防与安防各给一个秒级时间轴，突出多源确认与自动联动。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宿舍与外协是高频民生场景，讲清楚有助于赢得一线支持。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五大场景收口页：强调不是五个系统，而是一个底座上的五组能力。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技术架构强调遵循客户既有技术标准，而不是强推我们的栈。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IT技术是客观计分项，满足一项得2分，共6分。三项全部明确承诺。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集成清单逐条对齐明确费用边界。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硬件清单严格对齐报价清单中的消防物联系统明细。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硬件清单严格对齐报价清单中的安防系统、无人机与巡更明细。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性能指标逐条对齐作为验收依据。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资源清单给出估算并说明会核定，体现专业与务实。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安全合规是硬门槛，逐条响应安全合规要求。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七阶段+M8贯穿，逐条对齐招标阶段划分与交付成果要求。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两阶段结构：6个月开发部署 + 3个月试运行陪跑，2027年6月结项。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资质逐条响应，PM履历是加分项，强调全程驻场。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实施能力是客观计分项，满足一项加1分，共7分。待资质信息确认后更新。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人力资源规划要给出可核查的数字，避免峰值人力虚标。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交付物清单让验收有明确抓手，逐项签收避免结项争议。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质量、变更、验收三件事讲清楚，体现管理规范性。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风险表要具体，尤其R2第三方接口和R3施工窗口是同类项目最常见的坑。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知识转移是招标明确要求"能不能自己维护"。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运维承诺与与招标要求一致，并加每月数据分析报告。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母本工厂是核心差异化，呼应贵方已考察武汉基地。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弱化效益基线，改讲可复用资产：数据标准、流程模板、联动策略。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跨境合规：先讲复杂性，再讲五要素举措，最后落到对本项目的前置设计。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三层价值：实践能力、长期陪伴、AI战略，收尾强调长期伙伴关系。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六大优势收口，把前面所有内容的差异化点集中呈现。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结语页：四句承诺对应客户四个核心关切，收尾邀请合作。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2.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slideLayout" Target="../slideLayouts/slideLayout2.xml"/><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image" Target="../media/image-44-2.png"/><Relationship Id="rId3" Type="http://schemas.openxmlformats.org/officeDocument/2006/relationships/slideLayout" Target="../slideLayouts/slideLayout3.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image" Target="../media/image-53-2.pn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2.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2.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image" Target="../media/image-64-2.png"/><Relationship Id="rId3" Type="http://schemas.openxmlformats.org/officeDocument/2006/relationships/slideLayout" Target="../slideLayouts/slideLayout3.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slideLayout" Target="../slideLayouts/slideLayout2.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slideLayout" Target="../slideLayouts/slideLayout2.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2.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slideLayout" Target="../slideLayouts/slideLayout2.xml"/><Relationship Id="rId8"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jpe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700784" cy="426110"/>
          </a:xfrm>
          <a:prstGeom prst="rect">
            <a:avLst/>
          </a:prstGeom>
        </p:spPr>
      </p:pic>
      <p:sp>
        <p:nvSpPr>
          <p:cNvPr id="3" name="Shape 0"/>
          <p:cNvSpPr/>
          <p:nvPr/>
        </p:nvSpPr>
        <p:spPr>
          <a:xfrm>
            <a:off x="2414016" y="502920"/>
            <a:ext cx="10973" cy="365760"/>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596896" y="548640"/>
            <a:ext cx="1325880" cy="265176"/>
          </a:xfrm>
          <a:prstGeom prst="rect">
            <a:avLst/>
          </a:prstGeom>
        </p:spPr>
      </p:pic>
      <p:sp>
        <p:nvSpPr>
          <p:cNvPr id="5" name="Text 1"/>
          <p:cNvSpPr txBox="1"/>
          <p:nvPr/>
        </p:nvSpPr>
        <p:spPr>
          <a:xfrm>
            <a:off x="530352" y="2084832"/>
            <a:ext cx="7315200" cy="310896"/>
          </a:xfrm>
          <a:prstGeom prst="rect">
            <a:avLst/>
          </a:prstGeom>
          <a:noFill/>
          <a:ln/>
        </p:spPr>
        <p:txBody>
          <a:bodyPr wrap="square" lIns="0" tIns="0" rIns="0" bIns="0" rtlCol="0" anchor="ctr"/>
          <a:lstStyle/>
          <a:p>
            <a:pPr indent="0" marL="0">
              <a:buNone/>
            </a:pPr>
            <a:r>
              <a:rPr lang="en-US" sz="1250" b="1" spc="500" kern="0" dirty="0">
                <a:solidFill>
                  <a:srgbClr val="FF9F3D"/>
                </a:solidFill>
                <a:latin typeface="Calibri" pitchFamily="34" charset="0"/>
                <a:ea typeface="Calibri" pitchFamily="34" charset="-122"/>
                <a:cs typeface="Calibri" pitchFamily="34" charset="-120"/>
              </a:rPr>
              <a:t>SMART PARK  ·  PHASE I</a:t>
            </a:r>
            <a:endParaRPr lang="en-US" sz="1250" dirty="0"/>
          </a:p>
        </p:txBody>
      </p:sp>
      <p:sp>
        <p:nvSpPr>
          <p:cNvPr id="6" name="Text 2"/>
          <p:cNvSpPr txBox="1"/>
          <p:nvPr/>
        </p:nvSpPr>
        <p:spPr>
          <a:xfrm>
            <a:off x="530352" y="2468880"/>
            <a:ext cx="96926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智慧园区一期项目建设方案</a:t>
            </a:r>
            <a:endParaRPr lang="en-US" sz="4600" dirty="0"/>
          </a:p>
        </p:txBody>
      </p:sp>
      <p:sp>
        <p:nvSpPr>
          <p:cNvPr id="7" name="Text 3"/>
          <p:cNvSpPr txBox="1"/>
          <p:nvPr/>
        </p:nvSpPr>
        <p:spPr>
          <a:xfrm>
            <a:off x="530352" y="3529584"/>
            <a:ext cx="8595360" cy="713232"/>
          </a:xfrm>
          <a:prstGeom prst="rect">
            <a:avLst/>
          </a:prstGeom>
          <a:noFill/>
          <a:ln/>
        </p:spPr>
        <p:txBody>
          <a:bodyPr wrap="square" lIns="0" tIns="0" rIns="0" bIns="0" rtlCol="0" anchor="ctr"/>
          <a:lstStyle/>
          <a:p>
            <a:pPr indent="0" marL="0">
              <a:lnSpc>
                <a:spcPct val="124000"/>
              </a:lnSpc>
              <a:buNone/>
            </a:pPr>
            <a:r>
              <a:rPr lang="en-US" sz="1450" dirty="0">
                <a:solidFill>
                  <a:srgbClr val="C9D5E2"/>
                </a:solidFill>
                <a:latin typeface="Calibri" pitchFamily="34" charset="0"/>
                <a:ea typeface="Calibri" pitchFamily="34" charset="-122"/>
                <a:cs typeface="Calibri" pitchFamily="34" charset="-120"/>
              </a:rPr>
              <a:t>聚焦智慧物流 · 智慧消防 · 智慧安防 · 宿舍管理 · 外协管理 五大子系统</a:t>
            </a:r>
            <a:endParaRPr lang="en-US" sz="1450" dirty="0"/>
          </a:p>
          <a:p>
            <a:pPr indent="0" marL="0">
              <a:lnSpc>
                <a:spcPct val="124000"/>
              </a:lnSpc>
              <a:buNone/>
            </a:pPr>
            <a:r>
              <a:rPr lang="en-US" sz="1450" dirty="0">
                <a:solidFill>
                  <a:srgbClr val="C9D5E2"/>
                </a:solidFill>
                <a:latin typeface="Calibri" pitchFamily="34" charset="0"/>
                <a:ea typeface="Calibri" pitchFamily="34" charset="-122"/>
                <a:cs typeface="Calibri" pitchFamily="34" charset="-120"/>
              </a:rPr>
              <a:t>打造统一、可扩展、可复制的阳光电源智慧园区运营底座</a:t>
            </a:r>
            <a:endParaRPr lang="en-US" sz="1450" dirty="0"/>
          </a:p>
        </p:txBody>
      </p:sp>
      <p:sp>
        <p:nvSpPr>
          <p:cNvPr id="8" name="Shape 4"/>
          <p:cNvSpPr/>
          <p:nvPr/>
        </p:nvSpPr>
        <p:spPr>
          <a:xfrm>
            <a:off x="548640" y="4498848"/>
            <a:ext cx="1280160" cy="41148"/>
          </a:xfrm>
          <a:prstGeom prst="rect">
            <a:avLst/>
          </a:prstGeom>
          <a:solidFill>
            <a:srgbClr val="F97B00"/>
          </a:solidFill>
          <a:ln/>
        </p:spPr>
      </p:sp>
      <p:sp>
        <p:nvSpPr>
          <p:cNvPr id="9" name="Text 5"/>
          <p:cNvSpPr txBox="1"/>
          <p:nvPr/>
        </p:nvSpPr>
        <p:spPr>
          <a:xfrm>
            <a:off x="530352" y="4754880"/>
            <a:ext cx="5486400" cy="1005840"/>
          </a:xfrm>
          <a:prstGeom prst="rect">
            <a:avLst/>
          </a:prstGeom>
          <a:noFill/>
          <a:ln/>
        </p:spPr>
        <p:txBody>
          <a:bodyPr wrap="square" lIns="0" tIns="0" rIns="0" bIns="0" rtlCol="0" anchor="t"/>
          <a:lstStyle/>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投标单位：</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联想（北京）有限公司</a:t>
            </a:r>
            <a:endParaRPr lang="en-US" sz="1200" dirty="0"/>
          </a:p>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汇报人：</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伍玉斌   高级项目经理</a:t>
            </a:r>
            <a:endParaRPr lang="en-US" sz="1200" dirty="0"/>
          </a:p>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汇报日期：</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2026 年 8 月 21 日</a:t>
            </a:r>
            <a:endParaRPr lang="en-US" sz="1200" dirty="0"/>
          </a:p>
        </p:txBody>
      </p:sp>
      <p:sp>
        <p:nvSpPr>
          <p:cNvPr id="10" name="Shape 6"/>
          <p:cNvSpPr/>
          <p:nvPr/>
        </p:nvSpPr>
        <p:spPr>
          <a:xfrm>
            <a:off x="9528048" y="4626864"/>
            <a:ext cx="960120" cy="960120"/>
          </a:xfrm>
          <a:prstGeom prst="ellipse">
            <a:avLst/>
          </a:prstGeom>
          <a:solidFill>
            <a:srgbClr val="FFFFFF"/>
          </a:solidFill>
          <a:ln/>
        </p:spPr>
      </p:sp>
      <p:pic>
        <p:nvPicPr>
          <p:cNvPr id="11" name="Image 2" descr="preencoded.png">    </p:cNvPr>
          <p:cNvPicPr>
            <a:picLocks noChangeAspect="1"/>
          </p:cNvPicPr>
          <p:nvPr/>
        </p:nvPicPr>
        <p:blipFill>
          <a:blip r:embed="rId4"/>
          <a:stretch>
            <a:fillRect/>
          </a:stretch>
        </p:blipFill>
        <p:spPr>
          <a:xfrm>
            <a:off x="9787280" y="4886096"/>
            <a:ext cx="441655" cy="441655"/>
          </a:xfrm>
          <a:prstGeom prst="rect">
            <a:avLst/>
          </a:prstGeom>
        </p:spPr>
      </p:pic>
      <p:sp>
        <p:nvSpPr>
          <p:cNvPr id="12" name="Text 7"/>
          <p:cNvSpPr txBox="1"/>
          <p:nvPr/>
        </p:nvSpPr>
        <p:spPr>
          <a:xfrm>
            <a:off x="7818120" y="5705856"/>
            <a:ext cx="3840480" cy="548640"/>
          </a:xfrm>
          <a:prstGeom prst="rect">
            <a:avLst/>
          </a:prstGeom>
          <a:noFill/>
          <a:ln/>
        </p:spPr>
        <p:txBody>
          <a:bodyPr wrap="square" lIns="0" tIns="0" rIns="0" bIns="0" rtlCol="0" anchor="ctr"/>
          <a:lstStyle/>
          <a:p>
            <a:pPr algn="ctr" indent="0" marL="0">
              <a:lnSpc>
                <a:spcPct val="114000"/>
              </a:lnSpc>
              <a:buNone/>
            </a:pPr>
            <a:r>
              <a:rPr lang="en-US" sz="1100" dirty="0">
                <a:solidFill>
                  <a:srgbClr val="C9D5E2"/>
                </a:solidFill>
                <a:latin typeface="Calibri" pitchFamily="34" charset="0"/>
                <a:ea typeface="Calibri" pitchFamily="34" charset="-122"/>
                <a:cs typeface="Calibri" pitchFamily="34" charset="-120"/>
              </a:rPr>
              <a:t>60万㎡ 产业园全域试点</a:t>
            </a:r>
            <a:endParaRPr lang="en-US" sz="1100" dirty="0"/>
          </a:p>
          <a:p>
            <a:pPr algn="ctr" indent="0" marL="0">
              <a:lnSpc>
                <a:spcPct val="114000"/>
              </a:lnSpc>
              <a:buNone/>
            </a:pPr>
            <a:r>
              <a:rPr lang="en-US" sz="1100" dirty="0">
                <a:solidFill>
                  <a:srgbClr val="C9D5E2"/>
                </a:solidFill>
                <a:latin typeface="Calibri" pitchFamily="34" charset="0"/>
                <a:ea typeface="Calibri" pitchFamily="34" charset="-122"/>
                <a:cs typeface="Calibri" pitchFamily="34" charset="-120"/>
              </a:rPr>
              <a:t>12 个园区可复制推广</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1078992"/>
            <a:ext cx="3657600" cy="292608"/>
          </a:xfrm>
          <a:prstGeom prst="rect">
            <a:avLst/>
          </a:prstGeom>
          <a:noFill/>
          <a:ln/>
        </p:spPr>
        <p:txBody>
          <a:bodyPr wrap="square" lIns="0" tIns="0" rIns="0" bIns="0" rtlCol="0" anchor="ctr"/>
          <a:lstStyle/>
          <a:p>
            <a:pPr indent="0" marL="0">
              <a:buNone/>
            </a:pPr>
            <a:r>
              <a:rPr lang="en-US" sz="1200" b="1" spc="500" kern="0" dirty="0">
                <a:solidFill>
                  <a:srgbClr val="F97B00"/>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30352" y="1389888"/>
            <a:ext cx="3657600" cy="731520"/>
          </a:xfrm>
          <a:prstGeom prst="rect">
            <a:avLst/>
          </a:prstGeom>
          <a:noFill/>
          <a:ln/>
        </p:spPr>
        <p:txBody>
          <a:bodyPr wrap="square" lIns="0" tIns="0" rIns="0" bIns="0" rtlCol="0" anchor="ctr"/>
          <a:lstStyle/>
          <a:p>
            <a:pPr indent="0" marL="0">
              <a:buNone/>
            </a:pPr>
            <a:r>
              <a:rPr lang="en-US" sz="4000" b="1" dirty="0">
                <a:solidFill>
                  <a:srgbClr val="1F2933"/>
                </a:solidFill>
                <a:latin typeface="Cambria" pitchFamily="34" charset="0"/>
                <a:ea typeface="Cambria" pitchFamily="34" charset="-122"/>
                <a:cs typeface="Cambria" pitchFamily="34" charset="-120"/>
              </a:rPr>
              <a:t>目 录</a:t>
            </a:r>
            <a:endParaRPr lang="en-US" sz="4000" dirty="0"/>
          </a:p>
        </p:txBody>
      </p:sp>
      <p:sp>
        <p:nvSpPr>
          <p:cNvPr id="4" name="Shape 2"/>
          <p:cNvSpPr/>
          <p:nvPr/>
        </p:nvSpPr>
        <p:spPr>
          <a:xfrm>
            <a:off x="557784" y="2212848"/>
            <a:ext cx="1005840" cy="41148"/>
          </a:xfrm>
          <a:prstGeom prst="rect">
            <a:avLst/>
          </a:prstGeom>
          <a:solidFill>
            <a:srgbClr val="F97B00"/>
          </a:solidFill>
          <a:ln/>
        </p:spPr>
      </p:sp>
      <p:sp>
        <p:nvSpPr>
          <p:cNvPr id="5" name="Text 3"/>
          <p:cNvSpPr txBox="1"/>
          <p:nvPr/>
        </p:nvSpPr>
        <p:spPr>
          <a:xfrm>
            <a:off x="530352" y="2432304"/>
            <a:ext cx="3200400" cy="640080"/>
          </a:xfrm>
          <a:prstGeom prst="rect">
            <a:avLst/>
          </a:prstGeom>
          <a:noFill/>
          <a:ln/>
        </p:spPr>
        <p:txBody>
          <a:bodyPr wrap="square" lIns="0" tIns="0" rIns="0" bIns="0" rtlCol="0" anchor="ctr"/>
          <a:lstStyle/>
          <a:p>
            <a:pPr indent="0" marL="0">
              <a:lnSpc>
                <a:spcPct val="119000"/>
              </a:lnSpc>
              <a:buNone/>
            </a:pPr>
            <a:r>
              <a:rPr lang="en-US" sz="1100" dirty="0">
                <a:solidFill>
                  <a:srgbClr val="55606B"/>
                </a:solidFill>
                <a:latin typeface="Calibri" pitchFamily="34" charset="0"/>
                <a:ea typeface="Calibri" pitchFamily="34" charset="-122"/>
                <a:cs typeface="Calibri" pitchFamily="34" charset="-120"/>
              </a:rPr>
              <a:t>本方案严格以《智慧园区一期项目工作说明书》</a:t>
            </a:r>
            <a:endParaRPr lang="en-US" sz="1100" dirty="0"/>
          </a:p>
          <a:p>
            <a:pPr indent="0" marL="0">
              <a:lnSpc>
                <a:spcPct val="119000"/>
              </a:lnSpc>
              <a:buNone/>
            </a:pPr>
            <a:r>
              <a:rPr lang="en-US" sz="1100" dirty="0">
                <a:solidFill>
                  <a:srgbClr val="55606B"/>
                </a:solidFill>
                <a:latin typeface="Calibri" pitchFamily="34" charset="0"/>
                <a:ea typeface="Calibri" pitchFamily="34" charset="-122"/>
                <a:cs typeface="Calibri" pitchFamily="34" charset="-120"/>
              </a:rPr>
              <a:t>为需求基线逐条响应</a:t>
            </a:r>
            <a:endParaRPr lang="en-US" sz="1100" dirty="0"/>
          </a:p>
        </p:txBody>
      </p:sp>
      <p:sp>
        <p:nvSpPr>
          <p:cNvPr id="6" name="Shape 4"/>
          <p:cNvSpPr/>
          <p:nvPr/>
        </p:nvSpPr>
        <p:spPr>
          <a:xfrm>
            <a:off x="4224528" y="1115568"/>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7" name="Shape 5"/>
          <p:cNvSpPr/>
          <p:nvPr/>
        </p:nvSpPr>
        <p:spPr>
          <a:xfrm>
            <a:off x="4443984" y="1307592"/>
            <a:ext cx="438912" cy="438912"/>
          </a:xfrm>
          <a:prstGeom prst="ellipse">
            <a:avLst/>
          </a:prstGeom>
          <a:solidFill>
            <a:srgbClr val="0E2340"/>
          </a:solidFill>
          <a:ln/>
        </p:spPr>
      </p:sp>
      <p:pic>
        <p:nvPicPr>
          <p:cNvPr id="8" name="Image 0" descr="preencoded.png">    </p:cNvPr>
          <p:cNvPicPr>
            <a:picLocks noChangeAspect="1"/>
          </p:cNvPicPr>
          <p:nvPr/>
        </p:nvPicPr>
        <p:blipFill>
          <a:blip r:embed="rId1"/>
          <a:stretch>
            <a:fillRect/>
          </a:stretch>
        </p:blipFill>
        <p:spPr>
          <a:xfrm>
            <a:off x="4562490" y="1426098"/>
            <a:ext cx="201900" cy="201900"/>
          </a:xfrm>
          <a:prstGeom prst="rect">
            <a:avLst/>
          </a:prstGeom>
        </p:spPr>
      </p:pic>
      <p:sp>
        <p:nvSpPr>
          <p:cNvPr id="9" name="Text 6"/>
          <p:cNvSpPr txBox="1"/>
          <p:nvPr/>
        </p:nvSpPr>
        <p:spPr>
          <a:xfrm>
            <a:off x="5029200" y="1298448"/>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5632704" y="1261872"/>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项目需求理解</a:t>
            </a:r>
            <a:endParaRPr lang="en-US" sz="1500" dirty="0"/>
          </a:p>
        </p:txBody>
      </p:sp>
      <p:sp>
        <p:nvSpPr>
          <p:cNvPr id="11" name="Text 8"/>
          <p:cNvSpPr txBox="1"/>
          <p:nvPr/>
        </p:nvSpPr>
        <p:spPr>
          <a:xfrm>
            <a:off x="5632704" y="1554480"/>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现状痛点 / 建设目标 / 建设范围 / 预期成效</a:t>
            </a:r>
            <a:endParaRPr lang="en-US" sz="1050" dirty="0"/>
          </a:p>
        </p:txBody>
      </p:sp>
      <p:sp>
        <p:nvSpPr>
          <p:cNvPr id="12" name="Shape 9"/>
          <p:cNvSpPr/>
          <p:nvPr/>
        </p:nvSpPr>
        <p:spPr>
          <a:xfrm>
            <a:off x="4224528" y="2084832"/>
            <a:ext cx="7452360" cy="822960"/>
          </a:xfrm>
          <a:prstGeom prst="roundRect">
            <a:avLst>
              <a:gd name="adj" fmla="val 388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43984" y="2276856"/>
            <a:ext cx="438912" cy="438912"/>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2490" y="2395362"/>
            <a:ext cx="201900" cy="201900"/>
          </a:xfrm>
          <a:prstGeom prst="rect">
            <a:avLst/>
          </a:prstGeom>
        </p:spPr>
      </p:pic>
      <p:sp>
        <p:nvSpPr>
          <p:cNvPr id="15" name="Text 11"/>
          <p:cNvSpPr txBox="1"/>
          <p:nvPr/>
        </p:nvSpPr>
        <p:spPr>
          <a:xfrm>
            <a:off x="5029200" y="2267712"/>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02</a:t>
            </a:r>
            <a:endParaRPr lang="en-US" sz="2200" dirty="0"/>
          </a:p>
        </p:txBody>
      </p:sp>
      <p:sp>
        <p:nvSpPr>
          <p:cNvPr id="16" name="Text 12"/>
          <p:cNvSpPr txBox="1"/>
          <p:nvPr/>
        </p:nvSpPr>
        <p:spPr>
          <a:xfrm>
            <a:off x="5632704" y="2231136"/>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项目建设方案</a:t>
            </a:r>
            <a:endParaRPr lang="en-US" sz="1500" dirty="0"/>
          </a:p>
        </p:txBody>
      </p:sp>
      <p:sp>
        <p:nvSpPr>
          <p:cNvPr id="17" name="Text 13"/>
          <p:cNvSpPr txBox="1"/>
          <p:nvPr/>
        </p:nvSpPr>
        <p:spPr>
          <a:xfrm>
            <a:off x="5632704" y="2523744"/>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总体架构 / 五大子系统 / 场景流程模拟 / 跨场景联动</a:t>
            </a:r>
            <a:endParaRPr lang="en-US" sz="1050" dirty="0"/>
          </a:p>
        </p:txBody>
      </p:sp>
      <p:sp>
        <p:nvSpPr>
          <p:cNvPr id="18" name="Shape 14"/>
          <p:cNvSpPr/>
          <p:nvPr/>
        </p:nvSpPr>
        <p:spPr>
          <a:xfrm>
            <a:off x="4224528" y="3054096"/>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5"/>
          <p:cNvSpPr/>
          <p:nvPr/>
        </p:nvSpPr>
        <p:spPr>
          <a:xfrm>
            <a:off x="4443984" y="3246120"/>
            <a:ext cx="438912" cy="438912"/>
          </a:xfrm>
          <a:prstGeom prst="ellipse">
            <a:avLst/>
          </a:prstGeom>
          <a:solidFill>
            <a:srgbClr val="0E2340"/>
          </a:solidFill>
          <a:ln/>
        </p:spPr>
      </p:sp>
      <p:pic>
        <p:nvPicPr>
          <p:cNvPr id="20" name="Image 2" descr="preencoded.png">    </p:cNvPr>
          <p:cNvPicPr>
            <a:picLocks noChangeAspect="1"/>
          </p:cNvPicPr>
          <p:nvPr/>
        </p:nvPicPr>
        <p:blipFill>
          <a:blip r:embed="rId3"/>
          <a:stretch>
            <a:fillRect/>
          </a:stretch>
        </p:blipFill>
        <p:spPr>
          <a:xfrm>
            <a:off x="4562490" y="3364626"/>
            <a:ext cx="201900" cy="201900"/>
          </a:xfrm>
          <a:prstGeom prst="rect">
            <a:avLst/>
          </a:prstGeom>
        </p:spPr>
      </p:pic>
      <p:sp>
        <p:nvSpPr>
          <p:cNvPr id="21" name="Text 16"/>
          <p:cNvSpPr txBox="1"/>
          <p:nvPr/>
        </p:nvSpPr>
        <p:spPr>
          <a:xfrm>
            <a:off x="5029200" y="3236976"/>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03</a:t>
            </a:r>
            <a:endParaRPr lang="en-US" sz="2200" dirty="0"/>
          </a:p>
        </p:txBody>
      </p:sp>
      <p:sp>
        <p:nvSpPr>
          <p:cNvPr id="22" name="Text 17"/>
          <p:cNvSpPr txBox="1"/>
          <p:nvPr/>
        </p:nvSpPr>
        <p:spPr>
          <a:xfrm>
            <a:off x="5632704" y="3200400"/>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项目技术方案</a:t>
            </a:r>
            <a:endParaRPr lang="en-US" sz="1500" dirty="0"/>
          </a:p>
        </p:txBody>
      </p:sp>
      <p:sp>
        <p:nvSpPr>
          <p:cNvPr id="23" name="Text 18"/>
          <p:cNvSpPr txBox="1"/>
          <p:nvPr/>
        </p:nvSpPr>
        <p:spPr>
          <a:xfrm>
            <a:off x="5632704" y="3493008"/>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技术架构 / 集成 / 部署 / 资源 / 安全合规</a:t>
            </a:r>
            <a:endParaRPr lang="en-US" sz="1050" dirty="0"/>
          </a:p>
        </p:txBody>
      </p:sp>
      <p:sp>
        <p:nvSpPr>
          <p:cNvPr id="24" name="Shape 19"/>
          <p:cNvSpPr/>
          <p:nvPr/>
        </p:nvSpPr>
        <p:spPr>
          <a:xfrm>
            <a:off x="4224528" y="4023360"/>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0"/>
          <p:cNvSpPr/>
          <p:nvPr/>
        </p:nvSpPr>
        <p:spPr>
          <a:xfrm>
            <a:off x="4443984" y="4215384"/>
            <a:ext cx="438912" cy="438912"/>
          </a:xfrm>
          <a:prstGeom prst="ellipse">
            <a:avLst/>
          </a:prstGeom>
          <a:solidFill>
            <a:srgbClr val="0E2340"/>
          </a:solidFill>
          <a:ln/>
        </p:spPr>
      </p:sp>
      <p:pic>
        <p:nvPicPr>
          <p:cNvPr id="26" name="Image 3" descr="preencoded.png">    </p:cNvPr>
          <p:cNvPicPr>
            <a:picLocks noChangeAspect="1"/>
          </p:cNvPicPr>
          <p:nvPr/>
        </p:nvPicPr>
        <p:blipFill>
          <a:blip r:embed="rId4"/>
          <a:stretch>
            <a:fillRect/>
          </a:stretch>
        </p:blipFill>
        <p:spPr>
          <a:xfrm>
            <a:off x="4562490" y="4333890"/>
            <a:ext cx="201900" cy="201900"/>
          </a:xfrm>
          <a:prstGeom prst="rect">
            <a:avLst/>
          </a:prstGeom>
        </p:spPr>
      </p:pic>
      <p:sp>
        <p:nvSpPr>
          <p:cNvPr id="27" name="Text 21"/>
          <p:cNvSpPr txBox="1"/>
          <p:nvPr/>
        </p:nvSpPr>
        <p:spPr>
          <a:xfrm>
            <a:off x="5029200" y="4206240"/>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04</a:t>
            </a:r>
            <a:endParaRPr lang="en-US" sz="2200" dirty="0"/>
          </a:p>
        </p:txBody>
      </p:sp>
      <p:sp>
        <p:nvSpPr>
          <p:cNvPr id="28" name="Text 22"/>
          <p:cNvSpPr txBox="1"/>
          <p:nvPr/>
        </p:nvSpPr>
        <p:spPr>
          <a:xfrm>
            <a:off x="5632704" y="4169664"/>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项目实施保障</a:t>
            </a:r>
            <a:endParaRPr lang="en-US" sz="1500" dirty="0"/>
          </a:p>
        </p:txBody>
      </p:sp>
      <p:sp>
        <p:nvSpPr>
          <p:cNvPr id="29" name="Text 23"/>
          <p:cNvSpPr txBox="1"/>
          <p:nvPr/>
        </p:nvSpPr>
        <p:spPr>
          <a:xfrm>
            <a:off x="5632704" y="4462272"/>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计划 / 组织与人力 / 交付物 / 风险 / 运维</a:t>
            </a:r>
            <a:endParaRPr lang="en-US" sz="1050" dirty="0"/>
          </a:p>
        </p:txBody>
      </p:sp>
      <p:sp>
        <p:nvSpPr>
          <p:cNvPr id="30" name="Shape 24"/>
          <p:cNvSpPr/>
          <p:nvPr/>
        </p:nvSpPr>
        <p:spPr>
          <a:xfrm>
            <a:off x="4224528" y="4992624"/>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5"/>
          <p:cNvSpPr/>
          <p:nvPr/>
        </p:nvSpPr>
        <p:spPr>
          <a:xfrm>
            <a:off x="4443984" y="5184648"/>
            <a:ext cx="438912" cy="438912"/>
          </a:xfrm>
          <a:prstGeom prst="ellipse">
            <a:avLst/>
          </a:prstGeom>
          <a:solidFill>
            <a:srgbClr val="0E2340"/>
          </a:solidFill>
          <a:ln/>
        </p:spPr>
      </p:sp>
      <p:pic>
        <p:nvPicPr>
          <p:cNvPr id="32" name="Image 4" descr="preencoded.png">    </p:cNvPr>
          <p:cNvPicPr>
            <a:picLocks noChangeAspect="1"/>
          </p:cNvPicPr>
          <p:nvPr/>
        </p:nvPicPr>
        <p:blipFill>
          <a:blip r:embed="rId5"/>
          <a:stretch>
            <a:fillRect/>
          </a:stretch>
        </p:blipFill>
        <p:spPr>
          <a:xfrm>
            <a:off x="4562490" y="5303154"/>
            <a:ext cx="201900" cy="201900"/>
          </a:xfrm>
          <a:prstGeom prst="rect">
            <a:avLst/>
          </a:prstGeom>
        </p:spPr>
      </p:pic>
      <p:sp>
        <p:nvSpPr>
          <p:cNvPr id="33" name="Text 26"/>
          <p:cNvSpPr txBox="1"/>
          <p:nvPr/>
        </p:nvSpPr>
        <p:spPr>
          <a:xfrm>
            <a:off x="5029200" y="5175504"/>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05</a:t>
            </a:r>
            <a:endParaRPr lang="en-US" sz="2200" dirty="0"/>
          </a:p>
        </p:txBody>
      </p:sp>
      <p:sp>
        <p:nvSpPr>
          <p:cNvPr id="34" name="Text 27"/>
          <p:cNvSpPr txBox="1"/>
          <p:nvPr/>
        </p:nvSpPr>
        <p:spPr>
          <a:xfrm>
            <a:off x="5632704" y="5138928"/>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联想差异化优势</a:t>
            </a:r>
            <a:endParaRPr lang="en-US" sz="1500" dirty="0"/>
          </a:p>
        </p:txBody>
      </p:sp>
      <p:sp>
        <p:nvSpPr>
          <p:cNvPr id="35" name="Text 28"/>
          <p:cNvSpPr txBox="1"/>
          <p:nvPr/>
        </p:nvSpPr>
        <p:spPr>
          <a:xfrm>
            <a:off x="5632704" y="5431536"/>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母本工厂 / 跨境合规 / 全球化与 AI / 优势总结</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项目需求理解</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现状和痛点</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建设目标</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建设范围</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预期成效和价值</a:t>
            </a:r>
            <a:endParaRPr lang="en-US" sz="1300" dirty="0"/>
          </a:p>
        </p:txBody>
      </p:sp>
      <p:sp>
        <p:nvSpPr>
          <p:cNvPr id="13" name="Shape 11"/>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4"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需求理解总览：一图读懂阳光电源智慧园区一期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以产业园为试点、补齐五大子系统、打通四类存量数据、预留集团化复制接口</a:t>
            </a:r>
            <a:endParaRPr lang="en-US" sz="1250" dirty="0"/>
          </a:p>
        </p:txBody>
      </p:sp>
      <p:sp>
        <p:nvSpPr>
          <p:cNvPr id="5" name="Shape 3"/>
          <p:cNvSpPr/>
          <p:nvPr/>
        </p:nvSpPr>
        <p:spPr>
          <a:xfrm>
            <a:off x="530352"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6" name="Text 4"/>
          <p:cNvSpPr txBox="1"/>
          <p:nvPr/>
        </p:nvSpPr>
        <p:spPr>
          <a:xfrm>
            <a:off x="640080"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60</a:t>
            </a:r>
            <a:pPr algn="ctr" indent="0" marL="0">
              <a:buNone/>
            </a:pPr>
            <a:r>
              <a:rPr lang="en-US" sz="1200" b="1" dirty="0">
                <a:solidFill>
                  <a:srgbClr val="F97B00"/>
                </a:solidFill>
                <a:latin typeface="Calibri" pitchFamily="34" charset="0"/>
                <a:ea typeface="Calibri" pitchFamily="34" charset="-122"/>
                <a:cs typeface="Calibri" pitchFamily="34" charset="-120"/>
              </a:rPr>
              <a:t> 万㎡</a:t>
            </a:r>
            <a:endParaRPr lang="en-US" sz="3400" dirty="0"/>
          </a:p>
        </p:txBody>
      </p:sp>
      <p:sp>
        <p:nvSpPr>
          <p:cNvPr id="7" name="Text 5"/>
          <p:cNvSpPr txBox="1"/>
          <p:nvPr/>
        </p:nvSpPr>
        <p:spPr>
          <a:xfrm>
            <a:off x="640080"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产业园全域实施范围</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覆盖生产/研发/仓储/危化/宿舍</a:t>
            </a:r>
            <a:endParaRPr lang="en-US" sz="1000" dirty="0"/>
          </a:p>
        </p:txBody>
      </p:sp>
      <p:sp>
        <p:nvSpPr>
          <p:cNvPr id="8" name="Shape 6"/>
          <p:cNvSpPr/>
          <p:nvPr/>
        </p:nvSpPr>
        <p:spPr>
          <a:xfrm>
            <a:off x="280044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9" name="Text 7"/>
          <p:cNvSpPr txBox="1"/>
          <p:nvPr/>
        </p:nvSpPr>
        <p:spPr>
          <a:xfrm>
            <a:off x="291016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5</a:t>
            </a:r>
            <a:pPr algn="ctr" indent="0" marL="0">
              <a:buNone/>
            </a:pPr>
            <a:r>
              <a:rPr lang="en-US" sz="1200" b="1" dirty="0">
                <a:solidFill>
                  <a:srgbClr val="F97B00"/>
                </a:solidFill>
                <a:latin typeface="Calibri" pitchFamily="34" charset="0"/>
                <a:ea typeface="Calibri" pitchFamily="34" charset="-122"/>
                <a:cs typeface="Calibri" pitchFamily="34" charset="-120"/>
              </a:rPr>
              <a:t> 大子系统</a:t>
            </a:r>
            <a:endParaRPr lang="en-US" sz="3400" dirty="0"/>
          </a:p>
        </p:txBody>
      </p:sp>
      <p:sp>
        <p:nvSpPr>
          <p:cNvPr id="10" name="Text 8"/>
          <p:cNvSpPr txBox="1"/>
          <p:nvPr/>
        </p:nvSpPr>
        <p:spPr>
          <a:xfrm>
            <a:off x="2910169"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智慧物流·消防·安防</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宿舍管理·外协管理</a:t>
            </a:r>
            <a:endParaRPr lang="en-US" sz="1000" dirty="0"/>
          </a:p>
        </p:txBody>
      </p:sp>
      <p:sp>
        <p:nvSpPr>
          <p:cNvPr id="11" name="Shape 9"/>
          <p:cNvSpPr/>
          <p:nvPr/>
        </p:nvSpPr>
        <p:spPr>
          <a:xfrm>
            <a:off x="507053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518025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12</a:t>
            </a:r>
            <a:pPr algn="ctr" indent="0" marL="0">
              <a:buNone/>
            </a:pPr>
            <a:r>
              <a:rPr lang="en-US" sz="1200" b="1" dirty="0">
                <a:solidFill>
                  <a:srgbClr val="F97B00"/>
                </a:solidFill>
                <a:latin typeface="Calibri" pitchFamily="34" charset="0"/>
                <a:ea typeface="Calibri" pitchFamily="34" charset="-122"/>
                <a:cs typeface="Calibri" pitchFamily="34" charset="-120"/>
              </a:rPr>
              <a:t> 个园区</a:t>
            </a:r>
            <a:endParaRPr lang="en-US" sz="3400" dirty="0"/>
          </a:p>
        </p:txBody>
      </p:sp>
      <p:sp>
        <p:nvSpPr>
          <p:cNvPr id="13" name="Text 11"/>
          <p:cNvSpPr txBox="1"/>
          <p:nvPr/>
        </p:nvSpPr>
        <p:spPr>
          <a:xfrm>
            <a:off x="5180259"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跨园区车辆调度一期上线</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其余模块预留接入</a:t>
            </a:r>
            <a:endParaRPr lang="en-US" sz="1000" dirty="0"/>
          </a:p>
        </p:txBody>
      </p:sp>
      <p:sp>
        <p:nvSpPr>
          <p:cNvPr id="14" name="Shape 12"/>
          <p:cNvSpPr/>
          <p:nvPr/>
        </p:nvSpPr>
        <p:spPr>
          <a:xfrm>
            <a:off x="734062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5" name="Text 13"/>
          <p:cNvSpPr txBox="1"/>
          <p:nvPr/>
        </p:nvSpPr>
        <p:spPr>
          <a:xfrm>
            <a:off x="745034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15</a:t>
            </a:r>
            <a:pPr algn="ctr" indent="0" marL="0">
              <a:buNone/>
            </a:pPr>
            <a:r>
              <a:rPr lang="en-US" sz="1200" b="1" dirty="0">
                <a:solidFill>
                  <a:srgbClr val="F97B00"/>
                </a:solidFill>
                <a:latin typeface="Calibri" pitchFamily="34" charset="0"/>
                <a:ea typeface="Calibri" pitchFamily="34" charset="-122"/>
                <a:cs typeface="Calibri" pitchFamily="34" charset="-120"/>
              </a:rPr>
              <a:t> 类系统</a:t>
            </a:r>
            <a:endParaRPr lang="en-US" sz="3400" dirty="0"/>
          </a:p>
        </p:txBody>
      </p:sp>
      <p:sp>
        <p:nvSpPr>
          <p:cNvPr id="16" name="Text 14"/>
          <p:cNvSpPr txBox="1"/>
          <p:nvPr/>
        </p:nvSpPr>
        <p:spPr>
          <a:xfrm>
            <a:off x="7450348"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经 ESB 统一集成</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MDM/BPM/EHS/WMS/SRM…</a:t>
            </a:r>
            <a:endParaRPr lang="en-US" sz="1000" dirty="0"/>
          </a:p>
        </p:txBody>
      </p:sp>
      <p:sp>
        <p:nvSpPr>
          <p:cNvPr id="17" name="Shape 15"/>
          <p:cNvSpPr/>
          <p:nvPr/>
        </p:nvSpPr>
        <p:spPr>
          <a:xfrm>
            <a:off x="961071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972043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9</a:t>
            </a:r>
            <a:pPr algn="ctr" indent="0" marL="0">
              <a:buNone/>
            </a:pPr>
            <a:r>
              <a:rPr lang="en-US" sz="1200" b="1" dirty="0">
                <a:solidFill>
                  <a:srgbClr val="F97B00"/>
                </a:solidFill>
                <a:latin typeface="Calibri" pitchFamily="34" charset="0"/>
                <a:ea typeface="Calibri" pitchFamily="34" charset="-122"/>
                <a:cs typeface="Calibri" pitchFamily="34" charset="-120"/>
              </a:rPr>
              <a:t> 个月</a:t>
            </a:r>
            <a:endParaRPr lang="en-US" sz="3400" dirty="0"/>
          </a:p>
        </p:txBody>
      </p:sp>
      <p:sp>
        <p:nvSpPr>
          <p:cNvPr id="19" name="Text 17"/>
          <p:cNvSpPr txBox="1"/>
          <p:nvPr/>
        </p:nvSpPr>
        <p:spPr>
          <a:xfrm>
            <a:off x="9720438"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2026.9.20 启动</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6 月开发 + 3 月陪跑</a:t>
            </a:r>
            <a:endParaRPr lang="en-US" sz="1000" dirty="0"/>
          </a:p>
        </p:txBody>
      </p:sp>
      <p:sp>
        <p:nvSpPr>
          <p:cNvPr id="20" name="Shape 18"/>
          <p:cNvSpPr/>
          <p:nvPr/>
        </p:nvSpPr>
        <p:spPr>
          <a:xfrm>
            <a:off x="530352" y="2939796"/>
            <a:ext cx="68580" cy="173736"/>
          </a:xfrm>
          <a:prstGeom prst="rect">
            <a:avLst/>
          </a:prstGeom>
          <a:solidFill>
            <a:srgbClr val="F97B00"/>
          </a:solidFill>
          <a:ln/>
        </p:spPr>
      </p:sp>
      <p:sp>
        <p:nvSpPr>
          <p:cNvPr id="21" name="Text 19"/>
          <p:cNvSpPr txBox="1"/>
          <p:nvPr/>
        </p:nvSpPr>
        <p:spPr>
          <a:xfrm>
            <a:off x="685800" y="288950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三大核心任务</a:t>
            </a:r>
            <a:endParaRPr lang="en-US" sz="1250" dirty="0"/>
          </a:p>
        </p:txBody>
      </p:sp>
      <p:sp>
        <p:nvSpPr>
          <p:cNvPr id="22" name="Shape 20"/>
          <p:cNvSpPr/>
          <p:nvPr/>
        </p:nvSpPr>
        <p:spPr>
          <a:xfrm>
            <a:off x="530352"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31520" y="3438144"/>
            <a:ext cx="475488" cy="475488"/>
          </a:xfrm>
          <a:prstGeom prst="ellipse">
            <a:avLst/>
          </a:prstGeom>
          <a:solidFill>
            <a:srgbClr val="F97B00"/>
          </a:solidFill>
          <a:ln/>
        </p:spPr>
      </p:sp>
      <p:pic>
        <p:nvPicPr>
          <p:cNvPr id="24" name="Image 0" descr="preencoded.png">    </p:cNvPr>
          <p:cNvPicPr>
            <a:picLocks noChangeAspect="1"/>
          </p:cNvPicPr>
          <p:nvPr/>
        </p:nvPicPr>
        <p:blipFill>
          <a:blip r:embed="rId1"/>
          <a:stretch>
            <a:fillRect/>
          </a:stretch>
        </p:blipFill>
        <p:spPr>
          <a:xfrm>
            <a:off x="859902" y="3566526"/>
            <a:ext cx="218724" cy="218724"/>
          </a:xfrm>
          <a:prstGeom prst="rect">
            <a:avLst/>
          </a:prstGeom>
        </p:spPr>
      </p:pic>
      <p:sp>
        <p:nvSpPr>
          <p:cNvPr id="25" name="Text 22"/>
          <p:cNvSpPr txBox="1"/>
          <p:nvPr/>
        </p:nvSpPr>
        <p:spPr>
          <a:xfrm>
            <a:off x="1316736"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补齐子系统</a:t>
            </a:r>
            <a:endParaRPr lang="en-US" sz="1300" dirty="0"/>
          </a:p>
        </p:txBody>
      </p:sp>
      <p:sp>
        <p:nvSpPr>
          <p:cNvPr id="26" name="Text 23"/>
          <p:cNvSpPr txBox="1"/>
          <p:nvPr/>
        </p:nvSpPr>
        <p:spPr>
          <a:xfrm>
            <a:off x="1316736"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智慧物流、智慧消防、智慧安防、宿舍管理、外协人员管理五大空白模块一次补齐</a:t>
            </a:r>
            <a:endParaRPr lang="en-US" sz="1000" dirty="0"/>
          </a:p>
        </p:txBody>
      </p:sp>
      <p:sp>
        <p:nvSpPr>
          <p:cNvPr id="27" name="Shape 24"/>
          <p:cNvSpPr/>
          <p:nvPr/>
        </p:nvSpPr>
        <p:spPr>
          <a:xfrm>
            <a:off x="4352544"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5"/>
          <p:cNvSpPr/>
          <p:nvPr/>
        </p:nvSpPr>
        <p:spPr>
          <a:xfrm>
            <a:off x="4553712" y="3438144"/>
            <a:ext cx="475488" cy="475488"/>
          </a:xfrm>
          <a:prstGeom prst="ellipse">
            <a:avLst/>
          </a:prstGeom>
          <a:solidFill>
            <a:srgbClr val="F97B00"/>
          </a:solidFill>
          <a:ln/>
        </p:spPr>
      </p:sp>
      <p:pic>
        <p:nvPicPr>
          <p:cNvPr id="29" name="Image 1" descr="preencoded.png">    </p:cNvPr>
          <p:cNvPicPr>
            <a:picLocks noChangeAspect="1"/>
          </p:cNvPicPr>
          <p:nvPr/>
        </p:nvPicPr>
        <p:blipFill>
          <a:blip r:embed="rId2"/>
          <a:stretch>
            <a:fillRect/>
          </a:stretch>
        </p:blipFill>
        <p:spPr>
          <a:xfrm>
            <a:off x="4682094" y="3566526"/>
            <a:ext cx="218724" cy="218724"/>
          </a:xfrm>
          <a:prstGeom prst="rect">
            <a:avLst/>
          </a:prstGeom>
        </p:spPr>
      </p:pic>
      <p:sp>
        <p:nvSpPr>
          <p:cNvPr id="30" name="Text 26"/>
          <p:cNvSpPr txBox="1"/>
          <p:nvPr/>
        </p:nvSpPr>
        <p:spPr>
          <a:xfrm>
            <a:off x="5138928"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打通数据</a:t>
            </a:r>
            <a:endParaRPr lang="en-US" sz="1300" dirty="0"/>
          </a:p>
        </p:txBody>
      </p:sp>
      <p:sp>
        <p:nvSpPr>
          <p:cNvPr id="31" name="Text 27"/>
          <p:cNvSpPr txBox="1"/>
          <p:nvPr/>
        </p:nvSpPr>
        <p:spPr>
          <a:xfrm>
            <a:off x="5138928"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打通访客、空间、停车、食堂等既有独立系统数据，形成统一园区数据底座</a:t>
            </a:r>
            <a:endParaRPr lang="en-US" sz="1000" dirty="0"/>
          </a:p>
        </p:txBody>
      </p:sp>
      <p:sp>
        <p:nvSpPr>
          <p:cNvPr id="32" name="Shape 28"/>
          <p:cNvSpPr/>
          <p:nvPr/>
        </p:nvSpPr>
        <p:spPr>
          <a:xfrm>
            <a:off x="8174736"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9"/>
          <p:cNvSpPr/>
          <p:nvPr/>
        </p:nvSpPr>
        <p:spPr>
          <a:xfrm>
            <a:off x="8375904" y="3438144"/>
            <a:ext cx="475488" cy="475488"/>
          </a:xfrm>
          <a:prstGeom prst="ellipse">
            <a:avLst/>
          </a:prstGeom>
          <a:solidFill>
            <a:srgbClr val="F97B00"/>
          </a:solidFill>
          <a:ln/>
        </p:spPr>
      </p:sp>
      <p:pic>
        <p:nvPicPr>
          <p:cNvPr id="34" name="Image 2" descr="preencoded.png">    </p:cNvPr>
          <p:cNvPicPr>
            <a:picLocks noChangeAspect="1"/>
          </p:cNvPicPr>
          <p:nvPr/>
        </p:nvPicPr>
        <p:blipFill>
          <a:blip r:embed="rId3"/>
          <a:stretch>
            <a:fillRect/>
          </a:stretch>
        </p:blipFill>
        <p:spPr>
          <a:xfrm>
            <a:off x="8504286" y="3566526"/>
            <a:ext cx="218724" cy="218724"/>
          </a:xfrm>
          <a:prstGeom prst="rect">
            <a:avLst/>
          </a:prstGeom>
        </p:spPr>
      </p:pic>
      <p:sp>
        <p:nvSpPr>
          <p:cNvPr id="35" name="Text 30"/>
          <p:cNvSpPr txBox="1"/>
          <p:nvPr/>
        </p:nvSpPr>
        <p:spPr>
          <a:xfrm>
            <a:off x="8961120"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预留复制</a:t>
            </a:r>
            <a:endParaRPr lang="en-US" sz="1300" dirty="0"/>
          </a:p>
        </p:txBody>
      </p:sp>
      <p:sp>
        <p:nvSpPr>
          <p:cNvPr id="36" name="Text 31"/>
          <p:cNvSpPr txBox="1"/>
          <p:nvPr/>
        </p:nvSpPr>
        <p:spPr>
          <a:xfrm>
            <a:off x="8961120"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建立"总部—区域—多类型园区"三级架构，模块化复制推广至其余园区</a:t>
            </a:r>
            <a:endParaRPr lang="en-US" sz="1000" dirty="0"/>
          </a:p>
        </p:txBody>
      </p:sp>
      <p:sp>
        <p:nvSpPr>
          <p:cNvPr id="37" name="Shape 32"/>
          <p:cNvSpPr/>
          <p:nvPr/>
        </p:nvSpPr>
        <p:spPr>
          <a:xfrm>
            <a:off x="530352" y="4677156"/>
            <a:ext cx="68580" cy="173736"/>
          </a:xfrm>
          <a:prstGeom prst="rect">
            <a:avLst/>
          </a:prstGeom>
          <a:solidFill>
            <a:srgbClr val="F97B00"/>
          </a:solidFill>
          <a:ln/>
        </p:spPr>
      </p:sp>
      <p:sp>
        <p:nvSpPr>
          <p:cNvPr id="38" name="Text 33"/>
          <p:cNvSpPr txBox="1"/>
          <p:nvPr/>
        </p:nvSpPr>
        <p:spPr>
          <a:xfrm>
            <a:off x="685800" y="462686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本方案对以下关键议题的落地安排</a:t>
            </a:r>
            <a:endParaRPr lang="en-US" sz="1250" dirty="0"/>
          </a:p>
        </p:txBody>
      </p:sp>
      <p:sp>
        <p:nvSpPr>
          <p:cNvPr id="39" name="Shape 34"/>
          <p:cNvSpPr/>
          <p:nvPr/>
        </p:nvSpPr>
        <p:spPr>
          <a:xfrm>
            <a:off x="530352" y="4974336"/>
            <a:ext cx="3639312" cy="475488"/>
          </a:xfrm>
          <a:prstGeom prst="roundRect">
            <a:avLst>
              <a:gd name="adj" fmla="val 6731"/>
            </a:avLst>
          </a:prstGeom>
          <a:solidFill>
            <a:srgbClr val="FFF7EF"/>
          </a:solidFill>
          <a:ln w="9525">
            <a:solidFill>
              <a:srgbClr val="F6DCC2"/>
            </a:solidFill>
            <a:prstDash val="solid"/>
          </a:ln>
        </p:spPr>
      </p:sp>
      <p:sp>
        <p:nvSpPr>
          <p:cNvPr id="40" name="Text 35"/>
          <p:cNvSpPr txBox="1"/>
          <p:nvPr/>
        </p:nvSpPr>
        <p:spPr>
          <a:xfrm>
            <a:off x="658368"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1" name="Text 36"/>
          <p:cNvSpPr txBox="1"/>
          <p:nvPr/>
        </p:nvSpPr>
        <p:spPr>
          <a:xfrm>
            <a:off x="932688"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场内物流 + 跨园区调度为重点难点，方案给出量化目标</a:t>
            </a:r>
            <a:endParaRPr lang="en-US" sz="1000" dirty="0"/>
          </a:p>
        </p:txBody>
      </p:sp>
      <p:sp>
        <p:nvSpPr>
          <p:cNvPr id="42" name="Shape 37"/>
          <p:cNvSpPr/>
          <p:nvPr/>
        </p:nvSpPr>
        <p:spPr>
          <a:xfrm>
            <a:off x="4352544" y="4974336"/>
            <a:ext cx="3639312" cy="475488"/>
          </a:xfrm>
          <a:prstGeom prst="roundRect">
            <a:avLst>
              <a:gd name="adj" fmla="val 6731"/>
            </a:avLst>
          </a:prstGeom>
          <a:solidFill>
            <a:srgbClr val="FFF7EF"/>
          </a:solidFill>
          <a:ln w="9525">
            <a:solidFill>
              <a:srgbClr val="F6DCC2"/>
            </a:solidFill>
            <a:prstDash val="solid"/>
          </a:ln>
        </p:spPr>
      </p:sp>
      <p:sp>
        <p:nvSpPr>
          <p:cNvPr id="43" name="Text 38"/>
          <p:cNvSpPr txBox="1"/>
          <p:nvPr/>
        </p:nvSpPr>
        <p:spPr>
          <a:xfrm>
            <a:off x="4480560"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4" name="Text 39"/>
          <p:cNvSpPr txBox="1"/>
          <p:nvPr/>
        </p:nvSpPr>
        <p:spPr>
          <a:xfrm>
            <a:off x="4754880"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工单统一入池、分级分类、闭环管理、按角色隔离数据权限</a:t>
            </a:r>
            <a:endParaRPr lang="en-US" sz="1000" dirty="0"/>
          </a:p>
        </p:txBody>
      </p:sp>
      <p:sp>
        <p:nvSpPr>
          <p:cNvPr id="45" name="Shape 40"/>
          <p:cNvSpPr/>
          <p:nvPr/>
        </p:nvSpPr>
        <p:spPr>
          <a:xfrm>
            <a:off x="8174736" y="4974336"/>
            <a:ext cx="3639312" cy="475488"/>
          </a:xfrm>
          <a:prstGeom prst="roundRect">
            <a:avLst>
              <a:gd name="adj" fmla="val 6731"/>
            </a:avLst>
          </a:prstGeom>
          <a:solidFill>
            <a:srgbClr val="FFF7EF"/>
          </a:solidFill>
          <a:ln w="9525">
            <a:solidFill>
              <a:srgbClr val="F6DCC2"/>
            </a:solidFill>
            <a:prstDash val="solid"/>
          </a:ln>
        </p:spPr>
      </p:sp>
      <p:sp>
        <p:nvSpPr>
          <p:cNvPr id="46" name="Text 41"/>
          <p:cNvSpPr txBox="1"/>
          <p:nvPr/>
        </p:nvSpPr>
        <p:spPr>
          <a:xfrm>
            <a:off x="8302752"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7" name="Text 42"/>
          <p:cNvSpPr txBox="1"/>
          <p:nvPr/>
        </p:nvSpPr>
        <p:spPr>
          <a:xfrm>
            <a:off x="8577072"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外协服务质量管理（物业/餐饮/超市/维修）不缺项</a:t>
            </a:r>
            <a:endParaRPr lang="en-US" sz="1000" dirty="0"/>
          </a:p>
        </p:txBody>
      </p:sp>
      <p:sp>
        <p:nvSpPr>
          <p:cNvPr id="48" name="Shape 43"/>
          <p:cNvSpPr/>
          <p:nvPr/>
        </p:nvSpPr>
        <p:spPr>
          <a:xfrm>
            <a:off x="530352" y="5541264"/>
            <a:ext cx="3639312" cy="475488"/>
          </a:xfrm>
          <a:prstGeom prst="roundRect">
            <a:avLst>
              <a:gd name="adj" fmla="val 6731"/>
            </a:avLst>
          </a:prstGeom>
          <a:solidFill>
            <a:srgbClr val="FFF7EF"/>
          </a:solidFill>
          <a:ln w="9525">
            <a:solidFill>
              <a:srgbClr val="F6DCC2"/>
            </a:solidFill>
            <a:prstDash val="solid"/>
          </a:ln>
        </p:spPr>
      </p:sp>
      <p:sp>
        <p:nvSpPr>
          <p:cNvPr id="49" name="Text 44"/>
          <p:cNvSpPr txBox="1"/>
          <p:nvPr/>
        </p:nvSpPr>
        <p:spPr>
          <a:xfrm>
            <a:off x="658368"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0" name="Text 45"/>
          <p:cNvSpPr txBox="1"/>
          <p:nvPr/>
        </p:nvSpPr>
        <p:spPr>
          <a:xfrm>
            <a:off x="932688"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无人机巡检定位为固定摄像头补充与应急手段</a:t>
            </a:r>
            <a:endParaRPr lang="en-US" sz="1000" dirty="0"/>
          </a:p>
        </p:txBody>
      </p:sp>
      <p:sp>
        <p:nvSpPr>
          <p:cNvPr id="51" name="Shape 46"/>
          <p:cNvSpPr/>
          <p:nvPr/>
        </p:nvSpPr>
        <p:spPr>
          <a:xfrm>
            <a:off x="4352544" y="5541264"/>
            <a:ext cx="3639312" cy="475488"/>
          </a:xfrm>
          <a:prstGeom prst="roundRect">
            <a:avLst>
              <a:gd name="adj" fmla="val 6731"/>
            </a:avLst>
          </a:prstGeom>
          <a:solidFill>
            <a:srgbClr val="FFF7EF"/>
          </a:solidFill>
          <a:ln w="9525">
            <a:solidFill>
              <a:srgbClr val="F6DCC2"/>
            </a:solidFill>
            <a:prstDash val="solid"/>
          </a:ln>
        </p:spPr>
      </p:sp>
      <p:sp>
        <p:nvSpPr>
          <p:cNvPr id="52" name="Text 47"/>
          <p:cNvSpPr txBox="1"/>
          <p:nvPr/>
        </p:nvSpPr>
        <p:spPr>
          <a:xfrm>
            <a:off x="4480560"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3" name="Text 48"/>
          <p:cNvSpPr txBox="1"/>
          <p:nvPr/>
        </p:nvSpPr>
        <p:spPr>
          <a:xfrm>
            <a:off x="4754880"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仅有平面图无 3D 模型：采用轻量化 2.5D 建模路线</a:t>
            </a:r>
            <a:endParaRPr lang="en-US" sz="1000" dirty="0"/>
          </a:p>
        </p:txBody>
      </p:sp>
      <p:sp>
        <p:nvSpPr>
          <p:cNvPr id="54" name="Shape 49"/>
          <p:cNvSpPr/>
          <p:nvPr/>
        </p:nvSpPr>
        <p:spPr>
          <a:xfrm>
            <a:off x="8174736" y="5541264"/>
            <a:ext cx="3639312" cy="475488"/>
          </a:xfrm>
          <a:prstGeom prst="roundRect">
            <a:avLst>
              <a:gd name="adj" fmla="val 6731"/>
            </a:avLst>
          </a:prstGeom>
          <a:solidFill>
            <a:srgbClr val="FFF7EF"/>
          </a:solidFill>
          <a:ln w="9525">
            <a:solidFill>
              <a:srgbClr val="F6DCC2"/>
            </a:solidFill>
            <a:prstDash val="solid"/>
          </a:ln>
        </p:spPr>
      </p:sp>
      <p:sp>
        <p:nvSpPr>
          <p:cNvPr id="55" name="Text 50"/>
          <p:cNvSpPr txBox="1"/>
          <p:nvPr/>
        </p:nvSpPr>
        <p:spPr>
          <a:xfrm>
            <a:off x="8302752"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6" name="Text 51"/>
          <p:cNvSpPr txBox="1"/>
          <p:nvPr/>
        </p:nvSpPr>
        <p:spPr>
          <a:xfrm>
            <a:off x="8577072"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整体规划、分步实施，多园区扩展性与可复制性前置设计</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现状与痛点（一）：信息化孤岛严重，业务难以协同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系统各自独立、数据不通、联动缺失，园区管理停留在"单点解决"阶段</a:t>
            </a:r>
            <a:endParaRPr lang="en-US" sz="1250" dirty="0"/>
          </a:p>
        </p:txBody>
      </p:sp>
      <p:sp>
        <p:nvSpPr>
          <p:cNvPr id="5" name="Shape 3"/>
          <p:cNvSpPr/>
          <p:nvPr/>
        </p:nvSpPr>
        <p:spPr>
          <a:xfrm>
            <a:off x="53035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68096" y="1463040"/>
            <a:ext cx="548640" cy="548640"/>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16229" y="1611173"/>
            <a:ext cx="252374" cy="252374"/>
          </a:xfrm>
          <a:prstGeom prst="rect">
            <a:avLst/>
          </a:prstGeom>
        </p:spPr>
      </p:pic>
      <p:sp>
        <p:nvSpPr>
          <p:cNvPr id="8" name="Text 5"/>
          <p:cNvSpPr txBox="1"/>
          <p:nvPr/>
        </p:nvSpPr>
        <p:spPr>
          <a:xfrm>
            <a:off x="144475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系统分散</a:t>
            </a:r>
            <a:endParaRPr lang="en-US" sz="1400" dirty="0"/>
          </a:p>
        </p:txBody>
      </p:sp>
      <p:sp>
        <p:nvSpPr>
          <p:cNvPr id="9" name="Text 6"/>
          <p:cNvSpPr txBox="1"/>
          <p:nvPr/>
        </p:nvSpPr>
        <p:spPr>
          <a:xfrm>
            <a:off x="1444752" y="1719072"/>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访客、空间、停车、食堂等系统各自独立，数据库不互通，缺乏统一集成，业务数据无法共享</a:t>
            </a:r>
            <a:endParaRPr lang="en-US" sz="1050" dirty="0"/>
          </a:p>
        </p:txBody>
      </p:sp>
      <p:sp>
        <p:nvSpPr>
          <p:cNvPr id="10" name="Shape 7"/>
          <p:cNvSpPr/>
          <p:nvPr/>
        </p:nvSpPr>
        <p:spPr>
          <a:xfrm>
            <a:off x="619963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6437376" y="1463040"/>
            <a:ext cx="548640" cy="548640"/>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6585509" y="1611173"/>
            <a:ext cx="252374" cy="252374"/>
          </a:xfrm>
          <a:prstGeom prst="rect">
            <a:avLst/>
          </a:prstGeom>
        </p:spPr>
      </p:pic>
      <p:sp>
        <p:nvSpPr>
          <p:cNvPr id="13" name="Text 9"/>
          <p:cNvSpPr txBox="1"/>
          <p:nvPr/>
        </p:nvSpPr>
        <p:spPr>
          <a:xfrm>
            <a:off x="711403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业务无法协同</a:t>
            </a:r>
            <a:endParaRPr lang="en-US" sz="1400" dirty="0"/>
          </a:p>
        </p:txBody>
      </p:sp>
      <p:sp>
        <p:nvSpPr>
          <p:cNvPr id="14" name="Text 10"/>
          <p:cNvSpPr txBox="1"/>
          <p:nvPr/>
        </p:nvSpPr>
        <p:spPr>
          <a:xfrm>
            <a:off x="7114032" y="1719072"/>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设备与物联子系统之间融合应用脱节，设备之间的联动应用无法有效发挥</a:t>
            </a:r>
            <a:endParaRPr lang="en-US" sz="1050" dirty="0"/>
          </a:p>
        </p:txBody>
      </p:sp>
      <p:sp>
        <p:nvSpPr>
          <p:cNvPr id="15" name="Shape 11"/>
          <p:cNvSpPr/>
          <p:nvPr/>
        </p:nvSpPr>
        <p:spPr>
          <a:xfrm>
            <a:off x="53035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68096" y="2962656"/>
            <a:ext cx="548640" cy="548640"/>
          </a:xfrm>
          <a:prstGeom prst="ellipse">
            <a:avLst/>
          </a:prstGeom>
          <a:solidFill>
            <a:srgbClr val="0E2340"/>
          </a:solidFill>
          <a:ln/>
        </p:spPr>
      </p:sp>
      <p:pic>
        <p:nvPicPr>
          <p:cNvPr id="17" name="Image 2" descr="preencoded.png">    </p:cNvPr>
          <p:cNvPicPr>
            <a:picLocks noChangeAspect="1"/>
          </p:cNvPicPr>
          <p:nvPr/>
        </p:nvPicPr>
        <p:blipFill>
          <a:blip r:embed="rId3"/>
          <a:stretch>
            <a:fillRect/>
          </a:stretch>
        </p:blipFill>
        <p:spPr>
          <a:xfrm>
            <a:off x="916229" y="3110789"/>
            <a:ext cx="252374" cy="252374"/>
          </a:xfrm>
          <a:prstGeom prst="rect">
            <a:avLst/>
          </a:prstGeom>
        </p:spPr>
      </p:pic>
      <p:sp>
        <p:nvSpPr>
          <p:cNvPr id="18" name="Text 13"/>
          <p:cNvSpPr txBox="1"/>
          <p:nvPr/>
        </p:nvSpPr>
        <p:spPr>
          <a:xfrm>
            <a:off x="144475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缺乏数据驱动</a:t>
            </a:r>
            <a:endParaRPr lang="en-US" sz="1400" dirty="0"/>
          </a:p>
        </p:txBody>
      </p:sp>
      <p:sp>
        <p:nvSpPr>
          <p:cNvPr id="19" name="Text 14"/>
          <p:cNvSpPr txBox="1"/>
          <p:nvPr/>
        </p:nvSpPr>
        <p:spPr>
          <a:xfrm>
            <a:off x="1444752" y="3218688"/>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缺少系统化记录与分析调度数据的能力，无法基于历史数据优化调度策略</a:t>
            </a:r>
            <a:endParaRPr lang="en-US" sz="1050" dirty="0"/>
          </a:p>
        </p:txBody>
      </p:sp>
      <p:sp>
        <p:nvSpPr>
          <p:cNvPr id="20" name="Shape 15"/>
          <p:cNvSpPr/>
          <p:nvPr/>
        </p:nvSpPr>
        <p:spPr>
          <a:xfrm>
            <a:off x="619963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6437376" y="2962656"/>
            <a:ext cx="548640" cy="548640"/>
          </a:xfrm>
          <a:prstGeom prst="ellipse">
            <a:avLst/>
          </a:prstGeom>
          <a:solidFill>
            <a:srgbClr val="0E2340"/>
          </a:solidFill>
          <a:ln/>
        </p:spPr>
      </p:sp>
      <p:pic>
        <p:nvPicPr>
          <p:cNvPr id="22" name="Image 3" descr="preencoded.png">    </p:cNvPr>
          <p:cNvPicPr>
            <a:picLocks noChangeAspect="1"/>
          </p:cNvPicPr>
          <p:nvPr/>
        </p:nvPicPr>
        <p:blipFill>
          <a:blip r:embed="rId4"/>
          <a:stretch>
            <a:fillRect/>
          </a:stretch>
        </p:blipFill>
        <p:spPr>
          <a:xfrm>
            <a:off x="6585509" y="3110789"/>
            <a:ext cx="252374" cy="252374"/>
          </a:xfrm>
          <a:prstGeom prst="rect">
            <a:avLst/>
          </a:prstGeom>
        </p:spPr>
      </p:pic>
      <p:sp>
        <p:nvSpPr>
          <p:cNvPr id="23" name="Text 17"/>
          <p:cNvSpPr txBox="1"/>
          <p:nvPr/>
        </p:nvSpPr>
        <p:spPr>
          <a:xfrm>
            <a:off x="711403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响应滞后</a:t>
            </a:r>
            <a:endParaRPr lang="en-US" sz="1400" dirty="0"/>
          </a:p>
        </p:txBody>
      </p:sp>
      <p:sp>
        <p:nvSpPr>
          <p:cNvPr id="24" name="Text 18"/>
          <p:cNvSpPr txBox="1"/>
          <p:nvPr/>
        </p:nvSpPr>
        <p:spPr>
          <a:xfrm>
            <a:off x="7114032" y="3218688"/>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缺乏实时事件弹窗与轨迹追踪，事故需人工回溯录像，追溯耗时且易遗漏关键节点</a:t>
            </a:r>
            <a:endParaRPr lang="en-US" sz="1050" dirty="0"/>
          </a:p>
        </p:txBody>
      </p:sp>
      <p:sp>
        <p:nvSpPr>
          <p:cNvPr id="25" name="Shape 19"/>
          <p:cNvSpPr/>
          <p:nvPr/>
        </p:nvSpPr>
        <p:spPr>
          <a:xfrm>
            <a:off x="530352" y="4224528"/>
            <a:ext cx="11130991" cy="1847088"/>
          </a:xfrm>
          <a:prstGeom prst="roundRect">
            <a:avLst>
              <a:gd name="adj" fmla="val 17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768096" y="4439412"/>
            <a:ext cx="68580" cy="173736"/>
          </a:xfrm>
          <a:prstGeom prst="rect">
            <a:avLst/>
          </a:prstGeom>
          <a:solidFill>
            <a:srgbClr val="F97B00"/>
          </a:solidFill>
          <a:ln/>
        </p:spPr>
      </p:sp>
      <p:sp>
        <p:nvSpPr>
          <p:cNvPr id="27" name="Text 21"/>
          <p:cNvSpPr txBox="1"/>
          <p:nvPr/>
        </p:nvSpPr>
        <p:spPr>
          <a:xfrm>
            <a:off x="923544" y="4389120"/>
            <a:ext cx="7159752"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联想的理解：孤岛的根因不是"缺系统"，而是"缺底座"</a:t>
            </a:r>
            <a:endParaRPr lang="en-US" sz="1300" dirty="0"/>
          </a:p>
        </p:txBody>
      </p:sp>
      <p:sp>
        <p:nvSpPr>
          <p:cNvPr id="28" name="Shape 22"/>
          <p:cNvSpPr/>
          <p:nvPr/>
        </p:nvSpPr>
        <p:spPr>
          <a:xfrm>
            <a:off x="804672" y="4791456"/>
            <a:ext cx="256032" cy="256032"/>
          </a:xfrm>
          <a:prstGeom prst="ellipse">
            <a:avLst/>
          </a:prstGeom>
          <a:solidFill>
            <a:srgbClr val="F97B00"/>
          </a:solidFill>
          <a:ln/>
        </p:spPr>
      </p:sp>
      <p:sp>
        <p:nvSpPr>
          <p:cNvPr id="29" name="Text 23"/>
          <p:cNvSpPr txBox="1"/>
          <p:nvPr/>
        </p:nvSpPr>
        <p:spPr>
          <a:xfrm>
            <a:off x="804672" y="4791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4"/>
          <p:cNvSpPr txBox="1"/>
          <p:nvPr/>
        </p:nvSpPr>
        <p:spPr>
          <a:xfrm>
            <a:off x="1152144" y="4754880"/>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缺统一主数据</a:t>
            </a:r>
            <a:endParaRPr lang="en-US" sz="1150" dirty="0"/>
          </a:p>
        </p:txBody>
      </p:sp>
      <p:sp>
        <p:nvSpPr>
          <p:cNvPr id="31" name="Text 25"/>
          <p:cNvSpPr txBox="1"/>
          <p:nvPr/>
        </p:nvSpPr>
        <p:spPr>
          <a:xfrm>
            <a:off x="2926080" y="4754880"/>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人/车/空间/设备编码口径不一致 → 以 MDM 为源建立园区四类主数据标准</a:t>
            </a:r>
            <a:endParaRPr lang="en-US" sz="1050" dirty="0"/>
          </a:p>
        </p:txBody>
      </p:sp>
      <p:sp>
        <p:nvSpPr>
          <p:cNvPr id="32" name="Shape 26"/>
          <p:cNvSpPr/>
          <p:nvPr/>
        </p:nvSpPr>
        <p:spPr>
          <a:xfrm>
            <a:off x="804672" y="5193792"/>
            <a:ext cx="256032" cy="256032"/>
          </a:xfrm>
          <a:prstGeom prst="ellipse">
            <a:avLst/>
          </a:prstGeom>
          <a:solidFill>
            <a:srgbClr val="F97B00"/>
          </a:solidFill>
          <a:ln/>
        </p:spPr>
      </p:sp>
      <p:sp>
        <p:nvSpPr>
          <p:cNvPr id="33" name="Text 27"/>
          <p:cNvSpPr txBox="1"/>
          <p:nvPr/>
        </p:nvSpPr>
        <p:spPr>
          <a:xfrm>
            <a:off x="804672" y="51937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1152144" y="5157216"/>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缺统一事件中枢</a:t>
            </a:r>
            <a:endParaRPr lang="en-US" sz="1150" dirty="0"/>
          </a:p>
        </p:txBody>
      </p:sp>
      <p:sp>
        <p:nvSpPr>
          <p:cNvPr id="35" name="Text 29"/>
          <p:cNvSpPr txBox="1"/>
          <p:nvPr/>
        </p:nvSpPr>
        <p:spPr>
          <a:xfrm>
            <a:off x="2926080" y="5157216"/>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告警、巡检、报事报修各走各路 → 统一告警接入 + 统一工单池，闭环管理</a:t>
            </a:r>
            <a:endParaRPr lang="en-US" sz="1050" dirty="0"/>
          </a:p>
        </p:txBody>
      </p:sp>
      <p:sp>
        <p:nvSpPr>
          <p:cNvPr id="36" name="Shape 30"/>
          <p:cNvSpPr/>
          <p:nvPr/>
        </p:nvSpPr>
        <p:spPr>
          <a:xfrm>
            <a:off x="804672" y="5596128"/>
            <a:ext cx="256032" cy="256032"/>
          </a:xfrm>
          <a:prstGeom prst="ellipse">
            <a:avLst/>
          </a:prstGeom>
          <a:solidFill>
            <a:srgbClr val="F97B00"/>
          </a:solidFill>
          <a:ln/>
        </p:spPr>
      </p:sp>
      <p:sp>
        <p:nvSpPr>
          <p:cNvPr id="37" name="Text 31"/>
          <p:cNvSpPr txBox="1"/>
          <p:nvPr/>
        </p:nvSpPr>
        <p:spPr>
          <a:xfrm>
            <a:off x="804672" y="55961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2"/>
          <p:cNvSpPr txBox="1"/>
          <p:nvPr/>
        </p:nvSpPr>
        <p:spPr>
          <a:xfrm>
            <a:off x="1152144" y="5559552"/>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缺统一空间语义</a:t>
            </a:r>
            <a:endParaRPr lang="en-US" sz="1150" dirty="0"/>
          </a:p>
        </p:txBody>
      </p:sp>
      <p:sp>
        <p:nvSpPr>
          <p:cNvPr id="39" name="Text 33"/>
          <p:cNvSpPr txBox="1"/>
          <p:nvPr/>
        </p:nvSpPr>
        <p:spPr>
          <a:xfrm>
            <a:off x="2926080" y="5559552"/>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设备位置与业务区域不挂接 → 园区/建筑/楼层/区域四级空间模型统一编码</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现状与痛点（二）：安全与设施管理集成不足，运营效率不高</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消防分散、周界不全、人员多身份、设备多品牌，缺乏统一管理平台</a:t>
            </a:r>
            <a:endParaRPr lang="en-US" sz="1250" dirty="0"/>
          </a:p>
        </p:txBody>
      </p:sp>
      <p:sp>
        <p:nvSpPr>
          <p:cNvPr id="5" name="Shape 3"/>
          <p:cNvSpPr/>
          <p:nvPr/>
        </p:nvSpPr>
        <p:spPr>
          <a:xfrm>
            <a:off x="530352"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389888"/>
            <a:ext cx="3125114" cy="420624"/>
          </a:xfrm>
          <a:prstGeom prst="roundRect">
            <a:avLst>
              <a:gd name="adj" fmla="val 10870"/>
            </a:avLst>
          </a:prstGeom>
          <a:solidFill>
            <a:srgbClr val="F97B00"/>
          </a:solidFill>
          <a:ln/>
        </p:spPr>
      </p:sp>
      <p:sp>
        <p:nvSpPr>
          <p:cNvPr id="7" name="Text 5"/>
          <p:cNvSpPr txBox="1"/>
          <p:nvPr/>
        </p:nvSpPr>
        <p:spPr>
          <a:xfrm>
            <a:off x="749808"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消防及安全管理</a:t>
            </a:r>
            <a:endParaRPr lang="en-US" sz="1300" dirty="0"/>
          </a:p>
        </p:txBody>
      </p:sp>
      <p:sp>
        <p:nvSpPr>
          <p:cNvPr id="8" name="Text 6"/>
          <p:cNvSpPr txBox="1"/>
          <p:nvPr/>
        </p:nvSpPr>
        <p:spPr>
          <a:xfrm>
            <a:off x="768096"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消防系统分散，无法实现统一管理</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周界摄像头覆盖不全，存在盲区</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火情、周界入侵、人员睡岗、明厨亮灶等智能分析预警功能未完善</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消火栓、灭火器等末端设施状态靠人工台账</a:t>
            </a:r>
            <a:endParaRPr lang="en-US" sz="1050" dirty="0"/>
          </a:p>
        </p:txBody>
      </p:sp>
      <p:sp>
        <p:nvSpPr>
          <p:cNvPr id="9" name="Shape 7"/>
          <p:cNvSpPr/>
          <p:nvPr/>
        </p:nvSpPr>
        <p:spPr>
          <a:xfrm>
            <a:off x="4313834"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8"/>
          <p:cNvSpPr/>
          <p:nvPr/>
        </p:nvSpPr>
        <p:spPr>
          <a:xfrm>
            <a:off x="4533290" y="1389888"/>
            <a:ext cx="3125114" cy="420624"/>
          </a:xfrm>
          <a:prstGeom prst="roundRect">
            <a:avLst>
              <a:gd name="adj" fmla="val 10870"/>
            </a:avLst>
          </a:prstGeom>
          <a:solidFill>
            <a:srgbClr val="0E2340"/>
          </a:solidFill>
          <a:ln/>
        </p:spPr>
      </p:sp>
      <p:sp>
        <p:nvSpPr>
          <p:cNvPr id="11" name="Text 9"/>
          <p:cNvSpPr txBox="1"/>
          <p:nvPr/>
        </p:nvSpPr>
        <p:spPr>
          <a:xfrm>
            <a:off x="4533290"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人员管理</a:t>
            </a:r>
            <a:endParaRPr lang="en-US" sz="1300" dirty="0"/>
          </a:p>
        </p:txBody>
      </p:sp>
      <p:sp>
        <p:nvSpPr>
          <p:cNvPr id="12" name="Text 10"/>
          <p:cNvSpPr txBox="1"/>
          <p:nvPr/>
        </p:nvSpPr>
        <p:spPr>
          <a:xfrm>
            <a:off x="4551578"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正式员工、派遣人员、第三方人员、访客管理未统一</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缺乏系统性支持与统一身份口径</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外协单位资质、证件、培训、工单信息分散在 Excel</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违规行为无法关联单位与个人档案</a:t>
            </a:r>
            <a:endParaRPr lang="en-US" sz="1050" dirty="0"/>
          </a:p>
        </p:txBody>
      </p:sp>
      <p:sp>
        <p:nvSpPr>
          <p:cNvPr id="13" name="Shape 11"/>
          <p:cNvSpPr/>
          <p:nvPr/>
        </p:nvSpPr>
        <p:spPr>
          <a:xfrm>
            <a:off x="8097317"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2"/>
          <p:cNvSpPr/>
          <p:nvPr/>
        </p:nvSpPr>
        <p:spPr>
          <a:xfrm>
            <a:off x="8316773" y="1389888"/>
            <a:ext cx="3125114" cy="420624"/>
          </a:xfrm>
          <a:prstGeom prst="roundRect">
            <a:avLst>
              <a:gd name="adj" fmla="val 10870"/>
            </a:avLst>
          </a:prstGeom>
          <a:solidFill>
            <a:srgbClr val="167C80"/>
          </a:solidFill>
          <a:ln/>
        </p:spPr>
      </p:sp>
      <p:sp>
        <p:nvSpPr>
          <p:cNvPr id="15" name="Text 13"/>
          <p:cNvSpPr txBox="1"/>
          <p:nvPr/>
        </p:nvSpPr>
        <p:spPr>
          <a:xfrm>
            <a:off x="8316773"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设备与设施管理</a:t>
            </a:r>
            <a:endParaRPr lang="en-US" sz="1300" dirty="0"/>
          </a:p>
        </p:txBody>
      </p:sp>
      <p:sp>
        <p:nvSpPr>
          <p:cNvPr id="16" name="Text 14"/>
          <p:cNvSpPr txBox="1"/>
          <p:nvPr/>
        </p:nvSpPr>
        <p:spPr>
          <a:xfrm>
            <a:off x="8335061"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消防设备、门禁设备、考勤设备、安防设备功能未实现全面集成</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缺乏统一的设备管理平台与全生命周期档案</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维保计划、点检巡检结果无法沉淀为数据资产</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设备离线、故障无自动诊断与告警</a:t>
            </a:r>
            <a:endParaRPr lang="en-US" sz="1050" dirty="0"/>
          </a:p>
        </p:txBody>
      </p:sp>
      <p:sp>
        <p:nvSpPr>
          <p:cNvPr id="17" name="Shape 15"/>
          <p:cNvSpPr/>
          <p:nvPr/>
        </p:nvSpPr>
        <p:spPr>
          <a:xfrm>
            <a:off x="530352" y="4421124"/>
            <a:ext cx="68580" cy="173736"/>
          </a:xfrm>
          <a:prstGeom prst="rect">
            <a:avLst/>
          </a:prstGeom>
          <a:solidFill>
            <a:srgbClr val="F97B00"/>
          </a:solidFill>
          <a:ln/>
        </p:spPr>
      </p:sp>
      <p:sp>
        <p:nvSpPr>
          <p:cNvPr id="18" name="Text 16"/>
          <p:cNvSpPr txBox="1"/>
          <p:nvPr/>
        </p:nvSpPr>
        <p:spPr>
          <a:xfrm>
            <a:off x="685800" y="4370832"/>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本期需要用一体化平台解决的四个"统一"</a:t>
            </a:r>
            <a:endParaRPr lang="en-US" sz="1250" dirty="0"/>
          </a:p>
        </p:txBody>
      </p:sp>
      <p:sp>
        <p:nvSpPr>
          <p:cNvPr id="19" name="Shape 17"/>
          <p:cNvSpPr/>
          <p:nvPr/>
        </p:nvSpPr>
        <p:spPr>
          <a:xfrm>
            <a:off x="53035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0" name="Text 18"/>
          <p:cNvSpPr txBox="1"/>
          <p:nvPr/>
        </p:nvSpPr>
        <p:spPr>
          <a:xfrm>
            <a:off x="69494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统一身份</a:t>
            </a:r>
            <a:endParaRPr lang="en-US" sz="1600" dirty="0"/>
          </a:p>
        </p:txBody>
      </p:sp>
      <p:sp>
        <p:nvSpPr>
          <p:cNvPr id="21" name="Text 19"/>
          <p:cNvSpPr txBox="1"/>
          <p:nvPr/>
        </p:nvSpPr>
        <p:spPr>
          <a:xfrm>
            <a:off x="69494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员工/派遣/外协/访客</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一套人员主数据</a:t>
            </a:r>
            <a:endParaRPr lang="en-US" sz="1050" dirty="0"/>
          </a:p>
        </p:txBody>
      </p:sp>
      <p:sp>
        <p:nvSpPr>
          <p:cNvPr id="22" name="Shape 20"/>
          <p:cNvSpPr/>
          <p:nvPr/>
        </p:nvSpPr>
        <p:spPr>
          <a:xfrm>
            <a:off x="336339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3" name="Text 21"/>
          <p:cNvSpPr txBox="1"/>
          <p:nvPr/>
        </p:nvSpPr>
        <p:spPr>
          <a:xfrm>
            <a:off x="352798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统一空间</a:t>
            </a:r>
            <a:endParaRPr lang="en-US" sz="1600" dirty="0"/>
          </a:p>
        </p:txBody>
      </p:sp>
      <p:sp>
        <p:nvSpPr>
          <p:cNvPr id="24" name="Text 22"/>
          <p:cNvSpPr txBox="1"/>
          <p:nvPr/>
        </p:nvSpPr>
        <p:spPr>
          <a:xfrm>
            <a:off x="352798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四级空间模型</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设备位置一一映射</a:t>
            </a:r>
            <a:endParaRPr lang="en-US" sz="1050" dirty="0"/>
          </a:p>
        </p:txBody>
      </p:sp>
      <p:sp>
        <p:nvSpPr>
          <p:cNvPr id="25" name="Shape 23"/>
          <p:cNvSpPr/>
          <p:nvPr/>
        </p:nvSpPr>
        <p:spPr>
          <a:xfrm>
            <a:off x="619643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636102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统一事件</a:t>
            </a:r>
            <a:endParaRPr lang="en-US" sz="1600" dirty="0"/>
          </a:p>
        </p:txBody>
      </p:sp>
      <p:sp>
        <p:nvSpPr>
          <p:cNvPr id="27" name="Text 25"/>
          <p:cNvSpPr txBox="1"/>
          <p:nvPr/>
        </p:nvSpPr>
        <p:spPr>
          <a:xfrm>
            <a:off x="636102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火警/告警/隐患/报修</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入同一工单池</a:t>
            </a:r>
            <a:endParaRPr lang="en-US" sz="1050" dirty="0"/>
          </a:p>
        </p:txBody>
      </p:sp>
      <p:sp>
        <p:nvSpPr>
          <p:cNvPr id="28" name="Shape 26"/>
          <p:cNvSpPr/>
          <p:nvPr/>
        </p:nvSpPr>
        <p:spPr>
          <a:xfrm>
            <a:off x="9029471"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9" name="Text 27"/>
          <p:cNvSpPr txBox="1"/>
          <p:nvPr/>
        </p:nvSpPr>
        <p:spPr>
          <a:xfrm>
            <a:off x="9194063"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统一评价</a:t>
            </a:r>
            <a:endParaRPr lang="en-US" sz="1600" dirty="0"/>
          </a:p>
        </p:txBody>
      </p:sp>
      <p:sp>
        <p:nvSpPr>
          <p:cNvPr id="30" name="Text 28"/>
          <p:cNvSpPr txBox="1"/>
          <p:nvPr/>
        </p:nvSpPr>
        <p:spPr>
          <a:xfrm>
            <a:off x="9194063"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维保/物业/外协</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结果数据化考核</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现状与痛点（三）：场内物流流程化不足，车辆通行混乱</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这是本期项目的重点与难点，也是决定平台能否被真正用起来的关键环节</a:t>
            </a:r>
            <a:endParaRPr lang="en-US" sz="1250" dirty="0"/>
          </a:p>
        </p:txBody>
      </p:sp>
      <p:sp>
        <p:nvSpPr>
          <p:cNvPr id="5" name="Shape 3"/>
          <p:cNvSpPr/>
          <p:nvPr/>
        </p:nvSpPr>
        <p:spPr>
          <a:xfrm>
            <a:off x="530352" y="1207008"/>
            <a:ext cx="2182307" cy="512064"/>
          </a:xfrm>
          <a:prstGeom prst="homePlate">
            <a:avLst/>
          </a:prstGeom>
          <a:solidFill>
            <a:srgbClr val="F97B00"/>
          </a:solidFill>
          <a:ln/>
        </p:spPr>
      </p:sp>
      <p:sp>
        <p:nvSpPr>
          <p:cNvPr id="6" name="Text 4"/>
          <p:cNvSpPr txBox="1"/>
          <p:nvPr/>
        </p:nvSpPr>
        <p:spPr>
          <a:xfrm>
            <a:off x="792229"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司机预约</a:t>
            </a:r>
            <a:endParaRPr lang="en-US" sz="1250" dirty="0"/>
          </a:p>
        </p:txBody>
      </p:sp>
      <p:sp>
        <p:nvSpPr>
          <p:cNvPr id="7" name="Shape 5"/>
          <p:cNvSpPr/>
          <p:nvPr/>
        </p:nvSpPr>
        <p:spPr>
          <a:xfrm>
            <a:off x="2767523" y="1207008"/>
            <a:ext cx="2182307" cy="512064"/>
          </a:xfrm>
          <a:prstGeom prst="chevron">
            <a:avLst/>
          </a:prstGeom>
          <a:solidFill>
            <a:srgbClr val="FF9F3D"/>
          </a:solidFill>
          <a:ln/>
        </p:spPr>
      </p:sp>
      <p:sp>
        <p:nvSpPr>
          <p:cNvPr id="8" name="Text 6"/>
          <p:cNvSpPr txBox="1"/>
          <p:nvPr/>
        </p:nvSpPr>
        <p:spPr>
          <a:xfrm>
            <a:off x="3029400"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入园登记</a:t>
            </a:r>
            <a:endParaRPr lang="en-US" sz="1250" dirty="0"/>
          </a:p>
        </p:txBody>
      </p:sp>
      <p:sp>
        <p:nvSpPr>
          <p:cNvPr id="9" name="Shape 7"/>
          <p:cNvSpPr/>
          <p:nvPr/>
        </p:nvSpPr>
        <p:spPr>
          <a:xfrm>
            <a:off x="5004694" y="1207008"/>
            <a:ext cx="2182307" cy="512064"/>
          </a:xfrm>
          <a:prstGeom prst="chevron">
            <a:avLst/>
          </a:prstGeom>
          <a:solidFill>
            <a:srgbClr val="F97B00"/>
          </a:solidFill>
          <a:ln/>
        </p:spPr>
      </p:sp>
      <p:sp>
        <p:nvSpPr>
          <p:cNvPr id="10" name="Text 8"/>
          <p:cNvSpPr txBox="1"/>
          <p:nvPr/>
        </p:nvSpPr>
        <p:spPr>
          <a:xfrm>
            <a:off x="5266571"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园内行驶</a:t>
            </a:r>
            <a:endParaRPr lang="en-US" sz="1250" dirty="0"/>
          </a:p>
        </p:txBody>
      </p:sp>
      <p:sp>
        <p:nvSpPr>
          <p:cNvPr id="11" name="Shape 9"/>
          <p:cNvSpPr/>
          <p:nvPr/>
        </p:nvSpPr>
        <p:spPr>
          <a:xfrm>
            <a:off x="7241865" y="1207008"/>
            <a:ext cx="2182307" cy="512064"/>
          </a:xfrm>
          <a:prstGeom prst="chevron">
            <a:avLst/>
          </a:prstGeom>
          <a:solidFill>
            <a:srgbClr val="FF9F3D"/>
          </a:solidFill>
          <a:ln/>
        </p:spPr>
      </p:sp>
      <p:sp>
        <p:nvSpPr>
          <p:cNvPr id="12" name="Text 10"/>
          <p:cNvSpPr txBox="1"/>
          <p:nvPr/>
        </p:nvSpPr>
        <p:spPr>
          <a:xfrm>
            <a:off x="7503742"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卸货装货</a:t>
            </a:r>
            <a:endParaRPr lang="en-US" sz="1250" dirty="0"/>
          </a:p>
        </p:txBody>
      </p:sp>
      <p:sp>
        <p:nvSpPr>
          <p:cNvPr id="13" name="Shape 11"/>
          <p:cNvSpPr/>
          <p:nvPr/>
        </p:nvSpPr>
        <p:spPr>
          <a:xfrm>
            <a:off x="9479036" y="1207008"/>
            <a:ext cx="2182307" cy="512064"/>
          </a:xfrm>
          <a:prstGeom prst="chevron">
            <a:avLst/>
          </a:prstGeom>
          <a:solidFill>
            <a:srgbClr val="F97B00"/>
          </a:solidFill>
          <a:ln/>
        </p:spPr>
      </p:sp>
      <p:sp>
        <p:nvSpPr>
          <p:cNvPr id="14" name="Text 12"/>
          <p:cNvSpPr txBox="1"/>
          <p:nvPr/>
        </p:nvSpPr>
        <p:spPr>
          <a:xfrm>
            <a:off x="9740913"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出园放行</a:t>
            </a:r>
            <a:endParaRPr lang="en-US" sz="1250" dirty="0"/>
          </a:p>
        </p:txBody>
      </p:sp>
      <p:sp>
        <p:nvSpPr>
          <p:cNvPr id="15" name="Shape 13"/>
          <p:cNvSpPr/>
          <p:nvPr/>
        </p:nvSpPr>
        <p:spPr>
          <a:xfrm>
            <a:off x="530352"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13232" y="2084832"/>
            <a:ext cx="1243584" cy="310896"/>
          </a:xfrm>
          <a:prstGeom prst="roundRect">
            <a:avLst>
              <a:gd name="adj" fmla="val 14706"/>
            </a:avLst>
          </a:prstGeom>
          <a:solidFill>
            <a:srgbClr val="F97B00"/>
          </a:solidFill>
          <a:ln/>
        </p:spPr>
      </p:sp>
      <p:sp>
        <p:nvSpPr>
          <p:cNvPr id="17" name="Text 15"/>
          <p:cNvSpPr txBox="1"/>
          <p:nvPr/>
        </p:nvSpPr>
        <p:spPr>
          <a:xfrm>
            <a:off x="713232"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无预约习惯</a:t>
            </a:r>
            <a:endParaRPr lang="en-US" sz="1100" dirty="0"/>
          </a:p>
        </p:txBody>
      </p:sp>
      <p:sp>
        <p:nvSpPr>
          <p:cNvPr id="18" name="Text 16"/>
          <p:cNvSpPr txBox="1"/>
          <p:nvPr/>
        </p:nvSpPr>
        <p:spPr>
          <a:xfrm>
            <a:off x="731520"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司机无送货时间预约习惯，无法实时获取最新管理规定，容易导致冲突或违规</a:t>
            </a:r>
            <a:endParaRPr lang="en-US" sz="1000" dirty="0"/>
          </a:p>
        </p:txBody>
      </p:sp>
      <p:sp>
        <p:nvSpPr>
          <p:cNvPr id="19" name="Shape 17"/>
          <p:cNvSpPr/>
          <p:nvPr/>
        </p:nvSpPr>
        <p:spPr>
          <a:xfrm>
            <a:off x="4352544"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4535424" y="2084832"/>
            <a:ext cx="1243584" cy="310896"/>
          </a:xfrm>
          <a:prstGeom prst="roundRect">
            <a:avLst>
              <a:gd name="adj" fmla="val 14706"/>
            </a:avLst>
          </a:prstGeom>
          <a:solidFill>
            <a:srgbClr val="F97B00"/>
          </a:solidFill>
          <a:ln/>
        </p:spPr>
      </p:sp>
      <p:sp>
        <p:nvSpPr>
          <p:cNvPr id="21" name="Text 19"/>
          <p:cNvSpPr txBox="1"/>
          <p:nvPr/>
        </p:nvSpPr>
        <p:spPr>
          <a:xfrm>
            <a:off x="4535424"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路线不清</a:t>
            </a:r>
            <a:endParaRPr lang="en-US" sz="1100" dirty="0"/>
          </a:p>
        </p:txBody>
      </p:sp>
      <p:sp>
        <p:nvSpPr>
          <p:cNvPr id="22" name="Text 20"/>
          <p:cNvSpPr txBox="1"/>
          <p:nvPr/>
        </p:nvSpPr>
        <p:spPr>
          <a:xfrm>
            <a:off x="4553712"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送货频次较少的司机不知道货送哪个厂房、停哪个卸货位、路线如何走</a:t>
            </a:r>
            <a:endParaRPr lang="en-US" sz="1000" dirty="0"/>
          </a:p>
        </p:txBody>
      </p:sp>
      <p:sp>
        <p:nvSpPr>
          <p:cNvPr id="23" name="Shape 21"/>
          <p:cNvSpPr/>
          <p:nvPr/>
        </p:nvSpPr>
        <p:spPr>
          <a:xfrm>
            <a:off x="8174736"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8357616" y="2084832"/>
            <a:ext cx="1243584" cy="310896"/>
          </a:xfrm>
          <a:prstGeom prst="roundRect">
            <a:avLst>
              <a:gd name="adj" fmla="val 14706"/>
            </a:avLst>
          </a:prstGeom>
          <a:solidFill>
            <a:srgbClr val="F97B00"/>
          </a:solidFill>
          <a:ln/>
        </p:spPr>
      </p:sp>
      <p:sp>
        <p:nvSpPr>
          <p:cNvPr id="25" name="Text 23"/>
          <p:cNvSpPr txBox="1"/>
          <p:nvPr/>
        </p:nvSpPr>
        <p:spPr>
          <a:xfrm>
            <a:off x="8357616"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手续繁琐</a:t>
            </a:r>
            <a:endParaRPr lang="en-US" sz="1100" dirty="0"/>
          </a:p>
        </p:txBody>
      </p:sp>
      <p:sp>
        <p:nvSpPr>
          <p:cNvPr id="26" name="Text 24"/>
          <p:cNvSpPr txBox="1"/>
          <p:nvPr/>
        </p:nvSpPr>
        <p:spPr>
          <a:xfrm>
            <a:off x="8375904"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入厂手续依赖手工登记，流程耗时长，门岗高峰排队严重</a:t>
            </a:r>
            <a:endParaRPr lang="en-US" sz="1000" dirty="0"/>
          </a:p>
        </p:txBody>
      </p:sp>
      <p:sp>
        <p:nvSpPr>
          <p:cNvPr id="27" name="Shape 25"/>
          <p:cNvSpPr/>
          <p:nvPr/>
        </p:nvSpPr>
        <p:spPr>
          <a:xfrm>
            <a:off x="530352"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713232" y="3456432"/>
            <a:ext cx="1243584" cy="310896"/>
          </a:xfrm>
          <a:prstGeom prst="roundRect">
            <a:avLst>
              <a:gd name="adj" fmla="val 14706"/>
            </a:avLst>
          </a:prstGeom>
          <a:solidFill>
            <a:srgbClr val="F97B00"/>
          </a:solidFill>
          <a:ln/>
        </p:spPr>
      </p:sp>
      <p:sp>
        <p:nvSpPr>
          <p:cNvPr id="29" name="Text 27"/>
          <p:cNvSpPr txBox="1"/>
          <p:nvPr/>
        </p:nvSpPr>
        <p:spPr>
          <a:xfrm>
            <a:off x="713232"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可视化不足</a:t>
            </a:r>
            <a:endParaRPr lang="en-US" sz="1100" dirty="0"/>
          </a:p>
        </p:txBody>
      </p:sp>
      <p:sp>
        <p:nvSpPr>
          <p:cNvPr id="30" name="Text 28"/>
          <p:cNvSpPr txBox="1"/>
          <p:nvPr/>
        </p:nvSpPr>
        <p:spPr>
          <a:xfrm>
            <a:off x="731520"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无法知晓供应商备料、发货、在途、入厂、入库、上线使用信息，部分靠手工记录</a:t>
            </a:r>
            <a:endParaRPr lang="en-US" sz="1000" dirty="0"/>
          </a:p>
        </p:txBody>
      </p:sp>
      <p:sp>
        <p:nvSpPr>
          <p:cNvPr id="31" name="Shape 29"/>
          <p:cNvSpPr/>
          <p:nvPr/>
        </p:nvSpPr>
        <p:spPr>
          <a:xfrm>
            <a:off x="4352544"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4535424" y="3456432"/>
            <a:ext cx="1243584" cy="310896"/>
          </a:xfrm>
          <a:prstGeom prst="roundRect">
            <a:avLst>
              <a:gd name="adj" fmla="val 14706"/>
            </a:avLst>
          </a:prstGeom>
          <a:solidFill>
            <a:srgbClr val="F97B00"/>
          </a:solidFill>
          <a:ln/>
        </p:spPr>
      </p:sp>
      <p:sp>
        <p:nvSpPr>
          <p:cNvPr id="33" name="Text 31"/>
          <p:cNvSpPr txBox="1"/>
          <p:nvPr/>
        </p:nvSpPr>
        <p:spPr>
          <a:xfrm>
            <a:off x="4535424"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月台失控</a:t>
            </a:r>
            <a:endParaRPr lang="en-US" sz="1100" dirty="0"/>
          </a:p>
        </p:txBody>
      </p:sp>
      <p:sp>
        <p:nvSpPr>
          <p:cNvPr id="34" name="Text 32"/>
          <p:cNvSpPr txBox="1"/>
          <p:nvPr/>
        </p:nvSpPr>
        <p:spPr>
          <a:xfrm>
            <a:off x="4553712"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无法实时获取卸货位空满信息，无法分析卸货波峰波谷，导致资源浪费或拥堵</a:t>
            </a:r>
            <a:endParaRPr lang="en-US" sz="1000" dirty="0"/>
          </a:p>
        </p:txBody>
      </p:sp>
      <p:sp>
        <p:nvSpPr>
          <p:cNvPr id="35" name="Shape 33"/>
          <p:cNvSpPr/>
          <p:nvPr/>
        </p:nvSpPr>
        <p:spPr>
          <a:xfrm>
            <a:off x="8174736"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8357616" y="3456432"/>
            <a:ext cx="1243584" cy="310896"/>
          </a:xfrm>
          <a:prstGeom prst="roundRect">
            <a:avLst>
              <a:gd name="adj" fmla="val 14706"/>
            </a:avLst>
          </a:prstGeom>
          <a:solidFill>
            <a:srgbClr val="F97B00"/>
          </a:solidFill>
          <a:ln/>
        </p:spPr>
      </p:sp>
      <p:sp>
        <p:nvSpPr>
          <p:cNvPr id="37" name="Text 35"/>
          <p:cNvSpPr txBox="1"/>
          <p:nvPr/>
        </p:nvSpPr>
        <p:spPr>
          <a:xfrm>
            <a:off x="8357616"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车辆混乱</a:t>
            </a:r>
            <a:endParaRPr lang="en-US" sz="1100" dirty="0"/>
          </a:p>
        </p:txBody>
      </p:sp>
      <p:sp>
        <p:nvSpPr>
          <p:cNvPr id="38" name="Text 36"/>
          <p:cNvSpPr txBox="1"/>
          <p:nvPr/>
        </p:nvSpPr>
        <p:spPr>
          <a:xfrm>
            <a:off x="8375904"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厂内卸货车辆行驶混乱，卸货区、出入门时常拥堵，安全风险高</a:t>
            </a:r>
            <a:endParaRPr lang="en-US" sz="1000" dirty="0"/>
          </a:p>
        </p:txBody>
      </p:sp>
      <p:sp>
        <p:nvSpPr>
          <p:cNvPr id="39" name="Shape 37"/>
          <p:cNvSpPr/>
          <p:nvPr/>
        </p:nvSpPr>
        <p:spPr>
          <a:xfrm>
            <a:off x="530352" y="4828032"/>
            <a:ext cx="11130991" cy="1133856"/>
          </a:xfrm>
          <a:prstGeom prst="roundRect">
            <a:avLst>
              <a:gd name="adj" fmla="val 2823"/>
            </a:avLst>
          </a:prstGeom>
          <a:solidFill>
            <a:srgbClr val="0E2340"/>
          </a:solidFill>
          <a:ln/>
        </p:spPr>
      </p:sp>
      <p:sp>
        <p:nvSpPr>
          <p:cNvPr id="40" name="Text 38"/>
          <p:cNvSpPr txBox="1"/>
          <p:nvPr/>
        </p:nvSpPr>
        <p:spPr>
          <a:xfrm>
            <a:off x="786384" y="4974336"/>
            <a:ext cx="1280160" cy="292608"/>
          </a:xfrm>
          <a:prstGeom prst="rect">
            <a:avLst/>
          </a:prstGeom>
          <a:noFill/>
          <a:ln/>
        </p:spPr>
        <p:txBody>
          <a:bodyPr wrap="square" lIns="0" tIns="0" rIns="0" bIns="0" rtlCol="0" anchor="ctr"/>
          <a:lstStyle/>
          <a:p>
            <a:pPr indent="0" marL="0">
              <a:buNone/>
            </a:pPr>
            <a:r>
              <a:rPr lang="en-US" sz="1250" b="1" dirty="0">
                <a:solidFill>
                  <a:srgbClr val="FF9F3D"/>
                </a:solidFill>
                <a:latin typeface="Calibri" pitchFamily="34" charset="0"/>
                <a:ea typeface="Calibri" pitchFamily="34" charset="-122"/>
                <a:cs typeface="Calibri" pitchFamily="34" charset="-120"/>
              </a:rPr>
              <a:t>难点判断</a:t>
            </a:r>
            <a:endParaRPr lang="en-US" sz="1250" dirty="0"/>
          </a:p>
        </p:txBody>
      </p:sp>
      <p:sp>
        <p:nvSpPr>
          <p:cNvPr id="41" name="Text 39"/>
          <p:cNvSpPr txBox="1"/>
          <p:nvPr/>
        </p:nvSpPr>
        <p:spPr>
          <a:xfrm>
            <a:off x="2176272" y="4956048"/>
            <a:ext cx="9144000" cy="31089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场内物流的本质不是"做一个预约小程序"，而是把司机、月台、库房收发、成本中心、跨园区运力五方在同一时间轴上对齐。</a:t>
            </a:r>
            <a:endParaRPr lang="en-US" sz="1150" dirty="0"/>
          </a:p>
        </p:txBody>
      </p:sp>
      <p:sp>
        <p:nvSpPr>
          <p:cNvPr id="42" name="Text 40"/>
          <p:cNvSpPr txBox="1"/>
          <p:nvPr/>
        </p:nvSpPr>
        <p:spPr>
          <a:xfrm>
            <a:off x="2176272" y="5303520"/>
            <a:ext cx="9144000" cy="530352"/>
          </a:xfrm>
          <a:prstGeom prst="rect">
            <a:avLst/>
          </a:prstGeom>
          <a:noFill/>
          <a:ln/>
        </p:spPr>
        <p:txBody>
          <a:bodyPr wrap="square" lIns="0" tIns="0" rIns="0" bIns="0" rtlCol="0" anchor="ctr"/>
          <a:lstStyle/>
          <a:p>
            <a:pPr indent="0" marL="0">
              <a:lnSpc>
                <a:spcPct val="112000"/>
              </a:lnSpc>
              <a:buNone/>
            </a:pPr>
            <a:r>
              <a:rPr lang="en-US" sz="1050" dirty="0">
                <a:solidFill>
                  <a:srgbClr val="C9D5E2"/>
                </a:solidFill>
                <a:latin typeface="Calibri" pitchFamily="34" charset="0"/>
                <a:ea typeface="Calibri" pitchFamily="34" charset="-122"/>
                <a:cs typeface="Calibri" pitchFamily="34" charset="-120"/>
              </a:rPr>
              <a:t>因此本方案将"预约—排队—入园—引导—月台—卸货—出园—评价"设计为一条带时间戳的主流程，所有节点数据自动归档，形成可分析、可优化、可考核的调度闭环；并将 12 个园区间的转运调度作为一期必须上线的能力。</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建设目标：一个底座 + 五大子系统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整体设计、分步实施、持续优化——先完成产业园一期示范，后续按"模块化复制"推广</a:t>
            </a:r>
            <a:endParaRPr lang="en-US" sz="1250" dirty="0"/>
          </a:p>
        </p:txBody>
      </p:sp>
      <p:sp>
        <p:nvSpPr>
          <p:cNvPr id="5" name="Shape 3"/>
          <p:cNvSpPr/>
          <p:nvPr/>
        </p:nvSpPr>
        <p:spPr>
          <a:xfrm>
            <a:off x="530352" y="1207008"/>
            <a:ext cx="11130991" cy="1024128"/>
          </a:xfrm>
          <a:prstGeom prst="roundRect">
            <a:avLst>
              <a:gd name="adj" fmla="val 312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804672" y="1444752"/>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52805" y="1592885"/>
            <a:ext cx="252374" cy="252374"/>
          </a:xfrm>
          <a:prstGeom prst="rect">
            <a:avLst/>
          </a:prstGeom>
        </p:spPr>
      </p:pic>
      <p:sp>
        <p:nvSpPr>
          <p:cNvPr id="8" name="Text 5"/>
          <p:cNvSpPr txBox="1"/>
          <p:nvPr/>
        </p:nvSpPr>
        <p:spPr>
          <a:xfrm>
            <a:off x="1517904" y="1353312"/>
            <a:ext cx="3108960" cy="310896"/>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目标一 · 园区运营底座</a:t>
            </a:r>
            <a:endParaRPr lang="en-US" sz="1450" dirty="0"/>
          </a:p>
        </p:txBody>
      </p:sp>
      <p:sp>
        <p:nvSpPr>
          <p:cNvPr id="9" name="Text 6"/>
          <p:cNvSpPr txBox="1"/>
          <p:nvPr/>
        </p:nvSpPr>
        <p:spPr>
          <a:xfrm>
            <a:off x="1517904" y="1664208"/>
            <a:ext cx="9784080" cy="475488"/>
          </a:xfrm>
          <a:prstGeom prst="rect">
            <a:avLst/>
          </a:prstGeom>
          <a:noFill/>
          <a:ln/>
        </p:spPr>
        <p:txBody>
          <a:bodyPr wrap="square" lIns="0" tIns="0" rIns="0" bIns="0" rtlCol="0" anchor="ctr"/>
          <a:lstStyle/>
          <a:p>
            <a:pPr indent="0" marL="0">
              <a:lnSpc>
                <a:spcPct val="110000"/>
              </a:lnSpc>
              <a:buNone/>
            </a:pPr>
            <a:r>
              <a:rPr lang="en-US" sz="1050" dirty="0">
                <a:solidFill>
                  <a:srgbClr val="55606B"/>
                </a:solidFill>
                <a:latin typeface="Calibri" pitchFamily="34" charset="0"/>
                <a:ea typeface="Calibri" pitchFamily="34" charset="-122"/>
                <a:cs typeface="Calibri" pitchFamily="34" charset="-120"/>
              </a:rPr>
              <a:t>补齐五大子系统，打通访客、空间、停车、食堂等既有独立数据，形成统一"智慧园区运营平台"，并预留集团化复制接口；建立"总部—区域—多类型园区"三级架构体系，支持多园区横向复制与管理功能纵向深化。</a:t>
            </a:r>
            <a:endParaRPr lang="en-US" sz="1050" dirty="0"/>
          </a:p>
        </p:txBody>
      </p:sp>
      <p:sp>
        <p:nvSpPr>
          <p:cNvPr id="10" name="Shape 7"/>
          <p:cNvSpPr/>
          <p:nvPr/>
        </p:nvSpPr>
        <p:spPr>
          <a:xfrm>
            <a:off x="530352"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1286835" y="2560320"/>
            <a:ext cx="566928" cy="566928"/>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1439906" y="2713391"/>
            <a:ext cx="260787" cy="260787"/>
          </a:xfrm>
          <a:prstGeom prst="rect">
            <a:avLst/>
          </a:prstGeom>
        </p:spPr>
      </p:pic>
      <p:sp>
        <p:nvSpPr>
          <p:cNvPr id="13" name="Text 9"/>
          <p:cNvSpPr txBox="1"/>
          <p:nvPr/>
        </p:nvSpPr>
        <p:spPr>
          <a:xfrm>
            <a:off x="658368"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目标二</a:t>
            </a:r>
            <a:endParaRPr lang="en-US" sz="1000" dirty="0"/>
          </a:p>
        </p:txBody>
      </p:sp>
      <p:sp>
        <p:nvSpPr>
          <p:cNvPr id="14" name="Text 10"/>
          <p:cNvSpPr txBox="1"/>
          <p:nvPr/>
        </p:nvSpPr>
        <p:spPr>
          <a:xfrm>
            <a:off x="658368"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智慧物流</a:t>
            </a:r>
            <a:endParaRPr lang="en-US" sz="1350" dirty="0"/>
          </a:p>
        </p:txBody>
      </p:sp>
      <p:sp>
        <p:nvSpPr>
          <p:cNvPr id="15" name="Text 11"/>
          <p:cNvSpPr txBox="1"/>
          <p:nvPr/>
        </p:nvSpPr>
        <p:spPr>
          <a:xfrm>
            <a:off x="694944"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预约到出园全流程线上化，月台空满实时可见，效率报表自动生成</a:t>
            </a:r>
            <a:endParaRPr lang="en-US" sz="1000" dirty="0"/>
          </a:p>
        </p:txBody>
      </p:sp>
      <p:sp>
        <p:nvSpPr>
          <p:cNvPr id="16" name="Shape 12"/>
          <p:cNvSpPr/>
          <p:nvPr/>
        </p:nvSpPr>
        <p:spPr>
          <a:xfrm>
            <a:off x="2793126"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3549609" y="2560320"/>
            <a:ext cx="566928" cy="566928"/>
          </a:xfrm>
          <a:prstGeom prst="ellipse">
            <a:avLst/>
          </a:prstGeom>
          <a:solidFill>
            <a:srgbClr val="0E2340"/>
          </a:solidFill>
          <a:ln/>
        </p:spPr>
      </p:sp>
      <p:pic>
        <p:nvPicPr>
          <p:cNvPr id="18" name="Image 2" descr="preencoded.png">    </p:cNvPr>
          <p:cNvPicPr>
            <a:picLocks noChangeAspect="1"/>
          </p:cNvPicPr>
          <p:nvPr/>
        </p:nvPicPr>
        <p:blipFill>
          <a:blip r:embed="rId3"/>
          <a:stretch>
            <a:fillRect/>
          </a:stretch>
        </p:blipFill>
        <p:spPr>
          <a:xfrm>
            <a:off x="3702680" y="2713391"/>
            <a:ext cx="260787" cy="260787"/>
          </a:xfrm>
          <a:prstGeom prst="rect">
            <a:avLst/>
          </a:prstGeom>
        </p:spPr>
      </p:pic>
      <p:sp>
        <p:nvSpPr>
          <p:cNvPr id="19" name="Text 14"/>
          <p:cNvSpPr txBox="1"/>
          <p:nvPr/>
        </p:nvSpPr>
        <p:spPr>
          <a:xfrm>
            <a:off x="2921142"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目标三</a:t>
            </a:r>
            <a:endParaRPr lang="en-US" sz="1000" dirty="0"/>
          </a:p>
        </p:txBody>
      </p:sp>
      <p:sp>
        <p:nvSpPr>
          <p:cNvPr id="20" name="Text 15"/>
          <p:cNvSpPr txBox="1"/>
          <p:nvPr/>
        </p:nvSpPr>
        <p:spPr>
          <a:xfrm>
            <a:off x="2921142"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智慧消防</a:t>
            </a:r>
            <a:endParaRPr lang="en-US" sz="1350" dirty="0"/>
          </a:p>
        </p:txBody>
      </p:sp>
      <p:sp>
        <p:nvSpPr>
          <p:cNvPr id="21" name="Text 16"/>
          <p:cNvSpPr txBox="1"/>
          <p:nvPr/>
        </p:nvSpPr>
        <p:spPr>
          <a:xfrm>
            <a:off x="2957718"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消火栓、喷淋、电气火灾等系统联网，构建安消一体平台，状态可见可控</a:t>
            </a:r>
            <a:endParaRPr lang="en-US" sz="1000" dirty="0"/>
          </a:p>
        </p:txBody>
      </p:sp>
      <p:sp>
        <p:nvSpPr>
          <p:cNvPr id="22" name="Shape 17"/>
          <p:cNvSpPr/>
          <p:nvPr/>
        </p:nvSpPr>
        <p:spPr>
          <a:xfrm>
            <a:off x="5055900"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5812384" y="2560320"/>
            <a:ext cx="566928" cy="566928"/>
          </a:xfrm>
          <a:prstGeom prst="ellipse">
            <a:avLst/>
          </a:prstGeom>
          <a:solidFill>
            <a:srgbClr val="0E2340"/>
          </a:solidFill>
          <a:ln/>
        </p:spPr>
      </p:sp>
      <p:pic>
        <p:nvPicPr>
          <p:cNvPr id="24" name="Image 3" descr="preencoded.png">    </p:cNvPr>
          <p:cNvPicPr>
            <a:picLocks noChangeAspect="1"/>
          </p:cNvPicPr>
          <p:nvPr/>
        </p:nvPicPr>
        <p:blipFill>
          <a:blip r:embed="rId4"/>
          <a:stretch>
            <a:fillRect/>
          </a:stretch>
        </p:blipFill>
        <p:spPr>
          <a:xfrm>
            <a:off x="5965454" y="2713391"/>
            <a:ext cx="260787" cy="260787"/>
          </a:xfrm>
          <a:prstGeom prst="rect">
            <a:avLst/>
          </a:prstGeom>
        </p:spPr>
      </p:pic>
      <p:sp>
        <p:nvSpPr>
          <p:cNvPr id="25" name="Text 19"/>
          <p:cNvSpPr txBox="1"/>
          <p:nvPr/>
        </p:nvSpPr>
        <p:spPr>
          <a:xfrm>
            <a:off x="5183916"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目标四</a:t>
            </a:r>
            <a:endParaRPr lang="en-US" sz="1000" dirty="0"/>
          </a:p>
        </p:txBody>
      </p:sp>
      <p:sp>
        <p:nvSpPr>
          <p:cNvPr id="26" name="Text 20"/>
          <p:cNvSpPr txBox="1"/>
          <p:nvPr/>
        </p:nvSpPr>
        <p:spPr>
          <a:xfrm>
            <a:off x="5183916"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智慧安防</a:t>
            </a:r>
            <a:endParaRPr lang="en-US" sz="1350" dirty="0"/>
          </a:p>
        </p:txBody>
      </p:sp>
      <p:sp>
        <p:nvSpPr>
          <p:cNvPr id="27" name="Text 21"/>
          <p:cNvSpPr txBox="1"/>
          <p:nvPr/>
        </p:nvSpPr>
        <p:spPr>
          <a:xfrm>
            <a:off x="5220492"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周界、出入口、仓库部署 AI 视频分析，入侵与睡岗智能预警</a:t>
            </a:r>
            <a:endParaRPr lang="en-US" sz="1000" dirty="0"/>
          </a:p>
        </p:txBody>
      </p:sp>
      <p:sp>
        <p:nvSpPr>
          <p:cNvPr id="28" name="Shape 22"/>
          <p:cNvSpPr/>
          <p:nvPr/>
        </p:nvSpPr>
        <p:spPr>
          <a:xfrm>
            <a:off x="7318675"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3"/>
          <p:cNvSpPr/>
          <p:nvPr/>
        </p:nvSpPr>
        <p:spPr>
          <a:xfrm>
            <a:off x="8075158" y="2560320"/>
            <a:ext cx="566928" cy="566928"/>
          </a:xfrm>
          <a:prstGeom prst="ellipse">
            <a:avLst/>
          </a:prstGeom>
          <a:solidFill>
            <a:srgbClr val="0E2340"/>
          </a:solidFill>
          <a:ln/>
        </p:spPr>
      </p:sp>
      <p:pic>
        <p:nvPicPr>
          <p:cNvPr id="30" name="Image 4" descr="preencoded.png">    </p:cNvPr>
          <p:cNvPicPr>
            <a:picLocks noChangeAspect="1"/>
          </p:cNvPicPr>
          <p:nvPr/>
        </p:nvPicPr>
        <p:blipFill>
          <a:blip r:embed="rId5"/>
          <a:stretch>
            <a:fillRect/>
          </a:stretch>
        </p:blipFill>
        <p:spPr>
          <a:xfrm>
            <a:off x="8228228" y="2713391"/>
            <a:ext cx="260787" cy="260787"/>
          </a:xfrm>
          <a:prstGeom prst="rect">
            <a:avLst/>
          </a:prstGeom>
        </p:spPr>
      </p:pic>
      <p:sp>
        <p:nvSpPr>
          <p:cNvPr id="31" name="Text 24"/>
          <p:cNvSpPr txBox="1"/>
          <p:nvPr/>
        </p:nvSpPr>
        <p:spPr>
          <a:xfrm>
            <a:off x="7446691"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目标五</a:t>
            </a:r>
            <a:endParaRPr lang="en-US" sz="1000" dirty="0"/>
          </a:p>
        </p:txBody>
      </p:sp>
      <p:sp>
        <p:nvSpPr>
          <p:cNvPr id="32" name="Text 25"/>
          <p:cNvSpPr txBox="1"/>
          <p:nvPr/>
        </p:nvSpPr>
        <p:spPr>
          <a:xfrm>
            <a:off x="7446691"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宿舍管理</a:t>
            </a:r>
            <a:endParaRPr lang="en-US" sz="1350" dirty="0"/>
          </a:p>
        </p:txBody>
      </p:sp>
      <p:sp>
        <p:nvSpPr>
          <p:cNvPr id="33" name="Text 26"/>
          <p:cNvSpPr txBox="1"/>
          <p:nvPr/>
        </p:nvSpPr>
        <p:spPr>
          <a:xfrm>
            <a:off x="7483267"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覆盖入住到退宿全流程，含跨园区宿舍，提升安全等级与满意度</a:t>
            </a:r>
            <a:endParaRPr lang="en-US" sz="1000" dirty="0"/>
          </a:p>
        </p:txBody>
      </p:sp>
      <p:sp>
        <p:nvSpPr>
          <p:cNvPr id="34" name="Shape 27"/>
          <p:cNvSpPr/>
          <p:nvPr/>
        </p:nvSpPr>
        <p:spPr>
          <a:xfrm>
            <a:off x="9581449"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8"/>
          <p:cNvSpPr/>
          <p:nvPr/>
        </p:nvSpPr>
        <p:spPr>
          <a:xfrm>
            <a:off x="10337932" y="2560320"/>
            <a:ext cx="566928" cy="566928"/>
          </a:xfrm>
          <a:prstGeom prst="ellipse">
            <a:avLst/>
          </a:prstGeom>
          <a:solidFill>
            <a:srgbClr val="0E2340"/>
          </a:solidFill>
          <a:ln/>
        </p:spPr>
      </p:sp>
      <p:pic>
        <p:nvPicPr>
          <p:cNvPr id="36" name="Image 5" descr="preencoded.png">    </p:cNvPr>
          <p:cNvPicPr>
            <a:picLocks noChangeAspect="1"/>
          </p:cNvPicPr>
          <p:nvPr/>
        </p:nvPicPr>
        <p:blipFill>
          <a:blip r:embed="rId6"/>
          <a:stretch>
            <a:fillRect/>
          </a:stretch>
        </p:blipFill>
        <p:spPr>
          <a:xfrm>
            <a:off x="10491003" y="2713391"/>
            <a:ext cx="260787" cy="260787"/>
          </a:xfrm>
          <a:prstGeom prst="rect">
            <a:avLst/>
          </a:prstGeom>
        </p:spPr>
      </p:pic>
      <p:sp>
        <p:nvSpPr>
          <p:cNvPr id="37" name="Text 29"/>
          <p:cNvSpPr txBox="1"/>
          <p:nvPr/>
        </p:nvSpPr>
        <p:spPr>
          <a:xfrm>
            <a:off x="9709465"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目标六</a:t>
            </a:r>
            <a:endParaRPr lang="en-US" sz="1000" dirty="0"/>
          </a:p>
        </p:txBody>
      </p:sp>
      <p:sp>
        <p:nvSpPr>
          <p:cNvPr id="38" name="Text 30"/>
          <p:cNvSpPr txBox="1"/>
          <p:nvPr/>
        </p:nvSpPr>
        <p:spPr>
          <a:xfrm>
            <a:off x="9709465"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外协人员管理</a:t>
            </a:r>
            <a:endParaRPr lang="en-US" sz="1350" dirty="0"/>
          </a:p>
        </p:txBody>
      </p:sp>
      <p:sp>
        <p:nvSpPr>
          <p:cNvPr id="39" name="Text 31"/>
          <p:cNvSpPr txBox="1"/>
          <p:nvPr/>
        </p:nvSpPr>
        <p:spPr>
          <a:xfrm>
            <a:off x="9746041"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单位、人员、证件、工单统一建档，联动门禁与考勤，支撑考核</a:t>
            </a:r>
            <a:endParaRPr lang="en-US" sz="1000" dirty="0"/>
          </a:p>
        </p:txBody>
      </p:sp>
      <p:sp>
        <p:nvSpPr>
          <p:cNvPr id="40" name="Shape 32"/>
          <p:cNvSpPr/>
          <p:nvPr/>
        </p:nvSpPr>
        <p:spPr>
          <a:xfrm>
            <a:off x="530352" y="4896612"/>
            <a:ext cx="68580" cy="173736"/>
          </a:xfrm>
          <a:prstGeom prst="rect">
            <a:avLst/>
          </a:prstGeom>
          <a:solidFill>
            <a:srgbClr val="F97B00"/>
          </a:solidFill>
          <a:ln/>
        </p:spPr>
      </p:sp>
      <p:sp>
        <p:nvSpPr>
          <p:cNvPr id="41" name="Text 33"/>
          <p:cNvSpPr txBox="1"/>
          <p:nvPr/>
        </p:nvSpPr>
        <p:spPr>
          <a:xfrm>
            <a:off x="685800" y="48463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建设原则</a:t>
            </a:r>
            <a:endParaRPr lang="en-US" sz="1250" dirty="0"/>
          </a:p>
        </p:txBody>
      </p:sp>
      <p:sp>
        <p:nvSpPr>
          <p:cNvPr id="42" name="Shape 34"/>
          <p:cNvSpPr/>
          <p:nvPr/>
        </p:nvSpPr>
        <p:spPr>
          <a:xfrm>
            <a:off x="530352" y="5175504"/>
            <a:ext cx="3639312" cy="786384"/>
          </a:xfrm>
          <a:prstGeom prst="roundRect">
            <a:avLst>
              <a:gd name="adj" fmla="val 4070"/>
            </a:avLst>
          </a:prstGeom>
          <a:solidFill>
            <a:srgbClr val="FFF7EF"/>
          </a:solidFill>
          <a:ln w="9525">
            <a:solidFill>
              <a:srgbClr val="F6DCC2"/>
            </a:solidFill>
            <a:prstDash val="solid"/>
          </a:ln>
        </p:spPr>
      </p:sp>
      <p:sp>
        <p:nvSpPr>
          <p:cNvPr id="43" name="Text 35"/>
          <p:cNvSpPr txBox="1"/>
          <p:nvPr/>
        </p:nvSpPr>
        <p:spPr>
          <a:xfrm>
            <a:off x="731520"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整体设计</a:t>
            </a:r>
            <a:endParaRPr lang="en-US" sz="1250" dirty="0"/>
          </a:p>
        </p:txBody>
      </p:sp>
      <p:sp>
        <p:nvSpPr>
          <p:cNvPr id="44" name="Text 36"/>
          <p:cNvSpPr txBox="1"/>
          <p:nvPr/>
        </p:nvSpPr>
        <p:spPr>
          <a:xfrm>
            <a:off x="731520"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一次规划三级架构与统一数据模型，避免二期推倒重来</a:t>
            </a:r>
            <a:endParaRPr lang="en-US" sz="1000" dirty="0"/>
          </a:p>
        </p:txBody>
      </p:sp>
      <p:sp>
        <p:nvSpPr>
          <p:cNvPr id="45" name="Shape 37"/>
          <p:cNvSpPr/>
          <p:nvPr/>
        </p:nvSpPr>
        <p:spPr>
          <a:xfrm>
            <a:off x="4352544" y="5175504"/>
            <a:ext cx="3639312" cy="786384"/>
          </a:xfrm>
          <a:prstGeom prst="roundRect">
            <a:avLst>
              <a:gd name="adj" fmla="val 4070"/>
            </a:avLst>
          </a:prstGeom>
          <a:solidFill>
            <a:srgbClr val="FFF7EF"/>
          </a:solidFill>
          <a:ln w="9525">
            <a:solidFill>
              <a:srgbClr val="F6DCC2"/>
            </a:solidFill>
            <a:prstDash val="solid"/>
          </a:ln>
        </p:spPr>
      </p:sp>
      <p:sp>
        <p:nvSpPr>
          <p:cNvPr id="46" name="Text 38"/>
          <p:cNvSpPr txBox="1"/>
          <p:nvPr/>
        </p:nvSpPr>
        <p:spPr>
          <a:xfrm>
            <a:off x="4553712"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分步实施</a:t>
            </a:r>
            <a:endParaRPr lang="en-US" sz="1250" dirty="0"/>
          </a:p>
        </p:txBody>
      </p:sp>
      <p:sp>
        <p:nvSpPr>
          <p:cNvPr id="47" name="Text 39"/>
          <p:cNvSpPr txBox="1"/>
          <p:nvPr/>
        </p:nvSpPr>
        <p:spPr>
          <a:xfrm>
            <a:off x="4553712"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一期聚焦招标明确的五大模块，确保可落地、可结项</a:t>
            </a:r>
            <a:endParaRPr lang="en-US" sz="1000" dirty="0"/>
          </a:p>
        </p:txBody>
      </p:sp>
      <p:sp>
        <p:nvSpPr>
          <p:cNvPr id="48" name="Shape 40"/>
          <p:cNvSpPr/>
          <p:nvPr/>
        </p:nvSpPr>
        <p:spPr>
          <a:xfrm>
            <a:off x="8174736" y="5175504"/>
            <a:ext cx="3639312" cy="786384"/>
          </a:xfrm>
          <a:prstGeom prst="roundRect">
            <a:avLst>
              <a:gd name="adj" fmla="val 4070"/>
            </a:avLst>
          </a:prstGeom>
          <a:solidFill>
            <a:srgbClr val="FFF7EF"/>
          </a:solidFill>
          <a:ln w="9525">
            <a:solidFill>
              <a:srgbClr val="F6DCC2"/>
            </a:solidFill>
            <a:prstDash val="solid"/>
          </a:ln>
        </p:spPr>
      </p:sp>
      <p:sp>
        <p:nvSpPr>
          <p:cNvPr id="49" name="Text 41"/>
          <p:cNvSpPr txBox="1"/>
          <p:nvPr/>
        </p:nvSpPr>
        <p:spPr>
          <a:xfrm>
            <a:off x="8375904"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持续优化</a:t>
            </a:r>
            <a:endParaRPr lang="en-US" sz="1250" dirty="0"/>
          </a:p>
        </p:txBody>
      </p:sp>
      <p:sp>
        <p:nvSpPr>
          <p:cNvPr id="50" name="Text 42"/>
          <p:cNvSpPr txBox="1"/>
          <p:nvPr/>
        </p:nvSpPr>
        <p:spPr>
          <a:xfrm>
            <a:off x="8375904"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后 3 个月试运行陪跑，以运营数据驱动策略迭代</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建设范围：六个维度界定边界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实施范围、流程范围、功能范围、数据范围、集成范围、硬件范围，无遗漏、无越界</a:t>
            </a:r>
            <a:endParaRPr lang="en-US" sz="1250" dirty="0"/>
          </a:p>
        </p:txBody>
      </p:sp>
      <p:sp>
        <p:nvSpPr>
          <p:cNvPr id="5" name="Shape 3"/>
          <p:cNvSpPr/>
          <p:nvPr/>
        </p:nvSpPr>
        <p:spPr>
          <a:xfrm>
            <a:off x="530352"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31520" y="1389888"/>
            <a:ext cx="420624" cy="420624"/>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845088" y="1503456"/>
            <a:ext cx="193487" cy="193487"/>
          </a:xfrm>
          <a:prstGeom prst="rect">
            <a:avLst/>
          </a:prstGeom>
        </p:spPr>
      </p:pic>
      <p:sp>
        <p:nvSpPr>
          <p:cNvPr id="8" name="Text 5"/>
          <p:cNvSpPr txBox="1"/>
          <p:nvPr/>
        </p:nvSpPr>
        <p:spPr>
          <a:xfrm>
            <a:off x="1261872"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实施范围</a:t>
            </a:r>
            <a:endParaRPr lang="en-US" sz="1400" dirty="0"/>
          </a:p>
        </p:txBody>
      </p:sp>
      <p:sp>
        <p:nvSpPr>
          <p:cNvPr id="9" name="Text 6"/>
          <p:cNvSpPr txBox="1"/>
          <p:nvPr/>
        </p:nvSpPr>
        <p:spPr>
          <a:xfrm>
            <a:off x="749808"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产业园物理全域约 60 万㎡</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生产车间、研发实验室、仓储物流区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危化品库区、员工宿舍、办公区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配电房、受限空间、道路与周界</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预留集团 12 个园区调度接入</a:t>
            </a:r>
            <a:endParaRPr lang="en-US" sz="1000" dirty="0"/>
          </a:p>
        </p:txBody>
      </p:sp>
      <p:sp>
        <p:nvSpPr>
          <p:cNvPr id="10" name="Shape 7"/>
          <p:cNvSpPr/>
          <p:nvPr/>
        </p:nvSpPr>
        <p:spPr>
          <a:xfrm>
            <a:off x="4307738"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508906" y="1389888"/>
            <a:ext cx="420624" cy="420624"/>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622475" y="1503456"/>
            <a:ext cx="193487" cy="193487"/>
          </a:xfrm>
          <a:prstGeom prst="rect">
            <a:avLst/>
          </a:prstGeom>
        </p:spPr>
      </p:pic>
      <p:sp>
        <p:nvSpPr>
          <p:cNvPr id="13" name="Text 9"/>
          <p:cNvSpPr txBox="1"/>
          <p:nvPr/>
        </p:nvSpPr>
        <p:spPr>
          <a:xfrm>
            <a:off x="5039258"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流程范围</a:t>
            </a:r>
            <a:endParaRPr lang="en-US" sz="1400" dirty="0"/>
          </a:p>
        </p:txBody>
      </p:sp>
      <p:sp>
        <p:nvSpPr>
          <p:cNvPr id="14" name="Text 10"/>
          <p:cNvSpPr txBox="1"/>
          <p:nvPr/>
        </p:nvSpPr>
        <p:spPr>
          <a:xfrm>
            <a:off x="4527194"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行政后勤：宿舍住宿与运维、费用结算、品质巡检、服务受理与派单、工单评价、外协人员管理</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EHS：消防应急预案与演练、消防培训、设施维护</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制造：外来车辆管理、车辆资源调度（含外租）</a:t>
            </a:r>
            <a:endParaRPr lang="en-US" sz="1000" dirty="0"/>
          </a:p>
        </p:txBody>
      </p:sp>
      <p:sp>
        <p:nvSpPr>
          <p:cNvPr id="15" name="Shape 11"/>
          <p:cNvSpPr/>
          <p:nvPr/>
        </p:nvSpPr>
        <p:spPr>
          <a:xfrm>
            <a:off x="8085125"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8286293" y="1389888"/>
            <a:ext cx="420624" cy="420624"/>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8399861" y="1503456"/>
            <a:ext cx="193487" cy="193487"/>
          </a:xfrm>
          <a:prstGeom prst="rect">
            <a:avLst/>
          </a:prstGeom>
        </p:spPr>
      </p:pic>
      <p:sp>
        <p:nvSpPr>
          <p:cNvPr id="18" name="Text 13"/>
          <p:cNvSpPr txBox="1"/>
          <p:nvPr/>
        </p:nvSpPr>
        <p:spPr>
          <a:xfrm>
            <a:off x="8816645"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功能范围</a:t>
            </a:r>
            <a:endParaRPr lang="en-US" sz="1400" dirty="0"/>
          </a:p>
        </p:txBody>
      </p:sp>
      <p:sp>
        <p:nvSpPr>
          <p:cNvPr id="19" name="Text 14"/>
          <p:cNvSpPr txBox="1"/>
          <p:nvPr/>
        </p:nvSpPr>
        <p:spPr>
          <a:xfrm>
            <a:off x="8304581"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五大业务子系统 + 一体化统一运营平台</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数据驾驶舱 + 移动端应用</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报表管理：工位级、楼栋级、园区级三级看板</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系统管理：RBAC 权限、日志审计</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各类告警、巡检、报事报修统一管控</a:t>
            </a:r>
            <a:endParaRPr lang="en-US" sz="1000" dirty="0"/>
          </a:p>
        </p:txBody>
      </p:sp>
      <p:sp>
        <p:nvSpPr>
          <p:cNvPr id="20" name="Shape 15"/>
          <p:cNvSpPr/>
          <p:nvPr/>
        </p:nvSpPr>
        <p:spPr>
          <a:xfrm>
            <a:off x="530352"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731520" y="3968496"/>
            <a:ext cx="420624" cy="420624"/>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45088" y="4082064"/>
            <a:ext cx="193487" cy="193487"/>
          </a:xfrm>
          <a:prstGeom prst="rect">
            <a:avLst/>
          </a:prstGeom>
        </p:spPr>
      </p:pic>
      <p:sp>
        <p:nvSpPr>
          <p:cNvPr id="23" name="Text 17"/>
          <p:cNvSpPr txBox="1"/>
          <p:nvPr/>
        </p:nvSpPr>
        <p:spPr>
          <a:xfrm>
            <a:off x="1261872"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数据范围</a:t>
            </a:r>
            <a:endParaRPr lang="en-US" sz="1400" dirty="0"/>
          </a:p>
        </p:txBody>
      </p:sp>
      <p:sp>
        <p:nvSpPr>
          <p:cNvPr id="24" name="Text 18"/>
          <p:cNvSpPr txBox="1"/>
          <p:nvPr/>
        </p:nvSpPr>
        <p:spPr>
          <a:xfrm>
            <a:off x="749808"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园区、地理空间、资产、人员四类主数据</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环境状态、安防消防、设备运行、能耗数据</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事件与工单数据、操作与访问日志</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主数据遵循阳光电源 MDM 标准规范</a:t>
            </a:r>
            <a:endParaRPr lang="en-US" sz="1000" dirty="0"/>
          </a:p>
        </p:txBody>
      </p:sp>
      <p:sp>
        <p:nvSpPr>
          <p:cNvPr id="25" name="Shape 19"/>
          <p:cNvSpPr/>
          <p:nvPr/>
        </p:nvSpPr>
        <p:spPr>
          <a:xfrm>
            <a:off x="4307738"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4508906" y="3968496"/>
            <a:ext cx="420624" cy="420624"/>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4622475" y="4082064"/>
            <a:ext cx="193487" cy="193487"/>
          </a:xfrm>
          <a:prstGeom prst="rect">
            <a:avLst/>
          </a:prstGeom>
        </p:spPr>
      </p:pic>
      <p:sp>
        <p:nvSpPr>
          <p:cNvPr id="28" name="Text 21"/>
          <p:cNvSpPr txBox="1"/>
          <p:nvPr/>
        </p:nvSpPr>
        <p:spPr>
          <a:xfrm>
            <a:off x="5039258"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集成范围</a:t>
            </a:r>
            <a:endParaRPr lang="en-US" sz="1400" dirty="0"/>
          </a:p>
        </p:txBody>
      </p:sp>
      <p:sp>
        <p:nvSpPr>
          <p:cNvPr id="29" name="Text 22"/>
          <p:cNvSpPr txBox="1"/>
          <p:nvPr/>
        </p:nvSpPr>
        <p:spPr>
          <a:xfrm>
            <a:off x="4527194"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iSungrow（钉钉）、BPM、轻应用、MDM、PS/WTS</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EAM、WMS、TMS、EMS、ERP、EHS、SRM</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费控系统、数据湖</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第三方：视频监控、道闸、门禁一卡通、车辆管理</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统一经 ESB 企业集成总线集成</a:t>
            </a:r>
            <a:endParaRPr lang="en-US" sz="1000" dirty="0"/>
          </a:p>
        </p:txBody>
      </p:sp>
      <p:sp>
        <p:nvSpPr>
          <p:cNvPr id="30" name="Shape 23"/>
          <p:cNvSpPr/>
          <p:nvPr/>
        </p:nvSpPr>
        <p:spPr>
          <a:xfrm>
            <a:off x="8085125"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4"/>
          <p:cNvSpPr/>
          <p:nvPr/>
        </p:nvSpPr>
        <p:spPr>
          <a:xfrm>
            <a:off x="8286293" y="3968496"/>
            <a:ext cx="420624" cy="420624"/>
          </a:xfrm>
          <a:prstGeom prst="ellipse">
            <a:avLst/>
          </a:prstGeom>
          <a:solidFill>
            <a:srgbClr val="F97B00"/>
          </a:solidFill>
          <a:ln/>
        </p:spPr>
      </p:sp>
      <p:pic>
        <p:nvPicPr>
          <p:cNvPr id="32" name="Image 5" descr="preencoded.png">    </p:cNvPr>
          <p:cNvPicPr>
            <a:picLocks noChangeAspect="1"/>
          </p:cNvPicPr>
          <p:nvPr/>
        </p:nvPicPr>
        <p:blipFill>
          <a:blip r:embed="rId6"/>
          <a:stretch>
            <a:fillRect/>
          </a:stretch>
        </p:blipFill>
        <p:spPr>
          <a:xfrm>
            <a:off x="8399861" y="4082064"/>
            <a:ext cx="193487" cy="193487"/>
          </a:xfrm>
          <a:prstGeom prst="rect">
            <a:avLst/>
          </a:prstGeom>
        </p:spPr>
      </p:pic>
      <p:sp>
        <p:nvSpPr>
          <p:cNvPr id="33" name="Text 25"/>
          <p:cNvSpPr txBox="1"/>
          <p:nvPr/>
        </p:nvSpPr>
        <p:spPr>
          <a:xfrm>
            <a:off x="8816645"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硬件范围</a:t>
            </a:r>
            <a:endParaRPr lang="en-US" sz="1400" dirty="0"/>
          </a:p>
        </p:txBody>
      </p:sp>
      <p:sp>
        <p:nvSpPr>
          <p:cNvPr id="34" name="Text 26"/>
          <p:cNvSpPr txBox="1"/>
          <p:nvPr/>
        </p:nvSpPr>
        <p:spPr>
          <a:xfrm>
            <a:off x="8304581"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视频监控硬件：枪机、球机、全景、热成像、防爆、AI 结构化</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周界入侵报警：振动光纤 4000m + 40 台联动摄像机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物联网传感：温湿度、水浸、烟感、气体、压力、流量</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无人机 1 台作为补充与应急、NFC 巡更点 40+</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尽可能利旧，出清单与深化图并调试接入</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从需求到方案：痛点—举措—量化指标全链路对照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每一个痛点都有对应的系统举措和可验收的量化指标（呼应客户"效果要量化"的要求）</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234440"/>
                <a:gridCol w="3703320"/>
                <a:gridCol w="4160520"/>
                <a:gridCol w="2032711"/>
              </a:tblGrid>
              <a:tr h="39776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痛点分类</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现状问题</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本方案对应举措</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量化验收指标</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司机无预约习惯、门岗手工登记耗时长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在线预约 + 智能排期 + 电子手续自动化 + 黑白名单无感通行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入园手续时长 ↓ 60%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厂内车辆行驶混乱、卸货区与门岗拥堵</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园内导航引导 + 最优月台分配 + 排队叫号与紧急插队机制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车辆平均等待 ↓ 40%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月台空满不可知、无法分析波峰波谷</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月台可视化 + 占用超阈告警 + 使用率与作业时长分析报表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月台使用率 ↑ 20%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跨园区转运靠电话、费用无法归集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12 园区统一调度 + 按成本中心汇总 + 均摊规则配置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单车周转率 ↑ 25%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消防系统分散、末端状态靠人工台账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安消一体平台 + 9 大类设施联网监测（准确率 ≥95%）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故障发现时长 ↓ 80%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智能分析预警不完善、误报漏报多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多传感器交叉验证 + 分级预警 + 视频联动复核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火警误报率 ↓ 50%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周界摄像头覆盖不全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振动光纤 4000m + 40 台联动摄像机 + 越界自动生成工单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周界覆盖率 100%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运营管理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巡检隐患整改无闭环、责任不清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统一工单池 + 分级分类 + 属地责任人 + 超期升级提醒</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隐患按期整改率 ≥98%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人员管理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外协单位与人员资料分散、考核无依据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外协全生命周期档案 + 服务质量评价 + 考核-扣款-结算联动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费用核算工时 ↓ 70%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数据驱动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缺少调度与运营数据的记录分析能力</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园区运营驾驶舱 + 60+ 张定制报表 + 三级看板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关键报表 100% 在线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预期成效与价值：从"有没有系统"走向"用得好不好"</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目标值与贵方业务部门共同测算，复用联想园区实践沉淀的标准与模板</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五个效率维度的量化收益</a:t>
            </a:r>
            <a:endParaRPr lang="en-US" sz="1250" dirty="0"/>
          </a:p>
        </p:txBody>
      </p:sp>
      <p:graphicFrame>
        <p:nvGraphicFramePr>
          <p:cNvPr id="7" name="Chart 0" descr=""/>
          <p:cNvGraphicFramePr/>
          <p:nvPr/>
        </p:nvGraphicFramePr>
        <p:xfrm>
          <a:off x="530352" y="1536192"/>
          <a:ext cx="5989320" cy="23957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885432" y="1257300"/>
            <a:ext cx="68580" cy="173736"/>
          </a:xfrm>
          <a:prstGeom prst="rect">
            <a:avLst/>
          </a:prstGeom>
          <a:solidFill>
            <a:srgbClr val="F97B00"/>
          </a:solidFill>
          <a:ln/>
        </p:spPr>
      </p:sp>
      <p:sp>
        <p:nvSpPr>
          <p:cNvPr id="9" name="Text 6"/>
          <p:cNvSpPr txBox="1"/>
          <p:nvPr/>
        </p:nvSpPr>
        <p:spPr>
          <a:xfrm>
            <a:off x="704088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管理价值</a:t>
            </a:r>
            <a:endParaRPr lang="en-US" sz="1250" dirty="0"/>
          </a:p>
        </p:txBody>
      </p:sp>
      <p:sp>
        <p:nvSpPr>
          <p:cNvPr id="10" name="Shape 7"/>
          <p:cNvSpPr/>
          <p:nvPr/>
        </p:nvSpPr>
        <p:spPr>
          <a:xfrm>
            <a:off x="6885432" y="1536192"/>
            <a:ext cx="4773168" cy="530352"/>
          </a:xfrm>
          <a:prstGeom prst="roundRect">
            <a:avLst>
              <a:gd name="adj" fmla="val 6034"/>
            </a:avLst>
          </a:prstGeom>
          <a:solidFill>
            <a:srgbClr val="F6F8FA"/>
          </a:solidFill>
          <a:ln w="9525">
            <a:solidFill>
              <a:srgbClr val="E3E7EB"/>
            </a:solidFill>
            <a:prstDash val="solid"/>
          </a:ln>
        </p:spPr>
      </p:sp>
      <p:sp>
        <p:nvSpPr>
          <p:cNvPr id="11" name="Shape 8"/>
          <p:cNvSpPr/>
          <p:nvPr/>
        </p:nvSpPr>
        <p:spPr>
          <a:xfrm>
            <a:off x="7040880" y="1673352"/>
            <a:ext cx="256032" cy="256032"/>
          </a:xfrm>
          <a:prstGeom prst="ellipse">
            <a:avLst/>
          </a:prstGeom>
          <a:solidFill>
            <a:srgbClr val="F97B00"/>
          </a:solidFill>
          <a:ln/>
        </p:spPr>
      </p:sp>
      <p:sp>
        <p:nvSpPr>
          <p:cNvPr id="12" name="Text 9"/>
          <p:cNvSpPr txBox="1"/>
          <p:nvPr/>
        </p:nvSpPr>
        <p:spPr>
          <a:xfrm>
            <a:off x="7040880" y="16733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7388352" y="1536192"/>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安全底线更稳</a:t>
            </a:r>
            <a:endParaRPr lang="en-US" sz="1100" dirty="0"/>
          </a:p>
        </p:txBody>
      </p:sp>
      <p:sp>
        <p:nvSpPr>
          <p:cNvPr id="14" name="Text 11"/>
          <p:cNvSpPr txBox="1"/>
          <p:nvPr/>
        </p:nvSpPr>
        <p:spPr>
          <a:xfrm>
            <a:off x="8778240" y="1572768"/>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消防设施状态可见可控、AI 行为识别全场景覆盖，重大安全事件风险显著下降</a:t>
            </a:r>
            <a:endParaRPr lang="en-US" sz="1000" dirty="0"/>
          </a:p>
        </p:txBody>
      </p:sp>
      <p:sp>
        <p:nvSpPr>
          <p:cNvPr id="15" name="Shape 12"/>
          <p:cNvSpPr/>
          <p:nvPr/>
        </p:nvSpPr>
        <p:spPr>
          <a:xfrm>
            <a:off x="6885432" y="2157984"/>
            <a:ext cx="4773168" cy="530352"/>
          </a:xfrm>
          <a:prstGeom prst="roundRect">
            <a:avLst>
              <a:gd name="adj" fmla="val 6034"/>
            </a:avLst>
          </a:prstGeom>
          <a:solidFill>
            <a:srgbClr val="F6F8FA"/>
          </a:solidFill>
          <a:ln w="9525">
            <a:solidFill>
              <a:srgbClr val="E3E7EB"/>
            </a:solidFill>
            <a:prstDash val="solid"/>
          </a:ln>
        </p:spPr>
      </p:sp>
      <p:sp>
        <p:nvSpPr>
          <p:cNvPr id="16" name="Shape 13"/>
          <p:cNvSpPr/>
          <p:nvPr/>
        </p:nvSpPr>
        <p:spPr>
          <a:xfrm>
            <a:off x="7040880" y="2295144"/>
            <a:ext cx="256032" cy="256032"/>
          </a:xfrm>
          <a:prstGeom prst="ellipse">
            <a:avLst/>
          </a:prstGeom>
          <a:solidFill>
            <a:srgbClr val="F97B00"/>
          </a:solidFill>
          <a:ln/>
        </p:spPr>
      </p:sp>
      <p:sp>
        <p:nvSpPr>
          <p:cNvPr id="17" name="Text 14"/>
          <p:cNvSpPr txBox="1"/>
          <p:nvPr/>
        </p:nvSpPr>
        <p:spPr>
          <a:xfrm>
            <a:off x="7040880" y="22951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7388352" y="2157984"/>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运营口径统一</a:t>
            </a:r>
            <a:endParaRPr lang="en-US" sz="1100" dirty="0"/>
          </a:p>
        </p:txBody>
      </p:sp>
      <p:sp>
        <p:nvSpPr>
          <p:cNvPr id="19" name="Text 16"/>
          <p:cNvSpPr txBox="1"/>
          <p:nvPr/>
        </p:nvSpPr>
        <p:spPr>
          <a:xfrm>
            <a:off x="8778240" y="2194560"/>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人/车/空间/设备四类主数据统一，报表口径一致，管理决策有据可依</a:t>
            </a:r>
            <a:endParaRPr lang="en-US" sz="1000" dirty="0"/>
          </a:p>
        </p:txBody>
      </p:sp>
      <p:sp>
        <p:nvSpPr>
          <p:cNvPr id="20" name="Shape 17"/>
          <p:cNvSpPr/>
          <p:nvPr/>
        </p:nvSpPr>
        <p:spPr>
          <a:xfrm>
            <a:off x="6885432" y="2779776"/>
            <a:ext cx="4773168" cy="530352"/>
          </a:xfrm>
          <a:prstGeom prst="roundRect">
            <a:avLst>
              <a:gd name="adj" fmla="val 6034"/>
            </a:avLst>
          </a:prstGeom>
          <a:solidFill>
            <a:srgbClr val="F6F8FA"/>
          </a:solidFill>
          <a:ln w="9525">
            <a:solidFill>
              <a:srgbClr val="E3E7EB"/>
            </a:solidFill>
            <a:prstDash val="solid"/>
          </a:ln>
        </p:spPr>
      </p:sp>
      <p:sp>
        <p:nvSpPr>
          <p:cNvPr id="21" name="Shape 18"/>
          <p:cNvSpPr/>
          <p:nvPr/>
        </p:nvSpPr>
        <p:spPr>
          <a:xfrm>
            <a:off x="7040880" y="2916936"/>
            <a:ext cx="256032" cy="256032"/>
          </a:xfrm>
          <a:prstGeom prst="ellipse">
            <a:avLst/>
          </a:prstGeom>
          <a:solidFill>
            <a:srgbClr val="F97B00"/>
          </a:solidFill>
          <a:ln/>
        </p:spPr>
      </p:sp>
      <p:sp>
        <p:nvSpPr>
          <p:cNvPr id="22" name="Text 19"/>
          <p:cNvSpPr txBox="1"/>
          <p:nvPr/>
        </p:nvSpPr>
        <p:spPr>
          <a:xfrm>
            <a:off x="7040880" y="2916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7388352" y="2779776"/>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服务体验可感知</a:t>
            </a:r>
            <a:endParaRPr lang="en-US" sz="1100" dirty="0"/>
          </a:p>
        </p:txBody>
      </p:sp>
      <p:sp>
        <p:nvSpPr>
          <p:cNvPr id="24" name="Text 21"/>
          <p:cNvSpPr txBox="1"/>
          <p:nvPr/>
        </p:nvSpPr>
        <p:spPr>
          <a:xfrm>
            <a:off x="8778240" y="2816352"/>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员工与司机端一键办理、进度可查、一键评价，满意度可量化考核</a:t>
            </a:r>
            <a:endParaRPr lang="en-US" sz="1000" dirty="0"/>
          </a:p>
        </p:txBody>
      </p:sp>
      <p:sp>
        <p:nvSpPr>
          <p:cNvPr id="25" name="Shape 22"/>
          <p:cNvSpPr/>
          <p:nvPr/>
        </p:nvSpPr>
        <p:spPr>
          <a:xfrm>
            <a:off x="6885432" y="3401568"/>
            <a:ext cx="4773168" cy="530352"/>
          </a:xfrm>
          <a:prstGeom prst="roundRect">
            <a:avLst>
              <a:gd name="adj" fmla="val 6034"/>
            </a:avLst>
          </a:prstGeom>
          <a:solidFill>
            <a:srgbClr val="F6F8FA"/>
          </a:solidFill>
          <a:ln w="9525">
            <a:solidFill>
              <a:srgbClr val="E3E7EB"/>
            </a:solidFill>
            <a:prstDash val="solid"/>
          </a:ln>
        </p:spPr>
      </p:sp>
      <p:sp>
        <p:nvSpPr>
          <p:cNvPr id="26" name="Shape 23"/>
          <p:cNvSpPr/>
          <p:nvPr/>
        </p:nvSpPr>
        <p:spPr>
          <a:xfrm>
            <a:off x="7040880" y="3538728"/>
            <a:ext cx="256032" cy="256032"/>
          </a:xfrm>
          <a:prstGeom prst="ellipse">
            <a:avLst/>
          </a:prstGeom>
          <a:solidFill>
            <a:srgbClr val="F97B00"/>
          </a:solidFill>
          <a:ln/>
        </p:spPr>
      </p:sp>
      <p:sp>
        <p:nvSpPr>
          <p:cNvPr id="27" name="Text 24"/>
          <p:cNvSpPr txBox="1"/>
          <p:nvPr/>
        </p:nvSpPr>
        <p:spPr>
          <a:xfrm>
            <a:off x="7040880" y="35387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7388352" y="3401568"/>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集团复制可期</a:t>
            </a:r>
            <a:endParaRPr lang="en-US" sz="1100" dirty="0"/>
          </a:p>
        </p:txBody>
      </p:sp>
      <p:sp>
        <p:nvSpPr>
          <p:cNvPr id="29" name="Text 26"/>
          <p:cNvSpPr txBox="1"/>
          <p:nvPr/>
        </p:nvSpPr>
        <p:spPr>
          <a:xfrm>
            <a:off x="8778240" y="3438144"/>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一期沉淀标准化模块与数据标准，后续园区复制周期与成本大幅降低</a:t>
            </a:r>
            <a:endParaRPr lang="en-US" sz="1000" dirty="0"/>
          </a:p>
        </p:txBody>
      </p:sp>
      <p:sp>
        <p:nvSpPr>
          <p:cNvPr id="30" name="Shape 27"/>
          <p:cNvSpPr/>
          <p:nvPr/>
        </p:nvSpPr>
        <p:spPr>
          <a:xfrm>
            <a:off x="530352" y="4000500"/>
            <a:ext cx="68580" cy="173736"/>
          </a:xfrm>
          <a:prstGeom prst="rect">
            <a:avLst/>
          </a:prstGeom>
          <a:solidFill>
            <a:srgbClr val="F97B00"/>
          </a:solidFill>
          <a:ln/>
        </p:spPr>
      </p:sp>
      <p:sp>
        <p:nvSpPr>
          <p:cNvPr id="31" name="Text 28"/>
          <p:cNvSpPr txBox="1"/>
          <p:nvPr/>
        </p:nvSpPr>
        <p:spPr>
          <a:xfrm>
            <a:off x="685800" y="39502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从联想园区实践中可直接复用的三类资产</a:t>
            </a:r>
            <a:endParaRPr lang="en-US" sz="1250" dirty="0"/>
          </a:p>
        </p:txBody>
      </p:sp>
      <p:sp>
        <p:nvSpPr>
          <p:cNvPr id="32" name="Shape 29"/>
          <p:cNvSpPr/>
          <p:nvPr/>
        </p:nvSpPr>
        <p:spPr>
          <a:xfrm>
            <a:off x="530352"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731520" y="4443984"/>
            <a:ext cx="438912" cy="438912"/>
          </a:xfrm>
          <a:prstGeom prst="ellipse">
            <a:avLst/>
          </a:prstGeom>
          <a:solidFill>
            <a:srgbClr val="F97B00"/>
          </a:solidFill>
          <a:ln/>
        </p:spPr>
      </p:sp>
      <p:pic>
        <p:nvPicPr>
          <p:cNvPr id="34" name="Image 0" descr="preencoded.png">    </p:cNvPr>
          <p:cNvPicPr>
            <a:picLocks noChangeAspect="1"/>
          </p:cNvPicPr>
          <p:nvPr/>
        </p:nvPicPr>
        <p:blipFill>
          <a:blip r:embed="rId2"/>
          <a:stretch>
            <a:fillRect/>
          </a:stretch>
        </p:blipFill>
        <p:spPr>
          <a:xfrm>
            <a:off x="850026" y="4562490"/>
            <a:ext cx="201900" cy="201900"/>
          </a:xfrm>
          <a:prstGeom prst="rect">
            <a:avLst/>
          </a:prstGeom>
        </p:spPr>
      </p:pic>
      <p:sp>
        <p:nvSpPr>
          <p:cNvPr id="35" name="Text 31"/>
          <p:cNvSpPr txBox="1"/>
          <p:nvPr/>
        </p:nvSpPr>
        <p:spPr>
          <a:xfrm>
            <a:off x="1261872"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数据标准化</a:t>
            </a:r>
            <a:endParaRPr lang="en-US" sz="1250" dirty="0"/>
          </a:p>
        </p:txBody>
      </p:sp>
      <p:sp>
        <p:nvSpPr>
          <p:cNvPr id="36" name="Text 32"/>
          <p:cNvSpPr txBox="1"/>
          <p:nvPr/>
        </p:nvSpPr>
        <p:spPr>
          <a:xfrm>
            <a:off x="731520"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人 / 车 / 空间 / 设备四类主数据的字段定义、编码规则、数据质量校验规则与 L1-L5 分级清单，直接作为本项目数据标准的起草底稿</a:t>
            </a:r>
            <a:endParaRPr lang="en-US" sz="1000" dirty="0"/>
          </a:p>
        </p:txBody>
      </p:sp>
      <p:sp>
        <p:nvSpPr>
          <p:cNvPr id="37" name="Shape 33"/>
          <p:cNvSpPr/>
          <p:nvPr/>
        </p:nvSpPr>
        <p:spPr>
          <a:xfrm>
            <a:off x="4313834"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4515002" y="4443984"/>
            <a:ext cx="438912" cy="438912"/>
          </a:xfrm>
          <a:prstGeom prst="ellipse">
            <a:avLst/>
          </a:prstGeom>
          <a:solidFill>
            <a:srgbClr val="F97B00"/>
          </a:solidFill>
          <a:ln/>
        </p:spPr>
      </p:sp>
      <p:pic>
        <p:nvPicPr>
          <p:cNvPr id="39" name="Image 1" descr="preencoded.png">    </p:cNvPr>
          <p:cNvPicPr>
            <a:picLocks noChangeAspect="1"/>
          </p:cNvPicPr>
          <p:nvPr/>
        </p:nvPicPr>
        <p:blipFill>
          <a:blip r:embed="rId3"/>
          <a:stretch>
            <a:fillRect/>
          </a:stretch>
        </p:blipFill>
        <p:spPr>
          <a:xfrm>
            <a:off x="4633509" y="4562490"/>
            <a:ext cx="201900" cy="201900"/>
          </a:xfrm>
          <a:prstGeom prst="rect">
            <a:avLst/>
          </a:prstGeom>
        </p:spPr>
      </p:pic>
      <p:sp>
        <p:nvSpPr>
          <p:cNvPr id="40" name="Text 35"/>
          <p:cNvSpPr txBox="1"/>
          <p:nvPr/>
        </p:nvSpPr>
        <p:spPr>
          <a:xfrm>
            <a:off x="5045354"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流程模板</a:t>
            </a:r>
            <a:endParaRPr lang="en-US" sz="1250" dirty="0"/>
          </a:p>
        </p:txBody>
      </p:sp>
      <p:sp>
        <p:nvSpPr>
          <p:cNvPr id="41" name="Text 36"/>
          <p:cNvSpPr txBox="1"/>
          <p:nvPr/>
        </p:nvSpPr>
        <p:spPr>
          <a:xfrm>
            <a:off x="4515002"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预约—入园—引导—月台—出园、报警—派单—处置—复盘、入住—退宿—权限回收等主流程的状态机与角色矩阵模板，缩短需求分析与蓝图确认周期</a:t>
            </a:r>
            <a:endParaRPr lang="en-US" sz="1000" dirty="0"/>
          </a:p>
        </p:txBody>
      </p:sp>
      <p:sp>
        <p:nvSpPr>
          <p:cNvPr id="42" name="Shape 37"/>
          <p:cNvSpPr/>
          <p:nvPr/>
        </p:nvSpPr>
        <p:spPr>
          <a:xfrm>
            <a:off x="8097317"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8298485" y="4443984"/>
            <a:ext cx="438912" cy="438912"/>
          </a:xfrm>
          <a:prstGeom prst="ellipse">
            <a:avLst/>
          </a:prstGeom>
          <a:solidFill>
            <a:srgbClr val="F97B00"/>
          </a:solidFill>
          <a:ln/>
        </p:spPr>
      </p:sp>
      <p:pic>
        <p:nvPicPr>
          <p:cNvPr id="44" name="Image 2" descr="preencoded.png">    </p:cNvPr>
          <p:cNvPicPr>
            <a:picLocks noChangeAspect="1"/>
          </p:cNvPicPr>
          <p:nvPr/>
        </p:nvPicPr>
        <p:blipFill>
          <a:blip r:embed="rId4"/>
          <a:stretch>
            <a:fillRect/>
          </a:stretch>
        </p:blipFill>
        <p:spPr>
          <a:xfrm>
            <a:off x="8416991" y="4562490"/>
            <a:ext cx="201900" cy="201900"/>
          </a:xfrm>
          <a:prstGeom prst="rect">
            <a:avLst/>
          </a:prstGeom>
        </p:spPr>
      </p:pic>
      <p:sp>
        <p:nvSpPr>
          <p:cNvPr id="45" name="Text 39"/>
          <p:cNvSpPr txBox="1"/>
          <p:nvPr/>
        </p:nvSpPr>
        <p:spPr>
          <a:xfrm>
            <a:off x="8828837"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联动策略</a:t>
            </a:r>
            <a:endParaRPr lang="en-US" sz="1250" dirty="0"/>
          </a:p>
        </p:txBody>
      </p:sp>
      <p:sp>
        <p:nvSpPr>
          <p:cNvPr id="46" name="Text 40"/>
          <p:cNvSpPr txBox="1"/>
          <p:nvPr/>
        </p:nvSpPr>
        <p:spPr>
          <a:xfrm>
            <a:off x="8298485"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消防与门禁 / 广播 / 排烟的联动动作表、越界双确认与降误报阈值策略、工单分级与超期升级规则，均为经过现场调优的可复用配置</a:t>
            </a:r>
            <a:endParaRPr lang="en-US" sz="1000" dirty="0"/>
          </a:p>
        </p:txBody>
      </p:sp>
      <p:sp>
        <p:nvSpPr>
          <p:cNvPr id="47" name="Text 41"/>
          <p:cNvSpPr txBox="1"/>
          <p:nvPr/>
        </p:nvSpPr>
        <p:spPr>
          <a:xfrm>
            <a:off x="530352" y="5687568"/>
            <a:ext cx="11130991" cy="310896"/>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说明：本项目的目标值不套用外部基准，将在需求分析阶段与各业务部门共同测算后写入验收指标；上表三类资产是缩短周期、降低返工的复用基础，而非效益承诺。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项目建设方案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建设思路与总体规划</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总体功能架构设计</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平台底座与统一运营中心</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智慧物流 · 消防 · 安防</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宿舍管理 · 外协管理</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场景流程模拟与跨场景联动闭环</a:t>
            </a:r>
            <a:endParaRPr lang="en-US" sz="1300" dirty="0"/>
          </a:p>
        </p:txBody>
      </p:sp>
      <p:sp>
        <p:nvSpPr>
          <p:cNvPr id="17" name="Shape 15"/>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8"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建设思路：一次规划、分步落地、以运营为终点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不是交付一堆功能，而是交付一个能持续运转、能复制推广的园区运营体系</a:t>
            </a:r>
            <a:endParaRPr lang="en-US" sz="1250" dirty="0"/>
          </a:p>
        </p:txBody>
      </p:sp>
      <p:sp>
        <p:nvSpPr>
          <p:cNvPr id="5" name="Shape 3"/>
          <p:cNvSpPr/>
          <p:nvPr/>
        </p:nvSpPr>
        <p:spPr>
          <a:xfrm>
            <a:off x="530352" y="1207008"/>
            <a:ext cx="2182307" cy="530352"/>
          </a:xfrm>
          <a:prstGeom prst="homePlate">
            <a:avLst/>
          </a:prstGeom>
          <a:solidFill>
            <a:srgbClr val="F97B00"/>
          </a:solidFill>
          <a:ln/>
        </p:spPr>
      </p:sp>
      <p:sp>
        <p:nvSpPr>
          <p:cNvPr id="6" name="Text 4"/>
          <p:cNvSpPr txBox="1"/>
          <p:nvPr/>
        </p:nvSpPr>
        <p:spPr>
          <a:xfrm>
            <a:off x="792229"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统一底座</a:t>
            </a:r>
            <a:endParaRPr lang="en-US" sz="1300" dirty="0"/>
          </a:p>
        </p:txBody>
      </p:sp>
      <p:sp>
        <p:nvSpPr>
          <p:cNvPr id="7" name="Shape 5"/>
          <p:cNvSpPr/>
          <p:nvPr/>
        </p:nvSpPr>
        <p:spPr>
          <a:xfrm>
            <a:off x="2767523" y="1207008"/>
            <a:ext cx="2182307" cy="530352"/>
          </a:xfrm>
          <a:prstGeom prst="chevron">
            <a:avLst/>
          </a:prstGeom>
          <a:solidFill>
            <a:srgbClr val="FF9F3D"/>
          </a:solidFill>
          <a:ln/>
        </p:spPr>
      </p:sp>
      <p:sp>
        <p:nvSpPr>
          <p:cNvPr id="8" name="Text 6"/>
          <p:cNvSpPr txBox="1"/>
          <p:nvPr/>
        </p:nvSpPr>
        <p:spPr>
          <a:xfrm>
            <a:off x="3029400"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补齐子系统</a:t>
            </a:r>
            <a:endParaRPr lang="en-US" sz="1300" dirty="0"/>
          </a:p>
        </p:txBody>
      </p:sp>
      <p:sp>
        <p:nvSpPr>
          <p:cNvPr id="9" name="Shape 7"/>
          <p:cNvSpPr/>
          <p:nvPr/>
        </p:nvSpPr>
        <p:spPr>
          <a:xfrm>
            <a:off x="5004694" y="1207008"/>
            <a:ext cx="2182307" cy="530352"/>
          </a:xfrm>
          <a:prstGeom prst="chevron">
            <a:avLst/>
          </a:prstGeom>
          <a:solidFill>
            <a:srgbClr val="F97B00"/>
          </a:solidFill>
          <a:ln/>
        </p:spPr>
      </p:sp>
      <p:sp>
        <p:nvSpPr>
          <p:cNvPr id="10" name="Text 8"/>
          <p:cNvSpPr txBox="1"/>
          <p:nvPr/>
        </p:nvSpPr>
        <p:spPr>
          <a:xfrm>
            <a:off x="5266571"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数据贯通</a:t>
            </a:r>
            <a:endParaRPr lang="en-US" sz="1300" dirty="0"/>
          </a:p>
        </p:txBody>
      </p:sp>
      <p:sp>
        <p:nvSpPr>
          <p:cNvPr id="11" name="Shape 9"/>
          <p:cNvSpPr/>
          <p:nvPr/>
        </p:nvSpPr>
        <p:spPr>
          <a:xfrm>
            <a:off x="7241865" y="1207008"/>
            <a:ext cx="2182307" cy="530352"/>
          </a:xfrm>
          <a:prstGeom prst="chevron">
            <a:avLst/>
          </a:prstGeom>
          <a:solidFill>
            <a:srgbClr val="FF9F3D"/>
          </a:solidFill>
          <a:ln/>
        </p:spPr>
      </p:sp>
      <p:sp>
        <p:nvSpPr>
          <p:cNvPr id="12" name="Text 10"/>
          <p:cNvSpPr txBox="1"/>
          <p:nvPr/>
        </p:nvSpPr>
        <p:spPr>
          <a:xfrm>
            <a:off x="7503742"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运营闭环</a:t>
            </a:r>
            <a:endParaRPr lang="en-US" sz="1300" dirty="0"/>
          </a:p>
        </p:txBody>
      </p:sp>
      <p:sp>
        <p:nvSpPr>
          <p:cNvPr id="13" name="Shape 11"/>
          <p:cNvSpPr/>
          <p:nvPr/>
        </p:nvSpPr>
        <p:spPr>
          <a:xfrm>
            <a:off x="9479036" y="1207008"/>
            <a:ext cx="2182307" cy="530352"/>
          </a:xfrm>
          <a:prstGeom prst="chevron">
            <a:avLst/>
          </a:prstGeom>
          <a:solidFill>
            <a:srgbClr val="F97B00"/>
          </a:solidFill>
          <a:ln/>
        </p:spPr>
      </p:sp>
      <p:sp>
        <p:nvSpPr>
          <p:cNvPr id="14" name="Text 12"/>
          <p:cNvSpPr txBox="1"/>
          <p:nvPr/>
        </p:nvSpPr>
        <p:spPr>
          <a:xfrm>
            <a:off x="9740913"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集团复制</a:t>
            </a:r>
            <a:endParaRPr lang="en-US" sz="1300" dirty="0"/>
          </a:p>
        </p:txBody>
      </p:sp>
      <p:sp>
        <p:nvSpPr>
          <p:cNvPr id="15" name="Shape 13"/>
          <p:cNvSpPr/>
          <p:nvPr/>
        </p:nvSpPr>
        <p:spPr>
          <a:xfrm>
            <a:off x="53035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49808" y="2249424"/>
            <a:ext cx="530352" cy="530352"/>
          </a:xfrm>
          <a:prstGeom prst="ellipse">
            <a:avLst/>
          </a:prstGeom>
          <a:solidFill>
            <a:srgbClr val="F97B00"/>
          </a:solidFill>
          <a:ln/>
        </p:spPr>
      </p:sp>
      <p:pic>
        <p:nvPicPr>
          <p:cNvPr id="17" name="Image 0" descr="preencoded.png">    </p:cNvPr>
          <p:cNvPicPr>
            <a:picLocks noChangeAspect="1"/>
          </p:cNvPicPr>
          <p:nvPr/>
        </p:nvPicPr>
        <p:blipFill>
          <a:blip r:embed="rId1"/>
          <a:stretch>
            <a:fillRect/>
          </a:stretch>
        </p:blipFill>
        <p:spPr>
          <a:xfrm>
            <a:off x="893003" y="2392619"/>
            <a:ext cx="243962" cy="243962"/>
          </a:xfrm>
          <a:prstGeom prst="rect">
            <a:avLst/>
          </a:prstGeom>
        </p:spPr>
      </p:pic>
      <p:sp>
        <p:nvSpPr>
          <p:cNvPr id="18" name="Text 15"/>
          <p:cNvSpPr txBox="1"/>
          <p:nvPr/>
        </p:nvSpPr>
        <p:spPr>
          <a:xfrm>
            <a:off x="140817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先底座、后应用</a:t>
            </a:r>
            <a:endParaRPr lang="en-US" sz="1400" dirty="0"/>
          </a:p>
        </p:txBody>
      </p:sp>
      <p:sp>
        <p:nvSpPr>
          <p:cNvPr id="19" name="Text 16"/>
          <p:cNvSpPr txBox="1"/>
          <p:nvPr/>
        </p:nvSpPr>
        <p:spPr>
          <a:xfrm>
            <a:off x="1408176" y="2432304"/>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先建主数据、空间模型、权限、工单、告警五项公共能力，五大子系统在同一底座上生长，避免又建五个新孤岛</a:t>
            </a:r>
            <a:endParaRPr lang="en-US" sz="1020" dirty="0"/>
          </a:p>
        </p:txBody>
      </p:sp>
      <p:sp>
        <p:nvSpPr>
          <p:cNvPr id="20" name="Shape 17"/>
          <p:cNvSpPr/>
          <p:nvPr/>
        </p:nvSpPr>
        <p:spPr>
          <a:xfrm>
            <a:off x="619963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8"/>
          <p:cNvSpPr/>
          <p:nvPr/>
        </p:nvSpPr>
        <p:spPr>
          <a:xfrm>
            <a:off x="6419088" y="2249424"/>
            <a:ext cx="530352" cy="530352"/>
          </a:xfrm>
          <a:prstGeom prst="ellipse">
            <a:avLst/>
          </a:prstGeom>
          <a:solidFill>
            <a:srgbClr val="F97B00"/>
          </a:solidFill>
          <a:ln/>
        </p:spPr>
      </p:sp>
      <p:pic>
        <p:nvPicPr>
          <p:cNvPr id="22" name="Image 1" descr="preencoded.png">    </p:cNvPr>
          <p:cNvPicPr>
            <a:picLocks noChangeAspect="1"/>
          </p:cNvPicPr>
          <p:nvPr/>
        </p:nvPicPr>
        <p:blipFill>
          <a:blip r:embed="rId2"/>
          <a:stretch>
            <a:fillRect/>
          </a:stretch>
        </p:blipFill>
        <p:spPr>
          <a:xfrm>
            <a:off x="6562283" y="2392619"/>
            <a:ext cx="243962" cy="243962"/>
          </a:xfrm>
          <a:prstGeom prst="rect">
            <a:avLst/>
          </a:prstGeom>
        </p:spPr>
      </p:pic>
      <p:sp>
        <p:nvSpPr>
          <p:cNvPr id="23" name="Text 19"/>
          <p:cNvSpPr txBox="1"/>
          <p:nvPr/>
        </p:nvSpPr>
        <p:spPr>
          <a:xfrm>
            <a:off x="707745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先流程、后界面</a:t>
            </a:r>
            <a:endParaRPr lang="en-US" sz="1400" dirty="0"/>
          </a:p>
        </p:txBody>
      </p:sp>
      <p:sp>
        <p:nvSpPr>
          <p:cNvPr id="24" name="Text 20"/>
          <p:cNvSpPr txBox="1"/>
          <p:nvPr/>
        </p:nvSpPr>
        <p:spPr>
          <a:xfrm>
            <a:off x="7077456" y="2432304"/>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每个子系统先明确 AS-IS / TO-BE 流程与责任矩阵，再做界面与配置，保证系统上线即符合管理制度</a:t>
            </a:r>
            <a:endParaRPr lang="en-US" sz="1020" dirty="0"/>
          </a:p>
        </p:txBody>
      </p:sp>
      <p:sp>
        <p:nvSpPr>
          <p:cNvPr id="25" name="Shape 21"/>
          <p:cNvSpPr/>
          <p:nvPr/>
        </p:nvSpPr>
        <p:spPr>
          <a:xfrm>
            <a:off x="53035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2"/>
          <p:cNvSpPr/>
          <p:nvPr/>
        </p:nvSpPr>
        <p:spPr>
          <a:xfrm>
            <a:off x="749808" y="3602736"/>
            <a:ext cx="530352" cy="530352"/>
          </a:xfrm>
          <a:prstGeom prst="ellipse">
            <a:avLst/>
          </a:prstGeom>
          <a:solidFill>
            <a:srgbClr val="F97B00"/>
          </a:solidFill>
          <a:ln/>
        </p:spPr>
      </p:sp>
      <p:pic>
        <p:nvPicPr>
          <p:cNvPr id="27" name="Image 2" descr="preencoded.png">    </p:cNvPr>
          <p:cNvPicPr>
            <a:picLocks noChangeAspect="1"/>
          </p:cNvPicPr>
          <p:nvPr/>
        </p:nvPicPr>
        <p:blipFill>
          <a:blip r:embed="rId3"/>
          <a:stretch>
            <a:fillRect/>
          </a:stretch>
        </p:blipFill>
        <p:spPr>
          <a:xfrm>
            <a:off x="893003" y="3745931"/>
            <a:ext cx="243962" cy="243962"/>
          </a:xfrm>
          <a:prstGeom prst="rect">
            <a:avLst/>
          </a:prstGeom>
        </p:spPr>
      </p:pic>
      <p:sp>
        <p:nvSpPr>
          <p:cNvPr id="28" name="Text 23"/>
          <p:cNvSpPr txBox="1"/>
          <p:nvPr/>
        </p:nvSpPr>
        <p:spPr>
          <a:xfrm>
            <a:off x="140817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先闭环、后智能</a:t>
            </a:r>
            <a:endParaRPr lang="en-US" sz="1400" dirty="0"/>
          </a:p>
        </p:txBody>
      </p:sp>
      <p:sp>
        <p:nvSpPr>
          <p:cNvPr id="29" name="Text 24"/>
          <p:cNvSpPr txBox="1"/>
          <p:nvPr/>
        </p:nvSpPr>
        <p:spPr>
          <a:xfrm>
            <a:off x="1408176" y="3785616"/>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优先保证"发起—派发—处理—验收—评价"闭环跑通，再叠加 AI 预测、算法派单等增强能力</a:t>
            </a:r>
            <a:endParaRPr lang="en-US" sz="1020" dirty="0"/>
          </a:p>
        </p:txBody>
      </p:sp>
      <p:sp>
        <p:nvSpPr>
          <p:cNvPr id="30" name="Shape 25"/>
          <p:cNvSpPr/>
          <p:nvPr/>
        </p:nvSpPr>
        <p:spPr>
          <a:xfrm>
            <a:off x="619963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6"/>
          <p:cNvSpPr/>
          <p:nvPr/>
        </p:nvSpPr>
        <p:spPr>
          <a:xfrm>
            <a:off x="6419088" y="3602736"/>
            <a:ext cx="530352" cy="530352"/>
          </a:xfrm>
          <a:prstGeom prst="ellipse">
            <a:avLst/>
          </a:prstGeom>
          <a:solidFill>
            <a:srgbClr val="F97B00"/>
          </a:solidFill>
          <a:ln/>
        </p:spPr>
      </p:sp>
      <p:pic>
        <p:nvPicPr>
          <p:cNvPr id="32" name="Image 3" descr="preencoded.png">    </p:cNvPr>
          <p:cNvPicPr>
            <a:picLocks noChangeAspect="1"/>
          </p:cNvPicPr>
          <p:nvPr/>
        </p:nvPicPr>
        <p:blipFill>
          <a:blip r:embed="rId4"/>
          <a:stretch>
            <a:fillRect/>
          </a:stretch>
        </p:blipFill>
        <p:spPr>
          <a:xfrm>
            <a:off x="6562283" y="3745931"/>
            <a:ext cx="243962" cy="243962"/>
          </a:xfrm>
          <a:prstGeom prst="rect">
            <a:avLst/>
          </a:prstGeom>
        </p:spPr>
      </p:pic>
      <p:sp>
        <p:nvSpPr>
          <p:cNvPr id="33" name="Text 27"/>
          <p:cNvSpPr txBox="1"/>
          <p:nvPr/>
        </p:nvSpPr>
        <p:spPr>
          <a:xfrm>
            <a:off x="707745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先试点、后复制</a:t>
            </a:r>
            <a:endParaRPr lang="en-US" sz="1400" dirty="0"/>
          </a:p>
        </p:txBody>
      </p:sp>
      <p:sp>
        <p:nvSpPr>
          <p:cNvPr id="34" name="Text 28"/>
          <p:cNvSpPr txBox="1"/>
          <p:nvPr/>
        </p:nvSpPr>
        <p:spPr>
          <a:xfrm>
            <a:off x="7077456" y="3785616"/>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产业园全域做深做实形成标准模块，跨园区调度一期即上线验证复制路径，其余模块预留接口</a:t>
            </a:r>
            <a:endParaRPr lang="en-US" sz="1020" dirty="0"/>
          </a:p>
        </p:txBody>
      </p:sp>
      <p:sp>
        <p:nvSpPr>
          <p:cNvPr id="35" name="Shape 29"/>
          <p:cNvSpPr/>
          <p:nvPr/>
        </p:nvSpPr>
        <p:spPr>
          <a:xfrm>
            <a:off x="530352" y="4736592"/>
            <a:ext cx="11130991" cy="1188720"/>
          </a:xfrm>
          <a:prstGeom prst="roundRect">
            <a:avLst>
              <a:gd name="adj" fmla="val 269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0"/>
          <p:cNvSpPr/>
          <p:nvPr/>
        </p:nvSpPr>
        <p:spPr>
          <a:xfrm>
            <a:off x="786384" y="4933188"/>
            <a:ext cx="68580" cy="173736"/>
          </a:xfrm>
          <a:prstGeom prst="rect">
            <a:avLst/>
          </a:prstGeom>
          <a:solidFill>
            <a:srgbClr val="F97B00"/>
          </a:solidFill>
          <a:ln/>
        </p:spPr>
      </p:sp>
      <p:sp>
        <p:nvSpPr>
          <p:cNvPr id="37" name="Text 31"/>
          <p:cNvSpPr txBox="1"/>
          <p:nvPr/>
        </p:nvSpPr>
        <p:spPr>
          <a:xfrm>
            <a:off x="941832"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三级架构：一次设计，支撑集团化推广</a:t>
            </a:r>
            <a:endParaRPr lang="en-US" sz="1250" dirty="0"/>
          </a:p>
        </p:txBody>
      </p:sp>
      <p:sp>
        <p:nvSpPr>
          <p:cNvPr id="38" name="Text 32"/>
          <p:cNvSpPr txBox="1"/>
          <p:nvPr/>
        </p:nvSpPr>
        <p:spPr>
          <a:xfrm>
            <a:off x="80467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总部级</a:t>
            </a:r>
            <a:endParaRPr lang="en-US" sz="1200" dirty="0"/>
          </a:p>
        </p:txBody>
      </p:sp>
      <p:sp>
        <p:nvSpPr>
          <p:cNvPr id="39" name="Text 33"/>
          <p:cNvSpPr txBox="1"/>
          <p:nvPr/>
        </p:nvSpPr>
        <p:spPr>
          <a:xfrm>
            <a:off x="80467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统一标准、统一模型、集中管控与集团一张图；跨园区指标对比与排名</a:t>
            </a:r>
            <a:endParaRPr lang="en-US" sz="1000" dirty="0"/>
          </a:p>
        </p:txBody>
      </p:sp>
      <p:sp>
        <p:nvSpPr>
          <p:cNvPr id="40" name="Text 34"/>
          <p:cNvSpPr txBox="1"/>
          <p:nvPr/>
        </p:nvSpPr>
        <p:spPr>
          <a:xfrm>
            <a:off x="437083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区域级</a:t>
            </a:r>
            <a:endParaRPr lang="en-US" sz="1200" dirty="0"/>
          </a:p>
        </p:txBody>
      </p:sp>
      <p:sp>
        <p:nvSpPr>
          <p:cNvPr id="41" name="Text 35"/>
          <p:cNvSpPr txBox="1"/>
          <p:nvPr/>
        </p:nvSpPr>
        <p:spPr>
          <a:xfrm>
            <a:off x="437083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区域运力与资源统筹调度、区域安全态势汇总、跨园区转运协同</a:t>
            </a:r>
            <a:endParaRPr lang="en-US" sz="1000" dirty="0"/>
          </a:p>
        </p:txBody>
      </p:sp>
      <p:sp>
        <p:nvSpPr>
          <p:cNvPr id="42" name="Text 36"/>
          <p:cNvSpPr txBox="1"/>
          <p:nvPr/>
        </p:nvSpPr>
        <p:spPr>
          <a:xfrm>
            <a:off x="793699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园区级</a:t>
            </a:r>
            <a:endParaRPr lang="en-US" sz="1200" dirty="0"/>
          </a:p>
        </p:txBody>
      </p:sp>
      <p:sp>
        <p:nvSpPr>
          <p:cNvPr id="43" name="Text 37"/>
          <p:cNvSpPr txBox="1"/>
          <p:nvPr/>
        </p:nvSpPr>
        <p:spPr>
          <a:xfrm>
            <a:off x="793699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园区平台灵活调配部署，业务数据与权限分开维护，园区间互不影响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总体规划蓝图：1 个平台 + 5 大子系统 + 2 个终端 + 1 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统一门户、统一数据、统一工单、统一评价，全部收敛到一个运营平台</a:t>
            </a:r>
            <a:endParaRPr lang="en-US" sz="1250" dirty="0"/>
          </a:p>
        </p:txBody>
      </p:sp>
      <p:sp>
        <p:nvSpPr>
          <p:cNvPr id="5" name="Shape 3"/>
          <p:cNvSpPr/>
          <p:nvPr/>
        </p:nvSpPr>
        <p:spPr>
          <a:xfrm>
            <a:off x="530352" y="1207008"/>
            <a:ext cx="11130991" cy="676656"/>
          </a:xfrm>
          <a:prstGeom prst="roundRect">
            <a:avLst>
              <a:gd name="adj" fmla="val 4730"/>
            </a:avLst>
          </a:prstGeom>
          <a:solidFill>
            <a:srgbClr val="0E2340"/>
          </a:solidFill>
          <a:ln/>
        </p:spPr>
      </p:sp>
      <p:sp>
        <p:nvSpPr>
          <p:cNvPr id="6" name="Text 4"/>
          <p:cNvSpPr txBox="1"/>
          <p:nvPr/>
        </p:nvSpPr>
        <p:spPr>
          <a:xfrm>
            <a:off x="749808" y="1207008"/>
            <a:ext cx="1645920" cy="676656"/>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使用对象与入口</a:t>
            </a:r>
            <a:endParaRPr lang="en-US" sz="1150" dirty="0"/>
          </a:p>
        </p:txBody>
      </p:sp>
      <p:sp>
        <p:nvSpPr>
          <p:cNvPr id="7" name="Shape 5"/>
          <p:cNvSpPr/>
          <p:nvPr/>
        </p:nvSpPr>
        <p:spPr>
          <a:xfrm>
            <a:off x="245059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8" name="Text 6"/>
          <p:cNvSpPr txBox="1"/>
          <p:nvPr/>
        </p:nvSpPr>
        <p:spPr>
          <a:xfrm>
            <a:off x="245059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集团/园区管理者</a:t>
            </a:r>
            <a:endParaRPr lang="en-US" sz="1000" dirty="0"/>
          </a:p>
        </p:txBody>
      </p:sp>
      <p:sp>
        <p:nvSpPr>
          <p:cNvPr id="9" name="Shape 7"/>
          <p:cNvSpPr/>
          <p:nvPr/>
        </p:nvSpPr>
        <p:spPr>
          <a:xfrm>
            <a:off x="377163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0" name="Text 8"/>
          <p:cNvSpPr txBox="1"/>
          <p:nvPr/>
        </p:nvSpPr>
        <p:spPr>
          <a:xfrm>
            <a:off x="3771639"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安环消防管理员</a:t>
            </a:r>
            <a:endParaRPr lang="en-US" sz="1000" dirty="0"/>
          </a:p>
        </p:txBody>
      </p:sp>
      <p:sp>
        <p:nvSpPr>
          <p:cNvPr id="11" name="Shape 9"/>
          <p:cNvSpPr/>
          <p:nvPr/>
        </p:nvSpPr>
        <p:spPr>
          <a:xfrm>
            <a:off x="5092685"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2" name="Text 10"/>
          <p:cNvSpPr txBox="1"/>
          <p:nvPr/>
        </p:nvSpPr>
        <p:spPr>
          <a:xfrm>
            <a:off x="5092685"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仓储与调度人员</a:t>
            </a:r>
            <a:endParaRPr lang="en-US" sz="1000" dirty="0"/>
          </a:p>
        </p:txBody>
      </p:sp>
      <p:sp>
        <p:nvSpPr>
          <p:cNvPr id="13" name="Shape 11"/>
          <p:cNvSpPr/>
          <p:nvPr/>
        </p:nvSpPr>
        <p:spPr>
          <a:xfrm>
            <a:off x="641373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4" name="Text 12"/>
          <p:cNvSpPr txBox="1"/>
          <p:nvPr/>
        </p:nvSpPr>
        <p:spPr>
          <a:xfrm>
            <a:off x="641373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外协/物业人员</a:t>
            </a:r>
            <a:endParaRPr lang="en-US" sz="1000" dirty="0"/>
          </a:p>
        </p:txBody>
      </p:sp>
      <p:sp>
        <p:nvSpPr>
          <p:cNvPr id="15" name="Shape 13"/>
          <p:cNvSpPr/>
          <p:nvPr/>
        </p:nvSpPr>
        <p:spPr>
          <a:xfrm>
            <a:off x="773477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6" name="Text 14"/>
          <p:cNvSpPr txBox="1"/>
          <p:nvPr/>
        </p:nvSpPr>
        <p:spPr>
          <a:xfrm>
            <a:off x="7734779"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司机与供应商</a:t>
            </a:r>
            <a:endParaRPr lang="en-US" sz="1000" dirty="0"/>
          </a:p>
        </p:txBody>
      </p:sp>
      <p:sp>
        <p:nvSpPr>
          <p:cNvPr id="17" name="Shape 15"/>
          <p:cNvSpPr/>
          <p:nvPr/>
        </p:nvSpPr>
        <p:spPr>
          <a:xfrm>
            <a:off x="9055826"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8" name="Text 16"/>
          <p:cNvSpPr txBox="1"/>
          <p:nvPr/>
        </p:nvSpPr>
        <p:spPr>
          <a:xfrm>
            <a:off x="9055826"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住宿员工</a:t>
            </a:r>
            <a:endParaRPr lang="en-US" sz="1000" dirty="0"/>
          </a:p>
        </p:txBody>
      </p:sp>
      <p:sp>
        <p:nvSpPr>
          <p:cNvPr id="19" name="Shape 17"/>
          <p:cNvSpPr/>
          <p:nvPr/>
        </p:nvSpPr>
        <p:spPr>
          <a:xfrm>
            <a:off x="1037687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0" name="Text 18"/>
          <p:cNvSpPr txBox="1"/>
          <p:nvPr/>
        </p:nvSpPr>
        <p:spPr>
          <a:xfrm>
            <a:off x="1037687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全体员工</a:t>
            </a:r>
            <a:endParaRPr lang="en-US" sz="1000" dirty="0"/>
          </a:p>
        </p:txBody>
      </p:sp>
      <p:sp>
        <p:nvSpPr>
          <p:cNvPr id="21" name="Shape 19"/>
          <p:cNvSpPr/>
          <p:nvPr/>
        </p:nvSpPr>
        <p:spPr>
          <a:xfrm>
            <a:off x="530352" y="2098548"/>
            <a:ext cx="68580" cy="173736"/>
          </a:xfrm>
          <a:prstGeom prst="rect">
            <a:avLst/>
          </a:prstGeom>
          <a:solidFill>
            <a:srgbClr val="F97B00"/>
          </a:solidFill>
          <a:ln/>
        </p:spPr>
      </p:sp>
      <p:sp>
        <p:nvSpPr>
          <p:cNvPr id="22" name="Text 20"/>
          <p:cNvSpPr txBox="1"/>
          <p:nvPr/>
        </p:nvSpPr>
        <p:spPr>
          <a:xfrm>
            <a:off x="685800" y="204825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应用层：五大业务子系统 + 一体化统一运营平台</a:t>
            </a:r>
            <a:endParaRPr lang="en-US" sz="1250" dirty="0"/>
          </a:p>
        </p:txBody>
      </p:sp>
      <p:sp>
        <p:nvSpPr>
          <p:cNvPr id="23" name="Shape 21"/>
          <p:cNvSpPr/>
          <p:nvPr/>
        </p:nvSpPr>
        <p:spPr>
          <a:xfrm>
            <a:off x="53035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676656" y="2505456"/>
            <a:ext cx="1801917" cy="365760"/>
          </a:xfrm>
          <a:prstGeom prst="roundRect">
            <a:avLst>
              <a:gd name="adj" fmla="val 12500"/>
            </a:avLst>
          </a:prstGeom>
          <a:solidFill>
            <a:srgbClr val="F97B00"/>
          </a:solidFill>
          <a:ln/>
        </p:spPr>
      </p:sp>
      <p:sp>
        <p:nvSpPr>
          <p:cNvPr id="25" name="Text 23"/>
          <p:cNvSpPr txBox="1"/>
          <p:nvPr/>
        </p:nvSpPr>
        <p:spPr>
          <a:xfrm>
            <a:off x="67665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智慧物流</a:t>
            </a:r>
            <a:endParaRPr lang="en-US" sz="1250" dirty="0"/>
          </a:p>
        </p:txBody>
      </p:sp>
      <p:sp>
        <p:nvSpPr>
          <p:cNvPr id="26" name="Text 24"/>
          <p:cNvSpPr txBox="1"/>
          <p:nvPr/>
        </p:nvSpPr>
        <p:spPr>
          <a:xfrm>
            <a:off x="713232"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车辆预约管理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排队叫号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入园与停靠引导</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月台可视化</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出园与评价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跨园区调度</a:t>
            </a:r>
            <a:endParaRPr lang="en-US" sz="1000" dirty="0"/>
          </a:p>
        </p:txBody>
      </p:sp>
      <p:sp>
        <p:nvSpPr>
          <p:cNvPr id="27" name="Shape 25"/>
          <p:cNvSpPr/>
          <p:nvPr/>
        </p:nvSpPr>
        <p:spPr>
          <a:xfrm>
            <a:off x="278946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2935773" y="2505456"/>
            <a:ext cx="1801917" cy="365760"/>
          </a:xfrm>
          <a:prstGeom prst="roundRect">
            <a:avLst>
              <a:gd name="adj" fmla="val 12500"/>
            </a:avLst>
          </a:prstGeom>
          <a:solidFill>
            <a:srgbClr val="F97B00"/>
          </a:solidFill>
          <a:ln/>
        </p:spPr>
      </p:sp>
      <p:sp>
        <p:nvSpPr>
          <p:cNvPr id="29" name="Text 27"/>
          <p:cNvSpPr txBox="1"/>
          <p:nvPr/>
        </p:nvSpPr>
        <p:spPr>
          <a:xfrm>
            <a:off x="293577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智慧消防</a:t>
            </a:r>
            <a:endParaRPr lang="en-US" sz="1250" dirty="0"/>
          </a:p>
        </p:txBody>
      </p:sp>
      <p:sp>
        <p:nvSpPr>
          <p:cNvPr id="30" name="Text 28"/>
          <p:cNvSpPr txBox="1"/>
          <p:nvPr/>
        </p:nvSpPr>
        <p:spPr>
          <a:xfrm>
            <a:off x="2972349"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设施状态监测</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火灾监测预警</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应急处置联动</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巡检维保管理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隐患整改闭环</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消防安全一张图</a:t>
            </a:r>
            <a:endParaRPr lang="en-US" sz="1000" dirty="0"/>
          </a:p>
        </p:txBody>
      </p:sp>
      <p:sp>
        <p:nvSpPr>
          <p:cNvPr id="31" name="Shape 29"/>
          <p:cNvSpPr/>
          <p:nvPr/>
        </p:nvSpPr>
        <p:spPr>
          <a:xfrm>
            <a:off x="5048585"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5194889" y="2505456"/>
            <a:ext cx="1801917" cy="365760"/>
          </a:xfrm>
          <a:prstGeom prst="roundRect">
            <a:avLst>
              <a:gd name="adj" fmla="val 12500"/>
            </a:avLst>
          </a:prstGeom>
          <a:solidFill>
            <a:srgbClr val="F97B00"/>
          </a:solidFill>
          <a:ln/>
        </p:spPr>
      </p:sp>
      <p:sp>
        <p:nvSpPr>
          <p:cNvPr id="33" name="Text 31"/>
          <p:cNvSpPr txBox="1"/>
          <p:nvPr/>
        </p:nvSpPr>
        <p:spPr>
          <a:xfrm>
            <a:off x="5194889"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智慧安防</a:t>
            </a:r>
            <a:endParaRPr lang="en-US" sz="1250" dirty="0"/>
          </a:p>
        </p:txBody>
      </p:sp>
      <p:sp>
        <p:nvSpPr>
          <p:cNvPr id="34" name="Text 32"/>
          <p:cNvSpPr txBox="1"/>
          <p:nvPr/>
        </p:nvSpPr>
        <p:spPr>
          <a:xfrm>
            <a:off x="5231465"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AI 算法仓</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行为与事件识别</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周界与无人机</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告警事件中心</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应急地图</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跨系统联动</a:t>
            </a:r>
            <a:endParaRPr lang="en-US" sz="1000" dirty="0"/>
          </a:p>
        </p:txBody>
      </p:sp>
      <p:sp>
        <p:nvSpPr>
          <p:cNvPr id="35" name="Shape 33"/>
          <p:cNvSpPr/>
          <p:nvPr/>
        </p:nvSpPr>
        <p:spPr>
          <a:xfrm>
            <a:off x="730770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7454006" y="2505456"/>
            <a:ext cx="1801917" cy="365760"/>
          </a:xfrm>
          <a:prstGeom prst="roundRect">
            <a:avLst>
              <a:gd name="adj" fmla="val 12500"/>
            </a:avLst>
          </a:prstGeom>
          <a:solidFill>
            <a:srgbClr val="F97B00"/>
          </a:solidFill>
          <a:ln/>
        </p:spPr>
      </p:sp>
      <p:sp>
        <p:nvSpPr>
          <p:cNvPr id="37" name="Text 35"/>
          <p:cNvSpPr txBox="1"/>
          <p:nvPr/>
        </p:nvSpPr>
        <p:spPr>
          <a:xfrm>
            <a:off x="745400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宿舍管理</a:t>
            </a:r>
            <a:endParaRPr lang="en-US" sz="1250" dirty="0"/>
          </a:p>
        </p:txBody>
      </p:sp>
      <p:sp>
        <p:nvSpPr>
          <p:cNvPr id="38" name="Text 36"/>
          <p:cNvSpPr txBox="1"/>
          <p:nvPr/>
        </p:nvSpPr>
        <p:spPr>
          <a:xfrm>
            <a:off x="7490582"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入住申请与房务</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入住/调寝管理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维修与出入授权</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水电费结算</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离职/正常退宿</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统计看板</a:t>
            </a:r>
            <a:endParaRPr lang="en-US" sz="1000" dirty="0"/>
          </a:p>
        </p:txBody>
      </p:sp>
      <p:sp>
        <p:nvSpPr>
          <p:cNvPr id="39" name="Shape 37"/>
          <p:cNvSpPr/>
          <p:nvPr/>
        </p:nvSpPr>
        <p:spPr>
          <a:xfrm>
            <a:off x="956681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9713123" y="2505456"/>
            <a:ext cx="1801917" cy="365760"/>
          </a:xfrm>
          <a:prstGeom prst="roundRect">
            <a:avLst>
              <a:gd name="adj" fmla="val 12500"/>
            </a:avLst>
          </a:prstGeom>
          <a:solidFill>
            <a:srgbClr val="F97B00"/>
          </a:solidFill>
          <a:ln/>
        </p:spPr>
      </p:sp>
      <p:sp>
        <p:nvSpPr>
          <p:cNvPr id="41" name="Text 39"/>
          <p:cNvSpPr txBox="1"/>
          <p:nvPr/>
        </p:nvSpPr>
        <p:spPr>
          <a:xfrm>
            <a:off x="971312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外协管理</a:t>
            </a:r>
            <a:endParaRPr lang="en-US" sz="1250" dirty="0"/>
          </a:p>
        </p:txBody>
      </p:sp>
      <p:sp>
        <p:nvSpPr>
          <p:cNvPr id="42" name="Text 40"/>
          <p:cNvSpPr txBox="1"/>
          <p:nvPr/>
        </p:nvSpPr>
        <p:spPr>
          <a:xfrm>
            <a:off x="9749699"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人员信息与准入</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考勤与行为管理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安全与培训</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服务质量评价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费用智能测算</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物业一体化平台</a:t>
            </a:r>
            <a:endParaRPr lang="en-US" sz="1000" dirty="0"/>
          </a:p>
        </p:txBody>
      </p:sp>
      <p:sp>
        <p:nvSpPr>
          <p:cNvPr id="43" name="Shape 41"/>
          <p:cNvSpPr/>
          <p:nvPr/>
        </p:nvSpPr>
        <p:spPr>
          <a:xfrm>
            <a:off x="530352" y="4457700"/>
            <a:ext cx="68580" cy="173736"/>
          </a:xfrm>
          <a:prstGeom prst="rect">
            <a:avLst/>
          </a:prstGeom>
          <a:solidFill>
            <a:srgbClr val="F97B00"/>
          </a:solidFill>
          <a:ln/>
        </p:spPr>
      </p:sp>
      <p:sp>
        <p:nvSpPr>
          <p:cNvPr id="44" name="Text 42"/>
          <p:cNvSpPr txBox="1"/>
          <p:nvPr/>
        </p:nvSpPr>
        <p:spPr>
          <a:xfrm>
            <a:off x="685800" y="44074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底座层：公共能力中心（五大子系统共用，一次建设长期复用）</a:t>
            </a:r>
            <a:endParaRPr lang="en-US" sz="1250" dirty="0"/>
          </a:p>
        </p:txBody>
      </p:sp>
      <p:sp>
        <p:nvSpPr>
          <p:cNvPr id="45" name="Shape 43"/>
          <p:cNvSpPr/>
          <p:nvPr/>
        </p:nvSpPr>
        <p:spPr>
          <a:xfrm>
            <a:off x="530352" y="4736592"/>
            <a:ext cx="997885" cy="475488"/>
          </a:xfrm>
          <a:prstGeom prst="roundRect">
            <a:avLst>
              <a:gd name="adj" fmla="val 9615"/>
            </a:avLst>
          </a:prstGeom>
          <a:solidFill>
            <a:srgbClr val="0E2340"/>
          </a:solidFill>
          <a:ln/>
        </p:spPr>
      </p:sp>
      <p:sp>
        <p:nvSpPr>
          <p:cNvPr id="46" name="Text 44"/>
          <p:cNvSpPr txBox="1"/>
          <p:nvPr/>
        </p:nvSpPr>
        <p:spPr>
          <a:xfrm>
            <a:off x="530352"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主数据管理</a:t>
            </a:r>
            <a:endParaRPr lang="en-US" sz="1000" dirty="0"/>
          </a:p>
        </p:txBody>
      </p:sp>
      <p:sp>
        <p:nvSpPr>
          <p:cNvPr id="47" name="Shape 45"/>
          <p:cNvSpPr/>
          <p:nvPr/>
        </p:nvSpPr>
        <p:spPr>
          <a:xfrm>
            <a:off x="1656253" y="4736592"/>
            <a:ext cx="997885" cy="475488"/>
          </a:xfrm>
          <a:prstGeom prst="roundRect">
            <a:avLst>
              <a:gd name="adj" fmla="val 9615"/>
            </a:avLst>
          </a:prstGeom>
          <a:solidFill>
            <a:srgbClr val="0E2340"/>
          </a:solidFill>
          <a:ln/>
        </p:spPr>
      </p:sp>
      <p:sp>
        <p:nvSpPr>
          <p:cNvPr id="48" name="Text 46"/>
          <p:cNvSpPr txBox="1"/>
          <p:nvPr/>
        </p:nvSpPr>
        <p:spPr>
          <a:xfrm>
            <a:off x="1656253"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四级空间模型</a:t>
            </a:r>
            <a:endParaRPr lang="en-US" sz="1000" dirty="0"/>
          </a:p>
        </p:txBody>
      </p:sp>
      <p:sp>
        <p:nvSpPr>
          <p:cNvPr id="49" name="Shape 47"/>
          <p:cNvSpPr/>
          <p:nvPr/>
        </p:nvSpPr>
        <p:spPr>
          <a:xfrm>
            <a:off x="2782153" y="4736592"/>
            <a:ext cx="997885" cy="475488"/>
          </a:xfrm>
          <a:prstGeom prst="roundRect">
            <a:avLst>
              <a:gd name="adj" fmla="val 9615"/>
            </a:avLst>
          </a:prstGeom>
          <a:solidFill>
            <a:srgbClr val="0E2340"/>
          </a:solidFill>
          <a:ln/>
        </p:spPr>
      </p:sp>
      <p:sp>
        <p:nvSpPr>
          <p:cNvPr id="50" name="Text 48"/>
          <p:cNvSpPr txBox="1"/>
          <p:nvPr/>
        </p:nvSpPr>
        <p:spPr>
          <a:xfrm>
            <a:off x="2782153"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RBAC 权限中心</a:t>
            </a:r>
            <a:endParaRPr lang="en-US" sz="1000" dirty="0"/>
          </a:p>
        </p:txBody>
      </p:sp>
      <p:sp>
        <p:nvSpPr>
          <p:cNvPr id="51" name="Shape 49"/>
          <p:cNvSpPr/>
          <p:nvPr/>
        </p:nvSpPr>
        <p:spPr>
          <a:xfrm>
            <a:off x="3908054" y="4736592"/>
            <a:ext cx="997885" cy="475488"/>
          </a:xfrm>
          <a:prstGeom prst="roundRect">
            <a:avLst>
              <a:gd name="adj" fmla="val 9615"/>
            </a:avLst>
          </a:prstGeom>
          <a:solidFill>
            <a:srgbClr val="0E2340"/>
          </a:solidFill>
          <a:ln/>
        </p:spPr>
      </p:sp>
      <p:sp>
        <p:nvSpPr>
          <p:cNvPr id="52" name="Text 50"/>
          <p:cNvSpPr txBox="1"/>
          <p:nvPr/>
        </p:nvSpPr>
        <p:spPr>
          <a:xfrm>
            <a:off x="3908054"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统一工单池</a:t>
            </a:r>
            <a:endParaRPr lang="en-US" sz="1000" dirty="0"/>
          </a:p>
        </p:txBody>
      </p:sp>
      <p:sp>
        <p:nvSpPr>
          <p:cNvPr id="53" name="Shape 51"/>
          <p:cNvSpPr/>
          <p:nvPr/>
        </p:nvSpPr>
        <p:spPr>
          <a:xfrm>
            <a:off x="5033955" y="4736592"/>
            <a:ext cx="997885" cy="475488"/>
          </a:xfrm>
          <a:prstGeom prst="roundRect">
            <a:avLst>
              <a:gd name="adj" fmla="val 9615"/>
            </a:avLst>
          </a:prstGeom>
          <a:solidFill>
            <a:srgbClr val="0E2340"/>
          </a:solidFill>
          <a:ln/>
        </p:spPr>
      </p:sp>
      <p:sp>
        <p:nvSpPr>
          <p:cNvPr id="54" name="Text 52"/>
          <p:cNvSpPr txBox="1"/>
          <p:nvPr/>
        </p:nvSpPr>
        <p:spPr>
          <a:xfrm>
            <a:off x="5033955"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统一告警中心</a:t>
            </a:r>
            <a:endParaRPr lang="en-US" sz="1000" dirty="0"/>
          </a:p>
        </p:txBody>
      </p:sp>
      <p:sp>
        <p:nvSpPr>
          <p:cNvPr id="55" name="Shape 53"/>
          <p:cNvSpPr/>
          <p:nvPr/>
        </p:nvSpPr>
        <p:spPr>
          <a:xfrm>
            <a:off x="6159856" y="4736592"/>
            <a:ext cx="997885" cy="475488"/>
          </a:xfrm>
          <a:prstGeom prst="roundRect">
            <a:avLst>
              <a:gd name="adj" fmla="val 9615"/>
            </a:avLst>
          </a:prstGeom>
          <a:solidFill>
            <a:srgbClr val="0E2340"/>
          </a:solidFill>
          <a:ln/>
        </p:spPr>
      </p:sp>
      <p:sp>
        <p:nvSpPr>
          <p:cNvPr id="56" name="Text 54"/>
          <p:cNvSpPr txBox="1"/>
          <p:nvPr/>
        </p:nvSpPr>
        <p:spPr>
          <a:xfrm>
            <a:off x="6159856"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规则引擎</a:t>
            </a:r>
            <a:endParaRPr lang="en-US" sz="1000" dirty="0"/>
          </a:p>
        </p:txBody>
      </p:sp>
      <p:sp>
        <p:nvSpPr>
          <p:cNvPr id="57" name="Shape 55"/>
          <p:cNvSpPr/>
          <p:nvPr/>
        </p:nvSpPr>
        <p:spPr>
          <a:xfrm>
            <a:off x="7285756" y="4736592"/>
            <a:ext cx="997885" cy="475488"/>
          </a:xfrm>
          <a:prstGeom prst="roundRect">
            <a:avLst>
              <a:gd name="adj" fmla="val 9615"/>
            </a:avLst>
          </a:prstGeom>
          <a:solidFill>
            <a:srgbClr val="0E2340"/>
          </a:solidFill>
          <a:ln/>
        </p:spPr>
      </p:sp>
      <p:sp>
        <p:nvSpPr>
          <p:cNvPr id="58" name="Text 56"/>
          <p:cNvSpPr txBox="1"/>
          <p:nvPr/>
        </p:nvSpPr>
        <p:spPr>
          <a:xfrm>
            <a:off x="7285756"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消息推送</a:t>
            </a:r>
            <a:endParaRPr lang="en-US" sz="1000" dirty="0"/>
          </a:p>
        </p:txBody>
      </p:sp>
      <p:sp>
        <p:nvSpPr>
          <p:cNvPr id="59" name="Shape 57"/>
          <p:cNvSpPr/>
          <p:nvPr/>
        </p:nvSpPr>
        <p:spPr>
          <a:xfrm>
            <a:off x="8411657" y="4736592"/>
            <a:ext cx="997885" cy="475488"/>
          </a:xfrm>
          <a:prstGeom prst="roundRect">
            <a:avLst>
              <a:gd name="adj" fmla="val 9615"/>
            </a:avLst>
          </a:prstGeom>
          <a:solidFill>
            <a:srgbClr val="0E2340"/>
          </a:solidFill>
          <a:ln/>
        </p:spPr>
      </p:sp>
      <p:sp>
        <p:nvSpPr>
          <p:cNvPr id="60" name="Text 58"/>
          <p:cNvSpPr txBox="1"/>
          <p:nvPr/>
        </p:nvSpPr>
        <p:spPr>
          <a:xfrm>
            <a:off x="8411657"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报表引擎</a:t>
            </a:r>
            <a:endParaRPr lang="en-US" sz="1000" dirty="0"/>
          </a:p>
        </p:txBody>
      </p:sp>
      <p:sp>
        <p:nvSpPr>
          <p:cNvPr id="61" name="Shape 59"/>
          <p:cNvSpPr/>
          <p:nvPr/>
        </p:nvSpPr>
        <p:spPr>
          <a:xfrm>
            <a:off x="9537558" y="4736592"/>
            <a:ext cx="997885" cy="475488"/>
          </a:xfrm>
          <a:prstGeom prst="roundRect">
            <a:avLst>
              <a:gd name="adj" fmla="val 9615"/>
            </a:avLst>
          </a:prstGeom>
          <a:solidFill>
            <a:srgbClr val="0E2340"/>
          </a:solidFill>
          <a:ln/>
        </p:spPr>
      </p:sp>
      <p:sp>
        <p:nvSpPr>
          <p:cNvPr id="62" name="Text 60"/>
          <p:cNvSpPr txBox="1"/>
          <p:nvPr/>
        </p:nvSpPr>
        <p:spPr>
          <a:xfrm>
            <a:off x="9537558"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流程引擎</a:t>
            </a:r>
            <a:endParaRPr lang="en-US" sz="1000" dirty="0"/>
          </a:p>
        </p:txBody>
      </p:sp>
      <p:sp>
        <p:nvSpPr>
          <p:cNvPr id="63" name="Shape 61"/>
          <p:cNvSpPr/>
          <p:nvPr/>
        </p:nvSpPr>
        <p:spPr>
          <a:xfrm>
            <a:off x="10663458" y="4736592"/>
            <a:ext cx="997885" cy="475488"/>
          </a:xfrm>
          <a:prstGeom prst="roundRect">
            <a:avLst>
              <a:gd name="adj" fmla="val 9615"/>
            </a:avLst>
          </a:prstGeom>
          <a:solidFill>
            <a:srgbClr val="0E2340"/>
          </a:solidFill>
          <a:ln/>
        </p:spPr>
      </p:sp>
      <p:sp>
        <p:nvSpPr>
          <p:cNvPr id="64" name="Text 62"/>
          <p:cNvSpPr txBox="1"/>
          <p:nvPr/>
        </p:nvSpPr>
        <p:spPr>
          <a:xfrm>
            <a:off x="10663458"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集成网关(ESB)</a:t>
            </a:r>
            <a:endParaRPr lang="en-US" sz="1000" dirty="0"/>
          </a:p>
        </p:txBody>
      </p:sp>
      <p:sp>
        <p:nvSpPr>
          <p:cNvPr id="65" name="Shape 63"/>
          <p:cNvSpPr/>
          <p:nvPr/>
        </p:nvSpPr>
        <p:spPr>
          <a:xfrm>
            <a:off x="530352" y="5408676"/>
            <a:ext cx="68580" cy="173736"/>
          </a:xfrm>
          <a:prstGeom prst="rect">
            <a:avLst/>
          </a:prstGeom>
          <a:solidFill>
            <a:srgbClr val="F97B00"/>
          </a:solidFill>
          <a:ln/>
        </p:spPr>
      </p:sp>
      <p:sp>
        <p:nvSpPr>
          <p:cNvPr id="66" name="Text 64"/>
          <p:cNvSpPr txBox="1"/>
          <p:nvPr/>
        </p:nvSpPr>
        <p:spPr>
          <a:xfrm>
            <a:off x="685800" y="53583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感知与接入层</a:t>
            </a:r>
            <a:endParaRPr lang="en-US" sz="1250" dirty="0"/>
          </a:p>
        </p:txBody>
      </p:sp>
      <p:sp>
        <p:nvSpPr>
          <p:cNvPr id="67" name="Shape 65"/>
          <p:cNvSpPr/>
          <p:nvPr/>
        </p:nvSpPr>
        <p:spPr>
          <a:xfrm>
            <a:off x="530352" y="5669280"/>
            <a:ext cx="1279360" cy="402336"/>
          </a:xfrm>
          <a:prstGeom prst="roundRect">
            <a:avLst>
              <a:gd name="adj" fmla="val 11364"/>
            </a:avLst>
          </a:prstGeom>
          <a:solidFill>
            <a:srgbClr val="F6F8FA"/>
          </a:solidFill>
          <a:ln w="9525">
            <a:solidFill>
              <a:srgbClr val="E3E7EB"/>
            </a:solidFill>
            <a:prstDash val="solid"/>
          </a:ln>
        </p:spPr>
      </p:sp>
      <p:sp>
        <p:nvSpPr>
          <p:cNvPr id="68" name="Text 66"/>
          <p:cNvSpPr txBox="1"/>
          <p:nvPr/>
        </p:nvSpPr>
        <p:spPr>
          <a:xfrm>
            <a:off x="530352"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视频监控与 AI 相机</a:t>
            </a:r>
            <a:endParaRPr lang="en-US" sz="1000" dirty="0"/>
          </a:p>
        </p:txBody>
      </p:sp>
      <p:sp>
        <p:nvSpPr>
          <p:cNvPr id="69" name="Shape 67"/>
          <p:cNvSpPr/>
          <p:nvPr/>
        </p:nvSpPr>
        <p:spPr>
          <a:xfrm>
            <a:off x="1937728" y="5669280"/>
            <a:ext cx="1279360" cy="402336"/>
          </a:xfrm>
          <a:prstGeom prst="roundRect">
            <a:avLst>
              <a:gd name="adj" fmla="val 11364"/>
            </a:avLst>
          </a:prstGeom>
          <a:solidFill>
            <a:srgbClr val="F6F8FA"/>
          </a:solidFill>
          <a:ln w="9525">
            <a:solidFill>
              <a:srgbClr val="E3E7EB"/>
            </a:solidFill>
            <a:prstDash val="solid"/>
          </a:ln>
        </p:spPr>
      </p:sp>
      <p:sp>
        <p:nvSpPr>
          <p:cNvPr id="70" name="Text 68"/>
          <p:cNvSpPr txBox="1"/>
          <p:nvPr/>
        </p:nvSpPr>
        <p:spPr>
          <a:xfrm>
            <a:off x="1937728"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消防物联传感</a:t>
            </a:r>
            <a:endParaRPr lang="en-US" sz="1000" dirty="0"/>
          </a:p>
        </p:txBody>
      </p:sp>
      <p:sp>
        <p:nvSpPr>
          <p:cNvPr id="71" name="Shape 69"/>
          <p:cNvSpPr/>
          <p:nvPr/>
        </p:nvSpPr>
        <p:spPr>
          <a:xfrm>
            <a:off x="3345104" y="5669280"/>
            <a:ext cx="1279360" cy="402336"/>
          </a:xfrm>
          <a:prstGeom prst="roundRect">
            <a:avLst>
              <a:gd name="adj" fmla="val 11364"/>
            </a:avLst>
          </a:prstGeom>
          <a:solidFill>
            <a:srgbClr val="F6F8FA"/>
          </a:solidFill>
          <a:ln w="9525">
            <a:solidFill>
              <a:srgbClr val="E3E7EB"/>
            </a:solidFill>
            <a:prstDash val="solid"/>
          </a:ln>
        </p:spPr>
      </p:sp>
      <p:sp>
        <p:nvSpPr>
          <p:cNvPr id="72" name="Text 70"/>
          <p:cNvSpPr txBox="1"/>
          <p:nvPr/>
        </p:nvSpPr>
        <p:spPr>
          <a:xfrm>
            <a:off x="3345104"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振动光纤 / 红外对射</a:t>
            </a:r>
            <a:endParaRPr lang="en-US" sz="1000" dirty="0"/>
          </a:p>
        </p:txBody>
      </p:sp>
      <p:sp>
        <p:nvSpPr>
          <p:cNvPr id="73" name="Shape 71"/>
          <p:cNvSpPr/>
          <p:nvPr/>
        </p:nvSpPr>
        <p:spPr>
          <a:xfrm>
            <a:off x="4752480" y="5669280"/>
            <a:ext cx="1279360" cy="402336"/>
          </a:xfrm>
          <a:prstGeom prst="roundRect">
            <a:avLst>
              <a:gd name="adj" fmla="val 11364"/>
            </a:avLst>
          </a:prstGeom>
          <a:solidFill>
            <a:srgbClr val="F6F8FA"/>
          </a:solidFill>
          <a:ln w="9525">
            <a:solidFill>
              <a:srgbClr val="E3E7EB"/>
            </a:solidFill>
            <a:prstDash val="solid"/>
          </a:ln>
        </p:spPr>
      </p:sp>
      <p:sp>
        <p:nvSpPr>
          <p:cNvPr id="74" name="Text 72"/>
          <p:cNvSpPr txBox="1"/>
          <p:nvPr/>
        </p:nvSpPr>
        <p:spPr>
          <a:xfrm>
            <a:off x="4752480"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门禁与道闸</a:t>
            </a:r>
            <a:endParaRPr lang="en-US" sz="1000" dirty="0"/>
          </a:p>
        </p:txBody>
      </p:sp>
      <p:sp>
        <p:nvSpPr>
          <p:cNvPr id="75" name="Shape 73"/>
          <p:cNvSpPr/>
          <p:nvPr/>
        </p:nvSpPr>
        <p:spPr>
          <a:xfrm>
            <a:off x="6159856" y="5669280"/>
            <a:ext cx="1279360" cy="402336"/>
          </a:xfrm>
          <a:prstGeom prst="roundRect">
            <a:avLst>
              <a:gd name="adj" fmla="val 11364"/>
            </a:avLst>
          </a:prstGeom>
          <a:solidFill>
            <a:srgbClr val="F6F8FA"/>
          </a:solidFill>
          <a:ln w="9525">
            <a:solidFill>
              <a:srgbClr val="E3E7EB"/>
            </a:solidFill>
            <a:prstDash val="solid"/>
          </a:ln>
        </p:spPr>
      </p:sp>
      <p:sp>
        <p:nvSpPr>
          <p:cNvPr id="76" name="Text 74"/>
          <p:cNvSpPr txBox="1"/>
          <p:nvPr/>
        </p:nvSpPr>
        <p:spPr>
          <a:xfrm>
            <a:off x="6159856"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智能水电表</a:t>
            </a:r>
            <a:endParaRPr lang="en-US" sz="1000" dirty="0"/>
          </a:p>
        </p:txBody>
      </p:sp>
      <p:sp>
        <p:nvSpPr>
          <p:cNvPr id="77" name="Shape 75"/>
          <p:cNvSpPr/>
          <p:nvPr/>
        </p:nvSpPr>
        <p:spPr>
          <a:xfrm>
            <a:off x="7567232" y="5669280"/>
            <a:ext cx="1279360" cy="402336"/>
          </a:xfrm>
          <a:prstGeom prst="roundRect">
            <a:avLst>
              <a:gd name="adj" fmla="val 11364"/>
            </a:avLst>
          </a:prstGeom>
          <a:solidFill>
            <a:srgbClr val="F6F8FA"/>
          </a:solidFill>
          <a:ln w="9525">
            <a:solidFill>
              <a:srgbClr val="E3E7EB"/>
            </a:solidFill>
            <a:prstDash val="solid"/>
          </a:ln>
        </p:spPr>
      </p:sp>
      <p:sp>
        <p:nvSpPr>
          <p:cNvPr id="78" name="Text 76"/>
          <p:cNvSpPr txBox="1"/>
          <p:nvPr/>
        </p:nvSpPr>
        <p:spPr>
          <a:xfrm>
            <a:off x="7567232"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环境传感器</a:t>
            </a:r>
            <a:endParaRPr lang="en-US" sz="1000" dirty="0"/>
          </a:p>
        </p:txBody>
      </p:sp>
      <p:sp>
        <p:nvSpPr>
          <p:cNvPr id="79" name="Shape 77"/>
          <p:cNvSpPr/>
          <p:nvPr/>
        </p:nvSpPr>
        <p:spPr>
          <a:xfrm>
            <a:off x="8974607" y="5669280"/>
            <a:ext cx="1279360" cy="402336"/>
          </a:xfrm>
          <a:prstGeom prst="roundRect">
            <a:avLst>
              <a:gd name="adj" fmla="val 11364"/>
            </a:avLst>
          </a:prstGeom>
          <a:solidFill>
            <a:srgbClr val="F6F8FA"/>
          </a:solidFill>
          <a:ln w="9525">
            <a:solidFill>
              <a:srgbClr val="E3E7EB"/>
            </a:solidFill>
            <a:prstDash val="solid"/>
          </a:ln>
        </p:spPr>
      </p:sp>
      <p:sp>
        <p:nvSpPr>
          <p:cNvPr id="80" name="Text 78"/>
          <p:cNvSpPr txBox="1"/>
          <p:nvPr/>
        </p:nvSpPr>
        <p:spPr>
          <a:xfrm>
            <a:off x="8974607"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无人机</a:t>
            </a:r>
            <a:endParaRPr lang="en-US" sz="1000" dirty="0"/>
          </a:p>
        </p:txBody>
      </p:sp>
      <p:sp>
        <p:nvSpPr>
          <p:cNvPr id="81" name="Shape 79"/>
          <p:cNvSpPr/>
          <p:nvPr/>
        </p:nvSpPr>
        <p:spPr>
          <a:xfrm>
            <a:off x="10381983" y="5669280"/>
            <a:ext cx="1279360" cy="402336"/>
          </a:xfrm>
          <a:prstGeom prst="roundRect">
            <a:avLst>
              <a:gd name="adj" fmla="val 11364"/>
            </a:avLst>
          </a:prstGeom>
          <a:solidFill>
            <a:srgbClr val="F6F8FA"/>
          </a:solidFill>
          <a:ln w="9525">
            <a:solidFill>
              <a:srgbClr val="E3E7EB"/>
            </a:solidFill>
            <a:prstDash val="solid"/>
          </a:ln>
        </p:spPr>
      </p:sp>
      <p:sp>
        <p:nvSpPr>
          <p:cNvPr id="82" name="Text 80"/>
          <p:cNvSpPr txBox="1"/>
          <p:nvPr/>
        </p:nvSpPr>
        <p:spPr>
          <a:xfrm>
            <a:off x="10381983"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NFC 巡更</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总体功能架构设计：五层解耦、能力复用、横向可扩</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展现层 / 应用层 / 能力层 / 数据层 / 接入层，每层独立演进，模块可裁剪可扩展</a:t>
            </a:r>
            <a:endParaRPr lang="en-US" sz="1250" dirty="0"/>
          </a:p>
        </p:txBody>
      </p:sp>
      <p:sp>
        <p:nvSpPr>
          <p:cNvPr id="5" name="Shape 3"/>
          <p:cNvSpPr/>
          <p:nvPr/>
        </p:nvSpPr>
        <p:spPr>
          <a:xfrm>
            <a:off x="530352" y="1207008"/>
            <a:ext cx="1188720" cy="859536"/>
          </a:xfrm>
          <a:prstGeom prst="roundRect">
            <a:avLst>
              <a:gd name="adj" fmla="val 5319"/>
            </a:avLst>
          </a:prstGeom>
          <a:solidFill>
            <a:srgbClr val="F97B00"/>
          </a:solidFill>
          <a:ln/>
        </p:spPr>
      </p:sp>
      <p:sp>
        <p:nvSpPr>
          <p:cNvPr id="6" name="Text 4"/>
          <p:cNvSpPr txBox="1"/>
          <p:nvPr/>
        </p:nvSpPr>
        <p:spPr>
          <a:xfrm>
            <a:off x="530352" y="120700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展现层</a:t>
            </a:r>
            <a:endParaRPr lang="en-US" sz="1350" dirty="0"/>
          </a:p>
        </p:txBody>
      </p:sp>
      <p:sp>
        <p:nvSpPr>
          <p:cNvPr id="7" name="Shape 5"/>
          <p:cNvSpPr/>
          <p:nvPr/>
        </p:nvSpPr>
        <p:spPr>
          <a:xfrm>
            <a:off x="1847088" y="1207008"/>
            <a:ext cx="9814255" cy="859536"/>
          </a:xfrm>
          <a:prstGeom prst="roundRect">
            <a:avLst>
              <a:gd name="adj" fmla="val 3723"/>
            </a:avLst>
          </a:prstGeom>
          <a:solidFill>
            <a:srgbClr val="F6F8FA"/>
          </a:solidFill>
          <a:ln w="9525">
            <a:solidFill>
              <a:srgbClr val="E3E7EB"/>
            </a:solidFill>
            <a:prstDash val="solid"/>
          </a:ln>
        </p:spPr>
      </p:sp>
      <p:sp>
        <p:nvSpPr>
          <p:cNvPr id="8" name="Shape 6"/>
          <p:cNvSpPr/>
          <p:nvPr/>
        </p:nvSpPr>
        <p:spPr>
          <a:xfrm>
            <a:off x="2011680" y="1316736"/>
            <a:ext cx="1260958" cy="384048"/>
          </a:xfrm>
          <a:prstGeom prst="roundRect">
            <a:avLst>
              <a:gd name="adj" fmla="val 9524"/>
            </a:avLst>
          </a:prstGeom>
          <a:solidFill>
            <a:srgbClr val="FDEEDD"/>
          </a:solidFill>
          <a:ln w="9525">
            <a:solidFill>
              <a:srgbClr val="F3CDA5"/>
            </a:solidFill>
            <a:prstDash val="solid"/>
          </a:ln>
        </p:spPr>
      </p:sp>
      <p:sp>
        <p:nvSpPr>
          <p:cNvPr id="9" name="Text 7"/>
          <p:cNvSpPr txBox="1"/>
          <p:nvPr/>
        </p:nvSpPr>
        <p:spPr>
          <a:xfrm>
            <a:off x="2011680"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PC 门户</a:t>
            </a:r>
            <a:endParaRPr lang="en-US" sz="1000" dirty="0"/>
          </a:p>
        </p:txBody>
      </p:sp>
      <p:sp>
        <p:nvSpPr>
          <p:cNvPr id="10" name="Shape 8"/>
          <p:cNvSpPr/>
          <p:nvPr/>
        </p:nvSpPr>
        <p:spPr>
          <a:xfrm>
            <a:off x="3382366" y="1316736"/>
            <a:ext cx="1260958" cy="384048"/>
          </a:xfrm>
          <a:prstGeom prst="roundRect">
            <a:avLst>
              <a:gd name="adj" fmla="val 9524"/>
            </a:avLst>
          </a:prstGeom>
          <a:solidFill>
            <a:srgbClr val="FDEEDD"/>
          </a:solidFill>
          <a:ln w="9525">
            <a:solidFill>
              <a:srgbClr val="F3CDA5"/>
            </a:solidFill>
            <a:prstDash val="solid"/>
          </a:ln>
        </p:spPr>
      </p:sp>
      <p:sp>
        <p:nvSpPr>
          <p:cNvPr id="11" name="Text 9"/>
          <p:cNvSpPr txBox="1"/>
          <p:nvPr/>
        </p:nvSpPr>
        <p:spPr>
          <a:xfrm>
            <a:off x="3382366"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钉钉工作台(iSungrow)</a:t>
            </a:r>
            <a:endParaRPr lang="en-US" sz="1000" dirty="0"/>
          </a:p>
        </p:txBody>
      </p:sp>
      <p:sp>
        <p:nvSpPr>
          <p:cNvPr id="12" name="Shape 10"/>
          <p:cNvSpPr/>
          <p:nvPr/>
        </p:nvSpPr>
        <p:spPr>
          <a:xfrm>
            <a:off x="4753051" y="1316736"/>
            <a:ext cx="1260958" cy="384048"/>
          </a:xfrm>
          <a:prstGeom prst="roundRect">
            <a:avLst>
              <a:gd name="adj" fmla="val 9524"/>
            </a:avLst>
          </a:prstGeom>
          <a:solidFill>
            <a:srgbClr val="FDEEDD"/>
          </a:solidFill>
          <a:ln w="9525">
            <a:solidFill>
              <a:srgbClr val="F3CDA5"/>
            </a:solidFill>
            <a:prstDash val="solid"/>
          </a:ln>
        </p:spPr>
      </p:sp>
      <p:sp>
        <p:nvSpPr>
          <p:cNvPr id="13" name="Text 11"/>
          <p:cNvSpPr txBox="1"/>
          <p:nvPr/>
        </p:nvSpPr>
        <p:spPr>
          <a:xfrm>
            <a:off x="4753051"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移动 APP</a:t>
            </a:r>
            <a:endParaRPr lang="en-US" sz="1000" dirty="0"/>
          </a:p>
        </p:txBody>
      </p:sp>
      <p:sp>
        <p:nvSpPr>
          <p:cNvPr id="14" name="Shape 12"/>
          <p:cNvSpPr/>
          <p:nvPr/>
        </p:nvSpPr>
        <p:spPr>
          <a:xfrm>
            <a:off x="6123737" y="1316736"/>
            <a:ext cx="1260958" cy="384048"/>
          </a:xfrm>
          <a:prstGeom prst="roundRect">
            <a:avLst>
              <a:gd name="adj" fmla="val 9524"/>
            </a:avLst>
          </a:prstGeom>
          <a:solidFill>
            <a:srgbClr val="FDEEDD"/>
          </a:solidFill>
          <a:ln w="9525">
            <a:solidFill>
              <a:srgbClr val="F3CDA5"/>
            </a:solidFill>
            <a:prstDash val="solid"/>
          </a:ln>
        </p:spPr>
      </p:sp>
      <p:sp>
        <p:nvSpPr>
          <p:cNvPr id="15" name="Text 13"/>
          <p:cNvSpPr txBox="1"/>
          <p:nvPr/>
        </p:nvSpPr>
        <p:spPr>
          <a:xfrm>
            <a:off x="6123737"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小程序</a:t>
            </a:r>
            <a:endParaRPr lang="en-US" sz="1000" dirty="0"/>
          </a:p>
        </p:txBody>
      </p:sp>
      <p:sp>
        <p:nvSpPr>
          <p:cNvPr id="16" name="Shape 14"/>
          <p:cNvSpPr/>
          <p:nvPr/>
        </p:nvSpPr>
        <p:spPr>
          <a:xfrm>
            <a:off x="7494422" y="1316736"/>
            <a:ext cx="1260958" cy="384048"/>
          </a:xfrm>
          <a:prstGeom prst="roundRect">
            <a:avLst>
              <a:gd name="adj" fmla="val 9524"/>
            </a:avLst>
          </a:prstGeom>
          <a:solidFill>
            <a:srgbClr val="FDEEDD"/>
          </a:solidFill>
          <a:ln w="9525">
            <a:solidFill>
              <a:srgbClr val="F3CDA5"/>
            </a:solidFill>
            <a:prstDash val="solid"/>
          </a:ln>
        </p:spPr>
      </p:sp>
      <p:sp>
        <p:nvSpPr>
          <p:cNvPr id="17" name="Text 15"/>
          <p:cNvSpPr txBox="1"/>
          <p:nvPr/>
        </p:nvSpPr>
        <p:spPr>
          <a:xfrm>
            <a:off x="7494422"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PDA/PAD</a:t>
            </a:r>
            <a:endParaRPr lang="en-US" sz="1000" dirty="0"/>
          </a:p>
        </p:txBody>
      </p:sp>
      <p:sp>
        <p:nvSpPr>
          <p:cNvPr id="18" name="Shape 16"/>
          <p:cNvSpPr/>
          <p:nvPr/>
        </p:nvSpPr>
        <p:spPr>
          <a:xfrm>
            <a:off x="8865108" y="1316736"/>
            <a:ext cx="1260958" cy="384048"/>
          </a:xfrm>
          <a:prstGeom prst="roundRect">
            <a:avLst>
              <a:gd name="adj" fmla="val 9524"/>
            </a:avLst>
          </a:prstGeom>
          <a:solidFill>
            <a:srgbClr val="FDEEDD"/>
          </a:solidFill>
          <a:ln w="9525">
            <a:solidFill>
              <a:srgbClr val="F3CDA5"/>
            </a:solidFill>
            <a:prstDash val="solid"/>
          </a:ln>
        </p:spPr>
      </p:sp>
      <p:sp>
        <p:nvSpPr>
          <p:cNvPr id="19" name="Text 17"/>
          <p:cNvSpPr txBox="1"/>
          <p:nvPr/>
        </p:nvSpPr>
        <p:spPr>
          <a:xfrm>
            <a:off x="8865108"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大屏看板</a:t>
            </a:r>
            <a:endParaRPr lang="en-US" sz="1000" dirty="0"/>
          </a:p>
        </p:txBody>
      </p:sp>
      <p:sp>
        <p:nvSpPr>
          <p:cNvPr id="20" name="Shape 18"/>
          <p:cNvSpPr/>
          <p:nvPr/>
        </p:nvSpPr>
        <p:spPr>
          <a:xfrm>
            <a:off x="10235794" y="1316736"/>
            <a:ext cx="1260958" cy="384048"/>
          </a:xfrm>
          <a:prstGeom prst="roundRect">
            <a:avLst>
              <a:gd name="adj" fmla="val 9524"/>
            </a:avLst>
          </a:prstGeom>
          <a:solidFill>
            <a:srgbClr val="FDEEDD"/>
          </a:solidFill>
          <a:ln w="9525">
            <a:solidFill>
              <a:srgbClr val="F3CDA5"/>
            </a:solidFill>
            <a:prstDash val="solid"/>
          </a:ln>
        </p:spPr>
      </p:sp>
      <p:sp>
        <p:nvSpPr>
          <p:cNvPr id="21" name="Text 19"/>
          <p:cNvSpPr txBox="1"/>
          <p:nvPr/>
        </p:nvSpPr>
        <p:spPr>
          <a:xfrm>
            <a:off x="10235794"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2.5D 一张图</a:t>
            </a:r>
            <a:endParaRPr lang="en-US" sz="1000" dirty="0"/>
          </a:p>
        </p:txBody>
      </p:sp>
      <p:sp>
        <p:nvSpPr>
          <p:cNvPr id="22" name="Text 20"/>
          <p:cNvSpPr txBox="1"/>
          <p:nvPr/>
        </p:nvSpPr>
        <p:spPr>
          <a:xfrm>
            <a:off x="2011680" y="173736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多端一致体验，报表与工单全部支持移动端</a:t>
            </a:r>
            <a:endParaRPr lang="en-US" sz="1000" dirty="0"/>
          </a:p>
        </p:txBody>
      </p:sp>
      <p:sp>
        <p:nvSpPr>
          <p:cNvPr id="23" name="Shape 21"/>
          <p:cNvSpPr/>
          <p:nvPr/>
        </p:nvSpPr>
        <p:spPr>
          <a:xfrm>
            <a:off x="530352" y="2167128"/>
            <a:ext cx="1188720" cy="859536"/>
          </a:xfrm>
          <a:prstGeom prst="roundRect">
            <a:avLst>
              <a:gd name="adj" fmla="val 5319"/>
            </a:avLst>
          </a:prstGeom>
          <a:solidFill>
            <a:srgbClr val="C25E00"/>
          </a:solidFill>
          <a:ln/>
        </p:spPr>
      </p:sp>
      <p:sp>
        <p:nvSpPr>
          <p:cNvPr id="24" name="Text 22"/>
          <p:cNvSpPr txBox="1"/>
          <p:nvPr/>
        </p:nvSpPr>
        <p:spPr>
          <a:xfrm>
            <a:off x="530352" y="216712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应用层</a:t>
            </a:r>
            <a:endParaRPr lang="en-US" sz="1350" dirty="0"/>
          </a:p>
        </p:txBody>
      </p:sp>
      <p:sp>
        <p:nvSpPr>
          <p:cNvPr id="25" name="Shape 23"/>
          <p:cNvSpPr/>
          <p:nvPr/>
        </p:nvSpPr>
        <p:spPr>
          <a:xfrm>
            <a:off x="1847088" y="2167128"/>
            <a:ext cx="9814255" cy="859536"/>
          </a:xfrm>
          <a:prstGeom prst="roundRect">
            <a:avLst>
              <a:gd name="adj" fmla="val 3723"/>
            </a:avLst>
          </a:prstGeom>
          <a:solidFill>
            <a:srgbClr val="FFFFFF"/>
          </a:solidFill>
          <a:ln w="9525">
            <a:solidFill>
              <a:srgbClr val="E3E7EB"/>
            </a:solidFill>
            <a:prstDash val="solid"/>
          </a:ln>
        </p:spPr>
      </p:sp>
      <p:sp>
        <p:nvSpPr>
          <p:cNvPr id="26" name="Shape 24"/>
          <p:cNvSpPr/>
          <p:nvPr/>
        </p:nvSpPr>
        <p:spPr>
          <a:xfrm>
            <a:off x="2011680" y="2276856"/>
            <a:ext cx="1260958" cy="384048"/>
          </a:xfrm>
          <a:prstGeom prst="roundRect">
            <a:avLst>
              <a:gd name="adj" fmla="val 9524"/>
            </a:avLst>
          </a:prstGeom>
          <a:solidFill>
            <a:srgbClr val="FDEEDD"/>
          </a:solidFill>
          <a:ln w="9525">
            <a:solidFill>
              <a:srgbClr val="F3CDA5"/>
            </a:solidFill>
            <a:prstDash val="solid"/>
          </a:ln>
        </p:spPr>
      </p:sp>
      <p:sp>
        <p:nvSpPr>
          <p:cNvPr id="27" name="Text 25"/>
          <p:cNvSpPr txBox="1"/>
          <p:nvPr/>
        </p:nvSpPr>
        <p:spPr>
          <a:xfrm>
            <a:off x="2011680"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智慧物流</a:t>
            </a:r>
            <a:endParaRPr lang="en-US" sz="1000" dirty="0"/>
          </a:p>
        </p:txBody>
      </p:sp>
      <p:sp>
        <p:nvSpPr>
          <p:cNvPr id="28" name="Shape 26"/>
          <p:cNvSpPr/>
          <p:nvPr/>
        </p:nvSpPr>
        <p:spPr>
          <a:xfrm>
            <a:off x="3382366" y="2276856"/>
            <a:ext cx="1260958" cy="384048"/>
          </a:xfrm>
          <a:prstGeom prst="roundRect">
            <a:avLst>
              <a:gd name="adj" fmla="val 9524"/>
            </a:avLst>
          </a:prstGeom>
          <a:solidFill>
            <a:srgbClr val="FDEEDD"/>
          </a:solidFill>
          <a:ln w="9525">
            <a:solidFill>
              <a:srgbClr val="F3CDA5"/>
            </a:solidFill>
            <a:prstDash val="solid"/>
          </a:ln>
        </p:spPr>
      </p:sp>
      <p:sp>
        <p:nvSpPr>
          <p:cNvPr id="29" name="Text 27"/>
          <p:cNvSpPr txBox="1"/>
          <p:nvPr/>
        </p:nvSpPr>
        <p:spPr>
          <a:xfrm>
            <a:off x="3382366"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智慧消防</a:t>
            </a:r>
            <a:endParaRPr lang="en-US" sz="1000" dirty="0"/>
          </a:p>
        </p:txBody>
      </p:sp>
      <p:sp>
        <p:nvSpPr>
          <p:cNvPr id="30" name="Shape 28"/>
          <p:cNvSpPr/>
          <p:nvPr/>
        </p:nvSpPr>
        <p:spPr>
          <a:xfrm>
            <a:off x="4753051" y="2276856"/>
            <a:ext cx="1260958" cy="384048"/>
          </a:xfrm>
          <a:prstGeom prst="roundRect">
            <a:avLst>
              <a:gd name="adj" fmla="val 9524"/>
            </a:avLst>
          </a:prstGeom>
          <a:solidFill>
            <a:srgbClr val="FDEEDD"/>
          </a:solidFill>
          <a:ln w="9525">
            <a:solidFill>
              <a:srgbClr val="F3CDA5"/>
            </a:solidFill>
            <a:prstDash val="solid"/>
          </a:ln>
        </p:spPr>
      </p:sp>
      <p:sp>
        <p:nvSpPr>
          <p:cNvPr id="31" name="Text 29"/>
          <p:cNvSpPr txBox="1"/>
          <p:nvPr/>
        </p:nvSpPr>
        <p:spPr>
          <a:xfrm>
            <a:off x="4753051"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智慧安防</a:t>
            </a:r>
            <a:endParaRPr lang="en-US" sz="1000" dirty="0"/>
          </a:p>
        </p:txBody>
      </p:sp>
      <p:sp>
        <p:nvSpPr>
          <p:cNvPr id="32" name="Shape 30"/>
          <p:cNvSpPr/>
          <p:nvPr/>
        </p:nvSpPr>
        <p:spPr>
          <a:xfrm>
            <a:off x="6123737" y="2276856"/>
            <a:ext cx="1260958" cy="384048"/>
          </a:xfrm>
          <a:prstGeom prst="roundRect">
            <a:avLst>
              <a:gd name="adj" fmla="val 9524"/>
            </a:avLst>
          </a:prstGeom>
          <a:solidFill>
            <a:srgbClr val="FDEEDD"/>
          </a:solidFill>
          <a:ln w="9525">
            <a:solidFill>
              <a:srgbClr val="F3CDA5"/>
            </a:solidFill>
            <a:prstDash val="solid"/>
          </a:ln>
        </p:spPr>
      </p:sp>
      <p:sp>
        <p:nvSpPr>
          <p:cNvPr id="33" name="Text 31"/>
          <p:cNvSpPr txBox="1"/>
          <p:nvPr/>
        </p:nvSpPr>
        <p:spPr>
          <a:xfrm>
            <a:off x="6123737"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宿舍管理</a:t>
            </a:r>
            <a:endParaRPr lang="en-US" sz="1000" dirty="0"/>
          </a:p>
        </p:txBody>
      </p:sp>
      <p:sp>
        <p:nvSpPr>
          <p:cNvPr id="34" name="Shape 32"/>
          <p:cNvSpPr/>
          <p:nvPr/>
        </p:nvSpPr>
        <p:spPr>
          <a:xfrm>
            <a:off x="7494422" y="2276856"/>
            <a:ext cx="1260958" cy="384048"/>
          </a:xfrm>
          <a:prstGeom prst="roundRect">
            <a:avLst>
              <a:gd name="adj" fmla="val 9524"/>
            </a:avLst>
          </a:prstGeom>
          <a:solidFill>
            <a:srgbClr val="FDEEDD"/>
          </a:solidFill>
          <a:ln w="9525">
            <a:solidFill>
              <a:srgbClr val="F3CDA5"/>
            </a:solidFill>
            <a:prstDash val="solid"/>
          </a:ln>
        </p:spPr>
      </p:sp>
      <p:sp>
        <p:nvSpPr>
          <p:cNvPr id="35" name="Text 33"/>
          <p:cNvSpPr txBox="1"/>
          <p:nvPr/>
        </p:nvSpPr>
        <p:spPr>
          <a:xfrm>
            <a:off x="7494422"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外协管理</a:t>
            </a:r>
            <a:endParaRPr lang="en-US" sz="1000" dirty="0"/>
          </a:p>
        </p:txBody>
      </p:sp>
      <p:sp>
        <p:nvSpPr>
          <p:cNvPr id="36" name="Shape 34"/>
          <p:cNvSpPr/>
          <p:nvPr/>
        </p:nvSpPr>
        <p:spPr>
          <a:xfrm>
            <a:off x="8865108" y="2276856"/>
            <a:ext cx="1260958" cy="384048"/>
          </a:xfrm>
          <a:prstGeom prst="roundRect">
            <a:avLst>
              <a:gd name="adj" fmla="val 9524"/>
            </a:avLst>
          </a:prstGeom>
          <a:solidFill>
            <a:srgbClr val="FDEEDD"/>
          </a:solidFill>
          <a:ln w="9525">
            <a:solidFill>
              <a:srgbClr val="F3CDA5"/>
            </a:solidFill>
            <a:prstDash val="solid"/>
          </a:ln>
        </p:spPr>
      </p:sp>
      <p:sp>
        <p:nvSpPr>
          <p:cNvPr id="37" name="Text 35"/>
          <p:cNvSpPr txBox="1"/>
          <p:nvPr/>
        </p:nvSpPr>
        <p:spPr>
          <a:xfrm>
            <a:off x="8865108"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报表管理</a:t>
            </a:r>
            <a:endParaRPr lang="en-US" sz="1000" dirty="0"/>
          </a:p>
        </p:txBody>
      </p:sp>
      <p:sp>
        <p:nvSpPr>
          <p:cNvPr id="38" name="Shape 36"/>
          <p:cNvSpPr/>
          <p:nvPr/>
        </p:nvSpPr>
        <p:spPr>
          <a:xfrm>
            <a:off x="10235794" y="2276856"/>
            <a:ext cx="1260958" cy="384048"/>
          </a:xfrm>
          <a:prstGeom prst="roundRect">
            <a:avLst>
              <a:gd name="adj" fmla="val 9524"/>
            </a:avLst>
          </a:prstGeom>
          <a:solidFill>
            <a:srgbClr val="FDEEDD"/>
          </a:solidFill>
          <a:ln w="9525">
            <a:solidFill>
              <a:srgbClr val="F3CDA5"/>
            </a:solidFill>
            <a:prstDash val="solid"/>
          </a:ln>
        </p:spPr>
      </p:sp>
      <p:sp>
        <p:nvSpPr>
          <p:cNvPr id="39" name="Text 37"/>
          <p:cNvSpPr txBox="1"/>
          <p:nvPr/>
        </p:nvSpPr>
        <p:spPr>
          <a:xfrm>
            <a:off x="10235794"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系统管理</a:t>
            </a:r>
            <a:endParaRPr lang="en-US" sz="1000" dirty="0"/>
          </a:p>
        </p:txBody>
      </p:sp>
      <p:sp>
        <p:nvSpPr>
          <p:cNvPr id="40" name="Text 38"/>
          <p:cNvSpPr txBox="1"/>
          <p:nvPr/>
        </p:nvSpPr>
        <p:spPr>
          <a:xfrm>
            <a:off x="2011680" y="269748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五大子系统 + 报表 + 系统管理，模块化可裁剪</a:t>
            </a:r>
            <a:endParaRPr lang="en-US" sz="1000" dirty="0"/>
          </a:p>
        </p:txBody>
      </p:sp>
      <p:sp>
        <p:nvSpPr>
          <p:cNvPr id="41" name="Shape 39"/>
          <p:cNvSpPr/>
          <p:nvPr/>
        </p:nvSpPr>
        <p:spPr>
          <a:xfrm>
            <a:off x="530352" y="3127248"/>
            <a:ext cx="1188720" cy="859536"/>
          </a:xfrm>
          <a:prstGeom prst="roundRect">
            <a:avLst>
              <a:gd name="adj" fmla="val 5319"/>
            </a:avLst>
          </a:prstGeom>
          <a:solidFill>
            <a:srgbClr val="0E2340"/>
          </a:solidFill>
          <a:ln/>
        </p:spPr>
      </p:sp>
      <p:sp>
        <p:nvSpPr>
          <p:cNvPr id="42" name="Text 40"/>
          <p:cNvSpPr txBox="1"/>
          <p:nvPr/>
        </p:nvSpPr>
        <p:spPr>
          <a:xfrm>
            <a:off x="530352" y="312724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能力层</a:t>
            </a:r>
            <a:endParaRPr lang="en-US" sz="1350" dirty="0"/>
          </a:p>
        </p:txBody>
      </p:sp>
      <p:sp>
        <p:nvSpPr>
          <p:cNvPr id="43" name="Shape 41"/>
          <p:cNvSpPr/>
          <p:nvPr/>
        </p:nvSpPr>
        <p:spPr>
          <a:xfrm>
            <a:off x="1847088" y="3127248"/>
            <a:ext cx="9814255" cy="859536"/>
          </a:xfrm>
          <a:prstGeom prst="roundRect">
            <a:avLst>
              <a:gd name="adj" fmla="val 3723"/>
            </a:avLst>
          </a:prstGeom>
          <a:solidFill>
            <a:srgbClr val="F6F8FA"/>
          </a:solidFill>
          <a:ln w="9525">
            <a:solidFill>
              <a:srgbClr val="E3E7EB"/>
            </a:solidFill>
            <a:prstDash val="solid"/>
          </a:ln>
        </p:spPr>
      </p:sp>
      <p:sp>
        <p:nvSpPr>
          <p:cNvPr id="44" name="Shape 42"/>
          <p:cNvSpPr/>
          <p:nvPr/>
        </p:nvSpPr>
        <p:spPr>
          <a:xfrm>
            <a:off x="2011680" y="3236976"/>
            <a:ext cx="1089622" cy="384048"/>
          </a:xfrm>
          <a:prstGeom prst="roundRect">
            <a:avLst>
              <a:gd name="adj" fmla="val 9524"/>
            </a:avLst>
          </a:prstGeom>
          <a:solidFill>
            <a:srgbClr val="FDEEDD"/>
          </a:solidFill>
          <a:ln w="9525">
            <a:solidFill>
              <a:srgbClr val="F3CDA5"/>
            </a:solidFill>
            <a:prstDash val="solid"/>
          </a:ln>
        </p:spPr>
      </p:sp>
      <p:sp>
        <p:nvSpPr>
          <p:cNvPr id="45" name="Text 43"/>
          <p:cNvSpPr txBox="1"/>
          <p:nvPr/>
        </p:nvSpPr>
        <p:spPr>
          <a:xfrm>
            <a:off x="20116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主数据</a:t>
            </a:r>
            <a:endParaRPr lang="en-US" sz="1000" dirty="0"/>
          </a:p>
        </p:txBody>
      </p:sp>
      <p:sp>
        <p:nvSpPr>
          <p:cNvPr id="46" name="Shape 44"/>
          <p:cNvSpPr/>
          <p:nvPr/>
        </p:nvSpPr>
        <p:spPr>
          <a:xfrm>
            <a:off x="3211030" y="3236976"/>
            <a:ext cx="1089622" cy="384048"/>
          </a:xfrm>
          <a:prstGeom prst="roundRect">
            <a:avLst>
              <a:gd name="adj" fmla="val 9524"/>
            </a:avLst>
          </a:prstGeom>
          <a:solidFill>
            <a:srgbClr val="FDEEDD"/>
          </a:solidFill>
          <a:ln w="9525">
            <a:solidFill>
              <a:srgbClr val="F3CDA5"/>
            </a:solidFill>
            <a:prstDash val="solid"/>
          </a:ln>
        </p:spPr>
      </p:sp>
      <p:sp>
        <p:nvSpPr>
          <p:cNvPr id="47" name="Text 45"/>
          <p:cNvSpPr txBox="1"/>
          <p:nvPr/>
        </p:nvSpPr>
        <p:spPr>
          <a:xfrm>
            <a:off x="32110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空间建模</a:t>
            </a:r>
            <a:endParaRPr lang="en-US" sz="1000" dirty="0"/>
          </a:p>
        </p:txBody>
      </p:sp>
      <p:sp>
        <p:nvSpPr>
          <p:cNvPr id="48" name="Shape 46"/>
          <p:cNvSpPr/>
          <p:nvPr/>
        </p:nvSpPr>
        <p:spPr>
          <a:xfrm>
            <a:off x="4410380" y="3236976"/>
            <a:ext cx="1089622" cy="384048"/>
          </a:xfrm>
          <a:prstGeom prst="roundRect">
            <a:avLst>
              <a:gd name="adj" fmla="val 9524"/>
            </a:avLst>
          </a:prstGeom>
          <a:solidFill>
            <a:srgbClr val="FDEEDD"/>
          </a:solidFill>
          <a:ln w="9525">
            <a:solidFill>
              <a:srgbClr val="F3CDA5"/>
            </a:solidFill>
            <a:prstDash val="solid"/>
          </a:ln>
        </p:spPr>
      </p:sp>
      <p:sp>
        <p:nvSpPr>
          <p:cNvPr id="49" name="Text 47"/>
          <p:cNvSpPr txBox="1"/>
          <p:nvPr/>
        </p:nvSpPr>
        <p:spPr>
          <a:xfrm>
            <a:off x="44103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权限中心</a:t>
            </a:r>
            <a:endParaRPr lang="en-US" sz="1000" dirty="0"/>
          </a:p>
        </p:txBody>
      </p:sp>
      <p:sp>
        <p:nvSpPr>
          <p:cNvPr id="50" name="Shape 48"/>
          <p:cNvSpPr/>
          <p:nvPr/>
        </p:nvSpPr>
        <p:spPr>
          <a:xfrm>
            <a:off x="5609730" y="3236976"/>
            <a:ext cx="1089622" cy="384048"/>
          </a:xfrm>
          <a:prstGeom prst="roundRect">
            <a:avLst>
              <a:gd name="adj" fmla="val 9524"/>
            </a:avLst>
          </a:prstGeom>
          <a:solidFill>
            <a:srgbClr val="FDEEDD"/>
          </a:solidFill>
          <a:ln w="9525">
            <a:solidFill>
              <a:srgbClr val="F3CDA5"/>
            </a:solidFill>
            <a:prstDash val="solid"/>
          </a:ln>
        </p:spPr>
      </p:sp>
      <p:sp>
        <p:nvSpPr>
          <p:cNvPr id="51" name="Text 49"/>
          <p:cNvSpPr txBox="1"/>
          <p:nvPr/>
        </p:nvSpPr>
        <p:spPr>
          <a:xfrm>
            <a:off x="56097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工单中心</a:t>
            </a:r>
            <a:endParaRPr lang="en-US" sz="1000" dirty="0"/>
          </a:p>
        </p:txBody>
      </p:sp>
      <p:sp>
        <p:nvSpPr>
          <p:cNvPr id="52" name="Shape 50"/>
          <p:cNvSpPr/>
          <p:nvPr/>
        </p:nvSpPr>
        <p:spPr>
          <a:xfrm>
            <a:off x="6809080" y="3236976"/>
            <a:ext cx="1089622" cy="384048"/>
          </a:xfrm>
          <a:prstGeom prst="roundRect">
            <a:avLst>
              <a:gd name="adj" fmla="val 9524"/>
            </a:avLst>
          </a:prstGeom>
          <a:solidFill>
            <a:srgbClr val="FDEEDD"/>
          </a:solidFill>
          <a:ln w="9525">
            <a:solidFill>
              <a:srgbClr val="F3CDA5"/>
            </a:solidFill>
            <a:prstDash val="solid"/>
          </a:ln>
        </p:spPr>
      </p:sp>
      <p:sp>
        <p:nvSpPr>
          <p:cNvPr id="53" name="Text 51"/>
          <p:cNvSpPr txBox="1"/>
          <p:nvPr/>
        </p:nvSpPr>
        <p:spPr>
          <a:xfrm>
            <a:off x="68090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告警中心</a:t>
            </a:r>
            <a:endParaRPr lang="en-US" sz="1000" dirty="0"/>
          </a:p>
        </p:txBody>
      </p:sp>
      <p:sp>
        <p:nvSpPr>
          <p:cNvPr id="54" name="Shape 52"/>
          <p:cNvSpPr/>
          <p:nvPr/>
        </p:nvSpPr>
        <p:spPr>
          <a:xfrm>
            <a:off x="8008430" y="3236976"/>
            <a:ext cx="1089622" cy="384048"/>
          </a:xfrm>
          <a:prstGeom prst="roundRect">
            <a:avLst>
              <a:gd name="adj" fmla="val 9524"/>
            </a:avLst>
          </a:prstGeom>
          <a:solidFill>
            <a:srgbClr val="FDEEDD"/>
          </a:solidFill>
          <a:ln w="9525">
            <a:solidFill>
              <a:srgbClr val="F3CDA5"/>
            </a:solidFill>
            <a:prstDash val="solid"/>
          </a:ln>
        </p:spPr>
      </p:sp>
      <p:sp>
        <p:nvSpPr>
          <p:cNvPr id="55" name="Text 53"/>
          <p:cNvSpPr txBox="1"/>
          <p:nvPr/>
        </p:nvSpPr>
        <p:spPr>
          <a:xfrm>
            <a:off x="80084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规则引擎</a:t>
            </a:r>
            <a:endParaRPr lang="en-US" sz="1000" dirty="0"/>
          </a:p>
        </p:txBody>
      </p:sp>
      <p:sp>
        <p:nvSpPr>
          <p:cNvPr id="56" name="Shape 54"/>
          <p:cNvSpPr/>
          <p:nvPr/>
        </p:nvSpPr>
        <p:spPr>
          <a:xfrm>
            <a:off x="9207779" y="3236976"/>
            <a:ext cx="1089622" cy="384048"/>
          </a:xfrm>
          <a:prstGeom prst="roundRect">
            <a:avLst>
              <a:gd name="adj" fmla="val 9524"/>
            </a:avLst>
          </a:prstGeom>
          <a:solidFill>
            <a:srgbClr val="FDEEDD"/>
          </a:solidFill>
          <a:ln w="9525">
            <a:solidFill>
              <a:srgbClr val="F3CDA5"/>
            </a:solidFill>
            <a:prstDash val="solid"/>
          </a:ln>
        </p:spPr>
      </p:sp>
      <p:sp>
        <p:nvSpPr>
          <p:cNvPr id="57" name="Text 55"/>
          <p:cNvSpPr txBox="1"/>
          <p:nvPr/>
        </p:nvSpPr>
        <p:spPr>
          <a:xfrm>
            <a:off x="9207779"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AI 算法仓</a:t>
            </a:r>
            <a:endParaRPr lang="en-US" sz="1000" dirty="0"/>
          </a:p>
        </p:txBody>
      </p:sp>
      <p:sp>
        <p:nvSpPr>
          <p:cNvPr id="58" name="Shape 56"/>
          <p:cNvSpPr/>
          <p:nvPr/>
        </p:nvSpPr>
        <p:spPr>
          <a:xfrm>
            <a:off x="10407129" y="3236976"/>
            <a:ext cx="1089622" cy="384048"/>
          </a:xfrm>
          <a:prstGeom prst="roundRect">
            <a:avLst>
              <a:gd name="adj" fmla="val 9524"/>
            </a:avLst>
          </a:prstGeom>
          <a:solidFill>
            <a:srgbClr val="FDEEDD"/>
          </a:solidFill>
          <a:ln w="9525">
            <a:solidFill>
              <a:srgbClr val="F3CDA5"/>
            </a:solidFill>
            <a:prstDash val="solid"/>
          </a:ln>
        </p:spPr>
      </p:sp>
      <p:sp>
        <p:nvSpPr>
          <p:cNvPr id="59" name="Text 57"/>
          <p:cNvSpPr txBox="1"/>
          <p:nvPr/>
        </p:nvSpPr>
        <p:spPr>
          <a:xfrm>
            <a:off x="10407129"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低代码配置</a:t>
            </a:r>
            <a:endParaRPr lang="en-US" sz="1000" dirty="0"/>
          </a:p>
        </p:txBody>
      </p:sp>
      <p:sp>
        <p:nvSpPr>
          <p:cNvPr id="60" name="Text 58"/>
          <p:cNvSpPr txBox="1"/>
          <p:nvPr/>
        </p:nvSpPr>
        <p:spPr>
          <a:xfrm>
            <a:off x="2011680" y="365760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公共能力沉淀，支持可视化二次开发与业务模型自定义</a:t>
            </a:r>
            <a:endParaRPr lang="en-US" sz="1000" dirty="0"/>
          </a:p>
        </p:txBody>
      </p:sp>
      <p:sp>
        <p:nvSpPr>
          <p:cNvPr id="61" name="Shape 59"/>
          <p:cNvSpPr/>
          <p:nvPr/>
        </p:nvSpPr>
        <p:spPr>
          <a:xfrm>
            <a:off x="530352" y="4087368"/>
            <a:ext cx="1188720" cy="859536"/>
          </a:xfrm>
          <a:prstGeom prst="roundRect">
            <a:avLst>
              <a:gd name="adj" fmla="val 5319"/>
            </a:avLst>
          </a:prstGeom>
          <a:solidFill>
            <a:srgbClr val="1B3A5C"/>
          </a:solidFill>
          <a:ln/>
        </p:spPr>
      </p:sp>
      <p:sp>
        <p:nvSpPr>
          <p:cNvPr id="62" name="Text 60"/>
          <p:cNvSpPr txBox="1"/>
          <p:nvPr/>
        </p:nvSpPr>
        <p:spPr>
          <a:xfrm>
            <a:off x="530352" y="408736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数据层</a:t>
            </a:r>
            <a:endParaRPr lang="en-US" sz="1350" dirty="0"/>
          </a:p>
        </p:txBody>
      </p:sp>
      <p:sp>
        <p:nvSpPr>
          <p:cNvPr id="63" name="Shape 61"/>
          <p:cNvSpPr/>
          <p:nvPr/>
        </p:nvSpPr>
        <p:spPr>
          <a:xfrm>
            <a:off x="1847088" y="4087368"/>
            <a:ext cx="9814255" cy="859536"/>
          </a:xfrm>
          <a:prstGeom prst="roundRect">
            <a:avLst>
              <a:gd name="adj" fmla="val 3723"/>
            </a:avLst>
          </a:prstGeom>
          <a:solidFill>
            <a:srgbClr val="FFFFFF"/>
          </a:solidFill>
          <a:ln w="9525">
            <a:solidFill>
              <a:srgbClr val="E3E7EB"/>
            </a:solidFill>
            <a:prstDash val="solid"/>
          </a:ln>
        </p:spPr>
      </p:sp>
      <p:sp>
        <p:nvSpPr>
          <p:cNvPr id="64" name="Shape 62"/>
          <p:cNvSpPr/>
          <p:nvPr/>
        </p:nvSpPr>
        <p:spPr>
          <a:xfrm>
            <a:off x="2011680" y="4197096"/>
            <a:ext cx="1260958" cy="384048"/>
          </a:xfrm>
          <a:prstGeom prst="roundRect">
            <a:avLst>
              <a:gd name="adj" fmla="val 9524"/>
            </a:avLst>
          </a:prstGeom>
          <a:solidFill>
            <a:srgbClr val="FDEEDD"/>
          </a:solidFill>
          <a:ln w="9525">
            <a:solidFill>
              <a:srgbClr val="F3CDA5"/>
            </a:solidFill>
            <a:prstDash val="solid"/>
          </a:ln>
        </p:spPr>
      </p:sp>
      <p:sp>
        <p:nvSpPr>
          <p:cNvPr id="65" name="Text 63"/>
          <p:cNvSpPr txBox="1"/>
          <p:nvPr/>
        </p:nvSpPr>
        <p:spPr>
          <a:xfrm>
            <a:off x="2011680"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关系库</a:t>
            </a:r>
            <a:endParaRPr lang="en-US" sz="1000" dirty="0"/>
          </a:p>
        </p:txBody>
      </p:sp>
      <p:sp>
        <p:nvSpPr>
          <p:cNvPr id="66" name="Shape 64"/>
          <p:cNvSpPr/>
          <p:nvPr/>
        </p:nvSpPr>
        <p:spPr>
          <a:xfrm>
            <a:off x="3382366" y="4197096"/>
            <a:ext cx="1260958" cy="384048"/>
          </a:xfrm>
          <a:prstGeom prst="roundRect">
            <a:avLst>
              <a:gd name="adj" fmla="val 9524"/>
            </a:avLst>
          </a:prstGeom>
          <a:solidFill>
            <a:srgbClr val="FDEEDD"/>
          </a:solidFill>
          <a:ln w="9525">
            <a:solidFill>
              <a:srgbClr val="F3CDA5"/>
            </a:solidFill>
            <a:prstDash val="solid"/>
          </a:ln>
        </p:spPr>
      </p:sp>
      <p:sp>
        <p:nvSpPr>
          <p:cNvPr id="67" name="Text 65"/>
          <p:cNvSpPr txBox="1"/>
          <p:nvPr/>
        </p:nvSpPr>
        <p:spPr>
          <a:xfrm>
            <a:off x="3382366"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时序库</a:t>
            </a:r>
            <a:endParaRPr lang="en-US" sz="1000" dirty="0"/>
          </a:p>
        </p:txBody>
      </p:sp>
      <p:sp>
        <p:nvSpPr>
          <p:cNvPr id="68" name="Shape 66"/>
          <p:cNvSpPr/>
          <p:nvPr/>
        </p:nvSpPr>
        <p:spPr>
          <a:xfrm>
            <a:off x="4753051" y="4197096"/>
            <a:ext cx="1260958" cy="384048"/>
          </a:xfrm>
          <a:prstGeom prst="roundRect">
            <a:avLst>
              <a:gd name="adj" fmla="val 9524"/>
            </a:avLst>
          </a:prstGeom>
          <a:solidFill>
            <a:srgbClr val="FDEEDD"/>
          </a:solidFill>
          <a:ln w="9525">
            <a:solidFill>
              <a:srgbClr val="F3CDA5"/>
            </a:solidFill>
            <a:prstDash val="solid"/>
          </a:ln>
        </p:spPr>
      </p:sp>
      <p:sp>
        <p:nvSpPr>
          <p:cNvPr id="69" name="Text 67"/>
          <p:cNvSpPr txBox="1"/>
          <p:nvPr/>
        </p:nvSpPr>
        <p:spPr>
          <a:xfrm>
            <a:off x="4753051"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文件与视频存储</a:t>
            </a:r>
            <a:endParaRPr lang="en-US" sz="1000" dirty="0"/>
          </a:p>
        </p:txBody>
      </p:sp>
      <p:sp>
        <p:nvSpPr>
          <p:cNvPr id="70" name="Shape 68"/>
          <p:cNvSpPr/>
          <p:nvPr/>
        </p:nvSpPr>
        <p:spPr>
          <a:xfrm>
            <a:off x="6123737" y="4197096"/>
            <a:ext cx="1260958" cy="384048"/>
          </a:xfrm>
          <a:prstGeom prst="roundRect">
            <a:avLst>
              <a:gd name="adj" fmla="val 9524"/>
            </a:avLst>
          </a:prstGeom>
          <a:solidFill>
            <a:srgbClr val="FDEEDD"/>
          </a:solidFill>
          <a:ln w="9525">
            <a:solidFill>
              <a:srgbClr val="F3CDA5"/>
            </a:solidFill>
            <a:prstDash val="solid"/>
          </a:ln>
        </p:spPr>
      </p:sp>
      <p:sp>
        <p:nvSpPr>
          <p:cNvPr id="71" name="Text 69"/>
          <p:cNvSpPr txBox="1"/>
          <p:nvPr/>
        </p:nvSpPr>
        <p:spPr>
          <a:xfrm>
            <a:off x="6123737"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缓存</a:t>
            </a:r>
            <a:endParaRPr lang="en-US" sz="1000" dirty="0"/>
          </a:p>
        </p:txBody>
      </p:sp>
      <p:sp>
        <p:nvSpPr>
          <p:cNvPr id="72" name="Shape 70"/>
          <p:cNvSpPr/>
          <p:nvPr/>
        </p:nvSpPr>
        <p:spPr>
          <a:xfrm>
            <a:off x="7494422" y="4197096"/>
            <a:ext cx="1260958" cy="384048"/>
          </a:xfrm>
          <a:prstGeom prst="roundRect">
            <a:avLst>
              <a:gd name="adj" fmla="val 9524"/>
            </a:avLst>
          </a:prstGeom>
          <a:solidFill>
            <a:srgbClr val="FDEEDD"/>
          </a:solidFill>
          <a:ln w="9525">
            <a:solidFill>
              <a:srgbClr val="F3CDA5"/>
            </a:solidFill>
            <a:prstDash val="solid"/>
          </a:ln>
        </p:spPr>
      </p:sp>
      <p:sp>
        <p:nvSpPr>
          <p:cNvPr id="73" name="Text 71"/>
          <p:cNvSpPr txBox="1"/>
          <p:nvPr/>
        </p:nvSpPr>
        <p:spPr>
          <a:xfrm>
            <a:off x="7494422"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消息队列</a:t>
            </a:r>
            <a:endParaRPr lang="en-US" sz="1000" dirty="0"/>
          </a:p>
        </p:txBody>
      </p:sp>
      <p:sp>
        <p:nvSpPr>
          <p:cNvPr id="74" name="Shape 72"/>
          <p:cNvSpPr/>
          <p:nvPr/>
        </p:nvSpPr>
        <p:spPr>
          <a:xfrm>
            <a:off x="8865108" y="4197096"/>
            <a:ext cx="1260958" cy="384048"/>
          </a:xfrm>
          <a:prstGeom prst="roundRect">
            <a:avLst>
              <a:gd name="adj" fmla="val 9524"/>
            </a:avLst>
          </a:prstGeom>
          <a:solidFill>
            <a:srgbClr val="FDEEDD"/>
          </a:solidFill>
          <a:ln w="9525">
            <a:solidFill>
              <a:srgbClr val="F3CDA5"/>
            </a:solidFill>
            <a:prstDash val="solid"/>
          </a:ln>
        </p:spPr>
      </p:sp>
      <p:sp>
        <p:nvSpPr>
          <p:cNvPr id="75" name="Text 73"/>
          <p:cNvSpPr txBox="1"/>
          <p:nvPr/>
        </p:nvSpPr>
        <p:spPr>
          <a:xfrm>
            <a:off x="8865108"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数据资产目录 L1-L5</a:t>
            </a:r>
            <a:endParaRPr lang="en-US" sz="1000" dirty="0"/>
          </a:p>
        </p:txBody>
      </p:sp>
      <p:sp>
        <p:nvSpPr>
          <p:cNvPr id="76" name="Shape 74"/>
          <p:cNvSpPr/>
          <p:nvPr/>
        </p:nvSpPr>
        <p:spPr>
          <a:xfrm>
            <a:off x="10235794" y="4197096"/>
            <a:ext cx="1260958" cy="384048"/>
          </a:xfrm>
          <a:prstGeom prst="roundRect">
            <a:avLst>
              <a:gd name="adj" fmla="val 9524"/>
            </a:avLst>
          </a:prstGeom>
          <a:solidFill>
            <a:srgbClr val="FDEEDD"/>
          </a:solidFill>
          <a:ln w="9525">
            <a:solidFill>
              <a:srgbClr val="F3CDA5"/>
            </a:solidFill>
            <a:prstDash val="solid"/>
          </a:ln>
        </p:spPr>
      </p:sp>
      <p:sp>
        <p:nvSpPr>
          <p:cNvPr id="77" name="Text 75"/>
          <p:cNvSpPr txBox="1"/>
          <p:nvPr/>
        </p:nvSpPr>
        <p:spPr>
          <a:xfrm>
            <a:off x="10235794"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指标目录</a:t>
            </a:r>
            <a:endParaRPr lang="en-US" sz="1000" dirty="0"/>
          </a:p>
        </p:txBody>
      </p:sp>
      <p:sp>
        <p:nvSpPr>
          <p:cNvPr id="78" name="Text 76"/>
          <p:cNvSpPr txBox="1"/>
          <p:nvPr/>
        </p:nvSpPr>
        <p:spPr>
          <a:xfrm>
            <a:off x="2011680" y="461772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数据与文件分离存储，支持 5PB 级业务数据量</a:t>
            </a:r>
            <a:endParaRPr lang="en-US" sz="1000" dirty="0"/>
          </a:p>
        </p:txBody>
      </p:sp>
      <p:sp>
        <p:nvSpPr>
          <p:cNvPr id="79" name="Shape 77"/>
          <p:cNvSpPr/>
          <p:nvPr/>
        </p:nvSpPr>
        <p:spPr>
          <a:xfrm>
            <a:off x="530352" y="5047488"/>
            <a:ext cx="1188720" cy="859536"/>
          </a:xfrm>
          <a:prstGeom prst="roundRect">
            <a:avLst>
              <a:gd name="adj" fmla="val 5319"/>
            </a:avLst>
          </a:prstGeom>
          <a:solidFill>
            <a:srgbClr val="167C80"/>
          </a:solidFill>
          <a:ln/>
        </p:spPr>
      </p:sp>
      <p:sp>
        <p:nvSpPr>
          <p:cNvPr id="80" name="Text 78"/>
          <p:cNvSpPr txBox="1"/>
          <p:nvPr/>
        </p:nvSpPr>
        <p:spPr>
          <a:xfrm>
            <a:off x="530352" y="504748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接入层</a:t>
            </a:r>
            <a:endParaRPr lang="en-US" sz="1350" dirty="0"/>
          </a:p>
        </p:txBody>
      </p:sp>
      <p:sp>
        <p:nvSpPr>
          <p:cNvPr id="81" name="Shape 79"/>
          <p:cNvSpPr/>
          <p:nvPr/>
        </p:nvSpPr>
        <p:spPr>
          <a:xfrm>
            <a:off x="1847088" y="5047488"/>
            <a:ext cx="9814255" cy="859536"/>
          </a:xfrm>
          <a:prstGeom prst="roundRect">
            <a:avLst>
              <a:gd name="adj" fmla="val 3723"/>
            </a:avLst>
          </a:prstGeom>
          <a:solidFill>
            <a:srgbClr val="F6F8FA"/>
          </a:solidFill>
          <a:ln w="9525">
            <a:solidFill>
              <a:srgbClr val="E3E7EB"/>
            </a:solidFill>
            <a:prstDash val="solid"/>
          </a:ln>
        </p:spPr>
      </p:sp>
      <p:sp>
        <p:nvSpPr>
          <p:cNvPr id="82" name="Shape 80"/>
          <p:cNvSpPr/>
          <p:nvPr/>
        </p:nvSpPr>
        <p:spPr>
          <a:xfrm>
            <a:off x="2011680" y="5157216"/>
            <a:ext cx="1260958" cy="384048"/>
          </a:xfrm>
          <a:prstGeom prst="roundRect">
            <a:avLst>
              <a:gd name="adj" fmla="val 9524"/>
            </a:avLst>
          </a:prstGeom>
          <a:solidFill>
            <a:srgbClr val="FDEEDD"/>
          </a:solidFill>
          <a:ln w="9525">
            <a:solidFill>
              <a:srgbClr val="F3CDA5"/>
            </a:solidFill>
            <a:prstDash val="solid"/>
          </a:ln>
        </p:spPr>
      </p:sp>
      <p:sp>
        <p:nvSpPr>
          <p:cNvPr id="83" name="Text 81"/>
          <p:cNvSpPr txBox="1"/>
          <p:nvPr/>
        </p:nvSpPr>
        <p:spPr>
          <a:xfrm>
            <a:off x="2011680"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ESB 集成网关</a:t>
            </a:r>
            <a:endParaRPr lang="en-US" sz="1000" dirty="0"/>
          </a:p>
        </p:txBody>
      </p:sp>
      <p:sp>
        <p:nvSpPr>
          <p:cNvPr id="84" name="Shape 82"/>
          <p:cNvSpPr/>
          <p:nvPr/>
        </p:nvSpPr>
        <p:spPr>
          <a:xfrm>
            <a:off x="3382366" y="5157216"/>
            <a:ext cx="1260958" cy="384048"/>
          </a:xfrm>
          <a:prstGeom prst="roundRect">
            <a:avLst>
              <a:gd name="adj" fmla="val 9524"/>
            </a:avLst>
          </a:prstGeom>
          <a:solidFill>
            <a:srgbClr val="FDEEDD"/>
          </a:solidFill>
          <a:ln w="9525">
            <a:solidFill>
              <a:srgbClr val="F3CDA5"/>
            </a:solidFill>
            <a:prstDash val="solid"/>
          </a:ln>
        </p:spPr>
      </p:sp>
      <p:sp>
        <p:nvSpPr>
          <p:cNvPr id="85" name="Text 83"/>
          <p:cNvSpPr txBox="1"/>
          <p:nvPr/>
        </p:nvSpPr>
        <p:spPr>
          <a:xfrm>
            <a:off x="3382366"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RESTful API</a:t>
            </a:r>
            <a:endParaRPr lang="en-US" sz="1000" dirty="0"/>
          </a:p>
        </p:txBody>
      </p:sp>
      <p:sp>
        <p:nvSpPr>
          <p:cNvPr id="86" name="Shape 84"/>
          <p:cNvSpPr/>
          <p:nvPr/>
        </p:nvSpPr>
        <p:spPr>
          <a:xfrm>
            <a:off x="4753051" y="5157216"/>
            <a:ext cx="1260958" cy="384048"/>
          </a:xfrm>
          <a:prstGeom prst="roundRect">
            <a:avLst>
              <a:gd name="adj" fmla="val 9524"/>
            </a:avLst>
          </a:prstGeom>
          <a:solidFill>
            <a:srgbClr val="FDEEDD"/>
          </a:solidFill>
          <a:ln w="9525">
            <a:solidFill>
              <a:srgbClr val="F3CDA5"/>
            </a:solidFill>
            <a:prstDash val="solid"/>
          </a:ln>
        </p:spPr>
      </p:sp>
      <p:sp>
        <p:nvSpPr>
          <p:cNvPr id="87" name="Text 85"/>
          <p:cNvSpPr txBox="1"/>
          <p:nvPr/>
        </p:nvSpPr>
        <p:spPr>
          <a:xfrm>
            <a:off x="4753051"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MQTT/OPC-UA</a:t>
            </a:r>
            <a:endParaRPr lang="en-US" sz="1000" dirty="0"/>
          </a:p>
        </p:txBody>
      </p:sp>
      <p:sp>
        <p:nvSpPr>
          <p:cNvPr id="88" name="Shape 86"/>
          <p:cNvSpPr/>
          <p:nvPr/>
        </p:nvSpPr>
        <p:spPr>
          <a:xfrm>
            <a:off x="6123737" y="5157216"/>
            <a:ext cx="1260958" cy="384048"/>
          </a:xfrm>
          <a:prstGeom prst="roundRect">
            <a:avLst>
              <a:gd name="adj" fmla="val 9524"/>
            </a:avLst>
          </a:prstGeom>
          <a:solidFill>
            <a:srgbClr val="FDEEDD"/>
          </a:solidFill>
          <a:ln w="9525">
            <a:solidFill>
              <a:srgbClr val="F3CDA5"/>
            </a:solidFill>
            <a:prstDash val="solid"/>
          </a:ln>
        </p:spPr>
      </p:sp>
      <p:sp>
        <p:nvSpPr>
          <p:cNvPr id="89" name="Text 87"/>
          <p:cNvSpPr txBox="1"/>
          <p:nvPr/>
        </p:nvSpPr>
        <p:spPr>
          <a:xfrm>
            <a:off x="6123737"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GB/T28181</a:t>
            </a:r>
            <a:endParaRPr lang="en-US" sz="1000" dirty="0"/>
          </a:p>
        </p:txBody>
      </p:sp>
      <p:sp>
        <p:nvSpPr>
          <p:cNvPr id="90" name="Shape 88"/>
          <p:cNvSpPr/>
          <p:nvPr/>
        </p:nvSpPr>
        <p:spPr>
          <a:xfrm>
            <a:off x="7494422" y="5157216"/>
            <a:ext cx="1260958" cy="384048"/>
          </a:xfrm>
          <a:prstGeom prst="roundRect">
            <a:avLst>
              <a:gd name="adj" fmla="val 9524"/>
            </a:avLst>
          </a:prstGeom>
          <a:solidFill>
            <a:srgbClr val="FDEEDD"/>
          </a:solidFill>
          <a:ln w="9525">
            <a:solidFill>
              <a:srgbClr val="F3CDA5"/>
            </a:solidFill>
            <a:prstDash val="solid"/>
          </a:ln>
        </p:spPr>
      </p:sp>
      <p:sp>
        <p:nvSpPr>
          <p:cNvPr id="91" name="Text 89"/>
          <p:cNvSpPr txBox="1"/>
          <p:nvPr/>
        </p:nvSpPr>
        <p:spPr>
          <a:xfrm>
            <a:off x="7494422"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Modbus</a:t>
            </a:r>
            <a:endParaRPr lang="en-US" sz="1000" dirty="0"/>
          </a:p>
        </p:txBody>
      </p:sp>
      <p:sp>
        <p:nvSpPr>
          <p:cNvPr id="92" name="Shape 90"/>
          <p:cNvSpPr/>
          <p:nvPr/>
        </p:nvSpPr>
        <p:spPr>
          <a:xfrm>
            <a:off x="8865108" y="5157216"/>
            <a:ext cx="1260958" cy="384048"/>
          </a:xfrm>
          <a:prstGeom prst="roundRect">
            <a:avLst>
              <a:gd name="adj" fmla="val 9524"/>
            </a:avLst>
          </a:prstGeom>
          <a:solidFill>
            <a:srgbClr val="FDEEDD"/>
          </a:solidFill>
          <a:ln w="9525">
            <a:solidFill>
              <a:srgbClr val="F3CDA5"/>
            </a:solidFill>
            <a:prstDash val="solid"/>
          </a:ln>
        </p:spPr>
      </p:sp>
      <p:sp>
        <p:nvSpPr>
          <p:cNvPr id="93" name="Text 91"/>
          <p:cNvSpPr txBox="1"/>
          <p:nvPr/>
        </p:nvSpPr>
        <p:spPr>
          <a:xfrm>
            <a:off x="8865108"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SDK 对接</a:t>
            </a:r>
            <a:endParaRPr lang="en-US" sz="1000" dirty="0"/>
          </a:p>
        </p:txBody>
      </p:sp>
      <p:sp>
        <p:nvSpPr>
          <p:cNvPr id="94" name="Shape 92"/>
          <p:cNvSpPr/>
          <p:nvPr/>
        </p:nvSpPr>
        <p:spPr>
          <a:xfrm>
            <a:off x="10235794" y="5157216"/>
            <a:ext cx="1260958" cy="384048"/>
          </a:xfrm>
          <a:prstGeom prst="roundRect">
            <a:avLst>
              <a:gd name="adj" fmla="val 9524"/>
            </a:avLst>
          </a:prstGeom>
          <a:solidFill>
            <a:srgbClr val="FDEEDD"/>
          </a:solidFill>
          <a:ln w="9525">
            <a:solidFill>
              <a:srgbClr val="F3CDA5"/>
            </a:solidFill>
            <a:prstDash val="solid"/>
          </a:ln>
        </p:spPr>
      </p:sp>
      <p:sp>
        <p:nvSpPr>
          <p:cNvPr id="95" name="Text 93"/>
          <p:cNvSpPr txBox="1"/>
          <p:nvPr/>
        </p:nvSpPr>
        <p:spPr>
          <a:xfrm>
            <a:off x="10235794"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文件接口</a:t>
            </a:r>
            <a:endParaRPr lang="en-US" sz="1000" dirty="0"/>
          </a:p>
        </p:txBody>
      </p:sp>
      <p:sp>
        <p:nvSpPr>
          <p:cNvPr id="96" name="Text 94"/>
          <p:cNvSpPr txBox="1"/>
          <p:nvPr/>
        </p:nvSpPr>
        <p:spPr>
          <a:xfrm>
            <a:off x="2011680" y="557784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统一经 ESB 集成，异常有重试与告警机制</a:t>
            </a:r>
            <a:endParaRPr lang="en-US" sz="1000" dirty="0"/>
          </a:p>
        </p:txBody>
      </p:sp>
      <p:sp>
        <p:nvSpPr>
          <p:cNvPr id="97" name="Text 95"/>
          <p:cNvSpPr txBox="1"/>
          <p:nvPr/>
        </p:nvSpPr>
        <p:spPr>
          <a:xfrm>
            <a:off x="530352" y="5870448"/>
            <a:ext cx="11130991" cy="274320"/>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说明：系统采用 B/S 架构、微服务化部署，支持统一数据库与统一业务模型，模块可灵活裁剪与扩展；业务模型、审批流、权限、菜单、编码规则均支持可视化配置，无需二次开发即可应对业务变化。</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平台底座（一）：主数据与四级空间数字底座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MDM，空间采用轻量化 2.5D 建模——用现有平面图即可落地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四类园区主数据：统一口径、统一编码、单一可信来源</a:t>
            </a:r>
            <a:endParaRPr lang="en-US" sz="1250" dirty="0"/>
          </a:p>
        </p:txBody>
      </p:sp>
      <p:sp>
        <p:nvSpPr>
          <p:cNvPr id="7" name="Shape 5"/>
          <p:cNvSpPr/>
          <p:nvPr/>
        </p:nvSpPr>
        <p:spPr>
          <a:xfrm>
            <a:off x="530352"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1606258" y="1682496"/>
            <a:ext cx="493776" cy="49377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739577" y="1815816"/>
            <a:ext cx="227137" cy="227137"/>
          </a:xfrm>
          <a:prstGeom prst="rect">
            <a:avLst/>
          </a:prstGeom>
        </p:spPr>
      </p:pic>
      <p:sp>
        <p:nvSpPr>
          <p:cNvPr id="10" name="Text 7"/>
          <p:cNvSpPr txBox="1"/>
          <p:nvPr/>
        </p:nvSpPr>
        <p:spPr>
          <a:xfrm>
            <a:off x="658368"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园区主数据</a:t>
            </a:r>
            <a:endParaRPr lang="en-US" sz="1250" dirty="0"/>
          </a:p>
        </p:txBody>
      </p:sp>
      <p:sp>
        <p:nvSpPr>
          <p:cNvPr id="11" name="Text 8"/>
          <p:cNvSpPr txBox="1"/>
          <p:nvPr/>
        </p:nvSpPr>
        <p:spPr>
          <a:xfrm>
            <a:off x="694944"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支持维护多个园区，业务数据与权限分开维护；甲方可自主新增、修改园区并纳入运作</a:t>
            </a:r>
            <a:endParaRPr lang="en-US" sz="1000" dirty="0"/>
          </a:p>
        </p:txBody>
      </p:sp>
      <p:sp>
        <p:nvSpPr>
          <p:cNvPr id="12" name="Shape 9"/>
          <p:cNvSpPr/>
          <p:nvPr/>
        </p:nvSpPr>
        <p:spPr>
          <a:xfrm>
            <a:off x="3358820"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34726" y="1682496"/>
            <a:ext cx="493776" cy="49377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8045" y="1815816"/>
            <a:ext cx="227137" cy="227137"/>
          </a:xfrm>
          <a:prstGeom prst="rect">
            <a:avLst/>
          </a:prstGeom>
        </p:spPr>
      </p:pic>
      <p:sp>
        <p:nvSpPr>
          <p:cNvPr id="15" name="Text 11"/>
          <p:cNvSpPr txBox="1"/>
          <p:nvPr/>
        </p:nvSpPr>
        <p:spPr>
          <a:xfrm>
            <a:off x="3486836"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地理空间数据</a:t>
            </a:r>
            <a:endParaRPr lang="en-US" sz="1250" dirty="0"/>
          </a:p>
        </p:txBody>
      </p:sp>
      <p:sp>
        <p:nvSpPr>
          <p:cNvPr id="16" name="Text 12"/>
          <p:cNvSpPr txBox="1"/>
          <p:nvPr/>
        </p:nvSpPr>
        <p:spPr>
          <a:xfrm>
            <a:off x="3523412"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园区→建筑→楼层→区域四级空间模型；房间/功能区、公共区域、道路、停车场及空间关系</a:t>
            </a:r>
            <a:endParaRPr lang="en-US" sz="1000" dirty="0"/>
          </a:p>
        </p:txBody>
      </p:sp>
      <p:sp>
        <p:nvSpPr>
          <p:cNvPr id="17" name="Shape 13"/>
          <p:cNvSpPr/>
          <p:nvPr/>
        </p:nvSpPr>
        <p:spPr>
          <a:xfrm>
            <a:off x="6187288"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263194" y="1682496"/>
            <a:ext cx="493776" cy="49377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396513" y="1815816"/>
            <a:ext cx="227137" cy="227137"/>
          </a:xfrm>
          <a:prstGeom prst="rect">
            <a:avLst/>
          </a:prstGeom>
        </p:spPr>
      </p:pic>
      <p:sp>
        <p:nvSpPr>
          <p:cNvPr id="20" name="Text 15"/>
          <p:cNvSpPr txBox="1"/>
          <p:nvPr/>
        </p:nvSpPr>
        <p:spPr>
          <a:xfrm>
            <a:off x="6315304"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资产主数据</a:t>
            </a:r>
            <a:endParaRPr lang="en-US" sz="1250" dirty="0"/>
          </a:p>
        </p:txBody>
      </p:sp>
      <p:sp>
        <p:nvSpPr>
          <p:cNvPr id="21" name="Text 16"/>
          <p:cNvSpPr txBox="1"/>
          <p:nvPr/>
        </p:nvSpPr>
        <p:spPr>
          <a:xfrm>
            <a:off x="6351880"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设备编号、名称、型号、位置（关联至地图）、供应商、安装日期、保修信息、技术参数</a:t>
            </a:r>
            <a:endParaRPr lang="en-US" sz="1000" dirty="0"/>
          </a:p>
        </p:txBody>
      </p:sp>
      <p:sp>
        <p:nvSpPr>
          <p:cNvPr id="22" name="Shape 17"/>
          <p:cNvSpPr/>
          <p:nvPr/>
        </p:nvSpPr>
        <p:spPr>
          <a:xfrm>
            <a:off x="9015755"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10091661" y="1682496"/>
            <a:ext cx="493776" cy="49377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10224981" y="1815816"/>
            <a:ext cx="227137" cy="227137"/>
          </a:xfrm>
          <a:prstGeom prst="rect">
            <a:avLst/>
          </a:prstGeom>
        </p:spPr>
      </p:pic>
      <p:sp>
        <p:nvSpPr>
          <p:cNvPr id="25" name="Text 19"/>
          <p:cNvSpPr txBox="1"/>
          <p:nvPr/>
        </p:nvSpPr>
        <p:spPr>
          <a:xfrm>
            <a:off x="9143771"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人员主数据</a:t>
            </a:r>
            <a:endParaRPr lang="en-US" sz="1250" dirty="0"/>
          </a:p>
        </p:txBody>
      </p:sp>
      <p:sp>
        <p:nvSpPr>
          <p:cNvPr id="26" name="Text 20"/>
          <p:cNvSpPr txBox="1"/>
          <p:nvPr/>
        </p:nvSpPr>
        <p:spPr>
          <a:xfrm>
            <a:off x="9180347"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员工、派遣、第三方、外协、访客、司机统一身份体系，来源 MDM / PS / 外协系统</a:t>
            </a:r>
            <a:endParaRPr lang="en-US" sz="1000" dirty="0"/>
          </a:p>
        </p:txBody>
      </p:sp>
      <p:sp>
        <p:nvSpPr>
          <p:cNvPr id="27" name="Shape 21"/>
          <p:cNvSpPr/>
          <p:nvPr/>
        </p:nvSpPr>
        <p:spPr>
          <a:xfrm>
            <a:off x="530352" y="3195828"/>
            <a:ext cx="68580" cy="173736"/>
          </a:xfrm>
          <a:prstGeom prst="rect">
            <a:avLst/>
          </a:prstGeom>
          <a:solidFill>
            <a:srgbClr val="F97B00"/>
          </a:solidFill>
          <a:ln/>
        </p:spPr>
      </p:sp>
      <p:sp>
        <p:nvSpPr>
          <p:cNvPr id="28" name="Text 22"/>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空间建模路线：轻量化优先，快速加载、准确定位</a:t>
            </a:r>
            <a:endParaRPr lang="en-US" sz="1250" dirty="0"/>
          </a:p>
        </p:txBody>
      </p:sp>
      <p:sp>
        <p:nvSpPr>
          <p:cNvPr id="29" name="Shape 23"/>
          <p:cNvSpPr/>
          <p:nvPr/>
        </p:nvSpPr>
        <p:spPr>
          <a:xfrm>
            <a:off x="530352" y="3474720"/>
            <a:ext cx="5486400" cy="2432304"/>
          </a:xfrm>
          <a:prstGeom prst="roundRect">
            <a:avLst>
              <a:gd name="adj" fmla="val 131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731520" y="3712464"/>
            <a:ext cx="274320" cy="274320"/>
          </a:xfrm>
          <a:prstGeom prst="ellipse">
            <a:avLst/>
          </a:prstGeom>
          <a:solidFill>
            <a:srgbClr val="F97B00"/>
          </a:solidFill>
          <a:ln/>
        </p:spPr>
      </p:sp>
      <p:sp>
        <p:nvSpPr>
          <p:cNvPr id="31" name="Text 25"/>
          <p:cNvSpPr txBox="1"/>
          <p:nvPr/>
        </p:nvSpPr>
        <p:spPr>
          <a:xfrm>
            <a:off x="731520" y="37124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1115568" y="3621024"/>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现有 CAD 平面图矢量化</a:t>
            </a:r>
            <a:endParaRPr lang="en-US" sz="1100" dirty="0"/>
          </a:p>
        </p:txBody>
      </p:sp>
      <p:sp>
        <p:nvSpPr>
          <p:cNvPr id="33" name="Text 27"/>
          <p:cNvSpPr txBox="1"/>
          <p:nvPr/>
        </p:nvSpPr>
        <p:spPr>
          <a:xfrm>
            <a:off x="1115568" y="3877056"/>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直接复用园区现有平面图，无需重新采集 3D 模型，投资与周期最优</a:t>
            </a:r>
            <a:endParaRPr lang="en-US" sz="1000" dirty="0"/>
          </a:p>
        </p:txBody>
      </p:sp>
      <p:sp>
        <p:nvSpPr>
          <p:cNvPr id="34" name="Shape 28"/>
          <p:cNvSpPr/>
          <p:nvPr/>
        </p:nvSpPr>
        <p:spPr>
          <a:xfrm>
            <a:off x="731520" y="4279392"/>
            <a:ext cx="274320" cy="274320"/>
          </a:xfrm>
          <a:prstGeom prst="ellipse">
            <a:avLst/>
          </a:prstGeom>
          <a:solidFill>
            <a:srgbClr val="F97B00"/>
          </a:solidFill>
          <a:ln/>
        </p:spPr>
      </p:sp>
      <p:sp>
        <p:nvSpPr>
          <p:cNvPr id="35" name="Text 29"/>
          <p:cNvSpPr txBox="1"/>
          <p:nvPr/>
        </p:nvSpPr>
        <p:spPr>
          <a:xfrm>
            <a:off x="731520" y="42793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0"/>
          <p:cNvSpPr txBox="1"/>
          <p:nvPr/>
        </p:nvSpPr>
        <p:spPr>
          <a:xfrm>
            <a:off x="1115568" y="4187952"/>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四级空间编码</a:t>
            </a:r>
            <a:endParaRPr lang="en-US" sz="1100" dirty="0"/>
          </a:p>
        </p:txBody>
      </p:sp>
      <p:sp>
        <p:nvSpPr>
          <p:cNvPr id="37" name="Text 31"/>
          <p:cNvSpPr txBox="1"/>
          <p:nvPr/>
        </p:nvSpPr>
        <p:spPr>
          <a:xfrm>
            <a:off x="1115568" y="4443984"/>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建立园区/建筑/楼层/区域编码体系，区域数据自动抓取 EHS 平台 5S 责任区</a:t>
            </a:r>
            <a:endParaRPr lang="en-US" sz="1000" dirty="0"/>
          </a:p>
        </p:txBody>
      </p:sp>
      <p:sp>
        <p:nvSpPr>
          <p:cNvPr id="38" name="Shape 32"/>
          <p:cNvSpPr/>
          <p:nvPr/>
        </p:nvSpPr>
        <p:spPr>
          <a:xfrm>
            <a:off x="731520" y="4846320"/>
            <a:ext cx="274320" cy="274320"/>
          </a:xfrm>
          <a:prstGeom prst="ellipse">
            <a:avLst/>
          </a:prstGeom>
          <a:solidFill>
            <a:srgbClr val="F97B00"/>
          </a:solidFill>
          <a:ln/>
        </p:spPr>
      </p:sp>
      <p:sp>
        <p:nvSpPr>
          <p:cNvPr id="39" name="Text 33"/>
          <p:cNvSpPr txBox="1"/>
          <p:nvPr/>
        </p:nvSpPr>
        <p:spPr>
          <a:xfrm>
            <a:off x="731520" y="4846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4"/>
          <p:cNvSpPr txBox="1"/>
          <p:nvPr/>
        </p:nvSpPr>
        <p:spPr>
          <a:xfrm>
            <a:off x="1115568" y="4754880"/>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设施位置一一映射</a:t>
            </a:r>
            <a:endParaRPr lang="en-US" sz="1100" dirty="0"/>
          </a:p>
        </p:txBody>
      </p:sp>
      <p:sp>
        <p:nvSpPr>
          <p:cNvPr id="41" name="Text 35"/>
          <p:cNvSpPr txBox="1"/>
          <p:nvPr/>
        </p:nvSpPr>
        <p:spPr>
          <a:xfrm>
            <a:off x="1115568" y="5010912"/>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将纳入监控的消防、安防、IoT 资源与实际布置一一映射并完成位置编码</a:t>
            </a:r>
            <a:endParaRPr lang="en-US" sz="1000" dirty="0"/>
          </a:p>
        </p:txBody>
      </p:sp>
      <p:sp>
        <p:nvSpPr>
          <p:cNvPr id="42" name="Shape 36"/>
          <p:cNvSpPr/>
          <p:nvPr/>
        </p:nvSpPr>
        <p:spPr>
          <a:xfrm>
            <a:off x="731520" y="5413248"/>
            <a:ext cx="274320" cy="274320"/>
          </a:xfrm>
          <a:prstGeom prst="ellipse">
            <a:avLst/>
          </a:prstGeom>
          <a:solidFill>
            <a:srgbClr val="F97B00"/>
          </a:solidFill>
          <a:ln/>
        </p:spPr>
      </p:sp>
      <p:sp>
        <p:nvSpPr>
          <p:cNvPr id="43" name="Text 37"/>
          <p:cNvSpPr txBox="1"/>
          <p:nvPr/>
        </p:nvSpPr>
        <p:spPr>
          <a:xfrm>
            <a:off x="731520" y="5413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8"/>
          <p:cNvSpPr txBox="1"/>
          <p:nvPr/>
        </p:nvSpPr>
        <p:spPr>
          <a:xfrm>
            <a:off x="1115568" y="5321808"/>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2.5D 可视化呈现</a:t>
            </a:r>
            <a:endParaRPr lang="en-US" sz="1100" dirty="0"/>
          </a:p>
        </p:txBody>
      </p:sp>
      <p:sp>
        <p:nvSpPr>
          <p:cNvPr id="45" name="Text 39"/>
          <p:cNvSpPr txBox="1"/>
          <p:nvPr/>
        </p:nvSpPr>
        <p:spPr>
          <a:xfrm>
            <a:off x="1115568" y="5577840"/>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支持逐级穿透查看，功能实现与快速切换优先、适度美观，避免加载延迟</a:t>
            </a:r>
            <a:endParaRPr lang="en-US" sz="1000" dirty="0"/>
          </a:p>
        </p:txBody>
      </p:sp>
      <p:sp>
        <p:nvSpPr>
          <p:cNvPr id="46" name="Shape 40"/>
          <p:cNvSpPr/>
          <p:nvPr/>
        </p:nvSpPr>
        <p:spPr>
          <a:xfrm>
            <a:off x="6199632" y="3474720"/>
            <a:ext cx="5461711" cy="2432304"/>
          </a:xfrm>
          <a:prstGeom prst="roundRect">
            <a:avLst>
              <a:gd name="adj" fmla="val 131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7" name="Shape 41"/>
          <p:cNvSpPr/>
          <p:nvPr/>
        </p:nvSpPr>
        <p:spPr>
          <a:xfrm>
            <a:off x="6419088" y="3671316"/>
            <a:ext cx="68580" cy="173736"/>
          </a:xfrm>
          <a:prstGeom prst="rect">
            <a:avLst/>
          </a:prstGeom>
          <a:solidFill>
            <a:srgbClr val="F97B00"/>
          </a:solidFill>
          <a:ln/>
        </p:spPr>
      </p:sp>
      <p:sp>
        <p:nvSpPr>
          <p:cNvPr id="48" name="Text 42"/>
          <p:cNvSpPr txBox="1"/>
          <p:nvPr/>
        </p:nvSpPr>
        <p:spPr>
          <a:xfrm>
            <a:off x="6574536" y="3621024"/>
            <a:ext cx="44165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数据治理交付物（数据治理要求）</a:t>
            </a:r>
            <a:endParaRPr lang="en-US" sz="1250" dirty="0"/>
          </a:p>
        </p:txBody>
      </p:sp>
      <p:sp>
        <p:nvSpPr>
          <p:cNvPr id="49" name="Text 43"/>
          <p:cNvSpPr txBox="1"/>
          <p:nvPr/>
        </p:nvSpPr>
        <p:spPr>
          <a:xfrm>
            <a:off x="6419088" y="3968496"/>
            <a:ext cx="5022799" cy="1847088"/>
          </a:xfrm>
          <a:prstGeom prst="rect">
            <a:avLst/>
          </a:prstGeom>
          <a:noFill/>
          <a:ln/>
        </p:spPr>
        <p:txBody>
          <a:bodyPr wrap="square" lIns="0" tIns="0" rIns="0" bIns="0" rtlCol="0" anchor="ctr"/>
          <a:lstStyle/>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结构化数据质量问题清单</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历史数据清洗与迁移实施方案（步骤/风险/校验规则）</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核心数据库表及字段清单（类型/约束/业务含义）</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系统逻辑数据模型 ER 图</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统一指标目录（定义/口径/计算逻辑/来源/更新规则）</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跨系统数据交互字段与协议说明</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L1-L5 级数据资产清单</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平台底座（二）：统一工单池 + 统一告警中心</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所有工单进同一个池子、分级分类、按角色隔离数据权限、闭环管理</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统一工单池：一个入口、一套流程、一套考核</a:t>
            </a:r>
            <a:endParaRPr lang="en-US" sz="1250" dirty="0"/>
          </a:p>
        </p:txBody>
      </p:sp>
      <p:sp>
        <p:nvSpPr>
          <p:cNvPr id="7" name="Shape 5"/>
          <p:cNvSpPr/>
          <p:nvPr/>
        </p:nvSpPr>
        <p:spPr>
          <a:xfrm>
            <a:off x="530352" y="1517904"/>
            <a:ext cx="940526" cy="457200"/>
          </a:xfrm>
          <a:prstGeom prst="homePlate">
            <a:avLst/>
          </a:prstGeom>
          <a:solidFill>
            <a:srgbClr val="F97B00"/>
          </a:solidFill>
          <a:ln/>
        </p:spPr>
      </p:sp>
      <p:sp>
        <p:nvSpPr>
          <p:cNvPr id="8" name="Text 6"/>
          <p:cNvSpPr txBox="1"/>
          <p:nvPr/>
        </p:nvSpPr>
        <p:spPr>
          <a:xfrm>
            <a:off x="643215"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提单</a:t>
            </a:r>
            <a:endParaRPr lang="en-US" sz="1050" dirty="0"/>
          </a:p>
        </p:txBody>
      </p:sp>
      <p:sp>
        <p:nvSpPr>
          <p:cNvPr id="9" name="Shape 7"/>
          <p:cNvSpPr/>
          <p:nvPr/>
        </p:nvSpPr>
        <p:spPr>
          <a:xfrm>
            <a:off x="1516598" y="1517904"/>
            <a:ext cx="940526" cy="457200"/>
          </a:xfrm>
          <a:prstGeom prst="chevron">
            <a:avLst/>
          </a:prstGeom>
          <a:solidFill>
            <a:srgbClr val="FF9F3D"/>
          </a:solidFill>
          <a:ln/>
        </p:spPr>
      </p:sp>
      <p:sp>
        <p:nvSpPr>
          <p:cNvPr id="10" name="Text 8"/>
          <p:cNvSpPr txBox="1"/>
          <p:nvPr/>
        </p:nvSpPr>
        <p:spPr>
          <a:xfrm>
            <a:off x="1629461"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受理</a:t>
            </a:r>
            <a:endParaRPr lang="en-US" sz="1050" dirty="0"/>
          </a:p>
        </p:txBody>
      </p:sp>
      <p:sp>
        <p:nvSpPr>
          <p:cNvPr id="11" name="Shape 9"/>
          <p:cNvSpPr/>
          <p:nvPr/>
        </p:nvSpPr>
        <p:spPr>
          <a:xfrm>
            <a:off x="2502843" y="1517904"/>
            <a:ext cx="940526" cy="457200"/>
          </a:xfrm>
          <a:prstGeom prst="chevron">
            <a:avLst/>
          </a:prstGeom>
          <a:solidFill>
            <a:srgbClr val="F97B00"/>
          </a:solidFill>
          <a:ln/>
        </p:spPr>
      </p:sp>
      <p:sp>
        <p:nvSpPr>
          <p:cNvPr id="12" name="Text 10"/>
          <p:cNvSpPr txBox="1"/>
          <p:nvPr/>
        </p:nvSpPr>
        <p:spPr>
          <a:xfrm>
            <a:off x="2615707"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派发</a:t>
            </a:r>
            <a:endParaRPr lang="en-US" sz="1050" dirty="0"/>
          </a:p>
        </p:txBody>
      </p:sp>
      <p:sp>
        <p:nvSpPr>
          <p:cNvPr id="13" name="Shape 11"/>
          <p:cNvSpPr/>
          <p:nvPr/>
        </p:nvSpPr>
        <p:spPr>
          <a:xfrm>
            <a:off x="3489089" y="1517904"/>
            <a:ext cx="940526" cy="457200"/>
          </a:xfrm>
          <a:prstGeom prst="chevron">
            <a:avLst/>
          </a:prstGeom>
          <a:solidFill>
            <a:srgbClr val="FF9F3D"/>
          </a:solidFill>
          <a:ln/>
        </p:spPr>
      </p:sp>
      <p:sp>
        <p:nvSpPr>
          <p:cNvPr id="14" name="Text 12"/>
          <p:cNvSpPr txBox="1"/>
          <p:nvPr/>
        </p:nvSpPr>
        <p:spPr>
          <a:xfrm>
            <a:off x="3601952"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处理</a:t>
            </a:r>
            <a:endParaRPr lang="en-US" sz="1050" dirty="0"/>
          </a:p>
        </p:txBody>
      </p:sp>
      <p:sp>
        <p:nvSpPr>
          <p:cNvPr id="15" name="Shape 13"/>
          <p:cNvSpPr/>
          <p:nvPr/>
        </p:nvSpPr>
        <p:spPr>
          <a:xfrm>
            <a:off x="4475335" y="1517904"/>
            <a:ext cx="940526" cy="457200"/>
          </a:xfrm>
          <a:prstGeom prst="chevron">
            <a:avLst/>
          </a:prstGeom>
          <a:solidFill>
            <a:srgbClr val="F97B00"/>
          </a:solidFill>
          <a:ln/>
        </p:spPr>
      </p:sp>
      <p:sp>
        <p:nvSpPr>
          <p:cNvPr id="16" name="Text 14"/>
          <p:cNvSpPr txBox="1"/>
          <p:nvPr/>
        </p:nvSpPr>
        <p:spPr>
          <a:xfrm>
            <a:off x="4588198"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验收</a:t>
            </a:r>
            <a:endParaRPr lang="en-US" sz="1050" dirty="0"/>
          </a:p>
        </p:txBody>
      </p:sp>
      <p:sp>
        <p:nvSpPr>
          <p:cNvPr id="17" name="Shape 15"/>
          <p:cNvSpPr/>
          <p:nvPr/>
        </p:nvSpPr>
        <p:spPr>
          <a:xfrm>
            <a:off x="5461581" y="1517904"/>
            <a:ext cx="940526" cy="457200"/>
          </a:xfrm>
          <a:prstGeom prst="chevron">
            <a:avLst/>
          </a:prstGeom>
          <a:solidFill>
            <a:srgbClr val="FF9F3D"/>
          </a:solidFill>
          <a:ln/>
        </p:spPr>
      </p:sp>
      <p:sp>
        <p:nvSpPr>
          <p:cNvPr id="18" name="Text 16"/>
          <p:cNvSpPr txBox="1"/>
          <p:nvPr/>
        </p:nvSpPr>
        <p:spPr>
          <a:xfrm>
            <a:off x="5574444"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6447826" y="1517904"/>
            <a:ext cx="940526" cy="457200"/>
          </a:xfrm>
          <a:prstGeom prst="chevron">
            <a:avLst/>
          </a:prstGeom>
          <a:solidFill>
            <a:srgbClr val="F97B00"/>
          </a:solidFill>
          <a:ln/>
        </p:spPr>
      </p:sp>
      <p:sp>
        <p:nvSpPr>
          <p:cNvPr id="20" name="Text 18"/>
          <p:cNvSpPr txBox="1"/>
          <p:nvPr/>
        </p:nvSpPr>
        <p:spPr>
          <a:xfrm>
            <a:off x="6560689"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复盘</a:t>
            </a:r>
            <a:endParaRPr lang="en-US" sz="1050" dirty="0"/>
          </a:p>
        </p:txBody>
      </p:sp>
      <p:sp>
        <p:nvSpPr>
          <p:cNvPr id="21" name="Shape 19"/>
          <p:cNvSpPr/>
          <p:nvPr/>
        </p:nvSpPr>
        <p:spPr>
          <a:xfrm>
            <a:off x="530352" y="2121408"/>
            <a:ext cx="6858000" cy="1243584"/>
          </a:xfrm>
          <a:prstGeom prst="roundRect">
            <a:avLst>
              <a:gd name="adj" fmla="val 2574"/>
            </a:avLst>
          </a:prstGeom>
          <a:solidFill>
            <a:srgbClr val="F6F8FA"/>
          </a:solidFill>
          <a:ln w="9525">
            <a:solidFill>
              <a:srgbClr val="E3E7EB"/>
            </a:solidFill>
            <a:prstDash val="solid"/>
          </a:ln>
        </p:spPr>
      </p:sp>
      <p:sp>
        <p:nvSpPr>
          <p:cNvPr id="22" name="Text 20"/>
          <p:cNvSpPr txBox="1"/>
          <p:nvPr/>
        </p:nvSpPr>
        <p:spPr>
          <a:xfrm>
            <a:off x="713232" y="2212848"/>
            <a:ext cx="27432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工单来源（统一归集）</a:t>
            </a:r>
            <a:endParaRPr lang="en-US" sz="1050" dirty="0"/>
          </a:p>
        </p:txBody>
      </p:sp>
      <p:sp>
        <p:nvSpPr>
          <p:cNvPr id="23" name="Shape 21"/>
          <p:cNvSpPr/>
          <p:nvPr/>
        </p:nvSpPr>
        <p:spPr>
          <a:xfrm>
            <a:off x="713232" y="2505456"/>
            <a:ext cx="640080" cy="731520"/>
          </a:xfrm>
          <a:prstGeom prst="roundRect">
            <a:avLst>
              <a:gd name="adj" fmla="val 5714"/>
            </a:avLst>
          </a:prstGeom>
          <a:solidFill>
            <a:srgbClr val="FFFFFF"/>
          </a:solidFill>
          <a:ln w="9525">
            <a:solidFill>
              <a:srgbClr val="F3CDA5"/>
            </a:solidFill>
            <a:prstDash val="solid"/>
          </a:ln>
        </p:spPr>
      </p:sp>
      <p:sp>
        <p:nvSpPr>
          <p:cNvPr id="24" name="Text 22"/>
          <p:cNvSpPr txBox="1"/>
          <p:nvPr/>
        </p:nvSpPr>
        <p:spPr>
          <a:xfrm>
            <a:off x="73152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消防火警/故障</a:t>
            </a:r>
            <a:endParaRPr lang="en-US" sz="1000" dirty="0"/>
          </a:p>
        </p:txBody>
      </p:sp>
      <p:sp>
        <p:nvSpPr>
          <p:cNvPr id="25" name="Shape 23"/>
          <p:cNvSpPr/>
          <p:nvPr/>
        </p:nvSpPr>
        <p:spPr>
          <a:xfrm>
            <a:off x="1444752" y="2505456"/>
            <a:ext cx="640080" cy="731520"/>
          </a:xfrm>
          <a:prstGeom prst="roundRect">
            <a:avLst>
              <a:gd name="adj" fmla="val 5714"/>
            </a:avLst>
          </a:prstGeom>
          <a:solidFill>
            <a:srgbClr val="FFFFFF"/>
          </a:solidFill>
          <a:ln w="9525">
            <a:solidFill>
              <a:srgbClr val="F3CDA5"/>
            </a:solidFill>
            <a:prstDash val="solid"/>
          </a:ln>
        </p:spPr>
      </p:sp>
      <p:sp>
        <p:nvSpPr>
          <p:cNvPr id="26" name="Text 24"/>
          <p:cNvSpPr txBox="1"/>
          <p:nvPr/>
        </p:nvSpPr>
        <p:spPr>
          <a:xfrm>
            <a:off x="146304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安防 AI 告警</a:t>
            </a:r>
            <a:endParaRPr lang="en-US" sz="1000" dirty="0"/>
          </a:p>
        </p:txBody>
      </p:sp>
      <p:sp>
        <p:nvSpPr>
          <p:cNvPr id="27" name="Shape 25"/>
          <p:cNvSpPr/>
          <p:nvPr/>
        </p:nvSpPr>
        <p:spPr>
          <a:xfrm>
            <a:off x="2176272" y="2505456"/>
            <a:ext cx="640080" cy="731520"/>
          </a:xfrm>
          <a:prstGeom prst="roundRect">
            <a:avLst>
              <a:gd name="adj" fmla="val 5714"/>
            </a:avLst>
          </a:prstGeom>
          <a:solidFill>
            <a:srgbClr val="FFFFFF"/>
          </a:solidFill>
          <a:ln w="9525">
            <a:solidFill>
              <a:srgbClr val="F3CDA5"/>
            </a:solidFill>
            <a:prstDash val="solid"/>
          </a:ln>
        </p:spPr>
      </p:sp>
      <p:sp>
        <p:nvSpPr>
          <p:cNvPr id="28" name="Text 26"/>
          <p:cNvSpPr txBox="1"/>
          <p:nvPr/>
        </p:nvSpPr>
        <p:spPr>
          <a:xfrm>
            <a:off x="219456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设备离线/故障</a:t>
            </a:r>
            <a:endParaRPr lang="en-US" sz="1000" dirty="0"/>
          </a:p>
        </p:txBody>
      </p:sp>
      <p:sp>
        <p:nvSpPr>
          <p:cNvPr id="29" name="Shape 27"/>
          <p:cNvSpPr/>
          <p:nvPr/>
        </p:nvSpPr>
        <p:spPr>
          <a:xfrm>
            <a:off x="2907792" y="2505456"/>
            <a:ext cx="640080" cy="731520"/>
          </a:xfrm>
          <a:prstGeom prst="roundRect">
            <a:avLst>
              <a:gd name="adj" fmla="val 5714"/>
            </a:avLst>
          </a:prstGeom>
          <a:solidFill>
            <a:srgbClr val="FFFFFF"/>
          </a:solidFill>
          <a:ln w="9525">
            <a:solidFill>
              <a:srgbClr val="F3CDA5"/>
            </a:solidFill>
            <a:prstDash val="solid"/>
          </a:ln>
        </p:spPr>
      </p:sp>
      <p:sp>
        <p:nvSpPr>
          <p:cNvPr id="30" name="Text 28"/>
          <p:cNvSpPr txBox="1"/>
          <p:nvPr/>
        </p:nvSpPr>
        <p:spPr>
          <a:xfrm>
            <a:off x="292608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巡检发现问题</a:t>
            </a:r>
            <a:endParaRPr lang="en-US" sz="1000" dirty="0"/>
          </a:p>
        </p:txBody>
      </p:sp>
      <p:sp>
        <p:nvSpPr>
          <p:cNvPr id="31" name="Shape 29"/>
          <p:cNvSpPr/>
          <p:nvPr/>
        </p:nvSpPr>
        <p:spPr>
          <a:xfrm>
            <a:off x="3639312" y="2505456"/>
            <a:ext cx="640080" cy="731520"/>
          </a:xfrm>
          <a:prstGeom prst="roundRect">
            <a:avLst>
              <a:gd name="adj" fmla="val 5714"/>
            </a:avLst>
          </a:prstGeom>
          <a:solidFill>
            <a:srgbClr val="FFFFFF"/>
          </a:solidFill>
          <a:ln w="9525">
            <a:solidFill>
              <a:srgbClr val="F3CDA5"/>
            </a:solidFill>
            <a:prstDash val="solid"/>
          </a:ln>
        </p:spPr>
      </p:sp>
      <p:sp>
        <p:nvSpPr>
          <p:cNvPr id="32" name="Text 30"/>
          <p:cNvSpPr txBox="1"/>
          <p:nvPr/>
        </p:nvSpPr>
        <p:spPr>
          <a:xfrm>
            <a:off x="365760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隐患随手拍</a:t>
            </a:r>
            <a:endParaRPr lang="en-US" sz="1000" dirty="0"/>
          </a:p>
        </p:txBody>
      </p:sp>
      <p:sp>
        <p:nvSpPr>
          <p:cNvPr id="33" name="Shape 31"/>
          <p:cNvSpPr/>
          <p:nvPr/>
        </p:nvSpPr>
        <p:spPr>
          <a:xfrm>
            <a:off x="4370832" y="2505456"/>
            <a:ext cx="640080" cy="731520"/>
          </a:xfrm>
          <a:prstGeom prst="roundRect">
            <a:avLst>
              <a:gd name="adj" fmla="val 5714"/>
            </a:avLst>
          </a:prstGeom>
          <a:solidFill>
            <a:srgbClr val="FFFFFF"/>
          </a:solidFill>
          <a:ln w="9525">
            <a:solidFill>
              <a:srgbClr val="F3CDA5"/>
            </a:solidFill>
            <a:prstDash val="solid"/>
          </a:ln>
        </p:spPr>
      </p:sp>
      <p:sp>
        <p:nvSpPr>
          <p:cNvPr id="34" name="Text 32"/>
          <p:cNvSpPr txBox="1"/>
          <p:nvPr/>
        </p:nvSpPr>
        <p:spPr>
          <a:xfrm>
            <a:off x="438912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宿舍报事报修</a:t>
            </a:r>
            <a:endParaRPr lang="en-US" sz="1000" dirty="0"/>
          </a:p>
        </p:txBody>
      </p:sp>
      <p:sp>
        <p:nvSpPr>
          <p:cNvPr id="35" name="Shape 33"/>
          <p:cNvSpPr/>
          <p:nvPr/>
        </p:nvSpPr>
        <p:spPr>
          <a:xfrm>
            <a:off x="5102352" y="2505456"/>
            <a:ext cx="640080" cy="731520"/>
          </a:xfrm>
          <a:prstGeom prst="roundRect">
            <a:avLst>
              <a:gd name="adj" fmla="val 5714"/>
            </a:avLst>
          </a:prstGeom>
          <a:solidFill>
            <a:srgbClr val="FFFFFF"/>
          </a:solidFill>
          <a:ln w="9525">
            <a:solidFill>
              <a:srgbClr val="F3CDA5"/>
            </a:solidFill>
            <a:prstDash val="solid"/>
          </a:ln>
        </p:spPr>
      </p:sp>
      <p:sp>
        <p:nvSpPr>
          <p:cNvPr id="36" name="Text 34"/>
          <p:cNvSpPr txBox="1"/>
          <p:nvPr/>
        </p:nvSpPr>
        <p:spPr>
          <a:xfrm>
            <a:off x="512064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员工服务请求</a:t>
            </a:r>
            <a:endParaRPr lang="en-US" sz="1000" dirty="0"/>
          </a:p>
        </p:txBody>
      </p:sp>
      <p:sp>
        <p:nvSpPr>
          <p:cNvPr id="37" name="Shape 35"/>
          <p:cNvSpPr/>
          <p:nvPr/>
        </p:nvSpPr>
        <p:spPr>
          <a:xfrm>
            <a:off x="5833872" y="2505456"/>
            <a:ext cx="640080" cy="731520"/>
          </a:xfrm>
          <a:prstGeom prst="roundRect">
            <a:avLst>
              <a:gd name="adj" fmla="val 5714"/>
            </a:avLst>
          </a:prstGeom>
          <a:solidFill>
            <a:srgbClr val="FFFFFF"/>
          </a:solidFill>
          <a:ln w="9525">
            <a:solidFill>
              <a:srgbClr val="F3CDA5"/>
            </a:solidFill>
            <a:prstDash val="solid"/>
          </a:ln>
        </p:spPr>
      </p:sp>
      <p:sp>
        <p:nvSpPr>
          <p:cNvPr id="38" name="Text 36"/>
          <p:cNvSpPr txBox="1"/>
          <p:nvPr/>
        </p:nvSpPr>
        <p:spPr>
          <a:xfrm>
            <a:off x="585216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外协作业异常</a:t>
            </a:r>
            <a:endParaRPr lang="en-US" sz="1000" dirty="0"/>
          </a:p>
        </p:txBody>
      </p:sp>
      <p:sp>
        <p:nvSpPr>
          <p:cNvPr id="39" name="Shape 37"/>
          <p:cNvSpPr/>
          <p:nvPr/>
        </p:nvSpPr>
        <p:spPr>
          <a:xfrm>
            <a:off x="6565392" y="2505456"/>
            <a:ext cx="640080" cy="731520"/>
          </a:xfrm>
          <a:prstGeom prst="roundRect">
            <a:avLst>
              <a:gd name="adj" fmla="val 5714"/>
            </a:avLst>
          </a:prstGeom>
          <a:solidFill>
            <a:srgbClr val="FFFFFF"/>
          </a:solidFill>
          <a:ln w="9525">
            <a:solidFill>
              <a:srgbClr val="F3CDA5"/>
            </a:solidFill>
            <a:prstDash val="solid"/>
          </a:ln>
        </p:spPr>
      </p:sp>
      <p:sp>
        <p:nvSpPr>
          <p:cNvPr id="40" name="Text 38"/>
          <p:cNvSpPr txBox="1"/>
          <p:nvPr/>
        </p:nvSpPr>
        <p:spPr>
          <a:xfrm>
            <a:off x="658368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物流异常反馈</a:t>
            </a:r>
            <a:endParaRPr lang="en-US" sz="1000" dirty="0"/>
          </a:p>
        </p:txBody>
      </p:sp>
      <p:sp>
        <p:nvSpPr>
          <p:cNvPr id="41" name="Shape 39"/>
          <p:cNvSpPr/>
          <p:nvPr/>
        </p:nvSpPr>
        <p:spPr>
          <a:xfrm>
            <a:off x="530352" y="3689604"/>
            <a:ext cx="68580" cy="173736"/>
          </a:xfrm>
          <a:prstGeom prst="rect">
            <a:avLst/>
          </a:prstGeom>
          <a:solidFill>
            <a:srgbClr val="F97B00"/>
          </a:solidFill>
          <a:ln/>
        </p:spPr>
      </p:sp>
      <p:sp>
        <p:nvSpPr>
          <p:cNvPr id="42" name="Text 40"/>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四项关键管控机制</a:t>
            </a:r>
            <a:endParaRPr lang="en-US" sz="1250" dirty="0"/>
          </a:p>
        </p:txBody>
      </p:sp>
      <p:sp>
        <p:nvSpPr>
          <p:cNvPr id="43" name="Shape 41"/>
          <p:cNvSpPr/>
          <p:nvPr/>
        </p:nvSpPr>
        <p:spPr>
          <a:xfrm>
            <a:off x="530352" y="3950208"/>
            <a:ext cx="6858000" cy="411480"/>
          </a:xfrm>
          <a:prstGeom prst="roundRect">
            <a:avLst>
              <a:gd name="adj" fmla="val 7778"/>
            </a:avLst>
          </a:prstGeom>
          <a:solidFill>
            <a:srgbClr val="FFF7EF"/>
          </a:solidFill>
          <a:ln w="9525">
            <a:solidFill>
              <a:srgbClr val="EEDFD0"/>
            </a:solidFill>
            <a:prstDash val="solid"/>
          </a:ln>
        </p:spPr>
      </p:sp>
      <p:sp>
        <p:nvSpPr>
          <p:cNvPr id="44" name="Text 42"/>
          <p:cNvSpPr txBox="1"/>
          <p:nvPr/>
        </p:nvSpPr>
        <p:spPr>
          <a:xfrm>
            <a:off x="713232" y="3950208"/>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分级分类</a:t>
            </a:r>
            <a:endParaRPr lang="en-US" sz="1100" dirty="0"/>
          </a:p>
        </p:txBody>
      </p:sp>
      <p:sp>
        <p:nvSpPr>
          <p:cNvPr id="45" name="Text 43"/>
          <p:cNvSpPr txBox="1"/>
          <p:nvPr/>
        </p:nvSpPr>
        <p:spPr>
          <a:xfrm>
            <a:off x="2231136" y="3950208"/>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按类型/严重程度/属地划分工单等级，不同等级对应不同响应时限与升级路径</a:t>
            </a:r>
            <a:endParaRPr lang="en-US" sz="1000" dirty="0"/>
          </a:p>
        </p:txBody>
      </p:sp>
      <p:sp>
        <p:nvSpPr>
          <p:cNvPr id="46" name="Shape 44"/>
          <p:cNvSpPr/>
          <p:nvPr/>
        </p:nvSpPr>
        <p:spPr>
          <a:xfrm>
            <a:off x="530352" y="4434840"/>
            <a:ext cx="6858000" cy="411480"/>
          </a:xfrm>
          <a:prstGeom prst="roundRect">
            <a:avLst>
              <a:gd name="adj" fmla="val 7778"/>
            </a:avLst>
          </a:prstGeom>
          <a:solidFill>
            <a:srgbClr val="FFFFFF"/>
          </a:solidFill>
          <a:ln w="9525">
            <a:solidFill>
              <a:srgbClr val="EEDFD0"/>
            </a:solidFill>
            <a:prstDash val="solid"/>
          </a:ln>
        </p:spPr>
      </p:sp>
      <p:sp>
        <p:nvSpPr>
          <p:cNvPr id="47" name="Text 45"/>
          <p:cNvSpPr txBox="1"/>
          <p:nvPr/>
        </p:nvSpPr>
        <p:spPr>
          <a:xfrm>
            <a:off x="713232" y="4434840"/>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数据权限隔离</a:t>
            </a:r>
            <a:endParaRPr lang="en-US" sz="1100" dirty="0"/>
          </a:p>
        </p:txBody>
      </p:sp>
      <p:sp>
        <p:nvSpPr>
          <p:cNvPr id="48" name="Text 46"/>
          <p:cNvSpPr txBox="1"/>
          <p:nvPr/>
        </p:nvSpPr>
        <p:spPr>
          <a:xfrm>
            <a:off x="2231136" y="4434840"/>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RBAC + 组织/项目/区域/数据状态多维权限，分公司与部门仅见本域数据</a:t>
            </a:r>
            <a:endParaRPr lang="en-US" sz="1000" dirty="0"/>
          </a:p>
        </p:txBody>
      </p:sp>
      <p:sp>
        <p:nvSpPr>
          <p:cNvPr id="49" name="Shape 47"/>
          <p:cNvSpPr/>
          <p:nvPr/>
        </p:nvSpPr>
        <p:spPr>
          <a:xfrm>
            <a:off x="530352" y="4919472"/>
            <a:ext cx="6858000" cy="411480"/>
          </a:xfrm>
          <a:prstGeom prst="roundRect">
            <a:avLst>
              <a:gd name="adj" fmla="val 7778"/>
            </a:avLst>
          </a:prstGeom>
          <a:solidFill>
            <a:srgbClr val="FFF7EF"/>
          </a:solidFill>
          <a:ln w="9525">
            <a:solidFill>
              <a:srgbClr val="EEDFD0"/>
            </a:solidFill>
            <a:prstDash val="solid"/>
          </a:ln>
        </p:spPr>
      </p:sp>
      <p:sp>
        <p:nvSpPr>
          <p:cNvPr id="50" name="Text 48"/>
          <p:cNvSpPr txBox="1"/>
          <p:nvPr/>
        </p:nvSpPr>
        <p:spPr>
          <a:xfrm>
            <a:off x="713232" y="4919472"/>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超期自动升级</a:t>
            </a:r>
            <a:endParaRPr lang="en-US" sz="1100" dirty="0"/>
          </a:p>
        </p:txBody>
      </p:sp>
      <p:sp>
        <p:nvSpPr>
          <p:cNvPr id="51" name="Text 49"/>
          <p:cNvSpPr txBox="1"/>
          <p:nvPr/>
        </p:nvSpPr>
        <p:spPr>
          <a:xfrm>
            <a:off x="2231136" y="4919472"/>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临期提醒、超期升级至上级与园区经理，隐患延期须三方确认</a:t>
            </a:r>
            <a:endParaRPr lang="en-US" sz="1000" dirty="0"/>
          </a:p>
        </p:txBody>
      </p:sp>
      <p:sp>
        <p:nvSpPr>
          <p:cNvPr id="52" name="Shape 50"/>
          <p:cNvSpPr/>
          <p:nvPr/>
        </p:nvSpPr>
        <p:spPr>
          <a:xfrm>
            <a:off x="530352" y="5404104"/>
            <a:ext cx="6858000" cy="411480"/>
          </a:xfrm>
          <a:prstGeom prst="roundRect">
            <a:avLst>
              <a:gd name="adj" fmla="val 7778"/>
            </a:avLst>
          </a:prstGeom>
          <a:solidFill>
            <a:srgbClr val="FFFFFF"/>
          </a:solidFill>
          <a:ln w="9525">
            <a:solidFill>
              <a:srgbClr val="EEDFD0"/>
            </a:solidFill>
            <a:prstDash val="solid"/>
          </a:ln>
        </p:spPr>
      </p:sp>
      <p:sp>
        <p:nvSpPr>
          <p:cNvPr id="53" name="Text 51"/>
          <p:cNvSpPr txBox="1"/>
          <p:nvPr/>
        </p:nvSpPr>
        <p:spPr>
          <a:xfrm>
            <a:off x="713232" y="5404104"/>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闭环与复盘</a:t>
            </a:r>
            <a:endParaRPr lang="en-US" sz="1100" dirty="0"/>
          </a:p>
        </p:txBody>
      </p:sp>
      <p:sp>
        <p:nvSpPr>
          <p:cNvPr id="54" name="Text 52"/>
          <p:cNvSpPr txBox="1"/>
          <p:nvPr/>
        </p:nvSpPr>
        <p:spPr>
          <a:xfrm>
            <a:off x="2231136" y="5404104"/>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处理结果需验收与评价，评价结果关联维保单位/外协单位绩效与结算</a:t>
            </a:r>
            <a:endParaRPr lang="en-US" sz="1000" dirty="0"/>
          </a:p>
        </p:txBody>
      </p:sp>
      <p:sp>
        <p:nvSpPr>
          <p:cNvPr id="55" name="Shape 53"/>
          <p:cNvSpPr/>
          <p:nvPr/>
        </p:nvSpPr>
        <p:spPr>
          <a:xfrm>
            <a:off x="7589520" y="1207008"/>
            <a:ext cx="4071823" cy="4754880"/>
          </a:xfrm>
          <a:prstGeom prst="roundRect">
            <a:avLst>
              <a:gd name="adj" fmla="val 786"/>
            </a:avLst>
          </a:prstGeom>
          <a:solidFill>
            <a:srgbClr val="0E2340"/>
          </a:solidFill>
          <a:ln/>
        </p:spPr>
      </p:sp>
      <p:sp>
        <p:nvSpPr>
          <p:cNvPr id="56" name="Text 54"/>
          <p:cNvSpPr txBox="1"/>
          <p:nvPr/>
        </p:nvSpPr>
        <p:spPr>
          <a:xfrm>
            <a:off x="7827264" y="1371600"/>
            <a:ext cx="34747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统一告警中心</a:t>
            </a:r>
            <a:endParaRPr lang="en-US" sz="1500" dirty="0"/>
          </a:p>
        </p:txBody>
      </p:sp>
      <p:sp>
        <p:nvSpPr>
          <p:cNvPr id="57" name="Text 55"/>
          <p:cNvSpPr txBox="1"/>
          <p:nvPr/>
        </p:nvSpPr>
        <p:spPr>
          <a:xfrm>
            <a:off x="7827264" y="1700784"/>
            <a:ext cx="3657600" cy="256032"/>
          </a:xfrm>
          <a:prstGeom prst="rect">
            <a:avLst/>
          </a:prstGeom>
          <a:noFill/>
          <a:ln/>
        </p:spPr>
        <p:txBody>
          <a:bodyPr wrap="square" lIns="0" tIns="0" rIns="0" bIns="0" rtlCol="0" anchor="ctr"/>
          <a:lstStyle/>
          <a:p>
            <a:pPr indent="0" marL="0">
              <a:buNone/>
            </a:pPr>
            <a:r>
              <a:rPr lang="en-US" sz="1000" dirty="0">
                <a:solidFill>
                  <a:srgbClr val="FF9F3D"/>
                </a:solidFill>
                <a:latin typeface="Calibri" pitchFamily="34" charset="0"/>
                <a:ea typeface="Calibri" pitchFamily="34" charset="-122"/>
                <a:cs typeface="Calibri" pitchFamily="34" charset="-120"/>
              </a:rPr>
              <a:t>多源告警归一化 → 智能规则 → 精准触达 → 自动闭环</a:t>
            </a:r>
            <a:endParaRPr lang="en-US" sz="1000" dirty="0"/>
          </a:p>
        </p:txBody>
      </p:sp>
      <p:sp>
        <p:nvSpPr>
          <p:cNvPr id="58" name="Shape 56"/>
          <p:cNvSpPr/>
          <p:nvPr/>
        </p:nvSpPr>
        <p:spPr>
          <a:xfrm>
            <a:off x="7827264" y="2139696"/>
            <a:ext cx="274320" cy="274320"/>
          </a:xfrm>
          <a:prstGeom prst="ellipse">
            <a:avLst/>
          </a:prstGeom>
          <a:solidFill>
            <a:srgbClr val="F97B00"/>
          </a:solidFill>
          <a:ln/>
        </p:spPr>
      </p:sp>
      <p:sp>
        <p:nvSpPr>
          <p:cNvPr id="59" name="Text 57"/>
          <p:cNvSpPr txBox="1"/>
          <p:nvPr/>
        </p:nvSpPr>
        <p:spPr>
          <a:xfrm>
            <a:off x="7827264" y="2139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0" name="Text 58"/>
          <p:cNvSpPr txBox="1"/>
          <p:nvPr/>
        </p:nvSpPr>
        <p:spPr>
          <a:xfrm>
            <a:off x="8211312" y="208483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归一化接入</a:t>
            </a:r>
            <a:endParaRPr lang="en-US" sz="1100" dirty="0"/>
          </a:p>
        </p:txBody>
      </p:sp>
      <p:sp>
        <p:nvSpPr>
          <p:cNvPr id="61" name="Text 59"/>
          <p:cNvSpPr txBox="1"/>
          <p:nvPr/>
        </p:nvSpPr>
        <p:spPr>
          <a:xfrm>
            <a:off x="8211312" y="2322576"/>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消防主机、AI 相机、IoT 传感、门禁、第三方平台多源告警统一建模</a:t>
            </a:r>
            <a:endParaRPr lang="en-US" sz="1000" dirty="0"/>
          </a:p>
        </p:txBody>
      </p:sp>
      <p:sp>
        <p:nvSpPr>
          <p:cNvPr id="62" name="Shape 60"/>
          <p:cNvSpPr/>
          <p:nvPr/>
        </p:nvSpPr>
        <p:spPr>
          <a:xfrm>
            <a:off x="7827264" y="2761488"/>
            <a:ext cx="274320" cy="274320"/>
          </a:xfrm>
          <a:prstGeom prst="ellipse">
            <a:avLst/>
          </a:prstGeom>
          <a:solidFill>
            <a:srgbClr val="F97B00"/>
          </a:solidFill>
          <a:ln/>
        </p:spPr>
      </p:sp>
      <p:sp>
        <p:nvSpPr>
          <p:cNvPr id="63" name="Text 61"/>
          <p:cNvSpPr txBox="1"/>
          <p:nvPr/>
        </p:nvSpPr>
        <p:spPr>
          <a:xfrm>
            <a:off x="7827264" y="2761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4" name="Text 62"/>
          <p:cNvSpPr txBox="1"/>
          <p:nvPr/>
        </p:nvSpPr>
        <p:spPr>
          <a:xfrm>
            <a:off x="8211312" y="2706624"/>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规则引擎</a:t>
            </a:r>
            <a:endParaRPr lang="en-US" sz="1100" dirty="0"/>
          </a:p>
        </p:txBody>
      </p:sp>
      <p:sp>
        <p:nvSpPr>
          <p:cNvPr id="65" name="Text 63"/>
          <p:cNvSpPr txBox="1"/>
          <p:nvPr/>
        </p:nvSpPr>
        <p:spPr>
          <a:xfrm>
            <a:off x="8211312" y="2944368"/>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分级、过滤、压缩、关联；多传感器交叉验证降低误报率</a:t>
            </a:r>
            <a:endParaRPr lang="en-US" sz="1000" dirty="0"/>
          </a:p>
        </p:txBody>
      </p:sp>
      <p:sp>
        <p:nvSpPr>
          <p:cNvPr id="66" name="Shape 64"/>
          <p:cNvSpPr/>
          <p:nvPr/>
        </p:nvSpPr>
        <p:spPr>
          <a:xfrm>
            <a:off x="7827264" y="3383280"/>
            <a:ext cx="274320" cy="274320"/>
          </a:xfrm>
          <a:prstGeom prst="ellipse">
            <a:avLst/>
          </a:prstGeom>
          <a:solidFill>
            <a:srgbClr val="F97B00"/>
          </a:solidFill>
          <a:ln/>
        </p:spPr>
      </p:sp>
      <p:sp>
        <p:nvSpPr>
          <p:cNvPr id="67" name="Text 65"/>
          <p:cNvSpPr txBox="1"/>
          <p:nvPr/>
        </p:nvSpPr>
        <p:spPr>
          <a:xfrm>
            <a:off x="7827264" y="33832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8" name="Text 66"/>
          <p:cNvSpPr txBox="1"/>
          <p:nvPr/>
        </p:nvSpPr>
        <p:spPr>
          <a:xfrm>
            <a:off x="8211312" y="3328416"/>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视频联动复核</a:t>
            </a:r>
            <a:endParaRPr lang="en-US" sz="1100" dirty="0"/>
          </a:p>
        </p:txBody>
      </p:sp>
      <p:sp>
        <p:nvSpPr>
          <p:cNvPr id="69" name="Text 67"/>
          <p:cNvSpPr txBox="1"/>
          <p:nvPr/>
        </p:nvSpPr>
        <p:spPr>
          <a:xfrm>
            <a:off x="8211312" y="3566160"/>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自动调取覆盖报警点位的监控画面弹窗，可开启声音监听与对讲</a:t>
            </a:r>
            <a:endParaRPr lang="en-US" sz="1000" dirty="0"/>
          </a:p>
        </p:txBody>
      </p:sp>
      <p:sp>
        <p:nvSpPr>
          <p:cNvPr id="70" name="Shape 68"/>
          <p:cNvSpPr/>
          <p:nvPr/>
        </p:nvSpPr>
        <p:spPr>
          <a:xfrm>
            <a:off x="7827264" y="4005072"/>
            <a:ext cx="274320" cy="274320"/>
          </a:xfrm>
          <a:prstGeom prst="ellipse">
            <a:avLst/>
          </a:prstGeom>
          <a:solidFill>
            <a:srgbClr val="F97B00"/>
          </a:solidFill>
          <a:ln/>
        </p:spPr>
      </p:sp>
      <p:sp>
        <p:nvSpPr>
          <p:cNvPr id="71" name="Text 69"/>
          <p:cNvSpPr txBox="1"/>
          <p:nvPr/>
        </p:nvSpPr>
        <p:spPr>
          <a:xfrm>
            <a:off x="7827264" y="4005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2" name="Text 70"/>
          <p:cNvSpPr txBox="1"/>
          <p:nvPr/>
        </p:nvSpPr>
        <p:spPr>
          <a:xfrm>
            <a:off x="8211312" y="3950208"/>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矩阵式通知</a:t>
            </a:r>
            <a:endParaRPr lang="en-US" sz="1100" dirty="0"/>
          </a:p>
        </p:txBody>
      </p:sp>
      <p:sp>
        <p:nvSpPr>
          <p:cNvPr id="73" name="Text 71"/>
          <p:cNvSpPr txBox="1"/>
          <p:nvPr/>
        </p:nvSpPr>
        <p:spPr>
          <a:xfrm>
            <a:off x="8211312" y="4187952"/>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系统弹窗 / 短信 / 语音电话 / 钉钉，按人员组织架构分级分类推送</a:t>
            </a:r>
            <a:endParaRPr lang="en-US" sz="1000" dirty="0"/>
          </a:p>
        </p:txBody>
      </p:sp>
      <p:sp>
        <p:nvSpPr>
          <p:cNvPr id="74" name="Shape 72"/>
          <p:cNvSpPr/>
          <p:nvPr/>
        </p:nvSpPr>
        <p:spPr>
          <a:xfrm>
            <a:off x="7827264" y="4626864"/>
            <a:ext cx="274320" cy="274320"/>
          </a:xfrm>
          <a:prstGeom prst="ellipse">
            <a:avLst/>
          </a:prstGeom>
          <a:solidFill>
            <a:srgbClr val="F97B00"/>
          </a:solidFill>
          <a:ln/>
        </p:spPr>
      </p:sp>
      <p:sp>
        <p:nvSpPr>
          <p:cNvPr id="75" name="Text 73"/>
          <p:cNvSpPr txBox="1"/>
          <p:nvPr/>
        </p:nvSpPr>
        <p:spPr>
          <a:xfrm>
            <a:off x="7827264" y="4626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6" name="Text 74"/>
          <p:cNvSpPr txBox="1"/>
          <p:nvPr/>
        </p:nvSpPr>
        <p:spPr>
          <a:xfrm>
            <a:off x="8211312" y="4572000"/>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自动生成工单</a:t>
            </a:r>
            <a:endParaRPr lang="en-US" sz="1100" dirty="0"/>
          </a:p>
        </p:txBody>
      </p:sp>
      <p:sp>
        <p:nvSpPr>
          <p:cNvPr id="77" name="Text 75"/>
          <p:cNvSpPr txBox="1"/>
          <p:nvPr/>
        </p:nvSpPr>
        <p:spPr>
          <a:xfrm>
            <a:off x="8211312" y="4809744"/>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部分告警/事件工单自动闭环，处置全过程留痕可追溯</a:t>
            </a:r>
            <a:endParaRPr lang="en-US" sz="1000" dirty="0"/>
          </a:p>
        </p:txBody>
      </p:sp>
      <p:sp>
        <p:nvSpPr>
          <p:cNvPr id="78" name="Shape 76"/>
          <p:cNvSpPr/>
          <p:nvPr/>
        </p:nvSpPr>
        <p:spPr>
          <a:xfrm>
            <a:off x="7827264" y="5248656"/>
            <a:ext cx="274320" cy="274320"/>
          </a:xfrm>
          <a:prstGeom prst="ellipse">
            <a:avLst/>
          </a:prstGeom>
          <a:solidFill>
            <a:srgbClr val="F97B00"/>
          </a:solidFill>
          <a:ln/>
        </p:spPr>
      </p:sp>
      <p:sp>
        <p:nvSpPr>
          <p:cNvPr id="79" name="Text 77"/>
          <p:cNvSpPr txBox="1"/>
          <p:nvPr/>
        </p:nvSpPr>
        <p:spPr>
          <a:xfrm>
            <a:off x="7827264" y="52486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0" name="Text 78"/>
          <p:cNvSpPr txBox="1"/>
          <p:nvPr/>
        </p:nvSpPr>
        <p:spPr>
          <a:xfrm>
            <a:off x="8211312" y="519379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数据沉淀</a:t>
            </a:r>
            <a:endParaRPr lang="en-US" sz="1100" dirty="0"/>
          </a:p>
        </p:txBody>
      </p:sp>
      <p:sp>
        <p:nvSpPr>
          <p:cNvPr id="81" name="Text 79"/>
          <p:cNvSpPr txBox="1"/>
          <p:nvPr/>
        </p:nvSpPr>
        <p:spPr>
          <a:xfrm>
            <a:off x="8211312" y="5431536"/>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保留不少于一年高清报警记录及图片/视频片段，支撑趋势分析</a:t>
            </a:r>
            <a:endParaRPr lang="en-US" sz="1000" dirty="0"/>
          </a:p>
        </p:txBody>
      </p:sp>
      <p:sp>
        <p:nvSpPr>
          <p:cNvPr id="82" name="Text 80"/>
          <p:cNvSpPr txBox="1"/>
          <p:nvPr/>
        </p:nvSpPr>
        <p:spPr>
          <a:xfrm>
            <a:off x="530352" y="5888736"/>
            <a:ext cx="6858000" cy="256032"/>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工单与告警是园区运营的"心跳"：统一池子、统一口径、统一考核，才能从"有系统"走到"用好系统"。</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统一运营中心：园区运营总览驾驶舱与安全一张图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数据每日/每小时/每分钟分层刷新，60+ 张定制报表，三级看板灵活配置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园区运营总览驾驶舱（示意）</a:t>
            </a:r>
            <a:endParaRPr lang="en-US" sz="1250" dirty="0"/>
          </a:p>
        </p:txBody>
      </p:sp>
      <p:sp>
        <p:nvSpPr>
          <p:cNvPr id="7" name="Shape 5"/>
          <p:cNvSpPr/>
          <p:nvPr/>
        </p:nvSpPr>
        <p:spPr>
          <a:xfrm>
            <a:off x="530352" y="1517904"/>
            <a:ext cx="7040880" cy="3803904"/>
          </a:xfrm>
          <a:prstGeom prst="roundRect">
            <a:avLst>
              <a:gd name="adj" fmla="val 841"/>
            </a:avLst>
          </a:prstGeom>
          <a:solidFill>
            <a:srgbClr val="0E2340"/>
          </a:solidFill>
          <a:ln/>
        </p:spPr>
      </p:sp>
      <p:sp>
        <p:nvSpPr>
          <p:cNvPr id="8" name="Shape 6"/>
          <p:cNvSpPr/>
          <p:nvPr/>
        </p:nvSpPr>
        <p:spPr>
          <a:xfrm>
            <a:off x="731520"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9" name="Text 7"/>
          <p:cNvSpPr txBox="1"/>
          <p:nvPr/>
        </p:nvSpPr>
        <p:spPr>
          <a:xfrm>
            <a:off x="731520"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186</a:t>
            </a:r>
            <a:endParaRPr lang="en-US" sz="1800" dirty="0"/>
          </a:p>
        </p:txBody>
      </p:sp>
      <p:sp>
        <p:nvSpPr>
          <p:cNvPr id="10" name="Text 8"/>
          <p:cNvSpPr txBox="1"/>
          <p:nvPr/>
        </p:nvSpPr>
        <p:spPr>
          <a:xfrm>
            <a:off x="731520"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安全运行天数</a:t>
            </a:r>
            <a:endParaRPr lang="en-US" sz="1000" dirty="0"/>
          </a:p>
        </p:txBody>
      </p:sp>
      <p:sp>
        <p:nvSpPr>
          <p:cNvPr id="11" name="Shape 9"/>
          <p:cNvSpPr/>
          <p:nvPr/>
        </p:nvSpPr>
        <p:spPr>
          <a:xfrm>
            <a:off x="2081174"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2" name="Text 10"/>
          <p:cNvSpPr txBox="1"/>
          <p:nvPr/>
        </p:nvSpPr>
        <p:spPr>
          <a:xfrm>
            <a:off x="2081174"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4,382</a:t>
            </a:r>
            <a:endParaRPr lang="en-US" sz="1800" dirty="0"/>
          </a:p>
        </p:txBody>
      </p:sp>
      <p:sp>
        <p:nvSpPr>
          <p:cNvPr id="13" name="Text 11"/>
          <p:cNvSpPr txBox="1"/>
          <p:nvPr/>
        </p:nvSpPr>
        <p:spPr>
          <a:xfrm>
            <a:off x="2081174"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当日出入人数</a:t>
            </a:r>
            <a:endParaRPr lang="en-US" sz="1000" dirty="0"/>
          </a:p>
        </p:txBody>
      </p:sp>
      <p:sp>
        <p:nvSpPr>
          <p:cNvPr id="14" name="Shape 12"/>
          <p:cNvSpPr/>
          <p:nvPr/>
        </p:nvSpPr>
        <p:spPr>
          <a:xfrm>
            <a:off x="3430829"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5" name="Text 13"/>
          <p:cNvSpPr txBox="1"/>
          <p:nvPr/>
        </p:nvSpPr>
        <p:spPr>
          <a:xfrm>
            <a:off x="3430829"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37</a:t>
            </a:r>
            <a:endParaRPr lang="en-US" sz="1800" dirty="0"/>
          </a:p>
        </p:txBody>
      </p:sp>
      <p:sp>
        <p:nvSpPr>
          <p:cNvPr id="16" name="Text 14"/>
          <p:cNvSpPr txBox="1"/>
          <p:nvPr/>
        </p:nvSpPr>
        <p:spPr>
          <a:xfrm>
            <a:off x="3430829"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在园车辆</a:t>
            </a:r>
            <a:endParaRPr lang="en-US" sz="1000" dirty="0"/>
          </a:p>
        </p:txBody>
      </p:sp>
      <p:sp>
        <p:nvSpPr>
          <p:cNvPr id="17" name="Shape 15"/>
          <p:cNvSpPr/>
          <p:nvPr/>
        </p:nvSpPr>
        <p:spPr>
          <a:xfrm>
            <a:off x="4780483"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8" name="Text 16"/>
          <p:cNvSpPr txBox="1"/>
          <p:nvPr/>
        </p:nvSpPr>
        <p:spPr>
          <a:xfrm>
            <a:off x="4780483"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12</a:t>
            </a:r>
            <a:endParaRPr lang="en-US" sz="1800" dirty="0"/>
          </a:p>
        </p:txBody>
      </p:sp>
      <p:sp>
        <p:nvSpPr>
          <p:cNvPr id="19" name="Text 17"/>
          <p:cNvSpPr txBox="1"/>
          <p:nvPr/>
        </p:nvSpPr>
        <p:spPr>
          <a:xfrm>
            <a:off x="4780483"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当日告警</a:t>
            </a:r>
            <a:endParaRPr lang="en-US" sz="1000" dirty="0"/>
          </a:p>
        </p:txBody>
      </p:sp>
      <p:sp>
        <p:nvSpPr>
          <p:cNvPr id="20" name="Shape 18"/>
          <p:cNvSpPr/>
          <p:nvPr/>
        </p:nvSpPr>
        <p:spPr>
          <a:xfrm>
            <a:off x="6130138"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1" name="Text 19"/>
          <p:cNvSpPr txBox="1"/>
          <p:nvPr/>
        </p:nvSpPr>
        <p:spPr>
          <a:xfrm>
            <a:off x="6130138"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96%</a:t>
            </a:r>
            <a:endParaRPr lang="en-US" sz="1800" dirty="0"/>
          </a:p>
        </p:txBody>
      </p:sp>
      <p:sp>
        <p:nvSpPr>
          <p:cNvPr id="22" name="Text 20"/>
          <p:cNvSpPr txBox="1"/>
          <p:nvPr/>
        </p:nvSpPr>
        <p:spPr>
          <a:xfrm>
            <a:off x="6130138"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工单闭环率</a:t>
            </a:r>
            <a:endParaRPr lang="en-US" sz="1000" dirty="0"/>
          </a:p>
        </p:txBody>
      </p:sp>
      <p:graphicFrame>
        <p:nvGraphicFramePr>
          <p:cNvPr id="23" name="Chart 0" descr=""/>
          <p:cNvGraphicFramePr/>
          <p:nvPr/>
        </p:nvGraphicFramePr>
        <p:xfrm>
          <a:off x="731520" y="2523744"/>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Chart 1" descr=""/>
          <p:cNvGraphicFramePr/>
          <p:nvPr/>
        </p:nvGraphicFramePr>
        <p:xfrm>
          <a:off x="4791456" y="2523744"/>
          <a:ext cx="2615184" cy="2286000"/>
        </p:xfrm>
        <a:graphic xmlns:a="http://schemas.openxmlformats.org/drawingml/2006/main">
          <a:graphicData uri="http://schemas.openxmlformats.org/drawingml/2006/chart">
            <c:chart xmlns:c="http://schemas.openxmlformats.org/drawingml/2006/chart" r:id="rId2"/>
          </a:graphicData>
        </a:graphic>
      </p:graphicFrame>
      <p:sp>
        <p:nvSpPr>
          <p:cNvPr id="25" name="Shape 21"/>
          <p:cNvSpPr/>
          <p:nvPr/>
        </p:nvSpPr>
        <p:spPr>
          <a:xfrm>
            <a:off x="7772400" y="1257300"/>
            <a:ext cx="68580" cy="173736"/>
          </a:xfrm>
          <a:prstGeom prst="rect">
            <a:avLst/>
          </a:prstGeom>
          <a:solidFill>
            <a:srgbClr val="F97B00"/>
          </a:solidFill>
          <a:ln/>
        </p:spPr>
      </p:sp>
      <p:sp>
        <p:nvSpPr>
          <p:cNvPr id="26" name="Text 22"/>
          <p:cNvSpPr txBox="1"/>
          <p:nvPr/>
        </p:nvSpPr>
        <p:spPr>
          <a:xfrm>
            <a:off x="7927848" y="1207008"/>
            <a:ext cx="37764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报表与看板配置</a:t>
            </a:r>
            <a:endParaRPr lang="en-US" sz="1250" dirty="0"/>
          </a:p>
        </p:txBody>
      </p:sp>
      <p:sp>
        <p:nvSpPr>
          <p:cNvPr id="27" name="Shape 23"/>
          <p:cNvSpPr/>
          <p:nvPr/>
        </p:nvSpPr>
        <p:spPr>
          <a:xfrm>
            <a:off x="7772400" y="1554480"/>
            <a:ext cx="3888943" cy="420624"/>
          </a:xfrm>
          <a:prstGeom prst="roundRect">
            <a:avLst>
              <a:gd name="adj" fmla="val 7609"/>
            </a:avLst>
          </a:prstGeom>
          <a:solidFill>
            <a:srgbClr val="FFF7EF"/>
          </a:solidFill>
          <a:ln w="9525">
            <a:solidFill>
              <a:srgbClr val="EEDFD0"/>
            </a:solidFill>
            <a:prstDash val="solid"/>
          </a:ln>
        </p:spPr>
      </p:sp>
      <p:sp>
        <p:nvSpPr>
          <p:cNvPr id="28" name="Text 24"/>
          <p:cNvSpPr txBox="1"/>
          <p:nvPr/>
        </p:nvSpPr>
        <p:spPr>
          <a:xfrm>
            <a:off x="7936992" y="155448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园区运营总览驾驶舱</a:t>
            </a:r>
            <a:endParaRPr lang="en-US" sz="1000" dirty="0"/>
          </a:p>
        </p:txBody>
      </p:sp>
      <p:sp>
        <p:nvSpPr>
          <p:cNvPr id="29" name="Text 25"/>
          <p:cNvSpPr txBox="1"/>
          <p:nvPr/>
        </p:nvSpPr>
        <p:spPr>
          <a:xfrm>
            <a:off x="10241280" y="1554480"/>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≥20 张，秒级/日更新</a:t>
            </a:r>
            <a:endParaRPr lang="en-US" sz="1000" dirty="0"/>
          </a:p>
        </p:txBody>
      </p:sp>
      <p:sp>
        <p:nvSpPr>
          <p:cNvPr id="30" name="Shape 26"/>
          <p:cNvSpPr/>
          <p:nvPr/>
        </p:nvSpPr>
        <p:spPr>
          <a:xfrm>
            <a:off x="7772400" y="2066544"/>
            <a:ext cx="3888943" cy="420624"/>
          </a:xfrm>
          <a:prstGeom prst="roundRect">
            <a:avLst>
              <a:gd name="adj" fmla="val 7609"/>
            </a:avLst>
          </a:prstGeom>
          <a:solidFill>
            <a:srgbClr val="FFFFFF"/>
          </a:solidFill>
          <a:ln w="9525">
            <a:solidFill>
              <a:srgbClr val="EEDFD0"/>
            </a:solidFill>
            <a:prstDash val="solid"/>
          </a:ln>
        </p:spPr>
      </p:sp>
      <p:sp>
        <p:nvSpPr>
          <p:cNvPr id="31" name="Text 27"/>
          <p:cNvSpPr txBox="1"/>
          <p:nvPr/>
        </p:nvSpPr>
        <p:spPr>
          <a:xfrm>
            <a:off x="7936992" y="206654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安防态势一张图</a:t>
            </a:r>
            <a:endParaRPr lang="en-US" sz="1000" dirty="0"/>
          </a:p>
        </p:txBody>
      </p:sp>
      <p:sp>
        <p:nvSpPr>
          <p:cNvPr id="32" name="Text 28"/>
          <p:cNvSpPr txBox="1"/>
          <p:nvPr/>
        </p:nvSpPr>
        <p:spPr>
          <a:xfrm>
            <a:off x="10241280" y="2066544"/>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张，每小时更新</a:t>
            </a:r>
            <a:endParaRPr lang="en-US" sz="1000" dirty="0"/>
          </a:p>
        </p:txBody>
      </p:sp>
      <p:sp>
        <p:nvSpPr>
          <p:cNvPr id="33" name="Shape 29"/>
          <p:cNvSpPr/>
          <p:nvPr/>
        </p:nvSpPr>
        <p:spPr>
          <a:xfrm>
            <a:off x="7772400" y="2578608"/>
            <a:ext cx="3888943" cy="420624"/>
          </a:xfrm>
          <a:prstGeom prst="roundRect">
            <a:avLst>
              <a:gd name="adj" fmla="val 7609"/>
            </a:avLst>
          </a:prstGeom>
          <a:solidFill>
            <a:srgbClr val="FFF7EF"/>
          </a:solidFill>
          <a:ln w="9525">
            <a:solidFill>
              <a:srgbClr val="EEDFD0"/>
            </a:solidFill>
            <a:prstDash val="solid"/>
          </a:ln>
        </p:spPr>
      </p:sp>
      <p:sp>
        <p:nvSpPr>
          <p:cNvPr id="34" name="Text 30"/>
          <p:cNvSpPr txBox="1"/>
          <p:nvPr/>
        </p:nvSpPr>
        <p:spPr>
          <a:xfrm>
            <a:off x="7936992" y="2578608"/>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通行记录分析报表</a:t>
            </a:r>
            <a:endParaRPr lang="en-US" sz="1000" dirty="0"/>
          </a:p>
        </p:txBody>
      </p:sp>
      <p:sp>
        <p:nvSpPr>
          <p:cNvPr id="35" name="Text 31"/>
          <p:cNvSpPr txBox="1"/>
          <p:nvPr/>
        </p:nvSpPr>
        <p:spPr>
          <a:xfrm>
            <a:off x="10241280" y="2578608"/>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6" name="Shape 32"/>
          <p:cNvSpPr/>
          <p:nvPr/>
        </p:nvSpPr>
        <p:spPr>
          <a:xfrm>
            <a:off x="7772400" y="3090672"/>
            <a:ext cx="3888943" cy="420624"/>
          </a:xfrm>
          <a:prstGeom prst="roundRect">
            <a:avLst>
              <a:gd name="adj" fmla="val 7609"/>
            </a:avLst>
          </a:prstGeom>
          <a:solidFill>
            <a:srgbClr val="FFFFFF"/>
          </a:solidFill>
          <a:ln w="9525">
            <a:solidFill>
              <a:srgbClr val="EEDFD0"/>
            </a:solidFill>
            <a:prstDash val="solid"/>
          </a:ln>
        </p:spPr>
      </p:sp>
      <p:sp>
        <p:nvSpPr>
          <p:cNvPr id="37" name="Text 33"/>
          <p:cNvSpPr txBox="1"/>
          <p:nvPr/>
        </p:nvSpPr>
        <p:spPr>
          <a:xfrm>
            <a:off x="7936992" y="3090672"/>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设施健康度看板</a:t>
            </a:r>
            <a:endParaRPr lang="en-US" sz="1000" dirty="0"/>
          </a:p>
        </p:txBody>
      </p:sp>
      <p:sp>
        <p:nvSpPr>
          <p:cNvPr id="38" name="Text 34"/>
          <p:cNvSpPr txBox="1"/>
          <p:nvPr/>
        </p:nvSpPr>
        <p:spPr>
          <a:xfrm>
            <a:off x="10241280" y="3090672"/>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9" name="Shape 35"/>
          <p:cNvSpPr/>
          <p:nvPr/>
        </p:nvSpPr>
        <p:spPr>
          <a:xfrm>
            <a:off x="7772400" y="3602736"/>
            <a:ext cx="3888943" cy="420624"/>
          </a:xfrm>
          <a:prstGeom prst="roundRect">
            <a:avLst>
              <a:gd name="adj" fmla="val 7609"/>
            </a:avLst>
          </a:prstGeom>
          <a:solidFill>
            <a:srgbClr val="FFF7EF"/>
          </a:solidFill>
          <a:ln w="9525">
            <a:solidFill>
              <a:srgbClr val="EEDFD0"/>
            </a:solidFill>
            <a:prstDash val="solid"/>
          </a:ln>
        </p:spPr>
      </p:sp>
      <p:sp>
        <p:nvSpPr>
          <p:cNvPr id="40" name="Text 36"/>
          <p:cNvSpPr txBox="1"/>
          <p:nvPr/>
        </p:nvSpPr>
        <p:spPr>
          <a:xfrm>
            <a:off x="7936992" y="3602736"/>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能耗报表（EMS 取数）</a:t>
            </a:r>
            <a:endParaRPr lang="en-US" sz="1000" dirty="0"/>
          </a:p>
        </p:txBody>
      </p:sp>
      <p:sp>
        <p:nvSpPr>
          <p:cNvPr id="41" name="Text 37"/>
          <p:cNvSpPr txBox="1"/>
          <p:nvPr/>
        </p:nvSpPr>
        <p:spPr>
          <a:xfrm>
            <a:off x="10241280" y="3602736"/>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42" name="Shape 38"/>
          <p:cNvSpPr/>
          <p:nvPr/>
        </p:nvSpPr>
        <p:spPr>
          <a:xfrm>
            <a:off x="7772400" y="4114800"/>
            <a:ext cx="3888943" cy="420624"/>
          </a:xfrm>
          <a:prstGeom prst="roundRect">
            <a:avLst>
              <a:gd name="adj" fmla="val 7609"/>
            </a:avLst>
          </a:prstGeom>
          <a:solidFill>
            <a:srgbClr val="FFFFFF"/>
          </a:solidFill>
          <a:ln w="9525">
            <a:solidFill>
              <a:srgbClr val="EEDFD0"/>
            </a:solidFill>
            <a:prstDash val="solid"/>
          </a:ln>
        </p:spPr>
      </p:sp>
      <p:sp>
        <p:nvSpPr>
          <p:cNvPr id="43" name="Text 39"/>
          <p:cNvSpPr txBox="1"/>
          <p:nvPr/>
        </p:nvSpPr>
        <p:spPr>
          <a:xfrm>
            <a:off x="7936992" y="411480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物流效率与调度报表</a:t>
            </a:r>
            <a:endParaRPr lang="en-US" sz="1000" dirty="0"/>
          </a:p>
        </p:txBody>
      </p:sp>
      <p:sp>
        <p:nvSpPr>
          <p:cNvPr id="44" name="Text 40"/>
          <p:cNvSpPr txBox="1"/>
          <p:nvPr/>
        </p:nvSpPr>
        <p:spPr>
          <a:xfrm>
            <a:off x="10241280" y="4114800"/>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按趟/按月/按成本中心</a:t>
            </a:r>
            <a:endParaRPr lang="en-US" sz="1000" dirty="0"/>
          </a:p>
        </p:txBody>
      </p:sp>
      <p:sp>
        <p:nvSpPr>
          <p:cNvPr id="45" name="Shape 41"/>
          <p:cNvSpPr/>
          <p:nvPr/>
        </p:nvSpPr>
        <p:spPr>
          <a:xfrm>
            <a:off x="7772400" y="4626864"/>
            <a:ext cx="3888943" cy="420624"/>
          </a:xfrm>
          <a:prstGeom prst="roundRect">
            <a:avLst>
              <a:gd name="adj" fmla="val 7609"/>
            </a:avLst>
          </a:prstGeom>
          <a:solidFill>
            <a:srgbClr val="FFF7EF"/>
          </a:solidFill>
          <a:ln w="9525">
            <a:solidFill>
              <a:srgbClr val="EEDFD0"/>
            </a:solidFill>
            <a:prstDash val="solid"/>
          </a:ln>
        </p:spPr>
      </p:sp>
      <p:sp>
        <p:nvSpPr>
          <p:cNvPr id="46" name="Text 42"/>
          <p:cNvSpPr txBox="1"/>
          <p:nvPr/>
        </p:nvSpPr>
        <p:spPr>
          <a:xfrm>
            <a:off x="7936992" y="462686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自定义报表</a:t>
            </a:r>
            <a:endParaRPr lang="en-US" sz="1000" dirty="0"/>
          </a:p>
        </p:txBody>
      </p:sp>
      <p:sp>
        <p:nvSpPr>
          <p:cNvPr id="47" name="Text 43"/>
          <p:cNvSpPr txBox="1"/>
          <p:nvPr/>
        </p:nvSpPr>
        <p:spPr>
          <a:xfrm>
            <a:off x="10241280" y="4626864"/>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可视化快速开发，可查可导</a:t>
            </a:r>
            <a:endParaRPr lang="en-US" sz="1000" dirty="0"/>
          </a:p>
        </p:txBody>
      </p:sp>
      <p:sp>
        <p:nvSpPr>
          <p:cNvPr id="48" name="Text 44"/>
          <p:cNvSpPr txBox="1"/>
          <p:nvPr/>
        </p:nvSpPr>
        <p:spPr>
          <a:xfrm>
            <a:off x="530352" y="5614416"/>
            <a:ext cx="11130991"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三级看板：工位级 / 楼栋级 / 园区级，内容支持灵活定义，各模块指标可汇总至大屏；大屏方案按预算分级配置，优先保障落地与实用。</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智慧物流的能力来源：平台方法论 + 集成服务经验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场内物流的难点不在"会不会开车"，而在底座、流程引擎、数据标准与跨系统集成能否对齐</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方法论：统一底座 + 流程引擎 + 数据标准，快速构建物流闭环</a:t>
            </a:r>
            <a:endParaRPr lang="en-US" sz="1250" dirty="0"/>
          </a:p>
        </p:txBody>
      </p:sp>
      <p:sp>
        <p:nvSpPr>
          <p:cNvPr id="7" name="Shape 5"/>
          <p:cNvSpPr/>
          <p:nvPr/>
        </p:nvSpPr>
        <p:spPr>
          <a:xfrm>
            <a:off x="530352"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49808" y="1719072"/>
            <a:ext cx="475488" cy="47548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78190" y="1847454"/>
            <a:ext cx="218724" cy="218724"/>
          </a:xfrm>
          <a:prstGeom prst="rect">
            <a:avLst/>
          </a:prstGeom>
        </p:spPr>
      </p:pic>
      <p:sp>
        <p:nvSpPr>
          <p:cNvPr id="10" name="Text 7"/>
          <p:cNvSpPr txBox="1"/>
          <p:nvPr/>
        </p:nvSpPr>
        <p:spPr>
          <a:xfrm>
            <a:off x="1316736"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统一底座</a:t>
            </a:r>
            <a:endParaRPr lang="en-US" sz="1300" dirty="0"/>
          </a:p>
        </p:txBody>
      </p:sp>
      <p:sp>
        <p:nvSpPr>
          <p:cNvPr id="11" name="Text 8"/>
          <p:cNvSpPr txBox="1"/>
          <p:nvPr/>
        </p:nvSpPr>
        <p:spPr>
          <a:xfrm>
            <a:off x="749808"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人 / 车 / 空间 / 设备四类主数据一次对齐，月台、道路、门岗、库位在同一空间模型上编码；物流不再自建台账，与消防、安防、外协共用同一份底座</a:t>
            </a:r>
            <a:endParaRPr lang="en-US" sz="1000" dirty="0"/>
          </a:p>
        </p:txBody>
      </p:sp>
      <p:sp>
        <p:nvSpPr>
          <p:cNvPr id="12" name="Shape 9"/>
          <p:cNvSpPr/>
          <p:nvPr/>
        </p:nvSpPr>
        <p:spPr>
          <a:xfrm>
            <a:off x="4313834"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533290" y="1719072"/>
            <a:ext cx="475488" cy="47548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661672" y="1847454"/>
            <a:ext cx="218724" cy="218724"/>
          </a:xfrm>
          <a:prstGeom prst="rect">
            <a:avLst/>
          </a:prstGeom>
        </p:spPr>
      </p:pic>
      <p:sp>
        <p:nvSpPr>
          <p:cNvPr id="15" name="Text 11"/>
          <p:cNvSpPr txBox="1"/>
          <p:nvPr/>
        </p:nvSpPr>
        <p:spPr>
          <a:xfrm>
            <a:off x="5100218"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流程引擎</a:t>
            </a:r>
            <a:endParaRPr lang="en-US" sz="1300" dirty="0"/>
          </a:p>
        </p:txBody>
      </p:sp>
      <p:sp>
        <p:nvSpPr>
          <p:cNvPr id="16" name="Text 12"/>
          <p:cNvSpPr txBox="1"/>
          <p:nvPr/>
        </p:nvSpPr>
        <p:spPr>
          <a:xfrm>
            <a:off x="4533290"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预约—入园—引导—月台—出园—评价配置为带状态机的可视化流程，节点、角色、时限、超时动作全部由配置驱动；调整规则不改代码，业务部门可自主迭代</a:t>
            </a:r>
            <a:endParaRPr lang="en-US" sz="1000" dirty="0"/>
          </a:p>
        </p:txBody>
      </p:sp>
      <p:sp>
        <p:nvSpPr>
          <p:cNvPr id="17" name="Shape 13"/>
          <p:cNvSpPr/>
          <p:nvPr/>
        </p:nvSpPr>
        <p:spPr>
          <a:xfrm>
            <a:off x="8097317"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16773" y="1719072"/>
            <a:ext cx="475488" cy="47548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45155" y="1847454"/>
            <a:ext cx="218724" cy="218724"/>
          </a:xfrm>
          <a:prstGeom prst="rect">
            <a:avLst/>
          </a:prstGeom>
        </p:spPr>
      </p:pic>
      <p:sp>
        <p:nvSpPr>
          <p:cNvPr id="20" name="Text 15"/>
          <p:cNvSpPr txBox="1"/>
          <p:nvPr/>
        </p:nvSpPr>
        <p:spPr>
          <a:xfrm>
            <a:off x="8883701"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数据标准</a:t>
            </a:r>
            <a:endParaRPr lang="en-US" sz="1300" dirty="0"/>
          </a:p>
        </p:txBody>
      </p:sp>
      <p:sp>
        <p:nvSpPr>
          <p:cNvPr id="21" name="Text 16"/>
          <p:cNvSpPr txBox="1"/>
          <p:nvPr/>
        </p:nvSpPr>
        <p:spPr>
          <a:xfrm>
            <a:off x="8316773"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统一定义"一次配送"的时间戳口径（预约、到达、入园、上台、开始卸、完成、离场），等待时长与周转次数才可比、可考核、可跨园区汇总</a:t>
            </a:r>
            <a:endParaRPr lang="en-US" sz="1000" dirty="0"/>
          </a:p>
        </p:txBody>
      </p:sp>
      <p:sp>
        <p:nvSpPr>
          <p:cNvPr id="22" name="Shape 17"/>
          <p:cNvSpPr/>
          <p:nvPr/>
        </p:nvSpPr>
        <p:spPr>
          <a:xfrm>
            <a:off x="530352" y="3360420"/>
            <a:ext cx="68580" cy="173736"/>
          </a:xfrm>
          <a:prstGeom prst="rect">
            <a:avLst/>
          </a:prstGeom>
          <a:solidFill>
            <a:srgbClr val="F97B00"/>
          </a:solidFill>
          <a:ln/>
        </p:spPr>
      </p:sp>
      <p:sp>
        <p:nvSpPr>
          <p:cNvPr id="23" name="Text 18"/>
          <p:cNvSpPr txBox="1"/>
          <p:nvPr/>
        </p:nvSpPr>
        <p:spPr>
          <a:xfrm>
            <a:off x="685800" y="331012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集成服务经验：物流闭环的成败取决于跨系统打通</a:t>
            </a:r>
            <a:endParaRPr lang="en-US" sz="1250" dirty="0"/>
          </a:p>
        </p:txBody>
      </p:sp>
      <p:sp>
        <p:nvSpPr>
          <p:cNvPr id="24" name="Shape 19"/>
          <p:cNvSpPr/>
          <p:nvPr/>
        </p:nvSpPr>
        <p:spPr>
          <a:xfrm>
            <a:off x="530352" y="3639312"/>
            <a:ext cx="3588410" cy="621792"/>
          </a:xfrm>
          <a:prstGeom prst="roundRect">
            <a:avLst>
              <a:gd name="adj" fmla="val 5147"/>
            </a:avLst>
          </a:prstGeom>
          <a:solidFill>
            <a:srgbClr val="F6F8FA"/>
          </a:solidFill>
          <a:ln w="9525">
            <a:solidFill>
              <a:srgbClr val="E3E7EB"/>
            </a:solidFill>
            <a:prstDash val="solid"/>
          </a:ln>
        </p:spPr>
      </p:sp>
      <p:sp>
        <p:nvSpPr>
          <p:cNvPr id="25" name="Text 20"/>
          <p:cNvSpPr txBox="1"/>
          <p:nvPr/>
        </p:nvSpPr>
        <p:spPr>
          <a:xfrm>
            <a:off x="69494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WMS</a:t>
            </a:r>
            <a:endParaRPr lang="en-US" sz="1080" dirty="0"/>
          </a:p>
        </p:txBody>
      </p:sp>
      <p:sp>
        <p:nvSpPr>
          <p:cNvPr id="26" name="Text 21"/>
          <p:cNvSpPr txBox="1"/>
          <p:nvPr/>
        </p:nvSpPr>
        <p:spPr>
          <a:xfrm>
            <a:off x="694944"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到货单 / 送货单与月台预分配双向同步，收发货结果回写在途状态</a:t>
            </a:r>
            <a:endParaRPr lang="en-US" sz="1000" dirty="0"/>
          </a:p>
        </p:txBody>
      </p:sp>
      <p:sp>
        <p:nvSpPr>
          <p:cNvPr id="27" name="Shape 22"/>
          <p:cNvSpPr/>
          <p:nvPr/>
        </p:nvSpPr>
        <p:spPr>
          <a:xfrm>
            <a:off x="4301642" y="3639312"/>
            <a:ext cx="3588410" cy="621792"/>
          </a:xfrm>
          <a:prstGeom prst="roundRect">
            <a:avLst>
              <a:gd name="adj" fmla="val 5147"/>
            </a:avLst>
          </a:prstGeom>
          <a:solidFill>
            <a:srgbClr val="FFFFFF"/>
          </a:solidFill>
          <a:ln w="9525">
            <a:solidFill>
              <a:srgbClr val="E3E7EB"/>
            </a:solidFill>
            <a:prstDash val="solid"/>
          </a:ln>
        </p:spPr>
      </p:sp>
      <p:sp>
        <p:nvSpPr>
          <p:cNvPr id="28" name="Text 23"/>
          <p:cNvSpPr txBox="1"/>
          <p:nvPr/>
        </p:nvSpPr>
        <p:spPr>
          <a:xfrm>
            <a:off x="446623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TMS</a:t>
            </a:r>
            <a:endParaRPr lang="en-US" sz="1080" dirty="0"/>
          </a:p>
        </p:txBody>
      </p:sp>
      <p:sp>
        <p:nvSpPr>
          <p:cNvPr id="29" name="Text 24"/>
          <p:cNvSpPr txBox="1"/>
          <p:nvPr/>
        </p:nvSpPr>
        <p:spPr>
          <a:xfrm>
            <a:off x="4466234"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外部运力车辆、司机与运单信息接入，与自有车辆统一视图</a:t>
            </a:r>
            <a:endParaRPr lang="en-US" sz="1000" dirty="0"/>
          </a:p>
        </p:txBody>
      </p:sp>
      <p:sp>
        <p:nvSpPr>
          <p:cNvPr id="30" name="Shape 25"/>
          <p:cNvSpPr/>
          <p:nvPr/>
        </p:nvSpPr>
        <p:spPr>
          <a:xfrm>
            <a:off x="8072933" y="3639312"/>
            <a:ext cx="3588410" cy="621792"/>
          </a:xfrm>
          <a:prstGeom prst="roundRect">
            <a:avLst>
              <a:gd name="adj" fmla="val 5147"/>
            </a:avLst>
          </a:prstGeom>
          <a:solidFill>
            <a:srgbClr val="F6F8FA"/>
          </a:solidFill>
          <a:ln w="9525">
            <a:solidFill>
              <a:srgbClr val="E3E7EB"/>
            </a:solidFill>
            <a:prstDash val="solid"/>
          </a:ln>
        </p:spPr>
      </p:sp>
      <p:sp>
        <p:nvSpPr>
          <p:cNvPr id="31" name="Text 26"/>
          <p:cNvSpPr txBox="1"/>
          <p:nvPr/>
        </p:nvSpPr>
        <p:spPr>
          <a:xfrm>
            <a:off x="8237525"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SRM</a:t>
            </a:r>
            <a:endParaRPr lang="en-US" sz="1080" dirty="0"/>
          </a:p>
        </p:txBody>
      </p:sp>
      <p:sp>
        <p:nvSpPr>
          <p:cNvPr id="32" name="Text 27"/>
          <p:cNvSpPr txBox="1"/>
          <p:nvPr/>
        </p:nvSpPr>
        <p:spPr>
          <a:xfrm>
            <a:off x="8237525"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供应商与到货计划核验，预约必须对应有效订单，避免无单进厂</a:t>
            </a:r>
            <a:endParaRPr lang="en-US" sz="1000" dirty="0"/>
          </a:p>
        </p:txBody>
      </p:sp>
      <p:sp>
        <p:nvSpPr>
          <p:cNvPr id="33" name="Shape 28"/>
          <p:cNvSpPr/>
          <p:nvPr/>
        </p:nvSpPr>
        <p:spPr>
          <a:xfrm>
            <a:off x="530352" y="4352544"/>
            <a:ext cx="3588410" cy="621792"/>
          </a:xfrm>
          <a:prstGeom prst="roundRect">
            <a:avLst>
              <a:gd name="adj" fmla="val 5147"/>
            </a:avLst>
          </a:prstGeom>
          <a:solidFill>
            <a:srgbClr val="FFFFFF"/>
          </a:solidFill>
          <a:ln w="9525">
            <a:solidFill>
              <a:srgbClr val="E3E7EB"/>
            </a:solidFill>
            <a:prstDash val="solid"/>
          </a:ln>
        </p:spPr>
      </p:sp>
      <p:sp>
        <p:nvSpPr>
          <p:cNvPr id="34" name="Text 29"/>
          <p:cNvSpPr txBox="1"/>
          <p:nvPr/>
        </p:nvSpPr>
        <p:spPr>
          <a:xfrm>
            <a:off x="69494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道闸 / 车牌识别</a:t>
            </a:r>
            <a:endParaRPr lang="en-US" sz="1080" dirty="0"/>
          </a:p>
        </p:txBody>
      </p:sp>
      <p:sp>
        <p:nvSpPr>
          <p:cNvPr id="35" name="Text 30"/>
          <p:cNvSpPr txBox="1"/>
          <p:nvPr/>
        </p:nvSpPr>
        <p:spPr>
          <a:xfrm>
            <a:off x="694944"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车牌与预约记录比对后放行，识别结果与时间戳回传主流程</a:t>
            </a:r>
            <a:endParaRPr lang="en-US" sz="1000" dirty="0"/>
          </a:p>
        </p:txBody>
      </p:sp>
      <p:sp>
        <p:nvSpPr>
          <p:cNvPr id="36" name="Shape 31"/>
          <p:cNvSpPr/>
          <p:nvPr/>
        </p:nvSpPr>
        <p:spPr>
          <a:xfrm>
            <a:off x="4301642" y="4352544"/>
            <a:ext cx="3588410" cy="621792"/>
          </a:xfrm>
          <a:prstGeom prst="roundRect">
            <a:avLst>
              <a:gd name="adj" fmla="val 5147"/>
            </a:avLst>
          </a:prstGeom>
          <a:solidFill>
            <a:srgbClr val="F6F8FA"/>
          </a:solidFill>
          <a:ln w="9525">
            <a:solidFill>
              <a:srgbClr val="E3E7EB"/>
            </a:solidFill>
            <a:prstDash val="solid"/>
          </a:ln>
        </p:spPr>
      </p:sp>
      <p:sp>
        <p:nvSpPr>
          <p:cNvPr id="37" name="Text 32"/>
          <p:cNvSpPr txBox="1"/>
          <p:nvPr/>
        </p:nvSpPr>
        <p:spPr>
          <a:xfrm>
            <a:off x="446623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门禁一卡通</a:t>
            </a:r>
            <a:endParaRPr lang="en-US" sz="1080" dirty="0"/>
          </a:p>
        </p:txBody>
      </p:sp>
      <p:sp>
        <p:nvSpPr>
          <p:cNvPr id="38" name="Text 33"/>
          <p:cNvSpPr txBox="1"/>
          <p:nvPr/>
        </p:nvSpPr>
        <p:spPr>
          <a:xfrm>
            <a:off x="4466234"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司机临时权限按预约时段发放、到期自动失效，人车权限一致</a:t>
            </a:r>
            <a:endParaRPr lang="en-US" sz="1000" dirty="0"/>
          </a:p>
        </p:txBody>
      </p:sp>
      <p:sp>
        <p:nvSpPr>
          <p:cNvPr id="39" name="Shape 34"/>
          <p:cNvSpPr/>
          <p:nvPr/>
        </p:nvSpPr>
        <p:spPr>
          <a:xfrm>
            <a:off x="8072933" y="4352544"/>
            <a:ext cx="3588410" cy="621792"/>
          </a:xfrm>
          <a:prstGeom prst="roundRect">
            <a:avLst>
              <a:gd name="adj" fmla="val 5147"/>
            </a:avLst>
          </a:prstGeom>
          <a:solidFill>
            <a:srgbClr val="FFFFFF"/>
          </a:solidFill>
          <a:ln w="9525">
            <a:solidFill>
              <a:srgbClr val="E3E7EB"/>
            </a:solidFill>
            <a:prstDash val="solid"/>
          </a:ln>
        </p:spPr>
      </p:sp>
      <p:sp>
        <p:nvSpPr>
          <p:cNvPr id="40" name="Text 35"/>
          <p:cNvSpPr txBox="1"/>
          <p:nvPr/>
        </p:nvSpPr>
        <p:spPr>
          <a:xfrm>
            <a:off x="8237525"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EPO 电子出门条</a:t>
            </a:r>
            <a:endParaRPr lang="en-US" sz="1080" dirty="0"/>
          </a:p>
        </p:txBody>
      </p:sp>
      <p:sp>
        <p:nvSpPr>
          <p:cNvPr id="41" name="Text 36"/>
          <p:cNvSpPr txBox="1"/>
          <p:nvPr/>
        </p:nvSpPr>
        <p:spPr>
          <a:xfrm>
            <a:off x="8237525"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出园环节自动联动，保留车辆与物料检查留证</a:t>
            </a:r>
            <a:endParaRPr lang="en-US" sz="1000" dirty="0"/>
          </a:p>
        </p:txBody>
      </p:sp>
      <p:sp>
        <p:nvSpPr>
          <p:cNvPr id="42" name="Shape 37"/>
          <p:cNvSpPr/>
          <p:nvPr/>
        </p:nvSpPr>
        <p:spPr>
          <a:xfrm>
            <a:off x="530352" y="5157216"/>
            <a:ext cx="11130991" cy="1060704"/>
          </a:xfrm>
          <a:prstGeom prst="roundRect">
            <a:avLst>
              <a:gd name="adj" fmla="val 3017"/>
            </a:avLst>
          </a:prstGeom>
          <a:solidFill>
            <a:srgbClr val="0E2340"/>
          </a:solidFill>
          <a:ln/>
        </p:spPr>
      </p:sp>
      <p:sp>
        <p:nvSpPr>
          <p:cNvPr id="43" name="Text 38"/>
          <p:cNvSpPr txBox="1"/>
          <p:nvPr/>
        </p:nvSpPr>
        <p:spPr>
          <a:xfrm>
            <a:off x="786384" y="528523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我们的定位</a:t>
            </a:r>
            <a:endParaRPr lang="en-US" sz="1200" dirty="0"/>
          </a:p>
        </p:txBody>
      </p:sp>
      <p:sp>
        <p:nvSpPr>
          <p:cNvPr id="44" name="Text 39"/>
          <p:cNvSpPr txBox="1"/>
          <p:nvPr/>
        </p:nvSpPr>
        <p:spPr>
          <a:xfrm>
            <a:off x="2286000" y="5248656"/>
            <a:ext cx="9119311" cy="859536"/>
          </a:xfrm>
          <a:prstGeom prst="rect">
            <a:avLst/>
          </a:prstGeom>
          <a:noFill/>
          <a:ln/>
        </p:spPr>
        <p:txBody>
          <a:bodyPr wrap="square" lIns="0" tIns="0" rIns="0" bIns="0" rtlCol="0" anchor="ctr"/>
          <a:lstStyle/>
          <a:p>
            <a:pPr indent="0" marL="0">
              <a:lnSpc>
                <a:spcPct val="112000"/>
              </a:lnSpc>
              <a:buNone/>
            </a:pPr>
            <a:r>
              <a:rPr lang="en-US" sz="1050" dirty="0">
                <a:solidFill>
                  <a:srgbClr val="DCE5EE"/>
                </a:solidFill>
                <a:latin typeface="Calibri" pitchFamily="34" charset="0"/>
                <a:ea typeface="Calibri" pitchFamily="34" charset="-122"/>
                <a:cs typeface="Calibri" pitchFamily="34" charset="-120"/>
              </a:rPr>
              <a:t>我们不代替贵方的物流管理团队做业务决策。联想提供的是把物流管理规则固化成系统的方法论、把 6 类外围系统打通的集成服务能力，以及跨系统异常的补偿与对账机制——业务规则由贵方定义，我们负责让规则跑得通、数据对得上、结果说得清。</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智慧物流（二）：场景全景与主流程设计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把司机、月台、库房收发、成本中心、跨园区运力五方在同一时间轴上对齐</a:t>
            </a:r>
            <a:endParaRPr lang="en-US" sz="1250" dirty="0"/>
          </a:p>
        </p:txBody>
      </p:sp>
      <p:sp>
        <p:nvSpPr>
          <p:cNvPr id="5" name="Shape 3"/>
          <p:cNvSpPr/>
          <p:nvPr/>
        </p:nvSpPr>
        <p:spPr>
          <a:xfrm>
            <a:off x="530352" y="1207008"/>
            <a:ext cx="1543115" cy="566928"/>
          </a:xfrm>
          <a:prstGeom prst="homePlate">
            <a:avLst/>
          </a:prstGeom>
          <a:solidFill>
            <a:srgbClr val="F97B00"/>
          </a:solidFill>
          <a:ln/>
        </p:spPr>
      </p:sp>
      <p:sp>
        <p:nvSpPr>
          <p:cNvPr id="6" name="Text 4"/>
          <p:cNvSpPr txBox="1"/>
          <p:nvPr/>
        </p:nvSpPr>
        <p:spPr>
          <a:xfrm>
            <a:off x="715526"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① 车辆预约</a:t>
            </a:r>
            <a:endParaRPr lang="en-US" sz="1150" dirty="0"/>
          </a:p>
        </p:txBody>
      </p:sp>
      <p:sp>
        <p:nvSpPr>
          <p:cNvPr id="7" name="Shape 5"/>
          <p:cNvSpPr/>
          <p:nvPr/>
        </p:nvSpPr>
        <p:spPr>
          <a:xfrm>
            <a:off x="2128331" y="1207008"/>
            <a:ext cx="1543115" cy="566928"/>
          </a:xfrm>
          <a:prstGeom prst="chevron">
            <a:avLst/>
          </a:prstGeom>
          <a:solidFill>
            <a:srgbClr val="FF9F3D"/>
          </a:solidFill>
          <a:ln/>
        </p:spPr>
      </p:sp>
      <p:sp>
        <p:nvSpPr>
          <p:cNvPr id="8" name="Text 6"/>
          <p:cNvSpPr txBox="1"/>
          <p:nvPr/>
        </p:nvSpPr>
        <p:spPr>
          <a:xfrm>
            <a:off x="2313505"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② 排队叫号</a:t>
            </a:r>
            <a:endParaRPr lang="en-US" sz="1150" dirty="0"/>
          </a:p>
        </p:txBody>
      </p:sp>
      <p:sp>
        <p:nvSpPr>
          <p:cNvPr id="9" name="Shape 7"/>
          <p:cNvSpPr/>
          <p:nvPr/>
        </p:nvSpPr>
        <p:spPr>
          <a:xfrm>
            <a:off x="3726311" y="1207008"/>
            <a:ext cx="1543115" cy="566928"/>
          </a:xfrm>
          <a:prstGeom prst="chevron">
            <a:avLst/>
          </a:prstGeom>
          <a:solidFill>
            <a:srgbClr val="F97B00"/>
          </a:solidFill>
          <a:ln/>
        </p:spPr>
      </p:sp>
      <p:sp>
        <p:nvSpPr>
          <p:cNvPr id="10" name="Text 8"/>
          <p:cNvSpPr txBox="1"/>
          <p:nvPr/>
        </p:nvSpPr>
        <p:spPr>
          <a:xfrm>
            <a:off x="391148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③ 入园管理</a:t>
            </a:r>
            <a:endParaRPr lang="en-US" sz="1150" dirty="0"/>
          </a:p>
        </p:txBody>
      </p:sp>
      <p:sp>
        <p:nvSpPr>
          <p:cNvPr id="11" name="Shape 9"/>
          <p:cNvSpPr/>
          <p:nvPr/>
        </p:nvSpPr>
        <p:spPr>
          <a:xfrm>
            <a:off x="5324290" y="1207008"/>
            <a:ext cx="1543115" cy="566928"/>
          </a:xfrm>
          <a:prstGeom prst="chevron">
            <a:avLst/>
          </a:prstGeom>
          <a:solidFill>
            <a:srgbClr val="FF9F3D"/>
          </a:solidFill>
          <a:ln/>
        </p:spPr>
      </p:sp>
      <p:sp>
        <p:nvSpPr>
          <p:cNvPr id="12" name="Text 10"/>
          <p:cNvSpPr txBox="1"/>
          <p:nvPr/>
        </p:nvSpPr>
        <p:spPr>
          <a:xfrm>
            <a:off x="550946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④ 停靠引导</a:t>
            </a:r>
            <a:endParaRPr lang="en-US" sz="1150" dirty="0"/>
          </a:p>
        </p:txBody>
      </p:sp>
      <p:sp>
        <p:nvSpPr>
          <p:cNvPr id="13" name="Shape 11"/>
          <p:cNvSpPr/>
          <p:nvPr/>
        </p:nvSpPr>
        <p:spPr>
          <a:xfrm>
            <a:off x="6922269" y="1207008"/>
            <a:ext cx="1543115" cy="566928"/>
          </a:xfrm>
          <a:prstGeom prst="chevron">
            <a:avLst/>
          </a:prstGeom>
          <a:solidFill>
            <a:srgbClr val="F97B00"/>
          </a:solidFill>
          <a:ln/>
        </p:spPr>
      </p:sp>
      <p:sp>
        <p:nvSpPr>
          <p:cNvPr id="14" name="Text 12"/>
          <p:cNvSpPr txBox="1"/>
          <p:nvPr/>
        </p:nvSpPr>
        <p:spPr>
          <a:xfrm>
            <a:off x="7107443"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⑤ 月台作业</a:t>
            </a:r>
            <a:endParaRPr lang="en-US" sz="1150" dirty="0"/>
          </a:p>
        </p:txBody>
      </p:sp>
      <p:sp>
        <p:nvSpPr>
          <p:cNvPr id="15" name="Shape 13"/>
          <p:cNvSpPr/>
          <p:nvPr/>
        </p:nvSpPr>
        <p:spPr>
          <a:xfrm>
            <a:off x="8520249" y="1207008"/>
            <a:ext cx="1543115" cy="566928"/>
          </a:xfrm>
          <a:prstGeom prst="chevron">
            <a:avLst/>
          </a:prstGeom>
          <a:solidFill>
            <a:srgbClr val="FF9F3D"/>
          </a:solidFill>
          <a:ln/>
        </p:spPr>
      </p:sp>
      <p:sp>
        <p:nvSpPr>
          <p:cNvPr id="16" name="Text 14"/>
          <p:cNvSpPr txBox="1"/>
          <p:nvPr/>
        </p:nvSpPr>
        <p:spPr>
          <a:xfrm>
            <a:off x="870542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⑥ 出园管理</a:t>
            </a:r>
            <a:endParaRPr lang="en-US" sz="1150" dirty="0"/>
          </a:p>
        </p:txBody>
      </p:sp>
      <p:sp>
        <p:nvSpPr>
          <p:cNvPr id="17" name="Shape 15"/>
          <p:cNvSpPr/>
          <p:nvPr/>
        </p:nvSpPr>
        <p:spPr>
          <a:xfrm>
            <a:off x="10118228" y="1207008"/>
            <a:ext cx="1543115" cy="566928"/>
          </a:xfrm>
          <a:prstGeom prst="chevron">
            <a:avLst/>
          </a:prstGeom>
          <a:solidFill>
            <a:srgbClr val="F97B00"/>
          </a:solidFill>
          <a:ln/>
        </p:spPr>
      </p:sp>
      <p:sp>
        <p:nvSpPr>
          <p:cNvPr id="18" name="Text 16"/>
          <p:cNvSpPr txBox="1"/>
          <p:nvPr/>
        </p:nvSpPr>
        <p:spPr>
          <a:xfrm>
            <a:off x="1030340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⑦ 评价反馈</a:t>
            </a:r>
            <a:endParaRPr lang="en-US" sz="1150" dirty="0"/>
          </a:p>
        </p:txBody>
      </p:sp>
      <p:sp>
        <p:nvSpPr>
          <p:cNvPr id="19" name="Shape 17"/>
          <p:cNvSpPr/>
          <p:nvPr/>
        </p:nvSpPr>
        <p:spPr>
          <a:xfrm>
            <a:off x="530352"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49808" y="2194560"/>
            <a:ext cx="493776" cy="493776"/>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83128" y="2327880"/>
            <a:ext cx="227137" cy="227137"/>
          </a:xfrm>
          <a:prstGeom prst="rect">
            <a:avLst/>
          </a:prstGeom>
        </p:spPr>
      </p:pic>
      <p:sp>
        <p:nvSpPr>
          <p:cNvPr id="22" name="Text 19"/>
          <p:cNvSpPr txBox="1"/>
          <p:nvPr/>
        </p:nvSpPr>
        <p:spPr>
          <a:xfrm>
            <a:off x="1353312"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司机 / 供应商端</a:t>
            </a:r>
            <a:endParaRPr lang="en-US" sz="1350" dirty="0"/>
          </a:p>
        </p:txBody>
      </p:sp>
      <p:sp>
        <p:nvSpPr>
          <p:cNvPr id="23" name="Text 20"/>
          <p:cNvSpPr txBox="1"/>
          <p:nvPr/>
        </p:nvSpPr>
        <p:spPr>
          <a:xfrm>
            <a:off x="768096"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APP/PC/微信小程序在线预约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实时接收管理规定与安全须知</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等候时长与叫号推送</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园内导航与月台指引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卸货照片上传</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服务即时评价与投诉</a:t>
            </a:r>
            <a:endParaRPr lang="en-US" sz="1000" dirty="0"/>
          </a:p>
        </p:txBody>
      </p:sp>
      <p:sp>
        <p:nvSpPr>
          <p:cNvPr id="24" name="Shape 21"/>
          <p:cNvSpPr/>
          <p:nvPr/>
        </p:nvSpPr>
        <p:spPr>
          <a:xfrm>
            <a:off x="4313834"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33290" y="2194560"/>
            <a:ext cx="493776" cy="493776"/>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66610" y="2327880"/>
            <a:ext cx="227137" cy="227137"/>
          </a:xfrm>
          <a:prstGeom prst="rect">
            <a:avLst/>
          </a:prstGeom>
        </p:spPr>
      </p:pic>
      <p:sp>
        <p:nvSpPr>
          <p:cNvPr id="27" name="Text 23"/>
          <p:cNvSpPr txBox="1"/>
          <p:nvPr/>
        </p:nvSpPr>
        <p:spPr>
          <a:xfrm>
            <a:off x="5136794"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仓储收发端</a:t>
            </a:r>
            <a:endParaRPr lang="en-US" sz="1350" dirty="0"/>
          </a:p>
        </p:txBody>
      </p:sp>
      <p:sp>
        <p:nvSpPr>
          <p:cNvPr id="28" name="Text 24"/>
          <p:cNvSpPr txBox="1"/>
          <p:nvPr/>
        </p:nvSpPr>
        <p:spPr>
          <a:xfrm>
            <a:off x="4551578"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到货单/送货单自动关联</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月台预分配与锁定</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收货/发货异常登记</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出园检查拍照</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物料在途可视</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装卸效率数据自动生成</a:t>
            </a:r>
            <a:endParaRPr lang="en-US" sz="1000" dirty="0"/>
          </a:p>
        </p:txBody>
      </p:sp>
      <p:sp>
        <p:nvSpPr>
          <p:cNvPr id="29" name="Shape 25"/>
          <p:cNvSpPr/>
          <p:nvPr/>
        </p:nvSpPr>
        <p:spPr>
          <a:xfrm>
            <a:off x="8097317"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316773" y="2194560"/>
            <a:ext cx="493776" cy="493776"/>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50092" y="2327880"/>
            <a:ext cx="227137" cy="227137"/>
          </a:xfrm>
          <a:prstGeom prst="rect">
            <a:avLst/>
          </a:prstGeom>
        </p:spPr>
      </p:pic>
      <p:sp>
        <p:nvSpPr>
          <p:cNvPr id="32" name="Text 27"/>
          <p:cNvSpPr txBox="1"/>
          <p:nvPr/>
        </p:nvSpPr>
        <p:spPr>
          <a:xfrm>
            <a:off x="8920277"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调度管理端</a:t>
            </a:r>
            <a:endParaRPr lang="en-US" sz="1350" dirty="0"/>
          </a:p>
        </p:txBody>
      </p:sp>
      <p:sp>
        <p:nvSpPr>
          <p:cNvPr id="33" name="Text 28"/>
          <p:cNvSpPr txBox="1"/>
          <p:nvPr/>
        </p:nvSpPr>
        <p:spPr>
          <a:xfrm>
            <a:off x="8335061"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智能排期与自动确认预约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紧急插队授权与留痕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月台空满与超时告警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跨园区运力统一派单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违规记录与黑名单闭环</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效率与费用分析报表</a:t>
            </a:r>
            <a:endParaRPr lang="en-US" sz="1000" dirty="0"/>
          </a:p>
        </p:txBody>
      </p:sp>
      <p:sp>
        <p:nvSpPr>
          <p:cNvPr id="34" name="Shape 29"/>
          <p:cNvSpPr/>
          <p:nvPr/>
        </p:nvSpPr>
        <p:spPr>
          <a:xfrm>
            <a:off x="530352" y="4572000"/>
            <a:ext cx="11130991" cy="1371600"/>
          </a:xfrm>
          <a:prstGeom prst="roundRect">
            <a:avLst>
              <a:gd name="adj" fmla="val 23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Shape 30"/>
          <p:cNvSpPr/>
          <p:nvPr/>
        </p:nvSpPr>
        <p:spPr>
          <a:xfrm>
            <a:off x="768096" y="4768596"/>
            <a:ext cx="68580" cy="173736"/>
          </a:xfrm>
          <a:prstGeom prst="rect">
            <a:avLst/>
          </a:prstGeom>
          <a:solidFill>
            <a:srgbClr val="F97B00"/>
          </a:solidFill>
          <a:ln/>
        </p:spPr>
      </p:sp>
      <p:sp>
        <p:nvSpPr>
          <p:cNvPr id="36" name="Text 31"/>
          <p:cNvSpPr txBox="1"/>
          <p:nvPr/>
        </p:nvSpPr>
        <p:spPr>
          <a:xfrm>
            <a:off x="923544" y="47183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量化目标</a:t>
            </a:r>
            <a:endParaRPr lang="en-US" sz="1250" dirty="0"/>
          </a:p>
        </p:txBody>
      </p:sp>
      <p:sp>
        <p:nvSpPr>
          <p:cNvPr id="37" name="Shape 32"/>
          <p:cNvSpPr/>
          <p:nvPr/>
        </p:nvSpPr>
        <p:spPr>
          <a:xfrm>
            <a:off x="768096" y="5065776"/>
            <a:ext cx="1653997" cy="731520"/>
          </a:xfrm>
          <a:prstGeom prst="roundRect">
            <a:avLst>
              <a:gd name="adj" fmla="val 6250"/>
            </a:avLst>
          </a:prstGeom>
          <a:solidFill>
            <a:srgbClr val="FFFFFF"/>
          </a:solidFill>
          <a:ln w="9525">
            <a:solidFill>
              <a:srgbClr val="F3CDA5"/>
            </a:solidFill>
            <a:prstDash val="solid"/>
          </a:ln>
        </p:spPr>
      </p:sp>
      <p:sp>
        <p:nvSpPr>
          <p:cNvPr id="38" name="Text 33"/>
          <p:cNvSpPr txBox="1"/>
          <p:nvPr/>
        </p:nvSpPr>
        <p:spPr>
          <a:xfrm>
            <a:off x="768096"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60%</a:t>
            </a:r>
            <a:endParaRPr lang="en-US" sz="1700" dirty="0"/>
          </a:p>
        </p:txBody>
      </p:sp>
      <p:sp>
        <p:nvSpPr>
          <p:cNvPr id="39" name="Text 34"/>
          <p:cNvSpPr txBox="1"/>
          <p:nvPr/>
        </p:nvSpPr>
        <p:spPr>
          <a:xfrm>
            <a:off x="804672"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入园手续时长</a:t>
            </a:r>
            <a:endParaRPr lang="en-US" sz="1000" dirty="0"/>
          </a:p>
        </p:txBody>
      </p:sp>
      <p:sp>
        <p:nvSpPr>
          <p:cNvPr id="40" name="Shape 35"/>
          <p:cNvSpPr/>
          <p:nvPr/>
        </p:nvSpPr>
        <p:spPr>
          <a:xfrm>
            <a:off x="2568397" y="5065776"/>
            <a:ext cx="1653997" cy="731520"/>
          </a:xfrm>
          <a:prstGeom prst="roundRect">
            <a:avLst>
              <a:gd name="adj" fmla="val 6250"/>
            </a:avLst>
          </a:prstGeom>
          <a:solidFill>
            <a:srgbClr val="FFFFFF"/>
          </a:solidFill>
          <a:ln w="9525">
            <a:solidFill>
              <a:srgbClr val="F3CDA5"/>
            </a:solidFill>
            <a:prstDash val="solid"/>
          </a:ln>
        </p:spPr>
      </p:sp>
      <p:sp>
        <p:nvSpPr>
          <p:cNvPr id="41" name="Text 36"/>
          <p:cNvSpPr txBox="1"/>
          <p:nvPr/>
        </p:nvSpPr>
        <p:spPr>
          <a:xfrm>
            <a:off x="2568397"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40%</a:t>
            </a:r>
            <a:endParaRPr lang="en-US" sz="1700" dirty="0"/>
          </a:p>
        </p:txBody>
      </p:sp>
      <p:sp>
        <p:nvSpPr>
          <p:cNvPr id="42" name="Text 37"/>
          <p:cNvSpPr txBox="1"/>
          <p:nvPr/>
        </p:nvSpPr>
        <p:spPr>
          <a:xfrm>
            <a:off x="2604973"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车辆平均等待时长</a:t>
            </a:r>
            <a:endParaRPr lang="en-US" sz="1000" dirty="0"/>
          </a:p>
        </p:txBody>
      </p:sp>
      <p:sp>
        <p:nvSpPr>
          <p:cNvPr id="43" name="Shape 38"/>
          <p:cNvSpPr/>
          <p:nvPr/>
        </p:nvSpPr>
        <p:spPr>
          <a:xfrm>
            <a:off x="4368698" y="5065776"/>
            <a:ext cx="1653997" cy="731520"/>
          </a:xfrm>
          <a:prstGeom prst="roundRect">
            <a:avLst>
              <a:gd name="adj" fmla="val 6250"/>
            </a:avLst>
          </a:prstGeom>
          <a:solidFill>
            <a:srgbClr val="FFFFFF"/>
          </a:solidFill>
          <a:ln w="9525">
            <a:solidFill>
              <a:srgbClr val="F3CDA5"/>
            </a:solidFill>
            <a:prstDash val="solid"/>
          </a:ln>
        </p:spPr>
      </p:sp>
      <p:sp>
        <p:nvSpPr>
          <p:cNvPr id="44" name="Text 39"/>
          <p:cNvSpPr txBox="1"/>
          <p:nvPr/>
        </p:nvSpPr>
        <p:spPr>
          <a:xfrm>
            <a:off x="4368698"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50%</a:t>
            </a:r>
            <a:endParaRPr lang="en-US" sz="1700" dirty="0"/>
          </a:p>
        </p:txBody>
      </p:sp>
      <p:sp>
        <p:nvSpPr>
          <p:cNvPr id="45" name="Text 40"/>
          <p:cNvSpPr txBox="1"/>
          <p:nvPr/>
        </p:nvSpPr>
        <p:spPr>
          <a:xfrm>
            <a:off x="4405274"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门岗高峰拥堵时段</a:t>
            </a:r>
            <a:endParaRPr lang="en-US" sz="1000" dirty="0"/>
          </a:p>
        </p:txBody>
      </p:sp>
      <p:sp>
        <p:nvSpPr>
          <p:cNvPr id="46" name="Shape 41"/>
          <p:cNvSpPr/>
          <p:nvPr/>
        </p:nvSpPr>
        <p:spPr>
          <a:xfrm>
            <a:off x="6169000" y="5065776"/>
            <a:ext cx="1653997" cy="731520"/>
          </a:xfrm>
          <a:prstGeom prst="roundRect">
            <a:avLst>
              <a:gd name="adj" fmla="val 6250"/>
            </a:avLst>
          </a:prstGeom>
          <a:solidFill>
            <a:srgbClr val="FFFFFF"/>
          </a:solidFill>
          <a:ln w="9525">
            <a:solidFill>
              <a:srgbClr val="F3CDA5"/>
            </a:solidFill>
            <a:prstDash val="solid"/>
          </a:ln>
        </p:spPr>
      </p:sp>
      <p:sp>
        <p:nvSpPr>
          <p:cNvPr id="47" name="Text 42"/>
          <p:cNvSpPr txBox="1"/>
          <p:nvPr/>
        </p:nvSpPr>
        <p:spPr>
          <a:xfrm>
            <a:off x="6169000"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20%</a:t>
            </a:r>
            <a:endParaRPr lang="en-US" sz="1700" dirty="0"/>
          </a:p>
        </p:txBody>
      </p:sp>
      <p:sp>
        <p:nvSpPr>
          <p:cNvPr id="48" name="Text 43"/>
          <p:cNvSpPr txBox="1"/>
          <p:nvPr/>
        </p:nvSpPr>
        <p:spPr>
          <a:xfrm>
            <a:off x="6205576"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月台使用率</a:t>
            </a:r>
            <a:endParaRPr lang="en-US" sz="1000" dirty="0"/>
          </a:p>
        </p:txBody>
      </p:sp>
      <p:sp>
        <p:nvSpPr>
          <p:cNvPr id="49" name="Shape 44"/>
          <p:cNvSpPr/>
          <p:nvPr/>
        </p:nvSpPr>
        <p:spPr>
          <a:xfrm>
            <a:off x="7969301" y="5065776"/>
            <a:ext cx="1653997" cy="731520"/>
          </a:xfrm>
          <a:prstGeom prst="roundRect">
            <a:avLst>
              <a:gd name="adj" fmla="val 6250"/>
            </a:avLst>
          </a:prstGeom>
          <a:solidFill>
            <a:srgbClr val="FFFFFF"/>
          </a:solidFill>
          <a:ln w="9525">
            <a:solidFill>
              <a:srgbClr val="F3CDA5"/>
            </a:solidFill>
            <a:prstDash val="solid"/>
          </a:ln>
        </p:spPr>
      </p:sp>
      <p:sp>
        <p:nvSpPr>
          <p:cNvPr id="50" name="Text 45"/>
          <p:cNvSpPr txBox="1"/>
          <p:nvPr/>
        </p:nvSpPr>
        <p:spPr>
          <a:xfrm>
            <a:off x="7969301"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25%</a:t>
            </a:r>
            <a:endParaRPr lang="en-US" sz="1700" dirty="0"/>
          </a:p>
        </p:txBody>
      </p:sp>
      <p:sp>
        <p:nvSpPr>
          <p:cNvPr id="51" name="Text 46"/>
          <p:cNvSpPr txBox="1"/>
          <p:nvPr/>
        </p:nvSpPr>
        <p:spPr>
          <a:xfrm>
            <a:off x="8005877"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单车日周转次数</a:t>
            </a:r>
            <a:endParaRPr lang="en-US" sz="1000" dirty="0"/>
          </a:p>
        </p:txBody>
      </p:sp>
      <p:sp>
        <p:nvSpPr>
          <p:cNvPr id="52" name="Shape 47"/>
          <p:cNvSpPr/>
          <p:nvPr/>
        </p:nvSpPr>
        <p:spPr>
          <a:xfrm>
            <a:off x="9769602" y="5065776"/>
            <a:ext cx="1653997" cy="731520"/>
          </a:xfrm>
          <a:prstGeom prst="roundRect">
            <a:avLst>
              <a:gd name="adj" fmla="val 6250"/>
            </a:avLst>
          </a:prstGeom>
          <a:solidFill>
            <a:srgbClr val="FFFFFF"/>
          </a:solidFill>
          <a:ln w="9525">
            <a:solidFill>
              <a:srgbClr val="F3CDA5"/>
            </a:solidFill>
            <a:prstDash val="solid"/>
          </a:ln>
        </p:spPr>
      </p:sp>
      <p:sp>
        <p:nvSpPr>
          <p:cNvPr id="53" name="Text 48"/>
          <p:cNvSpPr txBox="1"/>
          <p:nvPr/>
        </p:nvSpPr>
        <p:spPr>
          <a:xfrm>
            <a:off x="9769602"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100%</a:t>
            </a:r>
            <a:endParaRPr lang="en-US" sz="1700" dirty="0"/>
          </a:p>
        </p:txBody>
      </p:sp>
      <p:sp>
        <p:nvSpPr>
          <p:cNvPr id="54" name="Text 49"/>
          <p:cNvSpPr txBox="1"/>
          <p:nvPr/>
        </p:nvSpPr>
        <p:spPr>
          <a:xfrm>
            <a:off x="9806178"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物流数据在线归档率</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智慧物流（三）：车辆预约管理与排队叫号</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从"到了再说"变成"来了就能卸"：智能排期 + 有序叫号 + 爽约补救</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车辆预约管理</a:t>
            </a:r>
            <a:endParaRPr lang="en-US" sz="1250" dirty="0"/>
          </a:p>
        </p:txBody>
      </p:sp>
      <p:sp>
        <p:nvSpPr>
          <p:cNvPr id="7" name="Shape 5"/>
          <p:cNvSpPr/>
          <p:nvPr/>
        </p:nvSpPr>
        <p:spPr>
          <a:xfrm>
            <a:off x="530352" y="153619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64792"/>
            <a:ext cx="274320" cy="274320"/>
          </a:xfrm>
          <a:prstGeom prst="ellipse">
            <a:avLst/>
          </a:prstGeom>
          <a:solidFill>
            <a:srgbClr val="F97B00"/>
          </a:solidFill>
          <a:ln/>
        </p:spPr>
      </p:sp>
      <p:sp>
        <p:nvSpPr>
          <p:cNvPr id="9" name="Text 7"/>
          <p:cNvSpPr txBox="1"/>
          <p:nvPr/>
        </p:nvSpPr>
        <p:spPr>
          <a:xfrm>
            <a:off x="713232"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9105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在线预约入园</a:t>
            </a:r>
            <a:endParaRPr lang="en-US" sz="1150" dirty="0"/>
          </a:p>
        </p:txBody>
      </p:sp>
      <p:sp>
        <p:nvSpPr>
          <p:cNvPr id="11" name="Text 9"/>
          <p:cNvSpPr txBox="1"/>
          <p:nvPr/>
        </p:nvSpPr>
        <p:spPr>
          <a:xfrm>
            <a:off x="1097280" y="184708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司机通过 APP / PC / 微信小程序在线预约入园时段、送货厂房、卸货位；系统自动关联到货单（供应商）或送货单（客户），智能排期并自动确认预约</a:t>
            </a:r>
            <a:endParaRPr lang="en-US" sz="1000" dirty="0"/>
          </a:p>
        </p:txBody>
      </p:sp>
      <p:sp>
        <p:nvSpPr>
          <p:cNvPr id="12" name="Shape 10"/>
          <p:cNvSpPr/>
          <p:nvPr/>
        </p:nvSpPr>
        <p:spPr>
          <a:xfrm>
            <a:off x="530352" y="235915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87752"/>
            <a:ext cx="274320" cy="274320"/>
          </a:xfrm>
          <a:prstGeom prst="ellipse">
            <a:avLst/>
          </a:prstGeom>
          <a:solidFill>
            <a:srgbClr val="F97B00"/>
          </a:solidFill>
          <a:ln/>
        </p:spPr>
      </p:sp>
      <p:sp>
        <p:nvSpPr>
          <p:cNvPr id="14" name="Text 12"/>
          <p:cNvSpPr txBox="1"/>
          <p:nvPr/>
        </p:nvSpPr>
        <p:spPr>
          <a:xfrm>
            <a:off x="713232"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41401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内部代预约</a:t>
            </a:r>
            <a:endParaRPr lang="en-US" sz="1150" dirty="0"/>
          </a:p>
        </p:txBody>
      </p:sp>
      <p:sp>
        <p:nvSpPr>
          <p:cNvPr id="16" name="Text 14"/>
          <p:cNvSpPr txBox="1"/>
          <p:nvPr/>
        </p:nvSpPr>
        <p:spPr>
          <a:xfrm>
            <a:off x="1097280" y="267004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支持仓储、采购等内部人员代供应商司机或提货司机预约，填写车牌、货物、预计到达时间，系统自动关联单据</a:t>
            </a:r>
            <a:endParaRPr lang="en-US" sz="1000" dirty="0"/>
          </a:p>
        </p:txBody>
      </p:sp>
      <p:sp>
        <p:nvSpPr>
          <p:cNvPr id="17" name="Shape 15"/>
          <p:cNvSpPr/>
          <p:nvPr/>
        </p:nvSpPr>
        <p:spPr>
          <a:xfrm>
            <a:off x="530352" y="318211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410712"/>
            <a:ext cx="274320" cy="274320"/>
          </a:xfrm>
          <a:prstGeom prst="ellipse">
            <a:avLst/>
          </a:prstGeom>
          <a:solidFill>
            <a:srgbClr val="F97B00"/>
          </a:solidFill>
          <a:ln/>
        </p:spPr>
      </p:sp>
      <p:sp>
        <p:nvSpPr>
          <p:cNvPr id="19" name="Text 17"/>
          <p:cNvSpPr txBox="1"/>
          <p:nvPr/>
        </p:nvSpPr>
        <p:spPr>
          <a:xfrm>
            <a:off x="713232"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23697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爽约补救机制</a:t>
            </a:r>
            <a:endParaRPr lang="en-US" sz="1150" dirty="0"/>
          </a:p>
        </p:txBody>
      </p:sp>
      <p:sp>
        <p:nvSpPr>
          <p:cNvPr id="21" name="Text 19"/>
          <p:cNvSpPr txBox="1"/>
          <p:nvPr/>
        </p:nvSpPr>
        <p:spPr>
          <a:xfrm>
            <a:off x="1097280" y="349300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未按预约时段抵达自动触发提醒；提供爽约原因分析（交通拥堵/操作失误/主观原因）及补救方案（重新预约、释放月台、手动补签）</a:t>
            </a:r>
            <a:endParaRPr lang="en-US" sz="1000" dirty="0"/>
          </a:p>
        </p:txBody>
      </p:sp>
      <p:sp>
        <p:nvSpPr>
          <p:cNvPr id="22" name="Shape 20"/>
          <p:cNvSpPr/>
          <p:nvPr/>
        </p:nvSpPr>
        <p:spPr>
          <a:xfrm>
            <a:off x="530352" y="400507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13232" y="4233672"/>
            <a:ext cx="274320" cy="274320"/>
          </a:xfrm>
          <a:prstGeom prst="ellipse">
            <a:avLst/>
          </a:prstGeom>
          <a:solidFill>
            <a:srgbClr val="F97B00"/>
          </a:solidFill>
          <a:ln/>
        </p:spPr>
      </p:sp>
      <p:sp>
        <p:nvSpPr>
          <p:cNvPr id="24" name="Text 22"/>
          <p:cNvSpPr txBox="1"/>
          <p:nvPr/>
        </p:nvSpPr>
        <p:spPr>
          <a:xfrm>
            <a:off x="713232"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97280" y="405993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信息与规定推送</a:t>
            </a:r>
            <a:endParaRPr lang="en-US" sz="1150" dirty="0"/>
          </a:p>
        </p:txBody>
      </p:sp>
      <p:sp>
        <p:nvSpPr>
          <p:cNvPr id="26" name="Text 24"/>
          <p:cNvSpPr txBox="1"/>
          <p:nvPr/>
        </p:nvSpPr>
        <p:spPr>
          <a:xfrm>
            <a:off x="1097280" y="431596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自动推送送货/提货厂房、卸货位/装货位、路线导航；实时推送最新管理规定与安全须知至司机端</a:t>
            </a:r>
            <a:endParaRPr lang="en-US" sz="1000" dirty="0"/>
          </a:p>
        </p:txBody>
      </p:sp>
      <p:sp>
        <p:nvSpPr>
          <p:cNvPr id="27" name="Shape 25"/>
          <p:cNvSpPr/>
          <p:nvPr/>
        </p:nvSpPr>
        <p:spPr>
          <a:xfrm>
            <a:off x="6345936" y="1257300"/>
            <a:ext cx="68580" cy="173736"/>
          </a:xfrm>
          <a:prstGeom prst="rect">
            <a:avLst/>
          </a:prstGeom>
          <a:solidFill>
            <a:srgbClr val="F97B00"/>
          </a:solidFill>
          <a:ln/>
        </p:spPr>
      </p:sp>
      <p:sp>
        <p:nvSpPr>
          <p:cNvPr id="28" name="Text 26"/>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车辆排队叫号管理</a:t>
            </a:r>
            <a:endParaRPr lang="en-US" sz="1250" dirty="0"/>
          </a:p>
        </p:txBody>
      </p:sp>
      <p:sp>
        <p:nvSpPr>
          <p:cNvPr id="29" name="Shape 27"/>
          <p:cNvSpPr/>
          <p:nvPr/>
        </p:nvSpPr>
        <p:spPr>
          <a:xfrm>
            <a:off x="6345936" y="153619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1764792"/>
            <a:ext cx="274320" cy="274320"/>
          </a:xfrm>
          <a:prstGeom prst="ellipse">
            <a:avLst/>
          </a:prstGeom>
          <a:solidFill>
            <a:srgbClr val="0E2340"/>
          </a:solidFill>
          <a:ln/>
        </p:spPr>
      </p:sp>
      <p:sp>
        <p:nvSpPr>
          <p:cNvPr id="31" name="Text 29"/>
          <p:cNvSpPr txBox="1"/>
          <p:nvPr/>
        </p:nvSpPr>
        <p:spPr>
          <a:xfrm>
            <a:off x="6528816"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txBox="1"/>
          <p:nvPr/>
        </p:nvSpPr>
        <p:spPr>
          <a:xfrm>
            <a:off x="6912864" y="159105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预约信息可视化</a:t>
            </a:r>
            <a:endParaRPr lang="en-US" sz="1150" dirty="0"/>
          </a:p>
        </p:txBody>
      </p:sp>
      <p:sp>
        <p:nvSpPr>
          <p:cNvPr id="33" name="Text 31"/>
          <p:cNvSpPr txBox="1"/>
          <p:nvPr/>
        </p:nvSpPr>
        <p:spPr>
          <a:xfrm>
            <a:off x="6912864" y="184708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实时展示预约车辆列表、预计等候时长、排队队列</a:t>
            </a:r>
            <a:endParaRPr lang="en-US" sz="1000" dirty="0"/>
          </a:p>
        </p:txBody>
      </p:sp>
      <p:sp>
        <p:nvSpPr>
          <p:cNvPr id="34" name="Shape 32"/>
          <p:cNvSpPr/>
          <p:nvPr/>
        </p:nvSpPr>
        <p:spPr>
          <a:xfrm>
            <a:off x="6345936" y="235915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2587752"/>
            <a:ext cx="274320" cy="274320"/>
          </a:xfrm>
          <a:prstGeom prst="ellipse">
            <a:avLst/>
          </a:prstGeom>
          <a:solidFill>
            <a:srgbClr val="0E2340"/>
          </a:solidFill>
          <a:ln/>
        </p:spPr>
      </p:sp>
      <p:sp>
        <p:nvSpPr>
          <p:cNvPr id="36" name="Text 34"/>
          <p:cNvSpPr txBox="1"/>
          <p:nvPr/>
        </p:nvSpPr>
        <p:spPr>
          <a:xfrm>
            <a:off x="6528816"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txBox="1"/>
          <p:nvPr/>
        </p:nvSpPr>
        <p:spPr>
          <a:xfrm>
            <a:off x="6912864" y="241401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智能叫号服务</a:t>
            </a:r>
            <a:endParaRPr lang="en-US" sz="1150" dirty="0"/>
          </a:p>
        </p:txBody>
      </p:sp>
      <p:sp>
        <p:nvSpPr>
          <p:cNvPr id="38" name="Text 36"/>
          <p:cNvSpPr txBox="1"/>
          <p:nvPr/>
        </p:nvSpPr>
        <p:spPr>
          <a:xfrm>
            <a:off x="6912864" y="267004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按预约优先级、车辆类型自动或手动叫号，减少人工干预</a:t>
            </a:r>
            <a:endParaRPr lang="en-US" sz="1000" dirty="0"/>
          </a:p>
        </p:txBody>
      </p:sp>
      <p:sp>
        <p:nvSpPr>
          <p:cNvPr id="39" name="Shape 37"/>
          <p:cNvSpPr/>
          <p:nvPr/>
        </p:nvSpPr>
        <p:spPr>
          <a:xfrm>
            <a:off x="6345936" y="318211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6528816" y="3410712"/>
            <a:ext cx="274320" cy="274320"/>
          </a:xfrm>
          <a:prstGeom prst="ellipse">
            <a:avLst/>
          </a:prstGeom>
          <a:solidFill>
            <a:srgbClr val="0E2340"/>
          </a:solidFill>
          <a:ln/>
        </p:spPr>
      </p:sp>
      <p:sp>
        <p:nvSpPr>
          <p:cNvPr id="41" name="Text 39"/>
          <p:cNvSpPr txBox="1"/>
          <p:nvPr/>
        </p:nvSpPr>
        <p:spPr>
          <a:xfrm>
            <a:off x="6528816"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12864" y="323697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紧急插队机制</a:t>
            </a:r>
            <a:endParaRPr lang="en-US" sz="1150" dirty="0"/>
          </a:p>
        </p:txBody>
      </p:sp>
      <p:sp>
        <p:nvSpPr>
          <p:cNvPr id="43" name="Text 41"/>
          <p:cNvSpPr txBox="1"/>
          <p:nvPr/>
        </p:nvSpPr>
        <p:spPr>
          <a:xfrm>
            <a:off x="6912864" y="349300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调度主管、仓储收发管理员可为紧急生产物料、异常处理设置插队；系统记录插队原因、审批人、插队时间，插队车辆自动置于队列最前，并通知后续车辆等待时间延长</a:t>
            </a:r>
            <a:endParaRPr lang="en-US" sz="1000" dirty="0"/>
          </a:p>
        </p:txBody>
      </p:sp>
      <p:sp>
        <p:nvSpPr>
          <p:cNvPr id="44" name="Shape 42"/>
          <p:cNvSpPr/>
          <p:nvPr/>
        </p:nvSpPr>
        <p:spPr>
          <a:xfrm>
            <a:off x="6345936" y="400507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43"/>
          <p:cNvSpPr/>
          <p:nvPr/>
        </p:nvSpPr>
        <p:spPr>
          <a:xfrm>
            <a:off x="6528816" y="4233672"/>
            <a:ext cx="274320" cy="274320"/>
          </a:xfrm>
          <a:prstGeom prst="ellipse">
            <a:avLst/>
          </a:prstGeom>
          <a:solidFill>
            <a:srgbClr val="0E2340"/>
          </a:solidFill>
          <a:ln/>
        </p:spPr>
      </p:sp>
      <p:sp>
        <p:nvSpPr>
          <p:cNvPr id="46" name="Text 44"/>
          <p:cNvSpPr txBox="1"/>
          <p:nvPr/>
        </p:nvSpPr>
        <p:spPr>
          <a:xfrm>
            <a:off x="6528816"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5"/>
          <p:cNvSpPr txBox="1"/>
          <p:nvPr/>
        </p:nvSpPr>
        <p:spPr>
          <a:xfrm>
            <a:off x="6912864" y="405993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等候状态提醒</a:t>
            </a:r>
            <a:endParaRPr lang="en-US" sz="1150" dirty="0"/>
          </a:p>
        </p:txBody>
      </p:sp>
      <p:sp>
        <p:nvSpPr>
          <p:cNvPr id="48" name="Text 46"/>
          <p:cNvSpPr txBox="1"/>
          <p:nvPr/>
        </p:nvSpPr>
        <p:spPr>
          <a:xfrm>
            <a:off x="6912864" y="431596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APP / 短信推送预计等候时长，避免司机长时间等待</a:t>
            </a:r>
            <a:endParaRPr lang="en-US" sz="1000" dirty="0"/>
          </a:p>
        </p:txBody>
      </p:sp>
      <p:sp>
        <p:nvSpPr>
          <p:cNvPr id="49" name="Shape 47"/>
          <p:cNvSpPr/>
          <p:nvPr/>
        </p:nvSpPr>
        <p:spPr>
          <a:xfrm>
            <a:off x="530352" y="4791456"/>
            <a:ext cx="11130991" cy="1133856"/>
          </a:xfrm>
          <a:prstGeom prst="roundRect">
            <a:avLst>
              <a:gd name="adj" fmla="val 282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Text 48"/>
          <p:cNvSpPr txBox="1"/>
          <p:nvPr/>
        </p:nvSpPr>
        <p:spPr>
          <a:xfrm>
            <a:off x="768096" y="4919472"/>
            <a:ext cx="109728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设计要点</a:t>
            </a:r>
            <a:endParaRPr lang="en-US" sz="1200" dirty="0"/>
          </a:p>
        </p:txBody>
      </p:sp>
      <p:sp>
        <p:nvSpPr>
          <p:cNvPr id="51" name="Text 49"/>
          <p:cNvSpPr txBox="1"/>
          <p:nvPr/>
        </p:nvSpPr>
        <p:spPr>
          <a:xfrm>
            <a:off x="1993392" y="4882896"/>
            <a:ext cx="9418320" cy="896112"/>
          </a:xfrm>
          <a:prstGeom prst="rect">
            <a:avLst/>
          </a:prstGeom>
          <a:noFill/>
          <a:ln/>
        </p:spPr>
        <p:txBody>
          <a:bodyPr wrap="square" lIns="0" tIns="0" rIns="0" bIns="0" rtlCol="0" anchor="ctr"/>
          <a:lstStyle/>
          <a:p>
            <a:pPr indent="0" marL="0">
              <a:lnSpc>
                <a:spcPct val="114000"/>
              </a:lnSpc>
              <a:buNone/>
            </a:pPr>
            <a:r>
              <a:rPr lang="en-US" sz="1000" dirty="0">
                <a:solidFill>
                  <a:srgbClr val="1F2933"/>
                </a:solidFill>
                <a:latin typeface="Calibri" pitchFamily="34" charset="0"/>
                <a:ea typeface="Calibri" pitchFamily="34" charset="-122"/>
                <a:cs typeface="Calibri" pitchFamily="34" charset="-120"/>
              </a:rPr>
              <a:t>① 排期算法同时考虑月台能力、货物特性、供应商到货计划与生产急料优先级，避免"预约满但月台空"；② 插队全程留痕并自动重排后续队列，兼顾生产急需与公平透明；③ 司机端仅需扫码/小程序，无需安装 APP，降低推广阻力；④ 预约与 SRM 送货单、WMS 到货计划打通，减少重复录入。</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智慧物流（四）：入园管理与园内停靠引导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电子手续替代手工登记，园内导航替代"边走边问"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车辆入园管理</a:t>
            </a:r>
            <a:endParaRPr lang="en-US" sz="1250" dirty="0"/>
          </a:p>
        </p:txBody>
      </p:sp>
      <p:sp>
        <p:nvSpPr>
          <p:cNvPr id="7" name="Shape 5"/>
          <p:cNvSpPr/>
          <p:nvPr/>
        </p:nvSpPr>
        <p:spPr>
          <a:xfrm>
            <a:off x="530352" y="1517904"/>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37360"/>
            <a:ext cx="274320" cy="274320"/>
          </a:xfrm>
          <a:prstGeom prst="ellipse">
            <a:avLst/>
          </a:prstGeom>
          <a:solidFill>
            <a:srgbClr val="F97B00"/>
          </a:solidFill>
          <a:ln/>
        </p:spPr>
      </p:sp>
      <p:sp>
        <p:nvSpPr>
          <p:cNvPr id="9" name="Text 7"/>
          <p:cNvSpPr txBox="1"/>
          <p:nvPr/>
        </p:nvSpPr>
        <p:spPr>
          <a:xfrm>
            <a:off x="71323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72768"/>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入园效率提升</a:t>
            </a:r>
            <a:endParaRPr lang="en-US" sz="1150" dirty="0"/>
          </a:p>
        </p:txBody>
      </p:sp>
      <p:sp>
        <p:nvSpPr>
          <p:cNvPr id="11" name="Text 9"/>
          <p:cNvSpPr txBox="1"/>
          <p:nvPr/>
        </p:nvSpPr>
        <p:spPr>
          <a:xfrm>
            <a:off x="1097280" y="1819656"/>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黑白名单管理车辆权限 + 预约机制，实现无感通行；业务保留对司机手机的信息安全拍照贴标环节</a:t>
            </a:r>
            <a:endParaRPr lang="en-US" sz="1000" dirty="0"/>
          </a:p>
        </p:txBody>
      </p:sp>
      <p:sp>
        <p:nvSpPr>
          <p:cNvPr id="12" name="Shape 10"/>
          <p:cNvSpPr/>
          <p:nvPr/>
        </p:nvSpPr>
        <p:spPr>
          <a:xfrm>
            <a:off x="530352" y="2304288"/>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23744"/>
            <a:ext cx="274320" cy="274320"/>
          </a:xfrm>
          <a:prstGeom prst="ellipse">
            <a:avLst/>
          </a:prstGeom>
          <a:solidFill>
            <a:srgbClr val="F97B00"/>
          </a:solidFill>
          <a:ln/>
        </p:spPr>
      </p:sp>
      <p:sp>
        <p:nvSpPr>
          <p:cNvPr id="14" name="Text 12"/>
          <p:cNvSpPr txBox="1"/>
          <p:nvPr/>
        </p:nvSpPr>
        <p:spPr>
          <a:xfrm>
            <a:off x="713232"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359152"/>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电子手续自动化</a:t>
            </a:r>
            <a:endParaRPr lang="en-US" sz="1150" dirty="0"/>
          </a:p>
        </p:txBody>
      </p:sp>
      <p:sp>
        <p:nvSpPr>
          <p:cNvPr id="16" name="Text 14"/>
          <p:cNvSpPr txBox="1"/>
          <p:nvPr/>
        </p:nvSpPr>
        <p:spPr>
          <a:xfrm>
            <a:off x="1097280" y="2606040"/>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系统自动办理电子登记、电子证件审核、电子卸货牌/装货牌发放，彻底消除手工登记流程</a:t>
            </a:r>
            <a:endParaRPr lang="en-US" sz="1000" dirty="0"/>
          </a:p>
        </p:txBody>
      </p:sp>
      <p:sp>
        <p:nvSpPr>
          <p:cNvPr id="17" name="Shape 15"/>
          <p:cNvSpPr/>
          <p:nvPr/>
        </p:nvSpPr>
        <p:spPr>
          <a:xfrm>
            <a:off x="530352" y="3090672"/>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310128"/>
            <a:ext cx="274320" cy="274320"/>
          </a:xfrm>
          <a:prstGeom prst="ellipse">
            <a:avLst/>
          </a:prstGeom>
          <a:solidFill>
            <a:srgbClr val="F97B00"/>
          </a:solidFill>
          <a:ln/>
        </p:spPr>
      </p:sp>
      <p:sp>
        <p:nvSpPr>
          <p:cNvPr id="19" name="Text 17"/>
          <p:cNvSpPr txBox="1"/>
          <p:nvPr/>
        </p:nvSpPr>
        <p:spPr>
          <a:xfrm>
            <a:off x="713232"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145536"/>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入园信息同步</a:t>
            </a:r>
            <a:endParaRPr lang="en-US" sz="1150" dirty="0"/>
          </a:p>
        </p:txBody>
      </p:sp>
      <p:sp>
        <p:nvSpPr>
          <p:cNvPr id="21" name="Text 19"/>
          <p:cNvSpPr txBox="1"/>
          <p:nvPr/>
        </p:nvSpPr>
        <p:spPr>
          <a:xfrm>
            <a:off x="1097280" y="3392424"/>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自动将车辆信息同步至卸货位管理模块及其他方系统，为后续调度提供基础数据</a:t>
            </a:r>
            <a:endParaRPr lang="en-US" sz="100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车辆停靠引导</a:t>
            </a:r>
            <a:endParaRPr lang="en-US" sz="1250" dirty="0"/>
          </a:p>
        </p:txBody>
      </p:sp>
      <p:sp>
        <p:nvSpPr>
          <p:cNvPr id="24" name="Shape 22"/>
          <p:cNvSpPr/>
          <p:nvPr/>
        </p:nvSpPr>
        <p:spPr>
          <a:xfrm>
            <a:off x="6345936" y="1517904"/>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37360"/>
            <a:ext cx="274320" cy="274320"/>
          </a:xfrm>
          <a:prstGeom prst="ellipse">
            <a:avLst/>
          </a:prstGeom>
          <a:solidFill>
            <a:srgbClr val="0E2340"/>
          </a:solidFill>
          <a:ln/>
        </p:spPr>
      </p:sp>
      <p:sp>
        <p:nvSpPr>
          <p:cNvPr id="26" name="Text 24"/>
          <p:cNvSpPr txBox="1"/>
          <p:nvPr/>
        </p:nvSpPr>
        <p:spPr>
          <a:xfrm>
            <a:off x="6528816"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6912864" y="1572768"/>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园内路线引导可视</a:t>
            </a:r>
            <a:endParaRPr lang="en-US" sz="1150" dirty="0"/>
          </a:p>
        </p:txBody>
      </p:sp>
      <p:sp>
        <p:nvSpPr>
          <p:cNvPr id="28" name="Text 26"/>
          <p:cNvSpPr txBox="1"/>
          <p:nvPr/>
        </p:nvSpPr>
        <p:spPr>
          <a:xfrm>
            <a:off x="6912864" y="1819656"/>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车辆入园后提供园内导航指引与最优月台分配</a:t>
            </a:r>
            <a:endParaRPr lang="en-US" sz="1000" dirty="0"/>
          </a:p>
        </p:txBody>
      </p:sp>
      <p:sp>
        <p:nvSpPr>
          <p:cNvPr id="29" name="Shape 27"/>
          <p:cNvSpPr/>
          <p:nvPr/>
        </p:nvSpPr>
        <p:spPr>
          <a:xfrm>
            <a:off x="6345936" y="2304288"/>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2523744"/>
            <a:ext cx="274320" cy="274320"/>
          </a:xfrm>
          <a:prstGeom prst="ellipse">
            <a:avLst/>
          </a:prstGeom>
          <a:solidFill>
            <a:srgbClr val="0E2340"/>
          </a:solidFill>
          <a:ln/>
        </p:spPr>
      </p:sp>
      <p:sp>
        <p:nvSpPr>
          <p:cNvPr id="31" name="Text 29"/>
          <p:cNvSpPr txBox="1"/>
          <p:nvPr/>
        </p:nvSpPr>
        <p:spPr>
          <a:xfrm>
            <a:off x="6528816"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30"/>
          <p:cNvSpPr txBox="1"/>
          <p:nvPr/>
        </p:nvSpPr>
        <p:spPr>
          <a:xfrm>
            <a:off x="6912864" y="2359152"/>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月台指引功能</a:t>
            </a:r>
            <a:endParaRPr lang="en-US" sz="1150" dirty="0"/>
          </a:p>
        </p:txBody>
      </p:sp>
      <p:sp>
        <p:nvSpPr>
          <p:cNvPr id="33" name="Text 31"/>
          <p:cNvSpPr txBox="1"/>
          <p:nvPr/>
        </p:nvSpPr>
        <p:spPr>
          <a:xfrm>
            <a:off x="6912864" y="2606040"/>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车辆通过道闸后系统自动推送最优行驶路线至司机端，引导车辆准确到达指定月台（支持多月台装卸货情形）</a:t>
            </a:r>
            <a:endParaRPr lang="en-US" sz="1000" dirty="0"/>
          </a:p>
        </p:txBody>
      </p:sp>
      <p:sp>
        <p:nvSpPr>
          <p:cNvPr id="34" name="Shape 32"/>
          <p:cNvSpPr/>
          <p:nvPr/>
        </p:nvSpPr>
        <p:spPr>
          <a:xfrm>
            <a:off x="6345936" y="3090672"/>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3310128"/>
            <a:ext cx="274320" cy="274320"/>
          </a:xfrm>
          <a:prstGeom prst="ellipse">
            <a:avLst/>
          </a:prstGeom>
          <a:solidFill>
            <a:srgbClr val="0E2340"/>
          </a:solidFill>
          <a:ln/>
        </p:spPr>
      </p:sp>
      <p:sp>
        <p:nvSpPr>
          <p:cNvPr id="36" name="Text 34"/>
          <p:cNvSpPr txBox="1"/>
          <p:nvPr/>
        </p:nvSpPr>
        <p:spPr>
          <a:xfrm>
            <a:off x="6528816"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Text 35"/>
          <p:cNvSpPr txBox="1"/>
          <p:nvPr/>
        </p:nvSpPr>
        <p:spPr>
          <a:xfrm>
            <a:off x="6912864" y="3145536"/>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智能调度信息发布</a:t>
            </a:r>
            <a:endParaRPr lang="en-US" sz="1150" dirty="0"/>
          </a:p>
        </p:txBody>
      </p:sp>
      <p:sp>
        <p:nvSpPr>
          <p:cNvPr id="38" name="Text 36"/>
          <p:cNvSpPr txBox="1"/>
          <p:nvPr/>
        </p:nvSpPr>
        <p:spPr>
          <a:xfrm>
            <a:off x="6912864" y="3392424"/>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自动推送卸货位/装货位状态、车辆调度信息至司机端</a:t>
            </a:r>
            <a:endParaRPr lang="en-US" sz="1000" dirty="0"/>
          </a:p>
        </p:txBody>
      </p:sp>
      <p:sp>
        <p:nvSpPr>
          <p:cNvPr id="39" name="Shape 37"/>
          <p:cNvSpPr/>
          <p:nvPr/>
        </p:nvSpPr>
        <p:spPr>
          <a:xfrm>
            <a:off x="530352" y="3982212"/>
            <a:ext cx="68580" cy="173736"/>
          </a:xfrm>
          <a:prstGeom prst="rect">
            <a:avLst/>
          </a:prstGeom>
          <a:solidFill>
            <a:srgbClr val="F97B00"/>
          </a:solidFill>
          <a:ln/>
        </p:spPr>
      </p:sp>
      <p:sp>
        <p:nvSpPr>
          <p:cNvPr id="40" name="Text 38"/>
          <p:cNvSpPr txBox="1"/>
          <p:nvPr/>
        </p:nvSpPr>
        <p:spPr>
          <a:xfrm>
            <a:off x="685800" y="39319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与既有系统的联动点（均经 ESB 集成）</a:t>
            </a:r>
            <a:endParaRPr lang="en-US" sz="1250" dirty="0"/>
          </a:p>
        </p:txBody>
      </p:sp>
      <p:sp>
        <p:nvSpPr>
          <p:cNvPr id="41" name="Shape 39"/>
          <p:cNvSpPr/>
          <p:nvPr/>
        </p:nvSpPr>
        <p:spPr>
          <a:xfrm>
            <a:off x="530352" y="4242816"/>
            <a:ext cx="3588410" cy="768096"/>
          </a:xfrm>
          <a:prstGeom prst="roundRect">
            <a:avLst>
              <a:gd name="adj" fmla="val 4167"/>
            </a:avLst>
          </a:prstGeom>
          <a:solidFill>
            <a:srgbClr val="FFF7EF"/>
          </a:solidFill>
          <a:ln w="9525">
            <a:solidFill>
              <a:srgbClr val="F6DCC2"/>
            </a:solidFill>
            <a:prstDash val="solid"/>
          </a:ln>
        </p:spPr>
      </p:sp>
      <p:sp>
        <p:nvSpPr>
          <p:cNvPr id="42" name="Text 40"/>
          <p:cNvSpPr txBox="1"/>
          <p:nvPr/>
        </p:nvSpPr>
        <p:spPr>
          <a:xfrm>
            <a:off x="71323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道闸系统（红门）</a:t>
            </a:r>
            <a:endParaRPr lang="en-US" sz="1100" dirty="0"/>
          </a:p>
        </p:txBody>
      </p:sp>
      <p:sp>
        <p:nvSpPr>
          <p:cNvPr id="43" name="Text 41"/>
          <p:cNvSpPr txBox="1"/>
          <p:nvPr/>
        </p:nvSpPr>
        <p:spPr>
          <a:xfrm>
            <a:off x="713232"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车牌识别结果与预约记录核验，放行指令下发</a:t>
            </a:r>
            <a:endParaRPr lang="en-US" sz="1000" dirty="0"/>
          </a:p>
        </p:txBody>
      </p:sp>
      <p:sp>
        <p:nvSpPr>
          <p:cNvPr id="44" name="Shape 42"/>
          <p:cNvSpPr/>
          <p:nvPr/>
        </p:nvSpPr>
        <p:spPr>
          <a:xfrm>
            <a:off x="4301642" y="4242816"/>
            <a:ext cx="3588410" cy="768096"/>
          </a:xfrm>
          <a:prstGeom prst="roundRect">
            <a:avLst>
              <a:gd name="adj" fmla="val 4167"/>
            </a:avLst>
          </a:prstGeom>
          <a:solidFill>
            <a:srgbClr val="FFF7EF"/>
          </a:solidFill>
          <a:ln w="9525">
            <a:solidFill>
              <a:srgbClr val="F6DCC2"/>
            </a:solidFill>
            <a:prstDash val="solid"/>
          </a:ln>
        </p:spPr>
      </p:sp>
      <p:sp>
        <p:nvSpPr>
          <p:cNvPr id="45" name="Text 43"/>
          <p:cNvSpPr txBox="1"/>
          <p:nvPr/>
        </p:nvSpPr>
        <p:spPr>
          <a:xfrm>
            <a:off x="448452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达实门禁一卡通</a:t>
            </a:r>
            <a:endParaRPr lang="en-US" sz="1100" dirty="0"/>
          </a:p>
        </p:txBody>
      </p:sp>
      <p:sp>
        <p:nvSpPr>
          <p:cNvPr id="46" name="Text 44"/>
          <p:cNvSpPr txBox="1"/>
          <p:nvPr/>
        </p:nvSpPr>
        <p:spPr>
          <a:xfrm>
            <a:off x="4484522"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司机临时权限发放与到期自动失效</a:t>
            </a:r>
            <a:endParaRPr lang="en-US" sz="1000" dirty="0"/>
          </a:p>
        </p:txBody>
      </p:sp>
      <p:sp>
        <p:nvSpPr>
          <p:cNvPr id="47" name="Shape 45"/>
          <p:cNvSpPr/>
          <p:nvPr/>
        </p:nvSpPr>
        <p:spPr>
          <a:xfrm>
            <a:off x="8072933" y="4242816"/>
            <a:ext cx="3588410" cy="768096"/>
          </a:xfrm>
          <a:prstGeom prst="roundRect">
            <a:avLst>
              <a:gd name="adj" fmla="val 4167"/>
            </a:avLst>
          </a:prstGeom>
          <a:solidFill>
            <a:srgbClr val="FFF7EF"/>
          </a:solidFill>
          <a:ln w="9525">
            <a:solidFill>
              <a:srgbClr val="F6DCC2"/>
            </a:solidFill>
            <a:prstDash val="solid"/>
          </a:ln>
        </p:spPr>
      </p:sp>
      <p:sp>
        <p:nvSpPr>
          <p:cNvPr id="48" name="Text 46"/>
          <p:cNvSpPr txBox="1"/>
          <p:nvPr/>
        </p:nvSpPr>
        <p:spPr>
          <a:xfrm>
            <a:off x="8255813"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SRM / WMS</a:t>
            </a:r>
            <a:endParaRPr lang="en-US" sz="1100" dirty="0"/>
          </a:p>
        </p:txBody>
      </p:sp>
      <p:sp>
        <p:nvSpPr>
          <p:cNvPr id="49" name="Text 47"/>
          <p:cNvSpPr txBox="1"/>
          <p:nvPr/>
        </p:nvSpPr>
        <p:spPr>
          <a:xfrm>
            <a:off x="8255813"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到货单、送货单、到货计划关联与在途物料状态回写</a:t>
            </a:r>
            <a:endParaRPr lang="en-US" sz="1000" dirty="0"/>
          </a:p>
        </p:txBody>
      </p:sp>
      <p:sp>
        <p:nvSpPr>
          <p:cNvPr id="50" name="Shape 48"/>
          <p:cNvSpPr/>
          <p:nvPr/>
        </p:nvSpPr>
        <p:spPr>
          <a:xfrm>
            <a:off x="530352" y="5102352"/>
            <a:ext cx="3588410" cy="768096"/>
          </a:xfrm>
          <a:prstGeom prst="roundRect">
            <a:avLst>
              <a:gd name="adj" fmla="val 4167"/>
            </a:avLst>
          </a:prstGeom>
          <a:solidFill>
            <a:srgbClr val="FFF7EF"/>
          </a:solidFill>
          <a:ln w="9525">
            <a:solidFill>
              <a:srgbClr val="F6DCC2"/>
            </a:solidFill>
            <a:prstDash val="solid"/>
          </a:ln>
        </p:spPr>
      </p:sp>
      <p:sp>
        <p:nvSpPr>
          <p:cNvPr id="51" name="Text 49"/>
          <p:cNvSpPr txBox="1"/>
          <p:nvPr/>
        </p:nvSpPr>
        <p:spPr>
          <a:xfrm>
            <a:off x="71323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视频监控平台</a:t>
            </a:r>
            <a:endParaRPr lang="en-US" sz="1100" dirty="0"/>
          </a:p>
        </p:txBody>
      </p:sp>
      <p:sp>
        <p:nvSpPr>
          <p:cNvPr id="52" name="Text 50"/>
          <p:cNvSpPr txBox="1"/>
          <p:nvPr/>
        </p:nvSpPr>
        <p:spPr>
          <a:xfrm>
            <a:off x="713232"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入园抓拍、贴标环节留证、异常调阅</a:t>
            </a:r>
            <a:endParaRPr lang="en-US" sz="1000" dirty="0"/>
          </a:p>
        </p:txBody>
      </p:sp>
      <p:sp>
        <p:nvSpPr>
          <p:cNvPr id="53" name="Shape 51"/>
          <p:cNvSpPr/>
          <p:nvPr/>
        </p:nvSpPr>
        <p:spPr>
          <a:xfrm>
            <a:off x="4301642" y="5102352"/>
            <a:ext cx="3588410" cy="768096"/>
          </a:xfrm>
          <a:prstGeom prst="roundRect">
            <a:avLst>
              <a:gd name="adj" fmla="val 4167"/>
            </a:avLst>
          </a:prstGeom>
          <a:solidFill>
            <a:srgbClr val="FFF7EF"/>
          </a:solidFill>
          <a:ln w="9525">
            <a:solidFill>
              <a:srgbClr val="F6DCC2"/>
            </a:solidFill>
            <a:prstDash val="solid"/>
          </a:ln>
        </p:spPr>
      </p:sp>
      <p:sp>
        <p:nvSpPr>
          <p:cNvPr id="54" name="Text 52"/>
          <p:cNvSpPr txBox="1"/>
          <p:nvPr/>
        </p:nvSpPr>
        <p:spPr>
          <a:xfrm>
            <a:off x="448452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EPO 电子出门条</a:t>
            </a:r>
            <a:endParaRPr lang="en-US" sz="1100" dirty="0"/>
          </a:p>
        </p:txBody>
      </p:sp>
      <p:sp>
        <p:nvSpPr>
          <p:cNvPr id="55" name="Text 53"/>
          <p:cNvSpPr txBox="1"/>
          <p:nvPr/>
        </p:nvSpPr>
        <p:spPr>
          <a:xfrm>
            <a:off x="4484522"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出园环节自动联动，保留车辆检查流程</a:t>
            </a:r>
            <a:endParaRPr lang="en-US" sz="1000" dirty="0"/>
          </a:p>
        </p:txBody>
      </p:sp>
      <p:sp>
        <p:nvSpPr>
          <p:cNvPr id="56" name="Shape 54"/>
          <p:cNvSpPr/>
          <p:nvPr/>
        </p:nvSpPr>
        <p:spPr>
          <a:xfrm>
            <a:off x="8072933" y="5102352"/>
            <a:ext cx="3588410" cy="768096"/>
          </a:xfrm>
          <a:prstGeom prst="roundRect">
            <a:avLst>
              <a:gd name="adj" fmla="val 4167"/>
            </a:avLst>
          </a:prstGeom>
          <a:solidFill>
            <a:srgbClr val="FFF7EF"/>
          </a:solidFill>
          <a:ln w="9525">
            <a:solidFill>
              <a:srgbClr val="F6DCC2"/>
            </a:solidFill>
            <a:prstDash val="solid"/>
          </a:ln>
        </p:spPr>
      </p:sp>
      <p:sp>
        <p:nvSpPr>
          <p:cNvPr id="57" name="Text 55"/>
          <p:cNvSpPr txBox="1"/>
          <p:nvPr/>
        </p:nvSpPr>
        <p:spPr>
          <a:xfrm>
            <a:off x="8255813"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TMS / 车辆管理</a:t>
            </a:r>
            <a:endParaRPr lang="en-US" sz="1100" dirty="0"/>
          </a:p>
        </p:txBody>
      </p:sp>
      <p:sp>
        <p:nvSpPr>
          <p:cNvPr id="58" name="Text 56"/>
          <p:cNvSpPr txBox="1"/>
          <p:nvPr/>
        </p:nvSpPr>
        <p:spPr>
          <a:xfrm>
            <a:off x="8255813"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外部运力车辆与自有车辆资源统一视图</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智慧物流（五）：月台可视化管理与效率分析</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让卸货位从"黑盒"变成"仪表盘"：状态实时、超时告警、效率可算</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月台可视化管理六大能力</a:t>
            </a:r>
            <a:endParaRPr lang="en-US" sz="1250" dirty="0"/>
          </a:p>
        </p:txBody>
      </p:sp>
      <p:sp>
        <p:nvSpPr>
          <p:cNvPr id="7" name="Shape 5"/>
          <p:cNvSpPr/>
          <p:nvPr/>
        </p:nvSpPr>
        <p:spPr>
          <a:xfrm>
            <a:off x="530352" y="1536192"/>
            <a:ext cx="557784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58368" y="153619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987552" y="156362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卸货位状态实时监控</a:t>
            </a:r>
            <a:endParaRPr lang="en-US" sz="1020" dirty="0"/>
          </a:p>
        </p:txBody>
      </p:sp>
      <p:sp>
        <p:nvSpPr>
          <p:cNvPr id="10" name="Text 8"/>
          <p:cNvSpPr txBox="1"/>
          <p:nvPr/>
        </p:nvSpPr>
        <p:spPr>
          <a:xfrm>
            <a:off x="2743200" y="1554480"/>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实时显示各卸货位空满状态、占用时长、使用效率</a:t>
            </a:r>
            <a:endParaRPr lang="en-US" sz="1000" dirty="0"/>
          </a:p>
        </p:txBody>
      </p:sp>
      <p:sp>
        <p:nvSpPr>
          <p:cNvPr id="11" name="Shape 9"/>
          <p:cNvSpPr/>
          <p:nvPr/>
        </p:nvSpPr>
        <p:spPr>
          <a:xfrm>
            <a:off x="530352" y="2139696"/>
            <a:ext cx="5577840" cy="530352"/>
          </a:xfrm>
          <a:prstGeom prst="roundRect">
            <a:avLst>
              <a:gd name="adj" fmla="val 6034"/>
            </a:avLst>
          </a:prstGeom>
          <a:solidFill>
            <a:srgbClr val="FFFFFF"/>
          </a:solidFill>
          <a:ln w="9525">
            <a:solidFill>
              <a:srgbClr val="E3E7EB"/>
            </a:solidFill>
            <a:prstDash val="solid"/>
          </a:ln>
        </p:spPr>
      </p:sp>
      <p:sp>
        <p:nvSpPr>
          <p:cNvPr id="12" name="Text 10"/>
          <p:cNvSpPr txBox="1"/>
          <p:nvPr/>
        </p:nvSpPr>
        <p:spPr>
          <a:xfrm>
            <a:off x="658368" y="2139696"/>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987552" y="2167128"/>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月台空满警告</a:t>
            </a:r>
            <a:endParaRPr lang="en-US" sz="1020" dirty="0"/>
          </a:p>
        </p:txBody>
      </p:sp>
      <p:sp>
        <p:nvSpPr>
          <p:cNvPr id="14" name="Text 12"/>
          <p:cNvSpPr txBox="1"/>
          <p:nvPr/>
        </p:nvSpPr>
        <p:spPr>
          <a:xfrm>
            <a:off x="2743200" y="2157984"/>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长时间被占用（超设定阈值）或异常占用时，自动向调度、仓储管理人员推送警告，支持人工介入</a:t>
            </a:r>
            <a:endParaRPr lang="en-US" sz="1000" dirty="0"/>
          </a:p>
        </p:txBody>
      </p:sp>
      <p:sp>
        <p:nvSpPr>
          <p:cNvPr id="15" name="Shape 13"/>
          <p:cNvSpPr/>
          <p:nvPr/>
        </p:nvSpPr>
        <p:spPr>
          <a:xfrm>
            <a:off x="530352" y="2743200"/>
            <a:ext cx="5577840" cy="530352"/>
          </a:xfrm>
          <a:prstGeom prst="roundRect">
            <a:avLst>
              <a:gd name="adj" fmla="val 6034"/>
            </a:avLst>
          </a:prstGeom>
          <a:solidFill>
            <a:srgbClr val="F6F8FA"/>
          </a:solidFill>
          <a:ln w="9525">
            <a:solidFill>
              <a:srgbClr val="E3E7EB"/>
            </a:solidFill>
            <a:prstDash val="solid"/>
          </a:ln>
        </p:spPr>
      </p:sp>
      <p:sp>
        <p:nvSpPr>
          <p:cNvPr id="16" name="Text 14"/>
          <p:cNvSpPr txBox="1"/>
          <p:nvPr/>
        </p:nvSpPr>
        <p:spPr>
          <a:xfrm>
            <a:off x="658368" y="2743200"/>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987552" y="2770632"/>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智能分配与预锁定</a:t>
            </a:r>
            <a:endParaRPr lang="en-US" sz="1020" dirty="0"/>
          </a:p>
        </p:txBody>
      </p:sp>
      <p:sp>
        <p:nvSpPr>
          <p:cNvPr id="18" name="Text 16"/>
          <p:cNvSpPr txBox="1"/>
          <p:nvPr/>
        </p:nvSpPr>
        <p:spPr>
          <a:xfrm>
            <a:off x="2743200" y="2761488"/>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根据车辆类型、货物特性自动分配卸货位，支持预分配/锁定</a:t>
            </a:r>
            <a:endParaRPr lang="en-US" sz="1000" dirty="0"/>
          </a:p>
        </p:txBody>
      </p:sp>
      <p:sp>
        <p:nvSpPr>
          <p:cNvPr id="19" name="Shape 17"/>
          <p:cNvSpPr/>
          <p:nvPr/>
        </p:nvSpPr>
        <p:spPr>
          <a:xfrm>
            <a:off x="530352" y="3346704"/>
            <a:ext cx="5577840" cy="530352"/>
          </a:xfrm>
          <a:prstGeom prst="roundRect">
            <a:avLst>
              <a:gd name="adj" fmla="val 6034"/>
            </a:avLst>
          </a:prstGeom>
          <a:solidFill>
            <a:srgbClr val="FFFFFF"/>
          </a:solidFill>
          <a:ln w="9525">
            <a:solidFill>
              <a:srgbClr val="E3E7EB"/>
            </a:solidFill>
            <a:prstDash val="solid"/>
          </a:ln>
        </p:spPr>
      </p:sp>
      <p:sp>
        <p:nvSpPr>
          <p:cNvPr id="20" name="Text 18"/>
          <p:cNvSpPr txBox="1"/>
          <p:nvPr/>
        </p:nvSpPr>
        <p:spPr>
          <a:xfrm>
            <a:off x="658368" y="3346704"/>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87552" y="3374136"/>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物料在途信息跟踪</a:t>
            </a:r>
            <a:endParaRPr lang="en-US" sz="1020" dirty="0"/>
          </a:p>
        </p:txBody>
      </p:sp>
      <p:sp>
        <p:nvSpPr>
          <p:cNvPr id="22" name="Text 20"/>
          <p:cNvSpPr txBox="1"/>
          <p:nvPr/>
        </p:nvSpPr>
        <p:spPr>
          <a:xfrm>
            <a:off x="2743200" y="3364992"/>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 SRM 送货单，实时获取车内物料类型、数量、状态</a:t>
            </a:r>
            <a:endParaRPr lang="en-US" sz="1000" dirty="0"/>
          </a:p>
        </p:txBody>
      </p:sp>
      <p:sp>
        <p:nvSpPr>
          <p:cNvPr id="23" name="Shape 21"/>
          <p:cNvSpPr/>
          <p:nvPr/>
        </p:nvSpPr>
        <p:spPr>
          <a:xfrm>
            <a:off x="530352" y="3950208"/>
            <a:ext cx="5577840" cy="530352"/>
          </a:xfrm>
          <a:prstGeom prst="roundRect">
            <a:avLst>
              <a:gd name="adj" fmla="val 6034"/>
            </a:avLst>
          </a:prstGeom>
          <a:solidFill>
            <a:srgbClr val="F6F8FA"/>
          </a:solidFill>
          <a:ln w="9525">
            <a:solidFill>
              <a:srgbClr val="E3E7EB"/>
            </a:solidFill>
            <a:prstDash val="solid"/>
          </a:ln>
        </p:spPr>
      </p:sp>
      <p:sp>
        <p:nvSpPr>
          <p:cNvPr id="24" name="Text 22"/>
          <p:cNvSpPr txBox="1"/>
          <p:nvPr/>
        </p:nvSpPr>
        <p:spPr>
          <a:xfrm>
            <a:off x="658368" y="3950208"/>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5</a:t>
            </a:r>
            <a:endParaRPr lang="en-US" sz="1500" dirty="0"/>
          </a:p>
        </p:txBody>
      </p:sp>
      <p:sp>
        <p:nvSpPr>
          <p:cNvPr id="25" name="Text 23"/>
          <p:cNvSpPr txBox="1"/>
          <p:nvPr/>
        </p:nvSpPr>
        <p:spPr>
          <a:xfrm>
            <a:off x="987552" y="3977640"/>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发货单关联</a:t>
            </a:r>
            <a:endParaRPr lang="en-US" sz="1020" dirty="0"/>
          </a:p>
        </p:txBody>
      </p:sp>
      <p:sp>
        <p:nvSpPr>
          <p:cNvPr id="26" name="Text 24"/>
          <p:cNvSpPr txBox="1"/>
          <p:nvPr/>
        </p:nvSpPr>
        <p:spPr>
          <a:xfrm>
            <a:off x="2743200" y="3968496"/>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关联发货订单，实时获取待装货物信息，支持装车作业有序调度</a:t>
            </a:r>
            <a:endParaRPr lang="en-US" sz="1000" dirty="0"/>
          </a:p>
        </p:txBody>
      </p:sp>
      <p:sp>
        <p:nvSpPr>
          <p:cNvPr id="27" name="Shape 25"/>
          <p:cNvSpPr/>
          <p:nvPr/>
        </p:nvSpPr>
        <p:spPr>
          <a:xfrm>
            <a:off x="530352" y="4553712"/>
            <a:ext cx="5577840" cy="530352"/>
          </a:xfrm>
          <a:prstGeom prst="roundRect">
            <a:avLst>
              <a:gd name="adj" fmla="val 6034"/>
            </a:avLst>
          </a:prstGeom>
          <a:solidFill>
            <a:srgbClr val="FFFFFF"/>
          </a:solidFill>
          <a:ln w="9525">
            <a:solidFill>
              <a:srgbClr val="E3E7EB"/>
            </a:solidFill>
            <a:prstDash val="solid"/>
          </a:ln>
        </p:spPr>
      </p:sp>
      <p:sp>
        <p:nvSpPr>
          <p:cNvPr id="28" name="Text 26"/>
          <p:cNvSpPr txBox="1"/>
          <p:nvPr/>
        </p:nvSpPr>
        <p:spPr>
          <a:xfrm>
            <a:off x="658368" y="455371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6</a:t>
            </a:r>
            <a:endParaRPr lang="en-US" sz="1500" dirty="0"/>
          </a:p>
        </p:txBody>
      </p:sp>
      <p:sp>
        <p:nvSpPr>
          <p:cNvPr id="29" name="Text 27"/>
          <p:cNvSpPr txBox="1"/>
          <p:nvPr/>
        </p:nvSpPr>
        <p:spPr>
          <a:xfrm>
            <a:off x="987552" y="458114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月台效率分析</a:t>
            </a:r>
            <a:endParaRPr lang="en-US" sz="1020" dirty="0"/>
          </a:p>
        </p:txBody>
      </p:sp>
      <p:sp>
        <p:nvSpPr>
          <p:cNvPr id="30" name="Text 28"/>
          <p:cNvSpPr txBox="1"/>
          <p:nvPr/>
        </p:nvSpPr>
        <p:spPr>
          <a:xfrm>
            <a:off x="2743200" y="4572000"/>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自动生成卸货位使用率、作业时长等数据，为装卸效率优化提供依据</a:t>
            </a:r>
            <a:endParaRPr lang="en-US" sz="1000" dirty="0"/>
          </a:p>
        </p:txBody>
      </p:sp>
      <p:sp>
        <p:nvSpPr>
          <p:cNvPr id="31" name="Shape 29"/>
          <p:cNvSpPr/>
          <p:nvPr/>
        </p:nvSpPr>
        <p:spPr>
          <a:xfrm>
            <a:off x="6345936" y="1257300"/>
            <a:ext cx="68580" cy="173736"/>
          </a:xfrm>
          <a:prstGeom prst="rect">
            <a:avLst/>
          </a:prstGeom>
          <a:solidFill>
            <a:srgbClr val="F97B00"/>
          </a:solidFill>
          <a:ln/>
        </p:spPr>
      </p:sp>
      <p:sp>
        <p:nvSpPr>
          <p:cNvPr id="32" name="Text 30"/>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月台波峰波谷分析（示意）</a:t>
            </a:r>
            <a:endParaRPr lang="en-US" sz="1250" dirty="0"/>
          </a:p>
        </p:txBody>
      </p:sp>
      <p:graphicFrame>
        <p:nvGraphicFramePr>
          <p:cNvPr id="33" name="Chart 0" descr=""/>
          <p:cNvGraphicFramePr/>
          <p:nvPr/>
        </p:nvGraphicFramePr>
        <p:xfrm>
          <a:off x="6345936" y="1536192"/>
          <a:ext cx="5315407" cy="2121408"/>
        </p:xfrm>
        <a:graphic xmlns:a="http://schemas.openxmlformats.org/drawingml/2006/main">
          <a:graphicData uri="http://schemas.openxmlformats.org/drawingml/2006/chart">
            <c:chart xmlns:c="http://schemas.openxmlformats.org/drawingml/2006/chart" r:id="rId1"/>
          </a:graphicData>
        </a:graphic>
      </p:graphicFrame>
      <p:sp>
        <p:nvSpPr>
          <p:cNvPr id="34" name="Shape 31"/>
          <p:cNvSpPr/>
          <p:nvPr/>
        </p:nvSpPr>
        <p:spPr>
          <a:xfrm>
            <a:off x="6345936" y="3785616"/>
            <a:ext cx="5315407" cy="1463040"/>
          </a:xfrm>
          <a:prstGeom prst="roundRect">
            <a:avLst>
              <a:gd name="adj" fmla="val 2188"/>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Text 32"/>
          <p:cNvSpPr txBox="1"/>
          <p:nvPr/>
        </p:nvSpPr>
        <p:spPr>
          <a:xfrm>
            <a:off x="6565392" y="3913632"/>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数据如何变成管理动作</a:t>
            </a:r>
            <a:endParaRPr lang="en-US" sz="1150" dirty="0"/>
          </a:p>
        </p:txBody>
      </p:sp>
      <p:sp>
        <p:nvSpPr>
          <p:cNvPr id="36" name="Text 33"/>
          <p:cNvSpPr txBox="1"/>
          <p:nvPr/>
        </p:nvSpPr>
        <p:spPr>
          <a:xfrm>
            <a:off x="6565392" y="4187952"/>
            <a:ext cx="4858207" cy="1005840"/>
          </a:xfrm>
          <a:prstGeom prst="rect">
            <a:avLst/>
          </a:prstGeom>
          <a:noFill/>
          <a:ln/>
        </p:spPr>
        <p:txBody>
          <a:bodyPr wrap="square" lIns="0" tIns="0" rIns="0" bIns="0" rtlCol="0" anchor="ctr"/>
          <a:lstStyle/>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识别 8-12 时、14-18 时两个波峰，向供应商开放的预约时段做差异化配额</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低谷时段预约给予优先叫号权益，引导来货时间前移/后移</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按月台、按供应商输出作业时长排名，锁定异常长时占用责任方</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结合波峰数据评估月台扩建或改造投入的必要性</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智慧物流（六）：出园管理、违规闭环与评价反馈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出园不是流程终点，而是数据归档与服务改进的起点</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车辆出园管理</a:t>
            </a:r>
            <a:endParaRPr lang="en-US" sz="1250" dirty="0"/>
          </a:p>
        </p:txBody>
      </p:sp>
      <p:sp>
        <p:nvSpPr>
          <p:cNvPr id="7" name="Shape 5"/>
          <p:cNvSpPr/>
          <p:nvPr/>
        </p:nvSpPr>
        <p:spPr>
          <a:xfrm>
            <a:off x="530352" y="1536192"/>
            <a:ext cx="5577840" cy="548640"/>
          </a:xfrm>
          <a:prstGeom prst="roundRect">
            <a:avLst>
              <a:gd name="adj" fmla="val 5833"/>
            </a:avLst>
          </a:prstGeom>
          <a:solidFill>
            <a:srgbClr val="F6F8FA"/>
          </a:solidFill>
          <a:ln w="9525">
            <a:solidFill>
              <a:srgbClr val="E3E7EB"/>
            </a:solidFill>
            <a:prstDash val="solid"/>
          </a:ln>
        </p:spPr>
      </p:sp>
      <p:sp>
        <p:nvSpPr>
          <p:cNvPr id="8" name="Text 6"/>
          <p:cNvSpPr txBox="1"/>
          <p:nvPr/>
        </p:nvSpPr>
        <p:spPr>
          <a:xfrm>
            <a:off x="713232" y="155448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出园检查</a:t>
            </a:r>
            <a:endParaRPr lang="en-US" sz="1050" dirty="0"/>
          </a:p>
        </p:txBody>
      </p:sp>
      <p:sp>
        <p:nvSpPr>
          <p:cNvPr id="9" name="Text 7"/>
          <p:cNvSpPr txBox="1"/>
          <p:nvPr/>
        </p:nvSpPr>
        <p:spPr>
          <a:xfrm>
            <a:off x="2596896" y="155448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仓库端检查拍照，门岗处复核</a:t>
            </a:r>
            <a:endParaRPr lang="en-US" sz="1000" dirty="0"/>
          </a:p>
        </p:txBody>
      </p:sp>
      <p:sp>
        <p:nvSpPr>
          <p:cNvPr id="10" name="Shape 8"/>
          <p:cNvSpPr/>
          <p:nvPr/>
        </p:nvSpPr>
        <p:spPr>
          <a:xfrm>
            <a:off x="530352" y="2176272"/>
            <a:ext cx="5577840" cy="548640"/>
          </a:xfrm>
          <a:prstGeom prst="roundRect">
            <a:avLst>
              <a:gd name="adj" fmla="val 5833"/>
            </a:avLst>
          </a:prstGeom>
          <a:solidFill>
            <a:srgbClr val="FFFFFF"/>
          </a:solidFill>
          <a:ln w="9525">
            <a:solidFill>
              <a:srgbClr val="E3E7EB"/>
            </a:solidFill>
            <a:prstDash val="solid"/>
          </a:ln>
        </p:spPr>
      </p:sp>
      <p:sp>
        <p:nvSpPr>
          <p:cNvPr id="11" name="Text 9"/>
          <p:cNvSpPr txBox="1"/>
          <p:nvPr/>
        </p:nvSpPr>
        <p:spPr>
          <a:xfrm>
            <a:off x="713232" y="219456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电子出门条联动</a:t>
            </a:r>
            <a:endParaRPr lang="en-US" sz="1050" dirty="0"/>
          </a:p>
        </p:txBody>
      </p:sp>
      <p:sp>
        <p:nvSpPr>
          <p:cNvPr id="12" name="Text 10"/>
          <p:cNvSpPr txBox="1"/>
          <p:nvPr/>
        </p:nvSpPr>
        <p:spPr>
          <a:xfrm>
            <a:off x="2596896" y="219456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依托电子出门条自动联动 EPO 系统，业务上保留车辆检查流程</a:t>
            </a:r>
            <a:endParaRPr lang="en-US" sz="1000" dirty="0"/>
          </a:p>
        </p:txBody>
      </p:sp>
      <p:sp>
        <p:nvSpPr>
          <p:cNvPr id="13" name="Shape 11"/>
          <p:cNvSpPr/>
          <p:nvPr/>
        </p:nvSpPr>
        <p:spPr>
          <a:xfrm>
            <a:off x="530352" y="2816352"/>
            <a:ext cx="5577840" cy="548640"/>
          </a:xfrm>
          <a:prstGeom prst="roundRect">
            <a:avLst>
              <a:gd name="adj" fmla="val 5833"/>
            </a:avLst>
          </a:prstGeom>
          <a:solidFill>
            <a:srgbClr val="F6F8FA"/>
          </a:solidFill>
          <a:ln w="9525">
            <a:solidFill>
              <a:srgbClr val="E3E7EB"/>
            </a:solidFill>
            <a:prstDash val="solid"/>
          </a:ln>
        </p:spPr>
      </p:sp>
      <p:sp>
        <p:nvSpPr>
          <p:cNvPr id="14" name="Text 12"/>
          <p:cNvSpPr txBox="1"/>
          <p:nvPr/>
        </p:nvSpPr>
        <p:spPr>
          <a:xfrm>
            <a:off x="713232" y="283464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违规记录闭环管理</a:t>
            </a:r>
            <a:endParaRPr lang="en-US" sz="1050" dirty="0"/>
          </a:p>
        </p:txBody>
      </p:sp>
      <p:sp>
        <p:nvSpPr>
          <p:cNvPr id="15" name="Text 13"/>
          <p:cNvSpPr txBox="1"/>
          <p:nvPr/>
        </p:nvSpPr>
        <p:spPr>
          <a:xfrm>
            <a:off x="2596896" y="283464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违规记录生成 → 推送司机/供应商 → 限期整改 → 未整改纳入黑名单 → 黑名单限制预约</a:t>
            </a:r>
            <a:endParaRPr lang="en-US" sz="1000" dirty="0"/>
          </a:p>
        </p:txBody>
      </p:sp>
      <p:sp>
        <p:nvSpPr>
          <p:cNvPr id="16" name="Shape 14"/>
          <p:cNvSpPr/>
          <p:nvPr/>
        </p:nvSpPr>
        <p:spPr>
          <a:xfrm>
            <a:off x="530352" y="3456432"/>
            <a:ext cx="5577840" cy="548640"/>
          </a:xfrm>
          <a:prstGeom prst="roundRect">
            <a:avLst>
              <a:gd name="adj" fmla="val 5833"/>
            </a:avLst>
          </a:prstGeom>
          <a:solidFill>
            <a:srgbClr val="FFFFFF"/>
          </a:solidFill>
          <a:ln w="9525">
            <a:solidFill>
              <a:srgbClr val="E3E7EB"/>
            </a:solidFill>
            <a:prstDash val="solid"/>
          </a:ln>
        </p:spPr>
      </p:sp>
      <p:sp>
        <p:nvSpPr>
          <p:cNvPr id="17" name="Text 15"/>
          <p:cNvSpPr txBox="1"/>
          <p:nvPr/>
        </p:nvSpPr>
        <p:spPr>
          <a:xfrm>
            <a:off x="713232" y="347472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出园信息自动推送</a:t>
            </a:r>
            <a:endParaRPr lang="en-US" sz="1050" dirty="0"/>
          </a:p>
        </p:txBody>
      </p:sp>
      <p:sp>
        <p:nvSpPr>
          <p:cNvPr id="18" name="Text 16"/>
          <p:cNvSpPr txBox="1"/>
          <p:nvPr/>
        </p:nvSpPr>
        <p:spPr>
          <a:xfrm>
            <a:off x="2596896" y="347472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自动推送车辆出园信息至调度系统、其他系统及园区管理人员</a:t>
            </a:r>
            <a:endParaRPr lang="en-US" sz="1000" dirty="0"/>
          </a:p>
        </p:txBody>
      </p:sp>
      <p:sp>
        <p:nvSpPr>
          <p:cNvPr id="19" name="Shape 17"/>
          <p:cNvSpPr/>
          <p:nvPr/>
        </p:nvSpPr>
        <p:spPr>
          <a:xfrm>
            <a:off x="530352" y="4096512"/>
            <a:ext cx="5577840" cy="548640"/>
          </a:xfrm>
          <a:prstGeom prst="roundRect">
            <a:avLst>
              <a:gd name="adj" fmla="val 5833"/>
            </a:avLst>
          </a:prstGeom>
          <a:solidFill>
            <a:srgbClr val="F6F8FA"/>
          </a:solidFill>
          <a:ln w="9525">
            <a:solidFill>
              <a:srgbClr val="E3E7EB"/>
            </a:solidFill>
            <a:prstDash val="solid"/>
          </a:ln>
        </p:spPr>
      </p:sp>
      <p:sp>
        <p:nvSpPr>
          <p:cNvPr id="20" name="Text 18"/>
          <p:cNvSpPr txBox="1"/>
          <p:nvPr/>
        </p:nvSpPr>
        <p:spPr>
          <a:xfrm>
            <a:off x="713232" y="411480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物流数据自动归档</a:t>
            </a:r>
            <a:endParaRPr lang="en-US" sz="1050" dirty="0"/>
          </a:p>
        </p:txBody>
      </p:sp>
      <p:sp>
        <p:nvSpPr>
          <p:cNvPr id="21" name="Text 19"/>
          <p:cNvSpPr txBox="1"/>
          <p:nvPr/>
        </p:nvSpPr>
        <p:spPr>
          <a:xfrm>
            <a:off x="2596896" y="411480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出园后自动归档车辆入园、停靠、卸货全流程数据，形成可分析资产</a:t>
            </a:r>
            <a:endParaRPr lang="en-US" sz="100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评价反馈</a:t>
            </a:r>
            <a:endParaRPr lang="en-US" sz="1250" dirty="0"/>
          </a:p>
        </p:txBody>
      </p:sp>
      <p:sp>
        <p:nvSpPr>
          <p:cNvPr id="24" name="Shape 22"/>
          <p:cNvSpPr/>
          <p:nvPr/>
        </p:nvSpPr>
        <p:spPr>
          <a:xfrm>
            <a:off x="6345936" y="1536192"/>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09928"/>
            <a:ext cx="402336" cy="402336"/>
          </a:xfrm>
          <a:prstGeom prst="ellipse">
            <a:avLst/>
          </a:prstGeom>
          <a:solidFill>
            <a:srgbClr val="0E2340"/>
          </a:solidFill>
          <a:ln/>
        </p:spPr>
      </p:sp>
      <p:pic>
        <p:nvPicPr>
          <p:cNvPr id="26" name="Image 0" descr="preencoded.png">    </p:cNvPr>
          <p:cNvPicPr>
            <a:picLocks noChangeAspect="1"/>
          </p:cNvPicPr>
          <p:nvPr/>
        </p:nvPicPr>
        <p:blipFill>
          <a:blip r:embed="rId1"/>
          <a:stretch>
            <a:fillRect/>
          </a:stretch>
        </p:blipFill>
        <p:spPr>
          <a:xfrm>
            <a:off x="6637447" y="1818559"/>
            <a:ext cx="185075" cy="185075"/>
          </a:xfrm>
          <a:prstGeom prst="rect">
            <a:avLst/>
          </a:prstGeom>
        </p:spPr>
      </p:pic>
      <p:sp>
        <p:nvSpPr>
          <p:cNvPr id="27" name="Text 24"/>
          <p:cNvSpPr txBox="1"/>
          <p:nvPr/>
        </p:nvSpPr>
        <p:spPr>
          <a:xfrm>
            <a:off x="7040880" y="1591056"/>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送货/提货即时评价</a:t>
            </a:r>
            <a:endParaRPr lang="en-US" sz="1150" dirty="0"/>
          </a:p>
        </p:txBody>
      </p:sp>
      <p:sp>
        <p:nvSpPr>
          <p:cNvPr id="28" name="Text 25"/>
          <p:cNvSpPr txBox="1"/>
          <p:nvPr/>
        </p:nvSpPr>
        <p:spPr>
          <a:xfrm>
            <a:off x="7040880" y="1847088"/>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作业结束后供应商/司机端弹窗评价本次服务，提供投诉渠道，快速收集单次作业问题线索</a:t>
            </a:r>
            <a:endParaRPr lang="en-US" sz="1000" dirty="0"/>
          </a:p>
        </p:txBody>
      </p:sp>
      <p:sp>
        <p:nvSpPr>
          <p:cNvPr id="29" name="Shape 26"/>
          <p:cNvSpPr/>
          <p:nvPr/>
        </p:nvSpPr>
        <p:spPr>
          <a:xfrm>
            <a:off x="6345936" y="2377440"/>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7"/>
          <p:cNvSpPr/>
          <p:nvPr/>
        </p:nvSpPr>
        <p:spPr>
          <a:xfrm>
            <a:off x="6528816" y="2551176"/>
            <a:ext cx="402336" cy="402336"/>
          </a:xfrm>
          <a:prstGeom prst="ellipse">
            <a:avLst/>
          </a:prstGeom>
          <a:solidFill>
            <a:srgbClr val="0E2340"/>
          </a:solidFill>
          <a:ln/>
        </p:spPr>
      </p:sp>
      <p:pic>
        <p:nvPicPr>
          <p:cNvPr id="31" name="Image 1" descr="preencoded.png">    </p:cNvPr>
          <p:cNvPicPr>
            <a:picLocks noChangeAspect="1"/>
          </p:cNvPicPr>
          <p:nvPr/>
        </p:nvPicPr>
        <p:blipFill>
          <a:blip r:embed="rId2"/>
          <a:stretch>
            <a:fillRect/>
          </a:stretch>
        </p:blipFill>
        <p:spPr>
          <a:xfrm>
            <a:off x="6637447" y="2659807"/>
            <a:ext cx="185075" cy="185075"/>
          </a:xfrm>
          <a:prstGeom prst="rect">
            <a:avLst/>
          </a:prstGeom>
        </p:spPr>
      </p:pic>
      <p:sp>
        <p:nvSpPr>
          <p:cNvPr id="32" name="Text 28"/>
          <p:cNvSpPr txBox="1"/>
          <p:nvPr/>
        </p:nvSpPr>
        <p:spPr>
          <a:xfrm>
            <a:off x="7040880" y="2432304"/>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仓储收货/发货异常登记</a:t>
            </a:r>
            <a:endParaRPr lang="en-US" sz="1150" dirty="0"/>
          </a:p>
        </p:txBody>
      </p:sp>
      <p:sp>
        <p:nvSpPr>
          <p:cNvPr id="33" name="Text 29"/>
          <p:cNvSpPr txBox="1"/>
          <p:nvPr/>
        </p:nvSpPr>
        <p:spPr>
          <a:xfrm>
            <a:off x="7040880" y="2688336"/>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收货端或发货端登记异常反馈，如司机不配合、货物破损等</a:t>
            </a:r>
            <a:endParaRPr lang="en-US" sz="1000" dirty="0"/>
          </a:p>
        </p:txBody>
      </p:sp>
      <p:sp>
        <p:nvSpPr>
          <p:cNvPr id="34" name="Shape 30"/>
          <p:cNvSpPr/>
          <p:nvPr/>
        </p:nvSpPr>
        <p:spPr>
          <a:xfrm>
            <a:off x="6345936" y="3218688"/>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1"/>
          <p:cNvSpPr/>
          <p:nvPr/>
        </p:nvSpPr>
        <p:spPr>
          <a:xfrm>
            <a:off x="6528816" y="3392424"/>
            <a:ext cx="402336" cy="402336"/>
          </a:xfrm>
          <a:prstGeom prst="ellipse">
            <a:avLst/>
          </a:prstGeom>
          <a:solidFill>
            <a:srgbClr val="0E2340"/>
          </a:solidFill>
          <a:ln/>
        </p:spPr>
      </p:sp>
      <p:pic>
        <p:nvPicPr>
          <p:cNvPr id="36" name="Image 2" descr="preencoded.png">    </p:cNvPr>
          <p:cNvPicPr>
            <a:picLocks noChangeAspect="1"/>
          </p:cNvPicPr>
          <p:nvPr/>
        </p:nvPicPr>
        <p:blipFill>
          <a:blip r:embed="rId3"/>
          <a:stretch>
            <a:fillRect/>
          </a:stretch>
        </p:blipFill>
        <p:spPr>
          <a:xfrm>
            <a:off x="6637447" y="3501055"/>
            <a:ext cx="185075" cy="185075"/>
          </a:xfrm>
          <a:prstGeom prst="rect">
            <a:avLst/>
          </a:prstGeom>
        </p:spPr>
      </p:pic>
      <p:sp>
        <p:nvSpPr>
          <p:cNvPr id="37" name="Text 32"/>
          <p:cNvSpPr txBox="1"/>
          <p:nvPr/>
        </p:nvSpPr>
        <p:spPr>
          <a:xfrm>
            <a:off x="7040880" y="3273552"/>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供应商满意度调查</a:t>
            </a:r>
            <a:endParaRPr lang="en-US" sz="1150" dirty="0"/>
          </a:p>
        </p:txBody>
      </p:sp>
      <p:sp>
        <p:nvSpPr>
          <p:cNvPr id="38" name="Text 33"/>
          <p:cNvSpPr txBox="1"/>
          <p:nvPr/>
        </p:nvSpPr>
        <p:spPr>
          <a:xfrm>
            <a:off x="7040880" y="3529584"/>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管理员不定期下发服务调查问卷，供应商对仓库阶段性服务质量多维度评分，形成电子留存用于长期服务水平评估</a:t>
            </a:r>
            <a:endParaRPr lang="en-US" sz="1000" dirty="0"/>
          </a:p>
        </p:txBody>
      </p:sp>
      <p:sp>
        <p:nvSpPr>
          <p:cNvPr id="39" name="Shape 34"/>
          <p:cNvSpPr/>
          <p:nvPr/>
        </p:nvSpPr>
        <p:spPr>
          <a:xfrm>
            <a:off x="530352" y="4041648"/>
            <a:ext cx="11130991" cy="1883664"/>
          </a:xfrm>
          <a:prstGeom prst="roundRect">
            <a:avLst>
              <a:gd name="adj" fmla="val 1699"/>
            </a:avLst>
          </a:prstGeom>
          <a:solidFill>
            <a:srgbClr val="0E2340"/>
          </a:solidFill>
          <a:ln/>
        </p:spPr>
      </p:sp>
      <p:sp>
        <p:nvSpPr>
          <p:cNvPr id="40" name="Text 35"/>
          <p:cNvSpPr txBox="1"/>
          <p:nvPr/>
        </p:nvSpPr>
        <p:spPr>
          <a:xfrm>
            <a:off x="786384" y="4187952"/>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双向评价闭环：既约束供应商，也约束我们自己</a:t>
            </a:r>
            <a:endParaRPr lang="en-US" sz="1400" dirty="0"/>
          </a:p>
        </p:txBody>
      </p:sp>
      <p:sp>
        <p:nvSpPr>
          <p:cNvPr id="41" name="Shape 36"/>
          <p:cNvSpPr/>
          <p:nvPr/>
        </p:nvSpPr>
        <p:spPr>
          <a:xfrm>
            <a:off x="7863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2" name="Text 37"/>
          <p:cNvSpPr txBox="1"/>
          <p:nvPr/>
        </p:nvSpPr>
        <p:spPr>
          <a:xfrm>
            <a:off x="9509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供应商 / 司机 →  园区</a:t>
            </a:r>
            <a:endParaRPr lang="en-US" sz="1100" dirty="0"/>
          </a:p>
        </p:txBody>
      </p:sp>
      <p:sp>
        <p:nvSpPr>
          <p:cNvPr id="43" name="Text 38"/>
          <p:cNvSpPr txBox="1"/>
          <p:nvPr/>
        </p:nvSpPr>
        <p:spPr>
          <a:xfrm>
            <a:off x="9509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评价仓库收发效率、月台等待、门岗服务；差评自动生成回访工单，由调度主管介入</a:t>
            </a:r>
            <a:endParaRPr lang="en-US" sz="1000" dirty="0"/>
          </a:p>
        </p:txBody>
      </p:sp>
      <p:sp>
        <p:nvSpPr>
          <p:cNvPr id="44" name="Shape 39"/>
          <p:cNvSpPr/>
          <p:nvPr/>
        </p:nvSpPr>
        <p:spPr>
          <a:xfrm>
            <a:off x="44439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5" name="Text 40"/>
          <p:cNvSpPr txBox="1"/>
          <p:nvPr/>
        </p:nvSpPr>
        <p:spPr>
          <a:xfrm>
            <a:off x="46085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园区 →  供应商 / 司机</a:t>
            </a:r>
            <a:endParaRPr lang="en-US" sz="1100" dirty="0"/>
          </a:p>
        </p:txBody>
      </p:sp>
      <p:sp>
        <p:nvSpPr>
          <p:cNvPr id="46" name="Text 41"/>
          <p:cNvSpPr txBox="1"/>
          <p:nvPr/>
        </p:nvSpPr>
        <p:spPr>
          <a:xfrm>
            <a:off x="46085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登记不配合、货物破损、超时占用等异常；累积违规触发限期整改与黑名单机制</a:t>
            </a:r>
            <a:endParaRPr lang="en-US" sz="1000" dirty="0"/>
          </a:p>
        </p:txBody>
      </p:sp>
      <p:sp>
        <p:nvSpPr>
          <p:cNvPr id="47" name="Shape 42"/>
          <p:cNvSpPr/>
          <p:nvPr/>
        </p:nvSpPr>
        <p:spPr>
          <a:xfrm>
            <a:off x="81015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8" name="Text 43"/>
          <p:cNvSpPr txBox="1"/>
          <p:nvPr/>
        </p:nvSpPr>
        <p:spPr>
          <a:xfrm>
            <a:off x="82661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数据 →  管理</a:t>
            </a:r>
            <a:endParaRPr lang="en-US" sz="1100" dirty="0"/>
          </a:p>
        </p:txBody>
      </p:sp>
      <p:sp>
        <p:nvSpPr>
          <p:cNvPr id="49" name="Text 44"/>
          <p:cNvSpPr txBox="1"/>
          <p:nvPr/>
        </p:nvSpPr>
        <p:spPr>
          <a:xfrm>
            <a:off x="82661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评价与异常数据进入供应商服务档案，作为年度考核与合作评估依据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智慧物流（七）：跨园区车辆调度（12 个园区，一期上线）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产业园、智源、物流园、储能南区、总部南/北区、堆场、蓝点、仁洁、零碳等园区统一调度</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调度主流程六节点（含异常流程）</a:t>
            </a:r>
            <a:endParaRPr lang="en-US" sz="1250" dirty="0"/>
          </a:p>
        </p:txBody>
      </p:sp>
      <p:sp>
        <p:nvSpPr>
          <p:cNvPr id="7" name="Shape 5"/>
          <p:cNvSpPr/>
          <p:nvPr/>
        </p:nvSpPr>
        <p:spPr>
          <a:xfrm>
            <a:off x="530352" y="1517904"/>
            <a:ext cx="1089660" cy="457200"/>
          </a:xfrm>
          <a:prstGeom prst="homePlate">
            <a:avLst/>
          </a:prstGeom>
          <a:solidFill>
            <a:srgbClr val="F97B00"/>
          </a:solidFill>
          <a:ln/>
        </p:spPr>
      </p:sp>
      <p:sp>
        <p:nvSpPr>
          <p:cNvPr id="8" name="Text 6"/>
          <p:cNvSpPr txBox="1"/>
          <p:nvPr/>
        </p:nvSpPr>
        <p:spPr>
          <a:xfrm>
            <a:off x="6611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需求申请</a:t>
            </a:r>
            <a:endParaRPr lang="en-US" sz="1050" dirty="0"/>
          </a:p>
        </p:txBody>
      </p:sp>
      <p:sp>
        <p:nvSpPr>
          <p:cNvPr id="9" name="Shape 7"/>
          <p:cNvSpPr/>
          <p:nvPr/>
        </p:nvSpPr>
        <p:spPr>
          <a:xfrm>
            <a:off x="1665732" y="1517904"/>
            <a:ext cx="1089660" cy="457200"/>
          </a:xfrm>
          <a:prstGeom prst="chevron">
            <a:avLst/>
          </a:prstGeom>
          <a:solidFill>
            <a:srgbClr val="FF9F3D"/>
          </a:solidFill>
          <a:ln/>
        </p:spPr>
      </p:sp>
      <p:sp>
        <p:nvSpPr>
          <p:cNvPr id="10" name="Text 8"/>
          <p:cNvSpPr txBox="1"/>
          <p:nvPr/>
        </p:nvSpPr>
        <p:spPr>
          <a:xfrm>
            <a:off x="179649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需求接收</a:t>
            </a:r>
            <a:endParaRPr lang="en-US" sz="1050" dirty="0"/>
          </a:p>
        </p:txBody>
      </p:sp>
      <p:sp>
        <p:nvSpPr>
          <p:cNvPr id="11" name="Shape 9"/>
          <p:cNvSpPr/>
          <p:nvPr/>
        </p:nvSpPr>
        <p:spPr>
          <a:xfrm>
            <a:off x="2801112" y="1517904"/>
            <a:ext cx="1089660" cy="457200"/>
          </a:xfrm>
          <a:prstGeom prst="chevron">
            <a:avLst/>
          </a:prstGeom>
          <a:solidFill>
            <a:srgbClr val="F97B00"/>
          </a:solidFill>
          <a:ln/>
        </p:spPr>
      </p:sp>
      <p:sp>
        <p:nvSpPr>
          <p:cNvPr id="12" name="Text 10"/>
          <p:cNvSpPr txBox="1"/>
          <p:nvPr/>
        </p:nvSpPr>
        <p:spPr>
          <a:xfrm>
            <a:off x="293187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订单装车</a:t>
            </a:r>
            <a:endParaRPr lang="en-US" sz="1050" dirty="0"/>
          </a:p>
        </p:txBody>
      </p:sp>
      <p:sp>
        <p:nvSpPr>
          <p:cNvPr id="13" name="Shape 11"/>
          <p:cNvSpPr/>
          <p:nvPr/>
        </p:nvSpPr>
        <p:spPr>
          <a:xfrm>
            <a:off x="3936492" y="1517904"/>
            <a:ext cx="1089660" cy="457200"/>
          </a:xfrm>
          <a:prstGeom prst="chevron">
            <a:avLst/>
          </a:prstGeom>
          <a:solidFill>
            <a:srgbClr val="FF9F3D"/>
          </a:solidFill>
          <a:ln/>
        </p:spPr>
      </p:sp>
      <p:sp>
        <p:nvSpPr>
          <p:cNvPr id="14" name="Text 12"/>
          <p:cNvSpPr txBox="1"/>
          <p:nvPr/>
        </p:nvSpPr>
        <p:spPr>
          <a:xfrm>
            <a:off x="406725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订单卸货</a:t>
            </a:r>
            <a:endParaRPr lang="en-US" sz="1050" dirty="0"/>
          </a:p>
        </p:txBody>
      </p:sp>
      <p:sp>
        <p:nvSpPr>
          <p:cNvPr id="15" name="Shape 13"/>
          <p:cNvSpPr/>
          <p:nvPr/>
        </p:nvSpPr>
        <p:spPr>
          <a:xfrm>
            <a:off x="5071872" y="1517904"/>
            <a:ext cx="1089660" cy="457200"/>
          </a:xfrm>
          <a:prstGeom prst="chevron">
            <a:avLst/>
          </a:prstGeom>
          <a:solidFill>
            <a:srgbClr val="F97B00"/>
          </a:solidFill>
          <a:ln/>
        </p:spPr>
      </p:sp>
      <p:sp>
        <p:nvSpPr>
          <p:cNvPr id="16" name="Text 14"/>
          <p:cNvSpPr txBox="1"/>
          <p:nvPr/>
        </p:nvSpPr>
        <p:spPr>
          <a:xfrm>
            <a:off x="520263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订单收货</a:t>
            </a:r>
            <a:endParaRPr lang="en-US" sz="1050" dirty="0"/>
          </a:p>
        </p:txBody>
      </p:sp>
      <p:sp>
        <p:nvSpPr>
          <p:cNvPr id="17" name="Shape 15"/>
          <p:cNvSpPr/>
          <p:nvPr/>
        </p:nvSpPr>
        <p:spPr>
          <a:xfrm>
            <a:off x="6207252" y="1517904"/>
            <a:ext cx="1089660" cy="457200"/>
          </a:xfrm>
          <a:prstGeom prst="chevron">
            <a:avLst/>
          </a:prstGeom>
          <a:solidFill>
            <a:srgbClr val="FF9F3D"/>
          </a:solidFill>
          <a:ln/>
        </p:spPr>
      </p:sp>
      <p:sp>
        <p:nvSpPr>
          <p:cNvPr id="18" name="Text 16"/>
          <p:cNvSpPr txBox="1"/>
          <p:nvPr/>
        </p:nvSpPr>
        <p:spPr>
          <a:xfrm>
            <a:off x="63380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订单查看</a:t>
            </a:r>
            <a:endParaRPr lang="en-US" sz="1050" dirty="0"/>
          </a:p>
        </p:txBody>
      </p:sp>
      <p:sp>
        <p:nvSpPr>
          <p:cNvPr id="19" name="Shape 17"/>
          <p:cNvSpPr/>
          <p:nvPr/>
        </p:nvSpPr>
        <p:spPr>
          <a:xfrm>
            <a:off x="530352" y="2103120"/>
            <a:ext cx="6766560" cy="566928"/>
          </a:xfrm>
          <a:prstGeom prst="roundRect">
            <a:avLst>
              <a:gd name="adj" fmla="val 5645"/>
            </a:avLst>
          </a:prstGeom>
          <a:solidFill>
            <a:srgbClr val="F6F8FA"/>
          </a:solidFill>
          <a:ln w="9525">
            <a:solidFill>
              <a:srgbClr val="E3E7EB"/>
            </a:solidFill>
            <a:prstDash val="solid"/>
          </a:ln>
        </p:spPr>
      </p:sp>
      <p:sp>
        <p:nvSpPr>
          <p:cNvPr id="20" name="Shape 18"/>
          <p:cNvSpPr/>
          <p:nvPr/>
        </p:nvSpPr>
        <p:spPr>
          <a:xfrm>
            <a:off x="676656" y="2249424"/>
            <a:ext cx="274320" cy="274320"/>
          </a:xfrm>
          <a:prstGeom prst="ellipse">
            <a:avLst/>
          </a:prstGeom>
          <a:solidFill>
            <a:srgbClr val="F97B00"/>
          </a:solidFill>
          <a:ln/>
        </p:spPr>
      </p:sp>
      <p:sp>
        <p:nvSpPr>
          <p:cNvPr id="21" name="Text 19"/>
          <p:cNvSpPr txBox="1"/>
          <p:nvPr/>
        </p:nvSpPr>
        <p:spPr>
          <a:xfrm>
            <a:off x="676656" y="22494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042416" y="213055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需求申请</a:t>
            </a:r>
            <a:endParaRPr lang="en-US" sz="1050" dirty="0"/>
          </a:p>
        </p:txBody>
      </p:sp>
      <p:sp>
        <p:nvSpPr>
          <p:cNvPr id="23" name="Text 21"/>
          <p:cNvSpPr txBox="1"/>
          <p:nvPr/>
        </p:nvSpPr>
        <p:spPr>
          <a:xfrm>
            <a:off x="2176272" y="2121408"/>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人员提交用车需求、货物信息及照片；可直接指定自有车辆与包月车辆（系统可推荐）；按趟计费车源依据货物预估车型匹配，选择成本中心提交，由外部物流公司调度人指派。订单支持多起始点、途径点与目的地</a:t>
            </a:r>
            <a:endParaRPr lang="en-US" sz="1000" dirty="0"/>
          </a:p>
        </p:txBody>
      </p:sp>
      <p:sp>
        <p:nvSpPr>
          <p:cNvPr id="24" name="Shape 22"/>
          <p:cNvSpPr/>
          <p:nvPr/>
        </p:nvSpPr>
        <p:spPr>
          <a:xfrm>
            <a:off x="530352" y="2761488"/>
            <a:ext cx="6766560" cy="566928"/>
          </a:xfrm>
          <a:prstGeom prst="roundRect">
            <a:avLst>
              <a:gd name="adj" fmla="val 5645"/>
            </a:avLst>
          </a:prstGeom>
          <a:solidFill>
            <a:srgbClr val="FFFFFF"/>
          </a:solidFill>
          <a:ln w="9525">
            <a:solidFill>
              <a:srgbClr val="E3E7EB"/>
            </a:solidFill>
            <a:prstDash val="solid"/>
          </a:ln>
        </p:spPr>
      </p:sp>
      <p:sp>
        <p:nvSpPr>
          <p:cNvPr id="25" name="Shape 23"/>
          <p:cNvSpPr/>
          <p:nvPr/>
        </p:nvSpPr>
        <p:spPr>
          <a:xfrm>
            <a:off x="676656" y="2907792"/>
            <a:ext cx="274320" cy="274320"/>
          </a:xfrm>
          <a:prstGeom prst="ellipse">
            <a:avLst/>
          </a:prstGeom>
          <a:solidFill>
            <a:srgbClr val="F97B00"/>
          </a:solidFill>
          <a:ln/>
        </p:spPr>
      </p:sp>
      <p:sp>
        <p:nvSpPr>
          <p:cNvPr id="26" name="Text 24"/>
          <p:cNvSpPr txBox="1"/>
          <p:nvPr/>
        </p:nvSpPr>
        <p:spPr>
          <a:xfrm>
            <a:off x="676656" y="2907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1042416" y="2788920"/>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需求接收</a:t>
            </a:r>
            <a:endParaRPr lang="en-US" sz="1050" dirty="0"/>
          </a:p>
        </p:txBody>
      </p:sp>
      <p:sp>
        <p:nvSpPr>
          <p:cNvPr id="28" name="Text 26"/>
          <p:cNvSpPr txBox="1"/>
          <p:nvPr/>
        </p:nvSpPr>
        <p:spPr>
          <a:xfrm>
            <a:off x="2176272" y="2779776"/>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指定车辆需求直达指定司机；按趟需求转外部物流公司调度人指派。当天任务 10 分钟内未接单、接单后 2 小时未上传装车照片，自动通知外部调度人并记录异常</a:t>
            </a:r>
            <a:endParaRPr lang="en-US" sz="1000" dirty="0"/>
          </a:p>
        </p:txBody>
      </p:sp>
      <p:sp>
        <p:nvSpPr>
          <p:cNvPr id="29" name="Shape 27"/>
          <p:cNvSpPr/>
          <p:nvPr/>
        </p:nvSpPr>
        <p:spPr>
          <a:xfrm>
            <a:off x="530352" y="3419856"/>
            <a:ext cx="6766560" cy="566928"/>
          </a:xfrm>
          <a:prstGeom prst="roundRect">
            <a:avLst>
              <a:gd name="adj" fmla="val 5645"/>
            </a:avLst>
          </a:prstGeom>
          <a:solidFill>
            <a:srgbClr val="F6F8FA"/>
          </a:solidFill>
          <a:ln w="9525">
            <a:solidFill>
              <a:srgbClr val="E3E7EB"/>
            </a:solidFill>
            <a:prstDash val="solid"/>
          </a:ln>
        </p:spPr>
      </p:sp>
      <p:sp>
        <p:nvSpPr>
          <p:cNvPr id="30" name="Shape 28"/>
          <p:cNvSpPr/>
          <p:nvPr/>
        </p:nvSpPr>
        <p:spPr>
          <a:xfrm>
            <a:off x="676656" y="3566160"/>
            <a:ext cx="274320" cy="274320"/>
          </a:xfrm>
          <a:prstGeom prst="ellipse">
            <a:avLst/>
          </a:prstGeom>
          <a:solidFill>
            <a:srgbClr val="F97B00"/>
          </a:solidFill>
          <a:ln/>
        </p:spPr>
      </p:sp>
      <p:sp>
        <p:nvSpPr>
          <p:cNvPr id="31" name="Text 29"/>
          <p:cNvSpPr txBox="1"/>
          <p:nvPr/>
        </p:nvSpPr>
        <p:spPr>
          <a:xfrm>
            <a:off x="676656" y="3566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1042416" y="3447288"/>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订单装车</a:t>
            </a:r>
            <a:endParaRPr lang="en-US" sz="1050" dirty="0"/>
          </a:p>
        </p:txBody>
      </p:sp>
      <p:sp>
        <p:nvSpPr>
          <p:cNvPr id="33" name="Text 31"/>
          <p:cNvSpPr txBox="1"/>
          <p:nvPr/>
        </p:nvSpPr>
        <p:spPr>
          <a:xfrm>
            <a:off x="2176272" y="3438144"/>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司机到达后由需求人拍摄上传装货照片（含时间、地点、车牌号，支持多张）确认装货，系统自动记录装车时间；该节点联动开具出门证</a:t>
            </a:r>
            <a:endParaRPr lang="en-US" sz="1000" dirty="0"/>
          </a:p>
        </p:txBody>
      </p:sp>
      <p:sp>
        <p:nvSpPr>
          <p:cNvPr id="34" name="Shape 32"/>
          <p:cNvSpPr/>
          <p:nvPr/>
        </p:nvSpPr>
        <p:spPr>
          <a:xfrm>
            <a:off x="530352" y="4078224"/>
            <a:ext cx="6766560" cy="566928"/>
          </a:xfrm>
          <a:prstGeom prst="roundRect">
            <a:avLst>
              <a:gd name="adj" fmla="val 5645"/>
            </a:avLst>
          </a:prstGeom>
          <a:solidFill>
            <a:srgbClr val="FFFFFF"/>
          </a:solidFill>
          <a:ln w="9525">
            <a:solidFill>
              <a:srgbClr val="E3E7EB"/>
            </a:solidFill>
            <a:prstDash val="solid"/>
          </a:ln>
        </p:spPr>
      </p:sp>
      <p:sp>
        <p:nvSpPr>
          <p:cNvPr id="35" name="Shape 33"/>
          <p:cNvSpPr/>
          <p:nvPr/>
        </p:nvSpPr>
        <p:spPr>
          <a:xfrm>
            <a:off x="676656" y="4224528"/>
            <a:ext cx="274320" cy="274320"/>
          </a:xfrm>
          <a:prstGeom prst="ellipse">
            <a:avLst/>
          </a:prstGeom>
          <a:solidFill>
            <a:srgbClr val="F97B00"/>
          </a:solidFill>
          <a:ln/>
        </p:spPr>
      </p:sp>
      <p:sp>
        <p:nvSpPr>
          <p:cNvPr id="36" name="Text 34"/>
          <p:cNvSpPr txBox="1"/>
          <p:nvPr/>
        </p:nvSpPr>
        <p:spPr>
          <a:xfrm>
            <a:off x="676656" y="4224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1042416" y="4105656"/>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订单卸货</a:t>
            </a:r>
            <a:endParaRPr lang="en-US" sz="1050" dirty="0"/>
          </a:p>
        </p:txBody>
      </p:sp>
      <p:sp>
        <p:nvSpPr>
          <p:cNvPr id="38" name="Text 36"/>
          <p:cNvSpPr txBox="1"/>
          <p:nvPr/>
        </p:nvSpPr>
        <p:spPr>
          <a:xfrm>
            <a:off x="2176272" y="4096512"/>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司机到达卸货地点推送消息至收货人；司机 APP 上传卸货照片（货物+车辆），点击卸货完成，根据车上是否有其他货物选择是否开具出门证</a:t>
            </a:r>
            <a:endParaRPr lang="en-US" sz="1000" dirty="0"/>
          </a:p>
        </p:txBody>
      </p:sp>
      <p:sp>
        <p:nvSpPr>
          <p:cNvPr id="39" name="Shape 37"/>
          <p:cNvSpPr/>
          <p:nvPr/>
        </p:nvSpPr>
        <p:spPr>
          <a:xfrm>
            <a:off x="530352" y="4736592"/>
            <a:ext cx="6766560" cy="566928"/>
          </a:xfrm>
          <a:prstGeom prst="roundRect">
            <a:avLst>
              <a:gd name="adj" fmla="val 5645"/>
            </a:avLst>
          </a:prstGeom>
          <a:solidFill>
            <a:srgbClr val="F6F8FA"/>
          </a:solidFill>
          <a:ln w="9525">
            <a:solidFill>
              <a:srgbClr val="E3E7EB"/>
            </a:solidFill>
            <a:prstDash val="solid"/>
          </a:ln>
        </p:spPr>
      </p:sp>
      <p:sp>
        <p:nvSpPr>
          <p:cNvPr id="40" name="Shape 38"/>
          <p:cNvSpPr/>
          <p:nvPr/>
        </p:nvSpPr>
        <p:spPr>
          <a:xfrm>
            <a:off x="676656" y="4882896"/>
            <a:ext cx="274320" cy="274320"/>
          </a:xfrm>
          <a:prstGeom prst="ellipse">
            <a:avLst/>
          </a:prstGeom>
          <a:solidFill>
            <a:srgbClr val="F97B00"/>
          </a:solidFill>
          <a:ln/>
        </p:spPr>
      </p:sp>
      <p:sp>
        <p:nvSpPr>
          <p:cNvPr id="41" name="Text 39"/>
          <p:cNvSpPr txBox="1"/>
          <p:nvPr/>
        </p:nvSpPr>
        <p:spPr>
          <a:xfrm>
            <a:off x="676656" y="48828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1042416" y="4764024"/>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订单收货</a:t>
            </a:r>
            <a:endParaRPr lang="en-US" sz="1050" dirty="0"/>
          </a:p>
        </p:txBody>
      </p:sp>
      <p:sp>
        <p:nvSpPr>
          <p:cNvPr id="43" name="Text 41"/>
          <p:cNvSpPr txBox="1"/>
          <p:nvPr/>
        </p:nvSpPr>
        <p:spPr>
          <a:xfrm>
            <a:off x="2176272" y="4754880"/>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业务人员核对需求并确认收货，调度流程完成；若车上货物未全部卸完，该节点联动开具出门证</a:t>
            </a:r>
            <a:endParaRPr lang="en-US" sz="1000" dirty="0"/>
          </a:p>
        </p:txBody>
      </p:sp>
      <p:sp>
        <p:nvSpPr>
          <p:cNvPr id="44" name="Shape 42"/>
          <p:cNvSpPr/>
          <p:nvPr/>
        </p:nvSpPr>
        <p:spPr>
          <a:xfrm>
            <a:off x="530352" y="5394960"/>
            <a:ext cx="6766560" cy="566928"/>
          </a:xfrm>
          <a:prstGeom prst="roundRect">
            <a:avLst>
              <a:gd name="adj" fmla="val 5645"/>
            </a:avLst>
          </a:prstGeom>
          <a:solidFill>
            <a:srgbClr val="FFFFFF"/>
          </a:solidFill>
          <a:ln w="9525">
            <a:solidFill>
              <a:srgbClr val="E3E7EB"/>
            </a:solidFill>
            <a:prstDash val="solid"/>
          </a:ln>
        </p:spPr>
      </p:sp>
      <p:sp>
        <p:nvSpPr>
          <p:cNvPr id="45" name="Shape 43"/>
          <p:cNvSpPr/>
          <p:nvPr/>
        </p:nvSpPr>
        <p:spPr>
          <a:xfrm>
            <a:off x="676656" y="5541264"/>
            <a:ext cx="274320" cy="274320"/>
          </a:xfrm>
          <a:prstGeom prst="ellipse">
            <a:avLst/>
          </a:prstGeom>
          <a:solidFill>
            <a:srgbClr val="0E2340"/>
          </a:solidFill>
          <a:ln/>
        </p:spPr>
      </p:sp>
      <p:sp>
        <p:nvSpPr>
          <p:cNvPr id="46" name="Text 44"/>
          <p:cNvSpPr txBox="1"/>
          <p:nvPr/>
        </p:nvSpPr>
        <p:spPr>
          <a:xfrm>
            <a:off x="676656" y="55412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5"/>
          <p:cNvSpPr txBox="1"/>
          <p:nvPr/>
        </p:nvSpPr>
        <p:spPr>
          <a:xfrm>
            <a:off x="1042416" y="542239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异常处理</a:t>
            </a:r>
            <a:endParaRPr lang="en-US" sz="1050" dirty="0"/>
          </a:p>
        </p:txBody>
      </p:sp>
      <p:sp>
        <p:nvSpPr>
          <p:cNvPr id="48" name="Text 46"/>
          <p:cNvSpPr txBox="1"/>
          <p:nvPr/>
        </p:nvSpPr>
        <p:spPr>
          <a:xfrm>
            <a:off x="2176272" y="5413248"/>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支持调度取消与接单未响应；超时未接单、未装车、未卸货自动升级通知并记录</a:t>
            </a:r>
            <a:endParaRPr lang="en-US" sz="1000" dirty="0"/>
          </a:p>
        </p:txBody>
      </p:sp>
      <p:sp>
        <p:nvSpPr>
          <p:cNvPr id="49" name="Shape 47"/>
          <p:cNvSpPr/>
          <p:nvPr/>
        </p:nvSpPr>
        <p:spPr>
          <a:xfrm>
            <a:off x="7534656" y="1257300"/>
            <a:ext cx="68580" cy="173736"/>
          </a:xfrm>
          <a:prstGeom prst="rect">
            <a:avLst/>
          </a:prstGeom>
          <a:solidFill>
            <a:srgbClr val="F97B00"/>
          </a:solidFill>
          <a:ln/>
        </p:spPr>
      </p:sp>
      <p:sp>
        <p:nvSpPr>
          <p:cNvPr id="50" name="Text 48"/>
          <p:cNvSpPr txBox="1"/>
          <p:nvPr/>
        </p:nvSpPr>
        <p:spPr>
          <a:xfrm>
            <a:off x="7690104" y="1207008"/>
            <a:ext cx="39593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调度资源与规则</a:t>
            </a:r>
            <a:endParaRPr lang="en-US" sz="1250" dirty="0"/>
          </a:p>
        </p:txBody>
      </p:sp>
      <p:sp>
        <p:nvSpPr>
          <p:cNvPr id="51" name="Shape 49"/>
          <p:cNvSpPr/>
          <p:nvPr/>
        </p:nvSpPr>
        <p:spPr>
          <a:xfrm>
            <a:off x="7534656" y="1517904"/>
            <a:ext cx="4126687" cy="676656"/>
          </a:xfrm>
          <a:prstGeom prst="roundRect">
            <a:avLst>
              <a:gd name="adj" fmla="val 4730"/>
            </a:avLst>
          </a:prstGeom>
          <a:solidFill>
            <a:srgbClr val="FFF7EF"/>
          </a:solidFill>
          <a:ln w="9525">
            <a:solidFill>
              <a:srgbClr val="F6DCC2"/>
            </a:solidFill>
            <a:prstDash val="solid"/>
          </a:ln>
        </p:spPr>
      </p:sp>
      <p:sp>
        <p:nvSpPr>
          <p:cNvPr id="52" name="Text 50"/>
          <p:cNvSpPr txBox="1"/>
          <p:nvPr/>
        </p:nvSpPr>
        <p:spPr>
          <a:xfrm>
            <a:off x="7717536" y="1572768"/>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运力来源</a:t>
            </a:r>
            <a:endParaRPr lang="en-US" sz="1050" dirty="0"/>
          </a:p>
        </p:txBody>
      </p:sp>
      <p:sp>
        <p:nvSpPr>
          <p:cNvPr id="53" name="Text 51"/>
          <p:cNvSpPr txBox="1"/>
          <p:nvPr/>
        </p:nvSpPr>
        <p:spPr>
          <a:xfrm>
            <a:off x="7717536" y="1792224"/>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自有车辆、包月车辆、按趟计费外部运力</a:t>
            </a:r>
            <a:endParaRPr lang="en-US" sz="1000" dirty="0"/>
          </a:p>
        </p:txBody>
      </p:sp>
      <p:sp>
        <p:nvSpPr>
          <p:cNvPr id="54" name="Shape 52"/>
          <p:cNvSpPr/>
          <p:nvPr/>
        </p:nvSpPr>
        <p:spPr>
          <a:xfrm>
            <a:off x="7534656" y="2267712"/>
            <a:ext cx="4126687" cy="676656"/>
          </a:xfrm>
          <a:prstGeom prst="roundRect">
            <a:avLst>
              <a:gd name="adj" fmla="val 4730"/>
            </a:avLst>
          </a:prstGeom>
          <a:solidFill>
            <a:srgbClr val="FFF7EF"/>
          </a:solidFill>
          <a:ln w="9525">
            <a:solidFill>
              <a:srgbClr val="F6DCC2"/>
            </a:solidFill>
            <a:prstDash val="solid"/>
          </a:ln>
        </p:spPr>
      </p:sp>
      <p:sp>
        <p:nvSpPr>
          <p:cNvPr id="55" name="Text 53"/>
          <p:cNvSpPr txBox="1"/>
          <p:nvPr/>
        </p:nvSpPr>
        <p:spPr>
          <a:xfrm>
            <a:off x="7717536" y="2322576"/>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优先级规则</a:t>
            </a:r>
            <a:endParaRPr lang="en-US" sz="1050" dirty="0"/>
          </a:p>
        </p:txBody>
      </p:sp>
      <p:sp>
        <p:nvSpPr>
          <p:cNvPr id="56" name="Text 54"/>
          <p:cNvSpPr txBox="1"/>
          <p:nvPr/>
        </p:nvSpPr>
        <p:spPr>
          <a:xfrm>
            <a:off x="7717536" y="2542032"/>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自有车辆优先执行固定任务，空余再接临时任务</a:t>
            </a:r>
            <a:endParaRPr lang="en-US" sz="1000" dirty="0"/>
          </a:p>
        </p:txBody>
      </p:sp>
      <p:sp>
        <p:nvSpPr>
          <p:cNvPr id="57" name="Shape 55"/>
          <p:cNvSpPr/>
          <p:nvPr/>
        </p:nvSpPr>
        <p:spPr>
          <a:xfrm>
            <a:off x="7534656" y="3017520"/>
            <a:ext cx="4126687" cy="676656"/>
          </a:xfrm>
          <a:prstGeom prst="roundRect">
            <a:avLst>
              <a:gd name="adj" fmla="val 4730"/>
            </a:avLst>
          </a:prstGeom>
          <a:solidFill>
            <a:srgbClr val="FFF7EF"/>
          </a:solidFill>
          <a:ln w="9525">
            <a:solidFill>
              <a:srgbClr val="F6DCC2"/>
            </a:solidFill>
            <a:prstDash val="solid"/>
          </a:ln>
        </p:spPr>
      </p:sp>
      <p:sp>
        <p:nvSpPr>
          <p:cNvPr id="58" name="Text 56"/>
          <p:cNvSpPr txBox="1"/>
          <p:nvPr/>
        </p:nvSpPr>
        <p:spPr>
          <a:xfrm>
            <a:off x="7717536" y="3072384"/>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需求提交区分</a:t>
            </a:r>
            <a:endParaRPr lang="en-US" sz="1050" dirty="0"/>
          </a:p>
        </p:txBody>
      </p:sp>
      <p:sp>
        <p:nvSpPr>
          <p:cNvPr id="59" name="Text 57"/>
          <p:cNvSpPr txBox="1"/>
          <p:nvPr/>
        </p:nvSpPr>
        <p:spPr>
          <a:xfrm>
            <a:off x="7717536" y="3291840"/>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调度人员可直接指定车辆；非调度人员走简易入口，后台转正式订单</a:t>
            </a:r>
            <a:endParaRPr lang="en-US" sz="1000" dirty="0"/>
          </a:p>
        </p:txBody>
      </p:sp>
      <p:sp>
        <p:nvSpPr>
          <p:cNvPr id="60" name="Shape 58"/>
          <p:cNvSpPr/>
          <p:nvPr/>
        </p:nvSpPr>
        <p:spPr>
          <a:xfrm>
            <a:off x="7534656" y="3767328"/>
            <a:ext cx="4126687" cy="676656"/>
          </a:xfrm>
          <a:prstGeom prst="roundRect">
            <a:avLst>
              <a:gd name="adj" fmla="val 4730"/>
            </a:avLst>
          </a:prstGeom>
          <a:solidFill>
            <a:srgbClr val="FFF7EF"/>
          </a:solidFill>
          <a:ln w="9525">
            <a:solidFill>
              <a:srgbClr val="F6DCC2"/>
            </a:solidFill>
            <a:prstDash val="solid"/>
          </a:ln>
        </p:spPr>
      </p:sp>
      <p:sp>
        <p:nvSpPr>
          <p:cNvPr id="61" name="Text 59"/>
          <p:cNvSpPr txBox="1"/>
          <p:nvPr/>
        </p:nvSpPr>
        <p:spPr>
          <a:xfrm>
            <a:off x="7717536" y="3822192"/>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派单推荐</a:t>
            </a:r>
            <a:endParaRPr lang="en-US" sz="1050" dirty="0"/>
          </a:p>
        </p:txBody>
      </p:sp>
      <p:sp>
        <p:nvSpPr>
          <p:cNvPr id="62" name="Text 60"/>
          <p:cNvSpPr txBox="1"/>
          <p:nvPr/>
        </p:nvSpPr>
        <p:spPr>
          <a:xfrm>
            <a:off x="7717536" y="4041648"/>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按距离与空闲状态推荐派单；新订单消息推送提醒</a:t>
            </a:r>
            <a:endParaRPr lang="en-US" sz="1000" dirty="0"/>
          </a:p>
        </p:txBody>
      </p:sp>
      <p:sp>
        <p:nvSpPr>
          <p:cNvPr id="63" name="Shape 61"/>
          <p:cNvSpPr/>
          <p:nvPr/>
        </p:nvSpPr>
        <p:spPr>
          <a:xfrm>
            <a:off x="7534656" y="4553712"/>
            <a:ext cx="4126687" cy="1755648"/>
          </a:xfrm>
          <a:prstGeom prst="roundRect">
            <a:avLst>
              <a:gd name="adj" fmla="val 1823"/>
            </a:avLst>
          </a:prstGeom>
          <a:solidFill>
            <a:srgbClr val="0E2340"/>
          </a:solidFill>
          <a:ln/>
        </p:spPr>
      </p:sp>
      <p:sp>
        <p:nvSpPr>
          <p:cNvPr id="64" name="Text 62"/>
          <p:cNvSpPr txBox="1"/>
          <p:nvPr/>
        </p:nvSpPr>
        <p:spPr>
          <a:xfrm>
            <a:off x="7754112" y="4663440"/>
            <a:ext cx="3657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效率与费用双分析</a:t>
            </a:r>
            <a:endParaRPr lang="en-US" sz="1200" dirty="0"/>
          </a:p>
        </p:txBody>
      </p:sp>
      <p:sp>
        <p:nvSpPr>
          <p:cNvPr id="65" name="Text 63"/>
          <p:cNvSpPr txBox="1"/>
          <p:nvPr/>
        </p:nvSpPr>
        <p:spPr>
          <a:xfrm>
            <a:off x="7754112" y="4974336"/>
            <a:ext cx="3687775" cy="128016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效率：接单时长、装货时间、完成时间、平均等待、车辆周转率、准时完成率</a:t>
            </a:r>
            <a:endParaRPr lang="en-US" sz="1000" dirty="0"/>
          </a:p>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费用：按趟/按月/按年租赁固定费用 + 实际驳运次数，按成本中心汇总</a:t>
            </a:r>
            <a:endParaRPr lang="en-US" sz="1000" dirty="0"/>
          </a:p>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多成本中心可配置均摊规则；租赁车且驾驶员为内部员工时只计设备租赁费</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智慧消防（一）：安消一体平台总体设计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监测—预警—处置—管理四大闭环，9 大类消防设施联网，检测准确率不低于 95%</a:t>
            </a:r>
            <a:endParaRPr lang="en-US" sz="1250" dirty="0"/>
          </a:p>
        </p:txBody>
      </p:sp>
      <p:sp>
        <p:nvSpPr>
          <p:cNvPr id="5" name="Shape 3"/>
          <p:cNvSpPr/>
          <p:nvPr/>
        </p:nvSpPr>
        <p:spPr>
          <a:xfrm>
            <a:off x="53035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581112" y="1389888"/>
            <a:ext cx="530352" cy="530352"/>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724307" y="1533083"/>
            <a:ext cx="243962" cy="243962"/>
          </a:xfrm>
          <a:prstGeom prst="rect">
            <a:avLst/>
          </a:prstGeom>
        </p:spPr>
      </p:pic>
      <p:sp>
        <p:nvSpPr>
          <p:cNvPr id="8" name="Text 5"/>
          <p:cNvSpPr txBox="1"/>
          <p:nvPr/>
        </p:nvSpPr>
        <p:spPr>
          <a:xfrm>
            <a:off x="65836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设施状态监测</a:t>
            </a:r>
            <a:endParaRPr lang="en-US" sz="1300" dirty="0"/>
          </a:p>
        </p:txBody>
      </p:sp>
      <p:sp>
        <p:nvSpPr>
          <p:cNvPr id="9" name="Text 6"/>
          <p:cNvSpPr txBox="1"/>
          <p:nvPr/>
        </p:nvSpPr>
        <p:spPr>
          <a:xfrm>
            <a:off x="71323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9 大类消防设施全量联网，状态可见、可控、可追溯</a:t>
            </a:r>
            <a:endParaRPr lang="en-US" sz="1000" dirty="0"/>
          </a:p>
        </p:txBody>
      </p:sp>
      <p:sp>
        <p:nvSpPr>
          <p:cNvPr id="10" name="Shape 7"/>
          <p:cNvSpPr/>
          <p:nvPr/>
        </p:nvSpPr>
        <p:spPr>
          <a:xfrm>
            <a:off x="336339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414152" y="1389888"/>
            <a:ext cx="530352" cy="530352"/>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557347" y="1533083"/>
            <a:ext cx="243962" cy="243962"/>
          </a:xfrm>
          <a:prstGeom prst="rect">
            <a:avLst/>
          </a:prstGeom>
        </p:spPr>
      </p:pic>
      <p:sp>
        <p:nvSpPr>
          <p:cNvPr id="13" name="Text 9"/>
          <p:cNvSpPr txBox="1"/>
          <p:nvPr/>
        </p:nvSpPr>
        <p:spPr>
          <a:xfrm>
            <a:off x="349140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火灾监测预警</a:t>
            </a:r>
            <a:endParaRPr lang="en-US" sz="1300" dirty="0"/>
          </a:p>
        </p:txBody>
      </p:sp>
      <p:sp>
        <p:nvSpPr>
          <p:cNvPr id="14" name="Text 10"/>
          <p:cNvSpPr txBox="1"/>
          <p:nvPr/>
        </p:nvSpPr>
        <p:spPr>
          <a:xfrm>
            <a:off x="354627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多维感知 + 交叉验证 + 分级预警，降低误报漏报</a:t>
            </a:r>
            <a:endParaRPr lang="en-US" sz="1000" dirty="0"/>
          </a:p>
        </p:txBody>
      </p:sp>
      <p:sp>
        <p:nvSpPr>
          <p:cNvPr id="15" name="Shape 11"/>
          <p:cNvSpPr/>
          <p:nvPr/>
        </p:nvSpPr>
        <p:spPr>
          <a:xfrm>
            <a:off x="619643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247192" y="1389888"/>
            <a:ext cx="530352" cy="530352"/>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7390387" y="1533083"/>
            <a:ext cx="243962" cy="243962"/>
          </a:xfrm>
          <a:prstGeom prst="rect">
            <a:avLst/>
          </a:prstGeom>
        </p:spPr>
      </p:pic>
      <p:sp>
        <p:nvSpPr>
          <p:cNvPr id="18" name="Text 13"/>
          <p:cNvSpPr txBox="1"/>
          <p:nvPr/>
        </p:nvSpPr>
        <p:spPr>
          <a:xfrm>
            <a:off x="632444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应急处置联动</a:t>
            </a:r>
            <a:endParaRPr lang="en-US" sz="1300" dirty="0"/>
          </a:p>
        </p:txBody>
      </p:sp>
      <p:sp>
        <p:nvSpPr>
          <p:cNvPr id="19" name="Text 14"/>
          <p:cNvSpPr txBox="1"/>
          <p:nvPr/>
        </p:nvSpPr>
        <p:spPr>
          <a:xfrm>
            <a:off x="637931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一键启动预案、联动控制、多方协同指挥与人员疏散</a:t>
            </a:r>
            <a:endParaRPr lang="en-US" sz="1000" dirty="0"/>
          </a:p>
        </p:txBody>
      </p:sp>
      <p:sp>
        <p:nvSpPr>
          <p:cNvPr id="20" name="Shape 15"/>
          <p:cNvSpPr/>
          <p:nvPr/>
        </p:nvSpPr>
        <p:spPr>
          <a:xfrm>
            <a:off x="9029471"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10080231" y="1389888"/>
            <a:ext cx="530352" cy="530352"/>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10223426" y="1533083"/>
            <a:ext cx="243962" cy="243962"/>
          </a:xfrm>
          <a:prstGeom prst="rect">
            <a:avLst/>
          </a:prstGeom>
        </p:spPr>
      </p:pic>
      <p:sp>
        <p:nvSpPr>
          <p:cNvPr id="23" name="Text 17"/>
          <p:cNvSpPr txBox="1"/>
          <p:nvPr/>
        </p:nvSpPr>
        <p:spPr>
          <a:xfrm>
            <a:off x="9157487"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日常管理巡检</a:t>
            </a:r>
            <a:endParaRPr lang="en-US" sz="1300" dirty="0"/>
          </a:p>
        </p:txBody>
      </p:sp>
      <p:sp>
        <p:nvSpPr>
          <p:cNvPr id="24" name="Text 18"/>
          <p:cNvSpPr txBox="1"/>
          <p:nvPr/>
        </p:nvSpPr>
        <p:spPr>
          <a:xfrm>
            <a:off x="9212351"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全生命周期档案、维保、巡检、隐患整改与培训演练</a:t>
            </a:r>
            <a:endParaRPr lang="en-US" sz="1000" dirty="0"/>
          </a:p>
        </p:txBody>
      </p:sp>
      <p:sp>
        <p:nvSpPr>
          <p:cNvPr id="25" name="Shape 19"/>
          <p:cNvSpPr/>
          <p:nvPr/>
        </p:nvSpPr>
        <p:spPr>
          <a:xfrm>
            <a:off x="530352" y="2994660"/>
            <a:ext cx="68580" cy="173736"/>
          </a:xfrm>
          <a:prstGeom prst="rect">
            <a:avLst/>
          </a:prstGeom>
          <a:solidFill>
            <a:srgbClr val="F97B00"/>
          </a:solidFill>
          <a:ln/>
        </p:spPr>
      </p:sp>
      <p:sp>
        <p:nvSpPr>
          <p:cNvPr id="26" name="Text 20"/>
          <p:cNvSpPr txBox="1"/>
          <p:nvPr/>
        </p:nvSpPr>
        <p:spPr>
          <a:xfrm>
            <a:off x="685800" y="29443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九大类消防设施监测范围</a:t>
            </a:r>
            <a:endParaRPr lang="en-US" sz="1250" dirty="0"/>
          </a:p>
        </p:txBody>
      </p:sp>
      <p:sp>
        <p:nvSpPr>
          <p:cNvPr id="27" name="Shape 21"/>
          <p:cNvSpPr/>
          <p:nvPr/>
        </p:nvSpPr>
        <p:spPr>
          <a:xfrm>
            <a:off x="530352" y="3273552"/>
            <a:ext cx="3588410" cy="749808"/>
          </a:xfrm>
          <a:prstGeom prst="roundRect">
            <a:avLst>
              <a:gd name="adj" fmla="val 4268"/>
            </a:avLst>
          </a:prstGeom>
          <a:solidFill>
            <a:srgbClr val="FFF7EF"/>
          </a:solidFill>
          <a:ln w="9525">
            <a:solidFill>
              <a:srgbClr val="EEDFD0"/>
            </a:solidFill>
            <a:prstDash val="solid"/>
          </a:ln>
        </p:spPr>
      </p:sp>
      <p:sp>
        <p:nvSpPr>
          <p:cNvPr id="28" name="Text 22"/>
          <p:cNvSpPr txBox="1"/>
          <p:nvPr/>
        </p:nvSpPr>
        <p:spPr>
          <a:xfrm>
            <a:off x="65836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01</a:t>
            </a:r>
            <a:endParaRPr lang="en-US" sz="1300" dirty="0"/>
          </a:p>
        </p:txBody>
      </p:sp>
      <p:sp>
        <p:nvSpPr>
          <p:cNvPr id="29" name="Text 23"/>
          <p:cNvSpPr txBox="1"/>
          <p:nvPr/>
        </p:nvSpPr>
        <p:spPr>
          <a:xfrm>
            <a:off x="102412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消防水系统</a:t>
            </a:r>
            <a:endParaRPr lang="en-US" sz="1100" dirty="0"/>
          </a:p>
        </p:txBody>
      </p:sp>
      <p:sp>
        <p:nvSpPr>
          <p:cNvPr id="30" name="Text 24"/>
          <p:cNvSpPr txBox="1"/>
          <p:nvPr/>
        </p:nvSpPr>
        <p:spPr>
          <a:xfrm>
            <a:off x="694944"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水压/水位、水泵启停与故障、末端压力、湿式/干式报警阀、关键阀门启闭</a:t>
            </a:r>
            <a:endParaRPr lang="en-US" sz="1000" dirty="0"/>
          </a:p>
        </p:txBody>
      </p:sp>
      <p:sp>
        <p:nvSpPr>
          <p:cNvPr id="31" name="Shape 25"/>
          <p:cNvSpPr/>
          <p:nvPr/>
        </p:nvSpPr>
        <p:spPr>
          <a:xfrm>
            <a:off x="4301642" y="3273552"/>
            <a:ext cx="3588410" cy="749808"/>
          </a:xfrm>
          <a:prstGeom prst="roundRect">
            <a:avLst>
              <a:gd name="adj" fmla="val 4268"/>
            </a:avLst>
          </a:prstGeom>
          <a:solidFill>
            <a:srgbClr val="FFFFFF"/>
          </a:solidFill>
          <a:ln w="9525">
            <a:solidFill>
              <a:srgbClr val="EEDFD0"/>
            </a:solidFill>
            <a:prstDash val="solid"/>
          </a:ln>
        </p:spPr>
      </p:sp>
      <p:sp>
        <p:nvSpPr>
          <p:cNvPr id="32" name="Text 26"/>
          <p:cNvSpPr txBox="1"/>
          <p:nvPr/>
        </p:nvSpPr>
        <p:spPr>
          <a:xfrm>
            <a:off x="442965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02</a:t>
            </a:r>
            <a:endParaRPr lang="en-US" sz="1300" dirty="0"/>
          </a:p>
        </p:txBody>
      </p:sp>
      <p:sp>
        <p:nvSpPr>
          <p:cNvPr id="33" name="Text 27"/>
          <p:cNvSpPr txBox="1"/>
          <p:nvPr/>
        </p:nvSpPr>
        <p:spPr>
          <a:xfrm>
            <a:off x="479541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火灾报警监测</a:t>
            </a:r>
            <a:endParaRPr lang="en-US" sz="1100" dirty="0"/>
          </a:p>
        </p:txBody>
      </p:sp>
      <p:sp>
        <p:nvSpPr>
          <p:cNvPr id="34" name="Text 28"/>
          <p:cNvSpPr txBox="1"/>
          <p:nvPr/>
        </p:nvSpPr>
        <p:spPr>
          <a:xfrm>
            <a:off x="4466234"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烟感温感手报联网；吸气式烟感、红外对射、感温光纤、可燃气体/氧气/粉尘</a:t>
            </a:r>
            <a:endParaRPr lang="en-US" sz="1000" dirty="0"/>
          </a:p>
        </p:txBody>
      </p:sp>
      <p:sp>
        <p:nvSpPr>
          <p:cNvPr id="35" name="Shape 29"/>
          <p:cNvSpPr/>
          <p:nvPr/>
        </p:nvSpPr>
        <p:spPr>
          <a:xfrm>
            <a:off x="8072933" y="3273552"/>
            <a:ext cx="3588410" cy="749808"/>
          </a:xfrm>
          <a:prstGeom prst="roundRect">
            <a:avLst>
              <a:gd name="adj" fmla="val 4268"/>
            </a:avLst>
          </a:prstGeom>
          <a:solidFill>
            <a:srgbClr val="FFF7EF"/>
          </a:solidFill>
          <a:ln w="9525">
            <a:solidFill>
              <a:srgbClr val="EEDFD0"/>
            </a:solidFill>
            <a:prstDash val="solid"/>
          </a:ln>
        </p:spPr>
      </p:sp>
      <p:sp>
        <p:nvSpPr>
          <p:cNvPr id="36" name="Text 30"/>
          <p:cNvSpPr txBox="1"/>
          <p:nvPr/>
        </p:nvSpPr>
        <p:spPr>
          <a:xfrm>
            <a:off x="8200949"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03</a:t>
            </a:r>
            <a:endParaRPr lang="en-US" sz="1300" dirty="0"/>
          </a:p>
        </p:txBody>
      </p:sp>
      <p:sp>
        <p:nvSpPr>
          <p:cNvPr id="37" name="Text 31"/>
          <p:cNvSpPr txBox="1"/>
          <p:nvPr/>
        </p:nvSpPr>
        <p:spPr>
          <a:xfrm>
            <a:off x="8566709"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防排烟系统</a:t>
            </a:r>
            <a:endParaRPr lang="en-US" sz="1100" dirty="0"/>
          </a:p>
        </p:txBody>
      </p:sp>
      <p:sp>
        <p:nvSpPr>
          <p:cNvPr id="38" name="Text 32"/>
          <p:cNvSpPr txBox="1"/>
          <p:nvPr/>
        </p:nvSpPr>
        <p:spPr>
          <a:xfrm>
            <a:off x="8237525"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排烟/补风机状态与远程启动、排烟口阀窗、加压送风、挡烟垂壁、防火阀</a:t>
            </a:r>
            <a:endParaRPr lang="en-US" sz="1000" dirty="0"/>
          </a:p>
        </p:txBody>
      </p:sp>
      <p:sp>
        <p:nvSpPr>
          <p:cNvPr id="39" name="Shape 33"/>
          <p:cNvSpPr/>
          <p:nvPr/>
        </p:nvSpPr>
        <p:spPr>
          <a:xfrm>
            <a:off x="530352" y="4114800"/>
            <a:ext cx="3588410" cy="749808"/>
          </a:xfrm>
          <a:prstGeom prst="roundRect">
            <a:avLst>
              <a:gd name="adj" fmla="val 4268"/>
            </a:avLst>
          </a:prstGeom>
          <a:solidFill>
            <a:srgbClr val="FFFFFF"/>
          </a:solidFill>
          <a:ln w="9525">
            <a:solidFill>
              <a:srgbClr val="EEDFD0"/>
            </a:solidFill>
            <a:prstDash val="solid"/>
          </a:ln>
        </p:spPr>
      </p:sp>
      <p:sp>
        <p:nvSpPr>
          <p:cNvPr id="40" name="Text 34"/>
          <p:cNvSpPr txBox="1"/>
          <p:nvPr/>
        </p:nvSpPr>
        <p:spPr>
          <a:xfrm>
            <a:off x="65836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04</a:t>
            </a:r>
            <a:endParaRPr lang="en-US" sz="1300" dirty="0"/>
          </a:p>
        </p:txBody>
      </p:sp>
      <p:sp>
        <p:nvSpPr>
          <p:cNvPr id="41" name="Text 35"/>
          <p:cNvSpPr txBox="1"/>
          <p:nvPr/>
        </p:nvSpPr>
        <p:spPr>
          <a:xfrm>
            <a:off x="102412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电气火灾监控</a:t>
            </a:r>
            <a:endParaRPr lang="en-US" sz="1100" dirty="0"/>
          </a:p>
        </p:txBody>
      </p:sp>
      <p:sp>
        <p:nvSpPr>
          <p:cNvPr id="42" name="Text 36"/>
          <p:cNvSpPr txBox="1"/>
          <p:nvPr/>
        </p:nvSpPr>
        <p:spPr>
          <a:xfrm>
            <a:off x="694944"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在线电压、剩余电流、电缆温度监测记录，异常现场报警与断电确认</a:t>
            </a:r>
            <a:endParaRPr lang="en-US" sz="1000" dirty="0"/>
          </a:p>
        </p:txBody>
      </p:sp>
      <p:sp>
        <p:nvSpPr>
          <p:cNvPr id="43" name="Shape 37"/>
          <p:cNvSpPr/>
          <p:nvPr/>
        </p:nvSpPr>
        <p:spPr>
          <a:xfrm>
            <a:off x="4301642" y="4114800"/>
            <a:ext cx="3588410" cy="749808"/>
          </a:xfrm>
          <a:prstGeom prst="roundRect">
            <a:avLst>
              <a:gd name="adj" fmla="val 4268"/>
            </a:avLst>
          </a:prstGeom>
          <a:solidFill>
            <a:srgbClr val="FFF7EF"/>
          </a:solidFill>
          <a:ln w="9525">
            <a:solidFill>
              <a:srgbClr val="EEDFD0"/>
            </a:solidFill>
            <a:prstDash val="solid"/>
          </a:ln>
        </p:spPr>
      </p:sp>
      <p:sp>
        <p:nvSpPr>
          <p:cNvPr id="44" name="Text 38"/>
          <p:cNvSpPr txBox="1"/>
          <p:nvPr/>
        </p:nvSpPr>
        <p:spPr>
          <a:xfrm>
            <a:off x="442965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05</a:t>
            </a:r>
            <a:endParaRPr lang="en-US" sz="1300" dirty="0"/>
          </a:p>
        </p:txBody>
      </p:sp>
      <p:sp>
        <p:nvSpPr>
          <p:cNvPr id="45" name="Text 39"/>
          <p:cNvSpPr txBox="1"/>
          <p:nvPr/>
        </p:nvSpPr>
        <p:spPr>
          <a:xfrm>
            <a:off x="479541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建筑设施监控</a:t>
            </a:r>
            <a:endParaRPr lang="en-US" sz="1100" dirty="0"/>
          </a:p>
        </p:txBody>
      </p:sp>
      <p:sp>
        <p:nvSpPr>
          <p:cNvPr id="46" name="Text 40"/>
          <p:cNvSpPr txBox="1"/>
          <p:nvPr/>
        </p:nvSpPr>
        <p:spPr>
          <a:xfrm>
            <a:off x="4466234"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防火门/防火卷帘状态、关键机房水浸、排水泵启闭与液位</a:t>
            </a:r>
            <a:endParaRPr lang="en-US" sz="1000" dirty="0"/>
          </a:p>
        </p:txBody>
      </p:sp>
      <p:sp>
        <p:nvSpPr>
          <p:cNvPr id="47" name="Shape 41"/>
          <p:cNvSpPr/>
          <p:nvPr/>
        </p:nvSpPr>
        <p:spPr>
          <a:xfrm>
            <a:off x="8072933" y="4114800"/>
            <a:ext cx="3588410" cy="749808"/>
          </a:xfrm>
          <a:prstGeom prst="roundRect">
            <a:avLst>
              <a:gd name="adj" fmla="val 4268"/>
            </a:avLst>
          </a:prstGeom>
          <a:solidFill>
            <a:srgbClr val="FFFFFF"/>
          </a:solidFill>
          <a:ln w="9525">
            <a:solidFill>
              <a:srgbClr val="EEDFD0"/>
            </a:solidFill>
            <a:prstDash val="solid"/>
          </a:ln>
        </p:spPr>
      </p:sp>
      <p:sp>
        <p:nvSpPr>
          <p:cNvPr id="48" name="Text 42"/>
          <p:cNvSpPr txBox="1"/>
          <p:nvPr/>
        </p:nvSpPr>
        <p:spPr>
          <a:xfrm>
            <a:off x="8200949"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06</a:t>
            </a:r>
            <a:endParaRPr lang="en-US" sz="1300" dirty="0"/>
          </a:p>
        </p:txBody>
      </p:sp>
      <p:sp>
        <p:nvSpPr>
          <p:cNvPr id="49" name="Text 43"/>
          <p:cNvSpPr txBox="1"/>
          <p:nvPr/>
        </p:nvSpPr>
        <p:spPr>
          <a:xfrm>
            <a:off x="8566709"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消防专用电源</a:t>
            </a:r>
            <a:endParaRPr lang="en-US" sz="1100" dirty="0"/>
          </a:p>
        </p:txBody>
      </p:sp>
      <p:sp>
        <p:nvSpPr>
          <p:cNvPr id="50" name="Text 44"/>
          <p:cNvSpPr txBox="1"/>
          <p:nvPr/>
        </p:nvSpPr>
        <p:spPr>
          <a:xfrm>
            <a:off x="8237525"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消防主/备用电源、应急照明主/备电源监测</a:t>
            </a:r>
            <a:endParaRPr lang="en-US" sz="1000" dirty="0"/>
          </a:p>
        </p:txBody>
      </p:sp>
      <p:sp>
        <p:nvSpPr>
          <p:cNvPr id="51" name="Shape 45"/>
          <p:cNvSpPr/>
          <p:nvPr/>
        </p:nvSpPr>
        <p:spPr>
          <a:xfrm>
            <a:off x="530352" y="4956048"/>
            <a:ext cx="3588410" cy="749808"/>
          </a:xfrm>
          <a:prstGeom prst="roundRect">
            <a:avLst>
              <a:gd name="adj" fmla="val 4268"/>
            </a:avLst>
          </a:prstGeom>
          <a:solidFill>
            <a:srgbClr val="FFF7EF"/>
          </a:solidFill>
          <a:ln w="9525">
            <a:solidFill>
              <a:srgbClr val="EEDFD0"/>
            </a:solidFill>
            <a:prstDash val="solid"/>
          </a:ln>
        </p:spPr>
      </p:sp>
      <p:sp>
        <p:nvSpPr>
          <p:cNvPr id="52" name="Text 46"/>
          <p:cNvSpPr txBox="1"/>
          <p:nvPr/>
        </p:nvSpPr>
        <p:spPr>
          <a:xfrm>
            <a:off x="65836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07</a:t>
            </a:r>
            <a:endParaRPr lang="en-US" sz="1300" dirty="0"/>
          </a:p>
        </p:txBody>
      </p:sp>
      <p:sp>
        <p:nvSpPr>
          <p:cNvPr id="53" name="Text 47"/>
          <p:cNvSpPr txBox="1"/>
          <p:nvPr/>
        </p:nvSpPr>
        <p:spPr>
          <a:xfrm>
            <a:off x="102412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应急照明疏散</a:t>
            </a:r>
            <a:endParaRPr lang="en-US" sz="1100" dirty="0"/>
          </a:p>
        </p:txBody>
      </p:sp>
      <p:sp>
        <p:nvSpPr>
          <p:cNvPr id="54" name="Text 48"/>
          <p:cNvSpPr txBox="1"/>
          <p:nvPr/>
        </p:nvSpPr>
        <p:spPr>
          <a:xfrm>
            <a:off x="694944"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应急照明状态、疏散指示系统监控</a:t>
            </a:r>
            <a:endParaRPr lang="en-US" sz="1000" dirty="0"/>
          </a:p>
        </p:txBody>
      </p:sp>
      <p:sp>
        <p:nvSpPr>
          <p:cNvPr id="55" name="Shape 49"/>
          <p:cNvSpPr/>
          <p:nvPr/>
        </p:nvSpPr>
        <p:spPr>
          <a:xfrm>
            <a:off x="4301642" y="4956048"/>
            <a:ext cx="3588410" cy="749808"/>
          </a:xfrm>
          <a:prstGeom prst="roundRect">
            <a:avLst>
              <a:gd name="adj" fmla="val 4268"/>
            </a:avLst>
          </a:prstGeom>
          <a:solidFill>
            <a:srgbClr val="FFFFFF"/>
          </a:solidFill>
          <a:ln w="9525">
            <a:solidFill>
              <a:srgbClr val="EEDFD0"/>
            </a:solidFill>
            <a:prstDash val="solid"/>
          </a:ln>
        </p:spPr>
      </p:sp>
      <p:sp>
        <p:nvSpPr>
          <p:cNvPr id="56" name="Text 50"/>
          <p:cNvSpPr txBox="1"/>
          <p:nvPr/>
        </p:nvSpPr>
        <p:spPr>
          <a:xfrm>
            <a:off x="442965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08</a:t>
            </a:r>
            <a:endParaRPr lang="en-US" sz="1300" dirty="0"/>
          </a:p>
        </p:txBody>
      </p:sp>
      <p:sp>
        <p:nvSpPr>
          <p:cNvPr id="57" name="Text 51"/>
          <p:cNvSpPr txBox="1"/>
          <p:nvPr/>
        </p:nvSpPr>
        <p:spPr>
          <a:xfrm>
            <a:off x="479541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气体灭火系统</a:t>
            </a:r>
            <a:endParaRPr lang="en-US" sz="1100" dirty="0"/>
          </a:p>
        </p:txBody>
      </p:sp>
      <p:sp>
        <p:nvSpPr>
          <p:cNvPr id="58" name="Text 52"/>
          <p:cNvSpPr txBox="1"/>
          <p:nvPr/>
        </p:nvSpPr>
        <p:spPr>
          <a:xfrm>
            <a:off x="4466234"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系统压力监测、气体灭火主机联网监测、氧浓度</a:t>
            </a:r>
            <a:endParaRPr lang="en-US" sz="1000" dirty="0"/>
          </a:p>
        </p:txBody>
      </p:sp>
      <p:sp>
        <p:nvSpPr>
          <p:cNvPr id="59" name="Shape 53"/>
          <p:cNvSpPr/>
          <p:nvPr/>
        </p:nvSpPr>
        <p:spPr>
          <a:xfrm>
            <a:off x="8072933" y="4956048"/>
            <a:ext cx="3588410" cy="749808"/>
          </a:xfrm>
          <a:prstGeom prst="roundRect">
            <a:avLst>
              <a:gd name="adj" fmla="val 4268"/>
            </a:avLst>
          </a:prstGeom>
          <a:solidFill>
            <a:srgbClr val="FFF7EF"/>
          </a:solidFill>
          <a:ln w="9525">
            <a:solidFill>
              <a:srgbClr val="EEDFD0"/>
            </a:solidFill>
            <a:prstDash val="solid"/>
          </a:ln>
        </p:spPr>
      </p:sp>
      <p:sp>
        <p:nvSpPr>
          <p:cNvPr id="60" name="Text 54"/>
          <p:cNvSpPr txBox="1"/>
          <p:nvPr/>
        </p:nvSpPr>
        <p:spPr>
          <a:xfrm>
            <a:off x="8200949"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09</a:t>
            </a:r>
            <a:endParaRPr lang="en-US" sz="1300" dirty="0"/>
          </a:p>
        </p:txBody>
      </p:sp>
      <p:sp>
        <p:nvSpPr>
          <p:cNvPr id="61" name="Text 55"/>
          <p:cNvSpPr txBox="1"/>
          <p:nvPr/>
        </p:nvSpPr>
        <p:spPr>
          <a:xfrm>
            <a:off x="8566709"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消火栓灭火器</a:t>
            </a:r>
            <a:endParaRPr lang="en-US" sz="1100" dirty="0"/>
          </a:p>
        </p:txBody>
      </p:sp>
      <p:sp>
        <p:nvSpPr>
          <p:cNvPr id="62" name="Text 56"/>
          <p:cNvSpPr txBox="1"/>
          <p:nvPr/>
        </p:nvSpPr>
        <p:spPr>
          <a:xfrm>
            <a:off x="8237525"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室内外消火栓箱、灭火器状态监测（人工录入 + 电子台账）</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智慧消防（二）：多维感知与分级预警机制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单点报警不等于火情——通过多传感器与视频交叉验证，把误报率压下来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火灾多维感知</a:t>
            </a:r>
            <a:endParaRPr lang="en-US" sz="1250" dirty="0"/>
          </a:p>
        </p:txBody>
      </p:sp>
      <p:sp>
        <p:nvSpPr>
          <p:cNvPr id="7" name="Shape 5"/>
          <p:cNvSpPr/>
          <p:nvPr/>
        </p:nvSpPr>
        <p:spPr>
          <a:xfrm>
            <a:off x="530352" y="1517904"/>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18488"/>
            <a:ext cx="384048" cy="38404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8637" y="1722181"/>
            <a:ext cx="176662" cy="176662"/>
          </a:xfrm>
          <a:prstGeom prst="rect">
            <a:avLst/>
          </a:prstGeom>
        </p:spPr>
      </p:pic>
      <p:sp>
        <p:nvSpPr>
          <p:cNvPr id="10" name="Text 7"/>
          <p:cNvSpPr txBox="1"/>
          <p:nvPr/>
        </p:nvSpPr>
        <p:spPr>
          <a:xfrm>
            <a:off x="1188720" y="1545336"/>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传统火灾报警器</a:t>
            </a:r>
            <a:endParaRPr lang="en-US" sz="1100" dirty="0"/>
          </a:p>
        </p:txBody>
      </p:sp>
      <p:sp>
        <p:nvSpPr>
          <p:cNvPr id="11" name="Text 8"/>
          <p:cNvSpPr txBox="1"/>
          <p:nvPr/>
        </p:nvSpPr>
        <p:spPr>
          <a:xfrm>
            <a:off x="1188720" y="1783080"/>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烟感、温感、吸气式烟感、红外对射、感温光纤</a:t>
            </a:r>
            <a:endParaRPr lang="en-US" sz="1000" dirty="0"/>
          </a:p>
        </p:txBody>
      </p:sp>
      <p:sp>
        <p:nvSpPr>
          <p:cNvPr id="12" name="Shape 9"/>
          <p:cNvSpPr/>
          <p:nvPr/>
        </p:nvSpPr>
        <p:spPr>
          <a:xfrm>
            <a:off x="530352" y="2176272"/>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276856"/>
            <a:ext cx="384048" cy="38404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8637" y="2380549"/>
            <a:ext cx="176662" cy="176662"/>
          </a:xfrm>
          <a:prstGeom prst="rect">
            <a:avLst/>
          </a:prstGeom>
        </p:spPr>
      </p:pic>
      <p:sp>
        <p:nvSpPr>
          <p:cNvPr id="15" name="Text 11"/>
          <p:cNvSpPr txBox="1"/>
          <p:nvPr/>
        </p:nvSpPr>
        <p:spPr>
          <a:xfrm>
            <a:off x="1188720" y="2203704"/>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新型火灾报警器</a:t>
            </a:r>
            <a:endParaRPr lang="en-US" sz="1100" dirty="0"/>
          </a:p>
        </p:txBody>
      </p:sp>
      <p:sp>
        <p:nvSpPr>
          <p:cNvPr id="16" name="Text 12"/>
          <p:cNvSpPr txBox="1"/>
          <p:nvPr/>
        </p:nvSpPr>
        <p:spPr>
          <a:xfrm>
            <a:off x="1188720" y="2441448"/>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热成像摄像头、电缆温度监控、可燃气体探测、粉尘浓度探测</a:t>
            </a:r>
            <a:endParaRPr lang="en-US" sz="1000" dirty="0"/>
          </a:p>
        </p:txBody>
      </p:sp>
      <p:sp>
        <p:nvSpPr>
          <p:cNvPr id="17" name="Shape 13"/>
          <p:cNvSpPr/>
          <p:nvPr/>
        </p:nvSpPr>
        <p:spPr>
          <a:xfrm>
            <a:off x="530352" y="2834640"/>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2935224"/>
            <a:ext cx="384048" cy="38404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8637" y="3038917"/>
            <a:ext cx="176662" cy="176662"/>
          </a:xfrm>
          <a:prstGeom prst="rect">
            <a:avLst/>
          </a:prstGeom>
        </p:spPr>
      </p:pic>
      <p:sp>
        <p:nvSpPr>
          <p:cNvPr id="20" name="Text 15"/>
          <p:cNvSpPr txBox="1"/>
          <p:nvPr/>
        </p:nvSpPr>
        <p:spPr>
          <a:xfrm>
            <a:off x="1188720" y="2862072"/>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视频智能分析</a:t>
            </a:r>
            <a:endParaRPr lang="en-US" sz="1100" dirty="0"/>
          </a:p>
        </p:txBody>
      </p:sp>
      <p:sp>
        <p:nvSpPr>
          <p:cNvPr id="21" name="Text 16"/>
          <p:cNvSpPr txBox="1"/>
          <p:nvPr/>
        </p:nvSpPr>
        <p:spPr>
          <a:xfrm>
            <a:off x="1188720" y="3099816"/>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AI 视频分析自动识别烟雾、火焰并报警</a:t>
            </a:r>
            <a:endParaRPr lang="en-US" sz="1000" dirty="0"/>
          </a:p>
        </p:txBody>
      </p:sp>
      <p:sp>
        <p:nvSpPr>
          <p:cNvPr id="22" name="Shape 17"/>
          <p:cNvSpPr/>
          <p:nvPr/>
        </p:nvSpPr>
        <p:spPr>
          <a:xfrm>
            <a:off x="530352" y="3493008"/>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694944" y="3593592"/>
            <a:ext cx="384048" cy="384048"/>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798637" y="3697285"/>
            <a:ext cx="176662" cy="176662"/>
          </a:xfrm>
          <a:prstGeom prst="rect">
            <a:avLst/>
          </a:prstGeom>
        </p:spPr>
      </p:pic>
      <p:sp>
        <p:nvSpPr>
          <p:cNvPr id="25" name="Text 19"/>
          <p:cNvSpPr txBox="1"/>
          <p:nvPr/>
        </p:nvSpPr>
        <p:spPr>
          <a:xfrm>
            <a:off x="1188720" y="3520440"/>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位置联动</a:t>
            </a:r>
            <a:endParaRPr lang="en-US" sz="1100" dirty="0"/>
          </a:p>
        </p:txBody>
      </p:sp>
      <p:sp>
        <p:nvSpPr>
          <p:cNvPr id="26" name="Text 20"/>
          <p:cNvSpPr txBox="1"/>
          <p:nvPr/>
        </p:nvSpPr>
        <p:spPr>
          <a:xfrm>
            <a:off x="1188720" y="3758184"/>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结合设备位置信息自动调取覆盖报警器的监控视频，以空间位置标记弹窗、文字地址播报通知指定人员确认</a:t>
            </a:r>
            <a:endParaRPr lang="en-US" sz="1000" dirty="0"/>
          </a:p>
        </p:txBody>
      </p:sp>
      <p:sp>
        <p:nvSpPr>
          <p:cNvPr id="27" name="Shape 21"/>
          <p:cNvSpPr/>
          <p:nvPr/>
        </p:nvSpPr>
        <p:spPr>
          <a:xfrm>
            <a:off x="6272784" y="1257300"/>
            <a:ext cx="68580" cy="173736"/>
          </a:xfrm>
          <a:prstGeom prst="rect">
            <a:avLst/>
          </a:prstGeom>
          <a:solidFill>
            <a:srgbClr val="F97B00"/>
          </a:solidFill>
          <a:ln/>
        </p:spPr>
      </p:sp>
      <p:sp>
        <p:nvSpPr>
          <p:cNvPr id="28" name="Text 22"/>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智能预警机制</a:t>
            </a:r>
            <a:endParaRPr lang="en-US" sz="1250" dirty="0"/>
          </a:p>
        </p:txBody>
      </p:sp>
      <p:sp>
        <p:nvSpPr>
          <p:cNvPr id="29" name="Shape 23"/>
          <p:cNvSpPr/>
          <p:nvPr/>
        </p:nvSpPr>
        <p:spPr>
          <a:xfrm>
            <a:off x="6272784" y="1517904"/>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6437376" y="1673352"/>
            <a:ext cx="274320" cy="274320"/>
          </a:xfrm>
          <a:prstGeom prst="ellipse">
            <a:avLst/>
          </a:prstGeom>
          <a:solidFill>
            <a:srgbClr val="0E2340"/>
          </a:solidFill>
          <a:ln/>
        </p:spPr>
      </p:sp>
      <p:sp>
        <p:nvSpPr>
          <p:cNvPr id="31" name="Text 25"/>
          <p:cNvSpPr txBox="1"/>
          <p:nvPr/>
        </p:nvSpPr>
        <p:spPr>
          <a:xfrm>
            <a:off x="6437376"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6821424" y="1545336"/>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多级预警机制</a:t>
            </a:r>
            <a:endParaRPr lang="en-US" sz="1100" dirty="0"/>
          </a:p>
        </p:txBody>
      </p:sp>
      <p:sp>
        <p:nvSpPr>
          <p:cNvPr id="33" name="Text 27"/>
          <p:cNvSpPr txBox="1"/>
          <p:nvPr/>
        </p:nvSpPr>
        <p:spPr>
          <a:xfrm>
            <a:off x="6821424" y="1783080"/>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设置不同机制的预警阈值，实现分级预警</a:t>
            </a:r>
            <a:endParaRPr lang="en-US" sz="1000" dirty="0"/>
          </a:p>
        </p:txBody>
      </p:sp>
      <p:sp>
        <p:nvSpPr>
          <p:cNvPr id="34" name="Shape 28"/>
          <p:cNvSpPr/>
          <p:nvPr/>
        </p:nvSpPr>
        <p:spPr>
          <a:xfrm>
            <a:off x="6272784" y="2176272"/>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9"/>
          <p:cNvSpPr/>
          <p:nvPr/>
        </p:nvSpPr>
        <p:spPr>
          <a:xfrm>
            <a:off x="6437376" y="2331720"/>
            <a:ext cx="274320" cy="274320"/>
          </a:xfrm>
          <a:prstGeom prst="ellipse">
            <a:avLst/>
          </a:prstGeom>
          <a:solidFill>
            <a:srgbClr val="0E2340"/>
          </a:solidFill>
          <a:ln/>
        </p:spPr>
      </p:sp>
      <p:sp>
        <p:nvSpPr>
          <p:cNvPr id="36" name="Text 30"/>
          <p:cNvSpPr txBox="1"/>
          <p:nvPr/>
        </p:nvSpPr>
        <p:spPr>
          <a:xfrm>
            <a:off x="6437376"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1"/>
          <p:cNvSpPr txBox="1"/>
          <p:nvPr/>
        </p:nvSpPr>
        <p:spPr>
          <a:xfrm>
            <a:off x="6821424" y="2203704"/>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预警信息分析</a:t>
            </a:r>
            <a:endParaRPr lang="en-US" sz="1100" dirty="0"/>
          </a:p>
        </p:txBody>
      </p:sp>
      <p:sp>
        <p:nvSpPr>
          <p:cNvPr id="38" name="Text 32"/>
          <p:cNvSpPr txBox="1"/>
          <p:nvPr/>
        </p:nvSpPr>
        <p:spPr>
          <a:xfrm>
            <a:off x="6821424" y="2441448"/>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单一火情报警后联动附近多传感器数据与视频，降低误报率，提高预警准确性</a:t>
            </a:r>
            <a:endParaRPr lang="en-US" sz="1000" dirty="0"/>
          </a:p>
        </p:txBody>
      </p:sp>
      <p:sp>
        <p:nvSpPr>
          <p:cNvPr id="39" name="Shape 33"/>
          <p:cNvSpPr/>
          <p:nvPr/>
        </p:nvSpPr>
        <p:spPr>
          <a:xfrm>
            <a:off x="6272784" y="2834640"/>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4"/>
          <p:cNvSpPr/>
          <p:nvPr/>
        </p:nvSpPr>
        <p:spPr>
          <a:xfrm>
            <a:off x="6437376" y="2990088"/>
            <a:ext cx="274320" cy="274320"/>
          </a:xfrm>
          <a:prstGeom prst="ellipse">
            <a:avLst/>
          </a:prstGeom>
          <a:solidFill>
            <a:srgbClr val="0E2340"/>
          </a:solidFill>
          <a:ln/>
        </p:spPr>
      </p:sp>
      <p:sp>
        <p:nvSpPr>
          <p:cNvPr id="41" name="Text 35"/>
          <p:cNvSpPr txBox="1"/>
          <p:nvPr/>
        </p:nvSpPr>
        <p:spPr>
          <a:xfrm>
            <a:off x="6437376"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6"/>
          <p:cNvSpPr txBox="1"/>
          <p:nvPr/>
        </p:nvSpPr>
        <p:spPr>
          <a:xfrm>
            <a:off x="6821424" y="2862072"/>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预警信息推送</a:t>
            </a:r>
            <a:endParaRPr lang="en-US" sz="1100" dirty="0"/>
          </a:p>
        </p:txBody>
      </p:sp>
      <p:sp>
        <p:nvSpPr>
          <p:cNvPr id="43" name="Text 37"/>
          <p:cNvSpPr txBox="1"/>
          <p:nvPr/>
        </p:nvSpPr>
        <p:spPr>
          <a:xfrm>
            <a:off x="6821424" y="3099816"/>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发生火警后由管理人员人工确认，通过短信、微信、钉钉将预警推送至现场人员、处置人员及相关人员</a:t>
            </a:r>
            <a:endParaRPr lang="en-US" sz="1000" dirty="0"/>
          </a:p>
        </p:txBody>
      </p:sp>
      <p:sp>
        <p:nvSpPr>
          <p:cNvPr id="44" name="Shape 38"/>
          <p:cNvSpPr/>
          <p:nvPr/>
        </p:nvSpPr>
        <p:spPr>
          <a:xfrm>
            <a:off x="6272784" y="3493008"/>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39"/>
          <p:cNvSpPr/>
          <p:nvPr/>
        </p:nvSpPr>
        <p:spPr>
          <a:xfrm>
            <a:off x="6437376" y="3648456"/>
            <a:ext cx="274320" cy="274320"/>
          </a:xfrm>
          <a:prstGeom prst="ellipse">
            <a:avLst/>
          </a:prstGeom>
          <a:solidFill>
            <a:srgbClr val="0E2340"/>
          </a:solidFill>
          <a:ln/>
        </p:spPr>
      </p:sp>
      <p:sp>
        <p:nvSpPr>
          <p:cNvPr id="46" name="Text 40"/>
          <p:cNvSpPr txBox="1"/>
          <p:nvPr/>
        </p:nvSpPr>
        <p:spPr>
          <a:xfrm>
            <a:off x="6437376"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1"/>
          <p:cNvSpPr txBox="1"/>
          <p:nvPr/>
        </p:nvSpPr>
        <p:spPr>
          <a:xfrm>
            <a:off x="6821424" y="3520440"/>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历史数据分析</a:t>
            </a:r>
            <a:endParaRPr lang="en-US" sz="1100" dirty="0"/>
          </a:p>
        </p:txBody>
      </p:sp>
      <p:sp>
        <p:nvSpPr>
          <p:cNvPr id="48" name="Text 42"/>
          <p:cNvSpPr txBox="1"/>
          <p:nvPr/>
        </p:nvSpPr>
        <p:spPr>
          <a:xfrm>
            <a:off x="6821424" y="3758184"/>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基于历史数据趋势分析，提前识别潜在风险和高风险区域</a:t>
            </a:r>
            <a:endParaRPr lang="en-US" sz="1000" dirty="0"/>
          </a:p>
        </p:txBody>
      </p:sp>
      <p:sp>
        <p:nvSpPr>
          <p:cNvPr id="49" name="Shape 43"/>
          <p:cNvSpPr/>
          <p:nvPr/>
        </p:nvSpPr>
        <p:spPr>
          <a:xfrm>
            <a:off x="530352" y="4169664"/>
            <a:ext cx="11130991" cy="1737360"/>
          </a:xfrm>
          <a:prstGeom prst="roundRect">
            <a:avLst>
              <a:gd name="adj" fmla="val 184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Shape 44"/>
          <p:cNvSpPr/>
          <p:nvPr/>
        </p:nvSpPr>
        <p:spPr>
          <a:xfrm>
            <a:off x="768096" y="4366260"/>
            <a:ext cx="68580" cy="173736"/>
          </a:xfrm>
          <a:prstGeom prst="rect">
            <a:avLst/>
          </a:prstGeom>
          <a:solidFill>
            <a:srgbClr val="F97B00"/>
          </a:solidFill>
          <a:ln/>
        </p:spPr>
      </p:sp>
      <p:sp>
        <p:nvSpPr>
          <p:cNvPr id="51" name="Text 45"/>
          <p:cNvSpPr txBox="1"/>
          <p:nvPr/>
        </p:nvSpPr>
        <p:spPr>
          <a:xfrm>
            <a:off x="923544" y="43159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降误报的四道关卡</a:t>
            </a:r>
            <a:endParaRPr lang="en-US" sz="1250" dirty="0"/>
          </a:p>
        </p:txBody>
      </p:sp>
      <p:sp>
        <p:nvSpPr>
          <p:cNvPr id="52" name="Text 46"/>
          <p:cNvSpPr txBox="1"/>
          <p:nvPr/>
        </p:nvSpPr>
        <p:spPr>
          <a:xfrm>
            <a:off x="76809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① 阈值分级</a:t>
            </a:r>
            <a:endParaRPr lang="en-US" sz="1150" dirty="0"/>
          </a:p>
        </p:txBody>
      </p:sp>
      <p:sp>
        <p:nvSpPr>
          <p:cNvPr id="53" name="Text 47"/>
          <p:cNvSpPr txBox="1"/>
          <p:nvPr/>
        </p:nvSpPr>
        <p:spPr>
          <a:xfrm>
            <a:off x="76809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同一探测类型按区域风险等级配置差异化阈值，避免"一刀切"</a:t>
            </a:r>
            <a:endParaRPr lang="en-US" sz="1000" dirty="0"/>
          </a:p>
        </p:txBody>
      </p:sp>
      <p:sp>
        <p:nvSpPr>
          <p:cNvPr id="54" name="Text 48"/>
          <p:cNvSpPr txBox="1"/>
          <p:nvPr/>
        </p:nvSpPr>
        <p:spPr>
          <a:xfrm>
            <a:off x="346557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② 时空关联</a:t>
            </a:r>
            <a:endParaRPr lang="en-US" sz="1150" dirty="0"/>
          </a:p>
        </p:txBody>
      </p:sp>
      <p:sp>
        <p:nvSpPr>
          <p:cNvPr id="55" name="Text 49"/>
          <p:cNvSpPr txBox="1"/>
          <p:nvPr/>
        </p:nvSpPr>
        <p:spPr>
          <a:xfrm>
            <a:off x="346557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同一空间单元内 30 秒窗口多探测器联合判定，单点触发仅进入"预警"</a:t>
            </a:r>
            <a:endParaRPr lang="en-US" sz="1000" dirty="0"/>
          </a:p>
        </p:txBody>
      </p:sp>
      <p:sp>
        <p:nvSpPr>
          <p:cNvPr id="56" name="Text 50"/>
          <p:cNvSpPr txBox="1"/>
          <p:nvPr/>
        </p:nvSpPr>
        <p:spPr>
          <a:xfrm>
            <a:off x="616305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③ 视频复核</a:t>
            </a:r>
            <a:endParaRPr lang="en-US" sz="1150" dirty="0"/>
          </a:p>
        </p:txBody>
      </p:sp>
      <p:sp>
        <p:nvSpPr>
          <p:cNvPr id="57" name="Text 51"/>
          <p:cNvSpPr txBox="1"/>
          <p:nvPr/>
        </p:nvSpPr>
        <p:spPr>
          <a:xfrm>
            <a:off x="616305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自动调取报警点位视频快照与短片，值班人员一屏完成核实</a:t>
            </a:r>
            <a:endParaRPr lang="en-US" sz="1000" dirty="0"/>
          </a:p>
        </p:txBody>
      </p:sp>
      <p:sp>
        <p:nvSpPr>
          <p:cNvPr id="58" name="Text 52"/>
          <p:cNvSpPr txBox="1"/>
          <p:nvPr/>
        </p:nvSpPr>
        <p:spPr>
          <a:xfrm>
            <a:off x="886053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④ 闭环学习</a:t>
            </a:r>
            <a:endParaRPr lang="en-US" sz="1150" dirty="0"/>
          </a:p>
        </p:txBody>
      </p:sp>
      <p:sp>
        <p:nvSpPr>
          <p:cNvPr id="59" name="Text 53"/>
          <p:cNvSpPr txBox="1"/>
          <p:nvPr/>
        </p:nvSpPr>
        <p:spPr>
          <a:xfrm>
            <a:off x="886053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误报确认结果回写规则库，按月输出误报 TOP 点位与整改建议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智慧消防（三）：应急处置与联动控制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火情确认后一键启动预案，联动控制其余设备，支撑多方协同指挥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应急联动控制</a:t>
            </a:r>
            <a:endParaRPr lang="en-US" sz="1250" dirty="0"/>
          </a:p>
        </p:txBody>
      </p:sp>
      <p:sp>
        <p:nvSpPr>
          <p:cNvPr id="7" name="Shape 5"/>
          <p:cNvSpPr/>
          <p:nvPr/>
        </p:nvSpPr>
        <p:spPr>
          <a:xfrm>
            <a:off x="530352" y="1536192"/>
            <a:ext cx="548640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5448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自动灭火联动</a:t>
            </a:r>
            <a:endParaRPr lang="en-US" sz="1050" dirty="0"/>
          </a:p>
        </p:txBody>
      </p:sp>
      <p:sp>
        <p:nvSpPr>
          <p:cNvPr id="9" name="Text 7"/>
          <p:cNvSpPr txBox="1"/>
          <p:nvPr/>
        </p:nvSpPr>
        <p:spPr>
          <a:xfrm>
            <a:off x="2450592" y="1554480"/>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火情确认后，对未处于自动状态或未启动的消防灭火系统进行报警或自动操作</a:t>
            </a:r>
            <a:endParaRPr lang="en-US" sz="1000" dirty="0"/>
          </a:p>
        </p:txBody>
      </p:sp>
      <p:sp>
        <p:nvSpPr>
          <p:cNvPr id="10" name="Shape 8"/>
          <p:cNvSpPr/>
          <p:nvPr/>
        </p:nvSpPr>
        <p:spPr>
          <a:xfrm>
            <a:off x="530352" y="2139696"/>
            <a:ext cx="548640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57984"/>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疏散引导联动</a:t>
            </a:r>
            <a:endParaRPr lang="en-US" sz="1050" dirty="0"/>
          </a:p>
        </p:txBody>
      </p:sp>
      <p:sp>
        <p:nvSpPr>
          <p:cNvPr id="12" name="Text 10"/>
          <p:cNvSpPr txBox="1"/>
          <p:nvPr/>
        </p:nvSpPr>
        <p:spPr>
          <a:xfrm>
            <a:off x="2450592" y="2157984"/>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对未处于自动启动状态的应急广播、疏散指示系统进行监控报警或自动启动</a:t>
            </a:r>
            <a:endParaRPr lang="en-US" sz="1000" dirty="0"/>
          </a:p>
        </p:txBody>
      </p:sp>
      <p:sp>
        <p:nvSpPr>
          <p:cNvPr id="13" name="Shape 11"/>
          <p:cNvSpPr/>
          <p:nvPr/>
        </p:nvSpPr>
        <p:spPr>
          <a:xfrm>
            <a:off x="530352" y="2743200"/>
            <a:ext cx="548640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61488"/>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危险源自动切断</a:t>
            </a:r>
            <a:endParaRPr lang="en-US" sz="1050" dirty="0"/>
          </a:p>
        </p:txBody>
      </p:sp>
      <p:sp>
        <p:nvSpPr>
          <p:cNvPr id="15" name="Text 13"/>
          <p:cNvSpPr txBox="1"/>
          <p:nvPr/>
        </p:nvSpPr>
        <p:spPr>
          <a:xfrm>
            <a:off x="2450592" y="2761488"/>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对火情区域具有危险的电 / 液 / 气实现联动切断</a:t>
            </a:r>
            <a:endParaRPr lang="en-US" sz="1000" dirty="0"/>
          </a:p>
        </p:txBody>
      </p:sp>
      <p:sp>
        <p:nvSpPr>
          <p:cNvPr id="16" name="Shape 14"/>
          <p:cNvSpPr/>
          <p:nvPr/>
        </p:nvSpPr>
        <p:spPr>
          <a:xfrm>
            <a:off x="530352" y="3346704"/>
            <a:ext cx="548640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64992"/>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通风排烟联动</a:t>
            </a:r>
            <a:endParaRPr lang="en-US" sz="1050" dirty="0"/>
          </a:p>
        </p:txBody>
      </p:sp>
      <p:sp>
        <p:nvSpPr>
          <p:cNvPr id="18" name="Text 16"/>
          <p:cNvSpPr txBox="1"/>
          <p:nvPr/>
        </p:nvSpPr>
        <p:spPr>
          <a:xfrm>
            <a:off x="2450592" y="3364992"/>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对排烟系统状态进行判定，未启动时报警或自动操作</a:t>
            </a:r>
            <a:endParaRPr lang="en-US" sz="1000" dirty="0"/>
          </a:p>
        </p:txBody>
      </p:sp>
      <p:sp>
        <p:nvSpPr>
          <p:cNvPr id="19" name="Shape 17"/>
          <p:cNvSpPr/>
          <p:nvPr/>
        </p:nvSpPr>
        <p:spPr>
          <a:xfrm>
            <a:off x="530352" y="3950208"/>
            <a:ext cx="548640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68496"/>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门禁疏散联动</a:t>
            </a:r>
            <a:endParaRPr lang="en-US" sz="1050" dirty="0"/>
          </a:p>
        </p:txBody>
      </p:sp>
      <p:sp>
        <p:nvSpPr>
          <p:cNvPr id="21" name="Text 19"/>
          <p:cNvSpPr txBox="1"/>
          <p:nvPr/>
        </p:nvSpPr>
        <p:spPr>
          <a:xfrm>
            <a:off x="2450592" y="3968496"/>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火警确认状态下自动解锁疏散通道门禁，后台记录疏散路径与时间节点</a:t>
            </a:r>
            <a:endParaRPr lang="en-US" sz="1000" dirty="0"/>
          </a:p>
        </p:txBody>
      </p:sp>
      <p:sp>
        <p:nvSpPr>
          <p:cNvPr id="22" name="Shape 20"/>
          <p:cNvSpPr/>
          <p:nvPr/>
        </p:nvSpPr>
        <p:spPr>
          <a:xfrm>
            <a:off x="530352" y="4553712"/>
            <a:ext cx="5486400" cy="530352"/>
          </a:xfrm>
          <a:prstGeom prst="roundRect">
            <a:avLst>
              <a:gd name="adj" fmla="val 6034"/>
            </a:avLst>
          </a:prstGeom>
          <a:solidFill>
            <a:srgbClr val="FFFFFF"/>
          </a:solidFill>
          <a:ln w="9525">
            <a:solidFill>
              <a:srgbClr val="E3E7EB"/>
            </a:solidFill>
            <a:prstDash val="solid"/>
          </a:ln>
        </p:spPr>
      </p:sp>
      <p:sp>
        <p:nvSpPr>
          <p:cNvPr id="23" name="Text 21"/>
          <p:cNvSpPr txBox="1"/>
          <p:nvPr/>
        </p:nvSpPr>
        <p:spPr>
          <a:xfrm>
            <a:off x="694944" y="457200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模拟演练联动</a:t>
            </a:r>
            <a:endParaRPr lang="en-US" sz="1050" dirty="0"/>
          </a:p>
        </p:txBody>
      </p:sp>
      <p:sp>
        <p:nvSpPr>
          <p:cNvPr id="24" name="Text 22"/>
          <p:cNvSpPr txBox="1"/>
          <p:nvPr/>
        </p:nvSpPr>
        <p:spPr>
          <a:xfrm>
            <a:off x="2450592" y="4572000"/>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增加模拟演练的应急联动控制功能，演练与实战使用同一套机制</a:t>
            </a:r>
            <a:endParaRPr lang="en-US" sz="1000" dirty="0"/>
          </a:p>
        </p:txBody>
      </p:sp>
      <p:sp>
        <p:nvSpPr>
          <p:cNvPr id="25" name="Shape 23"/>
          <p:cNvSpPr/>
          <p:nvPr/>
        </p:nvSpPr>
        <p:spPr>
          <a:xfrm>
            <a:off x="6272784" y="1257300"/>
            <a:ext cx="68580" cy="173736"/>
          </a:xfrm>
          <a:prstGeom prst="rect">
            <a:avLst/>
          </a:prstGeom>
          <a:solidFill>
            <a:srgbClr val="F97B00"/>
          </a:solidFill>
          <a:ln/>
        </p:spPr>
      </p:sp>
      <p:sp>
        <p:nvSpPr>
          <p:cNvPr id="26" name="Text 24"/>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应急指挥调度</a:t>
            </a:r>
            <a:endParaRPr lang="en-US" sz="1250" dirty="0"/>
          </a:p>
        </p:txBody>
      </p:sp>
      <p:sp>
        <p:nvSpPr>
          <p:cNvPr id="27" name="Shape 25"/>
          <p:cNvSpPr/>
          <p:nvPr/>
        </p:nvSpPr>
        <p:spPr>
          <a:xfrm>
            <a:off x="6272784" y="1536192"/>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6455664" y="1755648"/>
            <a:ext cx="420624" cy="420624"/>
          </a:xfrm>
          <a:prstGeom prst="ellipse">
            <a:avLst/>
          </a:prstGeom>
          <a:solidFill>
            <a:srgbClr val="0E2340"/>
          </a:solidFill>
          <a:ln/>
        </p:spPr>
      </p:sp>
      <p:pic>
        <p:nvPicPr>
          <p:cNvPr id="29" name="Image 0" descr="preencoded.png">    </p:cNvPr>
          <p:cNvPicPr>
            <a:picLocks noChangeAspect="1"/>
          </p:cNvPicPr>
          <p:nvPr/>
        </p:nvPicPr>
        <p:blipFill>
          <a:blip r:embed="rId1"/>
          <a:stretch>
            <a:fillRect/>
          </a:stretch>
        </p:blipFill>
        <p:spPr>
          <a:xfrm>
            <a:off x="6569232" y="1869216"/>
            <a:ext cx="193487" cy="193487"/>
          </a:xfrm>
          <a:prstGeom prst="rect">
            <a:avLst/>
          </a:prstGeom>
        </p:spPr>
      </p:pic>
      <p:sp>
        <p:nvSpPr>
          <p:cNvPr id="30" name="Text 27"/>
          <p:cNvSpPr txBox="1"/>
          <p:nvPr/>
        </p:nvSpPr>
        <p:spPr>
          <a:xfrm>
            <a:off x="6986016" y="1627632"/>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应急预案管理</a:t>
            </a:r>
            <a:endParaRPr lang="en-US" sz="1200" dirty="0"/>
          </a:p>
        </p:txBody>
      </p:sp>
      <p:sp>
        <p:nvSpPr>
          <p:cNvPr id="31" name="Text 28"/>
          <p:cNvSpPr txBox="1"/>
          <p:nvPr/>
        </p:nvSpPr>
        <p:spPr>
          <a:xfrm>
            <a:off x="6986016" y="1901952"/>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预设多场景火灾应急预案，关联预案涉及的资源与人员，发生火情一键启动</a:t>
            </a:r>
            <a:endParaRPr lang="en-US" sz="1000" dirty="0"/>
          </a:p>
        </p:txBody>
      </p:sp>
      <p:sp>
        <p:nvSpPr>
          <p:cNvPr id="32" name="Shape 29"/>
          <p:cNvSpPr/>
          <p:nvPr/>
        </p:nvSpPr>
        <p:spPr>
          <a:xfrm>
            <a:off x="6272784" y="2468880"/>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6455664" y="2688336"/>
            <a:ext cx="420624" cy="420624"/>
          </a:xfrm>
          <a:prstGeom prst="ellipse">
            <a:avLst/>
          </a:prstGeom>
          <a:solidFill>
            <a:srgbClr val="0E2340"/>
          </a:solidFill>
          <a:ln/>
        </p:spPr>
      </p:sp>
      <p:pic>
        <p:nvPicPr>
          <p:cNvPr id="34" name="Image 1" descr="preencoded.png">    </p:cNvPr>
          <p:cNvPicPr>
            <a:picLocks noChangeAspect="1"/>
          </p:cNvPicPr>
          <p:nvPr/>
        </p:nvPicPr>
        <p:blipFill>
          <a:blip r:embed="rId2"/>
          <a:stretch>
            <a:fillRect/>
          </a:stretch>
        </p:blipFill>
        <p:spPr>
          <a:xfrm>
            <a:off x="6569232" y="2801904"/>
            <a:ext cx="193487" cy="193487"/>
          </a:xfrm>
          <a:prstGeom prst="rect">
            <a:avLst/>
          </a:prstGeom>
        </p:spPr>
      </p:pic>
      <p:sp>
        <p:nvSpPr>
          <p:cNvPr id="35" name="Text 31"/>
          <p:cNvSpPr txBox="1"/>
          <p:nvPr/>
        </p:nvSpPr>
        <p:spPr>
          <a:xfrm>
            <a:off x="6986016" y="2560320"/>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资源智能调度</a:t>
            </a:r>
            <a:endParaRPr lang="en-US" sz="1200" dirty="0"/>
          </a:p>
        </p:txBody>
      </p:sp>
      <p:sp>
        <p:nvSpPr>
          <p:cNvPr id="36" name="Text 32"/>
          <p:cNvSpPr txBox="1"/>
          <p:nvPr/>
        </p:nvSpPr>
        <p:spPr>
          <a:xfrm>
            <a:off x="6986016" y="2834640"/>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根据预案自动调动最近的救援力量、设备、物资等资源</a:t>
            </a:r>
            <a:endParaRPr lang="en-US" sz="1000" dirty="0"/>
          </a:p>
        </p:txBody>
      </p:sp>
      <p:sp>
        <p:nvSpPr>
          <p:cNvPr id="37" name="Shape 33"/>
          <p:cNvSpPr/>
          <p:nvPr/>
        </p:nvSpPr>
        <p:spPr>
          <a:xfrm>
            <a:off x="6272784" y="3401568"/>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6455664" y="3621024"/>
            <a:ext cx="420624" cy="420624"/>
          </a:xfrm>
          <a:prstGeom prst="ellipse">
            <a:avLst/>
          </a:prstGeom>
          <a:solidFill>
            <a:srgbClr val="0E2340"/>
          </a:solidFill>
          <a:ln/>
        </p:spPr>
      </p:sp>
      <p:pic>
        <p:nvPicPr>
          <p:cNvPr id="39" name="Image 2" descr="preencoded.png">    </p:cNvPr>
          <p:cNvPicPr>
            <a:picLocks noChangeAspect="1"/>
          </p:cNvPicPr>
          <p:nvPr/>
        </p:nvPicPr>
        <p:blipFill>
          <a:blip r:embed="rId3"/>
          <a:stretch>
            <a:fillRect/>
          </a:stretch>
        </p:blipFill>
        <p:spPr>
          <a:xfrm>
            <a:off x="6569232" y="3734592"/>
            <a:ext cx="193487" cy="193487"/>
          </a:xfrm>
          <a:prstGeom prst="rect">
            <a:avLst/>
          </a:prstGeom>
        </p:spPr>
      </p:pic>
      <p:sp>
        <p:nvSpPr>
          <p:cNvPr id="40" name="Text 35"/>
          <p:cNvSpPr txBox="1"/>
          <p:nvPr/>
        </p:nvSpPr>
        <p:spPr>
          <a:xfrm>
            <a:off x="6986016" y="3493008"/>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人员疏散智能调度</a:t>
            </a:r>
            <a:endParaRPr lang="en-US" sz="1200" dirty="0"/>
          </a:p>
        </p:txBody>
      </p:sp>
      <p:sp>
        <p:nvSpPr>
          <p:cNvPr id="41" name="Text 36"/>
          <p:cNvSpPr txBox="1"/>
          <p:nvPr/>
        </p:nvSpPr>
        <p:spPr>
          <a:xfrm>
            <a:off x="6986016" y="3767328"/>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通过预设疏散引导员将火情信息定向下发，指挥疏散并协助人员清点</a:t>
            </a:r>
            <a:endParaRPr lang="en-US" sz="1000" dirty="0"/>
          </a:p>
        </p:txBody>
      </p:sp>
      <p:sp>
        <p:nvSpPr>
          <p:cNvPr id="42" name="Shape 37"/>
          <p:cNvSpPr/>
          <p:nvPr/>
        </p:nvSpPr>
        <p:spPr>
          <a:xfrm>
            <a:off x="6272784" y="4334256"/>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6455664" y="4553712"/>
            <a:ext cx="420624" cy="420624"/>
          </a:xfrm>
          <a:prstGeom prst="ellipse">
            <a:avLst/>
          </a:prstGeom>
          <a:solidFill>
            <a:srgbClr val="0E2340"/>
          </a:solidFill>
          <a:ln/>
        </p:spPr>
      </p:sp>
      <p:pic>
        <p:nvPicPr>
          <p:cNvPr id="44" name="Image 3" descr="preencoded.png">    </p:cNvPr>
          <p:cNvPicPr>
            <a:picLocks noChangeAspect="1"/>
          </p:cNvPicPr>
          <p:nvPr/>
        </p:nvPicPr>
        <p:blipFill>
          <a:blip r:embed="rId4"/>
          <a:stretch>
            <a:fillRect/>
          </a:stretch>
        </p:blipFill>
        <p:spPr>
          <a:xfrm>
            <a:off x="6569232" y="4667280"/>
            <a:ext cx="193487" cy="193487"/>
          </a:xfrm>
          <a:prstGeom prst="rect">
            <a:avLst/>
          </a:prstGeom>
        </p:spPr>
      </p:pic>
      <p:sp>
        <p:nvSpPr>
          <p:cNvPr id="45" name="Text 39"/>
          <p:cNvSpPr txBox="1"/>
          <p:nvPr/>
        </p:nvSpPr>
        <p:spPr>
          <a:xfrm>
            <a:off x="6986016" y="4425696"/>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多方协同指挥</a:t>
            </a:r>
            <a:endParaRPr lang="en-US" sz="1200" dirty="0"/>
          </a:p>
        </p:txBody>
      </p:sp>
      <p:sp>
        <p:nvSpPr>
          <p:cNvPr id="46" name="Text 40"/>
          <p:cNvSpPr txBox="1"/>
          <p:nvPr/>
        </p:nvSpPr>
        <p:spPr>
          <a:xfrm>
            <a:off x="6986016" y="4700016"/>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协助处置责任人、部门责任人、园区消防管理人员、园区经理、集团安全管理人多方信息协同</a:t>
            </a:r>
            <a:endParaRPr lang="en-US" sz="1000" dirty="0"/>
          </a:p>
        </p:txBody>
      </p:sp>
      <p:sp>
        <p:nvSpPr>
          <p:cNvPr id="47" name="Shape 41"/>
          <p:cNvSpPr/>
          <p:nvPr/>
        </p:nvSpPr>
        <p:spPr>
          <a:xfrm>
            <a:off x="530352" y="4901184"/>
            <a:ext cx="5486400" cy="1005840"/>
          </a:xfrm>
          <a:prstGeom prst="roundRect">
            <a:avLst>
              <a:gd name="adj" fmla="val 3182"/>
            </a:avLst>
          </a:prstGeom>
          <a:solidFill>
            <a:srgbClr val="0E2340"/>
          </a:solidFill>
          <a:ln/>
        </p:spPr>
      </p:sp>
      <p:sp>
        <p:nvSpPr>
          <p:cNvPr id="48" name="Text 42"/>
          <p:cNvSpPr txBox="1"/>
          <p:nvPr/>
        </p:nvSpPr>
        <p:spPr>
          <a:xfrm>
            <a:off x="731520" y="5010912"/>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应急处置时间轴目标</a:t>
            </a:r>
            <a:endParaRPr lang="en-US" sz="1150" dirty="0"/>
          </a:p>
        </p:txBody>
      </p:sp>
      <p:sp>
        <p:nvSpPr>
          <p:cNvPr id="49" name="Text 43"/>
          <p:cNvSpPr txBox="1"/>
          <p:nvPr/>
        </p:nvSpPr>
        <p:spPr>
          <a:xfrm>
            <a:off x="731520"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≤10s</a:t>
            </a:r>
            <a:endParaRPr lang="en-US" sz="1500" dirty="0"/>
          </a:p>
        </p:txBody>
      </p:sp>
      <p:sp>
        <p:nvSpPr>
          <p:cNvPr id="50" name="Text 44"/>
          <p:cNvSpPr txBox="1"/>
          <p:nvPr/>
        </p:nvSpPr>
        <p:spPr>
          <a:xfrm>
            <a:off x="731520"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告警到弹窗</a:t>
            </a:r>
            <a:endParaRPr lang="en-US" sz="1000" dirty="0"/>
          </a:p>
        </p:txBody>
      </p:sp>
      <p:sp>
        <p:nvSpPr>
          <p:cNvPr id="51" name="Text 45"/>
          <p:cNvSpPr txBox="1"/>
          <p:nvPr/>
        </p:nvSpPr>
        <p:spPr>
          <a:xfrm>
            <a:off x="2029968"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≤60s</a:t>
            </a:r>
            <a:endParaRPr lang="en-US" sz="1500" dirty="0"/>
          </a:p>
        </p:txBody>
      </p:sp>
      <p:sp>
        <p:nvSpPr>
          <p:cNvPr id="52" name="Text 46"/>
          <p:cNvSpPr txBox="1"/>
          <p:nvPr/>
        </p:nvSpPr>
        <p:spPr>
          <a:xfrm>
            <a:off x="2029968"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视频复核确认</a:t>
            </a:r>
            <a:endParaRPr lang="en-US" sz="1000" dirty="0"/>
          </a:p>
        </p:txBody>
      </p:sp>
      <p:sp>
        <p:nvSpPr>
          <p:cNvPr id="53" name="Text 47"/>
          <p:cNvSpPr txBox="1"/>
          <p:nvPr/>
        </p:nvSpPr>
        <p:spPr>
          <a:xfrm>
            <a:off x="3328416"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≤3min</a:t>
            </a:r>
            <a:endParaRPr lang="en-US" sz="1500" dirty="0"/>
          </a:p>
        </p:txBody>
      </p:sp>
      <p:sp>
        <p:nvSpPr>
          <p:cNvPr id="54" name="Text 48"/>
          <p:cNvSpPr txBox="1"/>
          <p:nvPr/>
        </p:nvSpPr>
        <p:spPr>
          <a:xfrm>
            <a:off x="3328416"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预案启动与通知</a:t>
            </a:r>
            <a:endParaRPr lang="en-US" sz="1000" dirty="0"/>
          </a:p>
        </p:txBody>
      </p:sp>
      <p:sp>
        <p:nvSpPr>
          <p:cNvPr id="55" name="Text 49"/>
          <p:cNvSpPr txBox="1"/>
          <p:nvPr/>
        </p:nvSpPr>
        <p:spPr>
          <a:xfrm>
            <a:off x="4626864"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≤5min</a:t>
            </a:r>
            <a:endParaRPr lang="en-US" sz="1500" dirty="0"/>
          </a:p>
        </p:txBody>
      </p:sp>
      <p:sp>
        <p:nvSpPr>
          <p:cNvPr id="56" name="Text 50"/>
          <p:cNvSpPr txBox="1"/>
          <p:nvPr/>
        </p:nvSpPr>
        <p:spPr>
          <a:xfrm>
            <a:off x="4626864"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现场到场处置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智慧消防（四）：日常管理、巡检维保与隐患闭环</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把消防管理制度写进系统：任务自动派发、要点逐项确认、超期自动升级</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设备全生命周期与维保管理</a:t>
            </a:r>
            <a:endParaRPr lang="en-US" sz="1250" dirty="0"/>
          </a:p>
        </p:txBody>
      </p:sp>
      <p:sp>
        <p:nvSpPr>
          <p:cNvPr id="7" name="Shape 5"/>
          <p:cNvSpPr/>
          <p:nvPr/>
        </p:nvSpPr>
        <p:spPr>
          <a:xfrm>
            <a:off x="530352" y="1517904"/>
            <a:ext cx="5394960" cy="457200"/>
          </a:xfrm>
          <a:prstGeom prst="roundRect">
            <a:avLst>
              <a:gd name="adj" fmla="val 7000"/>
            </a:avLst>
          </a:prstGeom>
          <a:solidFill>
            <a:srgbClr val="F6F8FA"/>
          </a:solidFill>
          <a:ln w="9525">
            <a:solidFill>
              <a:srgbClr val="E3E7EB"/>
            </a:solidFill>
            <a:prstDash val="solid"/>
          </a:ln>
        </p:spPr>
      </p:sp>
      <p:sp>
        <p:nvSpPr>
          <p:cNvPr id="8" name="Text 6"/>
          <p:cNvSpPr txBox="1"/>
          <p:nvPr/>
        </p:nvSpPr>
        <p:spPr>
          <a:xfrm>
            <a:off x="694944" y="1517904"/>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电子档案</a:t>
            </a:r>
            <a:endParaRPr lang="en-US" sz="1050" dirty="0"/>
          </a:p>
        </p:txBody>
      </p:sp>
      <p:sp>
        <p:nvSpPr>
          <p:cNvPr id="9" name="Text 7"/>
          <p:cNvSpPr txBox="1"/>
          <p:nvPr/>
        </p:nvSpPr>
        <p:spPr>
          <a:xfrm>
            <a:off x="2212848" y="1517904"/>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记录采购、安装、维修、更换全过程；设备故障自动诊断与告警</a:t>
            </a:r>
            <a:endParaRPr lang="en-US" sz="1000" dirty="0"/>
          </a:p>
        </p:txBody>
      </p:sp>
      <p:sp>
        <p:nvSpPr>
          <p:cNvPr id="10" name="Shape 8"/>
          <p:cNvSpPr/>
          <p:nvPr/>
        </p:nvSpPr>
        <p:spPr>
          <a:xfrm>
            <a:off x="530352" y="2029968"/>
            <a:ext cx="5394960" cy="457200"/>
          </a:xfrm>
          <a:prstGeom prst="roundRect">
            <a:avLst>
              <a:gd name="adj" fmla="val 7000"/>
            </a:avLst>
          </a:prstGeom>
          <a:solidFill>
            <a:srgbClr val="FFFFFF"/>
          </a:solidFill>
          <a:ln w="9525">
            <a:solidFill>
              <a:srgbClr val="E3E7EB"/>
            </a:solidFill>
            <a:prstDash val="solid"/>
          </a:ln>
        </p:spPr>
      </p:sp>
      <p:sp>
        <p:nvSpPr>
          <p:cNvPr id="11" name="Text 9"/>
          <p:cNvSpPr txBox="1"/>
          <p:nvPr/>
        </p:nvSpPr>
        <p:spPr>
          <a:xfrm>
            <a:off x="694944" y="2029968"/>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电子化 SOP</a:t>
            </a:r>
            <a:endParaRPr lang="en-US" sz="1050" dirty="0"/>
          </a:p>
        </p:txBody>
      </p:sp>
      <p:sp>
        <p:nvSpPr>
          <p:cNvPr id="12" name="Text 10"/>
          <p:cNvSpPr txBox="1"/>
          <p:nvPr/>
        </p:nvSpPr>
        <p:spPr>
          <a:xfrm>
            <a:off x="2212848" y="2029968"/>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建立操作、维保、巡检各类电子化 SOP，使用与维护标准化</a:t>
            </a:r>
            <a:endParaRPr lang="en-US" sz="1000" dirty="0"/>
          </a:p>
        </p:txBody>
      </p:sp>
      <p:sp>
        <p:nvSpPr>
          <p:cNvPr id="13" name="Shape 11"/>
          <p:cNvSpPr/>
          <p:nvPr/>
        </p:nvSpPr>
        <p:spPr>
          <a:xfrm>
            <a:off x="530352" y="2542032"/>
            <a:ext cx="5394960" cy="457200"/>
          </a:xfrm>
          <a:prstGeom prst="roundRect">
            <a:avLst>
              <a:gd name="adj" fmla="val 7000"/>
            </a:avLst>
          </a:prstGeom>
          <a:solidFill>
            <a:srgbClr val="F6F8FA"/>
          </a:solidFill>
          <a:ln w="9525">
            <a:solidFill>
              <a:srgbClr val="E3E7EB"/>
            </a:solidFill>
            <a:prstDash val="solid"/>
          </a:ln>
        </p:spPr>
      </p:sp>
      <p:sp>
        <p:nvSpPr>
          <p:cNvPr id="14" name="Text 12"/>
          <p:cNvSpPr txBox="1"/>
          <p:nvPr/>
        </p:nvSpPr>
        <p:spPr>
          <a:xfrm>
            <a:off x="694944" y="2542032"/>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维保计划管理</a:t>
            </a:r>
            <a:endParaRPr lang="en-US" sz="1050" dirty="0"/>
          </a:p>
        </p:txBody>
      </p:sp>
      <p:sp>
        <p:nvSpPr>
          <p:cNvPr id="15" name="Text 13"/>
          <p:cNvSpPr txBox="1"/>
          <p:nvPr/>
        </p:nvSpPr>
        <p:spPr>
          <a:xfrm>
            <a:off x="2212848" y="2542032"/>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自动生成维保计划，到期自动提醒并分发至维保人员</a:t>
            </a:r>
            <a:endParaRPr lang="en-US" sz="1000" dirty="0"/>
          </a:p>
        </p:txBody>
      </p:sp>
      <p:sp>
        <p:nvSpPr>
          <p:cNvPr id="16" name="Shape 14"/>
          <p:cNvSpPr/>
          <p:nvPr/>
        </p:nvSpPr>
        <p:spPr>
          <a:xfrm>
            <a:off x="530352" y="3054096"/>
            <a:ext cx="5394960" cy="457200"/>
          </a:xfrm>
          <a:prstGeom prst="roundRect">
            <a:avLst>
              <a:gd name="adj" fmla="val 7000"/>
            </a:avLst>
          </a:prstGeom>
          <a:solidFill>
            <a:srgbClr val="FFFFFF"/>
          </a:solidFill>
          <a:ln w="9525">
            <a:solidFill>
              <a:srgbClr val="E3E7EB"/>
            </a:solidFill>
            <a:prstDash val="solid"/>
          </a:ln>
        </p:spPr>
      </p:sp>
      <p:sp>
        <p:nvSpPr>
          <p:cNvPr id="17" name="Text 15"/>
          <p:cNvSpPr txBox="1"/>
          <p:nvPr/>
        </p:nvSpPr>
        <p:spPr>
          <a:xfrm>
            <a:off x="694944" y="3054096"/>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维保过程记录</a:t>
            </a:r>
            <a:endParaRPr lang="en-US" sz="1050" dirty="0"/>
          </a:p>
        </p:txBody>
      </p:sp>
      <p:sp>
        <p:nvSpPr>
          <p:cNvPr id="18" name="Text 16"/>
          <p:cNvSpPr txBox="1"/>
          <p:nvPr/>
        </p:nvSpPr>
        <p:spPr>
          <a:xfrm>
            <a:off x="2212848" y="3054096"/>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全程记录，支持维保照片上传与关键技术参数填写</a:t>
            </a:r>
            <a:endParaRPr lang="en-US" sz="1000" dirty="0"/>
          </a:p>
        </p:txBody>
      </p:sp>
      <p:sp>
        <p:nvSpPr>
          <p:cNvPr id="19" name="Shape 17"/>
          <p:cNvSpPr/>
          <p:nvPr/>
        </p:nvSpPr>
        <p:spPr>
          <a:xfrm>
            <a:off x="530352" y="3566160"/>
            <a:ext cx="5394960" cy="457200"/>
          </a:xfrm>
          <a:prstGeom prst="roundRect">
            <a:avLst>
              <a:gd name="adj" fmla="val 7000"/>
            </a:avLst>
          </a:prstGeom>
          <a:solidFill>
            <a:srgbClr val="F6F8FA"/>
          </a:solidFill>
          <a:ln w="9525">
            <a:solidFill>
              <a:srgbClr val="E3E7EB"/>
            </a:solidFill>
            <a:prstDash val="solid"/>
          </a:ln>
        </p:spPr>
      </p:sp>
      <p:sp>
        <p:nvSpPr>
          <p:cNvPr id="20" name="Text 18"/>
          <p:cNvSpPr txBox="1"/>
          <p:nvPr/>
        </p:nvSpPr>
        <p:spPr>
          <a:xfrm>
            <a:off x="694944" y="3566160"/>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维保质量评价</a:t>
            </a:r>
            <a:endParaRPr lang="en-US" sz="1050" dirty="0"/>
          </a:p>
        </p:txBody>
      </p:sp>
      <p:sp>
        <p:nvSpPr>
          <p:cNvPr id="21" name="Text 19"/>
          <p:cNvSpPr txBox="1"/>
          <p:nvPr/>
        </p:nvSpPr>
        <p:spPr>
          <a:xfrm>
            <a:off x="2212848" y="3566160"/>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建立维保质量标准，基于结果评价质量，优化维保单位管理</a:t>
            </a:r>
            <a:endParaRPr lang="en-US" sz="1000" dirty="0"/>
          </a:p>
        </p:txBody>
      </p:sp>
      <p:sp>
        <p:nvSpPr>
          <p:cNvPr id="22" name="Shape 20"/>
          <p:cNvSpPr/>
          <p:nvPr/>
        </p:nvSpPr>
        <p:spPr>
          <a:xfrm>
            <a:off x="530352" y="4165092"/>
            <a:ext cx="68580" cy="173736"/>
          </a:xfrm>
          <a:prstGeom prst="rect">
            <a:avLst/>
          </a:prstGeom>
          <a:solidFill>
            <a:srgbClr val="F97B00"/>
          </a:solidFill>
          <a:ln/>
        </p:spPr>
      </p:sp>
      <p:sp>
        <p:nvSpPr>
          <p:cNvPr id="23" name="Text 21"/>
          <p:cNvSpPr txBox="1"/>
          <p:nvPr/>
        </p:nvSpPr>
        <p:spPr>
          <a:xfrm>
            <a:off x="685800" y="411480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消防巡检管理：四类任务自动触发</a:t>
            </a:r>
            <a:endParaRPr lang="en-US" sz="1250" dirty="0"/>
          </a:p>
        </p:txBody>
      </p:sp>
      <p:sp>
        <p:nvSpPr>
          <p:cNvPr id="24" name="Shape 22"/>
          <p:cNvSpPr/>
          <p:nvPr/>
        </p:nvSpPr>
        <p:spPr>
          <a:xfrm>
            <a:off x="530352" y="4443984"/>
            <a:ext cx="1239012" cy="786384"/>
          </a:xfrm>
          <a:prstGeom prst="roundRect">
            <a:avLst>
              <a:gd name="adj" fmla="val 4070"/>
            </a:avLst>
          </a:prstGeom>
          <a:solidFill>
            <a:srgbClr val="FDEEDD"/>
          </a:solidFill>
          <a:ln w="9525">
            <a:solidFill>
              <a:srgbClr val="F3CDA5"/>
            </a:solidFill>
            <a:prstDash val="solid"/>
          </a:ln>
        </p:spPr>
      </p:sp>
      <p:sp>
        <p:nvSpPr>
          <p:cNvPr id="25" name="Text 23"/>
          <p:cNvSpPr txBox="1"/>
          <p:nvPr/>
        </p:nvSpPr>
        <p:spPr>
          <a:xfrm>
            <a:off x="603504"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每日防火巡查</a:t>
            </a:r>
            <a:endParaRPr lang="en-US" sz="1020" dirty="0"/>
          </a:p>
        </p:txBody>
      </p:sp>
      <p:sp>
        <p:nvSpPr>
          <p:cNvPr id="26" name="Text 24"/>
          <p:cNvSpPr txBox="1"/>
          <p:nvPr/>
        </p:nvSpPr>
        <p:spPr>
          <a:xfrm>
            <a:off x="603504"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每日触发·钉钉提醒</a:t>
            </a:r>
            <a:endParaRPr lang="en-US" sz="1000" dirty="0"/>
          </a:p>
        </p:txBody>
      </p:sp>
      <p:sp>
        <p:nvSpPr>
          <p:cNvPr id="27" name="Shape 25"/>
          <p:cNvSpPr/>
          <p:nvPr/>
        </p:nvSpPr>
        <p:spPr>
          <a:xfrm>
            <a:off x="1915668" y="4443984"/>
            <a:ext cx="1239012" cy="786384"/>
          </a:xfrm>
          <a:prstGeom prst="roundRect">
            <a:avLst>
              <a:gd name="adj" fmla="val 4070"/>
            </a:avLst>
          </a:prstGeom>
          <a:solidFill>
            <a:srgbClr val="FDEEDD"/>
          </a:solidFill>
          <a:ln w="9525">
            <a:solidFill>
              <a:srgbClr val="F3CDA5"/>
            </a:solidFill>
            <a:prstDash val="solid"/>
          </a:ln>
        </p:spPr>
      </p:sp>
      <p:sp>
        <p:nvSpPr>
          <p:cNvPr id="28" name="Text 26"/>
          <p:cNvSpPr txBox="1"/>
          <p:nvPr/>
        </p:nvSpPr>
        <p:spPr>
          <a:xfrm>
            <a:off x="1988820"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季度防火检查</a:t>
            </a:r>
            <a:endParaRPr lang="en-US" sz="1020" dirty="0"/>
          </a:p>
        </p:txBody>
      </p:sp>
      <p:sp>
        <p:nvSpPr>
          <p:cNvPr id="29" name="Text 27"/>
          <p:cNvSpPr txBox="1"/>
          <p:nvPr/>
        </p:nvSpPr>
        <p:spPr>
          <a:xfrm>
            <a:off x="1988820"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按月/季触发·限时完成</a:t>
            </a:r>
            <a:endParaRPr lang="en-US" sz="1000" dirty="0"/>
          </a:p>
        </p:txBody>
      </p:sp>
      <p:sp>
        <p:nvSpPr>
          <p:cNvPr id="30" name="Shape 28"/>
          <p:cNvSpPr/>
          <p:nvPr/>
        </p:nvSpPr>
        <p:spPr>
          <a:xfrm>
            <a:off x="3300984" y="4443984"/>
            <a:ext cx="1239012" cy="786384"/>
          </a:xfrm>
          <a:prstGeom prst="roundRect">
            <a:avLst>
              <a:gd name="adj" fmla="val 4070"/>
            </a:avLst>
          </a:prstGeom>
          <a:solidFill>
            <a:srgbClr val="FDEEDD"/>
          </a:solidFill>
          <a:ln w="9525">
            <a:solidFill>
              <a:srgbClr val="F3CDA5"/>
            </a:solidFill>
            <a:prstDash val="solid"/>
          </a:ln>
        </p:spPr>
      </p:sp>
      <p:sp>
        <p:nvSpPr>
          <p:cNvPr id="31" name="Text 29"/>
          <p:cNvSpPr txBox="1"/>
          <p:nvPr/>
        </p:nvSpPr>
        <p:spPr>
          <a:xfrm>
            <a:off x="3374136"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节前安全大检查</a:t>
            </a:r>
            <a:endParaRPr lang="en-US" sz="1020" dirty="0"/>
          </a:p>
        </p:txBody>
      </p:sp>
      <p:sp>
        <p:nvSpPr>
          <p:cNvPr id="32" name="Text 30"/>
          <p:cNvSpPr txBox="1"/>
          <p:nvPr/>
        </p:nvSpPr>
        <p:spPr>
          <a:xfrm>
            <a:off x="3374136"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节前 5 天触发</a:t>
            </a:r>
            <a:endParaRPr lang="en-US" sz="1000" dirty="0"/>
          </a:p>
        </p:txBody>
      </p:sp>
      <p:sp>
        <p:nvSpPr>
          <p:cNvPr id="33" name="Shape 31"/>
          <p:cNvSpPr/>
          <p:nvPr/>
        </p:nvSpPr>
        <p:spPr>
          <a:xfrm>
            <a:off x="4686300" y="4443984"/>
            <a:ext cx="1239012" cy="786384"/>
          </a:xfrm>
          <a:prstGeom prst="roundRect">
            <a:avLst>
              <a:gd name="adj" fmla="val 4070"/>
            </a:avLst>
          </a:prstGeom>
          <a:solidFill>
            <a:srgbClr val="FDEEDD"/>
          </a:solidFill>
          <a:ln w="9525">
            <a:solidFill>
              <a:srgbClr val="F3CDA5"/>
            </a:solidFill>
            <a:prstDash val="solid"/>
          </a:ln>
        </p:spPr>
      </p:sp>
      <p:sp>
        <p:nvSpPr>
          <p:cNvPr id="34" name="Text 32"/>
          <p:cNvSpPr txBox="1"/>
          <p:nvPr/>
        </p:nvSpPr>
        <p:spPr>
          <a:xfrm>
            <a:off x="4759452"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突击检查提醒</a:t>
            </a:r>
            <a:endParaRPr lang="en-US" sz="1020" dirty="0"/>
          </a:p>
        </p:txBody>
      </p:sp>
      <p:sp>
        <p:nvSpPr>
          <p:cNvPr id="35" name="Text 33"/>
          <p:cNvSpPr txBox="1"/>
          <p:nvPr/>
        </p:nvSpPr>
        <p:spPr>
          <a:xfrm>
            <a:off x="4759452"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按需下发</a:t>
            </a:r>
            <a:endParaRPr lang="en-US" sz="1000" dirty="0"/>
          </a:p>
        </p:txBody>
      </p:sp>
      <p:sp>
        <p:nvSpPr>
          <p:cNvPr id="36" name="Text 34"/>
          <p:cNvSpPr txBox="1"/>
          <p:nvPr/>
        </p:nvSpPr>
        <p:spPr>
          <a:xfrm>
            <a:off x="530352" y="5340096"/>
            <a:ext cx="5394960" cy="80467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巡查要点细化后自动分发至属地责任人；照片与关键参数上传确保到位；延迟未完成即提醒责任人；自动生成巡检报告并评估质量。</a:t>
            </a:r>
            <a:endParaRPr lang="en-US" sz="1000" dirty="0"/>
          </a:p>
        </p:txBody>
      </p:sp>
      <p:sp>
        <p:nvSpPr>
          <p:cNvPr id="37" name="Shape 35"/>
          <p:cNvSpPr/>
          <p:nvPr/>
        </p:nvSpPr>
        <p:spPr>
          <a:xfrm>
            <a:off x="6181344" y="1257300"/>
            <a:ext cx="68580" cy="173736"/>
          </a:xfrm>
          <a:prstGeom prst="rect">
            <a:avLst/>
          </a:prstGeom>
          <a:solidFill>
            <a:srgbClr val="F97B00"/>
          </a:solidFill>
          <a:ln/>
        </p:spPr>
      </p:sp>
      <p:sp>
        <p:nvSpPr>
          <p:cNvPr id="38" name="Text 36"/>
          <p:cNvSpPr txBox="1"/>
          <p:nvPr/>
        </p:nvSpPr>
        <p:spPr>
          <a:xfrm>
            <a:off x="633679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火灾隐患整改闭环</a:t>
            </a:r>
            <a:endParaRPr lang="en-US" sz="1250" dirty="0"/>
          </a:p>
        </p:txBody>
      </p:sp>
      <p:sp>
        <p:nvSpPr>
          <p:cNvPr id="39" name="Shape 37"/>
          <p:cNvSpPr/>
          <p:nvPr/>
        </p:nvSpPr>
        <p:spPr>
          <a:xfrm>
            <a:off x="6181344" y="1517904"/>
            <a:ext cx="1066739" cy="420624"/>
          </a:xfrm>
          <a:prstGeom prst="homePlate">
            <a:avLst/>
          </a:prstGeom>
          <a:solidFill>
            <a:srgbClr val="F97B00"/>
          </a:solidFill>
          <a:ln/>
        </p:spPr>
      </p:sp>
      <p:sp>
        <p:nvSpPr>
          <p:cNvPr id="40" name="Text 38"/>
          <p:cNvSpPr txBox="1"/>
          <p:nvPr/>
        </p:nvSpPr>
        <p:spPr>
          <a:xfrm>
            <a:off x="630935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发现上报</a:t>
            </a:r>
            <a:endParaRPr lang="en-US" sz="1000" dirty="0"/>
          </a:p>
        </p:txBody>
      </p:sp>
      <p:sp>
        <p:nvSpPr>
          <p:cNvPr id="41" name="Shape 39"/>
          <p:cNvSpPr/>
          <p:nvPr/>
        </p:nvSpPr>
        <p:spPr>
          <a:xfrm>
            <a:off x="7284659" y="1517904"/>
            <a:ext cx="1066739" cy="420624"/>
          </a:xfrm>
          <a:prstGeom prst="chevron">
            <a:avLst/>
          </a:prstGeom>
          <a:solidFill>
            <a:srgbClr val="FF9F3D"/>
          </a:solidFill>
          <a:ln/>
        </p:spPr>
      </p:sp>
      <p:sp>
        <p:nvSpPr>
          <p:cNvPr id="42" name="Text 40"/>
          <p:cNvSpPr txBox="1"/>
          <p:nvPr/>
        </p:nvSpPr>
        <p:spPr>
          <a:xfrm>
            <a:off x="7412668"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定责派单</a:t>
            </a:r>
            <a:endParaRPr lang="en-US" sz="1000" dirty="0"/>
          </a:p>
        </p:txBody>
      </p:sp>
      <p:sp>
        <p:nvSpPr>
          <p:cNvPr id="43" name="Shape 41"/>
          <p:cNvSpPr/>
          <p:nvPr/>
        </p:nvSpPr>
        <p:spPr>
          <a:xfrm>
            <a:off x="8387974" y="1517904"/>
            <a:ext cx="1066739" cy="420624"/>
          </a:xfrm>
          <a:prstGeom prst="chevron">
            <a:avLst/>
          </a:prstGeom>
          <a:solidFill>
            <a:srgbClr val="F97B00"/>
          </a:solidFill>
          <a:ln/>
        </p:spPr>
      </p:sp>
      <p:sp>
        <p:nvSpPr>
          <p:cNvPr id="44" name="Text 42"/>
          <p:cNvSpPr txBox="1"/>
          <p:nvPr/>
        </p:nvSpPr>
        <p:spPr>
          <a:xfrm>
            <a:off x="851598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限期整改</a:t>
            </a:r>
            <a:endParaRPr lang="en-US" sz="1000" dirty="0"/>
          </a:p>
        </p:txBody>
      </p:sp>
      <p:sp>
        <p:nvSpPr>
          <p:cNvPr id="45" name="Shape 43"/>
          <p:cNvSpPr/>
          <p:nvPr/>
        </p:nvSpPr>
        <p:spPr>
          <a:xfrm>
            <a:off x="9491289" y="1517904"/>
            <a:ext cx="1066739" cy="420624"/>
          </a:xfrm>
          <a:prstGeom prst="chevron">
            <a:avLst/>
          </a:prstGeom>
          <a:solidFill>
            <a:srgbClr val="FF9F3D"/>
          </a:solidFill>
          <a:ln/>
        </p:spPr>
      </p:sp>
      <p:sp>
        <p:nvSpPr>
          <p:cNvPr id="46" name="Text 44"/>
          <p:cNvSpPr txBox="1"/>
          <p:nvPr/>
        </p:nvSpPr>
        <p:spPr>
          <a:xfrm>
            <a:off x="9619298"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复查验收</a:t>
            </a:r>
            <a:endParaRPr lang="en-US" sz="1000" dirty="0"/>
          </a:p>
        </p:txBody>
      </p:sp>
      <p:sp>
        <p:nvSpPr>
          <p:cNvPr id="47" name="Shape 45"/>
          <p:cNvSpPr/>
          <p:nvPr/>
        </p:nvSpPr>
        <p:spPr>
          <a:xfrm>
            <a:off x="10594604" y="1517904"/>
            <a:ext cx="1066739" cy="420624"/>
          </a:xfrm>
          <a:prstGeom prst="chevron">
            <a:avLst/>
          </a:prstGeom>
          <a:solidFill>
            <a:srgbClr val="F97B00"/>
          </a:solidFill>
          <a:ln/>
        </p:spPr>
      </p:sp>
      <p:sp>
        <p:nvSpPr>
          <p:cNvPr id="48" name="Text 46"/>
          <p:cNvSpPr txBox="1"/>
          <p:nvPr/>
        </p:nvSpPr>
        <p:spPr>
          <a:xfrm>
            <a:off x="1072261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数据分析</a:t>
            </a:r>
            <a:endParaRPr lang="en-US" sz="1000" dirty="0"/>
          </a:p>
        </p:txBody>
      </p:sp>
      <p:sp>
        <p:nvSpPr>
          <p:cNvPr id="49" name="Shape 47"/>
          <p:cNvSpPr/>
          <p:nvPr/>
        </p:nvSpPr>
        <p:spPr>
          <a:xfrm>
            <a:off x="6181344" y="2029968"/>
            <a:ext cx="5479999" cy="512064"/>
          </a:xfrm>
          <a:prstGeom prst="roundRect">
            <a:avLst>
              <a:gd name="adj" fmla="val 6250"/>
            </a:avLst>
          </a:prstGeom>
          <a:solidFill>
            <a:srgbClr val="F6F8FA"/>
          </a:solidFill>
          <a:ln w="9525">
            <a:solidFill>
              <a:srgbClr val="E3E7EB"/>
            </a:solidFill>
            <a:prstDash val="solid"/>
          </a:ln>
        </p:spPr>
      </p:sp>
      <p:sp>
        <p:nvSpPr>
          <p:cNvPr id="50" name="Text 48"/>
          <p:cNvSpPr txBox="1"/>
          <p:nvPr/>
        </p:nvSpPr>
        <p:spPr>
          <a:xfrm>
            <a:off x="6345936" y="202996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隐患上报</a:t>
            </a:r>
            <a:endParaRPr lang="en-US" sz="1020" dirty="0"/>
          </a:p>
        </p:txBody>
      </p:sp>
      <p:sp>
        <p:nvSpPr>
          <p:cNvPr id="51" name="Text 49"/>
          <p:cNvSpPr txBox="1"/>
          <p:nvPr/>
        </p:nvSpPr>
        <p:spPr>
          <a:xfrm>
            <a:off x="7772400" y="202996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一键上报 EHS 管理平台"隐患随手拍"，抓取消防类隐患工单全链路数据形成报表</a:t>
            </a:r>
            <a:endParaRPr lang="en-US" sz="1000" dirty="0"/>
          </a:p>
        </p:txBody>
      </p:sp>
      <p:sp>
        <p:nvSpPr>
          <p:cNvPr id="52" name="Shape 50"/>
          <p:cNvSpPr/>
          <p:nvPr/>
        </p:nvSpPr>
        <p:spPr>
          <a:xfrm>
            <a:off x="6181344" y="2578608"/>
            <a:ext cx="5479999" cy="512064"/>
          </a:xfrm>
          <a:prstGeom prst="roundRect">
            <a:avLst>
              <a:gd name="adj" fmla="val 6250"/>
            </a:avLst>
          </a:prstGeom>
          <a:solidFill>
            <a:srgbClr val="FFFFFF"/>
          </a:solidFill>
          <a:ln w="9525">
            <a:solidFill>
              <a:srgbClr val="E3E7EB"/>
            </a:solidFill>
            <a:prstDash val="solid"/>
          </a:ln>
        </p:spPr>
      </p:sp>
      <p:sp>
        <p:nvSpPr>
          <p:cNvPr id="53" name="Text 51"/>
          <p:cNvSpPr txBox="1"/>
          <p:nvPr/>
        </p:nvSpPr>
        <p:spPr>
          <a:xfrm>
            <a:off x="6345936" y="257860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延迟提醒</a:t>
            </a:r>
            <a:endParaRPr lang="en-US" sz="1020" dirty="0"/>
          </a:p>
        </p:txBody>
      </p:sp>
      <p:sp>
        <p:nvSpPr>
          <p:cNvPr id="54" name="Text 52"/>
          <p:cNvSpPr txBox="1"/>
          <p:nvPr/>
        </p:nvSpPr>
        <p:spPr>
          <a:xfrm>
            <a:off x="7772400" y="257860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整改期限前三天仍未操作，进行风险预警或提醒</a:t>
            </a:r>
            <a:endParaRPr lang="en-US" sz="1000" dirty="0"/>
          </a:p>
        </p:txBody>
      </p:sp>
      <p:sp>
        <p:nvSpPr>
          <p:cNvPr id="55" name="Shape 53"/>
          <p:cNvSpPr/>
          <p:nvPr/>
        </p:nvSpPr>
        <p:spPr>
          <a:xfrm>
            <a:off x="6181344" y="3127248"/>
            <a:ext cx="5479999" cy="512064"/>
          </a:xfrm>
          <a:prstGeom prst="roundRect">
            <a:avLst>
              <a:gd name="adj" fmla="val 6250"/>
            </a:avLst>
          </a:prstGeom>
          <a:solidFill>
            <a:srgbClr val="F6F8FA"/>
          </a:solidFill>
          <a:ln w="9525">
            <a:solidFill>
              <a:srgbClr val="E3E7EB"/>
            </a:solidFill>
            <a:prstDash val="solid"/>
          </a:ln>
        </p:spPr>
      </p:sp>
      <p:sp>
        <p:nvSpPr>
          <p:cNvPr id="56" name="Text 54"/>
          <p:cNvSpPr txBox="1"/>
          <p:nvPr/>
        </p:nvSpPr>
        <p:spPr>
          <a:xfrm>
            <a:off x="6345936" y="312724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延期审批</a:t>
            </a:r>
            <a:endParaRPr lang="en-US" sz="1020" dirty="0"/>
          </a:p>
        </p:txBody>
      </p:sp>
      <p:sp>
        <p:nvSpPr>
          <p:cNvPr id="57" name="Text 55"/>
          <p:cNvSpPr txBox="1"/>
          <p:nvPr/>
        </p:nvSpPr>
        <p:spPr>
          <a:xfrm>
            <a:off x="7772400" y="312724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期限内无法完成整改，须园区消防管理人员、整改部门经理、公司 EHS 管理部经理三方确认</a:t>
            </a:r>
            <a:endParaRPr lang="en-US" sz="1000" dirty="0"/>
          </a:p>
        </p:txBody>
      </p:sp>
      <p:sp>
        <p:nvSpPr>
          <p:cNvPr id="58" name="Shape 56"/>
          <p:cNvSpPr/>
          <p:nvPr/>
        </p:nvSpPr>
        <p:spPr>
          <a:xfrm>
            <a:off x="6181344" y="3675888"/>
            <a:ext cx="5479999" cy="512064"/>
          </a:xfrm>
          <a:prstGeom prst="roundRect">
            <a:avLst>
              <a:gd name="adj" fmla="val 6250"/>
            </a:avLst>
          </a:prstGeom>
          <a:solidFill>
            <a:srgbClr val="FFFFFF"/>
          </a:solidFill>
          <a:ln w="9525">
            <a:solidFill>
              <a:srgbClr val="E3E7EB"/>
            </a:solidFill>
            <a:prstDash val="solid"/>
          </a:ln>
        </p:spPr>
      </p:sp>
      <p:sp>
        <p:nvSpPr>
          <p:cNvPr id="59" name="Text 57"/>
          <p:cNvSpPr txBox="1"/>
          <p:nvPr/>
        </p:nvSpPr>
        <p:spPr>
          <a:xfrm>
            <a:off x="6345936" y="367588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整改记录</a:t>
            </a:r>
            <a:endParaRPr lang="en-US" sz="1020" dirty="0"/>
          </a:p>
        </p:txBody>
      </p:sp>
      <p:sp>
        <p:nvSpPr>
          <p:cNvPr id="60" name="Text 58"/>
          <p:cNvSpPr txBox="1"/>
          <p:nvPr/>
        </p:nvSpPr>
        <p:spPr>
          <a:xfrm>
            <a:off x="7772400" y="367588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自动抓取 EHS 隐患随手拍中消防类数据，生成消防类隐患整改记录</a:t>
            </a:r>
            <a:endParaRPr lang="en-US" sz="1000" dirty="0"/>
          </a:p>
        </p:txBody>
      </p:sp>
      <p:sp>
        <p:nvSpPr>
          <p:cNvPr id="61" name="Shape 59"/>
          <p:cNvSpPr/>
          <p:nvPr/>
        </p:nvSpPr>
        <p:spPr>
          <a:xfrm>
            <a:off x="6181344" y="4224528"/>
            <a:ext cx="5479999" cy="512064"/>
          </a:xfrm>
          <a:prstGeom prst="roundRect">
            <a:avLst>
              <a:gd name="adj" fmla="val 6250"/>
            </a:avLst>
          </a:prstGeom>
          <a:solidFill>
            <a:srgbClr val="F6F8FA"/>
          </a:solidFill>
          <a:ln w="9525">
            <a:solidFill>
              <a:srgbClr val="E3E7EB"/>
            </a:solidFill>
            <a:prstDash val="solid"/>
          </a:ln>
        </p:spPr>
      </p:sp>
      <p:sp>
        <p:nvSpPr>
          <p:cNvPr id="62" name="Text 60"/>
          <p:cNvSpPr txBox="1"/>
          <p:nvPr/>
        </p:nvSpPr>
        <p:spPr>
          <a:xfrm>
            <a:off x="6345936" y="422452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隐患数据分析</a:t>
            </a:r>
            <a:endParaRPr lang="en-US" sz="1020" dirty="0"/>
          </a:p>
        </p:txBody>
      </p:sp>
      <p:sp>
        <p:nvSpPr>
          <p:cNvPr id="63" name="Text 61"/>
          <p:cNvSpPr txBox="1"/>
          <p:nvPr/>
        </p:nvSpPr>
        <p:spPr>
          <a:xfrm>
            <a:off x="7772400" y="422452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对历史隐患数据分析，形成园区消防风险的动态评估</a:t>
            </a:r>
            <a:endParaRPr lang="en-US" sz="1000" dirty="0"/>
          </a:p>
        </p:txBody>
      </p:sp>
      <p:sp>
        <p:nvSpPr>
          <p:cNvPr id="64" name="Shape 62"/>
          <p:cNvSpPr/>
          <p:nvPr/>
        </p:nvSpPr>
        <p:spPr>
          <a:xfrm>
            <a:off x="6181344" y="4718304"/>
            <a:ext cx="5479999" cy="1298448"/>
          </a:xfrm>
          <a:prstGeom prst="roundRect">
            <a:avLst>
              <a:gd name="adj" fmla="val 2465"/>
            </a:avLst>
          </a:prstGeom>
          <a:solidFill>
            <a:srgbClr val="FFF7EF"/>
          </a:solidFill>
          <a:ln w="9525">
            <a:solidFill>
              <a:srgbClr val="F6DCC2"/>
            </a:solidFill>
            <a:prstDash val="solid"/>
          </a:ln>
        </p:spPr>
      </p:sp>
      <p:sp>
        <p:nvSpPr>
          <p:cNvPr id="65" name="Text 63"/>
          <p:cNvSpPr txBox="1"/>
          <p:nvPr/>
        </p:nvSpPr>
        <p:spPr>
          <a:xfrm>
            <a:off x="6382512" y="4809744"/>
            <a:ext cx="49377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人员培训与演练 + 消防管理目标考核</a:t>
            </a:r>
            <a:endParaRPr lang="en-US" sz="1100" dirty="0"/>
          </a:p>
        </p:txBody>
      </p:sp>
      <p:sp>
        <p:nvSpPr>
          <p:cNvPr id="66" name="Text 64"/>
          <p:cNvSpPr txBox="1"/>
          <p:nvPr/>
        </p:nvSpPr>
        <p:spPr>
          <a:xfrm>
            <a:off x="6382512" y="5065776"/>
            <a:ext cx="5077663" cy="91440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培训与演练计划制定及节点提醒；在线学习、测试与效果记录；演练消息推送并生成报告。按园区、建筑、区域、设施、隐患、维修等维度分析，每月及年度输出对消防管理人员、物业、维保单位与属地责任人的目标评价。</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智慧消防（五）：集团—园区消防安全一张图（2.5D）</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支持园区→建筑→楼层逐级穿透，"地图 + 事件 + 设备"融合呈现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集团消防安全一张图</a:t>
            </a:r>
            <a:endParaRPr lang="en-US" sz="1250" dirty="0"/>
          </a:p>
        </p:txBody>
      </p:sp>
      <p:sp>
        <p:nvSpPr>
          <p:cNvPr id="7" name="Shape 5"/>
          <p:cNvSpPr/>
          <p:nvPr/>
        </p:nvSpPr>
        <p:spPr>
          <a:xfrm>
            <a:off x="530352" y="1517904"/>
            <a:ext cx="5486400" cy="2212848"/>
          </a:xfrm>
          <a:prstGeom prst="roundRect">
            <a:avLst>
              <a:gd name="adj" fmla="val 1446"/>
            </a:avLst>
          </a:prstGeom>
          <a:solidFill>
            <a:srgbClr val="0E2340"/>
          </a:solidFill>
          <a:ln/>
        </p:spPr>
      </p:sp>
      <p:sp>
        <p:nvSpPr>
          <p:cNvPr id="8" name="Text 6"/>
          <p:cNvSpPr txBox="1"/>
          <p:nvPr/>
        </p:nvSpPr>
        <p:spPr>
          <a:xfrm>
            <a:off x="749808" y="1664208"/>
            <a:ext cx="5047488" cy="1920240"/>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全国地图对各园区可视化标注，呈现园区数量、消防物联设备覆盖</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火警 / 预警 / 故障 / 隐患总量及处置进展</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园区消防安全状况评估排名，实时了解集团在管园区管理态势</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集团级实时风险提示与关注清单（高风险事件、重大隐患超期）</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一键查看园区隐患排查进度、火情处置记录</a:t>
            </a:r>
            <a:endParaRPr lang="en-US" sz="1000" dirty="0"/>
          </a:p>
        </p:txBody>
      </p:sp>
      <p:sp>
        <p:nvSpPr>
          <p:cNvPr id="9" name="Shape 7"/>
          <p:cNvSpPr/>
          <p:nvPr/>
        </p:nvSpPr>
        <p:spPr>
          <a:xfrm>
            <a:off x="6272784" y="1257300"/>
            <a:ext cx="68580" cy="173736"/>
          </a:xfrm>
          <a:prstGeom prst="rect">
            <a:avLst/>
          </a:prstGeom>
          <a:solidFill>
            <a:srgbClr val="F97B00"/>
          </a:solidFill>
          <a:ln/>
        </p:spPr>
      </p:sp>
      <p:sp>
        <p:nvSpPr>
          <p:cNvPr id="10" name="Text 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园区消防安全一张图</a:t>
            </a:r>
            <a:endParaRPr lang="en-US" sz="1250" dirty="0"/>
          </a:p>
        </p:txBody>
      </p:sp>
      <p:sp>
        <p:nvSpPr>
          <p:cNvPr id="11" name="Shape 9"/>
          <p:cNvSpPr/>
          <p:nvPr/>
        </p:nvSpPr>
        <p:spPr>
          <a:xfrm>
            <a:off x="6272784" y="1517904"/>
            <a:ext cx="5388559" cy="2212848"/>
          </a:xfrm>
          <a:prstGeom prst="roundRect">
            <a:avLst>
              <a:gd name="adj" fmla="val 144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6492240" y="1664208"/>
            <a:ext cx="4949647" cy="1920240"/>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园区地图动态展示火警、预警、故障、隐患、设备离线、维保、维修、巡检、防火巡查等事件实时分布与处置状态</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支持按事件类型、严重程度、区域筛选查看</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支持查看不同建筑、楼层设备具体报警位置，支持视频监控联动调阅</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为巡查重点安排、隐患治理定位、报警处置协同与事后复盘提供统一可视化监管视图</a:t>
            </a:r>
            <a:endParaRPr lang="en-US" sz="1000" dirty="0"/>
          </a:p>
        </p:txBody>
      </p:sp>
      <p:sp>
        <p:nvSpPr>
          <p:cNvPr id="13" name="Shape 11"/>
          <p:cNvSpPr/>
          <p:nvPr/>
        </p:nvSpPr>
        <p:spPr>
          <a:xfrm>
            <a:off x="530352" y="3854196"/>
            <a:ext cx="68580" cy="173736"/>
          </a:xfrm>
          <a:prstGeom prst="rect">
            <a:avLst/>
          </a:prstGeom>
          <a:solidFill>
            <a:srgbClr val="F97B00"/>
          </a:solidFill>
          <a:ln/>
        </p:spPr>
      </p:sp>
      <p:sp>
        <p:nvSpPr>
          <p:cNvPr id="14" name="Text 12"/>
          <p:cNvSpPr txBox="1"/>
          <p:nvPr/>
        </p:nvSpPr>
        <p:spPr>
          <a:xfrm>
            <a:off x="685800" y="38039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逐级穿透与其他功能需求</a:t>
            </a:r>
            <a:endParaRPr lang="en-US" sz="1250" dirty="0"/>
          </a:p>
        </p:txBody>
      </p:sp>
      <p:sp>
        <p:nvSpPr>
          <p:cNvPr id="15" name="Shape 13"/>
          <p:cNvSpPr/>
          <p:nvPr/>
        </p:nvSpPr>
        <p:spPr>
          <a:xfrm>
            <a:off x="530352" y="4133088"/>
            <a:ext cx="1060704" cy="420624"/>
          </a:xfrm>
          <a:prstGeom prst="homePlate">
            <a:avLst/>
          </a:prstGeom>
          <a:solidFill>
            <a:srgbClr val="F97B00"/>
          </a:solidFill>
          <a:ln/>
        </p:spPr>
      </p:sp>
      <p:sp>
        <p:nvSpPr>
          <p:cNvPr id="16" name="Text 14"/>
          <p:cNvSpPr txBox="1"/>
          <p:nvPr/>
        </p:nvSpPr>
        <p:spPr>
          <a:xfrm>
            <a:off x="657636"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集团</a:t>
            </a:r>
            <a:endParaRPr lang="en-US" sz="1000" dirty="0"/>
          </a:p>
        </p:txBody>
      </p:sp>
      <p:sp>
        <p:nvSpPr>
          <p:cNvPr id="17" name="Shape 15"/>
          <p:cNvSpPr/>
          <p:nvPr/>
        </p:nvSpPr>
        <p:spPr>
          <a:xfrm>
            <a:off x="1636776" y="4133088"/>
            <a:ext cx="1060704" cy="420624"/>
          </a:xfrm>
          <a:prstGeom prst="chevron">
            <a:avLst/>
          </a:prstGeom>
          <a:solidFill>
            <a:srgbClr val="FF9F3D"/>
          </a:solidFill>
          <a:ln/>
        </p:spPr>
      </p:sp>
      <p:sp>
        <p:nvSpPr>
          <p:cNvPr id="18" name="Text 16"/>
          <p:cNvSpPr txBox="1"/>
          <p:nvPr/>
        </p:nvSpPr>
        <p:spPr>
          <a:xfrm>
            <a:off x="1764060"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园区</a:t>
            </a:r>
            <a:endParaRPr lang="en-US" sz="1000" dirty="0"/>
          </a:p>
        </p:txBody>
      </p:sp>
      <p:sp>
        <p:nvSpPr>
          <p:cNvPr id="19" name="Shape 17"/>
          <p:cNvSpPr/>
          <p:nvPr/>
        </p:nvSpPr>
        <p:spPr>
          <a:xfrm>
            <a:off x="2743200" y="4133088"/>
            <a:ext cx="1060704" cy="420624"/>
          </a:xfrm>
          <a:prstGeom prst="chevron">
            <a:avLst/>
          </a:prstGeom>
          <a:solidFill>
            <a:srgbClr val="F97B00"/>
          </a:solidFill>
          <a:ln/>
        </p:spPr>
      </p:sp>
      <p:sp>
        <p:nvSpPr>
          <p:cNvPr id="20" name="Text 18"/>
          <p:cNvSpPr txBox="1"/>
          <p:nvPr/>
        </p:nvSpPr>
        <p:spPr>
          <a:xfrm>
            <a:off x="2870484"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建筑</a:t>
            </a:r>
            <a:endParaRPr lang="en-US" sz="1000" dirty="0"/>
          </a:p>
        </p:txBody>
      </p:sp>
      <p:sp>
        <p:nvSpPr>
          <p:cNvPr id="21" name="Shape 19"/>
          <p:cNvSpPr/>
          <p:nvPr/>
        </p:nvSpPr>
        <p:spPr>
          <a:xfrm>
            <a:off x="3849624" y="4133088"/>
            <a:ext cx="1060704" cy="420624"/>
          </a:xfrm>
          <a:prstGeom prst="chevron">
            <a:avLst/>
          </a:prstGeom>
          <a:solidFill>
            <a:srgbClr val="FF9F3D"/>
          </a:solidFill>
          <a:ln/>
        </p:spPr>
      </p:sp>
      <p:sp>
        <p:nvSpPr>
          <p:cNvPr id="22" name="Text 20"/>
          <p:cNvSpPr txBox="1"/>
          <p:nvPr/>
        </p:nvSpPr>
        <p:spPr>
          <a:xfrm>
            <a:off x="3976908"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楼层</a:t>
            </a:r>
            <a:endParaRPr lang="en-US" sz="1000" dirty="0"/>
          </a:p>
        </p:txBody>
      </p:sp>
      <p:sp>
        <p:nvSpPr>
          <p:cNvPr id="23" name="Shape 21"/>
          <p:cNvSpPr/>
          <p:nvPr/>
        </p:nvSpPr>
        <p:spPr>
          <a:xfrm>
            <a:off x="4956048" y="4133088"/>
            <a:ext cx="1060704" cy="420624"/>
          </a:xfrm>
          <a:prstGeom prst="chevron">
            <a:avLst/>
          </a:prstGeom>
          <a:solidFill>
            <a:srgbClr val="F97B00"/>
          </a:solidFill>
          <a:ln/>
        </p:spPr>
      </p:sp>
      <p:sp>
        <p:nvSpPr>
          <p:cNvPr id="24" name="Text 22"/>
          <p:cNvSpPr txBox="1"/>
          <p:nvPr/>
        </p:nvSpPr>
        <p:spPr>
          <a:xfrm>
            <a:off x="5083332"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p>
        </p:txBody>
      </p:sp>
      <p:sp>
        <p:nvSpPr>
          <p:cNvPr id="25" name="Text 23"/>
          <p:cNvSpPr txBox="1"/>
          <p:nvPr/>
        </p:nvSpPr>
        <p:spPr>
          <a:xfrm>
            <a:off x="530352" y="4663440"/>
            <a:ext cx="5486400" cy="603504"/>
          </a:xfrm>
          <a:prstGeom prst="rect">
            <a:avLst/>
          </a:prstGeom>
          <a:noFill/>
          <a:ln/>
        </p:spPr>
        <p:txBody>
          <a:bodyPr wrap="square" lIns="0" tIns="0" rIns="0" bIns="0" rtlCol="0" anchor="ctr"/>
          <a:lstStyle/>
          <a:p>
            <a:pPr indent="0" marL="0">
              <a:lnSpc>
                <a:spcPct val="110000"/>
              </a:lnSpc>
              <a:buNone/>
            </a:pPr>
            <a:r>
              <a:rPr lang="en-US" sz="1000" i="1" dirty="0">
                <a:solidFill>
                  <a:srgbClr val="55606B"/>
                </a:solidFill>
                <a:latin typeface="Calibri" pitchFamily="34" charset="0"/>
                <a:ea typeface="Calibri" pitchFamily="34" charset="-122"/>
                <a:cs typeface="Calibri" pitchFamily="34" charset="-120"/>
              </a:rPr>
              <a:t>一张图以功能实现与快速切换为主，适当美观即可，避免地图复杂化导致加载与打开延迟——这是我们从多个园区项目中总结的实用主义原则。</a:t>
            </a:r>
            <a:endParaRPr lang="en-US" sz="1000" dirty="0"/>
          </a:p>
        </p:txBody>
      </p:sp>
      <p:sp>
        <p:nvSpPr>
          <p:cNvPr id="26" name="Shape 24"/>
          <p:cNvSpPr/>
          <p:nvPr/>
        </p:nvSpPr>
        <p:spPr>
          <a:xfrm>
            <a:off x="6272784" y="4114800"/>
            <a:ext cx="2611984" cy="859536"/>
          </a:xfrm>
          <a:prstGeom prst="roundRect">
            <a:avLst>
              <a:gd name="adj" fmla="val 3723"/>
            </a:avLst>
          </a:prstGeom>
          <a:solidFill>
            <a:srgbClr val="F6F8FA"/>
          </a:solidFill>
          <a:ln w="9525">
            <a:solidFill>
              <a:srgbClr val="E3E7EB"/>
            </a:solidFill>
            <a:prstDash val="solid"/>
          </a:ln>
        </p:spPr>
      </p:sp>
      <p:sp>
        <p:nvSpPr>
          <p:cNvPr id="27" name="Text 25"/>
          <p:cNvSpPr txBox="1"/>
          <p:nvPr/>
        </p:nvSpPr>
        <p:spPr>
          <a:xfrm>
            <a:off x="6437376"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电动汽车管理</a:t>
            </a:r>
            <a:endParaRPr lang="en-US" sz="1050" dirty="0"/>
          </a:p>
        </p:txBody>
      </p:sp>
      <p:sp>
        <p:nvSpPr>
          <p:cNvPr id="28" name="Text 26"/>
          <p:cNvSpPr txBox="1"/>
          <p:nvPr/>
        </p:nvSpPr>
        <p:spPr>
          <a:xfrm>
            <a:off x="6437376" y="4498848"/>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充电桩监控、充电区域自动监控及报警</a:t>
            </a:r>
            <a:endParaRPr lang="en-US" sz="1000" dirty="0"/>
          </a:p>
        </p:txBody>
      </p:sp>
      <p:sp>
        <p:nvSpPr>
          <p:cNvPr id="29" name="Shape 27"/>
          <p:cNvSpPr/>
          <p:nvPr/>
        </p:nvSpPr>
        <p:spPr>
          <a:xfrm>
            <a:off x="9049360" y="4114800"/>
            <a:ext cx="2611984" cy="859536"/>
          </a:xfrm>
          <a:prstGeom prst="roundRect">
            <a:avLst>
              <a:gd name="adj" fmla="val 3723"/>
            </a:avLst>
          </a:prstGeom>
          <a:solidFill>
            <a:srgbClr val="F6F8FA"/>
          </a:solidFill>
          <a:ln w="9525">
            <a:solidFill>
              <a:srgbClr val="E3E7EB"/>
            </a:solidFill>
            <a:prstDash val="solid"/>
          </a:ln>
        </p:spPr>
      </p:sp>
      <p:sp>
        <p:nvSpPr>
          <p:cNvPr id="30" name="Text 28"/>
          <p:cNvSpPr txBox="1"/>
          <p:nvPr/>
        </p:nvSpPr>
        <p:spPr>
          <a:xfrm>
            <a:off x="9213952"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电动自行车/叉车/AGV 充电区</a:t>
            </a:r>
            <a:endParaRPr lang="en-US" sz="1050" dirty="0"/>
          </a:p>
        </p:txBody>
      </p:sp>
      <p:sp>
        <p:nvSpPr>
          <p:cNvPr id="31" name="Text 29"/>
          <p:cNvSpPr txBox="1"/>
          <p:nvPr/>
        </p:nvSpPr>
        <p:spPr>
          <a:xfrm>
            <a:off x="9213952" y="4498848"/>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充电管理、视频监控、热成像监控</a:t>
            </a:r>
            <a:endParaRPr lang="en-US" sz="1000" dirty="0"/>
          </a:p>
        </p:txBody>
      </p:sp>
      <p:sp>
        <p:nvSpPr>
          <p:cNvPr id="32" name="Shape 30"/>
          <p:cNvSpPr/>
          <p:nvPr/>
        </p:nvSpPr>
        <p:spPr>
          <a:xfrm>
            <a:off x="6272784" y="5047488"/>
            <a:ext cx="2611984" cy="859536"/>
          </a:xfrm>
          <a:prstGeom prst="roundRect">
            <a:avLst>
              <a:gd name="adj" fmla="val 3723"/>
            </a:avLst>
          </a:prstGeom>
          <a:solidFill>
            <a:srgbClr val="F6F8FA"/>
          </a:solidFill>
          <a:ln w="9525">
            <a:solidFill>
              <a:srgbClr val="E3E7EB"/>
            </a:solidFill>
            <a:prstDash val="solid"/>
          </a:ln>
        </p:spPr>
      </p:sp>
      <p:sp>
        <p:nvSpPr>
          <p:cNvPr id="33" name="Text 31"/>
          <p:cNvSpPr txBox="1"/>
          <p:nvPr/>
        </p:nvSpPr>
        <p:spPr>
          <a:xfrm>
            <a:off x="6437376"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安全知识推送</a:t>
            </a:r>
            <a:endParaRPr lang="en-US" sz="1050" dirty="0"/>
          </a:p>
        </p:txBody>
      </p:sp>
      <p:sp>
        <p:nvSpPr>
          <p:cNvPr id="34" name="Text 32"/>
          <p:cNvSpPr txBox="1"/>
          <p:nvPr/>
        </p:nvSpPr>
        <p:spPr>
          <a:xfrm>
            <a:off x="6437376" y="5431536"/>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消防安全知识、消防资源情况、岗位处置措施按需推送</a:t>
            </a:r>
            <a:endParaRPr lang="en-US" sz="1000" dirty="0"/>
          </a:p>
        </p:txBody>
      </p:sp>
      <p:sp>
        <p:nvSpPr>
          <p:cNvPr id="35" name="Shape 33"/>
          <p:cNvSpPr/>
          <p:nvPr/>
        </p:nvSpPr>
        <p:spPr>
          <a:xfrm>
            <a:off x="9049360" y="5047488"/>
            <a:ext cx="2611984" cy="859536"/>
          </a:xfrm>
          <a:prstGeom prst="roundRect">
            <a:avLst>
              <a:gd name="adj" fmla="val 3723"/>
            </a:avLst>
          </a:prstGeom>
          <a:solidFill>
            <a:srgbClr val="F6F8FA"/>
          </a:solidFill>
          <a:ln w="9525">
            <a:solidFill>
              <a:srgbClr val="E3E7EB"/>
            </a:solidFill>
            <a:prstDash val="solid"/>
          </a:ln>
        </p:spPr>
      </p:sp>
      <p:sp>
        <p:nvSpPr>
          <p:cNvPr id="36" name="Text 34"/>
          <p:cNvSpPr txBox="1"/>
          <p:nvPr/>
        </p:nvSpPr>
        <p:spPr>
          <a:xfrm>
            <a:off x="9213952"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消防安全排行榜</a:t>
            </a:r>
            <a:endParaRPr lang="en-US" sz="1050" dirty="0"/>
          </a:p>
        </p:txBody>
      </p:sp>
      <p:sp>
        <p:nvSpPr>
          <p:cNvPr id="37" name="Text 35"/>
          <p:cNvSpPr txBox="1"/>
          <p:nvPr/>
        </p:nvSpPr>
        <p:spPr>
          <a:xfrm>
            <a:off x="9213952" y="5431536"/>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建立区域、部门消防安全指数排行，促进良性循环</a:t>
            </a:r>
            <a:endParaRPr lang="en-US" sz="1000" dirty="0"/>
          </a:p>
        </p:txBody>
      </p:sp>
      <p:sp>
        <p:nvSpPr>
          <p:cNvPr id="38" name="Text 36"/>
          <p:cNvSpPr txBox="1"/>
          <p:nvPr/>
        </p:nvSpPr>
        <p:spPr>
          <a:xfrm>
            <a:off x="530352" y="5358384"/>
            <a:ext cx="5486400" cy="786384"/>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系统集成与数据互联：对接监控系统并关联视频与设施地址；关联门禁，消防状态下疏散区域门禁全开；打通钉钉消息推送，抓取 EHS 平台消防类隐患与 5S 责任区数据；预留其余园区与政府监管平台接口。</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智慧安防（一）：平台建设与 AI 算法仓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从园区前端感知到指挥中心显控的软硬件一体化建设，最大限度降低误报漏报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软件平台建设</a:t>
            </a:r>
            <a:endParaRPr lang="en-US" sz="1250" dirty="0"/>
          </a:p>
        </p:txBody>
      </p:sp>
      <p:sp>
        <p:nvSpPr>
          <p:cNvPr id="7" name="Shape 5"/>
          <p:cNvSpPr/>
          <p:nvPr/>
        </p:nvSpPr>
        <p:spPr>
          <a:xfrm>
            <a:off x="530352" y="1499616"/>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91640"/>
            <a:ext cx="365760" cy="365760"/>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3699" y="1790395"/>
            <a:ext cx="168250" cy="168250"/>
          </a:xfrm>
          <a:prstGeom prst="rect">
            <a:avLst/>
          </a:prstGeom>
        </p:spPr>
      </p:pic>
      <p:sp>
        <p:nvSpPr>
          <p:cNvPr id="10" name="Text 7"/>
          <p:cNvSpPr txBox="1"/>
          <p:nvPr/>
        </p:nvSpPr>
        <p:spPr>
          <a:xfrm>
            <a:off x="1170432" y="1536192"/>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平台基础服务</a:t>
            </a:r>
            <a:endParaRPr lang="en-US" sz="1100" dirty="0"/>
          </a:p>
        </p:txBody>
      </p:sp>
      <p:sp>
        <p:nvSpPr>
          <p:cNvPr id="11" name="Text 8"/>
          <p:cNvSpPr txBox="1"/>
          <p:nvPr/>
        </p:nvSpPr>
        <p:spPr>
          <a:xfrm>
            <a:off x="1170432" y="1764792"/>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统一操作系统、数据库、中间件正版授权及部署；核心服务支持集群部署与负载均衡</a:t>
            </a:r>
            <a:endParaRPr lang="en-US" sz="1000" dirty="0"/>
          </a:p>
        </p:txBody>
      </p:sp>
      <p:sp>
        <p:nvSpPr>
          <p:cNvPr id="12" name="Shape 9"/>
          <p:cNvSpPr/>
          <p:nvPr/>
        </p:nvSpPr>
        <p:spPr>
          <a:xfrm>
            <a:off x="530352" y="2194560"/>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386584"/>
            <a:ext cx="365760" cy="365760"/>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3699" y="2485339"/>
            <a:ext cx="168250" cy="168250"/>
          </a:xfrm>
          <a:prstGeom prst="rect">
            <a:avLst/>
          </a:prstGeom>
        </p:spPr>
      </p:pic>
      <p:sp>
        <p:nvSpPr>
          <p:cNvPr id="15" name="Text 11"/>
          <p:cNvSpPr txBox="1"/>
          <p:nvPr/>
        </p:nvSpPr>
        <p:spPr>
          <a:xfrm>
            <a:off x="1170432" y="2231136"/>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统一门户与可视化</a:t>
            </a:r>
            <a:endParaRPr lang="en-US" sz="1100" dirty="0"/>
          </a:p>
        </p:txBody>
      </p:sp>
      <p:sp>
        <p:nvSpPr>
          <p:cNvPr id="16" name="Text 12"/>
          <p:cNvSpPr txBox="1"/>
          <p:nvPr/>
        </p:nvSpPr>
        <p:spPr>
          <a:xfrm>
            <a:off x="1170432" y="2459736"/>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浏览器、桌面与移动端（iSungrow 联动）；2.5D 地图引擎集成 CAD 图纸，实现设备与区域精准映射；驾驶舱支持自定义视图</a:t>
            </a:r>
            <a:endParaRPr lang="en-US" sz="1000" dirty="0"/>
          </a:p>
        </p:txBody>
      </p:sp>
      <p:sp>
        <p:nvSpPr>
          <p:cNvPr id="17" name="Shape 13"/>
          <p:cNvSpPr/>
          <p:nvPr/>
        </p:nvSpPr>
        <p:spPr>
          <a:xfrm>
            <a:off x="530352" y="2889504"/>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3081528"/>
            <a:ext cx="365760" cy="365760"/>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3699" y="3180283"/>
            <a:ext cx="168250" cy="168250"/>
          </a:xfrm>
          <a:prstGeom prst="rect">
            <a:avLst/>
          </a:prstGeom>
        </p:spPr>
      </p:pic>
      <p:sp>
        <p:nvSpPr>
          <p:cNvPr id="20" name="Text 15"/>
          <p:cNvSpPr txBox="1"/>
          <p:nvPr/>
        </p:nvSpPr>
        <p:spPr>
          <a:xfrm>
            <a:off x="1170432" y="2926080"/>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视频管理服务</a:t>
            </a:r>
            <a:endParaRPr lang="en-US" sz="1100" dirty="0"/>
          </a:p>
        </p:txBody>
      </p:sp>
      <p:sp>
        <p:nvSpPr>
          <p:cNvPr id="21" name="Text 16"/>
          <p:cNvSpPr txBox="1"/>
          <p:nvPr/>
        </p:nvSpPr>
        <p:spPr>
          <a:xfrm>
            <a:off x="1170432" y="3154680"/>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流媒体直播、转码与分发；录像存储管理与循环覆盖策略；视频智能运维含在线监测与质量诊断</a:t>
            </a:r>
            <a:endParaRPr lang="en-US" sz="1000" dirty="0"/>
          </a:p>
        </p:txBody>
      </p:sp>
      <p:sp>
        <p:nvSpPr>
          <p:cNvPr id="22" name="Shape 17"/>
          <p:cNvSpPr/>
          <p:nvPr/>
        </p:nvSpPr>
        <p:spPr>
          <a:xfrm>
            <a:off x="6272784" y="1257300"/>
            <a:ext cx="68580" cy="173736"/>
          </a:xfrm>
          <a:prstGeom prst="rect">
            <a:avLst/>
          </a:prstGeom>
          <a:solidFill>
            <a:srgbClr val="F97B00"/>
          </a:solidFill>
          <a:ln/>
        </p:spPr>
      </p:sp>
      <p:sp>
        <p:nvSpPr>
          <p:cNvPr id="23" name="Text 1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AI 算法仓与应用</a:t>
            </a:r>
            <a:endParaRPr lang="en-US" sz="1250" dirty="0"/>
          </a:p>
        </p:txBody>
      </p:sp>
      <p:sp>
        <p:nvSpPr>
          <p:cNvPr id="24" name="Shape 19"/>
          <p:cNvSpPr/>
          <p:nvPr/>
        </p:nvSpPr>
        <p:spPr>
          <a:xfrm>
            <a:off x="6272784" y="1517904"/>
            <a:ext cx="5388559" cy="1225296"/>
          </a:xfrm>
          <a:prstGeom prst="roundRect">
            <a:avLst>
              <a:gd name="adj" fmla="val 261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5" name="Text 20"/>
          <p:cNvSpPr txBox="1"/>
          <p:nvPr/>
        </p:nvSpPr>
        <p:spPr>
          <a:xfrm>
            <a:off x="6473952" y="160934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行为分析类</a:t>
            </a:r>
            <a:endParaRPr lang="en-US" sz="1050" dirty="0"/>
          </a:p>
        </p:txBody>
      </p:sp>
      <p:sp>
        <p:nvSpPr>
          <p:cNvPr id="26" name="Text 21"/>
          <p:cNvSpPr txBox="1"/>
          <p:nvPr/>
        </p:nvSpPr>
        <p:spPr>
          <a:xfrm>
            <a:off x="6473952" y="1847088"/>
            <a:ext cx="4967935" cy="310896"/>
          </a:xfrm>
          <a:prstGeom prst="rect">
            <a:avLst/>
          </a:prstGeom>
          <a:noFill/>
          <a:ln/>
        </p:spPr>
        <p:txBody>
          <a:bodyPr wrap="square" lIns="0" tIns="0" rIns="0" bIns="0" rtlCol="0" anchor="ctr"/>
          <a:lstStyle/>
          <a:p>
            <a:pPr indent="0" marL="0">
              <a:lnSpc>
                <a:spcPct val="102000"/>
              </a:lnSpc>
              <a:buNone/>
            </a:pPr>
            <a:r>
              <a:rPr lang="en-US" sz="1000" dirty="0">
                <a:solidFill>
                  <a:srgbClr val="1F2933"/>
                </a:solidFill>
                <a:latin typeface="Calibri" pitchFamily="34" charset="0"/>
                <a:ea typeface="Calibri" pitchFamily="34" charset="-122"/>
                <a:cs typeface="Calibri" pitchFamily="34" charset="-120"/>
              </a:rPr>
              <a:t>安全帽 / 反光衣 / 工服检测、区域入侵、越界、人员聚集、徘徊、离岗睡岗、攀爬等</a:t>
            </a:r>
            <a:endParaRPr lang="en-US" sz="1000" dirty="0"/>
          </a:p>
        </p:txBody>
      </p:sp>
      <p:sp>
        <p:nvSpPr>
          <p:cNvPr id="27" name="Text 22"/>
          <p:cNvSpPr txBox="1"/>
          <p:nvPr/>
        </p:nvSpPr>
        <p:spPr>
          <a:xfrm>
            <a:off x="6473952"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事件检测类</a:t>
            </a:r>
            <a:endParaRPr lang="en-US" sz="1050" dirty="0"/>
          </a:p>
        </p:txBody>
      </p:sp>
      <p:sp>
        <p:nvSpPr>
          <p:cNvPr id="28" name="Text 23"/>
          <p:cNvSpPr txBox="1"/>
          <p:nvPr/>
        </p:nvSpPr>
        <p:spPr>
          <a:xfrm>
            <a:off x="6473952" y="2395728"/>
            <a:ext cx="4967935" cy="274320"/>
          </a:xfrm>
          <a:prstGeom prst="rect">
            <a:avLst/>
          </a:prstGeom>
          <a:noFill/>
          <a:ln/>
        </p:spPr>
        <p:txBody>
          <a:bodyPr wrap="square" lIns="0" tIns="0" rIns="0" bIns="0" rtlCol="0" anchor="ctr"/>
          <a:lstStyle/>
          <a:p>
            <a:pPr indent="0" marL="0">
              <a:lnSpc>
                <a:spcPct val="102000"/>
              </a:lnSpc>
              <a:buNone/>
            </a:pPr>
            <a:r>
              <a:rPr lang="en-US" sz="1000" dirty="0">
                <a:solidFill>
                  <a:srgbClr val="1F2933"/>
                </a:solidFill>
                <a:latin typeface="Calibri" pitchFamily="34" charset="0"/>
                <a:ea typeface="Calibri" pitchFamily="34" charset="-122"/>
                <a:cs typeface="Calibri" pitchFamily="34" charset="-120"/>
              </a:rPr>
              <a:t>烟火识别、烟雾检测、物品遗留/移取、人员倒地、交通违章（逆行、违停）等</a:t>
            </a:r>
            <a:endParaRPr lang="en-US" sz="1000" dirty="0"/>
          </a:p>
        </p:txBody>
      </p:sp>
      <p:sp>
        <p:nvSpPr>
          <p:cNvPr id="29" name="Shape 24"/>
          <p:cNvSpPr/>
          <p:nvPr/>
        </p:nvSpPr>
        <p:spPr>
          <a:xfrm>
            <a:off x="6272784" y="2871216"/>
            <a:ext cx="5388559" cy="804672"/>
          </a:xfrm>
          <a:prstGeom prst="roundRect">
            <a:avLst>
              <a:gd name="adj" fmla="val 3977"/>
            </a:avLst>
          </a:prstGeom>
          <a:solidFill>
            <a:srgbClr val="F6F8FA"/>
          </a:solidFill>
          <a:ln w="9525">
            <a:solidFill>
              <a:srgbClr val="E3E7EB"/>
            </a:solidFill>
            <a:prstDash val="solid"/>
          </a:ln>
        </p:spPr>
      </p:sp>
      <p:sp>
        <p:nvSpPr>
          <p:cNvPr id="30" name="Text 25"/>
          <p:cNvSpPr txBox="1"/>
          <p:nvPr/>
        </p:nvSpPr>
        <p:spPr>
          <a:xfrm>
            <a:off x="6455664" y="2926080"/>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分析服务</a:t>
            </a:r>
            <a:endParaRPr lang="en-US" sz="1100" dirty="0"/>
          </a:p>
        </p:txBody>
      </p:sp>
      <p:sp>
        <p:nvSpPr>
          <p:cNvPr id="31" name="Text 26"/>
          <p:cNvSpPr txBox="1"/>
          <p:nvPr/>
        </p:nvSpPr>
        <p:spPr>
          <a:xfrm>
            <a:off x="6455664" y="3182112"/>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实时视频分析、图片分析、历史录像后智能检索（以图搜图、特征检索、轨迹寻踪）</a:t>
            </a:r>
            <a:endParaRPr lang="en-US" sz="1000" dirty="0"/>
          </a:p>
        </p:txBody>
      </p:sp>
      <p:sp>
        <p:nvSpPr>
          <p:cNvPr id="32" name="Shape 27"/>
          <p:cNvSpPr/>
          <p:nvPr/>
        </p:nvSpPr>
        <p:spPr>
          <a:xfrm>
            <a:off x="6272784" y="3767328"/>
            <a:ext cx="5388559" cy="804672"/>
          </a:xfrm>
          <a:prstGeom prst="roundRect">
            <a:avLst>
              <a:gd name="adj" fmla="val 3977"/>
            </a:avLst>
          </a:prstGeom>
          <a:solidFill>
            <a:srgbClr val="FFFFFF"/>
          </a:solidFill>
          <a:ln w="9525">
            <a:solidFill>
              <a:srgbClr val="E3E7EB"/>
            </a:solidFill>
            <a:prstDash val="solid"/>
          </a:ln>
        </p:spPr>
      </p:sp>
      <p:sp>
        <p:nvSpPr>
          <p:cNvPr id="33" name="Text 28"/>
          <p:cNvSpPr txBox="1"/>
          <p:nvPr/>
        </p:nvSpPr>
        <p:spPr>
          <a:xfrm>
            <a:off x="6455664" y="3822192"/>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告警与事件中心</a:t>
            </a:r>
            <a:endParaRPr lang="en-US" sz="1100" dirty="0"/>
          </a:p>
        </p:txBody>
      </p:sp>
      <p:sp>
        <p:nvSpPr>
          <p:cNvPr id="34" name="Text 29"/>
          <p:cNvSpPr txBox="1"/>
          <p:nvPr/>
        </p:nvSpPr>
        <p:spPr>
          <a:xfrm>
            <a:off x="6455664" y="4078224"/>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统一告警接入引擎多源归一化；智能规则引擎（分级/过滤/压缩/关联）；可视化处置工作流（工单创建/派发/反馈/闭环）</a:t>
            </a:r>
            <a:endParaRPr lang="en-US" sz="1000" dirty="0"/>
          </a:p>
        </p:txBody>
      </p:sp>
      <p:sp>
        <p:nvSpPr>
          <p:cNvPr id="35" name="Shape 30"/>
          <p:cNvSpPr/>
          <p:nvPr/>
        </p:nvSpPr>
        <p:spPr>
          <a:xfrm>
            <a:off x="6272784" y="4663440"/>
            <a:ext cx="5388559" cy="804672"/>
          </a:xfrm>
          <a:prstGeom prst="roundRect">
            <a:avLst>
              <a:gd name="adj" fmla="val 3977"/>
            </a:avLst>
          </a:prstGeom>
          <a:solidFill>
            <a:srgbClr val="F6F8FA"/>
          </a:solidFill>
          <a:ln w="9525">
            <a:solidFill>
              <a:srgbClr val="E3E7EB"/>
            </a:solidFill>
            <a:prstDash val="solid"/>
          </a:ln>
        </p:spPr>
      </p:sp>
      <p:sp>
        <p:nvSpPr>
          <p:cNvPr id="36" name="Text 31"/>
          <p:cNvSpPr txBox="1"/>
          <p:nvPr/>
        </p:nvSpPr>
        <p:spPr>
          <a:xfrm>
            <a:off x="6455664" y="4718304"/>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业务管理模块</a:t>
            </a:r>
            <a:endParaRPr lang="en-US" sz="1100" dirty="0"/>
          </a:p>
        </p:txBody>
      </p:sp>
      <p:sp>
        <p:nvSpPr>
          <p:cNvPr id="37" name="Text 32"/>
          <p:cNvSpPr txBox="1"/>
          <p:nvPr/>
        </p:nvSpPr>
        <p:spPr>
          <a:xfrm>
            <a:off x="6455664" y="4974336"/>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巡检数据看板、AI 告警列表与详情、场景配置（设备信息筛选、导入导出、关联算法与告警场景）、报警联动视频复核与对讲、2.5D 电子地图旁路与反控</a:t>
            </a:r>
            <a:endParaRPr lang="en-US" sz="1000" dirty="0"/>
          </a:p>
        </p:txBody>
      </p:sp>
      <p:sp>
        <p:nvSpPr>
          <p:cNvPr id="38" name="Shape 33"/>
          <p:cNvSpPr/>
          <p:nvPr/>
        </p:nvSpPr>
        <p:spPr>
          <a:xfrm>
            <a:off x="530352" y="3689604"/>
            <a:ext cx="68580" cy="173736"/>
          </a:xfrm>
          <a:prstGeom prst="rect">
            <a:avLst/>
          </a:prstGeom>
          <a:solidFill>
            <a:srgbClr val="F97B00"/>
          </a:solidFill>
          <a:ln/>
        </p:spPr>
      </p:sp>
      <p:sp>
        <p:nvSpPr>
          <p:cNvPr id="39" name="Text 34"/>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硬件建设（原则上尽可能利旧）</a:t>
            </a:r>
            <a:endParaRPr lang="en-US" sz="1250" dirty="0"/>
          </a:p>
        </p:txBody>
      </p:sp>
      <p:sp>
        <p:nvSpPr>
          <p:cNvPr id="40" name="Shape 35"/>
          <p:cNvSpPr/>
          <p:nvPr/>
        </p:nvSpPr>
        <p:spPr>
          <a:xfrm>
            <a:off x="530352" y="3968496"/>
            <a:ext cx="5486400" cy="475488"/>
          </a:xfrm>
          <a:prstGeom prst="roundRect">
            <a:avLst>
              <a:gd name="adj" fmla="val 6731"/>
            </a:avLst>
          </a:prstGeom>
          <a:solidFill>
            <a:srgbClr val="FFFFFF"/>
          </a:solidFill>
          <a:ln w="9525">
            <a:solidFill>
              <a:srgbClr val="EEDFD0"/>
            </a:solidFill>
            <a:prstDash val="solid"/>
          </a:ln>
        </p:spPr>
      </p:sp>
      <p:sp>
        <p:nvSpPr>
          <p:cNvPr id="41" name="Text 36"/>
          <p:cNvSpPr txBox="1"/>
          <p:nvPr/>
        </p:nvSpPr>
        <p:spPr>
          <a:xfrm>
            <a:off x="694944" y="3968496"/>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视频监控硬件</a:t>
            </a:r>
            <a:endParaRPr lang="en-US" sz="1000" dirty="0"/>
          </a:p>
        </p:txBody>
      </p:sp>
      <p:sp>
        <p:nvSpPr>
          <p:cNvPr id="42" name="Text 37"/>
          <p:cNvSpPr txBox="1"/>
          <p:nvPr/>
        </p:nvSpPr>
        <p:spPr>
          <a:xfrm>
            <a:off x="2194560" y="3968496"/>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枪机、球机、全景、热成像双光谱、防爆型、AI 边缘结构化摄像机；配套防雷、防水箱、立杆支架与补光灯</a:t>
            </a:r>
            <a:endParaRPr lang="en-US" sz="1000" dirty="0"/>
          </a:p>
        </p:txBody>
      </p:sp>
      <p:sp>
        <p:nvSpPr>
          <p:cNvPr id="43" name="Shape 38"/>
          <p:cNvSpPr/>
          <p:nvPr/>
        </p:nvSpPr>
        <p:spPr>
          <a:xfrm>
            <a:off x="530352" y="4498848"/>
            <a:ext cx="5486400" cy="475488"/>
          </a:xfrm>
          <a:prstGeom prst="roundRect">
            <a:avLst>
              <a:gd name="adj" fmla="val 6731"/>
            </a:avLst>
          </a:prstGeom>
          <a:solidFill>
            <a:srgbClr val="FFF7EF"/>
          </a:solidFill>
          <a:ln w="9525">
            <a:solidFill>
              <a:srgbClr val="EEDFD0"/>
            </a:solidFill>
            <a:prstDash val="solid"/>
          </a:ln>
        </p:spPr>
      </p:sp>
      <p:sp>
        <p:nvSpPr>
          <p:cNvPr id="44" name="Text 39"/>
          <p:cNvSpPr txBox="1"/>
          <p:nvPr/>
        </p:nvSpPr>
        <p:spPr>
          <a:xfrm>
            <a:off x="694944" y="4498848"/>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周界入侵报警</a:t>
            </a:r>
            <a:endParaRPr lang="en-US" sz="1000" dirty="0"/>
          </a:p>
        </p:txBody>
      </p:sp>
      <p:sp>
        <p:nvSpPr>
          <p:cNvPr id="45" name="Text 40"/>
          <p:cNvSpPr txBox="1"/>
          <p:nvPr/>
        </p:nvSpPr>
        <p:spPr>
          <a:xfrm>
            <a:off x="2194560" y="4498848"/>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振动光纤探测系统（4000m 周长）+ 40 台联动摄像机 + 11 处红外对射 + 现场声光报警器</a:t>
            </a:r>
            <a:endParaRPr lang="en-US" sz="1000" dirty="0"/>
          </a:p>
        </p:txBody>
      </p:sp>
      <p:sp>
        <p:nvSpPr>
          <p:cNvPr id="46" name="Shape 41"/>
          <p:cNvSpPr/>
          <p:nvPr/>
        </p:nvSpPr>
        <p:spPr>
          <a:xfrm>
            <a:off x="530352" y="5029200"/>
            <a:ext cx="5486400" cy="475488"/>
          </a:xfrm>
          <a:prstGeom prst="roundRect">
            <a:avLst>
              <a:gd name="adj" fmla="val 6731"/>
            </a:avLst>
          </a:prstGeom>
          <a:solidFill>
            <a:srgbClr val="FFFFFF"/>
          </a:solidFill>
          <a:ln w="9525">
            <a:solidFill>
              <a:srgbClr val="EEDFD0"/>
            </a:solidFill>
            <a:prstDash val="solid"/>
          </a:ln>
        </p:spPr>
      </p:sp>
      <p:sp>
        <p:nvSpPr>
          <p:cNvPr id="47" name="Text 42"/>
          <p:cNvSpPr txBox="1"/>
          <p:nvPr/>
        </p:nvSpPr>
        <p:spPr>
          <a:xfrm>
            <a:off x="694944" y="5029200"/>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物联网传感设备</a:t>
            </a:r>
            <a:endParaRPr lang="en-US" sz="1000" dirty="0"/>
          </a:p>
        </p:txBody>
      </p:sp>
      <p:sp>
        <p:nvSpPr>
          <p:cNvPr id="48" name="Text 43"/>
          <p:cNvSpPr txBox="1"/>
          <p:nvPr/>
        </p:nvSpPr>
        <p:spPr>
          <a:xfrm>
            <a:off x="2194560" y="5029200"/>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温湿度、水浸、烟雾探测器；专用探测器（气体泄漏、压力、流量传感器）</a:t>
            </a:r>
            <a:endParaRPr lang="en-US" sz="1000" dirty="0"/>
          </a:p>
        </p:txBody>
      </p:sp>
      <p:sp>
        <p:nvSpPr>
          <p:cNvPr id="49" name="Shape 44"/>
          <p:cNvSpPr/>
          <p:nvPr/>
        </p:nvSpPr>
        <p:spPr>
          <a:xfrm>
            <a:off x="530352" y="5559552"/>
            <a:ext cx="5486400" cy="475488"/>
          </a:xfrm>
          <a:prstGeom prst="roundRect">
            <a:avLst>
              <a:gd name="adj" fmla="val 6731"/>
            </a:avLst>
          </a:prstGeom>
          <a:solidFill>
            <a:srgbClr val="FFF7EF"/>
          </a:solidFill>
          <a:ln w="9525">
            <a:solidFill>
              <a:srgbClr val="EEDFD0"/>
            </a:solidFill>
            <a:prstDash val="solid"/>
          </a:ln>
        </p:spPr>
      </p:sp>
      <p:sp>
        <p:nvSpPr>
          <p:cNvPr id="50" name="Text 45"/>
          <p:cNvSpPr txBox="1"/>
          <p:nvPr/>
        </p:nvSpPr>
        <p:spPr>
          <a:xfrm>
            <a:off x="694944" y="5559552"/>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补充手段</a:t>
            </a:r>
            <a:endParaRPr lang="en-US" sz="1000" dirty="0"/>
          </a:p>
        </p:txBody>
      </p:sp>
      <p:sp>
        <p:nvSpPr>
          <p:cNvPr id="51" name="Text 46"/>
          <p:cNvSpPr txBox="1"/>
          <p:nvPr/>
        </p:nvSpPr>
        <p:spPr>
          <a:xfrm>
            <a:off x="2194560" y="5559552"/>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鹰眼相机 3-4 台（园区概貌）、车道相机 20 台、无人机 1 台、NFC 巡更点 40+、关键岗位手持设备 12-15 台</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智慧安防（二）：生产与研发全场景 AI 行为识别</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按厂区、按工位逐一落算法——不是"上一堆算法"，而是"每个点位解决一个具体风险"</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5532120" cy="914400"/>
        </p:xfrm>
        <a:graphic>
          <a:graphicData uri="http://schemas.openxmlformats.org/drawingml/2006/table">
            <a:tbl>
              <a:tblPr/>
              <a:tblGrid>
                <a:gridCol w="2057400"/>
                <a:gridCol w="3474720"/>
              </a:tblGrid>
              <a:tr h="3063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重点区域</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AI 识别场景</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登高作业区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安全带、安全帽佩戴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PACK 线体 / 大储线体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PCBA 产线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佩戴防护口罩</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化学品柜 / 危化品仓库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火焰、烟雾、抽烟、使用手机、PPE</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仓库区域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火焰、烟雾、抽烟、安全帽</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配电房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X 射线检测装置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佩戴铅衣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机械臂作业区域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人员进入运转的机械臂区域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老化测试房 / 带电测试区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绝缘鞋、火焰、烟雾、测试时人员进入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电池及研发区域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悬臂吊 / 龙门吊 / 堆场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安全帽、防砸鞋、登高安全带、吊装警戒线、人员不在吊装物下方、人员晕倒</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厂区道路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托盘车反光马甲、电动托盘车防砸鞋、叉车安全带、超速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309360" y="1257300"/>
            <a:ext cx="68580" cy="173736"/>
          </a:xfrm>
          <a:prstGeom prst="rect">
            <a:avLst/>
          </a:prstGeom>
          <a:solidFill>
            <a:srgbClr val="F97B00"/>
          </a:solidFill>
          <a:ln/>
        </p:spPr>
      </p:sp>
      <p:sp>
        <p:nvSpPr>
          <p:cNvPr id="7" name="Text 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5S 与现场规范 / 职业健康监测</a:t>
            </a:r>
            <a:endParaRPr lang="en-US" sz="1250" dirty="0"/>
          </a:p>
        </p:txBody>
      </p:sp>
      <p:sp>
        <p:nvSpPr>
          <p:cNvPr id="8" name="Shape 5"/>
          <p:cNvSpPr/>
          <p:nvPr/>
        </p:nvSpPr>
        <p:spPr>
          <a:xfrm>
            <a:off x="6309360" y="1536192"/>
            <a:ext cx="5351983" cy="566928"/>
          </a:xfrm>
          <a:prstGeom prst="roundRect">
            <a:avLst>
              <a:gd name="adj" fmla="val 5645"/>
            </a:avLst>
          </a:prstGeom>
          <a:solidFill>
            <a:srgbClr val="FFF7EF"/>
          </a:solidFill>
          <a:ln w="9525">
            <a:solidFill>
              <a:srgbClr val="F6DCC2"/>
            </a:solidFill>
            <a:prstDash val="solid"/>
          </a:ln>
        </p:spPr>
      </p:sp>
      <p:sp>
        <p:nvSpPr>
          <p:cNvPr id="9" name="Text 6"/>
          <p:cNvSpPr txBox="1"/>
          <p:nvPr/>
        </p:nvSpPr>
        <p:spPr>
          <a:xfrm>
            <a:off x="6492240" y="1536192"/>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现场秩序识别</a:t>
            </a:r>
            <a:endParaRPr lang="en-US" sz="1050" dirty="0"/>
          </a:p>
        </p:txBody>
      </p:sp>
      <p:sp>
        <p:nvSpPr>
          <p:cNvPr id="10" name="Text 7"/>
          <p:cNvSpPr txBox="1"/>
          <p:nvPr/>
        </p:nvSpPr>
        <p:spPr>
          <a:xfrm>
            <a:off x="8101584" y="1536192"/>
            <a:ext cx="338328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智能识别并报警消防通道占用等安全隐患</a:t>
            </a:r>
            <a:endParaRPr lang="en-US" sz="1000" dirty="0"/>
          </a:p>
        </p:txBody>
      </p:sp>
      <p:sp>
        <p:nvSpPr>
          <p:cNvPr id="11" name="Shape 8"/>
          <p:cNvSpPr/>
          <p:nvPr/>
        </p:nvSpPr>
        <p:spPr>
          <a:xfrm>
            <a:off x="6309360" y="2194560"/>
            <a:ext cx="5351983" cy="566928"/>
          </a:xfrm>
          <a:prstGeom prst="roundRect">
            <a:avLst>
              <a:gd name="adj" fmla="val 5645"/>
            </a:avLst>
          </a:prstGeom>
          <a:solidFill>
            <a:srgbClr val="FFF7EF"/>
          </a:solidFill>
          <a:ln w="9525">
            <a:solidFill>
              <a:srgbClr val="F6DCC2"/>
            </a:solidFill>
            <a:prstDash val="solid"/>
          </a:ln>
        </p:spPr>
      </p:sp>
      <p:sp>
        <p:nvSpPr>
          <p:cNvPr id="12" name="Text 9"/>
          <p:cNvSpPr txBox="1"/>
          <p:nvPr/>
        </p:nvSpPr>
        <p:spPr>
          <a:xfrm>
            <a:off x="6492240" y="2194560"/>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物料规范识别</a:t>
            </a:r>
            <a:endParaRPr lang="en-US" sz="1050" dirty="0"/>
          </a:p>
        </p:txBody>
      </p:sp>
      <p:sp>
        <p:nvSpPr>
          <p:cNvPr id="13" name="Text 10"/>
          <p:cNvSpPr txBox="1"/>
          <p:nvPr/>
        </p:nvSpPr>
        <p:spPr>
          <a:xfrm>
            <a:off x="8101584" y="2194560"/>
            <a:ext cx="338328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识别物料占道、超线摆放、地面垃圾等违反 5S 管理规范的行为</a:t>
            </a:r>
            <a:endParaRPr lang="en-US" sz="1000" dirty="0"/>
          </a:p>
        </p:txBody>
      </p:sp>
      <p:sp>
        <p:nvSpPr>
          <p:cNvPr id="14" name="Shape 11"/>
          <p:cNvSpPr/>
          <p:nvPr/>
        </p:nvSpPr>
        <p:spPr>
          <a:xfrm>
            <a:off x="6309360" y="2702052"/>
            <a:ext cx="68580" cy="173736"/>
          </a:xfrm>
          <a:prstGeom prst="rect">
            <a:avLst/>
          </a:prstGeom>
          <a:solidFill>
            <a:srgbClr val="F97B00"/>
          </a:solidFill>
          <a:ln/>
        </p:spPr>
      </p:sp>
      <p:sp>
        <p:nvSpPr>
          <p:cNvPr id="15" name="Text 12"/>
          <p:cNvSpPr txBox="1"/>
          <p:nvPr/>
        </p:nvSpPr>
        <p:spPr>
          <a:xfrm>
            <a:off x="6464808" y="2651760"/>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厂区车辆与特种设备安全管控</a:t>
            </a:r>
            <a:endParaRPr lang="en-US" sz="1250" dirty="0"/>
          </a:p>
        </p:txBody>
      </p:sp>
      <p:sp>
        <p:nvSpPr>
          <p:cNvPr id="16" name="Shape 13"/>
          <p:cNvSpPr/>
          <p:nvPr/>
        </p:nvSpPr>
        <p:spPr>
          <a:xfrm>
            <a:off x="6309360" y="2980944"/>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4"/>
          <p:cNvSpPr/>
          <p:nvPr/>
        </p:nvSpPr>
        <p:spPr>
          <a:xfrm>
            <a:off x="6492240" y="3172968"/>
            <a:ext cx="402336" cy="402336"/>
          </a:xfrm>
          <a:prstGeom prst="ellipse">
            <a:avLst/>
          </a:prstGeom>
          <a:solidFill>
            <a:srgbClr val="0E2340"/>
          </a:solidFill>
          <a:ln/>
        </p:spPr>
      </p:sp>
      <p:pic>
        <p:nvPicPr>
          <p:cNvPr id="18" name="Image 0" descr="preencoded.png">    </p:cNvPr>
          <p:cNvPicPr>
            <a:picLocks noChangeAspect="1"/>
          </p:cNvPicPr>
          <p:nvPr/>
        </p:nvPicPr>
        <p:blipFill>
          <a:blip r:embed="rId1"/>
          <a:stretch>
            <a:fillRect/>
          </a:stretch>
        </p:blipFill>
        <p:spPr>
          <a:xfrm>
            <a:off x="6600871" y="3281599"/>
            <a:ext cx="185075" cy="185075"/>
          </a:xfrm>
          <a:prstGeom prst="rect">
            <a:avLst/>
          </a:prstGeom>
        </p:spPr>
      </p:pic>
      <p:sp>
        <p:nvSpPr>
          <p:cNvPr id="19" name="Text 15"/>
          <p:cNvSpPr txBox="1"/>
          <p:nvPr/>
        </p:nvSpPr>
        <p:spPr>
          <a:xfrm>
            <a:off x="7004304" y="3035808"/>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厂区道路与物流规范</a:t>
            </a:r>
            <a:endParaRPr lang="en-US" sz="1100" dirty="0"/>
          </a:p>
        </p:txBody>
      </p:sp>
      <p:sp>
        <p:nvSpPr>
          <p:cNvPr id="20" name="Text 16"/>
          <p:cNvSpPr txBox="1"/>
          <p:nvPr/>
        </p:nvSpPr>
        <p:spPr>
          <a:xfrm>
            <a:off x="7004304" y="3291840"/>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识别人员在厂区道路是否穿着反光马甲，操作电动托盘车是否穿防砸鞋，叉车驾驶员是否佩戴安全带</a:t>
            </a:r>
            <a:endParaRPr lang="en-US" sz="1000" dirty="0"/>
          </a:p>
        </p:txBody>
      </p:sp>
      <p:sp>
        <p:nvSpPr>
          <p:cNvPr id="21" name="Shape 17"/>
          <p:cNvSpPr/>
          <p:nvPr/>
        </p:nvSpPr>
        <p:spPr>
          <a:xfrm>
            <a:off x="6309360" y="3858768"/>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6492240" y="4050792"/>
            <a:ext cx="402336" cy="402336"/>
          </a:xfrm>
          <a:prstGeom prst="ellipse">
            <a:avLst/>
          </a:prstGeom>
          <a:solidFill>
            <a:srgbClr val="0E2340"/>
          </a:solidFill>
          <a:ln/>
        </p:spPr>
      </p:sp>
      <p:pic>
        <p:nvPicPr>
          <p:cNvPr id="23" name="Image 1" descr="preencoded.png">    </p:cNvPr>
          <p:cNvPicPr>
            <a:picLocks noChangeAspect="1"/>
          </p:cNvPicPr>
          <p:nvPr/>
        </p:nvPicPr>
        <p:blipFill>
          <a:blip r:embed="rId2"/>
          <a:stretch>
            <a:fillRect/>
          </a:stretch>
        </p:blipFill>
        <p:spPr>
          <a:xfrm>
            <a:off x="6600871" y="4159423"/>
            <a:ext cx="185075" cy="185075"/>
          </a:xfrm>
          <a:prstGeom prst="rect">
            <a:avLst/>
          </a:prstGeom>
        </p:spPr>
      </p:pic>
      <p:sp>
        <p:nvSpPr>
          <p:cNvPr id="24" name="Text 19"/>
          <p:cNvSpPr txBox="1"/>
          <p:nvPr/>
        </p:nvSpPr>
        <p:spPr>
          <a:xfrm>
            <a:off x="7004304" y="391363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特种车辆授权管理</a:t>
            </a:r>
            <a:endParaRPr lang="en-US" sz="1100" dirty="0"/>
          </a:p>
        </p:txBody>
      </p:sp>
      <p:sp>
        <p:nvSpPr>
          <p:cNvPr id="25" name="Text 20"/>
          <p:cNvSpPr txBox="1"/>
          <p:nvPr/>
        </p:nvSpPr>
        <p:spPr>
          <a:xfrm>
            <a:off x="7004304" y="4169664"/>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通过 AI 人脸识别建立特种设备（叉车、堆高车、托盘车）授权人员信息库；非授权人员驾驶立即告警、抓拍记录并推送管理人员</a:t>
            </a:r>
            <a:endParaRPr lang="en-US" sz="1000" dirty="0"/>
          </a:p>
        </p:txBody>
      </p:sp>
      <p:sp>
        <p:nvSpPr>
          <p:cNvPr id="26" name="Shape 21"/>
          <p:cNvSpPr/>
          <p:nvPr/>
        </p:nvSpPr>
        <p:spPr>
          <a:xfrm>
            <a:off x="6309360" y="4736592"/>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2"/>
          <p:cNvSpPr/>
          <p:nvPr/>
        </p:nvSpPr>
        <p:spPr>
          <a:xfrm>
            <a:off x="6492240" y="4928616"/>
            <a:ext cx="402336" cy="402336"/>
          </a:xfrm>
          <a:prstGeom prst="ellipse">
            <a:avLst/>
          </a:prstGeom>
          <a:solidFill>
            <a:srgbClr val="0E2340"/>
          </a:solidFill>
          <a:ln/>
        </p:spPr>
      </p:sp>
      <p:pic>
        <p:nvPicPr>
          <p:cNvPr id="28" name="Image 2" descr="preencoded.png">    </p:cNvPr>
          <p:cNvPicPr>
            <a:picLocks noChangeAspect="1"/>
          </p:cNvPicPr>
          <p:nvPr/>
        </p:nvPicPr>
        <p:blipFill>
          <a:blip r:embed="rId3"/>
          <a:stretch>
            <a:fillRect/>
          </a:stretch>
        </p:blipFill>
        <p:spPr>
          <a:xfrm>
            <a:off x="6600871" y="5037247"/>
            <a:ext cx="185075" cy="185075"/>
          </a:xfrm>
          <a:prstGeom prst="rect">
            <a:avLst/>
          </a:prstGeom>
        </p:spPr>
      </p:pic>
      <p:sp>
        <p:nvSpPr>
          <p:cNvPr id="29" name="Text 23"/>
          <p:cNvSpPr txBox="1"/>
          <p:nvPr/>
        </p:nvSpPr>
        <p:spPr>
          <a:xfrm>
            <a:off x="7004304" y="47914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车辆运行状态监控</a:t>
            </a:r>
            <a:endParaRPr lang="en-US" sz="1100" dirty="0"/>
          </a:p>
        </p:txBody>
      </p:sp>
      <p:sp>
        <p:nvSpPr>
          <p:cNvPr id="30" name="Text 24"/>
          <p:cNvSpPr txBox="1"/>
          <p:nvPr/>
        </p:nvSpPr>
        <p:spPr>
          <a:xfrm>
            <a:off x="7004304" y="5047488"/>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通过 IoT 与 AI 识别实现叉车限速预警（叉车 15、托盘车 8），对"人车分流"区域进行入侵监测报警</a:t>
            </a:r>
            <a:endParaRPr lang="en-US" sz="1000" dirty="0"/>
          </a:p>
        </p:txBody>
      </p:sp>
      <p:sp>
        <p:nvSpPr>
          <p:cNvPr id="31" name="Shape 25"/>
          <p:cNvSpPr/>
          <p:nvPr/>
        </p:nvSpPr>
        <p:spPr>
          <a:xfrm>
            <a:off x="6309360" y="5650992"/>
            <a:ext cx="5351983" cy="1097280"/>
          </a:xfrm>
          <a:prstGeom prst="roundRect">
            <a:avLst>
              <a:gd name="adj" fmla="val 2917"/>
            </a:avLst>
          </a:prstGeom>
          <a:solidFill>
            <a:srgbClr val="0E2340"/>
          </a:solidFill>
          <a:ln/>
        </p:spPr>
      </p:sp>
      <p:sp>
        <p:nvSpPr>
          <p:cNvPr id="32" name="Text 26"/>
          <p:cNvSpPr txBox="1"/>
          <p:nvPr/>
        </p:nvSpPr>
        <p:spPr>
          <a:xfrm>
            <a:off x="6510528" y="5760720"/>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无人机巡检定位</a:t>
            </a:r>
            <a:endParaRPr lang="en-US" sz="1150" dirty="0"/>
          </a:p>
        </p:txBody>
      </p:sp>
      <p:sp>
        <p:nvSpPr>
          <p:cNvPr id="33" name="Text 27"/>
          <p:cNvSpPr txBox="1"/>
          <p:nvPr/>
        </p:nvSpPr>
        <p:spPr>
          <a:xfrm>
            <a:off x="6510528" y="6016752"/>
            <a:ext cx="4931359" cy="658368"/>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按固定轨道定点起飞与回收、自动轮巡，视频实时上传算法分析；定位为固定摄像头的覆盖补充与应急处置手段（屋面光伏、周界盲区、突发事件快速抵达），不替代固定点位。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智慧安防（三）：高风险区域 IoT 深度监测与周界防护</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视频看得见的靠 AI，视频看不见的靠物联——多维感知、全方面检测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高风险与重点区域 IoT 深度监测</a:t>
            </a:r>
            <a:endParaRPr lang="en-US" sz="1250" dirty="0"/>
          </a:p>
        </p:txBody>
      </p:sp>
      <p:sp>
        <p:nvSpPr>
          <p:cNvPr id="7" name="Shape 5"/>
          <p:cNvSpPr/>
          <p:nvPr/>
        </p:nvSpPr>
        <p:spPr>
          <a:xfrm>
            <a:off x="530352" y="153619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19072"/>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27703"/>
            <a:ext cx="185075" cy="185075"/>
          </a:xfrm>
          <a:prstGeom prst="rect">
            <a:avLst/>
          </a:prstGeom>
        </p:spPr>
      </p:pic>
      <p:sp>
        <p:nvSpPr>
          <p:cNvPr id="10" name="Text 7"/>
          <p:cNvSpPr txBox="1"/>
          <p:nvPr/>
        </p:nvSpPr>
        <p:spPr>
          <a:xfrm>
            <a:off x="1225296" y="1591056"/>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危化品区域监测</a:t>
            </a:r>
            <a:endParaRPr lang="en-US" sz="1150" dirty="0"/>
          </a:p>
        </p:txBody>
      </p:sp>
      <p:sp>
        <p:nvSpPr>
          <p:cNvPr id="11" name="Text 8"/>
          <p:cNvSpPr txBox="1"/>
          <p:nvPr/>
        </p:nvSpPr>
        <p:spPr>
          <a:xfrm>
            <a:off x="1225296" y="1847088"/>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溶剂库、化学品仓库接入气体探测器与泄漏报警装置，实现泄漏在线监测；配合 AI 实现人员滞留时长超限预警</a:t>
            </a:r>
            <a:endParaRPr lang="en-US" sz="1000" dirty="0"/>
          </a:p>
        </p:txBody>
      </p:sp>
      <p:sp>
        <p:nvSpPr>
          <p:cNvPr id="12" name="Shape 9"/>
          <p:cNvSpPr/>
          <p:nvPr/>
        </p:nvSpPr>
        <p:spPr>
          <a:xfrm>
            <a:off x="530352" y="2395728"/>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713232" y="2578608"/>
            <a:ext cx="402336" cy="40233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821863" y="2687239"/>
            <a:ext cx="185075" cy="185075"/>
          </a:xfrm>
          <a:prstGeom prst="rect">
            <a:avLst/>
          </a:prstGeom>
        </p:spPr>
      </p:pic>
      <p:sp>
        <p:nvSpPr>
          <p:cNvPr id="15" name="Text 11"/>
          <p:cNvSpPr txBox="1"/>
          <p:nvPr/>
        </p:nvSpPr>
        <p:spPr>
          <a:xfrm>
            <a:off x="1225296" y="2450592"/>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受限空间作业监测</a:t>
            </a:r>
            <a:endParaRPr lang="en-US" sz="1150" dirty="0"/>
          </a:p>
        </p:txBody>
      </p:sp>
      <p:sp>
        <p:nvSpPr>
          <p:cNvPr id="16" name="Text 12"/>
          <p:cNvSpPr txBox="1"/>
          <p:nvPr/>
        </p:nvSpPr>
        <p:spPr>
          <a:xfrm>
            <a:off x="1225296" y="2706624"/>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污水处理池、地下管廊等受限空间实现人员实时定位与有害气体在线监测的联动报警</a:t>
            </a:r>
            <a:endParaRPr lang="en-US" sz="1000" dirty="0"/>
          </a:p>
        </p:txBody>
      </p:sp>
      <p:sp>
        <p:nvSpPr>
          <p:cNvPr id="17" name="Shape 13"/>
          <p:cNvSpPr/>
          <p:nvPr/>
        </p:nvSpPr>
        <p:spPr>
          <a:xfrm>
            <a:off x="530352" y="325526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13232" y="3438144"/>
            <a:ext cx="402336" cy="40233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21863" y="3546775"/>
            <a:ext cx="185075" cy="185075"/>
          </a:xfrm>
          <a:prstGeom prst="rect">
            <a:avLst/>
          </a:prstGeom>
        </p:spPr>
      </p:pic>
      <p:sp>
        <p:nvSpPr>
          <p:cNvPr id="20" name="Text 15"/>
          <p:cNvSpPr txBox="1"/>
          <p:nvPr/>
        </p:nvSpPr>
        <p:spPr>
          <a:xfrm>
            <a:off x="1225296" y="3310128"/>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动火作业区监测</a:t>
            </a:r>
            <a:endParaRPr lang="en-US" sz="1150" dirty="0"/>
          </a:p>
        </p:txBody>
      </p:sp>
      <p:sp>
        <p:nvSpPr>
          <p:cNvPr id="21" name="Text 16"/>
          <p:cNvSpPr txBox="1"/>
          <p:nvPr/>
        </p:nvSpPr>
        <p:spPr>
          <a:xfrm>
            <a:off x="1225296" y="3566160"/>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焊接、切割等特殊动火作业实时视频监控，与作业许可证实现"人证匹配"验证</a:t>
            </a:r>
            <a:endParaRPr lang="en-US" sz="1000" dirty="0"/>
          </a:p>
        </p:txBody>
      </p:sp>
      <p:sp>
        <p:nvSpPr>
          <p:cNvPr id="22" name="Shape 17"/>
          <p:cNvSpPr/>
          <p:nvPr/>
        </p:nvSpPr>
        <p:spPr>
          <a:xfrm>
            <a:off x="530352" y="411480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713232" y="4297680"/>
            <a:ext cx="402336" cy="40233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821863" y="4406311"/>
            <a:ext cx="185075" cy="185075"/>
          </a:xfrm>
          <a:prstGeom prst="rect">
            <a:avLst/>
          </a:prstGeom>
        </p:spPr>
      </p:pic>
      <p:sp>
        <p:nvSpPr>
          <p:cNvPr id="25" name="Text 19"/>
          <p:cNvSpPr txBox="1"/>
          <p:nvPr/>
        </p:nvSpPr>
        <p:spPr>
          <a:xfrm>
            <a:off x="1225296" y="4169664"/>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职业健康环境监测</a:t>
            </a:r>
            <a:endParaRPr lang="en-US" sz="1150" dirty="0"/>
          </a:p>
        </p:txBody>
      </p:sp>
      <p:sp>
        <p:nvSpPr>
          <p:cNvPr id="26" name="Text 20"/>
          <p:cNvSpPr txBox="1"/>
          <p:nvPr/>
        </p:nvSpPr>
        <p:spPr>
          <a:xfrm>
            <a:off x="1225296" y="4425696"/>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接入噪声、粉尘在线监测设备，统计高噪区域、粉尘作业区人员暴露时长，为职业病防控提供数据支撑</a:t>
            </a:r>
            <a:endParaRPr lang="en-US" sz="1000" dirty="0"/>
          </a:p>
        </p:txBody>
      </p:sp>
      <p:sp>
        <p:nvSpPr>
          <p:cNvPr id="27" name="Text 21"/>
          <p:cNvSpPr txBox="1"/>
          <p:nvPr/>
        </p:nvSpPr>
        <p:spPr>
          <a:xfrm>
            <a:off x="530352" y="4992624"/>
            <a:ext cx="5532120" cy="237744"/>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说明：预留并规划相关硬件接口，便于后续扩充接入。</a:t>
            </a:r>
            <a:endParaRPr lang="en-US" sz="1000" dirty="0"/>
          </a:p>
        </p:txBody>
      </p:sp>
      <p:sp>
        <p:nvSpPr>
          <p:cNvPr id="28" name="Shape 22"/>
          <p:cNvSpPr/>
          <p:nvPr/>
        </p:nvSpPr>
        <p:spPr>
          <a:xfrm>
            <a:off x="6309360" y="1257300"/>
            <a:ext cx="68580" cy="173736"/>
          </a:xfrm>
          <a:prstGeom prst="rect">
            <a:avLst/>
          </a:prstGeom>
          <a:solidFill>
            <a:srgbClr val="F97B00"/>
          </a:solidFill>
          <a:ln/>
        </p:spPr>
      </p:sp>
      <p:sp>
        <p:nvSpPr>
          <p:cNvPr id="29" name="Text 23"/>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周界防护方案：振动光纤 + 视频双确认</a:t>
            </a:r>
            <a:endParaRPr lang="en-US" sz="1250" dirty="0"/>
          </a:p>
        </p:txBody>
      </p:sp>
      <p:sp>
        <p:nvSpPr>
          <p:cNvPr id="30" name="Shape 24"/>
          <p:cNvSpPr/>
          <p:nvPr/>
        </p:nvSpPr>
        <p:spPr>
          <a:xfrm>
            <a:off x="6309360" y="1517904"/>
            <a:ext cx="1041136" cy="438912"/>
          </a:xfrm>
          <a:prstGeom prst="homePlate">
            <a:avLst/>
          </a:prstGeom>
          <a:solidFill>
            <a:srgbClr val="F97B00"/>
          </a:solidFill>
          <a:ln/>
        </p:spPr>
      </p:sp>
      <p:sp>
        <p:nvSpPr>
          <p:cNvPr id="31" name="Text 25"/>
          <p:cNvSpPr txBox="1"/>
          <p:nvPr/>
        </p:nvSpPr>
        <p:spPr>
          <a:xfrm>
            <a:off x="6434296"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光纤扰动</a:t>
            </a:r>
            <a:endParaRPr lang="en-US" sz="1000" dirty="0"/>
          </a:p>
        </p:txBody>
      </p:sp>
      <p:sp>
        <p:nvSpPr>
          <p:cNvPr id="32" name="Shape 26"/>
          <p:cNvSpPr/>
          <p:nvPr/>
        </p:nvSpPr>
        <p:spPr>
          <a:xfrm>
            <a:off x="7387072" y="1517904"/>
            <a:ext cx="1041136" cy="438912"/>
          </a:xfrm>
          <a:prstGeom prst="chevron">
            <a:avLst/>
          </a:prstGeom>
          <a:solidFill>
            <a:srgbClr val="FF9F3D"/>
          </a:solidFill>
          <a:ln/>
        </p:spPr>
      </p:sp>
      <p:sp>
        <p:nvSpPr>
          <p:cNvPr id="33" name="Text 27"/>
          <p:cNvSpPr txBox="1"/>
          <p:nvPr/>
        </p:nvSpPr>
        <p:spPr>
          <a:xfrm>
            <a:off x="7512008"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定位分区</a:t>
            </a:r>
            <a:endParaRPr lang="en-US" sz="1000" dirty="0"/>
          </a:p>
        </p:txBody>
      </p:sp>
      <p:sp>
        <p:nvSpPr>
          <p:cNvPr id="34" name="Shape 28"/>
          <p:cNvSpPr/>
          <p:nvPr/>
        </p:nvSpPr>
        <p:spPr>
          <a:xfrm>
            <a:off x="8464784" y="1517904"/>
            <a:ext cx="1041136" cy="438912"/>
          </a:xfrm>
          <a:prstGeom prst="chevron">
            <a:avLst/>
          </a:prstGeom>
          <a:solidFill>
            <a:srgbClr val="F97B00"/>
          </a:solidFill>
          <a:ln/>
        </p:spPr>
      </p:sp>
      <p:sp>
        <p:nvSpPr>
          <p:cNvPr id="35" name="Text 29"/>
          <p:cNvSpPr txBox="1"/>
          <p:nvPr/>
        </p:nvSpPr>
        <p:spPr>
          <a:xfrm>
            <a:off x="8589720"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视频复核</a:t>
            </a:r>
            <a:endParaRPr lang="en-US" sz="1000" dirty="0"/>
          </a:p>
        </p:txBody>
      </p:sp>
      <p:sp>
        <p:nvSpPr>
          <p:cNvPr id="36" name="Shape 30"/>
          <p:cNvSpPr/>
          <p:nvPr/>
        </p:nvSpPr>
        <p:spPr>
          <a:xfrm>
            <a:off x="9542496" y="1517904"/>
            <a:ext cx="1041136" cy="438912"/>
          </a:xfrm>
          <a:prstGeom prst="chevron">
            <a:avLst/>
          </a:prstGeom>
          <a:solidFill>
            <a:srgbClr val="FF9F3D"/>
          </a:solidFill>
          <a:ln/>
        </p:spPr>
      </p:sp>
      <p:sp>
        <p:nvSpPr>
          <p:cNvPr id="37" name="Text 31"/>
          <p:cNvSpPr txBox="1"/>
          <p:nvPr/>
        </p:nvSpPr>
        <p:spPr>
          <a:xfrm>
            <a:off x="9667432"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生成工单</a:t>
            </a:r>
            <a:endParaRPr lang="en-US" sz="1000" dirty="0"/>
          </a:p>
        </p:txBody>
      </p:sp>
      <p:sp>
        <p:nvSpPr>
          <p:cNvPr id="38" name="Shape 32"/>
          <p:cNvSpPr/>
          <p:nvPr/>
        </p:nvSpPr>
        <p:spPr>
          <a:xfrm>
            <a:off x="10620207" y="1517904"/>
            <a:ext cx="1041136" cy="438912"/>
          </a:xfrm>
          <a:prstGeom prst="chevron">
            <a:avLst/>
          </a:prstGeom>
          <a:solidFill>
            <a:srgbClr val="F97B00"/>
          </a:solidFill>
          <a:ln/>
        </p:spPr>
      </p:sp>
      <p:sp>
        <p:nvSpPr>
          <p:cNvPr id="39" name="Text 33"/>
          <p:cNvSpPr txBox="1"/>
          <p:nvPr/>
        </p:nvSpPr>
        <p:spPr>
          <a:xfrm>
            <a:off x="10745144"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处置闭环</a:t>
            </a:r>
            <a:endParaRPr lang="en-US" sz="1000" dirty="0"/>
          </a:p>
        </p:txBody>
      </p:sp>
      <p:sp>
        <p:nvSpPr>
          <p:cNvPr id="40" name="Shape 34"/>
          <p:cNvSpPr/>
          <p:nvPr/>
        </p:nvSpPr>
        <p:spPr>
          <a:xfrm>
            <a:off x="6309360" y="2121408"/>
            <a:ext cx="5351983" cy="640080"/>
          </a:xfrm>
          <a:prstGeom prst="roundRect">
            <a:avLst>
              <a:gd name="adj" fmla="val 5000"/>
            </a:avLst>
          </a:prstGeom>
          <a:solidFill>
            <a:srgbClr val="F6F8FA"/>
          </a:solidFill>
          <a:ln w="9525">
            <a:solidFill>
              <a:srgbClr val="E3E7EB"/>
            </a:solidFill>
            <a:prstDash val="solid"/>
          </a:ln>
        </p:spPr>
      </p:sp>
      <p:sp>
        <p:nvSpPr>
          <p:cNvPr id="41" name="Text 35"/>
          <p:cNvSpPr txBox="1"/>
          <p:nvPr/>
        </p:nvSpPr>
        <p:spPr>
          <a:xfrm>
            <a:off x="6492240" y="212140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振动光纤探测</a:t>
            </a:r>
            <a:endParaRPr lang="en-US" sz="1020" dirty="0"/>
          </a:p>
        </p:txBody>
      </p:sp>
      <p:sp>
        <p:nvSpPr>
          <p:cNvPr id="42" name="Text 36"/>
          <p:cNvSpPr txBox="1"/>
          <p:nvPr/>
        </p:nvSpPr>
        <p:spPr>
          <a:xfrm>
            <a:off x="8101584" y="212140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沿 4000m 周界铺设传感光缆与探测主机，输出扰动位置与强度，抗环境干扰能力强</a:t>
            </a:r>
            <a:endParaRPr lang="en-US" sz="1000" dirty="0"/>
          </a:p>
        </p:txBody>
      </p:sp>
      <p:sp>
        <p:nvSpPr>
          <p:cNvPr id="43" name="Shape 37"/>
          <p:cNvSpPr/>
          <p:nvPr/>
        </p:nvSpPr>
        <p:spPr>
          <a:xfrm>
            <a:off x="6309360" y="2852928"/>
            <a:ext cx="5351983" cy="640080"/>
          </a:xfrm>
          <a:prstGeom prst="roundRect">
            <a:avLst>
              <a:gd name="adj" fmla="val 5000"/>
            </a:avLst>
          </a:prstGeom>
          <a:solidFill>
            <a:srgbClr val="FFFFFF"/>
          </a:solidFill>
          <a:ln w="9525">
            <a:solidFill>
              <a:srgbClr val="E3E7EB"/>
            </a:solidFill>
            <a:prstDash val="solid"/>
          </a:ln>
        </p:spPr>
      </p:sp>
      <p:sp>
        <p:nvSpPr>
          <p:cNvPr id="44" name="Text 38"/>
          <p:cNvSpPr txBox="1"/>
          <p:nvPr/>
        </p:nvSpPr>
        <p:spPr>
          <a:xfrm>
            <a:off x="6492240" y="285292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视频联动确认</a:t>
            </a:r>
            <a:endParaRPr lang="en-US" sz="1020" dirty="0"/>
          </a:p>
        </p:txBody>
      </p:sp>
      <p:sp>
        <p:nvSpPr>
          <p:cNvPr id="45" name="Text 39"/>
          <p:cNvSpPr txBox="1"/>
          <p:nvPr/>
        </p:nvSpPr>
        <p:spPr>
          <a:xfrm>
            <a:off x="8101584" y="285292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40 台周界摄像机基于算法与光纤信号双重判定，翻越行为自动抓拍并弹窗</a:t>
            </a:r>
            <a:endParaRPr lang="en-US" sz="1000" dirty="0"/>
          </a:p>
        </p:txBody>
      </p:sp>
      <p:sp>
        <p:nvSpPr>
          <p:cNvPr id="46" name="Shape 40"/>
          <p:cNvSpPr/>
          <p:nvPr/>
        </p:nvSpPr>
        <p:spPr>
          <a:xfrm>
            <a:off x="6309360" y="3584448"/>
            <a:ext cx="5351983" cy="640080"/>
          </a:xfrm>
          <a:prstGeom prst="roundRect">
            <a:avLst>
              <a:gd name="adj" fmla="val 5000"/>
            </a:avLst>
          </a:prstGeom>
          <a:solidFill>
            <a:srgbClr val="F6F8FA"/>
          </a:solidFill>
          <a:ln w="9525">
            <a:solidFill>
              <a:srgbClr val="E3E7EB"/>
            </a:solidFill>
            <a:prstDash val="solid"/>
          </a:ln>
        </p:spPr>
      </p:sp>
      <p:sp>
        <p:nvSpPr>
          <p:cNvPr id="47" name="Text 41"/>
          <p:cNvSpPr txBox="1"/>
          <p:nvPr/>
        </p:nvSpPr>
        <p:spPr>
          <a:xfrm>
            <a:off x="6492240" y="358444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越界即生成工单</a:t>
            </a:r>
            <a:endParaRPr lang="en-US" sz="1020" dirty="0"/>
          </a:p>
        </p:txBody>
      </p:sp>
      <p:sp>
        <p:nvSpPr>
          <p:cNvPr id="48" name="Text 42"/>
          <p:cNvSpPr txBox="1"/>
          <p:nvPr/>
        </p:nvSpPr>
        <p:spPr>
          <a:xfrm>
            <a:off x="8101584" y="358444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判定越界后自动生成安防工单，派发至值班安保，处置结果与照片回传闭环</a:t>
            </a:r>
            <a:endParaRPr lang="en-US" sz="1000" dirty="0"/>
          </a:p>
        </p:txBody>
      </p:sp>
      <p:sp>
        <p:nvSpPr>
          <p:cNvPr id="49" name="Shape 43"/>
          <p:cNvSpPr/>
          <p:nvPr/>
        </p:nvSpPr>
        <p:spPr>
          <a:xfrm>
            <a:off x="6309360" y="4315968"/>
            <a:ext cx="5351983" cy="640080"/>
          </a:xfrm>
          <a:prstGeom prst="roundRect">
            <a:avLst>
              <a:gd name="adj" fmla="val 5000"/>
            </a:avLst>
          </a:prstGeom>
          <a:solidFill>
            <a:srgbClr val="FFFFFF"/>
          </a:solidFill>
          <a:ln w="9525">
            <a:solidFill>
              <a:srgbClr val="E3E7EB"/>
            </a:solidFill>
            <a:prstDash val="solid"/>
          </a:ln>
        </p:spPr>
      </p:sp>
      <p:sp>
        <p:nvSpPr>
          <p:cNvPr id="50" name="Text 44"/>
          <p:cNvSpPr txBox="1"/>
          <p:nvPr/>
        </p:nvSpPr>
        <p:spPr>
          <a:xfrm>
            <a:off x="6492240" y="431596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补充手段</a:t>
            </a:r>
            <a:endParaRPr lang="en-US" sz="1020" dirty="0"/>
          </a:p>
        </p:txBody>
      </p:sp>
      <p:sp>
        <p:nvSpPr>
          <p:cNvPr id="51" name="Text 45"/>
          <p:cNvSpPr txBox="1"/>
          <p:nvPr/>
        </p:nvSpPr>
        <p:spPr>
          <a:xfrm>
            <a:off x="8101584" y="431596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11 处红外对射用于车辆道闸下口、窄小区域；现场声光报警器实现即时威慢</a:t>
            </a:r>
            <a:endParaRPr lang="en-US" sz="1000" dirty="0"/>
          </a:p>
        </p:txBody>
      </p:sp>
      <p:sp>
        <p:nvSpPr>
          <p:cNvPr id="52" name="Shape 46"/>
          <p:cNvSpPr/>
          <p:nvPr/>
        </p:nvSpPr>
        <p:spPr>
          <a:xfrm>
            <a:off x="6309360" y="5157216"/>
            <a:ext cx="5351983" cy="1115568"/>
          </a:xfrm>
          <a:prstGeom prst="roundRect">
            <a:avLst>
              <a:gd name="adj" fmla="val 286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3" name="Text 47"/>
          <p:cNvSpPr txBox="1"/>
          <p:nvPr/>
        </p:nvSpPr>
        <p:spPr>
          <a:xfrm>
            <a:off x="6510528" y="5266944"/>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联想建议的优化方案</a:t>
            </a:r>
            <a:endParaRPr lang="en-US" sz="1100" dirty="0"/>
          </a:p>
        </p:txBody>
      </p:sp>
      <p:sp>
        <p:nvSpPr>
          <p:cNvPr id="54" name="Text 48"/>
          <p:cNvSpPr txBox="1"/>
          <p:nvPr/>
        </p:nvSpPr>
        <p:spPr>
          <a:xfrm>
            <a:off x="6510528" y="5522976"/>
            <a:ext cx="4931359" cy="658368"/>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在重点区段（堆场侧、临路侧）叠加毫米波雷达或 AI 双光谱球机做二次确认，可在保持成本可控的前提下把周界误报进一步压低；具体点位在需求分析阶段现场勘查后确定。</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智慧安防（四）：矩阵式通知、跨系统联动与应急地图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识别到只是开始，"通知对的人、联动对的系统、留下可查的账"才是闭环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矩阵式自动化通知分发</a:t>
            </a:r>
            <a:endParaRPr lang="en-US" sz="1250" dirty="0"/>
          </a:p>
        </p:txBody>
      </p:sp>
      <p:sp>
        <p:nvSpPr>
          <p:cNvPr id="7" name="Shape 5"/>
          <p:cNvSpPr/>
          <p:nvPr/>
        </p:nvSpPr>
        <p:spPr>
          <a:xfrm>
            <a:off x="530352" y="1536192"/>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810512"/>
            <a:ext cx="292608" cy="292608"/>
          </a:xfrm>
          <a:prstGeom prst="ellipse">
            <a:avLst/>
          </a:prstGeom>
          <a:solidFill>
            <a:srgbClr val="F97B00"/>
          </a:solidFill>
          <a:ln/>
        </p:spPr>
      </p:sp>
      <p:sp>
        <p:nvSpPr>
          <p:cNvPr id="9" name="Text 7"/>
          <p:cNvSpPr txBox="1"/>
          <p:nvPr/>
        </p:nvSpPr>
        <p:spPr>
          <a:xfrm>
            <a:off x="713232" y="18105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609344"/>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多渠道提醒</a:t>
            </a:r>
            <a:endParaRPr lang="en-US" sz="1150" dirty="0"/>
          </a:p>
        </p:txBody>
      </p:sp>
      <p:sp>
        <p:nvSpPr>
          <p:cNvPr id="11" name="Text 9"/>
          <p:cNvSpPr txBox="1"/>
          <p:nvPr/>
        </p:nvSpPr>
        <p:spPr>
          <a:xfrm>
            <a:off x="1133856" y="1865376"/>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系统内弹窗、短信、语音电话、企业内部通讯软件（钉钉）等多种方式按配置自动触发</a:t>
            </a:r>
            <a:endParaRPr lang="en-US" sz="1000" dirty="0"/>
          </a:p>
        </p:txBody>
      </p:sp>
      <p:sp>
        <p:nvSpPr>
          <p:cNvPr id="12" name="Shape 10"/>
          <p:cNvSpPr/>
          <p:nvPr/>
        </p:nvSpPr>
        <p:spPr>
          <a:xfrm>
            <a:off x="530352" y="2523744"/>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798064"/>
            <a:ext cx="292608" cy="292608"/>
          </a:xfrm>
          <a:prstGeom prst="ellipse">
            <a:avLst/>
          </a:prstGeom>
          <a:solidFill>
            <a:srgbClr val="F97B00"/>
          </a:solidFill>
          <a:ln/>
        </p:spPr>
      </p:sp>
      <p:sp>
        <p:nvSpPr>
          <p:cNvPr id="14" name="Text 12"/>
          <p:cNvSpPr txBox="1"/>
          <p:nvPr/>
        </p:nvSpPr>
        <p:spPr>
          <a:xfrm>
            <a:off x="713232" y="2798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133856" y="2596896"/>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按人员矩阵精准推送</a:t>
            </a:r>
            <a:endParaRPr lang="en-US" sz="1150" dirty="0"/>
          </a:p>
        </p:txBody>
      </p:sp>
      <p:sp>
        <p:nvSpPr>
          <p:cNvPr id="16" name="Text 14"/>
          <p:cNvSpPr txBox="1"/>
          <p:nvPr/>
        </p:nvSpPr>
        <p:spPr>
          <a:xfrm>
            <a:off x="1133856" y="2852928"/>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依据预设组织架构与关联关系分级分类通知：员工违规 → 区域管理员及其直接上级；危化品仓库违规 → 该仓库专项管理人员；非授权驾驶特种车辆 → 园区特种设备管理人员</a:t>
            </a:r>
            <a:endParaRPr lang="en-US" sz="1000" dirty="0"/>
          </a:p>
        </p:txBody>
      </p:sp>
      <p:sp>
        <p:nvSpPr>
          <p:cNvPr id="17" name="Shape 15"/>
          <p:cNvSpPr/>
          <p:nvPr/>
        </p:nvSpPr>
        <p:spPr>
          <a:xfrm>
            <a:off x="530352" y="3511296"/>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785616"/>
            <a:ext cx="292608" cy="292608"/>
          </a:xfrm>
          <a:prstGeom prst="ellipse">
            <a:avLst/>
          </a:prstGeom>
          <a:solidFill>
            <a:srgbClr val="F97B00"/>
          </a:solidFill>
          <a:ln/>
        </p:spPr>
      </p:sp>
      <p:sp>
        <p:nvSpPr>
          <p:cNvPr id="19" name="Text 17"/>
          <p:cNvSpPr txBox="1"/>
          <p:nvPr/>
        </p:nvSpPr>
        <p:spPr>
          <a:xfrm>
            <a:off x="713232" y="37856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133856" y="3584448"/>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相关方专属通知链路</a:t>
            </a:r>
            <a:endParaRPr lang="en-US" sz="1150" dirty="0"/>
          </a:p>
        </p:txBody>
      </p:sp>
      <p:sp>
        <p:nvSpPr>
          <p:cNvPr id="21" name="Text 19"/>
          <p:cNvSpPr txBox="1"/>
          <p:nvPr/>
        </p:nvSpPr>
        <p:spPr>
          <a:xfrm>
            <a:off x="1133856" y="3840480"/>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承包商作业人员违规或不安全行为，自动推送至该作业票内部负责人及对应事业部/中心/工厂 EHS 管理人员（与 EHS 危险作业模块打通获取责任人）</a:t>
            </a:r>
            <a:endParaRPr lang="en-US" sz="1000" dirty="0"/>
          </a:p>
        </p:txBody>
      </p:sp>
      <p:sp>
        <p:nvSpPr>
          <p:cNvPr id="22" name="Shape 20"/>
          <p:cNvSpPr/>
          <p:nvPr/>
        </p:nvSpPr>
        <p:spPr>
          <a:xfrm>
            <a:off x="530352" y="4512564"/>
            <a:ext cx="68580" cy="173736"/>
          </a:xfrm>
          <a:prstGeom prst="rect">
            <a:avLst/>
          </a:prstGeom>
          <a:solidFill>
            <a:srgbClr val="F97B00"/>
          </a:solidFill>
          <a:ln/>
        </p:spPr>
      </p:sp>
      <p:sp>
        <p:nvSpPr>
          <p:cNvPr id="23" name="Text 21"/>
          <p:cNvSpPr txBox="1"/>
          <p:nvPr/>
        </p:nvSpPr>
        <p:spPr>
          <a:xfrm>
            <a:off x="685800" y="446227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跨业务系统联动</a:t>
            </a:r>
            <a:endParaRPr lang="en-US" sz="1250" dirty="0"/>
          </a:p>
        </p:txBody>
      </p:sp>
      <p:sp>
        <p:nvSpPr>
          <p:cNvPr id="24" name="Shape 22"/>
          <p:cNvSpPr/>
          <p:nvPr/>
        </p:nvSpPr>
        <p:spPr>
          <a:xfrm>
            <a:off x="530352" y="4791456"/>
            <a:ext cx="5532120" cy="420624"/>
          </a:xfrm>
          <a:prstGeom prst="roundRect">
            <a:avLst>
              <a:gd name="adj" fmla="val 7609"/>
            </a:avLst>
          </a:prstGeom>
          <a:solidFill>
            <a:srgbClr val="FFF7EF"/>
          </a:solidFill>
          <a:ln w="9525">
            <a:solidFill>
              <a:srgbClr val="EEDFD0"/>
            </a:solidFill>
            <a:prstDash val="solid"/>
          </a:ln>
        </p:spPr>
      </p:sp>
      <p:sp>
        <p:nvSpPr>
          <p:cNvPr id="25" name="Text 23"/>
          <p:cNvSpPr txBox="1"/>
          <p:nvPr/>
        </p:nvSpPr>
        <p:spPr>
          <a:xfrm>
            <a:off x="676656" y="47914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EHS 两票作业智能监管</a:t>
            </a:r>
            <a:endParaRPr lang="en-US" sz="1000" dirty="0"/>
          </a:p>
        </p:txBody>
      </p:sp>
      <p:sp>
        <p:nvSpPr>
          <p:cNvPr id="26" name="Text 24"/>
          <p:cNvSpPr txBox="1"/>
          <p:nvPr/>
        </p:nvSpPr>
        <p:spPr>
          <a:xfrm>
            <a:off x="2724912" y="47914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调取作业区摄像头对现场人员做人脸与证件比对，核实与许可证录入人员是否一致</a:t>
            </a:r>
            <a:endParaRPr lang="en-US" sz="1000" dirty="0"/>
          </a:p>
        </p:txBody>
      </p:sp>
      <p:sp>
        <p:nvSpPr>
          <p:cNvPr id="27" name="Shape 25"/>
          <p:cNvSpPr/>
          <p:nvPr/>
        </p:nvSpPr>
        <p:spPr>
          <a:xfrm>
            <a:off x="530352" y="5248656"/>
            <a:ext cx="5532120" cy="420624"/>
          </a:xfrm>
          <a:prstGeom prst="roundRect">
            <a:avLst>
              <a:gd name="adj" fmla="val 7609"/>
            </a:avLst>
          </a:prstGeom>
          <a:solidFill>
            <a:srgbClr val="FFFFFF"/>
          </a:solidFill>
          <a:ln w="9525">
            <a:solidFill>
              <a:srgbClr val="EEDFD0"/>
            </a:solidFill>
            <a:prstDash val="solid"/>
          </a:ln>
        </p:spPr>
      </p:sp>
      <p:sp>
        <p:nvSpPr>
          <p:cNvPr id="28" name="Text 26"/>
          <p:cNvSpPr txBox="1"/>
          <p:nvPr/>
        </p:nvSpPr>
        <p:spPr>
          <a:xfrm>
            <a:off x="676656" y="52486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业务画面一键调用与追溯</a:t>
            </a:r>
            <a:endParaRPr lang="en-US" sz="1000" dirty="0"/>
          </a:p>
        </p:txBody>
      </p:sp>
      <p:sp>
        <p:nvSpPr>
          <p:cNvPr id="29" name="Text 27"/>
          <p:cNvSpPr txBox="1"/>
          <p:nvPr/>
        </p:nvSpPr>
        <p:spPr>
          <a:xfrm>
            <a:off x="2724912" y="52486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从 EHS 危险作业模块直接调取作业票绑定的实时监控，并同步该区域历史违规记录</a:t>
            </a:r>
            <a:endParaRPr lang="en-US" sz="1000" dirty="0"/>
          </a:p>
        </p:txBody>
      </p:sp>
      <p:sp>
        <p:nvSpPr>
          <p:cNvPr id="30" name="Shape 28"/>
          <p:cNvSpPr/>
          <p:nvPr/>
        </p:nvSpPr>
        <p:spPr>
          <a:xfrm>
            <a:off x="530352" y="5705856"/>
            <a:ext cx="5532120" cy="420624"/>
          </a:xfrm>
          <a:prstGeom prst="roundRect">
            <a:avLst>
              <a:gd name="adj" fmla="val 7609"/>
            </a:avLst>
          </a:prstGeom>
          <a:solidFill>
            <a:srgbClr val="FFF7EF"/>
          </a:solidFill>
          <a:ln w="9525">
            <a:solidFill>
              <a:srgbClr val="EEDFD0"/>
            </a:solidFill>
            <a:prstDash val="solid"/>
          </a:ln>
        </p:spPr>
      </p:sp>
      <p:sp>
        <p:nvSpPr>
          <p:cNvPr id="31" name="Text 29"/>
          <p:cNvSpPr txBox="1"/>
          <p:nvPr/>
        </p:nvSpPr>
        <p:spPr>
          <a:xfrm>
            <a:off x="676656" y="57058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相关方黑名单联动</a:t>
            </a:r>
            <a:endParaRPr lang="en-US" sz="1000" dirty="0"/>
          </a:p>
        </p:txBody>
      </p:sp>
      <p:sp>
        <p:nvSpPr>
          <p:cNvPr id="32" name="Text 30"/>
          <p:cNvSpPr txBox="1"/>
          <p:nvPr/>
        </p:nvSpPr>
        <p:spPr>
          <a:xfrm>
            <a:off x="2724912" y="57058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严重违规与相关方管理、EHS、门禁系统打通，自动触发全集团禁入且门禁失效</a:t>
            </a:r>
            <a:endParaRPr lang="en-US" sz="1000" dirty="0"/>
          </a:p>
        </p:txBody>
      </p:sp>
      <p:sp>
        <p:nvSpPr>
          <p:cNvPr id="33" name="Shape 31"/>
          <p:cNvSpPr/>
          <p:nvPr/>
        </p:nvSpPr>
        <p:spPr>
          <a:xfrm>
            <a:off x="6309360" y="1257300"/>
            <a:ext cx="68580" cy="173736"/>
          </a:xfrm>
          <a:prstGeom prst="rect">
            <a:avLst/>
          </a:prstGeom>
          <a:solidFill>
            <a:srgbClr val="F97B00"/>
          </a:solidFill>
          <a:ln/>
        </p:spPr>
      </p:sp>
      <p:sp>
        <p:nvSpPr>
          <p:cNvPr id="34" name="Text 32"/>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安防应急地图（员工端与管理端）</a:t>
            </a:r>
            <a:endParaRPr lang="en-US" sz="1250" dirty="0"/>
          </a:p>
        </p:txBody>
      </p:sp>
      <p:sp>
        <p:nvSpPr>
          <p:cNvPr id="35" name="Shape 33"/>
          <p:cNvSpPr/>
          <p:nvPr/>
        </p:nvSpPr>
        <p:spPr>
          <a:xfrm>
            <a:off x="6309360" y="1536192"/>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6492240" y="1709928"/>
            <a:ext cx="402336" cy="402336"/>
          </a:xfrm>
          <a:prstGeom prst="ellipse">
            <a:avLst/>
          </a:prstGeom>
          <a:solidFill>
            <a:srgbClr val="0E2340"/>
          </a:solidFill>
          <a:ln/>
        </p:spPr>
      </p:sp>
      <p:pic>
        <p:nvPicPr>
          <p:cNvPr id="37" name="Image 0" descr="preencoded.png">    </p:cNvPr>
          <p:cNvPicPr>
            <a:picLocks noChangeAspect="1"/>
          </p:cNvPicPr>
          <p:nvPr/>
        </p:nvPicPr>
        <p:blipFill>
          <a:blip r:embed="rId1"/>
          <a:stretch>
            <a:fillRect/>
          </a:stretch>
        </p:blipFill>
        <p:spPr>
          <a:xfrm>
            <a:off x="6600871" y="1818559"/>
            <a:ext cx="185075" cy="185075"/>
          </a:xfrm>
          <a:prstGeom prst="rect">
            <a:avLst/>
          </a:prstGeom>
        </p:spPr>
      </p:pic>
      <p:sp>
        <p:nvSpPr>
          <p:cNvPr id="38" name="Text 35"/>
          <p:cNvSpPr txBox="1"/>
          <p:nvPr/>
        </p:nvSpPr>
        <p:spPr>
          <a:xfrm>
            <a:off x="7004304" y="15910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应急资源可视化</a:t>
            </a:r>
            <a:endParaRPr lang="en-US" sz="1100" dirty="0"/>
          </a:p>
        </p:txBody>
      </p:sp>
      <p:sp>
        <p:nvSpPr>
          <p:cNvPr id="39" name="Text 36"/>
          <p:cNvSpPr txBox="1"/>
          <p:nvPr/>
        </p:nvSpPr>
        <p:spPr>
          <a:xfrm>
            <a:off x="7004304" y="1847088"/>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厂区应急地图精准标绘 AED、急救药箱、微型消防站等应急物资位置及对应应急联系人，支持分区域绑定应急队伍人员信息</a:t>
            </a:r>
            <a:endParaRPr lang="en-US" sz="1000" dirty="0"/>
          </a:p>
        </p:txBody>
      </p:sp>
      <p:sp>
        <p:nvSpPr>
          <p:cNvPr id="40" name="Shape 37"/>
          <p:cNvSpPr/>
          <p:nvPr/>
        </p:nvSpPr>
        <p:spPr>
          <a:xfrm>
            <a:off x="6309360" y="2377440"/>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1" name="Shape 38"/>
          <p:cNvSpPr/>
          <p:nvPr/>
        </p:nvSpPr>
        <p:spPr>
          <a:xfrm>
            <a:off x="6492240" y="2551176"/>
            <a:ext cx="402336" cy="402336"/>
          </a:xfrm>
          <a:prstGeom prst="ellipse">
            <a:avLst/>
          </a:prstGeom>
          <a:solidFill>
            <a:srgbClr val="0E2340"/>
          </a:solidFill>
          <a:ln/>
        </p:spPr>
      </p:sp>
      <p:pic>
        <p:nvPicPr>
          <p:cNvPr id="42" name="Image 1" descr="preencoded.png">    </p:cNvPr>
          <p:cNvPicPr>
            <a:picLocks noChangeAspect="1"/>
          </p:cNvPicPr>
          <p:nvPr/>
        </p:nvPicPr>
        <p:blipFill>
          <a:blip r:embed="rId2"/>
          <a:stretch>
            <a:fillRect/>
          </a:stretch>
        </p:blipFill>
        <p:spPr>
          <a:xfrm>
            <a:off x="6600871" y="2659807"/>
            <a:ext cx="185075" cy="185075"/>
          </a:xfrm>
          <a:prstGeom prst="rect">
            <a:avLst/>
          </a:prstGeom>
        </p:spPr>
      </p:pic>
      <p:sp>
        <p:nvSpPr>
          <p:cNvPr id="43" name="Text 39"/>
          <p:cNvSpPr txBox="1"/>
          <p:nvPr/>
        </p:nvSpPr>
        <p:spPr>
          <a:xfrm>
            <a:off x="7004304" y="2432304"/>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员工端便捷交互</a:t>
            </a:r>
            <a:endParaRPr lang="en-US" sz="1100" dirty="0"/>
          </a:p>
        </p:txBody>
      </p:sp>
      <p:sp>
        <p:nvSpPr>
          <p:cNvPr id="44" name="Text 40"/>
          <p:cNvSpPr txBox="1"/>
          <p:nvPr/>
        </p:nvSpPr>
        <p:spPr>
          <a:xfrm>
            <a:off x="7004304" y="2688336"/>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应急地图开放至普通员工移动端，快速查找周边应急资源，支持"一键拨打"应急联系人电话</a:t>
            </a:r>
            <a:endParaRPr lang="en-US" sz="1000" dirty="0"/>
          </a:p>
        </p:txBody>
      </p:sp>
      <p:sp>
        <p:nvSpPr>
          <p:cNvPr id="45" name="Shape 41"/>
          <p:cNvSpPr/>
          <p:nvPr/>
        </p:nvSpPr>
        <p:spPr>
          <a:xfrm>
            <a:off x="6309360" y="3218688"/>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6" name="Shape 42"/>
          <p:cNvSpPr/>
          <p:nvPr/>
        </p:nvSpPr>
        <p:spPr>
          <a:xfrm>
            <a:off x="6492240" y="3392424"/>
            <a:ext cx="402336" cy="402336"/>
          </a:xfrm>
          <a:prstGeom prst="ellipse">
            <a:avLst/>
          </a:prstGeom>
          <a:solidFill>
            <a:srgbClr val="0E2340"/>
          </a:solidFill>
          <a:ln/>
        </p:spPr>
      </p:sp>
      <p:pic>
        <p:nvPicPr>
          <p:cNvPr id="47" name="Image 2" descr="preencoded.png">    </p:cNvPr>
          <p:cNvPicPr>
            <a:picLocks noChangeAspect="1"/>
          </p:cNvPicPr>
          <p:nvPr/>
        </p:nvPicPr>
        <p:blipFill>
          <a:blip r:embed="rId3"/>
          <a:stretch>
            <a:fillRect/>
          </a:stretch>
        </p:blipFill>
        <p:spPr>
          <a:xfrm>
            <a:off x="6600871" y="3501055"/>
            <a:ext cx="185075" cy="185075"/>
          </a:xfrm>
          <a:prstGeom prst="rect">
            <a:avLst/>
          </a:prstGeom>
        </p:spPr>
      </p:pic>
      <p:sp>
        <p:nvSpPr>
          <p:cNvPr id="48" name="Text 43"/>
          <p:cNvSpPr txBox="1"/>
          <p:nvPr/>
        </p:nvSpPr>
        <p:spPr>
          <a:xfrm>
            <a:off x="7004304" y="327355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一键报警</a:t>
            </a:r>
            <a:endParaRPr lang="en-US" sz="1100" dirty="0"/>
          </a:p>
        </p:txBody>
      </p:sp>
      <p:sp>
        <p:nvSpPr>
          <p:cNvPr id="49" name="Text 44"/>
          <p:cNvSpPr txBox="1"/>
          <p:nvPr/>
        </p:nvSpPr>
        <p:spPr>
          <a:xfrm>
            <a:off x="7004304" y="3529584"/>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员工点击后获取所在大致位置，自动推送信息至系统绑定的应急负责人</a:t>
            </a:r>
            <a:endParaRPr lang="en-US" sz="1000" dirty="0"/>
          </a:p>
        </p:txBody>
      </p:sp>
      <p:sp>
        <p:nvSpPr>
          <p:cNvPr id="50" name="Shape 45"/>
          <p:cNvSpPr/>
          <p:nvPr/>
        </p:nvSpPr>
        <p:spPr>
          <a:xfrm>
            <a:off x="6309360" y="4059936"/>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51" name="Shape 46"/>
          <p:cNvSpPr/>
          <p:nvPr/>
        </p:nvSpPr>
        <p:spPr>
          <a:xfrm>
            <a:off x="6492240" y="4233672"/>
            <a:ext cx="402336" cy="402336"/>
          </a:xfrm>
          <a:prstGeom prst="ellipse">
            <a:avLst/>
          </a:prstGeom>
          <a:solidFill>
            <a:srgbClr val="0E2340"/>
          </a:solidFill>
          <a:ln/>
        </p:spPr>
      </p:sp>
      <p:pic>
        <p:nvPicPr>
          <p:cNvPr id="52" name="Image 3" descr="preencoded.png">    </p:cNvPr>
          <p:cNvPicPr>
            <a:picLocks noChangeAspect="1"/>
          </p:cNvPicPr>
          <p:nvPr/>
        </p:nvPicPr>
        <p:blipFill>
          <a:blip r:embed="rId4"/>
          <a:stretch>
            <a:fillRect/>
          </a:stretch>
        </p:blipFill>
        <p:spPr>
          <a:xfrm>
            <a:off x="6600871" y="4342303"/>
            <a:ext cx="185075" cy="185075"/>
          </a:xfrm>
          <a:prstGeom prst="rect">
            <a:avLst/>
          </a:prstGeom>
        </p:spPr>
      </p:pic>
      <p:sp>
        <p:nvSpPr>
          <p:cNvPr id="53" name="Text 47"/>
          <p:cNvSpPr txBox="1"/>
          <p:nvPr/>
        </p:nvSpPr>
        <p:spPr>
          <a:xfrm>
            <a:off x="7004304" y="4114800"/>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应急演练数字化</a:t>
            </a:r>
            <a:endParaRPr lang="en-US" sz="1100" dirty="0"/>
          </a:p>
        </p:txBody>
      </p:sp>
      <p:sp>
        <p:nvSpPr>
          <p:cNvPr id="54" name="Text 48"/>
          <p:cNvSpPr txBox="1"/>
          <p:nvPr/>
        </p:nvSpPr>
        <p:spPr>
          <a:xfrm>
            <a:off x="7004304" y="4370832"/>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消防及安防演练纳入系统管理，演练期间 AI 自动清点楼内未撤离人数、识别被困人员，结束后自动生成演练质量评估报告</a:t>
            </a:r>
            <a:endParaRPr lang="en-US" sz="1000" dirty="0"/>
          </a:p>
        </p:txBody>
      </p:sp>
      <p:sp>
        <p:nvSpPr>
          <p:cNvPr id="55" name="Shape 49"/>
          <p:cNvSpPr/>
          <p:nvPr/>
        </p:nvSpPr>
        <p:spPr>
          <a:xfrm>
            <a:off x="6309360" y="4919472"/>
            <a:ext cx="5351983" cy="1298448"/>
          </a:xfrm>
          <a:prstGeom prst="roundRect">
            <a:avLst>
              <a:gd name="adj" fmla="val 24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6" name="Text 50"/>
          <p:cNvSpPr txBox="1"/>
          <p:nvPr/>
        </p:nvSpPr>
        <p:spPr>
          <a:xfrm>
            <a:off x="6510528" y="5029200"/>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数据资产与外部开放</a:t>
            </a:r>
            <a:endParaRPr lang="en-US" sz="1100" dirty="0"/>
          </a:p>
        </p:txBody>
      </p:sp>
      <p:sp>
        <p:nvSpPr>
          <p:cNvPr id="57" name="Text 51"/>
          <p:cNvSpPr txBox="1"/>
          <p:nvPr/>
        </p:nvSpPr>
        <p:spPr>
          <a:xfrm>
            <a:off x="6510528" y="5285232"/>
            <a:ext cx="4931359" cy="8595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保留至少一年高清报警记录及图片/视频片段；支持按事业部、物理区域、人员类型、相关方单位、违规类型等多维筛选查询与带图导出；内置 AI 分析自动生成隐患趋势、违规排名；提供标准化数据开放 API，向集团 EHS 平台、ESG 报告系统稳定输出标准化指标数据。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宿舍管理（一）：入住—住宿—退宿全流程数字化</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重构宿舍管理系统，有效区分有权限员工身份，防范闲杂人员进入</a:t>
            </a:r>
            <a:endParaRPr lang="en-US" sz="1250" dirty="0"/>
          </a:p>
        </p:txBody>
      </p:sp>
      <p:sp>
        <p:nvSpPr>
          <p:cNvPr id="5" name="Shape 3"/>
          <p:cNvSpPr/>
          <p:nvPr/>
        </p:nvSpPr>
        <p:spPr>
          <a:xfrm>
            <a:off x="530352" y="1207008"/>
            <a:ext cx="1543115" cy="493776"/>
          </a:xfrm>
          <a:prstGeom prst="homePlate">
            <a:avLst/>
          </a:prstGeom>
          <a:solidFill>
            <a:srgbClr val="F97B00"/>
          </a:solidFill>
          <a:ln/>
        </p:spPr>
      </p:sp>
      <p:sp>
        <p:nvSpPr>
          <p:cNvPr id="6" name="Text 4"/>
          <p:cNvSpPr txBox="1"/>
          <p:nvPr/>
        </p:nvSpPr>
        <p:spPr>
          <a:xfrm>
            <a:off x="715526"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住宿申请</a:t>
            </a:r>
            <a:endParaRPr lang="en-US" sz="1100" dirty="0"/>
          </a:p>
        </p:txBody>
      </p:sp>
      <p:sp>
        <p:nvSpPr>
          <p:cNvPr id="7" name="Shape 5"/>
          <p:cNvSpPr/>
          <p:nvPr/>
        </p:nvSpPr>
        <p:spPr>
          <a:xfrm>
            <a:off x="2128331" y="1207008"/>
            <a:ext cx="1543115" cy="493776"/>
          </a:xfrm>
          <a:prstGeom prst="chevron">
            <a:avLst/>
          </a:prstGeom>
          <a:solidFill>
            <a:srgbClr val="FF9F3D"/>
          </a:solidFill>
          <a:ln/>
        </p:spPr>
      </p:sp>
      <p:sp>
        <p:nvSpPr>
          <p:cNvPr id="8" name="Text 6"/>
          <p:cNvSpPr txBox="1"/>
          <p:nvPr/>
        </p:nvSpPr>
        <p:spPr>
          <a:xfrm>
            <a:off x="2313505"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审核分房</a:t>
            </a:r>
            <a:endParaRPr lang="en-US" sz="1100" dirty="0"/>
          </a:p>
        </p:txBody>
      </p:sp>
      <p:sp>
        <p:nvSpPr>
          <p:cNvPr id="9" name="Shape 7"/>
          <p:cNvSpPr/>
          <p:nvPr/>
        </p:nvSpPr>
        <p:spPr>
          <a:xfrm>
            <a:off x="3726311" y="1207008"/>
            <a:ext cx="1543115" cy="493776"/>
          </a:xfrm>
          <a:prstGeom prst="chevron">
            <a:avLst/>
          </a:prstGeom>
          <a:solidFill>
            <a:srgbClr val="F97B00"/>
          </a:solidFill>
          <a:ln/>
        </p:spPr>
      </p:sp>
      <p:sp>
        <p:nvSpPr>
          <p:cNvPr id="10" name="Text 8"/>
          <p:cNvSpPr txBox="1"/>
          <p:nvPr/>
        </p:nvSpPr>
        <p:spPr>
          <a:xfrm>
            <a:off x="391148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入住办理</a:t>
            </a:r>
            <a:endParaRPr lang="en-US" sz="1100" dirty="0"/>
          </a:p>
        </p:txBody>
      </p:sp>
      <p:sp>
        <p:nvSpPr>
          <p:cNvPr id="11" name="Shape 9"/>
          <p:cNvSpPr/>
          <p:nvPr/>
        </p:nvSpPr>
        <p:spPr>
          <a:xfrm>
            <a:off x="5324290" y="1207008"/>
            <a:ext cx="1543115" cy="493776"/>
          </a:xfrm>
          <a:prstGeom prst="chevron">
            <a:avLst/>
          </a:prstGeom>
          <a:solidFill>
            <a:srgbClr val="FF9F3D"/>
          </a:solidFill>
          <a:ln/>
        </p:spPr>
      </p:sp>
      <p:sp>
        <p:nvSpPr>
          <p:cNvPr id="12" name="Text 10"/>
          <p:cNvSpPr txBox="1"/>
          <p:nvPr/>
        </p:nvSpPr>
        <p:spPr>
          <a:xfrm>
            <a:off x="550946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在住服务</a:t>
            </a:r>
            <a:endParaRPr lang="en-US" sz="1100" dirty="0"/>
          </a:p>
        </p:txBody>
      </p:sp>
      <p:sp>
        <p:nvSpPr>
          <p:cNvPr id="13" name="Shape 11"/>
          <p:cNvSpPr/>
          <p:nvPr/>
        </p:nvSpPr>
        <p:spPr>
          <a:xfrm>
            <a:off x="6922269" y="1207008"/>
            <a:ext cx="1543115" cy="493776"/>
          </a:xfrm>
          <a:prstGeom prst="chevron">
            <a:avLst/>
          </a:prstGeom>
          <a:solidFill>
            <a:srgbClr val="F97B00"/>
          </a:solidFill>
          <a:ln/>
        </p:spPr>
      </p:sp>
      <p:sp>
        <p:nvSpPr>
          <p:cNvPr id="14" name="Text 12"/>
          <p:cNvSpPr txBox="1"/>
          <p:nvPr/>
        </p:nvSpPr>
        <p:spPr>
          <a:xfrm>
            <a:off x="7107443"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调寝</a:t>
            </a:r>
            <a:endParaRPr lang="en-US" sz="1100" dirty="0"/>
          </a:p>
        </p:txBody>
      </p:sp>
      <p:sp>
        <p:nvSpPr>
          <p:cNvPr id="15" name="Shape 13"/>
          <p:cNvSpPr/>
          <p:nvPr/>
        </p:nvSpPr>
        <p:spPr>
          <a:xfrm>
            <a:off x="8520249" y="1207008"/>
            <a:ext cx="1543115" cy="493776"/>
          </a:xfrm>
          <a:prstGeom prst="chevron">
            <a:avLst/>
          </a:prstGeom>
          <a:solidFill>
            <a:srgbClr val="FF9F3D"/>
          </a:solidFill>
          <a:ln/>
        </p:spPr>
      </p:sp>
      <p:sp>
        <p:nvSpPr>
          <p:cNvPr id="16" name="Text 14"/>
          <p:cNvSpPr txBox="1"/>
          <p:nvPr/>
        </p:nvSpPr>
        <p:spPr>
          <a:xfrm>
            <a:off x="870542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水电结算</a:t>
            </a:r>
            <a:endParaRPr lang="en-US" sz="1100" dirty="0"/>
          </a:p>
        </p:txBody>
      </p:sp>
      <p:sp>
        <p:nvSpPr>
          <p:cNvPr id="17" name="Shape 15"/>
          <p:cNvSpPr/>
          <p:nvPr/>
        </p:nvSpPr>
        <p:spPr>
          <a:xfrm>
            <a:off x="10118228" y="1207008"/>
            <a:ext cx="1543115" cy="493776"/>
          </a:xfrm>
          <a:prstGeom prst="chevron">
            <a:avLst/>
          </a:prstGeom>
          <a:solidFill>
            <a:srgbClr val="F97B00"/>
          </a:solidFill>
          <a:ln/>
        </p:spPr>
      </p:sp>
      <p:sp>
        <p:nvSpPr>
          <p:cNvPr id="18" name="Text 16"/>
          <p:cNvSpPr txBox="1"/>
          <p:nvPr/>
        </p:nvSpPr>
        <p:spPr>
          <a:xfrm>
            <a:off x="1030340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退宿验收</a:t>
            </a:r>
            <a:endParaRPr lang="en-US" sz="1100" dirty="0"/>
          </a:p>
        </p:txBody>
      </p:sp>
      <p:sp>
        <p:nvSpPr>
          <p:cNvPr id="19" name="Shape 17"/>
          <p:cNvSpPr/>
          <p:nvPr/>
        </p:nvSpPr>
        <p:spPr>
          <a:xfrm>
            <a:off x="530352"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31520" y="2066544"/>
            <a:ext cx="457200" cy="457200"/>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54964" y="2189988"/>
            <a:ext cx="210312" cy="210312"/>
          </a:xfrm>
          <a:prstGeom prst="rect">
            <a:avLst/>
          </a:prstGeom>
        </p:spPr>
      </p:pic>
      <p:sp>
        <p:nvSpPr>
          <p:cNvPr id="22" name="Text 19"/>
          <p:cNvSpPr txBox="1"/>
          <p:nvPr/>
        </p:nvSpPr>
        <p:spPr>
          <a:xfrm>
            <a:off x="1280160"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员工入住模块</a:t>
            </a:r>
            <a:endParaRPr lang="en-US" sz="1300" dirty="0"/>
          </a:p>
        </p:txBody>
      </p:sp>
      <p:sp>
        <p:nvSpPr>
          <p:cNvPr id="23" name="Text 20"/>
          <p:cNvSpPr txBox="1"/>
          <p:nvPr/>
        </p:nvSpPr>
        <p:spPr>
          <a:xfrm>
            <a:off x="749808"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在职人员：填写个人信息（含个性化标签）及附件 → 提交 → 后勤服务部审核分房 → 推送"可办理入住"</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待入职人员：HR 代申请，系统记录房间分配结果，入职后办理入住</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数据联动：申请信息自动同步 BPM（入职系统），工号同步至宿舍系统</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因个人原因退宿后无法再申请；二次申请自动提醒审核人员</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嵌入租房补贴申请，自动带入住宿记录时间段，按"住宿+补贴满两年"核算</a:t>
            </a:r>
            <a:endParaRPr lang="en-US" sz="1000" dirty="0"/>
          </a:p>
        </p:txBody>
      </p:sp>
      <p:sp>
        <p:nvSpPr>
          <p:cNvPr id="24" name="Shape 21"/>
          <p:cNvSpPr/>
          <p:nvPr/>
        </p:nvSpPr>
        <p:spPr>
          <a:xfrm>
            <a:off x="4307738"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08906" y="2066544"/>
            <a:ext cx="457200" cy="457200"/>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32350" y="2189988"/>
            <a:ext cx="210312" cy="210312"/>
          </a:xfrm>
          <a:prstGeom prst="rect">
            <a:avLst/>
          </a:prstGeom>
        </p:spPr>
      </p:pic>
      <p:sp>
        <p:nvSpPr>
          <p:cNvPr id="27" name="Text 23"/>
          <p:cNvSpPr txBox="1"/>
          <p:nvPr/>
        </p:nvSpPr>
        <p:spPr>
          <a:xfrm>
            <a:off x="5057546"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房务管理</a:t>
            </a:r>
            <a:endParaRPr lang="en-US" sz="1300" dirty="0"/>
          </a:p>
        </p:txBody>
      </p:sp>
      <p:sp>
        <p:nvSpPr>
          <p:cNvPr id="28" name="Text 24"/>
          <p:cNvSpPr txBox="1"/>
          <p:nvPr/>
        </p:nvSpPr>
        <p:spPr>
          <a:xfrm>
            <a:off x="4527194"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按"园区→楼栋→楼层→房间"层级展示，标注空房/已住/维修中/待入住状态</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申请首页同步展示房型实拍图、面积、朝向、租金、家具家电与网络覆盖（按职级匹配）</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智能分寝：结合个性化标签、部门、职级自动分配，排除待维修房间，管理员据智能提醒后分配</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入住温馨提示：完成分房后自动触发提醒，生成入园二维码，门岗审核后进园办理</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已入职员工钉钉推送卡片跳转入住指南长图；待入职员工短信链接推送</a:t>
            </a:r>
            <a:endParaRPr lang="en-US" sz="1000" dirty="0"/>
          </a:p>
        </p:txBody>
      </p:sp>
      <p:sp>
        <p:nvSpPr>
          <p:cNvPr id="29" name="Shape 25"/>
          <p:cNvSpPr/>
          <p:nvPr/>
        </p:nvSpPr>
        <p:spPr>
          <a:xfrm>
            <a:off x="8085125"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286293" y="2066544"/>
            <a:ext cx="457200" cy="457200"/>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09737" y="2189988"/>
            <a:ext cx="210312" cy="210312"/>
          </a:xfrm>
          <a:prstGeom prst="rect">
            <a:avLst/>
          </a:prstGeom>
        </p:spPr>
      </p:pic>
      <p:sp>
        <p:nvSpPr>
          <p:cNvPr id="32" name="Text 27"/>
          <p:cNvSpPr txBox="1"/>
          <p:nvPr/>
        </p:nvSpPr>
        <p:spPr>
          <a:xfrm>
            <a:off x="8834933"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住宿管理模块</a:t>
            </a:r>
            <a:endParaRPr lang="en-US" sz="1300" dirty="0"/>
          </a:p>
        </p:txBody>
      </p:sp>
      <p:sp>
        <p:nvSpPr>
          <p:cNvPr id="33" name="Text 28"/>
          <p:cNvSpPr txBox="1"/>
          <p:nvPr/>
        </p:nvSpPr>
        <p:spPr>
          <a:xfrm>
            <a:off x="8304581"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入住办理：本人携身份证原件，系统核验一致后线上签订材料，签字存档至宿舍档案</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调寝流程：线上申请说明理由 → 原/新宿舍管理员各 3 工作日内审核 → 生成"调寝通知单"</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调寝后 24 小时内原房工卡权限失效、新房激活，水电表数据自动切换</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调寝限制：因个人原因仅限 1 次，房间维修/办公地点变更等特殊情况备注申请</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出入授权：刷卡/刷脸配置宿舍门与楼栋门禁；一楼大堂设置闸机；退宿后权限自动失效</a:t>
            </a:r>
            <a:endParaRPr lang="en-US" sz="1000" dirty="0"/>
          </a:p>
        </p:txBody>
      </p:sp>
      <p:sp>
        <p:nvSpPr>
          <p:cNvPr id="34" name="Shape 29"/>
          <p:cNvSpPr/>
          <p:nvPr/>
        </p:nvSpPr>
        <p:spPr>
          <a:xfrm>
            <a:off x="530352" y="4901184"/>
            <a:ext cx="11130991" cy="1024128"/>
          </a:xfrm>
          <a:prstGeom prst="roundRect">
            <a:avLst>
              <a:gd name="adj" fmla="val 3125"/>
            </a:avLst>
          </a:prstGeom>
          <a:solidFill>
            <a:srgbClr val="0E2340"/>
          </a:solidFill>
          <a:ln/>
        </p:spPr>
      </p:sp>
      <p:sp>
        <p:nvSpPr>
          <p:cNvPr id="35" name="Text 30"/>
          <p:cNvSpPr txBox="1"/>
          <p:nvPr/>
        </p:nvSpPr>
        <p:spPr>
          <a:xfrm>
            <a:off x="749808" y="501091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跨园区设计</a:t>
            </a:r>
            <a:endParaRPr lang="en-US" sz="1200" dirty="0"/>
          </a:p>
        </p:txBody>
      </p:sp>
      <p:sp>
        <p:nvSpPr>
          <p:cNvPr id="36" name="Text 31"/>
          <p:cNvSpPr txBox="1"/>
          <p:nvPr/>
        </p:nvSpPr>
        <p:spPr>
          <a:xfrm>
            <a:off x="2267712" y="4974336"/>
            <a:ext cx="9144000" cy="78638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宿舍模块从数据模型层面即按"多园区"设计：园区维度贯穿房源、房型、定价、水电单价、免费天数、管理员权限与统计口径，产业园之外的其他园区宿舍可直接纳管，无需二次开发；员工跨园区调动时住宿记录连续、免费时长自动延续不重算。</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宿舍管理（二）：维修、水电费、退宿与统计看板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费用算得清、权限收得回、数据看得明</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维修管理与员工自助</a:t>
            </a:r>
            <a:endParaRPr lang="en-US" sz="1250" dirty="0"/>
          </a:p>
        </p:txBody>
      </p:sp>
      <p:sp>
        <p:nvSpPr>
          <p:cNvPr id="7" name="Shape 5"/>
          <p:cNvSpPr/>
          <p:nvPr/>
        </p:nvSpPr>
        <p:spPr>
          <a:xfrm>
            <a:off x="530352" y="1536192"/>
            <a:ext cx="5532120" cy="621792"/>
          </a:xfrm>
          <a:prstGeom prst="roundRect">
            <a:avLst>
              <a:gd name="adj" fmla="val 5147"/>
            </a:avLst>
          </a:prstGeom>
          <a:solidFill>
            <a:srgbClr val="F6F8FA"/>
          </a:solidFill>
          <a:ln w="9525">
            <a:solidFill>
              <a:srgbClr val="E3E7EB"/>
            </a:solidFill>
            <a:prstDash val="solid"/>
          </a:ln>
        </p:spPr>
      </p:sp>
      <p:sp>
        <p:nvSpPr>
          <p:cNvPr id="8" name="Text 6"/>
          <p:cNvSpPr txBox="1"/>
          <p:nvPr/>
        </p:nvSpPr>
        <p:spPr>
          <a:xfrm>
            <a:off x="694944" y="1536192"/>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故障等级</a:t>
            </a:r>
            <a:endParaRPr lang="en-US" sz="1000" dirty="0"/>
          </a:p>
        </p:txBody>
      </p:sp>
      <p:sp>
        <p:nvSpPr>
          <p:cNvPr id="9" name="Text 7"/>
          <p:cNvSpPr txBox="1"/>
          <p:nvPr/>
        </p:nvSpPr>
        <p:spPr>
          <a:xfrm>
            <a:off x="2048256" y="1536192"/>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紧急故障（水电中断、空调故障）需上传现场照片，系统自动标记"紧急工单"；普通故障（家具损坏、灯具故障）标记"普通工单"，规定时间响应维修</a:t>
            </a:r>
            <a:endParaRPr lang="en-US" sz="1000" dirty="0"/>
          </a:p>
        </p:txBody>
      </p:sp>
      <p:sp>
        <p:nvSpPr>
          <p:cNvPr id="10" name="Shape 8"/>
          <p:cNvSpPr/>
          <p:nvPr/>
        </p:nvSpPr>
        <p:spPr>
          <a:xfrm>
            <a:off x="530352" y="2249424"/>
            <a:ext cx="5532120" cy="621792"/>
          </a:xfrm>
          <a:prstGeom prst="roundRect">
            <a:avLst>
              <a:gd name="adj" fmla="val 5147"/>
            </a:avLst>
          </a:prstGeom>
          <a:solidFill>
            <a:srgbClr val="FFFFFF"/>
          </a:solidFill>
          <a:ln w="9525">
            <a:solidFill>
              <a:srgbClr val="E3E7EB"/>
            </a:solidFill>
            <a:prstDash val="solid"/>
          </a:ln>
        </p:spPr>
      </p:sp>
      <p:sp>
        <p:nvSpPr>
          <p:cNvPr id="11" name="Text 9"/>
          <p:cNvSpPr txBox="1"/>
          <p:nvPr/>
        </p:nvSpPr>
        <p:spPr>
          <a:xfrm>
            <a:off x="694944" y="2249424"/>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维修端</a:t>
            </a:r>
            <a:endParaRPr lang="en-US" sz="1000" dirty="0"/>
          </a:p>
        </p:txBody>
      </p:sp>
      <p:sp>
        <p:nvSpPr>
          <p:cNvPr id="12" name="Text 10"/>
          <p:cNvSpPr txBox="1"/>
          <p:nvPr/>
        </p:nvSpPr>
        <p:spPr>
          <a:xfrm>
            <a:off x="2048256" y="2249424"/>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工单展示故障描述、照片、房间号、联系人电话；支持派单给维修人员、反馈维修进度；修复后员工线上确认满意/不满意</a:t>
            </a:r>
            <a:endParaRPr lang="en-US" sz="1000" dirty="0"/>
          </a:p>
        </p:txBody>
      </p:sp>
      <p:sp>
        <p:nvSpPr>
          <p:cNvPr id="13" name="Shape 11"/>
          <p:cNvSpPr/>
          <p:nvPr/>
        </p:nvSpPr>
        <p:spPr>
          <a:xfrm>
            <a:off x="530352" y="2962656"/>
            <a:ext cx="5532120" cy="621792"/>
          </a:xfrm>
          <a:prstGeom prst="roundRect">
            <a:avLst>
              <a:gd name="adj" fmla="val 5147"/>
            </a:avLst>
          </a:prstGeom>
          <a:solidFill>
            <a:srgbClr val="F6F8FA"/>
          </a:solidFill>
          <a:ln w="9525">
            <a:solidFill>
              <a:srgbClr val="E3E7EB"/>
            </a:solidFill>
            <a:prstDash val="solid"/>
          </a:ln>
        </p:spPr>
      </p:sp>
      <p:sp>
        <p:nvSpPr>
          <p:cNvPr id="14" name="Text 12"/>
          <p:cNvSpPr txBox="1"/>
          <p:nvPr/>
        </p:nvSpPr>
        <p:spPr>
          <a:xfrm>
            <a:off x="694944" y="2962656"/>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维修档案</a:t>
            </a:r>
            <a:endParaRPr lang="en-US" sz="1000" dirty="0"/>
          </a:p>
        </p:txBody>
      </p:sp>
      <p:sp>
        <p:nvSpPr>
          <p:cNvPr id="15" name="Text 13"/>
          <p:cNvSpPr txBox="1"/>
          <p:nvPr/>
        </p:nvSpPr>
        <p:spPr>
          <a:xfrm>
            <a:off x="2048256" y="2962656"/>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所有工单自动存档，支持按园区、房间号、时间查询维修记录</a:t>
            </a:r>
            <a:endParaRPr lang="en-US" sz="1000" dirty="0"/>
          </a:p>
        </p:txBody>
      </p:sp>
      <p:sp>
        <p:nvSpPr>
          <p:cNvPr id="16" name="Shape 14"/>
          <p:cNvSpPr/>
          <p:nvPr/>
        </p:nvSpPr>
        <p:spPr>
          <a:xfrm>
            <a:off x="530352" y="3675888"/>
            <a:ext cx="5532120" cy="621792"/>
          </a:xfrm>
          <a:prstGeom prst="roundRect">
            <a:avLst>
              <a:gd name="adj" fmla="val 5147"/>
            </a:avLst>
          </a:prstGeom>
          <a:solidFill>
            <a:srgbClr val="FFFFFF"/>
          </a:solidFill>
          <a:ln w="9525">
            <a:solidFill>
              <a:srgbClr val="E3E7EB"/>
            </a:solidFill>
            <a:prstDash val="solid"/>
          </a:ln>
        </p:spPr>
      </p:sp>
      <p:sp>
        <p:nvSpPr>
          <p:cNvPr id="17" name="Text 15"/>
          <p:cNvSpPr txBox="1"/>
          <p:nvPr/>
        </p:nvSpPr>
        <p:spPr>
          <a:xfrm>
            <a:off x="694944" y="3675888"/>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员工自助</a:t>
            </a:r>
            <a:endParaRPr lang="en-US" sz="1000" dirty="0"/>
          </a:p>
        </p:txBody>
      </p:sp>
      <p:sp>
        <p:nvSpPr>
          <p:cNvPr id="18" name="Text 16"/>
          <p:cNvSpPr txBox="1"/>
          <p:nvPr/>
        </p:nvSpPr>
        <p:spPr>
          <a:xfrm>
            <a:off x="2048256" y="3675888"/>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住宿时间查询（入住起始、当前总时长、免费总时长、剩余免费天数，调寝不重算）；两年免费到期前 30 天钉钉推送提醒（含缓冲期规则与续住标准）；知识库 Q&amp;A</a:t>
            </a:r>
            <a:endParaRPr lang="en-US" sz="1000" dirty="0"/>
          </a:p>
        </p:txBody>
      </p:sp>
      <p:sp>
        <p:nvSpPr>
          <p:cNvPr id="19" name="Shape 17"/>
          <p:cNvSpPr/>
          <p:nvPr/>
        </p:nvSpPr>
        <p:spPr>
          <a:xfrm>
            <a:off x="530352" y="4389120"/>
            <a:ext cx="5532120" cy="621792"/>
          </a:xfrm>
          <a:prstGeom prst="roundRect">
            <a:avLst>
              <a:gd name="adj" fmla="val 5147"/>
            </a:avLst>
          </a:prstGeom>
          <a:solidFill>
            <a:srgbClr val="F6F8FA"/>
          </a:solidFill>
          <a:ln w="9525">
            <a:solidFill>
              <a:srgbClr val="E3E7EB"/>
            </a:solidFill>
            <a:prstDash val="solid"/>
          </a:ln>
        </p:spPr>
      </p:sp>
      <p:sp>
        <p:nvSpPr>
          <p:cNvPr id="20" name="Text 18"/>
          <p:cNvSpPr txBox="1"/>
          <p:nvPr/>
        </p:nvSpPr>
        <p:spPr>
          <a:xfrm>
            <a:off x="694944" y="4389120"/>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同住人员信息</a:t>
            </a:r>
            <a:endParaRPr lang="en-US" sz="1000" dirty="0"/>
          </a:p>
        </p:txBody>
      </p:sp>
      <p:sp>
        <p:nvSpPr>
          <p:cNvPr id="21" name="Text 19"/>
          <p:cNvSpPr txBox="1"/>
          <p:nvPr/>
        </p:nvSpPr>
        <p:spPr>
          <a:xfrm>
            <a:off x="2048256" y="4389120"/>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可查看同住人员工号、姓名、兴趣爱好、生活习惯标签（需本人设置"允许展示"）；离职/调寝后 24 小时内更新列表</a:t>
            </a:r>
            <a:endParaRPr lang="en-US" sz="1000" dirty="0"/>
          </a:p>
        </p:txBody>
      </p:sp>
      <p:sp>
        <p:nvSpPr>
          <p:cNvPr id="22" name="Shape 20"/>
          <p:cNvSpPr/>
          <p:nvPr/>
        </p:nvSpPr>
        <p:spPr>
          <a:xfrm>
            <a:off x="6309360" y="1257300"/>
            <a:ext cx="68580" cy="173736"/>
          </a:xfrm>
          <a:prstGeom prst="rect">
            <a:avLst/>
          </a:prstGeom>
          <a:solidFill>
            <a:srgbClr val="F97B00"/>
          </a:solidFill>
          <a:ln/>
        </p:spPr>
      </p:sp>
      <p:sp>
        <p:nvSpPr>
          <p:cNvPr id="23" name="Text 21"/>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水电费与退宿模块</a:t>
            </a:r>
            <a:endParaRPr lang="en-US" sz="1250" dirty="0"/>
          </a:p>
        </p:txBody>
      </p:sp>
      <p:sp>
        <p:nvSpPr>
          <p:cNvPr id="24" name="Shape 22"/>
          <p:cNvSpPr/>
          <p:nvPr/>
        </p:nvSpPr>
        <p:spPr>
          <a:xfrm>
            <a:off x="6309360" y="1517904"/>
            <a:ext cx="5351983" cy="649224"/>
          </a:xfrm>
          <a:prstGeom prst="roundRect">
            <a:avLst>
              <a:gd name="adj" fmla="val 4930"/>
            </a:avLst>
          </a:prstGeom>
          <a:solidFill>
            <a:srgbClr val="FFF7EF"/>
          </a:solidFill>
          <a:ln w="9525">
            <a:solidFill>
              <a:srgbClr val="F6DCC2"/>
            </a:solidFill>
            <a:prstDash val="solid"/>
          </a:ln>
        </p:spPr>
      </p:sp>
      <p:sp>
        <p:nvSpPr>
          <p:cNvPr id="25" name="Text 23"/>
          <p:cNvSpPr txBox="1"/>
          <p:nvPr/>
        </p:nvSpPr>
        <p:spPr>
          <a:xfrm>
            <a:off x="6492240" y="1554480"/>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智能水电表联动</a:t>
            </a:r>
            <a:endParaRPr lang="en-US" sz="1020" dirty="0"/>
          </a:p>
        </p:txBody>
      </p:sp>
      <p:sp>
        <p:nvSpPr>
          <p:cNvPr id="26" name="Text 24"/>
          <p:cNvSpPr txBox="1"/>
          <p:nvPr/>
        </p:nvSpPr>
        <p:spPr>
          <a:xfrm>
            <a:off x="6492240" y="1783080"/>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链接园区智能水电表系统自动获取实时度数；单价管理员可调并在系统内公示；按员工"实际入住天数"分摊</a:t>
            </a:r>
            <a:endParaRPr lang="en-US" sz="1000" dirty="0"/>
          </a:p>
        </p:txBody>
      </p:sp>
      <p:sp>
        <p:nvSpPr>
          <p:cNvPr id="27" name="Shape 25"/>
          <p:cNvSpPr/>
          <p:nvPr/>
        </p:nvSpPr>
        <p:spPr>
          <a:xfrm>
            <a:off x="6309360" y="2240280"/>
            <a:ext cx="5351983" cy="649224"/>
          </a:xfrm>
          <a:prstGeom prst="roundRect">
            <a:avLst>
              <a:gd name="adj" fmla="val 4930"/>
            </a:avLst>
          </a:prstGeom>
          <a:solidFill>
            <a:srgbClr val="FFF7EF"/>
          </a:solidFill>
          <a:ln w="9525">
            <a:solidFill>
              <a:srgbClr val="F6DCC2"/>
            </a:solidFill>
            <a:prstDash val="solid"/>
          </a:ln>
        </p:spPr>
      </p:sp>
      <p:sp>
        <p:nvSpPr>
          <p:cNvPr id="28" name="Text 26"/>
          <p:cNvSpPr txBox="1"/>
          <p:nvPr/>
        </p:nvSpPr>
        <p:spPr>
          <a:xfrm>
            <a:off x="6492240" y="2276856"/>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结算导出</a:t>
            </a:r>
            <a:endParaRPr lang="en-US" sz="1020" dirty="0"/>
          </a:p>
        </p:txBody>
      </p:sp>
      <p:sp>
        <p:nvSpPr>
          <p:cNvPr id="29" name="Text 27"/>
          <p:cNvSpPr txBox="1"/>
          <p:nvPr/>
        </p:nvSpPr>
        <p:spPr>
          <a:xfrm>
            <a:off x="6492240" y="2505456"/>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每月 1 日自动生成"上月水电费结算表"（房间号、房型、工号、姓名、入住天数、总电费/水费、应扣金额、入住/退宿时间）</a:t>
            </a:r>
            <a:endParaRPr lang="en-US" sz="1000" dirty="0"/>
          </a:p>
        </p:txBody>
      </p:sp>
      <p:sp>
        <p:nvSpPr>
          <p:cNvPr id="30" name="Shape 28"/>
          <p:cNvSpPr/>
          <p:nvPr/>
        </p:nvSpPr>
        <p:spPr>
          <a:xfrm>
            <a:off x="6309360" y="2962656"/>
            <a:ext cx="5351983" cy="649224"/>
          </a:xfrm>
          <a:prstGeom prst="roundRect">
            <a:avLst>
              <a:gd name="adj" fmla="val 4930"/>
            </a:avLst>
          </a:prstGeom>
          <a:solidFill>
            <a:srgbClr val="FFF7EF"/>
          </a:solidFill>
          <a:ln w="9525">
            <a:solidFill>
              <a:srgbClr val="F6DCC2"/>
            </a:solidFill>
            <a:prstDash val="solid"/>
          </a:ln>
        </p:spPr>
      </p:sp>
      <p:sp>
        <p:nvSpPr>
          <p:cNvPr id="31" name="Text 29"/>
          <p:cNvSpPr txBox="1"/>
          <p:nvPr/>
        </p:nvSpPr>
        <p:spPr>
          <a:xfrm>
            <a:off x="6492240" y="2999232"/>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离职退宿</a:t>
            </a:r>
            <a:endParaRPr lang="en-US" sz="1020" dirty="0"/>
          </a:p>
        </p:txBody>
      </p:sp>
      <p:sp>
        <p:nvSpPr>
          <p:cNvPr id="32" name="Text 30"/>
          <p:cNvSpPr txBox="1"/>
          <p:nvPr/>
        </p:nvSpPr>
        <p:spPr>
          <a:xfrm>
            <a:off x="6492240" y="3227832"/>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关联离职流程，发起离职申请后自动同步宿舍系统并触发"退宿提醒"（含退宿截止日期）</a:t>
            </a:r>
            <a:endParaRPr lang="en-US" sz="1000" dirty="0"/>
          </a:p>
        </p:txBody>
      </p:sp>
      <p:sp>
        <p:nvSpPr>
          <p:cNvPr id="33" name="Shape 31"/>
          <p:cNvSpPr/>
          <p:nvPr/>
        </p:nvSpPr>
        <p:spPr>
          <a:xfrm>
            <a:off x="6309360" y="3685032"/>
            <a:ext cx="5351983" cy="649224"/>
          </a:xfrm>
          <a:prstGeom prst="roundRect">
            <a:avLst>
              <a:gd name="adj" fmla="val 4930"/>
            </a:avLst>
          </a:prstGeom>
          <a:solidFill>
            <a:srgbClr val="FFF7EF"/>
          </a:solidFill>
          <a:ln w="9525">
            <a:solidFill>
              <a:srgbClr val="F6DCC2"/>
            </a:solidFill>
            <a:prstDash val="solid"/>
          </a:ln>
        </p:spPr>
      </p:sp>
      <p:sp>
        <p:nvSpPr>
          <p:cNvPr id="34" name="Text 32"/>
          <p:cNvSpPr txBox="1"/>
          <p:nvPr/>
        </p:nvSpPr>
        <p:spPr>
          <a:xfrm>
            <a:off x="6492240" y="3721608"/>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退宿验收与权限回收</a:t>
            </a:r>
            <a:endParaRPr lang="en-US" sz="1020" dirty="0"/>
          </a:p>
        </p:txBody>
      </p:sp>
      <p:sp>
        <p:nvSpPr>
          <p:cNvPr id="35" name="Text 33"/>
          <p:cNvSpPr txBox="1"/>
          <p:nvPr/>
        </p:nvSpPr>
        <p:spPr>
          <a:xfrm>
            <a:off x="6492240" y="3950208"/>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验收通过标记"已退宿"并生成退宿确认单线上签字；验收不通过需缴纳赔偿费，拒缴标记从工资扣除；完成后自动清除门禁权限并注销系统账户</a:t>
            </a:r>
            <a:endParaRPr lang="en-US" sz="1000" dirty="0"/>
          </a:p>
        </p:txBody>
      </p:sp>
      <p:sp>
        <p:nvSpPr>
          <p:cNvPr id="36" name="Shape 34"/>
          <p:cNvSpPr/>
          <p:nvPr/>
        </p:nvSpPr>
        <p:spPr>
          <a:xfrm>
            <a:off x="6309360" y="4494276"/>
            <a:ext cx="68580" cy="173736"/>
          </a:xfrm>
          <a:prstGeom prst="rect">
            <a:avLst/>
          </a:prstGeom>
          <a:solidFill>
            <a:srgbClr val="F97B00"/>
          </a:solidFill>
          <a:ln/>
        </p:spPr>
      </p:sp>
      <p:sp>
        <p:nvSpPr>
          <p:cNvPr id="37" name="Text 35"/>
          <p:cNvSpPr txBox="1"/>
          <p:nvPr/>
        </p:nvSpPr>
        <p:spPr>
          <a:xfrm>
            <a:off x="6464808" y="444398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统计模块与首页数据看板</a:t>
            </a:r>
            <a:endParaRPr lang="en-US" sz="1250" dirty="0"/>
          </a:p>
        </p:txBody>
      </p:sp>
      <p:graphicFrame>
        <p:nvGraphicFramePr>
          <p:cNvPr id="38" name="Chart 0" descr=""/>
          <p:cNvGraphicFramePr/>
          <p:nvPr/>
        </p:nvGraphicFramePr>
        <p:xfrm>
          <a:off x="6309360" y="4754880"/>
          <a:ext cx="2651760" cy="1097280"/>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txBox="1"/>
          <p:nvPr/>
        </p:nvSpPr>
        <p:spPr>
          <a:xfrm>
            <a:off x="9070848" y="4791456"/>
            <a:ext cx="2590495" cy="1335024"/>
          </a:xfrm>
          <a:prstGeom prst="rect">
            <a:avLst/>
          </a:prstGeom>
          <a:noFill/>
          <a:ln/>
        </p:spPr>
        <p:txBody>
          <a:bodyPr wrap="square" lIns="0" tIns="0" rIns="0" bIns="0" rtlCol="0" anchor="ctr"/>
          <a:lstStyle/>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续住费用：单价按房型设定（单/双/四人间 50/25/12 元每天每位），自动筛选超期人员并算续租费用</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租房补贴：按住宿与补贴时长满两年核算，生成发放明细</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宿舍档案：当前与历史入住人员档案，含入住周期、退宿原因、损坏记录</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首页看板：各园区房源、入住率与环比、空置率、水电用量与工单，可下钻</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外协管理（一）：准入—作业—离场全生命周期管理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面向行政后勤主管的物业、食堂、超市、维修等单位，作业可追溯、培训可核查、风险可预警</a:t>
            </a:r>
            <a:endParaRPr lang="en-US" sz="1250" dirty="0"/>
          </a:p>
        </p:txBody>
      </p:sp>
      <p:sp>
        <p:nvSpPr>
          <p:cNvPr id="5" name="Shape 3"/>
          <p:cNvSpPr/>
          <p:nvPr/>
        </p:nvSpPr>
        <p:spPr>
          <a:xfrm>
            <a:off x="530352" y="1207008"/>
            <a:ext cx="1343368" cy="493776"/>
          </a:xfrm>
          <a:prstGeom prst="homePlate">
            <a:avLst/>
          </a:prstGeom>
          <a:solidFill>
            <a:srgbClr val="F97B00"/>
          </a:solidFill>
          <a:ln/>
        </p:spPr>
      </p:sp>
      <p:sp>
        <p:nvSpPr>
          <p:cNvPr id="6" name="Text 4"/>
          <p:cNvSpPr txBox="1"/>
          <p:nvPr/>
        </p:nvSpPr>
        <p:spPr>
          <a:xfrm>
            <a:off x="69155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信息登记</a:t>
            </a:r>
            <a:endParaRPr lang="en-US" sz="1050" dirty="0"/>
          </a:p>
        </p:txBody>
      </p:sp>
      <p:sp>
        <p:nvSpPr>
          <p:cNvPr id="7" name="Shape 5"/>
          <p:cNvSpPr/>
          <p:nvPr/>
        </p:nvSpPr>
        <p:spPr>
          <a:xfrm>
            <a:off x="1928584" y="1207008"/>
            <a:ext cx="1343368" cy="493776"/>
          </a:xfrm>
          <a:prstGeom prst="chevron">
            <a:avLst/>
          </a:prstGeom>
          <a:solidFill>
            <a:srgbClr val="FF9F3D"/>
          </a:solidFill>
          <a:ln/>
        </p:spPr>
      </p:sp>
      <p:sp>
        <p:nvSpPr>
          <p:cNvPr id="8" name="Text 6"/>
          <p:cNvSpPr txBox="1"/>
          <p:nvPr/>
        </p:nvSpPr>
        <p:spPr>
          <a:xfrm>
            <a:off x="208978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资质审核</a:t>
            </a:r>
            <a:endParaRPr lang="en-US" sz="1050" dirty="0"/>
          </a:p>
        </p:txBody>
      </p:sp>
      <p:sp>
        <p:nvSpPr>
          <p:cNvPr id="9" name="Shape 7"/>
          <p:cNvSpPr/>
          <p:nvPr/>
        </p:nvSpPr>
        <p:spPr>
          <a:xfrm>
            <a:off x="3326816" y="1207008"/>
            <a:ext cx="1343368" cy="493776"/>
          </a:xfrm>
          <a:prstGeom prst="chevron">
            <a:avLst/>
          </a:prstGeom>
          <a:solidFill>
            <a:srgbClr val="F97B00"/>
          </a:solidFill>
          <a:ln/>
        </p:spPr>
      </p:sp>
      <p:sp>
        <p:nvSpPr>
          <p:cNvPr id="10" name="Text 8"/>
          <p:cNvSpPr txBox="1"/>
          <p:nvPr/>
        </p:nvSpPr>
        <p:spPr>
          <a:xfrm>
            <a:off x="3488020"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培训考核</a:t>
            </a:r>
            <a:endParaRPr lang="en-US" sz="1050" dirty="0"/>
          </a:p>
        </p:txBody>
      </p:sp>
      <p:sp>
        <p:nvSpPr>
          <p:cNvPr id="11" name="Shape 9"/>
          <p:cNvSpPr/>
          <p:nvPr/>
        </p:nvSpPr>
        <p:spPr>
          <a:xfrm>
            <a:off x="4725048" y="1207008"/>
            <a:ext cx="1343368" cy="493776"/>
          </a:xfrm>
          <a:prstGeom prst="chevron">
            <a:avLst/>
          </a:prstGeom>
          <a:solidFill>
            <a:srgbClr val="FF9F3D"/>
          </a:solidFill>
          <a:ln/>
        </p:spPr>
      </p:sp>
      <p:sp>
        <p:nvSpPr>
          <p:cNvPr id="12" name="Text 10"/>
          <p:cNvSpPr txBox="1"/>
          <p:nvPr/>
        </p:nvSpPr>
        <p:spPr>
          <a:xfrm>
            <a:off x="4886252"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准入审批</a:t>
            </a:r>
            <a:endParaRPr lang="en-US" sz="1050" dirty="0"/>
          </a:p>
        </p:txBody>
      </p:sp>
      <p:sp>
        <p:nvSpPr>
          <p:cNvPr id="13" name="Shape 11"/>
          <p:cNvSpPr/>
          <p:nvPr/>
        </p:nvSpPr>
        <p:spPr>
          <a:xfrm>
            <a:off x="6123280" y="1207008"/>
            <a:ext cx="1343368" cy="493776"/>
          </a:xfrm>
          <a:prstGeom prst="chevron">
            <a:avLst/>
          </a:prstGeom>
          <a:solidFill>
            <a:srgbClr val="F97B00"/>
          </a:solidFill>
          <a:ln/>
        </p:spPr>
      </p:sp>
      <p:sp>
        <p:nvSpPr>
          <p:cNvPr id="14" name="Text 12"/>
          <p:cNvSpPr txBox="1"/>
          <p:nvPr/>
        </p:nvSpPr>
        <p:spPr>
          <a:xfrm>
            <a:off x="6284484"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入场作业</a:t>
            </a:r>
            <a:endParaRPr lang="en-US" sz="1050" dirty="0"/>
          </a:p>
        </p:txBody>
      </p:sp>
      <p:sp>
        <p:nvSpPr>
          <p:cNvPr id="15" name="Shape 13"/>
          <p:cNvSpPr/>
          <p:nvPr/>
        </p:nvSpPr>
        <p:spPr>
          <a:xfrm>
            <a:off x="7521512" y="1207008"/>
            <a:ext cx="1343368" cy="493776"/>
          </a:xfrm>
          <a:prstGeom prst="chevron">
            <a:avLst/>
          </a:prstGeom>
          <a:solidFill>
            <a:srgbClr val="FF9F3D"/>
          </a:solidFill>
          <a:ln/>
        </p:spPr>
      </p:sp>
      <p:sp>
        <p:nvSpPr>
          <p:cNvPr id="16" name="Text 14"/>
          <p:cNvSpPr txBox="1"/>
          <p:nvPr/>
        </p:nvSpPr>
        <p:spPr>
          <a:xfrm>
            <a:off x="768271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行为与考勤</a:t>
            </a:r>
            <a:endParaRPr lang="en-US" sz="1050" dirty="0"/>
          </a:p>
        </p:txBody>
      </p:sp>
      <p:sp>
        <p:nvSpPr>
          <p:cNvPr id="17" name="Shape 15"/>
          <p:cNvSpPr/>
          <p:nvPr/>
        </p:nvSpPr>
        <p:spPr>
          <a:xfrm>
            <a:off x="8919743" y="1207008"/>
            <a:ext cx="1343368" cy="493776"/>
          </a:xfrm>
          <a:prstGeom prst="chevron">
            <a:avLst/>
          </a:prstGeom>
          <a:solidFill>
            <a:srgbClr val="F97B00"/>
          </a:solidFill>
          <a:ln/>
        </p:spPr>
      </p:sp>
      <p:sp>
        <p:nvSpPr>
          <p:cNvPr id="18" name="Text 16"/>
          <p:cNvSpPr txBox="1"/>
          <p:nvPr/>
        </p:nvSpPr>
        <p:spPr>
          <a:xfrm>
            <a:off x="908094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10317975" y="1207008"/>
            <a:ext cx="1343368" cy="493776"/>
          </a:xfrm>
          <a:prstGeom prst="chevron">
            <a:avLst/>
          </a:prstGeom>
          <a:solidFill>
            <a:srgbClr val="FF9F3D"/>
          </a:solidFill>
          <a:ln/>
        </p:spPr>
      </p:sp>
      <p:sp>
        <p:nvSpPr>
          <p:cNvPr id="20" name="Text 18"/>
          <p:cNvSpPr txBox="1"/>
          <p:nvPr/>
        </p:nvSpPr>
        <p:spPr>
          <a:xfrm>
            <a:off x="10479179"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离场归档</a:t>
            </a:r>
            <a:endParaRPr lang="en-US" sz="1050" dirty="0"/>
          </a:p>
        </p:txBody>
      </p:sp>
      <p:sp>
        <p:nvSpPr>
          <p:cNvPr id="21" name="Shape 19"/>
          <p:cNvSpPr/>
          <p:nvPr/>
        </p:nvSpPr>
        <p:spPr>
          <a:xfrm>
            <a:off x="530352"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2048256"/>
            <a:ext cx="3210458" cy="402336"/>
          </a:xfrm>
          <a:prstGeom prst="roundRect">
            <a:avLst>
              <a:gd name="adj" fmla="val 11364"/>
            </a:avLst>
          </a:prstGeom>
          <a:solidFill>
            <a:srgbClr val="F97B00"/>
          </a:solidFill>
          <a:ln/>
        </p:spPr>
      </p:sp>
      <p:sp>
        <p:nvSpPr>
          <p:cNvPr id="23" name="Text 21"/>
          <p:cNvSpPr txBox="1"/>
          <p:nvPr/>
        </p:nvSpPr>
        <p:spPr>
          <a:xfrm>
            <a:off x="713232"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人员信息管理</a:t>
            </a:r>
            <a:endParaRPr lang="en-US" sz="1300" dirty="0"/>
          </a:p>
        </p:txBody>
      </p:sp>
      <p:sp>
        <p:nvSpPr>
          <p:cNvPr id="24" name="Text 22"/>
          <p:cNvSpPr txBox="1"/>
          <p:nvPr/>
        </p:nvSpPr>
        <p:spPr>
          <a:xfrm>
            <a:off x="749808"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批量导入或单条录入：姓名、性别、身份证、联系方式、所属单位、岗位</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身份证与资质证书扫描件在线留存</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外协单位负责人初审 + 公司复审，可批注、退回</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精确与模糊查询、结果导出；已审核信息修改需审批</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离职或合同到期归档仍可查；严重违规经审批后注销并留痕</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黑名单与 EHS、门禁、人力系统打通，全集团禁入</a:t>
            </a:r>
            <a:endParaRPr lang="en-US" sz="1000" dirty="0"/>
          </a:p>
        </p:txBody>
      </p:sp>
      <p:sp>
        <p:nvSpPr>
          <p:cNvPr id="25" name="Shape 23"/>
          <p:cNvSpPr/>
          <p:nvPr/>
        </p:nvSpPr>
        <p:spPr>
          <a:xfrm>
            <a:off x="4307738"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4"/>
          <p:cNvSpPr/>
          <p:nvPr/>
        </p:nvSpPr>
        <p:spPr>
          <a:xfrm>
            <a:off x="4490618" y="2048256"/>
            <a:ext cx="3210458" cy="402336"/>
          </a:xfrm>
          <a:prstGeom prst="roundRect">
            <a:avLst>
              <a:gd name="adj" fmla="val 11364"/>
            </a:avLst>
          </a:prstGeom>
          <a:solidFill>
            <a:srgbClr val="0E2340"/>
          </a:solidFill>
          <a:ln/>
        </p:spPr>
      </p:sp>
      <p:sp>
        <p:nvSpPr>
          <p:cNvPr id="27" name="Text 25"/>
          <p:cNvSpPr txBox="1"/>
          <p:nvPr/>
        </p:nvSpPr>
        <p:spPr>
          <a:xfrm>
            <a:off x="4490618"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准入与考勤管理</a:t>
            </a:r>
            <a:endParaRPr lang="en-US" sz="1300" dirty="0"/>
          </a:p>
        </p:txBody>
      </p:sp>
      <p:sp>
        <p:nvSpPr>
          <p:cNvPr id="28" name="Text 26"/>
          <p:cNvSpPr txBox="1"/>
          <p:nvPr/>
        </p:nvSpPr>
        <p:spPr>
          <a:xfrm>
            <a:off x="4527194"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按岗位设置审核项，证书上传后自动识别有效期并提醒</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标准化课程，线上线下培训，笔试与实操考核合格方可进入下一环节</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资质与培训完成后提交申请，按流程审批，通过后生成电子准入凭证</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支持指纹与手机定位打卡，流动人员可设移动打卡与范围限制</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自动统计出勤、加班、迟到早退，规则可自定义，结果实时更新</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请假与补卡按审批流处理，通过后自动修正考勤结果</a:t>
            </a:r>
            <a:endParaRPr lang="en-US" sz="1000" dirty="0"/>
          </a:p>
        </p:txBody>
      </p:sp>
      <p:sp>
        <p:nvSpPr>
          <p:cNvPr id="29" name="Shape 27"/>
          <p:cNvSpPr/>
          <p:nvPr/>
        </p:nvSpPr>
        <p:spPr>
          <a:xfrm>
            <a:off x="8085125"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8268005" y="2048256"/>
            <a:ext cx="3210458" cy="402336"/>
          </a:xfrm>
          <a:prstGeom prst="roundRect">
            <a:avLst>
              <a:gd name="adj" fmla="val 11364"/>
            </a:avLst>
          </a:prstGeom>
          <a:solidFill>
            <a:srgbClr val="167C80"/>
          </a:solidFill>
          <a:ln/>
        </p:spPr>
      </p:sp>
      <p:sp>
        <p:nvSpPr>
          <p:cNvPr id="31" name="Text 29"/>
          <p:cNvSpPr txBox="1"/>
          <p:nvPr/>
        </p:nvSpPr>
        <p:spPr>
          <a:xfrm>
            <a:off x="8268005"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行为与安全管理</a:t>
            </a:r>
            <a:endParaRPr lang="en-US" sz="1300" dirty="0"/>
          </a:p>
        </p:txBody>
      </p:sp>
      <p:sp>
        <p:nvSpPr>
          <p:cNvPr id="32" name="Text 30"/>
          <p:cNvSpPr txBox="1"/>
          <p:nvPr/>
        </p:nvSpPr>
        <p:spPr>
          <a:xfrm>
            <a:off x="8304581"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建立违规分类与处罚标准，记录详情、证据与处理意见</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违规记录关联单位与个人档案，形成信用档案</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定期开展 360 度行为评估，按岗位设指标并自动生成报告</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课程库 + 个性化培训计划，未达标人员限制进入作业区</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安全检查计划与结果留痕，隐患生成整改通知并复查闭环</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记录事故详情与材料，分析原因并形成案例库</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外协管理（二）：服务质量管理、费用智能测算与物业一体化平台</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把"考核—扣款—结算"打通，替代传统人工 Excel 汇总模式</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服务质量管理与结算联动</a:t>
            </a:r>
            <a:endParaRPr lang="en-US" sz="1250" dirty="0"/>
          </a:p>
        </p:txBody>
      </p:sp>
      <p:sp>
        <p:nvSpPr>
          <p:cNvPr id="7" name="Shape 5"/>
          <p:cNvSpPr/>
          <p:nvPr/>
        </p:nvSpPr>
        <p:spPr>
          <a:xfrm>
            <a:off x="530352" y="1517904"/>
            <a:ext cx="553212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17904"/>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评价指标设置</a:t>
            </a:r>
            <a:endParaRPr lang="en-US" sz="1000" dirty="0"/>
          </a:p>
        </p:txBody>
      </p:sp>
      <p:sp>
        <p:nvSpPr>
          <p:cNvPr id="9" name="Text 7"/>
          <p:cNvSpPr txBox="1"/>
          <p:nvPr/>
        </p:nvSpPr>
        <p:spPr>
          <a:xfrm>
            <a:off x="2084832" y="1517904"/>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按物业、食堂、超市、施工单位分别设指标，明确权重与评分等级</a:t>
            </a:r>
            <a:endParaRPr lang="en-US" sz="1000" dirty="0"/>
          </a:p>
        </p:txBody>
      </p:sp>
      <p:sp>
        <p:nvSpPr>
          <p:cNvPr id="10" name="Shape 8"/>
          <p:cNvSpPr/>
          <p:nvPr/>
        </p:nvSpPr>
        <p:spPr>
          <a:xfrm>
            <a:off x="530352" y="2121408"/>
            <a:ext cx="553212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21408"/>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评价数据录入</a:t>
            </a:r>
            <a:endParaRPr lang="en-US" sz="1000" dirty="0"/>
          </a:p>
        </p:txBody>
      </p:sp>
      <p:sp>
        <p:nvSpPr>
          <p:cNvPr id="12" name="Text 10"/>
          <p:cNvSpPr txBox="1"/>
          <p:nvPr/>
        </p:nvSpPr>
        <p:spPr>
          <a:xfrm>
            <a:off x="2084832" y="2121408"/>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内外部多渠道评价（员工扫码、巡检关联），支持匿名，自动验证去重</a:t>
            </a:r>
            <a:endParaRPr lang="en-US" sz="1000" dirty="0"/>
          </a:p>
        </p:txBody>
      </p:sp>
      <p:sp>
        <p:nvSpPr>
          <p:cNvPr id="13" name="Shape 11"/>
          <p:cNvSpPr/>
          <p:nvPr/>
        </p:nvSpPr>
        <p:spPr>
          <a:xfrm>
            <a:off x="530352" y="2724912"/>
            <a:ext cx="553212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24912"/>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评价结果分析</a:t>
            </a:r>
            <a:endParaRPr lang="en-US" sz="1000" dirty="0"/>
          </a:p>
        </p:txBody>
      </p:sp>
      <p:sp>
        <p:nvSpPr>
          <p:cNvPr id="15" name="Text 13"/>
          <p:cNvSpPr txBox="1"/>
          <p:nvPr/>
        </p:nvSpPr>
        <p:spPr>
          <a:xfrm>
            <a:off x="2084832" y="2724912"/>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生成评价报表，对比分析并反馈单位，跟踪改进效果</a:t>
            </a:r>
            <a:endParaRPr lang="en-US" sz="1000" dirty="0"/>
          </a:p>
        </p:txBody>
      </p:sp>
      <p:sp>
        <p:nvSpPr>
          <p:cNvPr id="16" name="Shape 14"/>
          <p:cNvSpPr/>
          <p:nvPr/>
        </p:nvSpPr>
        <p:spPr>
          <a:xfrm>
            <a:off x="530352" y="3328416"/>
            <a:ext cx="553212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28416"/>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结算管理</a:t>
            </a:r>
            <a:endParaRPr lang="en-US" sz="1000" dirty="0"/>
          </a:p>
        </p:txBody>
      </p:sp>
      <p:sp>
        <p:nvSpPr>
          <p:cNvPr id="18" name="Text 16"/>
          <p:cNvSpPr txBox="1"/>
          <p:nvPr/>
        </p:nvSpPr>
        <p:spPr>
          <a:xfrm>
            <a:off x="2084832" y="3328416"/>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按得分、考勤、处罚周期性计算结算金额，形成账单与明细</a:t>
            </a:r>
            <a:endParaRPr lang="en-US" sz="1000" dirty="0"/>
          </a:p>
        </p:txBody>
      </p:sp>
      <p:sp>
        <p:nvSpPr>
          <p:cNvPr id="19" name="Shape 17"/>
          <p:cNvSpPr/>
          <p:nvPr/>
        </p:nvSpPr>
        <p:spPr>
          <a:xfrm>
            <a:off x="530352" y="3931920"/>
            <a:ext cx="553212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31920"/>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服务监管</a:t>
            </a:r>
            <a:endParaRPr lang="en-US" sz="1000" dirty="0"/>
          </a:p>
        </p:txBody>
      </p:sp>
      <p:sp>
        <p:nvSpPr>
          <p:cNvPr id="21" name="Text 19"/>
          <p:cNvSpPr txBox="1"/>
          <p:nvPr/>
        </p:nvSpPr>
        <p:spPr>
          <a:xfrm>
            <a:off x="2084832" y="3931920"/>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监控响应及时率与解决率，不达标自动预警并纳入考核</a:t>
            </a:r>
            <a:endParaRPr lang="en-US" sz="1000" dirty="0"/>
          </a:p>
        </p:txBody>
      </p:sp>
      <p:sp>
        <p:nvSpPr>
          <p:cNvPr id="22" name="Shape 20"/>
          <p:cNvSpPr/>
          <p:nvPr/>
        </p:nvSpPr>
        <p:spPr>
          <a:xfrm>
            <a:off x="530352" y="4480560"/>
            <a:ext cx="5532120" cy="1664208"/>
          </a:xfrm>
          <a:prstGeom prst="roundRect">
            <a:avLst>
              <a:gd name="adj" fmla="val 1923"/>
            </a:avLst>
          </a:prstGeom>
          <a:solidFill>
            <a:srgbClr val="0E2340"/>
          </a:solidFill>
          <a:ln/>
        </p:spPr>
      </p:sp>
      <p:sp>
        <p:nvSpPr>
          <p:cNvPr id="23" name="Text 21"/>
          <p:cNvSpPr txBox="1"/>
          <p:nvPr/>
        </p:nvSpPr>
        <p:spPr>
          <a:xfrm>
            <a:off x="731520" y="4572000"/>
            <a:ext cx="310896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考核 — 扣款 — 结算 闭环</a:t>
            </a:r>
            <a:endParaRPr lang="en-US" sz="1150" dirty="0"/>
          </a:p>
        </p:txBody>
      </p:sp>
      <p:sp>
        <p:nvSpPr>
          <p:cNvPr id="24" name="Text 22"/>
          <p:cNvSpPr txBox="1"/>
          <p:nvPr/>
        </p:nvSpPr>
        <p:spPr>
          <a:xfrm>
            <a:off x="731520" y="4846320"/>
            <a:ext cx="5138928" cy="1225296"/>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出勤天数、超龄扣款、迟到早退、服务时长折算等规则内置，自动判定与扣款；扣款明细自动汇总至费用总表。所有计算基于源头数据，可追溯、可复核。奖励项与合同履约结果一并登记，形成完整的服务商绩效档案。</a:t>
            </a:r>
            <a:endParaRPr lang="en-US" sz="1000" dirty="0"/>
          </a:p>
        </p:txBody>
      </p:sp>
      <p:sp>
        <p:nvSpPr>
          <p:cNvPr id="25" name="Shape 23"/>
          <p:cNvSpPr/>
          <p:nvPr/>
        </p:nvSpPr>
        <p:spPr>
          <a:xfrm>
            <a:off x="6309360" y="1257300"/>
            <a:ext cx="68580" cy="173736"/>
          </a:xfrm>
          <a:prstGeom prst="rect">
            <a:avLst/>
          </a:prstGeom>
          <a:solidFill>
            <a:srgbClr val="F97B00"/>
          </a:solidFill>
          <a:ln/>
        </p:spPr>
      </p:sp>
      <p:sp>
        <p:nvSpPr>
          <p:cNvPr id="26" name="Text 2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费用智能化测算系统</a:t>
            </a:r>
            <a:endParaRPr lang="en-US" sz="1250" dirty="0"/>
          </a:p>
        </p:txBody>
      </p:sp>
      <p:sp>
        <p:nvSpPr>
          <p:cNvPr id="27" name="Shape 25"/>
          <p:cNvSpPr/>
          <p:nvPr/>
        </p:nvSpPr>
        <p:spPr>
          <a:xfrm>
            <a:off x="6309360" y="1517904"/>
            <a:ext cx="5351983" cy="749808"/>
          </a:xfrm>
          <a:prstGeom prst="roundRect">
            <a:avLst>
              <a:gd name="adj" fmla="val 4268"/>
            </a:avLst>
          </a:prstGeom>
          <a:solidFill>
            <a:srgbClr val="FFF7EF"/>
          </a:solidFill>
          <a:ln w="9525">
            <a:solidFill>
              <a:srgbClr val="F6DCC2"/>
            </a:solidFill>
            <a:prstDash val="solid"/>
          </a:ln>
        </p:spPr>
      </p:sp>
      <p:sp>
        <p:nvSpPr>
          <p:cNvPr id="28" name="Text 26"/>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数据接入与自动生成</a:t>
            </a:r>
            <a:endParaRPr lang="en-US" sz="1080" dirty="0"/>
          </a:p>
        </p:txBody>
      </p:sp>
      <p:sp>
        <p:nvSpPr>
          <p:cNvPr id="29" name="Text 27"/>
          <p:cNvSpPr txBox="1"/>
          <p:nvPr/>
        </p:nvSpPr>
        <p:spPr>
          <a:xfrm>
            <a:off x="6492240" y="181051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自动同步钉钉考勤原始数据，生成考勤终表、人员花名册、服务明细与费用汇总表；整合门禁记录、物资代采明细与考核评分</a:t>
            </a:r>
            <a:endParaRPr lang="en-US" sz="1000" dirty="0"/>
          </a:p>
        </p:txBody>
      </p:sp>
      <p:sp>
        <p:nvSpPr>
          <p:cNvPr id="30" name="Shape 28"/>
          <p:cNvSpPr/>
          <p:nvPr/>
        </p:nvSpPr>
        <p:spPr>
          <a:xfrm>
            <a:off x="6309360" y="2340864"/>
            <a:ext cx="5351983" cy="749808"/>
          </a:xfrm>
          <a:prstGeom prst="roundRect">
            <a:avLst>
              <a:gd name="adj" fmla="val 4268"/>
            </a:avLst>
          </a:prstGeom>
          <a:solidFill>
            <a:srgbClr val="FFF7EF"/>
          </a:solidFill>
          <a:ln w="9525">
            <a:solidFill>
              <a:srgbClr val="F6DCC2"/>
            </a:solidFill>
            <a:prstDash val="solid"/>
          </a:ln>
        </p:spPr>
      </p:sp>
      <p:sp>
        <p:nvSpPr>
          <p:cNvPr id="31" name="Text 29"/>
          <p:cNvSpPr txBox="1"/>
          <p:nvPr/>
        </p:nvSpPr>
        <p:spPr>
          <a:xfrm>
            <a:off x="6492240" y="239572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流程协作</a:t>
            </a:r>
            <a:endParaRPr lang="en-US" sz="1080" dirty="0"/>
          </a:p>
        </p:txBody>
      </p:sp>
      <p:sp>
        <p:nvSpPr>
          <p:cNvPr id="32" name="Text 30"/>
          <p:cNvSpPr txBox="1"/>
          <p:nvPr/>
        </p:nvSpPr>
        <p:spPr>
          <a:xfrm>
            <a:off x="6492240" y="263347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配套服务线上申请与审批，流程结束自动同步至费用结算表；物业服务按月考核，评分自动关联结算金额</a:t>
            </a:r>
            <a:endParaRPr lang="en-US" sz="1000" dirty="0"/>
          </a:p>
        </p:txBody>
      </p:sp>
      <p:sp>
        <p:nvSpPr>
          <p:cNvPr id="33" name="Shape 31"/>
          <p:cNvSpPr/>
          <p:nvPr/>
        </p:nvSpPr>
        <p:spPr>
          <a:xfrm>
            <a:off x="6309360" y="3163824"/>
            <a:ext cx="5351983" cy="749808"/>
          </a:xfrm>
          <a:prstGeom prst="roundRect">
            <a:avLst>
              <a:gd name="adj" fmla="val 4268"/>
            </a:avLst>
          </a:prstGeom>
          <a:solidFill>
            <a:srgbClr val="FFF7EF"/>
          </a:solidFill>
          <a:ln w="9525">
            <a:solidFill>
              <a:srgbClr val="F6DCC2"/>
            </a:solidFill>
            <a:prstDash val="solid"/>
          </a:ln>
        </p:spPr>
      </p:sp>
      <p:sp>
        <p:nvSpPr>
          <p:cNvPr id="34" name="Text 32"/>
          <p:cNvSpPr txBox="1"/>
          <p:nvPr/>
        </p:nvSpPr>
        <p:spPr>
          <a:xfrm>
            <a:off x="6492240" y="321868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审批视图与看板</a:t>
            </a:r>
            <a:endParaRPr lang="en-US" sz="1080" dirty="0"/>
          </a:p>
        </p:txBody>
      </p:sp>
      <p:sp>
        <p:nvSpPr>
          <p:cNvPr id="35" name="Text 33"/>
          <p:cNvSpPr txBox="1"/>
          <p:nvPr/>
        </p:nvSpPr>
        <p:spPr>
          <a:xfrm>
            <a:off x="6492240" y="345643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审批看板提供费用总览、环比分析与异常波动提示；报表支持导出与归档</a:t>
            </a:r>
            <a:endParaRPr lang="en-US" sz="1000" dirty="0"/>
          </a:p>
        </p:txBody>
      </p:sp>
      <p:sp>
        <p:nvSpPr>
          <p:cNvPr id="36" name="Shape 34"/>
          <p:cNvSpPr/>
          <p:nvPr/>
        </p:nvSpPr>
        <p:spPr>
          <a:xfrm>
            <a:off x="6309360" y="4055364"/>
            <a:ext cx="68580" cy="173736"/>
          </a:xfrm>
          <a:prstGeom prst="rect">
            <a:avLst/>
          </a:prstGeom>
          <a:solidFill>
            <a:srgbClr val="F97B00"/>
          </a:solidFill>
          <a:ln/>
        </p:spPr>
      </p:sp>
      <p:sp>
        <p:nvSpPr>
          <p:cNvPr id="37" name="Text 35"/>
          <p:cNvSpPr txBox="1"/>
          <p:nvPr/>
        </p:nvSpPr>
        <p:spPr>
          <a:xfrm>
            <a:off x="6464808" y="4005072"/>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物业工作一体化数字平台 + 多渠道统一服务入口</a:t>
            </a:r>
            <a:endParaRPr lang="en-US" sz="1250" dirty="0"/>
          </a:p>
        </p:txBody>
      </p:sp>
      <p:sp>
        <p:nvSpPr>
          <p:cNvPr id="38" name="Shape 36"/>
          <p:cNvSpPr/>
          <p:nvPr/>
        </p:nvSpPr>
        <p:spPr>
          <a:xfrm>
            <a:off x="6309360" y="4315968"/>
            <a:ext cx="5351983" cy="420624"/>
          </a:xfrm>
          <a:prstGeom prst="roundRect">
            <a:avLst>
              <a:gd name="adj" fmla="val 7609"/>
            </a:avLst>
          </a:prstGeom>
          <a:solidFill>
            <a:srgbClr val="F6F8FA"/>
          </a:solidFill>
          <a:ln w="9525">
            <a:solidFill>
              <a:srgbClr val="E3E7EB"/>
            </a:solidFill>
            <a:prstDash val="solid"/>
          </a:ln>
        </p:spPr>
      </p:sp>
      <p:sp>
        <p:nvSpPr>
          <p:cNvPr id="39" name="Text 37"/>
          <p:cNvSpPr txBox="1"/>
          <p:nvPr/>
        </p:nvSpPr>
        <p:spPr>
          <a:xfrm>
            <a:off x="6492240" y="43159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智能巡检与工单闭环</a:t>
            </a:r>
            <a:endParaRPr lang="en-US" sz="1000" dirty="0"/>
          </a:p>
        </p:txBody>
      </p:sp>
      <p:sp>
        <p:nvSpPr>
          <p:cNvPr id="40" name="Text 38"/>
          <p:cNvSpPr txBox="1"/>
          <p:nvPr/>
        </p:nvSpPr>
        <p:spPr>
          <a:xfrm>
            <a:off x="8028432" y="43159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钉钉推送巡检任务与打卡拍照；AI 辅助派单；完成率与时长热力图</a:t>
            </a:r>
            <a:endParaRPr lang="en-US" sz="1000" dirty="0"/>
          </a:p>
        </p:txBody>
      </p:sp>
      <p:sp>
        <p:nvSpPr>
          <p:cNvPr id="41" name="Shape 39"/>
          <p:cNvSpPr/>
          <p:nvPr/>
        </p:nvSpPr>
        <p:spPr>
          <a:xfrm>
            <a:off x="6309360" y="4773168"/>
            <a:ext cx="5351983" cy="420624"/>
          </a:xfrm>
          <a:prstGeom prst="roundRect">
            <a:avLst>
              <a:gd name="adj" fmla="val 7609"/>
            </a:avLst>
          </a:prstGeom>
          <a:solidFill>
            <a:srgbClr val="FFFFFF"/>
          </a:solidFill>
          <a:ln w="9525">
            <a:solidFill>
              <a:srgbClr val="E3E7EB"/>
            </a:solidFill>
            <a:prstDash val="solid"/>
          </a:ln>
        </p:spPr>
      </p:sp>
      <p:sp>
        <p:nvSpPr>
          <p:cNvPr id="42" name="Text 40"/>
          <p:cNvSpPr txBox="1"/>
          <p:nvPr/>
        </p:nvSpPr>
        <p:spPr>
          <a:xfrm>
            <a:off x="6492240" y="47731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计划与培训知识库</a:t>
            </a:r>
            <a:endParaRPr lang="en-US" sz="1000" dirty="0"/>
          </a:p>
        </p:txBody>
      </p:sp>
      <p:sp>
        <p:nvSpPr>
          <p:cNvPr id="43" name="Text 41"/>
          <p:cNvSpPr txBox="1"/>
          <p:nvPr/>
        </p:nvSpPr>
        <p:spPr>
          <a:xfrm>
            <a:off x="8028432" y="47731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模板化工作计划与甘特看板、逾期预警；在线培训考试与 SOP 知识库</a:t>
            </a:r>
            <a:endParaRPr lang="en-US" sz="1000" dirty="0"/>
          </a:p>
        </p:txBody>
      </p:sp>
      <p:sp>
        <p:nvSpPr>
          <p:cNvPr id="44" name="Shape 42"/>
          <p:cNvSpPr/>
          <p:nvPr/>
        </p:nvSpPr>
        <p:spPr>
          <a:xfrm>
            <a:off x="6309360" y="5230368"/>
            <a:ext cx="5351983" cy="420624"/>
          </a:xfrm>
          <a:prstGeom prst="roundRect">
            <a:avLst>
              <a:gd name="adj" fmla="val 7609"/>
            </a:avLst>
          </a:prstGeom>
          <a:solidFill>
            <a:srgbClr val="F6F8FA"/>
          </a:solidFill>
          <a:ln w="9525">
            <a:solidFill>
              <a:srgbClr val="E3E7EB"/>
            </a:solidFill>
            <a:prstDash val="solid"/>
          </a:ln>
        </p:spPr>
      </p:sp>
      <p:sp>
        <p:nvSpPr>
          <p:cNvPr id="45" name="Text 43"/>
          <p:cNvSpPr txBox="1"/>
          <p:nvPr/>
        </p:nvSpPr>
        <p:spPr>
          <a:xfrm>
            <a:off x="6492240" y="52303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多渠道服务请求入口</a:t>
            </a:r>
            <a:endParaRPr lang="en-US" sz="1000" dirty="0"/>
          </a:p>
        </p:txBody>
      </p:sp>
      <p:sp>
        <p:nvSpPr>
          <p:cNvPr id="46" name="Text 44"/>
          <p:cNvSpPr txBox="1"/>
          <p:nvPr/>
        </p:nvSpPr>
        <p:spPr>
          <a:xfrm>
            <a:off x="8028432" y="52303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钉钉、企业微信、PC 门户、扫码多入口；语音转工单，自动派单 + 人工辅助；进度可查、轨迹留痕</a:t>
            </a:r>
            <a:endParaRPr lang="en-US" sz="1000" dirty="0"/>
          </a:p>
        </p:txBody>
      </p:sp>
      <p:sp>
        <p:nvSpPr>
          <p:cNvPr id="47" name="Shape 45"/>
          <p:cNvSpPr/>
          <p:nvPr/>
        </p:nvSpPr>
        <p:spPr>
          <a:xfrm>
            <a:off x="6309360" y="5687568"/>
            <a:ext cx="5351983" cy="420624"/>
          </a:xfrm>
          <a:prstGeom prst="roundRect">
            <a:avLst>
              <a:gd name="adj" fmla="val 7609"/>
            </a:avLst>
          </a:prstGeom>
          <a:solidFill>
            <a:srgbClr val="FFFFFF"/>
          </a:solidFill>
          <a:ln w="9525">
            <a:solidFill>
              <a:srgbClr val="E3E7EB"/>
            </a:solidFill>
            <a:prstDash val="solid"/>
          </a:ln>
        </p:spPr>
      </p:sp>
      <p:sp>
        <p:nvSpPr>
          <p:cNvPr id="48" name="Text 46"/>
          <p:cNvSpPr txBox="1"/>
          <p:nvPr/>
        </p:nvSpPr>
        <p:spPr>
          <a:xfrm>
            <a:off x="6492240" y="56875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满意度与数据看板</a:t>
            </a:r>
            <a:endParaRPr lang="en-US" sz="1000" dirty="0"/>
          </a:p>
        </p:txBody>
      </p:sp>
      <p:sp>
        <p:nvSpPr>
          <p:cNvPr id="49" name="Text 47"/>
          <p:cNvSpPr txBox="1"/>
          <p:nvPr/>
        </p:nvSpPr>
        <p:spPr>
          <a:xfrm>
            <a:off x="8028432" y="56875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一键评价响应、态度与质量；差评自动触发回访；满意度关联绩效；SLA 趋势分析</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移动及多屏应用：一次建设、多端可用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PC / 手机 / PDA / PAD / 电视机多载体，报表与工单全面移动化</a:t>
            </a:r>
            <a:endParaRPr lang="en-US" sz="1250" dirty="0"/>
          </a:p>
        </p:txBody>
      </p:sp>
      <p:sp>
        <p:nvSpPr>
          <p:cNvPr id="5" name="Shape 3"/>
          <p:cNvSpPr/>
          <p:nvPr/>
        </p:nvSpPr>
        <p:spPr>
          <a:xfrm>
            <a:off x="530352"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288664" y="1408176"/>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436797" y="1556309"/>
            <a:ext cx="252374" cy="252374"/>
          </a:xfrm>
          <a:prstGeom prst="rect">
            <a:avLst/>
          </a:prstGeom>
        </p:spPr>
      </p:pic>
      <p:sp>
        <p:nvSpPr>
          <p:cNvPr id="8" name="Text 5"/>
          <p:cNvSpPr txBox="1"/>
          <p:nvPr/>
        </p:nvSpPr>
        <p:spPr>
          <a:xfrm>
            <a:off x="640080"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PC 门户</a:t>
            </a:r>
            <a:endParaRPr lang="en-US" sz="1250" dirty="0"/>
          </a:p>
        </p:txBody>
      </p:sp>
      <p:sp>
        <p:nvSpPr>
          <p:cNvPr id="9" name="Text 6"/>
          <p:cNvSpPr txBox="1"/>
          <p:nvPr/>
        </p:nvSpPr>
        <p:spPr>
          <a:xfrm>
            <a:off x="694944"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管理端全功能：配置、审批、报表、驾驶舱</a:t>
            </a:r>
            <a:endParaRPr lang="en-US" sz="1000" dirty="0"/>
          </a:p>
        </p:txBody>
      </p:sp>
      <p:sp>
        <p:nvSpPr>
          <p:cNvPr id="10" name="Shape 7"/>
          <p:cNvSpPr/>
          <p:nvPr/>
        </p:nvSpPr>
        <p:spPr>
          <a:xfrm>
            <a:off x="2796784"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3555096" y="1408176"/>
            <a:ext cx="548640" cy="548640"/>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3703229" y="1556309"/>
            <a:ext cx="252374" cy="252374"/>
          </a:xfrm>
          <a:prstGeom prst="rect">
            <a:avLst/>
          </a:prstGeom>
        </p:spPr>
      </p:pic>
      <p:sp>
        <p:nvSpPr>
          <p:cNvPr id="13" name="Text 9"/>
          <p:cNvSpPr txBox="1"/>
          <p:nvPr/>
        </p:nvSpPr>
        <p:spPr>
          <a:xfrm>
            <a:off x="2906512"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钉钉 iSungrow</a:t>
            </a:r>
            <a:endParaRPr lang="en-US" sz="1250" dirty="0"/>
          </a:p>
        </p:txBody>
      </p:sp>
      <p:sp>
        <p:nvSpPr>
          <p:cNvPr id="14" name="Text 10"/>
          <p:cNvSpPr txBox="1"/>
          <p:nvPr/>
        </p:nvSpPr>
        <p:spPr>
          <a:xfrm>
            <a:off x="2961376"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工作台入口、消息推送、待办审批、扫码填报</a:t>
            </a:r>
            <a:endParaRPr lang="en-US" sz="1000" dirty="0"/>
          </a:p>
        </p:txBody>
      </p:sp>
      <p:sp>
        <p:nvSpPr>
          <p:cNvPr id="15" name="Shape 11"/>
          <p:cNvSpPr/>
          <p:nvPr/>
        </p:nvSpPr>
        <p:spPr>
          <a:xfrm>
            <a:off x="5063216"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5821528" y="1408176"/>
            <a:ext cx="548640" cy="548640"/>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5969660" y="1556309"/>
            <a:ext cx="252374" cy="252374"/>
          </a:xfrm>
          <a:prstGeom prst="rect">
            <a:avLst/>
          </a:prstGeom>
        </p:spPr>
      </p:pic>
      <p:sp>
        <p:nvSpPr>
          <p:cNvPr id="18" name="Text 13"/>
          <p:cNvSpPr txBox="1"/>
          <p:nvPr/>
        </p:nvSpPr>
        <p:spPr>
          <a:xfrm>
            <a:off x="5172944"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移动 APP / 小程序</a:t>
            </a:r>
            <a:endParaRPr lang="en-US" sz="1250" dirty="0"/>
          </a:p>
        </p:txBody>
      </p:sp>
      <p:sp>
        <p:nvSpPr>
          <p:cNvPr id="19" name="Text 14"/>
          <p:cNvSpPr txBox="1"/>
          <p:nvPr/>
        </p:nvSpPr>
        <p:spPr>
          <a:xfrm>
            <a:off x="5227808"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司机预约、员工报修、一键报警、评价反馈</a:t>
            </a:r>
            <a:endParaRPr lang="en-US" sz="1000" dirty="0"/>
          </a:p>
        </p:txBody>
      </p:sp>
      <p:sp>
        <p:nvSpPr>
          <p:cNvPr id="20" name="Shape 15"/>
          <p:cNvSpPr/>
          <p:nvPr/>
        </p:nvSpPr>
        <p:spPr>
          <a:xfrm>
            <a:off x="7329648"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8087959" y="1408176"/>
            <a:ext cx="548640" cy="548640"/>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236092" y="1556309"/>
            <a:ext cx="252374" cy="252374"/>
          </a:xfrm>
          <a:prstGeom prst="rect">
            <a:avLst/>
          </a:prstGeom>
        </p:spPr>
      </p:pic>
      <p:sp>
        <p:nvSpPr>
          <p:cNvPr id="23" name="Text 17"/>
          <p:cNvSpPr txBox="1"/>
          <p:nvPr/>
        </p:nvSpPr>
        <p:spPr>
          <a:xfrm>
            <a:off x="7439376"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PDA / PAD / 手表手环</a:t>
            </a:r>
            <a:endParaRPr lang="en-US" sz="1250" dirty="0"/>
          </a:p>
        </p:txBody>
      </p:sp>
      <p:sp>
        <p:nvSpPr>
          <p:cNvPr id="24" name="Text 18"/>
          <p:cNvSpPr txBox="1"/>
          <p:nvPr/>
        </p:nvSpPr>
        <p:spPr>
          <a:xfrm>
            <a:off x="7494240"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现场点位与设备条码扫码、信息录入、巡检打卡</a:t>
            </a:r>
            <a:endParaRPr lang="en-US" sz="1000" dirty="0"/>
          </a:p>
        </p:txBody>
      </p:sp>
      <p:sp>
        <p:nvSpPr>
          <p:cNvPr id="25" name="Shape 19"/>
          <p:cNvSpPr/>
          <p:nvPr/>
        </p:nvSpPr>
        <p:spPr>
          <a:xfrm>
            <a:off x="9596079"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10354391" y="1408176"/>
            <a:ext cx="548640" cy="548640"/>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10502524" y="1556309"/>
            <a:ext cx="252374" cy="252374"/>
          </a:xfrm>
          <a:prstGeom prst="rect">
            <a:avLst/>
          </a:prstGeom>
        </p:spPr>
      </p:pic>
      <p:sp>
        <p:nvSpPr>
          <p:cNvPr id="28" name="Text 21"/>
          <p:cNvSpPr txBox="1"/>
          <p:nvPr/>
        </p:nvSpPr>
        <p:spPr>
          <a:xfrm>
            <a:off x="9705807"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大屏 / 电视机</a:t>
            </a:r>
            <a:endParaRPr lang="en-US" sz="1250" dirty="0"/>
          </a:p>
        </p:txBody>
      </p:sp>
      <p:sp>
        <p:nvSpPr>
          <p:cNvPr id="29" name="Text 22"/>
          <p:cNvSpPr txBox="1"/>
          <p:nvPr/>
        </p:nvSpPr>
        <p:spPr>
          <a:xfrm>
            <a:off x="9760671"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园区级、楼栋级、工位级三级看板轮播</a:t>
            </a:r>
            <a:endParaRPr lang="en-US" sz="1000" dirty="0"/>
          </a:p>
        </p:txBody>
      </p:sp>
      <p:sp>
        <p:nvSpPr>
          <p:cNvPr id="30" name="Shape 23"/>
          <p:cNvSpPr/>
          <p:nvPr/>
        </p:nvSpPr>
        <p:spPr>
          <a:xfrm>
            <a:off x="530352" y="3195828"/>
            <a:ext cx="68580" cy="173736"/>
          </a:xfrm>
          <a:prstGeom prst="rect">
            <a:avLst/>
          </a:prstGeom>
          <a:solidFill>
            <a:srgbClr val="F97B00"/>
          </a:solidFill>
          <a:ln/>
        </p:spPr>
      </p:sp>
      <p:sp>
        <p:nvSpPr>
          <p:cNvPr id="31" name="Text 24"/>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消息智能推送策略</a:t>
            </a:r>
            <a:endParaRPr lang="en-US" sz="1250" dirty="0"/>
          </a:p>
        </p:txBody>
      </p:sp>
      <p:sp>
        <p:nvSpPr>
          <p:cNvPr id="32" name="Shape 25"/>
          <p:cNvSpPr/>
          <p:nvPr/>
        </p:nvSpPr>
        <p:spPr>
          <a:xfrm>
            <a:off x="530352" y="3474720"/>
            <a:ext cx="5486400" cy="493776"/>
          </a:xfrm>
          <a:prstGeom prst="roundRect">
            <a:avLst>
              <a:gd name="adj" fmla="val 6481"/>
            </a:avLst>
          </a:prstGeom>
          <a:solidFill>
            <a:srgbClr val="FFF7EF"/>
          </a:solidFill>
          <a:ln w="9525">
            <a:solidFill>
              <a:srgbClr val="EEDFD0"/>
            </a:solidFill>
            <a:prstDash val="solid"/>
          </a:ln>
        </p:spPr>
      </p:sp>
      <p:sp>
        <p:nvSpPr>
          <p:cNvPr id="33" name="Text 26"/>
          <p:cNvSpPr txBox="1"/>
          <p:nvPr/>
        </p:nvSpPr>
        <p:spPr>
          <a:xfrm>
            <a:off x="713232" y="3474720"/>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任务提醒</a:t>
            </a:r>
            <a:endParaRPr lang="en-US" sz="1050" dirty="0"/>
          </a:p>
        </p:txBody>
      </p:sp>
      <p:sp>
        <p:nvSpPr>
          <p:cNvPr id="34" name="Text 27"/>
          <p:cNvSpPr txBox="1"/>
          <p:nvPr/>
        </p:nvSpPr>
        <p:spPr>
          <a:xfrm>
            <a:off x="2048256" y="3474720"/>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巡检、维保、培训到期自动提醒责任人</a:t>
            </a:r>
            <a:endParaRPr lang="en-US" sz="1000" dirty="0"/>
          </a:p>
        </p:txBody>
      </p:sp>
      <p:sp>
        <p:nvSpPr>
          <p:cNvPr id="35" name="Shape 28"/>
          <p:cNvSpPr/>
          <p:nvPr/>
        </p:nvSpPr>
        <p:spPr>
          <a:xfrm>
            <a:off x="530352" y="4041648"/>
            <a:ext cx="5486400" cy="493776"/>
          </a:xfrm>
          <a:prstGeom prst="roundRect">
            <a:avLst>
              <a:gd name="adj" fmla="val 6481"/>
            </a:avLst>
          </a:prstGeom>
          <a:solidFill>
            <a:srgbClr val="FFFFFF"/>
          </a:solidFill>
          <a:ln w="9525">
            <a:solidFill>
              <a:srgbClr val="EEDFD0"/>
            </a:solidFill>
            <a:prstDash val="solid"/>
          </a:ln>
        </p:spPr>
      </p:sp>
      <p:sp>
        <p:nvSpPr>
          <p:cNvPr id="36" name="Text 29"/>
          <p:cNvSpPr txBox="1"/>
          <p:nvPr/>
        </p:nvSpPr>
        <p:spPr>
          <a:xfrm>
            <a:off x="713232" y="4041648"/>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工单派发</a:t>
            </a:r>
            <a:endParaRPr lang="en-US" sz="1050" dirty="0"/>
          </a:p>
        </p:txBody>
      </p:sp>
      <p:sp>
        <p:nvSpPr>
          <p:cNvPr id="37" name="Text 30"/>
          <p:cNvSpPr txBox="1"/>
          <p:nvPr/>
        </p:nvSpPr>
        <p:spPr>
          <a:xfrm>
            <a:off x="2048256" y="4041648"/>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派单、出发、完成节点自动通知发起人与处理人</a:t>
            </a:r>
            <a:endParaRPr lang="en-US" sz="1000" dirty="0"/>
          </a:p>
        </p:txBody>
      </p:sp>
      <p:sp>
        <p:nvSpPr>
          <p:cNvPr id="38" name="Shape 31"/>
          <p:cNvSpPr/>
          <p:nvPr/>
        </p:nvSpPr>
        <p:spPr>
          <a:xfrm>
            <a:off x="530352" y="4608576"/>
            <a:ext cx="5486400" cy="493776"/>
          </a:xfrm>
          <a:prstGeom prst="roundRect">
            <a:avLst>
              <a:gd name="adj" fmla="val 6481"/>
            </a:avLst>
          </a:prstGeom>
          <a:solidFill>
            <a:srgbClr val="FFF7EF"/>
          </a:solidFill>
          <a:ln w="9525">
            <a:solidFill>
              <a:srgbClr val="EEDFD0"/>
            </a:solidFill>
            <a:prstDash val="solid"/>
          </a:ln>
        </p:spPr>
      </p:sp>
      <p:sp>
        <p:nvSpPr>
          <p:cNvPr id="39" name="Text 32"/>
          <p:cNvSpPr txBox="1"/>
          <p:nvPr/>
        </p:nvSpPr>
        <p:spPr>
          <a:xfrm>
            <a:off x="713232" y="4608576"/>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审批待办</a:t>
            </a:r>
            <a:endParaRPr lang="en-US" sz="1050" dirty="0"/>
          </a:p>
        </p:txBody>
      </p:sp>
      <p:sp>
        <p:nvSpPr>
          <p:cNvPr id="40" name="Text 33"/>
          <p:cNvSpPr txBox="1"/>
          <p:nvPr/>
        </p:nvSpPr>
        <p:spPr>
          <a:xfrm>
            <a:off x="2048256" y="4608576"/>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预约、准入、调寝、延期等待办直达审批人</a:t>
            </a:r>
            <a:endParaRPr lang="en-US" sz="1000" dirty="0"/>
          </a:p>
        </p:txBody>
      </p:sp>
      <p:sp>
        <p:nvSpPr>
          <p:cNvPr id="41" name="Shape 34"/>
          <p:cNvSpPr/>
          <p:nvPr/>
        </p:nvSpPr>
        <p:spPr>
          <a:xfrm>
            <a:off x="530352" y="5175504"/>
            <a:ext cx="5486400" cy="493776"/>
          </a:xfrm>
          <a:prstGeom prst="roundRect">
            <a:avLst>
              <a:gd name="adj" fmla="val 6481"/>
            </a:avLst>
          </a:prstGeom>
          <a:solidFill>
            <a:srgbClr val="FFFFFF"/>
          </a:solidFill>
          <a:ln w="9525">
            <a:solidFill>
              <a:srgbClr val="EEDFD0"/>
            </a:solidFill>
            <a:prstDash val="solid"/>
          </a:ln>
        </p:spPr>
      </p:sp>
      <p:sp>
        <p:nvSpPr>
          <p:cNvPr id="42" name="Text 35"/>
          <p:cNvSpPr txBox="1"/>
          <p:nvPr/>
        </p:nvSpPr>
        <p:spPr>
          <a:xfrm>
            <a:off x="713232" y="5175504"/>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逾期预警</a:t>
            </a:r>
            <a:endParaRPr lang="en-US" sz="1050" dirty="0"/>
          </a:p>
        </p:txBody>
      </p:sp>
      <p:sp>
        <p:nvSpPr>
          <p:cNvPr id="43" name="Text 36"/>
          <p:cNvSpPr txBox="1"/>
          <p:nvPr/>
        </p:nvSpPr>
        <p:spPr>
          <a:xfrm>
            <a:off x="2048256" y="5175504"/>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临期提醒 + 超期升级至上级与园区经理</a:t>
            </a:r>
            <a:endParaRPr lang="en-US" sz="1000" dirty="0"/>
          </a:p>
        </p:txBody>
      </p:sp>
      <p:sp>
        <p:nvSpPr>
          <p:cNvPr id="44" name="Text 37"/>
          <p:cNvSpPr txBox="1"/>
          <p:nvPr/>
        </p:nvSpPr>
        <p:spPr>
          <a:xfrm>
            <a:off x="530352" y="5760720"/>
            <a:ext cx="5486400" cy="329184"/>
          </a:xfrm>
          <a:prstGeom prst="rect">
            <a:avLst/>
          </a:prstGeom>
          <a:noFill/>
          <a:ln/>
        </p:spPr>
        <p:txBody>
          <a:bodyPr wrap="square" lIns="0" tIns="0" rIns="0" bIns="0" rtlCol="0" anchor="ctr"/>
          <a:lstStyle/>
          <a:p>
            <a:pPr indent="0" marL="0">
              <a:lnSpc>
                <a:spcPct val="104000"/>
              </a:lnSpc>
              <a:buNone/>
            </a:pPr>
            <a:r>
              <a:rPr lang="en-US" sz="1000" i="1" dirty="0">
                <a:solidFill>
                  <a:srgbClr val="8A949E"/>
                </a:solidFill>
                <a:latin typeface="Calibri" pitchFamily="34" charset="0"/>
                <a:ea typeface="Calibri" pitchFamily="34" charset="-122"/>
                <a:cs typeface="Calibri" pitchFamily="34" charset="-120"/>
              </a:rPr>
              <a:t>推送渠道：钉钉（iSungrow）实时推送为主，短信、邮件、语音电话作为分级补充；支持按灵活策略将园区信息推送给指定人员。</a:t>
            </a:r>
            <a:endParaRPr lang="en-US" sz="1000" dirty="0"/>
          </a:p>
        </p:txBody>
      </p:sp>
      <p:sp>
        <p:nvSpPr>
          <p:cNvPr id="45" name="Shape 38"/>
          <p:cNvSpPr/>
          <p:nvPr/>
        </p:nvSpPr>
        <p:spPr>
          <a:xfrm>
            <a:off x="6272784" y="3195828"/>
            <a:ext cx="68580" cy="173736"/>
          </a:xfrm>
          <a:prstGeom prst="rect">
            <a:avLst/>
          </a:prstGeom>
          <a:solidFill>
            <a:srgbClr val="F97B00"/>
          </a:solidFill>
          <a:ln/>
        </p:spPr>
      </p:sp>
      <p:sp>
        <p:nvSpPr>
          <p:cNvPr id="46" name="Text 39"/>
          <p:cNvSpPr txBox="1"/>
          <p:nvPr/>
        </p:nvSpPr>
        <p:spPr>
          <a:xfrm>
            <a:off x="6428232" y="314553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系统管理模块</a:t>
            </a:r>
            <a:endParaRPr lang="en-US" sz="1250" dirty="0"/>
          </a:p>
        </p:txBody>
      </p:sp>
      <p:sp>
        <p:nvSpPr>
          <p:cNvPr id="47" name="Shape 40"/>
          <p:cNvSpPr/>
          <p:nvPr/>
        </p:nvSpPr>
        <p:spPr>
          <a:xfrm>
            <a:off x="6272784" y="3474720"/>
            <a:ext cx="5388559" cy="566928"/>
          </a:xfrm>
          <a:prstGeom prst="roundRect">
            <a:avLst>
              <a:gd name="adj" fmla="val 5645"/>
            </a:avLst>
          </a:prstGeom>
          <a:solidFill>
            <a:srgbClr val="F6F8FA"/>
          </a:solidFill>
          <a:ln w="9525">
            <a:solidFill>
              <a:srgbClr val="E3E7EB"/>
            </a:solidFill>
            <a:prstDash val="solid"/>
          </a:ln>
        </p:spPr>
      </p:sp>
      <p:sp>
        <p:nvSpPr>
          <p:cNvPr id="48" name="Text 41"/>
          <p:cNvSpPr txBox="1"/>
          <p:nvPr/>
        </p:nvSpPr>
        <p:spPr>
          <a:xfrm>
            <a:off x="6455664" y="347472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用户权限管理</a:t>
            </a:r>
            <a:endParaRPr lang="en-US" sz="1000" dirty="0"/>
          </a:p>
        </p:txBody>
      </p:sp>
      <p:sp>
        <p:nvSpPr>
          <p:cNvPr id="49" name="Text 42"/>
          <p:cNvSpPr txBox="1"/>
          <p:nvPr/>
        </p:nvSpPr>
        <p:spPr>
          <a:xfrm>
            <a:off x="7973568" y="347472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基于角色的访问控制模型（RBAC），设置多种用户角色并分配操作权限，支持角色及权限调整、密码重置修改</a:t>
            </a:r>
            <a:endParaRPr lang="en-US" sz="1000" dirty="0"/>
          </a:p>
        </p:txBody>
      </p:sp>
      <p:sp>
        <p:nvSpPr>
          <p:cNvPr id="50" name="Shape 43"/>
          <p:cNvSpPr/>
          <p:nvPr/>
        </p:nvSpPr>
        <p:spPr>
          <a:xfrm>
            <a:off x="6272784" y="4114800"/>
            <a:ext cx="5388559" cy="566928"/>
          </a:xfrm>
          <a:prstGeom prst="roundRect">
            <a:avLst>
              <a:gd name="adj" fmla="val 5645"/>
            </a:avLst>
          </a:prstGeom>
          <a:solidFill>
            <a:srgbClr val="F6F8FA"/>
          </a:solidFill>
          <a:ln w="9525">
            <a:solidFill>
              <a:srgbClr val="E3E7EB"/>
            </a:solidFill>
            <a:prstDash val="solid"/>
          </a:ln>
        </p:spPr>
      </p:sp>
      <p:sp>
        <p:nvSpPr>
          <p:cNvPr id="51" name="Text 44"/>
          <p:cNvSpPr txBox="1"/>
          <p:nvPr/>
        </p:nvSpPr>
        <p:spPr>
          <a:xfrm>
            <a:off x="6455664" y="411480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多维权限定义</a:t>
            </a:r>
            <a:endParaRPr lang="en-US" sz="1000" dirty="0"/>
          </a:p>
        </p:txBody>
      </p:sp>
      <p:sp>
        <p:nvSpPr>
          <p:cNvPr id="52" name="Text 45"/>
          <p:cNvSpPr txBox="1"/>
          <p:nvPr/>
        </p:nvSpPr>
        <p:spPr>
          <a:xfrm>
            <a:off x="7973568" y="411480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基于组织、角色、用户、项目、数据类型、数据状态、工作流程状态等多维度综合权限；权限可代理、可转移、可复制</a:t>
            </a:r>
            <a:endParaRPr lang="en-US" sz="1000" dirty="0"/>
          </a:p>
        </p:txBody>
      </p:sp>
      <p:sp>
        <p:nvSpPr>
          <p:cNvPr id="53" name="Shape 46"/>
          <p:cNvSpPr/>
          <p:nvPr/>
        </p:nvSpPr>
        <p:spPr>
          <a:xfrm>
            <a:off x="6272784" y="4754880"/>
            <a:ext cx="5388559" cy="566928"/>
          </a:xfrm>
          <a:prstGeom prst="roundRect">
            <a:avLst>
              <a:gd name="adj" fmla="val 5645"/>
            </a:avLst>
          </a:prstGeom>
          <a:solidFill>
            <a:srgbClr val="F6F8FA"/>
          </a:solidFill>
          <a:ln w="9525">
            <a:solidFill>
              <a:srgbClr val="E3E7EB"/>
            </a:solidFill>
            <a:prstDash val="solid"/>
          </a:ln>
        </p:spPr>
      </p:sp>
      <p:sp>
        <p:nvSpPr>
          <p:cNvPr id="54" name="Text 47"/>
          <p:cNvSpPr txBox="1"/>
          <p:nvPr/>
        </p:nvSpPr>
        <p:spPr>
          <a:xfrm>
            <a:off x="6455664" y="475488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字段级控制</a:t>
            </a:r>
            <a:endParaRPr lang="en-US" sz="1000" dirty="0"/>
          </a:p>
        </p:txBody>
      </p:sp>
      <p:sp>
        <p:nvSpPr>
          <p:cNvPr id="55" name="Text 48"/>
          <p:cNvSpPr txBox="1"/>
          <p:nvPr/>
        </p:nvSpPr>
        <p:spPr>
          <a:xfrm>
            <a:off x="7973568" y="475488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表单内容多样化配置，不同角色不同布局；权限细化到表单每个字段的显示、隐藏、编辑</a:t>
            </a:r>
            <a:endParaRPr lang="en-US" sz="1000" dirty="0"/>
          </a:p>
        </p:txBody>
      </p:sp>
      <p:sp>
        <p:nvSpPr>
          <p:cNvPr id="56" name="Shape 49"/>
          <p:cNvSpPr/>
          <p:nvPr/>
        </p:nvSpPr>
        <p:spPr>
          <a:xfrm>
            <a:off x="6272784" y="5394960"/>
            <a:ext cx="5388559" cy="566928"/>
          </a:xfrm>
          <a:prstGeom prst="roundRect">
            <a:avLst>
              <a:gd name="adj" fmla="val 5645"/>
            </a:avLst>
          </a:prstGeom>
          <a:solidFill>
            <a:srgbClr val="F6F8FA"/>
          </a:solidFill>
          <a:ln w="9525">
            <a:solidFill>
              <a:srgbClr val="E3E7EB"/>
            </a:solidFill>
            <a:prstDash val="solid"/>
          </a:ln>
        </p:spPr>
      </p:sp>
      <p:sp>
        <p:nvSpPr>
          <p:cNvPr id="57" name="Text 50"/>
          <p:cNvSpPr txBox="1"/>
          <p:nvPr/>
        </p:nvSpPr>
        <p:spPr>
          <a:xfrm>
            <a:off x="6455664" y="539496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日志管理</a:t>
            </a:r>
            <a:endParaRPr lang="en-US" sz="1000" dirty="0"/>
          </a:p>
        </p:txBody>
      </p:sp>
      <p:sp>
        <p:nvSpPr>
          <p:cNvPr id="58" name="Text 51"/>
          <p:cNvSpPr txBox="1"/>
          <p:nvPr/>
        </p:nvSpPr>
        <p:spPr>
          <a:xfrm>
            <a:off x="7973568" y="539496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记录所有用户操作日志，支持多条件查询，定期归档；重要数据实现字段级增删改日志；回收站支持指定时间段恢复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场景流程模拟（一）：一车物料从预约到离场的 6 小时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智慧物流 · 以一次真实配送为例，看平台在每个节点替谁做了什么</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场景：供应商 A 的一车电芯原料，计划次日 09:00 送达 3 号库</a:t>
            </a:r>
            <a:endParaRPr lang="en-US" sz="1250" dirty="0"/>
          </a:p>
        </p:txBody>
      </p:sp>
      <p:sp>
        <p:nvSpPr>
          <p:cNvPr id="7" name="Shape 5"/>
          <p:cNvSpPr/>
          <p:nvPr/>
        </p:nvSpPr>
        <p:spPr>
          <a:xfrm>
            <a:off x="530352" y="1536192"/>
            <a:ext cx="1733245" cy="2212848"/>
          </a:xfrm>
          <a:prstGeom prst="roundRect">
            <a:avLst>
              <a:gd name="adj" fmla="val 1846"/>
            </a:avLst>
          </a:prstGeom>
          <a:solidFill>
            <a:srgbClr val="FFF7EF"/>
          </a:solidFill>
          <a:ln w="9525">
            <a:solidFill>
              <a:srgbClr val="F6DCC2"/>
            </a:solidFill>
            <a:prstDash val="solid"/>
          </a:ln>
        </p:spPr>
      </p:sp>
      <p:sp>
        <p:nvSpPr>
          <p:cNvPr id="8" name="Shape 6"/>
          <p:cNvSpPr/>
          <p:nvPr/>
        </p:nvSpPr>
        <p:spPr>
          <a:xfrm>
            <a:off x="658368" y="1664208"/>
            <a:ext cx="1477213" cy="292608"/>
          </a:xfrm>
          <a:prstGeom prst="roundRect">
            <a:avLst>
              <a:gd name="adj" fmla="val 15625"/>
            </a:avLst>
          </a:prstGeom>
          <a:solidFill>
            <a:srgbClr val="F97B00"/>
          </a:solidFill>
          <a:ln/>
        </p:spPr>
      </p:sp>
      <p:sp>
        <p:nvSpPr>
          <p:cNvPr id="9" name="Text 7"/>
          <p:cNvSpPr txBox="1"/>
          <p:nvPr/>
        </p:nvSpPr>
        <p:spPr>
          <a:xfrm>
            <a:off x="658368"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前一日 16:20</a:t>
            </a:r>
            <a:endParaRPr lang="en-US" sz="1000" dirty="0"/>
          </a:p>
        </p:txBody>
      </p:sp>
      <p:sp>
        <p:nvSpPr>
          <p:cNvPr id="10" name="Text 8"/>
          <p:cNvSpPr txBox="1"/>
          <p:nvPr/>
        </p:nvSpPr>
        <p:spPr>
          <a:xfrm>
            <a:off x="658368"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司机线上预约</a:t>
            </a:r>
            <a:endParaRPr lang="en-US" sz="1100" dirty="0"/>
          </a:p>
        </p:txBody>
      </p:sp>
      <p:sp>
        <p:nvSpPr>
          <p:cNvPr id="11" name="Text 9"/>
          <p:cNvSpPr txBox="1"/>
          <p:nvPr/>
        </p:nvSpPr>
        <p:spPr>
          <a:xfrm>
            <a:off x="658368"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小程序选择"3 号库 / 电芯类 / 次日 09:00"，系统校验订单有效性与月台余量，自动确认并推送管理规定</a:t>
            </a:r>
            <a:endParaRPr lang="en-US" sz="1000" dirty="0"/>
          </a:p>
        </p:txBody>
      </p:sp>
      <p:sp>
        <p:nvSpPr>
          <p:cNvPr id="12" name="Shape 10"/>
          <p:cNvSpPr/>
          <p:nvPr/>
        </p:nvSpPr>
        <p:spPr>
          <a:xfrm rot="5400000">
            <a:off x="2277313" y="2560320"/>
            <a:ext cx="128016" cy="164592"/>
          </a:xfrm>
          <a:prstGeom prst="triangle">
            <a:avLst/>
          </a:prstGeom>
          <a:solidFill>
            <a:srgbClr val="FF9F3D"/>
          </a:solidFill>
          <a:ln/>
        </p:spPr>
      </p:sp>
      <p:sp>
        <p:nvSpPr>
          <p:cNvPr id="13" name="Shape 11"/>
          <p:cNvSpPr/>
          <p:nvPr/>
        </p:nvSpPr>
        <p:spPr>
          <a:xfrm>
            <a:off x="2409901" y="1536192"/>
            <a:ext cx="1733245" cy="2212848"/>
          </a:xfrm>
          <a:prstGeom prst="roundRect">
            <a:avLst>
              <a:gd name="adj" fmla="val 1846"/>
            </a:avLst>
          </a:prstGeom>
          <a:solidFill>
            <a:srgbClr val="FFFFFF"/>
          </a:solidFill>
          <a:ln w="9525">
            <a:solidFill>
              <a:srgbClr val="F6DCC2"/>
            </a:solidFill>
            <a:prstDash val="solid"/>
          </a:ln>
        </p:spPr>
      </p:sp>
      <p:sp>
        <p:nvSpPr>
          <p:cNvPr id="14" name="Shape 12"/>
          <p:cNvSpPr/>
          <p:nvPr/>
        </p:nvSpPr>
        <p:spPr>
          <a:xfrm>
            <a:off x="2537917" y="1664208"/>
            <a:ext cx="1477213" cy="292608"/>
          </a:xfrm>
          <a:prstGeom prst="roundRect">
            <a:avLst>
              <a:gd name="adj" fmla="val 15625"/>
            </a:avLst>
          </a:prstGeom>
          <a:solidFill>
            <a:srgbClr val="F97B00"/>
          </a:solidFill>
          <a:ln/>
        </p:spPr>
      </p:sp>
      <p:sp>
        <p:nvSpPr>
          <p:cNvPr id="15" name="Text 13"/>
          <p:cNvSpPr txBox="1"/>
          <p:nvPr/>
        </p:nvSpPr>
        <p:spPr>
          <a:xfrm>
            <a:off x="2537917"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当日 08:40</a:t>
            </a:r>
            <a:endParaRPr lang="en-US" sz="1000" dirty="0"/>
          </a:p>
        </p:txBody>
      </p:sp>
      <p:sp>
        <p:nvSpPr>
          <p:cNvPr id="16" name="Text 14"/>
          <p:cNvSpPr txBox="1"/>
          <p:nvPr/>
        </p:nvSpPr>
        <p:spPr>
          <a:xfrm>
            <a:off x="2537917"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到场取号</a:t>
            </a:r>
            <a:endParaRPr lang="en-US" sz="1100" dirty="0"/>
          </a:p>
        </p:txBody>
      </p:sp>
      <p:sp>
        <p:nvSpPr>
          <p:cNvPr id="17" name="Text 15"/>
          <p:cNvSpPr txBox="1"/>
          <p:nvPr/>
        </p:nvSpPr>
        <p:spPr>
          <a:xfrm>
            <a:off x="2537917"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车辆到园外等候区扫码报到，系统按到场顺序与预约时段生成叫号，司机端显示"前方 2 车，约等 18 分钟"</a:t>
            </a:r>
            <a:endParaRPr lang="en-US" sz="1000" dirty="0"/>
          </a:p>
        </p:txBody>
      </p:sp>
      <p:sp>
        <p:nvSpPr>
          <p:cNvPr id="18" name="Shape 16"/>
          <p:cNvSpPr/>
          <p:nvPr/>
        </p:nvSpPr>
        <p:spPr>
          <a:xfrm rot="5400000">
            <a:off x="4156862" y="2560320"/>
            <a:ext cx="128016" cy="164592"/>
          </a:xfrm>
          <a:prstGeom prst="triangle">
            <a:avLst/>
          </a:prstGeom>
          <a:solidFill>
            <a:srgbClr val="FF9F3D"/>
          </a:solidFill>
          <a:ln/>
        </p:spPr>
      </p:sp>
      <p:sp>
        <p:nvSpPr>
          <p:cNvPr id="19" name="Shape 17"/>
          <p:cNvSpPr/>
          <p:nvPr/>
        </p:nvSpPr>
        <p:spPr>
          <a:xfrm>
            <a:off x="4289450" y="1536192"/>
            <a:ext cx="1733245" cy="2212848"/>
          </a:xfrm>
          <a:prstGeom prst="roundRect">
            <a:avLst>
              <a:gd name="adj" fmla="val 1846"/>
            </a:avLst>
          </a:prstGeom>
          <a:solidFill>
            <a:srgbClr val="FFF7EF"/>
          </a:solidFill>
          <a:ln w="9525">
            <a:solidFill>
              <a:srgbClr val="F6DCC2"/>
            </a:solidFill>
            <a:prstDash val="solid"/>
          </a:ln>
        </p:spPr>
      </p:sp>
      <p:sp>
        <p:nvSpPr>
          <p:cNvPr id="20" name="Shape 18"/>
          <p:cNvSpPr/>
          <p:nvPr/>
        </p:nvSpPr>
        <p:spPr>
          <a:xfrm>
            <a:off x="4417466" y="1664208"/>
            <a:ext cx="1477213" cy="292608"/>
          </a:xfrm>
          <a:prstGeom prst="roundRect">
            <a:avLst>
              <a:gd name="adj" fmla="val 15625"/>
            </a:avLst>
          </a:prstGeom>
          <a:solidFill>
            <a:srgbClr val="F97B00"/>
          </a:solidFill>
          <a:ln/>
        </p:spPr>
      </p:sp>
      <p:sp>
        <p:nvSpPr>
          <p:cNvPr id="21" name="Text 19"/>
          <p:cNvSpPr txBox="1"/>
          <p:nvPr/>
        </p:nvSpPr>
        <p:spPr>
          <a:xfrm>
            <a:off x="4417466"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09:02</a:t>
            </a:r>
            <a:endParaRPr lang="en-US" sz="1000" dirty="0"/>
          </a:p>
        </p:txBody>
      </p:sp>
      <p:sp>
        <p:nvSpPr>
          <p:cNvPr id="22" name="Text 20"/>
          <p:cNvSpPr txBox="1"/>
          <p:nvPr/>
        </p:nvSpPr>
        <p:spPr>
          <a:xfrm>
            <a:off x="441746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道闸自动放行</a:t>
            </a:r>
            <a:endParaRPr lang="en-US" sz="1100" dirty="0"/>
          </a:p>
        </p:txBody>
      </p:sp>
      <p:sp>
        <p:nvSpPr>
          <p:cNvPr id="23" name="Text 21"/>
          <p:cNvSpPr txBox="1"/>
          <p:nvPr/>
        </p:nvSpPr>
        <p:spPr>
          <a:xfrm>
            <a:off x="4417466"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车牌与预约记录比对通过，道闸自动开启；同步发放当日临时门禁权限，有效期至预约时段结束</a:t>
            </a:r>
            <a:endParaRPr lang="en-US" sz="1000" dirty="0"/>
          </a:p>
        </p:txBody>
      </p:sp>
      <p:sp>
        <p:nvSpPr>
          <p:cNvPr id="24" name="Shape 22"/>
          <p:cNvSpPr/>
          <p:nvPr/>
        </p:nvSpPr>
        <p:spPr>
          <a:xfrm rot="5400000">
            <a:off x="6036412" y="2560320"/>
            <a:ext cx="128016" cy="164592"/>
          </a:xfrm>
          <a:prstGeom prst="triangle">
            <a:avLst/>
          </a:prstGeom>
          <a:solidFill>
            <a:srgbClr val="FF9F3D"/>
          </a:solidFill>
          <a:ln/>
        </p:spPr>
      </p:sp>
      <p:sp>
        <p:nvSpPr>
          <p:cNvPr id="25" name="Shape 23"/>
          <p:cNvSpPr/>
          <p:nvPr/>
        </p:nvSpPr>
        <p:spPr>
          <a:xfrm>
            <a:off x="6169000" y="1536192"/>
            <a:ext cx="1733245" cy="2212848"/>
          </a:xfrm>
          <a:prstGeom prst="roundRect">
            <a:avLst>
              <a:gd name="adj" fmla="val 1846"/>
            </a:avLst>
          </a:prstGeom>
          <a:solidFill>
            <a:srgbClr val="FFFFFF"/>
          </a:solidFill>
          <a:ln w="9525">
            <a:solidFill>
              <a:srgbClr val="F6DCC2"/>
            </a:solidFill>
            <a:prstDash val="solid"/>
          </a:ln>
        </p:spPr>
      </p:sp>
      <p:sp>
        <p:nvSpPr>
          <p:cNvPr id="26" name="Shape 24"/>
          <p:cNvSpPr/>
          <p:nvPr/>
        </p:nvSpPr>
        <p:spPr>
          <a:xfrm>
            <a:off x="6297016" y="1664208"/>
            <a:ext cx="1477213" cy="292608"/>
          </a:xfrm>
          <a:prstGeom prst="roundRect">
            <a:avLst>
              <a:gd name="adj" fmla="val 15625"/>
            </a:avLst>
          </a:prstGeom>
          <a:solidFill>
            <a:srgbClr val="F97B00"/>
          </a:solidFill>
          <a:ln/>
        </p:spPr>
      </p:sp>
      <p:sp>
        <p:nvSpPr>
          <p:cNvPr id="27" name="Text 25"/>
          <p:cNvSpPr txBox="1"/>
          <p:nvPr/>
        </p:nvSpPr>
        <p:spPr>
          <a:xfrm>
            <a:off x="6297016"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09:06</a:t>
            </a:r>
            <a:endParaRPr lang="en-US" sz="1000" dirty="0"/>
          </a:p>
        </p:txBody>
      </p:sp>
      <p:sp>
        <p:nvSpPr>
          <p:cNvPr id="28" name="Text 26"/>
          <p:cNvSpPr txBox="1"/>
          <p:nvPr/>
        </p:nvSpPr>
        <p:spPr>
          <a:xfrm>
            <a:off x="629701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园内导航到位</a:t>
            </a:r>
            <a:endParaRPr lang="en-US" sz="1100" dirty="0"/>
          </a:p>
        </p:txBody>
      </p:sp>
      <p:sp>
        <p:nvSpPr>
          <p:cNvPr id="29" name="Text 27"/>
          <p:cNvSpPr txBox="1"/>
          <p:nvPr/>
        </p:nvSpPr>
        <p:spPr>
          <a:xfrm>
            <a:off x="6297016"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推送最优路线与月台号至司机端，避开施工与其他车辆动线；到月台后自动打卡上台</a:t>
            </a:r>
            <a:endParaRPr lang="en-US" sz="1000" dirty="0"/>
          </a:p>
        </p:txBody>
      </p:sp>
      <p:sp>
        <p:nvSpPr>
          <p:cNvPr id="30" name="Shape 28"/>
          <p:cNvSpPr/>
          <p:nvPr/>
        </p:nvSpPr>
        <p:spPr>
          <a:xfrm rot="5400000">
            <a:off x="7915961" y="2560320"/>
            <a:ext cx="128016" cy="164592"/>
          </a:xfrm>
          <a:prstGeom prst="triangle">
            <a:avLst/>
          </a:prstGeom>
          <a:solidFill>
            <a:srgbClr val="FF9F3D"/>
          </a:solidFill>
          <a:ln/>
        </p:spPr>
      </p:sp>
      <p:sp>
        <p:nvSpPr>
          <p:cNvPr id="31" name="Shape 29"/>
          <p:cNvSpPr/>
          <p:nvPr/>
        </p:nvSpPr>
        <p:spPr>
          <a:xfrm>
            <a:off x="8048549" y="1536192"/>
            <a:ext cx="1733245" cy="2212848"/>
          </a:xfrm>
          <a:prstGeom prst="roundRect">
            <a:avLst>
              <a:gd name="adj" fmla="val 1846"/>
            </a:avLst>
          </a:prstGeom>
          <a:solidFill>
            <a:srgbClr val="FFF7EF"/>
          </a:solidFill>
          <a:ln w="9525">
            <a:solidFill>
              <a:srgbClr val="F6DCC2"/>
            </a:solidFill>
            <a:prstDash val="solid"/>
          </a:ln>
        </p:spPr>
      </p:sp>
      <p:sp>
        <p:nvSpPr>
          <p:cNvPr id="32" name="Shape 30"/>
          <p:cNvSpPr/>
          <p:nvPr/>
        </p:nvSpPr>
        <p:spPr>
          <a:xfrm>
            <a:off x="8176565" y="1664208"/>
            <a:ext cx="1477213" cy="292608"/>
          </a:xfrm>
          <a:prstGeom prst="roundRect">
            <a:avLst>
              <a:gd name="adj" fmla="val 15625"/>
            </a:avLst>
          </a:prstGeom>
          <a:solidFill>
            <a:srgbClr val="F97B00"/>
          </a:solidFill>
          <a:ln/>
        </p:spPr>
      </p:sp>
      <p:sp>
        <p:nvSpPr>
          <p:cNvPr id="33" name="Text 31"/>
          <p:cNvSpPr txBox="1"/>
          <p:nvPr/>
        </p:nvSpPr>
        <p:spPr>
          <a:xfrm>
            <a:off x="8176565"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09:15—11:30</a:t>
            </a:r>
            <a:endParaRPr lang="en-US" sz="1000" dirty="0"/>
          </a:p>
        </p:txBody>
      </p:sp>
      <p:sp>
        <p:nvSpPr>
          <p:cNvPr id="34" name="Text 32"/>
          <p:cNvSpPr txBox="1"/>
          <p:nvPr/>
        </p:nvSpPr>
        <p:spPr>
          <a:xfrm>
            <a:off x="8176565"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卸货与收货确认</a:t>
            </a:r>
            <a:endParaRPr lang="en-US" sz="1100" dirty="0"/>
          </a:p>
        </p:txBody>
      </p:sp>
      <p:sp>
        <p:nvSpPr>
          <p:cNvPr id="35" name="Text 33"/>
          <p:cNvSpPr txBox="1"/>
          <p:nvPr/>
        </p:nvSpPr>
        <p:spPr>
          <a:xfrm>
            <a:off x="8176565"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仓管在 WMS 确认收货并回写平台；卸货照片与异常登记随工单留档，月台状态实时更新</a:t>
            </a:r>
            <a:endParaRPr lang="en-US" sz="1000" dirty="0"/>
          </a:p>
        </p:txBody>
      </p:sp>
      <p:sp>
        <p:nvSpPr>
          <p:cNvPr id="36" name="Shape 34"/>
          <p:cNvSpPr/>
          <p:nvPr/>
        </p:nvSpPr>
        <p:spPr>
          <a:xfrm rot="5400000">
            <a:off x="9795510" y="2560320"/>
            <a:ext cx="128016" cy="164592"/>
          </a:xfrm>
          <a:prstGeom prst="triangle">
            <a:avLst/>
          </a:prstGeom>
          <a:solidFill>
            <a:srgbClr val="FF9F3D"/>
          </a:solidFill>
          <a:ln/>
        </p:spPr>
      </p:sp>
      <p:sp>
        <p:nvSpPr>
          <p:cNvPr id="37" name="Shape 35"/>
          <p:cNvSpPr/>
          <p:nvPr/>
        </p:nvSpPr>
        <p:spPr>
          <a:xfrm>
            <a:off x="9928098" y="1536192"/>
            <a:ext cx="1733245" cy="2212848"/>
          </a:xfrm>
          <a:prstGeom prst="roundRect">
            <a:avLst>
              <a:gd name="adj" fmla="val 1846"/>
            </a:avLst>
          </a:prstGeom>
          <a:solidFill>
            <a:srgbClr val="FFFFFF"/>
          </a:solidFill>
          <a:ln w="9525">
            <a:solidFill>
              <a:srgbClr val="F6DCC2"/>
            </a:solidFill>
            <a:prstDash val="solid"/>
          </a:ln>
        </p:spPr>
      </p:sp>
      <p:sp>
        <p:nvSpPr>
          <p:cNvPr id="38" name="Shape 36"/>
          <p:cNvSpPr/>
          <p:nvPr/>
        </p:nvSpPr>
        <p:spPr>
          <a:xfrm>
            <a:off x="10056114" y="1664208"/>
            <a:ext cx="1477213" cy="292608"/>
          </a:xfrm>
          <a:prstGeom prst="roundRect">
            <a:avLst>
              <a:gd name="adj" fmla="val 15625"/>
            </a:avLst>
          </a:prstGeom>
          <a:solidFill>
            <a:srgbClr val="0E2340"/>
          </a:solidFill>
          <a:ln/>
        </p:spPr>
      </p:sp>
      <p:sp>
        <p:nvSpPr>
          <p:cNvPr id="39" name="Text 37"/>
          <p:cNvSpPr txBox="1"/>
          <p:nvPr/>
        </p:nvSpPr>
        <p:spPr>
          <a:xfrm>
            <a:off x="10056114"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11:52</a:t>
            </a:r>
            <a:endParaRPr lang="en-US" sz="1000" dirty="0"/>
          </a:p>
        </p:txBody>
      </p:sp>
      <p:sp>
        <p:nvSpPr>
          <p:cNvPr id="40" name="Text 38"/>
          <p:cNvSpPr txBox="1"/>
          <p:nvPr/>
        </p:nvSpPr>
        <p:spPr>
          <a:xfrm>
            <a:off x="10056114"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出园与评价</a:t>
            </a:r>
            <a:endParaRPr lang="en-US" sz="1100" dirty="0"/>
          </a:p>
        </p:txBody>
      </p:sp>
      <p:sp>
        <p:nvSpPr>
          <p:cNvPr id="41" name="Text 39"/>
          <p:cNvSpPr txBox="1"/>
          <p:nvPr/>
        </p:nvSpPr>
        <p:spPr>
          <a:xfrm>
            <a:off x="10056114"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电子出门条自动生成，检查通过后放行；司机一键评价，全流程 7 个时间戳自动归档</a:t>
            </a:r>
            <a:endParaRPr lang="en-US" sz="1000" dirty="0"/>
          </a:p>
        </p:txBody>
      </p:sp>
      <p:sp>
        <p:nvSpPr>
          <p:cNvPr id="42" name="Shape 40"/>
          <p:cNvSpPr/>
          <p:nvPr/>
        </p:nvSpPr>
        <p:spPr>
          <a:xfrm>
            <a:off x="530352" y="4494276"/>
            <a:ext cx="68580" cy="173736"/>
          </a:xfrm>
          <a:prstGeom prst="rect">
            <a:avLst/>
          </a:prstGeom>
          <a:solidFill>
            <a:srgbClr val="F97B00"/>
          </a:solidFill>
          <a:ln/>
        </p:spPr>
      </p:sp>
      <p:sp>
        <p:nvSpPr>
          <p:cNvPr id="43" name="Text 41"/>
          <p:cNvSpPr txBox="1"/>
          <p:nvPr/>
        </p:nvSpPr>
        <p:spPr>
          <a:xfrm>
            <a:off x="685800" y="44439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这一趟车，平台替管理者解决了什么</a:t>
            </a:r>
            <a:endParaRPr lang="en-US" sz="1250" dirty="0"/>
          </a:p>
        </p:txBody>
      </p:sp>
      <p:sp>
        <p:nvSpPr>
          <p:cNvPr id="44" name="Shape 42"/>
          <p:cNvSpPr/>
          <p:nvPr/>
        </p:nvSpPr>
        <p:spPr>
          <a:xfrm>
            <a:off x="530352" y="4773168"/>
            <a:ext cx="2645588" cy="841248"/>
          </a:xfrm>
          <a:prstGeom prst="roundRect">
            <a:avLst>
              <a:gd name="adj" fmla="val 3804"/>
            </a:avLst>
          </a:prstGeom>
          <a:solidFill>
            <a:srgbClr val="FDEEDD"/>
          </a:solidFill>
          <a:ln w="9525">
            <a:solidFill>
              <a:srgbClr val="F3CDA5"/>
            </a:solidFill>
            <a:prstDash val="solid"/>
          </a:ln>
        </p:spPr>
      </p:sp>
      <p:sp>
        <p:nvSpPr>
          <p:cNvPr id="45" name="Text 43"/>
          <p:cNvSpPr txBox="1"/>
          <p:nvPr/>
        </p:nvSpPr>
        <p:spPr>
          <a:xfrm>
            <a:off x="694944"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门岗不再排长队</a:t>
            </a:r>
            <a:endParaRPr lang="en-US" sz="1050" dirty="0"/>
          </a:p>
        </p:txBody>
      </p:sp>
      <p:sp>
        <p:nvSpPr>
          <p:cNvPr id="46" name="Text 44"/>
          <p:cNvSpPr txBox="1"/>
          <p:nvPr/>
        </p:nvSpPr>
        <p:spPr>
          <a:xfrm>
            <a:off x="694944"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预约与叫号把到场时间打散，由系统提前削峰，无需增加人力</a:t>
            </a:r>
            <a:endParaRPr lang="en-US" sz="1000" dirty="0"/>
          </a:p>
        </p:txBody>
      </p:sp>
      <p:sp>
        <p:nvSpPr>
          <p:cNvPr id="47" name="Shape 45"/>
          <p:cNvSpPr/>
          <p:nvPr/>
        </p:nvSpPr>
        <p:spPr>
          <a:xfrm>
            <a:off x="3358820" y="4773168"/>
            <a:ext cx="2645588" cy="841248"/>
          </a:xfrm>
          <a:prstGeom prst="roundRect">
            <a:avLst>
              <a:gd name="adj" fmla="val 3804"/>
            </a:avLst>
          </a:prstGeom>
          <a:solidFill>
            <a:srgbClr val="FDEEDD"/>
          </a:solidFill>
          <a:ln w="9525">
            <a:solidFill>
              <a:srgbClr val="F3CDA5"/>
            </a:solidFill>
            <a:prstDash val="solid"/>
          </a:ln>
        </p:spPr>
      </p:sp>
      <p:sp>
        <p:nvSpPr>
          <p:cNvPr id="48" name="Text 46"/>
          <p:cNvSpPr txBox="1"/>
          <p:nvPr/>
        </p:nvSpPr>
        <p:spPr>
          <a:xfrm>
            <a:off x="3523412"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司机不再问路</a:t>
            </a:r>
            <a:endParaRPr lang="en-US" sz="1050" dirty="0"/>
          </a:p>
        </p:txBody>
      </p:sp>
      <p:sp>
        <p:nvSpPr>
          <p:cNvPr id="49" name="Text 47"/>
          <p:cNvSpPr txBox="1"/>
          <p:nvPr/>
        </p:nvSpPr>
        <p:spPr>
          <a:xfrm>
            <a:off x="3523412"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路线与月台由系统推送，减少园内乱行驶带来的安全风险与拥堵</a:t>
            </a:r>
            <a:endParaRPr lang="en-US" sz="1000" dirty="0"/>
          </a:p>
        </p:txBody>
      </p:sp>
      <p:sp>
        <p:nvSpPr>
          <p:cNvPr id="50" name="Shape 48"/>
          <p:cNvSpPr/>
          <p:nvPr/>
        </p:nvSpPr>
        <p:spPr>
          <a:xfrm>
            <a:off x="6187288" y="4773168"/>
            <a:ext cx="2645588" cy="841248"/>
          </a:xfrm>
          <a:prstGeom prst="roundRect">
            <a:avLst>
              <a:gd name="adj" fmla="val 3804"/>
            </a:avLst>
          </a:prstGeom>
          <a:solidFill>
            <a:srgbClr val="FDEEDD"/>
          </a:solidFill>
          <a:ln w="9525">
            <a:solidFill>
              <a:srgbClr val="F3CDA5"/>
            </a:solidFill>
            <a:prstDash val="solid"/>
          </a:ln>
        </p:spPr>
      </p:sp>
      <p:sp>
        <p:nvSpPr>
          <p:cNvPr id="51" name="Text 49"/>
          <p:cNvSpPr txBox="1"/>
          <p:nvPr/>
        </p:nvSpPr>
        <p:spPr>
          <a:xfrm>
            <a:off x="6351880"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月台不再靠喊</a:t>
            </a:r>
            <a:endParaRPr lang="en-US" sz="1050" dirty="0"/>
          </a:p>
        </p:txBody>
      </p:sp>
      <p:sp>
        <p:nvSpPr>
          <p:cNvPr id="52" name="Text 50"/>
          <p:cNvSpPr txBox="1"/>
          <p:nvPr/>
        </p:nvSpPr>
        <p:spPr>
          <a:xfrm>
            <a:off x="6351880"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月台空满状态实时可见，调度可提前调整，避免车等台或台等车</a:t>
            </a:r>
            <a:endParaRPr lang="en-US" sz="1000" dirty="0"/>
          </a:p>
        </p:txBody>
      </p:sp>
      <p:sp>
        <p:nvSpPr>
          <p:cNvPr id="53" name="Shape 51"/>
          <p:cNvSpPr/>
          <p:nvPr/>
        </p:nvSpPr>
        <p:spPr>
          <a:xfrm>
            <a:off x="9015755" y="4773168"/>
            <a:ext cx="2645588" cy="841248"/>
          </a:xfrm>
          <a:prstGeom prst="roundRect">
            <a:avLst>
              <a:gd name="adj" fmla="val 3804"/>
            </a:avLst>
          </a:prstGeom>
          <a:solidFill>
            <a:srgbClr val="FDEEDD"/>
          </a:solidFill>
          <a:ln w="9525">
            <a:solidFill>
              <a:srgbClr val="F3CDA5"/>
            </a:solidFill>
            <a:prstDash val="solid"/>
          </a:ln>
        </p:spPr>
      </p:sp>
      <p:sp>
        <p:nvSpPr>
          <p:cNvPr id="54" name="Text 52"/>
          <p:cNvSpPr txBox="1"/>
          <p:nvPr/>
        </p:nvSpPr>
        <p:spPr>
          <a:xfrm>
            <a:off x="9180347"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数据不再靠补</a:t>
            </a:r>
            <a:endParaRPr lang="en-US" sz="1050" dirty="0"/>
          </a:p>
        </p:txBody>
      </p:sp>
      <p:sp>
        <p:nvSpPr>
          <p:cNvPr id="55" name="Text 53"/>
          <p:cNvSpPr txBox="1"/>
          <p:nvPr/>
        </p:nvSpPr>
        <p:spPr>
          <a:xfrm>
            <a:off x="9180347"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7 个时间戳自动采集，等待时长、周转次数、月台使用率次日出报表</a:t>
            </a:r>
            <a:endParaRPr lang="en-US" sz="1000" dirty="0"/>
          </a:p>
        </p:txBody>
      </p:sp>
      <p:sp>
        <p:nvSpPr>
          <p:cNvPr id="56" name="Shape 54"/>
          <p:cNvSpPr/>
          <p:nvPr/>
        </p:nvSpPr>
        <p:spPr>
          <a:xfrm>
            <a:off x="530352" y="5705856"/>
            <a:ext cx="11130991" cy="969264"/>
          </a:xfrm>
          <a:prstGeom prst="roundRect">
            <a:avLst>
              <a:gd name="adj" fmla="val 3302"/>
            </a:avLst>
          </a:prstGeom>
          <a:solidFill>
            <a:srgbClr val="0E2340"/>
          </a:solidFill>
          <a:ln/>
        </p:spPr>
      </p:sp>
      <p:sp>
        <p:nvSpPr>
          <p:cNvPr id="57" name="Text 55"/>
          <p:cNvSpPr txBox="1"/>
          <p:nvPr/>
        </p:nvSpPr>
        <p:spPr>
          <a:xfrm>
            <a:off x="768096" y="5797296"/>
            <a:ext cx="36576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系统在背后做的四件事</a:t>
            </a:r>
            <a:endParaRPr lang="en-US" sz="1100" dirty="0"/>
          </a:p>
        </p:txBody>
      </p:sp>
      <p:sp>
        <p:nvSpPr>
          <p:cNvPr id="58" name="Text 56"/>
          <p:cNvSpPr txBox="1"/>
          <p:nvPr/>
        </p:nvSpPr>
        <p:spPr>
          <a:xfrm>
            <a:off x="768096"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① 校验 SRM 订单有效性，拦截无单进厂</a:t>
            </a:r>
            <a:endParaRPr lang="en-US" sz="1000" dirty="0"/>
          </a:p>
        </p:txBody>
      </p:sp>
      <p:sp>
        <p:nvSpPr>
          <p:cNvPr id="59" name="Text 57"/>
          <p:cNvSpPr txBox="1"/>
          <p:nvPr/>
        </p:nvSpPr>
        <p:spPr>
          <a:xfrm>
            <a:off x="3477692"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② 与道闸、门禁一卡通同步车牌与人员权限</a:t>
            </a:r>
            <a:endParaRPr lang="en-US" sz="1000" dirty="0"/>
          </a:p>
        </p:txBody>
      </p:sp>
      <p:sp>
        <p:nvSpPr>
          <p:cNvPr id="60" name="Text 58"/>
          <p:cNvSpPr txBox="1"/>
          <p:nvPr/>
        </p:nvSpPr>
        <p:spPr>
          <a:xfrm>
            <a:off x="6187288"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③ WMS 收货结果双向回写，在途状态更新</a:t>
            </a:r>
            <a:endParaRPr lang="en-US" sz="1000" dirty="0"/>
          </a:p>
        </p:txBody>
      </p:sp>
      <p:sp>
        <p:nvSpPr>
          <p:cNvPr id="61" name="Text 59"/>
          <p:cNvSpPr txBox="1"/>
          <p:nvPr/>
        </p:nvSpPr>
        <p:spPr>
          <a:xfrm>
            <a:off x="8896883"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④ 异常自动生成工单进入统一工单池</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场景流程模拟（二）：一次烟感报警的 5 分钟、一次越界的 90 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智慧消防 · 智慧安防 · 两个高风险场景的处置全过程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场景一：PACK 车间烟感触发（消防）</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T+0s</a:t>
            </a:r>
            <a:endParaRPr lang="en-US" sz="100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单点触发</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PACK 车间一只烟感动作，按区域风险等级判定为"预警"，不立即拉响全楼广播</a:t>
            </a:r>
            <a:endParaRPr lang="en-US" sz="100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T+15s</a:t>
            </a:r>
            <a:endParaRPr lang="en-US" sz="100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时空关联</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同一空间单元 30 秒窗口检索其他探测器，温感同步动作，判定升级为"报警"</a:t>
            </a:r>
            <a:endParaRPr lang="en-US" sz="100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T+22s</a:t>
            </a:r>
            <a:endParaRPr lang="en-US" sz="100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视频复核</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自动调取该点位快照与 10 秒短片推送值班台，一屏确认现场确有烟雾</a:t>
            </a:r>
            <a:endParaRPr lang="en-US" sz="100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T+40s</a:t>
            </a:r>
            <a:endParaRPr lang="en-US" sz="100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确认与联动</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确认后一键联动：排烟风机启动、疏散通道门禁全开、定向广播、泵组状态上屏</a:t>
            </a:r>
            <a:endParaRPr lang="en-US" sz="100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T+90s</a:t>
            </a:r>
            <a:endParaRPr lang="en-US" sz="100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指挥调度</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应急一张图定位起火点与最近的 AED、灭火器、消防栓；自动通知责任人与值班经理</a:t>
            </a:r>
            <a:endParaRPr lang="en-US" sz="100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T+5min</a:t>
            </a:r>
            <a:endParaRPr lang="en-US" sz="100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闭环与复盘</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处置全程留痕并自动生成事件报告；误报确认结果回写规则库用于阈值优化</a:t>
            </a:r>
            <a:endParaRPr lang="en-US" sz="100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场景二：园区西侧周界振动光纤报警（安防）</a:t>
            </a:r>
            <a:endParaRPr lang="en-US" sz="1250" dirty="0"/>
          </a:p>
        </p:txBody>
      </p:sp>
      <p:sp>
        <p:nvSpPr>
          <p:cNvPr id="44" name="Shape 42"/>
          <p:cNvSpPr/>
          <p:nvPr/>
        </p:nvSpPr>
        <p:spPr>
          <a:xfrm>
            <a:off x="530352" y="4370832"/>
            <a:ext cx="2645588" cy="1152144"/>
          </a:xfrm>
          <a:prstGeom prst="roundRect">
            <a:avLst>
              <a:gd name="adj" fmla="val 2778"/>
            </a:avLst>
          </a:prstGeom>
          <a:solidFill>
            <a:srgbClr val="F6F8FA"/>
          </a:solidFill>
          <a:ln w="9525">
            <a:solidFill>
              <a:srgbClr val="E3E7EB"/>
            </a:solidFill>
            <a:prstDash val="solid"/>
          </a:ln>
        </p:spPr>
      </p:sp>
      <p:sp>
        <p:nvSpPr>
          <p:cNvPr id="45" name="Shape 43"/>
          <p:cNvSpPr/>
          <p:nvPr/>
        </p:nvSpPr>
        <p:spPr>
          <a:xfrm>
            <a:off x="676656" y="4480560"/>
            <a:ext cx="1097280" cy="274320"/>
          </a:xfrm>
          <a:prstGeom prst="roundRect">
            <a:avLst>
              <a:gd name="adj" fmla="val 16667"/>
            </a:avLst>
          </a:prstGeom>
          <a:solidFill>
            <a:srgbClr val="0E2340"/>
          </a:solidFill>
          <a:ln/>
        </p:spPr>
      </p:sp>
      <p:sp>
        <p:nvSpPr>
          <p:cNvPr id="46" name="Text 44"/>
          <p:cNvSpPr txBox="1"/>
          <p:nvPr/>
        </p:nvSpPr>
        <p:spPr>
          <a:xfrm>
            <a:off x="676656"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0—10s</a:t>
            </a:r>
            <a:endParaRPr lang="en-US" sz="1000" dirty="0"/>
          </a:p>
        </p:txBody>
      </p:sp>
      <p:sp>
        <p:nvSpPr>
          <p:cNvPr id="47" name="Text 45"/>
          <p:cNvSpPr txBox="1"/>
          <p:nvPr/>
        </p:nvSpPr>
        <p:spPr>
          <a:xfrm>
            <a:off x="1847088"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双源确认</a:t>
            </a:r>
            <a:endParaRPr lang="en-US" sz="1050" dirty="0"/>
          </a:p>
        </p:txBody>
      </p:sp>
      <p:sp>
        <p:nvSpPr>
          <p:cNvPr id="48" name="Text 46"/>
          <p:cNvSpPr txBox="1"/>
          <p:nvPr/>
        </p:nvSpPr>
        <p:spPr>
          <a:xfrm>
            <a:off x="676656"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振动光纤定位报警区段，系统自动调取该区段联动摄像机画面，人形目标识别成立</a:t>
            </a:r>
            <a:endParaRPr lang="en-US" sz="1000" dirty="0"/>
          </a:p>
        </p:txBody>
      </p:sp>
      <p:sp>
        <p:nvSpPr>
          <p:cNvPr id="49" name="Shape 47"/>
          <p:cNvSpPr/>
          <p:nvPr/>
        </p:nvSpPr>
        <p:spPr>
          <a:xfrm>
            <a:off x="3358820" y="4370832"/>
            <a:ext cx="2645588" cy="1152144"/>
          </a:xfrm>
          <a:prstGeom prst="roundRect">
            <a:avLst>
              <a:gd name="adj" fmla="val 2778"/>
            </a:avLst>
          </a:prstGeom>
          <a:solidFill>
            <a:srgbClr val="F6F8FA"/>
          </a:solidFill>
          <a:ln w="9525">
            <a:solidFill>
              <a:srgbClr val="E3E7EB"/>
            </a:solidFill>
            <a:prstDash val="solid"/>
          </a:ln>
        </p:spPr>
      </p:sp>
      <p:sp>
        <p:nvSpPr>
          <p:cNvPr id="50" name="Shape 48"/>
          <p:cNvSpPr/>
          <p:nvPr/>
        </p:nvSpPr>
        <p:spPr>
          <a:xfrm>
            <a:off x="3505124" y="4480560"/>
            <a:ext cx="1097280" cy="274320"/>
          </a:xfrm>
          <a:prstGeom prst="roundRect">
            <a:avLst>
              <a:gd name="adj" fmla="val 16667"/>
            </a:avLst>
          </a:prstGeom>
          <a:solidFill>
            <a:srgbClr val="0E2340"/>
          </a:solidFill>
          <a:ln/>
        </p:spPr>
      </p:sp>
      <p:sp>
        <p:nvSpPr>
          <p:cNvPr id="51" name="Text 49"/>
          <p:cNvSpPr txBox="1"/>
          <p:nvPr/>
        </p:nvSpPr>
        <p:spPr>
          <a:xfrm>
            <a:off x="3505124"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10—30s</a:t>
            </a:r>
            <a:endParaRPr lang="en-US" sz="1000" dirty="0"/>
          </a:p>
        </p:txBody>
      </p:sp>
      <p:sp>
        <p:nvSpPr>
          <p:cNvPr id="52" name="Text 50"/>
          <p:cNvSpPr txBox="1"/>
          <p:nvPr/>
        </p:nvSpPr>
        <p:spPr>
          <a:xfrm>
            <a:off x="4675556"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分级派单</a:t>
            </a:r>
            <a:endParaRPr lang="en-US" sz="1050" dirty="0"/>
          </a:p>
        </p:txBody>
      </p:sp>
      <p:sp>
        <p:nvSpPr>
          <p:cNvPr id="53" name="Text 51"/>
          <p:cNvSpPr txBox="1"/>
          <p:nvPr/>
        </p:nvSpPr>
        <p:spPr>
          <a:xfrm>
            <a:off x="3505124"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判定为有效越界，生成安防工单并按值班表推送至最近巡逻岗，附现场画面与坐标</a:t>
            </a:r>
            <a:endParaRPr lang="en-US" sz="1000" dirty="0"/>
          </a:p>
        </p:txBody>
      </p:sp>
      <p:sp>
        <p:nvSpPr>
          <p:cNvPr id="54" name="Shape 52"/>
          <p:cNvSpPr/>
          <p:nvPr/>
        </p:nvSpPr>
        <p:spPr>
          <a:xfrm>
            <a:off x="6187288" y="4370832"/>
            <a:ext cx="2645588" cy="1152144"/>
          </a:xfrm>
          <a:prstGeom prst="roundRect">
            <a:avLst>
              <a:gd name="adj" fmla="val 2778"/>
            </a:avLst>
          </a:prstGeom>
          <a:solidFill>
            <a:srgbClr val="F6F8FA"/>
          </a:solidFill>
          <a:ln w="9525">
            <a:solidFill>
              <a:srgbClr val="E3E7EB"/>
            </a:solidFill>
            <a:prstDash val="solid"/>
          </a:ln>
        </p:spPr>
      </p:sp>
      <p:sp>
        <p:nvSpPr>
          <p:cNvPr id="55" name="Shape 53"/>
          <p:cNvSpPr/>
          <p:nvPr/>
        </p:nvSpPr>
        <p:spPr>
          <a:xfrm>
            <a:off x="6333592" y="4480560"/>
            <a:ext cx="1097280" cy="274320"/>
          </a:xfrm>
          <a:prstGeom prst="roundRect">
            <a:avLst>
              <a:gd name="adj" fmla="val 16667"/>
            </a:avLst>
          </a:prstGeom>
          <a:solidFill>
            <a:srgbClr val="0E2340"/>
          </a:solidFill>
          <a:ln/>
        </p:spPr>
      </p:sp>
      <p:sp>
        <p:nvSpPr>
          <p:cNvPr id="56" name="Text 54"/>
          <p:cNvSpPr txBox="1"/>
          <p:nvPr/>
        </p:nvSpPr>
        <p:spPr>
          <a:xfrm>
            <a:off x="6333592"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30—60s</a:t>
            </a:r>
            <a:endParaRPr lang="en-US" sz="1000" dirty="0"/>
          </a:p>
        </p:txBody>
      </p:sp>
      <p:sp>
        <p:nvSpPr>
          <p:cNvPr id="57" name="Text 55"/>
          <p:cNvSpPr txBox="1"/>
          <p:nvPr/>
        </p:nvSpPr>
        <p:spPr>
          <a:xfrm>
            <a:off x="7504024"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现场处置</a:t>
            </a:r>
            <a:endParaRPr lang="en-US" sz="1050" dirty="0"/>
          </a:p>
        </p:txBody>
      </p:sp>
      <p:sp>
        <p:nvSpPr>
          <p:cNvPr id="58" name="Text 56"/>
          <p:cNvSpPr txBox="1"/>
          <p:nvPr/>
        </p:nvSpPr>
        <p:spPr>
          <a:xfrm>
            <a:off x="6333592"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巡逻人员到位核实，手持终端上报处置情况；若为可疑人员，一键呼叫支援并联动周边门禁</a:t>
            </a:r>
            <a:endParaRPr lang="en-US" sz="1000" dirty="0"/>
          </a:p>
        </p:txBody>
      </p:sp>
      <p:sp>
        <p:nvSpPr>
          <p:cNvPr id="59" name="Shape 57"/>
          <p:cNvSpPr/>
          <p:nvPr/>
        </p:nvSpPr>
        <p:spPr>
          <a:xfrm>
            <a:off x="9015755" y="4370832"/>
            <a:ext cx="2645588" cy="1152144"/>
          </a:xfrm>
          <a:prstGeom prst="roundRect">
            <a:avLst>
              <a:gd name="adj" fmla="val 2778"/>
            </a:avLst>
          </a:prstGeom>
          <a:solidFill>
            <a:srgbClr val="F6F8FA"/>
          </a:solidFill>
          <a:ln w="9525">
            <a:solidFill>
              <a:srgbClr val="E3E7EB"/>
            </a:solidFill>
            <a:prstDash val="solid"/>
          </a:ln>
        </p:spPr>
      </p:sp>
      <p:sp>
        <p:nvSpPr>
          <p:cNvPr id="60" name="Shape 58"/>
          <p:cNvSpPr/>
          <p:nvPr/>
        </p:nvSpPr>
        <p:spPr>
          <a:xfrm>
            <a:off x="9162059" y="4480560"/>
            <a:ext cx="1097280" cy="274320"/>
          </a:xfrm>
          <a:prstGeom prst="roundRect">
            <a:avLst>
              <a:gd name="adj" fmla="val 16667"/>
            </a:avLst>
          </a:prstGeom>
          <a:solidFill>
            <a:srgbClr val="0E2340"/>
          </a:solidFill>
          <a:ln/>
        </p:spPr>
      </p:sp>
      <p:sp>
        <p:nvSpPr>
          <p:cNvPr id="61" name="Text 59"/>
          <p:cNvSpPr txBox="1"/>
          <p:nvPr/>
        </p:nvSpPr>
        <p:spPr>
          <a:xfrm>
            <a:off x="9162059"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60—90s</a:t>
            </a:r>
            <a:endParaRPr lang="en-US" sz="1000" dirty="0"/>
          </a:p>
        </p:txBody>
      </p:sp>
      <p:sp>
        <p:nvSpPr>
          <p:cNvPr id="62" name="Text 60"/>
          <p:cNvSpPr txBox="1"/>
          <p:nvPr/>
        </p:nvSpPr>
        <p:spPr>
          <a:xfrm>
            <a:off x="10332491"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闭环归档</a:t>
            </a:r>
            <a:endParaRPr lang="en-US" sz="1050" dirty="0"/>
          </a:p>
        </p:txBody>
      </p:sp>
      <p:sp>
        <p:nvSpPr>
          <p:cNvPr id="63" name="Text 61"/>
          <p:cNvSpPr txBox="1"/>
          <p:nvPr/>
        </p:nvSpPr>
        <p:spPr>
          <a:xfrm>
            <a:off x="9162059"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处置结果回填工单，事件进入周界告警台账；同一区段高频报警自动进入优化清单</a:t>
            </a:r>
            <a:endParaRPr lang="en-US" sz="1000" dirty="0"/>
          </a:p>
        </p:txBody>
      </p:sp>
      <p:sp>
        <p:nvSpPr>
          <p:cNvPr id="64" name="Shape 62"/>
          <p:cNvSpPr/>
          <p:nvPr/>
        </p:nvSpPr>
        <p:spPr>
          <a:xfrm>
            <a:off x="530352" y="5632704"/>
            <a:ext cx="11130991" cy="841248"/>
          </a:xfrm>
          <a:prstGeom prst="roundRect">
            <a:avLst>
              <a:gd name="adj" fmla="val 380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5" name="Text 63"/>
          <p:cNvSpPr txBox="1"/>
          <p:nvPr/>
        </p:nvSpPr>
        <p:spPr>
          <a:xfrm>
            <a:off x="768096" y="5724144"/>
            <a:ext cx="18288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两个场景的共同点</a:t>
            </a:r>
            <a:endParaRPr lang="en-US" sz="1100" dirty="0"/>
          </a:p>
        </p:txBody>
      </p:sp>
      <p:sp>
        <p:nvSpPr>
          <p:cNvPr id="66" name="Text 64"/>
          <p:cNvSpPr txBox="1"/>
          <p:nvPr/>
        </p:nvSpPr>
        <p:spPr>
          <a:xfrm>
            <a:off x="2651760" y="5687568"/>
            <a:ext cx="8753551" cy="658368"/>
          </a:xfrm>
          <a:prstGeom prst="rect">
            <a:avLst/>
          </a:prstGeom>
          <a:noFill/>
          <a:ln/>
        </p:spPr>
        <p:txBody>
          <a:bodyPr wrap="square" lIns="0" tIns="0" rIns="0" bIns="0" rtlCol="0" anchor="ctr"/>
          <a:lstStyle/>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都不是"报警响了通知人"，而是"多源确认后自动动作、自动派单、自动留痕、自动回写规则"。误报被压下去，真报警的处置时间被压缩，值班员的注意力才用在对的地方——这就是平台与传统报警主机的区别。</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场景流程模拟（三）：一名新员工入住、一次食堂差评</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宿舍管理 · 外协管理 · 两个高频民生场景，直接决定员工体验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场景一：新入职员工申请宿舍到入住完成（宿舍管理）</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D+0</a:t>
            </a:r>
            <a:endParaRPr lang="en-US" sz="100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线上申请</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钉钉提交住宿申请，系统自动带出工号、部门、入职日期与用工性质</a:t>
            </a:r>
            <a:endParaRPr lang="en-US" sz="100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D+0</a:t>
            </a:r>
            <a:endParaRPr lang="en-US" sz="100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资格与审批</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按资格规则自动判定，审批流按园区与部门自动路由，进度可查</a:t>
            </a:r>
            <a:endParaRPr lang="en-US" sz="100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智能分房</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结合性别、班次、部门与生活习惯标签推荐床位，避免夜白班混住</a:t>
            </a:r>
            <a:endParaRPr lang="en-US" sz="100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入住办理</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手机端确认入住，门禁权限自动开通，水电起算日自动写入，物品线上签收</a:t>
            </a:r>
            <a:endParaRPr lang="en-US" sz="100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入住期间</a:t>
            </a:r>
            <a:endParaRPr lang="en-US" sz="100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在住服务</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维修一键报单、同住人员可见、住宿时长与免费天数自助查询，到期前 30 天提醒</a:t>
            </a:r>
            <a:endParaRPr lang="en-US" sz="100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离职 / 调寝</a:t>
            </a:r>
            <a:endParaRPr lang="en-US" sz="100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退宿闭环</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离职流程触发退宿提醒，验收后自动清除门禁权限、注销账户并结算费用</a:t>
            </a:r>
            <a:endParaRPr lang="en-US" sz="100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场景二：员工对食堂一次差评，如何变成外协单位的考核结果（外协管理）</a:t>
            </a:r>
            <a:endParaRPr lang="en-US" sz="1250" dirty="0"/>
          </a:p>
        </p:txBody>
      </p:sp>
      <p:sp>
        <p:nvSpPr>
          <p:cNvPr id="44" name="Shape 42"/>
          <p:cNvSpPr/>
          <p:nvPr/>
        </p:nvSpPr>
        <p:spPr>
          <a:xfrm>
            <a:off x="530352" y="4370832"/>
            <a:ext cx="1809445" cy="475488"/>
          </a:xfrm>
          <a:prstGeom prst="homePlate">
            <a:avLst/>
          </a:prstGeom>
          <a:solidFill>
            <a:srgbClr val="F97B00"/>
          </a:solidFill>
          <a:ln/>
        </p:spPr>
      </p:sp>
      <p:sp>
        <p:nvSpPr>
          <p:cNvPr id="45" name="Text 43"/>
          <p:cNvSpPr txBox="1"/>
          <p:nvPr/>
        </p:nvSpPr>
        <p:spPr>
          <a:xfrm>
            <a:off x="74748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员工扫码评价</a:t>
            </a:r>
            <a:endParaRPr lang="en-US" sz="1150" dirty="0"/>
          </a:p>
        </p:txBody>
      </p:sp>
      <p:sp>
        <p:nvSpPr>
          <p:cNvPr id="46" name="Shape 44"/>
          <p:cNvSpPr/>
          <p:nvPr/>
        </p:nvSpPr>
        <p:spPr>
          <a:xfrm>
            <a:off x="2394661" y="4370832"/>
            <a:ext cx="1809445" cy="475488"/>
          </a:xfrm>
          <a:prstGeom prst="chevron">
            <a:avLst/>
          </a:prstGeom>
          <a:solidFill>
            <a:srgbClr val="FF9F3D"/>
          </a:solidFill>
          <a:ln/>
        </p:spPr>
      </p:sp>
      <p:sp>
        <p:nvSpPr>
          <p:cNvPr id="47" name="Text 45"/>
          <p:cNvSpPr txBox="1"/>
          <p:nvPr/>
        </p:nvSpPr>
        <p:spPr>
          <a:xfrm>
            <a:off x="261179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差评自动建单</a:t>
            </a:r>
            <a:endParaRPr lang="en-US" sz="1150" dirty="0"/>
          </a:p>
        </p:txBody>
      </p:sp>
      <p:sp>
        <p:nvSpPr>
          <p:cNvPr id="48" name="Shape 46"/>
          <p:cNvSpPr/>
          <p:nvPr/>
        </p:nvSpPr>
        <p:spPr>
          <a:xfrm>
            <a:off x="4258970" y="4370832"/>
            <a:ext cx="1809445" cy="475488"/>
          </a:xfrm>
          <a:prstGeom prst="chevron">
            <a:avLst/>
          </a:prstGeom>
          <a:solidFill>
            <a:srgbClr val="F97B00"/>
          </a:solidFill>
          <a:ln/>
        </p:spPr>
      </p:sp>
      <p:sp>
        <p:nvSpPr>
          <p:cNvPr id="49" name="Text 47"/>
          <p:cNvSpPr txBox="1"/>
          <p:nvPr/>
        </p:nvSpPr>
        <p:spPr>
          <a:xfrm>
            <a:off x="4476104"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外协单位响应</a:t>
            </a:r>
            <a:endParaRPr lang="en-US" sz="1150" dirty="0"/>
          </a:p>
        </p:txBody>
      </p:sp>
      <p:sp>
        <p:nvSpPr>
          <p:cNvPr id="50" name="Shape 48"/>
          <p:cNvSpPr/>
          <p:nvPr/>
        </p:nvSpPr>
        <p:spPr>
          <a:xfrm>
            <a:off x="6123280" y="4370832"/>
            <a:ext cx="1809445" cy="475488"/>
          </a:xfrm>
          <a:prstGeom prst="chevron">
            <a:avLst/>
          </a:prstGeom>
          <a:solidFill>
            <a:srgbClr val="FF9F3D"/>
          </a:solidFill>
          <a:ln/>
        </p:spPr>
      </p:sp>
      <p:sp>
        <p:nvSpPr>
          <p:cNvPr id="51" name="Text 49"/>
          <p:cNvSpPr txBox="1"/>
          <p:nvPr/>
        </p:nvSpPr>
        <p:spPr>
          <a:xfrm>
            <a:off x="6340413"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整改与回访</a:t>
            </a:r>
            <a:endParaRPr lang="en-US" sz="1150" dirty="0"/>
          </a:p>
        </p:txBody>
      </p:sp>
      <p:sp>
        <p:nvSpPr>
          <p:cNvPr id="52" name="Shape 50"/>
          <p:cNvSpPr/>
          <p:nvPr/>
        </p:nvSpPr>
        <p:spPr>
          <a:xfrm>
            <a:off x="7987589" y="4370832"/>
            <a:ext cx="1809445" cy="475488"/>
          </a:xfrm>
          <a:prstGeom prst="chevron">
            <a:avLst/>
          </a:prstGeom>
          <a:solidFill>
            <a:srgbClr val="F97B00"/>
          </a:solidFill>
          <a:ln/>
        </p:spPr>
      </p:sp>
      <p:sp>
        <p:nvSpPr>
          <p:cNvPr id="53" name="Text 51"/>
          <p:cNvSpPr txBox="1"/>
          <p:nvPr/>
        </p:nvSpPr>
        <p:spPr>
          <a:xfrm>
            <a:off x="8204722"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评分入结算</a:t>
            </a:r>
            <a:endParaRPr lang="en-US" sz="1150" dirty="0"/>
          </a:p>
        </p:txBody>
      </p:sp>
      <p:sp>
        <p:nvSpPr>
          <p:cNvPr id="54" name="Shape 52"/>
          <p:cNvSpPr/>
          <p:nvPr/>
        </p:nvSpPr>
        <p:spPr>
          <a:xfrm>
            <a:off x="9851898" y="4370832"/>
            <a:ext cx="1809445" cy="475488"/>
          </a:xfrm>
          <a:prstGeom prst="chevron">
            <a:avLst/>
          </a:prstGeom>
          <a:solidFill>
            <a:srgbClr val="FF9F3D"/>
          </a:solidFill>
          <a:ln/>
        </p:spPr>
      </p:sp>
      <p:sp>
        <p:nvSpPr>
          <p:cNvPr id="55" name="Text 53"/>
          <p:cNvSpPr txBox="1"/>
          <p:nvPr/>
        </p:nvSpPr>
        <p:spPr>
          <a:xfrm>
            <a:off x="10069031"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月度绩效归档</a:t>
            </a:r>
            <a:endParaRPr lang="en-US" sz="1150" dirty="0"/>
          </a:p>
        </p:txBody>
      </p:sp>
      <p:sp>
        <p:nvSpPr>
          <p:cNvPr id="56" name="Shape 54"/>
          <p:cNvSpPr/>
          <p:nvPr/>
        </p:nvSpPr>
        <p:spPr>
          <a:xfrm>
            <a:off x="530352" y="4992624"/>
            <a:ext cx="2645588" cy="914400"/>
          </a:xfrm>
          <a:prstGeom prst="roundRect">
            <a:avLst>
              <a:gd name="adj" fmla="val 3500"/>
            </a:avLst>
          </a:prstGeom>
          <a:solidFill>
            <a:srgbClr val="FFF7EF"/>
          </a:solidFill>
          <a:ln w="9525">
            <a:solidFill>
              <a:srgbClr val="F6DCC2"/>
            </a:solidFill>
            <a:prstDash val="solid"/>
          </a:ln>
        </p:spPr>
      </p:sp>
      <p:sp>
        <p:nvSpPr>
          <p:cNvPr id="57" name="Text 55"/>
          <p:cNvSpPr txBox="1"/>
          <p:nvPr/>
        </p:nvSpPr>
        <p:spPr>
          <a:xfrm>
            <a:off x="694944"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不落空</a:t>
            </a:r>
            <a:endParaRPr lang="en-US" sz="1150" dirty="0"/>
          </a:p>
        </p:txBody>
      </p:sp>
      <p:sp>
        <p:nvSpPr>
          <p:cNvPr id="58" name="Text 56"/>
          <p:cNvSpPr txBox="1"/>
          <p:nvPr/>
        </p:nvSpPr>
        <p:spPr>
          <a:xfrm>
            <a:off x="694944"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差评不是留在意见箱里，而是自动生成工单派给对应外协单位，带响应时限</a:t>
            </a:r>
            <a:endParaRPr lang="en-US" sz="1000" dirty="0"/>
          </a:p>
        </p:txBody>
      </p:sp>
      <p:sp>
        <p:nvSpPr>
          <p:cNvPr id="59" name="Shape 57"/>
          <p:cNvSpPr/>
          <p:nvPr/>
        </p:nvSpPr>
        <p:spPr>
          <a:xfrm>
            <a:off x="3358820" y="4992624"/>
            <a:ext cx="2645588" cy="914400"/>
          </a:xfrm>
          <a:prstGeom prst="roundRect">
            <a:avLst>
              <a:gd name="adj" fmla="val 3500"/>
            </a:avLst>
          </a:prstGeom>
          <a:solidFill>
            <a:srgbClr val="FFF7EF"/>
          </a:solidFill>
          <a:ln w="9525">
            <a:solidFill>
              <a:srgbClr val="F6DCC2"/>
            </a:solidFill>
            <a:prstDash val="solid"/>
          </a:ln>
        </p:spPr>
      </p:sp>
      <p:sp>
        <p:nvSpPr>
          <p:cNvPr id="60" name="Text 58"/>
          <p:cNvSpPr txBox="1"/>
          <p:nvPr/>
        </p:nvSpPr>
        <p:spPr>
          <a:xfrm>
            <a:off x="3523412"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能追溯</a:t>
            </a:r>
            <a:endParaRPr lang="en-US" sz="1150" dirty="0"/>
          </a:p>
        </p:txBody>
      </p:sp>
      <p:sp>
        <p:nvSpPr>
          <p:cNvPr id="61" name="Text 59"/>
          <p:cNvSpPr txBox="1"/>
          <p:nvPr/>
        </p:nvSpPr>
        <p:spPr>
          <a:xfrm>
            <a:off x="3523412"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整改过程、回访结果、同类问题频次全部留痕，形成该单位的服务档案</a:t>
            </a:r>
            <a:endParaRPr lang="en-US" sz="1000" dirty="0"/>
          </a:p>
        </p:txBody>
      </p:sp>
      <p:sp>
        <p:nvSpPr>
          <p:cNvPr id="62" name="Shape 60"/>
          <p:cNvSpPr/>
          <p:nvPr/>
        </p:nvSpPr>
        <p:spPr>
          <a:xfrm>
            <a:off x="6187288" y="4992624"/>
            <a:ext cx="2645588" cy="914400"/>
          </a:xfrm>
          <a:prstGeom prst="roundRect">
            <a:avLst>
              <a:gd name="adj" fmla="val 3500"/>
            </a:avLst>
          </a:prstGeom>
          <a:solidFill>
            <a:srgbClr val="FFF7EF"/>
          </a:solidFill>
          <a:ln w="9525">
            <a:solidFill>
              <a:srgbClr val="F6DCC2"/>
            </a:solidFill>
            <a:prstDash val="solid"/>
          </a:ln>
        </p:spPr>
      </p:sp>
      <p:sp>
        <p:nvSpPr>
          <p:cNvPr id="63" name="Text 61"/>
          <p:cNvSpPr txBox="1"/>
          <p:nvPr/>
        </p:nvSpPr>
        <p:spPr>
          <a:xfrm>
            <a:off x="6351880"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见结果</a:t>
            </a:r>
            <a:endParaRPr lang="en-US" sz="1150" dirty="0"/>
          </a:p>
        </p:txBody>
      </p:sp>
      <p:sp>
        <p:nvSpPr>
          <p:cNvPr id="64" name="Text 62"/>
          <p:cNvSpPr txBox="1"/>
          <p:nvPr/>
        </p:nvSpPr>
        <p:spPr>
          <a:xfrm>
            <a:off x="6351880"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评分自动关联月度结算金额，扣分扣点扣款与奖励项由系统计算，不再靠人工 Excel 汇总</a:t>
            </a:r>
            <a:endParaRPr lang="en-US" sz="1000" dirty="0"/>
          </a:p>
        </p:txBody>
      </p:sp>
      <p:sp>
        <p:nvSpPr>
          <p:cNvPr id="65" name="Shape 63"/>
          <p:cNvSpPr/>
          <p:nvPr/>
        </p:nvSpPr>
        <p:spPr>
          <a:xfrm>
            <a:off x="9015755" y="4992624"/>
            <a:ext cx="2645588" cy="914400"/>
          </a:xfrm>
          <a:prstGeom prst="roundRect">
            <a:avLst>
              <a:gd name="adj" fmla="val 3500"/>
            </a:avLst>
          </a:prstGeom>
          <a:solidFill>
            <a:srgbClr val="FFF7EF"/>
          </a:solidFill>
          <a:ln w="9525">
            <a:solidFill>
              <a:srgbClr val="F6DCC2"/>
            </a:solidFill>
            <a:prstDash val="solid"/>
          </a:ln>
        </p:spPr>
      </p:sp>
      <p:sp>
        <p:nvSpPr>
          <p:cNvPr id="66" name="Text 64"/>
          <p:cNvSpPr txBox="1"/>
          <p:nvPr/>
        </p:nvSpPr>
        <p:spPr>
          <a:xfrm>
            <a:off x="9180347"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可对比</a:t>
            </a:r>
            <a:endParaRPr lang="en-US" sz="1150" dirty="0"/>
          </a:p>
        </p:txBody>
      </p:sp>
      <p:sp>
        <p:nvSpPr>
          <p:cNvPr id="67" name="Text 65"/>
          <p:cNvSpPr txBox="1"/>
          <p:nvPr/>
        </p:nvSpPr>
        <p:spPr>
          <a:xfrm>
            <a:off x="9180347"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物业、食堂、超市、维修各单位横向排名，合同履约情况与续约决策有数据支撑</a:t>
            </a:r>
            <a:endParaRPr lang="en-US" sz="1000" dirty="0"/>
          </a:p>
        </p:txBody>
      </p:sp>
      <p:sp>
        <p:nvSpPr>
          <p:cNvPr id="68" name="Text 66"/>
          <p:cNvSpPr txBox="1"/>
          <p:nvPr/>
        </p:nvSpPr>
        <p:spPr>
          <a:xfrm>
            <a:off x="530352" y="6035040"/>
            <a:ext cx="11130991" cy="310896"/>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这两个场景不涉及复杂技术，但员工每天都在用——它们决定了平台在一线的口碑，也是"系统被用起来"最直接的证据。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跨场景联动闭环：五大子系统不是五个系统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同一个底座、同一个工单池、同一张地图——一个事件可以穿过多个场景自动流转</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一个真实事件的跨场景流转：危化仓库门口一辆待卸车辆被检出气体浓度异常</a:t>
            </a:r>
            <a:endParaRPr lang="en-US" sz="1250" dirty="0"/>
          </a:p>
        </p:txBody>
      </p:sp>
      <p:sp>
        <p:nvSpPr>
          <p:cNvPr id="7" name="Shape 5"/>
          <p:cNvSpPr/>
          <p:nvPr/>
        </p:nvSpPr>
        <p:spPr>
          <a:xfrm>
            <a:off x="530352" y="1536192"/>
            <a:ext cx="2065264" cy="1572768"/>
          </a:xfrm>
          <a:prstGeom prst="roundRect">
            <a:avLst>
              <a:gd name="adj" fmla="val 2035"/>
            </a:avLst>
          </a:prstGeom>
          <a:solidFill>
            <a:srgbClr val="F6F8FA"/>
          </a:solidFill>
          <a:ln w="9525">
            <a:solidFill>
              <a:srgbClr val="E3E7EB"/>
            </a:solidFill>
            <a:prstDash val="solid"/>
          </a:ln>
        </p:spPr>
      </p:sp>
      <p:sp>
        <p:nvSpPr>
          <p:cNvPr id="8" name="Shape 6"/>
          <p:cNvSpPr/>
          <p:nvPr/>
        </p:nvSpPr>
        <p:spPr>
          <a:xfrm>
            <a:off x="1297808" y="1700784"/>
            <a:ext cx="530352" cy="530352"/>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441003" y="1843979"/>
            <a:ext cx="243962" cy="243962"/>
          </a:xfrm>
          <a:prstGeom prst="rect">
            <a:avLst/>
          </a:prstGeom>
        </p:spPr>
      </p:pic>
      <p:sp>
        <p:nvSpPr>
          <p:cNvPr id="10" name="Text 7"/>
          <p:cNvSpPr txBox="1"/>
          <p:nvPr/>
        </p:nvSpPr>
        <p:spPr>
          <a:xfrm>
            <a:off x="640080"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安防感知</a:t>
            </a:r>
            <a:endParaRPr lang="en-US" sz="1200" dirty="0"/>
          </a:p>
        </p:txBody>
      </p:sp>
      <p:sp>
        <p:nvSpPr>
          <p:cNvPr id="11" name="Text 8"/>
          <p:cNvSpPr txBox="1"/>
          <p:nvPr/>
        </p:nvSpPr>
        <p:spPr>
          <a:xfrm>
            <a:off x="676656"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危化区气体探测器与 AI 行为识别同时触发，判定为高风险事件</a:t>
            </a:r>
            <a:endParaRPr lang="en-US" sz="1000" dirty="0"/>
          </a:p>
        </p:txBody>
      </p:sp>
      <p:sp>
        <p:nvSpPr>
          <p:cNvPr id="12" name="Shape 9"/>
          <p:cNvSpPr/>
          <p:nvPr/>
        </p:nvSpPr>
        <p:spPr>
          <a:xfrm rot="5400000">
            <a:off x="2627620" y="2231136"/>
            <a:ext cx="146304" cy="182880"/>
          </a:xfrm>
          <a:prstGeom prst="triangle">
            <a:avLst/>
          </a:prstGeom>
          <a:solidFill>
            <a:srgbClr val="F97B00"/>
          </a:solidFill>
          <a:ln/>
        </p:spPr>
      </p:sp>
      <p:sp>
        <p:nvSpPr>
          <p:cNvPr id="13" name="Shape 10"/>
          <p:cNvSpPr/>
          <p:nvPr/>
        </p:nvSpPr>
        <p:spPr>
          <a:xfrm>
            <a:off x="2796784" y="1536192"/>
            <a:ext cx="2065264" cy="1572768"/>
          </a:xfrm>
          <a:prstGeom prst="roundRect">
            <a:avLst>
              <a:gd name="adj" fmla="val 2035"/>
            </a:avLst>
          </a:prstGeom>
          <a:solidFill>
            <a:srgbClr val="F6F8FA"/>
          </a:solidFill>
          <a:ln w="9525">
            <a:solidFill>
              <a:srgbClr val="E3E7EB"/>
            </a:solidFill>
            <a:prstDash val="solid"/>
          </a:ln>
        </p:spPr>
      </p:sp>
      <p:sp>
        <p:nvSpPr>
          <p:cNvPr id="14" name="Shape 11"/>
          <p:cNvSpPr/>
          <p:nvPr/>
        </p:nvSpPr>
        <p:spPr>
          <a:xfrm>
            <a:off x="3564240" y="1700784"/>
            <a:ext cx="530352" cy="530352"/>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3707435" y="1843979"/>
            <a:ext cx="243962" cy="243962"/>
          </a:xfrm>
          <a:prstGeom prst="rect">
            <a:avLst/>
          </a:prstGeom>
        </p:spPr>
      </p:pic>
      <p:sp>
        <p:nvSpPr>
          <p:cNvPr id="16" name="Text 12"/>
          <p:cNvSpPr txBox="1"/>
          <p:nvPr/>
        </p:nvSpPr>
        <p:spPr>
          <a:xfrm>
            <a:off x="2906512"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消防联动</a:t>
            </a:r>
            <a:endParaRPr lang="en-US" sz="1200" dirty="0"/>
          </a:p>
        </p:txBody>
      </p:sp>
      <p:sp>
        <p:nvSpPr>
          <p:cNvPr id="17" name="Text 13"/>
          <p:cNvSpPr txBox="1"/>
          <p:nvPr/>
        </p:nvSpPr>
        <p:spPr>
          <a:xfrm>
            <a:off x="2943088"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联动排烟与喷淋预备、切断该区域非必要用电、疏散通道门禁开启</a:t>
            </a:r>
            <a:endParaRPr lang="en-US" sz="1000" dirty="0"/>
          </a:p>
        </p:txBody>
      </p:sp>
      <p:sp>
        <p:nvSpPr>
          <p:cNvPr id="18" name="Shape 14"/>
          <p:cNvSpPr/>
          <p:nvPr/>
        </p:nvSpPr>
        <p:spPr>
          <a:xfrm rot="5400000">
            <a:off x="4894052" y="2231136"/>
            <a:ext cx="146304" cy="182880"/>
          </a:xfrm>
          <a:prstGeom prst="triangle">
            <a:avLst/>
          </a:prstGeom>
          <a:solidFill>
            <a:srgbClr val="F97B00"/>
          </a:solidFill>
          <a:ln/>
        </p:spPr>
      </p:sp>
      <p:sp>
        <p:nvSpPr>
          <p:cNvPr id="19" name="Shape 15"/>
          <p:cNvSpPr/>
          <p:nvPr/>
        </p:nvSpPr>
        <p:spPr>
          <a:xfrm>
            <a:off x="5063216" y="1536192"/>
            <a:ext cx="2065264" cy="1572768"/>
          </a:xfrm>
          <a:prstGeom prst="roundRect">
            <a:avLst>
              <a:gd name="adj" fmla="val 2035"/>
            </a:avLst>
          </a:prstGeom>
          <a:solidFill>
            <a:srgbClr val="F6F8FA"/>
          </a:solidFill>
          <a:ln w="9525">
            <a:solidFill>
              <a:srgbClr val="E3E7EB"/>
            </a:solidFill>
            <a:prstDash val="solid"/>
          </a:ln>
        </p:spPr>
      </p:sp>
      <p:sp>
        <p:nvSpPr>
          <p:cNvPr id="20" name="Shape 16"/>
          <p:cNvSpPr/>
          <p:nvPr/>
        </p:nvSpPr>
        <p:spPr>
          <a:xfrm>
            <a:off x="5830672" y="1700784"/>
            <a:ext cx="530352" cy="530352"/>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5973867" y="1843979"/>
            <a:ext cx="243962" cy="243962"/>
          </a:xfrm>
          <a:prstGeom prst="rect">
            <a:avLst/>
          </a:prstGeom>
        </p:spPr>
      </p:pic>
      <p:sp>
        <p:nvSpPr>
          <p:cNvPr id="22" name="Text 17"/>
          <p:cNvSpPr txBox="1"/>
          <p:nvPr/>
        </p:nvSpPr>
        <p:spPr>
          <a:xfrm>
            <a:off x="5172944"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物流调度</a:t>
            </a:r>
            <a:endParaRPr lang="en-US" sz="1200" dirty="0"/>
          </a:p>
        </p:txBody>
      </p:sp>
      <p:sp>
        <p:nvSpPr>
          <p:cNvPr id="23" name="Text 18"/>
          <p:cNvSpPr txBox="1"/>
          <p:nvPr/>
        </p:nvSpPr>
        <p:spPr>
          <a:xfrm>
            <a:off x="5209520"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该月台立即置为不可用，后续 3 车预约自动改派至备用月台并推送司机</a:t>
            </a:r>
            <a:endParaRPr lang="en-US" sz="1000" dirty="0"/>
          </a:p>
        </p:txBody>
      </p:sp>
      <p:sp>
        <p:nvSpPr>
          <p:cNvPr id="24" name="Shape 19"/>
          <p:cNvSpPr/>
          <p:nvPr/>
        </p:nvSpPr>
        <p:spPr>
          <a:xfrm rot="5400000">
            <a:off x="7160484" y="2231136"/>
            <a:ext cx="146304" cy="182880"/>
          </a:xfrm>
          <a:prstGeom prst="triangle">
            <a:avLst/>
          </a:prstGeom>
          <a:solidFill>
            <a:srgbClr val="F97B00"/>
          </a:solidFill>
          <a:ln/>
        </p:spPr>
      </p:sp>
      <p:sp>
        <p:nvSpPr>
          <p:cNvPr id="25" name="Shape 20"/>
          <p:cNvSpPr/>
          <p:nvPr/>
        </p:nvSpPr>
        <p:spPr>
          <a:xfrm>
            <a:off x="7329648" y="1536192"/>
            <a:ext cx="2065264" cy="1572768"/>
          </a:xfrm>
          <a:prstGeom prst="roundRect">
            <a:avLst>
              <a:gd name="adj" fmla="val 2035"/>
            </a:avLst>
          </a:prstGeom>
          <a:solidFill>
            <a:srgbClr val="F6F8FA"/>
          </a:solidFill>
          <a:ln w="9525">
            <a:solidFill>
              <a:srgbClr val="E3E7EB"/>
            </a:solidFill>
            <a:prstDash val="solid"/>
          </a:ln>
        </p:spPr>
      </p:sp>
      <p:sp>
        <p:nvSpPr>
          <p:cNvPr id="26" name="Shape 21"/>
          <p:cNvSpPr/>
          <p:nvPr/>
        </p:nvSpPr>
        <p:spPr>
          <a:xfrm>
            <a:off x="8097103" y="1700784"/>
            <a:ext cx="530352" cy="530352"/>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40298" y="1843979"/>
            <a:ext cx="243962" cy="243962"/>
          </a:xfrm>
          <a:prstGeom prst="rect">
            <a:avLst/>
          </a:prstGeom>
        </p:spPr>
      </p:pic>
      <p:sp>
        <p:nvSpPr>
          <p:cNvPr id="28" name="Text 22"/>
          <p:cNvSpPr txBox="1"/>
          <p:nvPr/>
        </p:nvSpPr>
        <p:spPr>
          <a:xfrm>
            <a:off x="7439376"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外协协同</a:t>
            </a:r>
            <a:endParaRPr lang="en-US" sz="1200" dirty="0"/>
          </a:p>
        </p:txBody>
      </p:sp>
      <p:sp>
        <p:nvSpPr>
          <p:cNvPr id="29" name="Text 23"/>
          <p:cNvSpPr txBox="1"/>
          <p:nvPr/>
        </p:nvSpPr>
        <p:spPr>
          <a:xfrm>
            <a:off x="7475952"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维修与保洁外协单位收到应急工单，按合同响应时限到场配合处置</a:t>
            </a:r>
            <a:endParaRPr lang="en-US" sz="1000" dirty="0"/>
          </a:p>
        </p:txBody>
      </p:sp>
      <p:sp>
        <p:nvSpPr>
          <p:cNvPr id="30" name="Shape 24"/>
          <p:cNvSpPr/>
          <p:nvPr/>
        </p:nvSpPr>
        <p:spPr>
          <a:xfrm rot="5400000">
            <a:off x="9426915" y="2231136"/>
            <a:ext cx="146304" cy="182880"/>
          </a:xfrm>
          <a:prstGeom prst="triangle">
            <a:avLst/>
          </a:prstGeom>
          <a:solidFill>
            <a:srgbClr val="F97B00"/>
          </a:solidFill>
          <a:ln/>
        </p:spPr>
      </p:sp>
      <p:sp>
        <p:nvSpPr>
          <p:cNvPr id="31" name="Shape 25"/>
          <p:cNvSpPr/>
          <p:nvPr/>
        </p:nvSpPr>
        <p:spPr>
          <a:xfrm>
            <a:off x="9596079" y="1536192"/>
            <a:ext cx="2065264" cy="1572768"/>
          </a:xfrm>
          <a:prstGeom prst="roundRect">
            <a:avLst>
              <a:gd name="adj" fmla="val 2035"/>
            </a:avLst>
          </a:prstGeom>
          <a:solidFill>
            <a:srgbClr val="F6F8FA"/>
          </a:solidFill>
          <a:ln w="9525">
            <a:solidFill>
              <a:srgbClr val="E3E7EB"/>
            </a:solidFill>
            <a:prstDash val="solid"/>
          </a:ln>
        </p:spPr>
      </p:sp>
      <p:sp>
        <p:nvSpPr>
          <p:cNvPr id="32" name="Shape 26"/>
          <p:cNvSpPr/>
          <p:nvPr/>
        </p:nvSpPr>
        <p:spPr>
          <a:xfrm>
            <a:off x="10363535" y="1700784"/>
            <a:ext cx="530352" cy="530352"/>
          </a:xfrm>
          <a:prstGeom prst="ellipse">
            <a:avLst/>
          </a:prstGeom>
          <a:solidFill>
            <a:srgbClr val="F97B00"/>
          </a:solidFill>
          <a:ln/>
        </p:spPr>
      </p:sp>
      <p:pic>
        <p:nvPicPr>
          <p:cNvPr id="33" name="Image 4" descr="preencoded.png">    </p:cNvPr>
          <p:cNvPicPr>
            <a:picLocks noChangeAspect="1"/>
          </p:cNvPicPr>
          <p:nvPr/>
        </p:nvPicPr>
        <p:blipFill>
          <a:blip r:embed="rId5"/>
          <a:stretch>
            <a:fillRect/>
          </a:stretch>
        </p:blipFill>
        <p:spPr>
          <a:xfrm>
            <a:off x="10506730" y="1843979"/>
            <a:ext cx="243962" cy="243962"/>
          </a:xfrm>
          <a:prstGeom prst="rect">
            <a:avLst/>
          </a:prstGeom>
        </p:spPr>
      </p:pic>
      <p:sp>
        <p:nvSpPr>
          <p:cNvPr id="34" name="Text 27"/>
          <p:cNvSpPr txBox="1"/>
          <p:nvPr/>
        </p:nvSpPr>
        <p:spPr>
          <a:xfrm>
            <a:off x="9705807"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运营复盘</a:t>
            </a:r>
            <a:endParaRPr lang="en-US" sz="1200" dirty="0"/>
          </a:p>
        </p:txBody>
      </p:sp>
      <p:sp>
        <p:nvSpPr>
          <p:cNvPr id="35" name="Text 28"/>
          <p:cNvSpPr txBox="1"/>
          <p:nvPr/>
        </p:nvSpPr>
        <p:spPr>
          <a:xfrm>
            <a:off x="9742383"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事件全链路数据进入驾驶舱，形成风险点位台账与阈值优化建议</a:t>
            </a:r>
            <a:endParaRPr lang="en-US" sz="1000" dirty="0"/>
          </a:p>
        </p:txBody>
      </p:sp>
      <p:sp>
        <p:nvSpPr>
          <p:cNvPr id="36" name="Shape 29"/>
          <p:cNvSpPr/>
          <p:nvPr/>
        </p:nvSpPr>
        <p:spPr>
          <a:xfrm>
            <a:off x="530352" y="3268980"/>
            <a:ext cx="68580" cy="173736"/>
          </a:xfrm>
          <a:prstGeom prst="rect">
            <a:avLst/>
          </a:prstGeom>
          <a:solidFill>
            <a:srgbClr val="F97B00"/>
          </a:solidFill>
          <a:ln/>
        </p:spPr>
      </p:sp>
      <p:sp>
        <p:nvSpPr>
          <p:cNvPr id="37" name="Text 30"/>
          <p:cNvSpPr txBox="1"/>
          <p:nvPr/>
        </p:nvSpPr>
        <p:spPr>
          <a:xfrm>
            <a:off x="685800" y="321868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支撑跨场景联动的四个"同一个"</a:t>
            </a:r>
            <a:endParaRPr lang="en-US" sz="1250" dirty="0"/>
          </a:p>
        </p:txBody>
      </p:sp>
      <p:sp>
        <p:nvSpPr>
          <p:cNvPr id="38" name="Shape 31"/>
          <p:cNvSpPr/>
          <p:nvPr/>
        </p:nvSpPr>
        <p:spPr>
          <a:xfrm>
            <a:off x="53035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9" name="Shape 32"/>
          <p:cNvSpPr/>
          <p:nvPr/>
        </p:nvSpPr>
        <p:spPr>
          <a:xfrm>
            <a:off x="713232" y="3712464"/>
            <a:ext cx="438912" cy="438912"/>
          </a:xfrm>
          <a:prstGeom prst="ellipse">
            <a:avLst/>
          </a:prstGeom>
          <a:solidFill>
            <a:srgbClr val="F97B00"/>
          </a:solidFill>
          <a:ln/>
        </p:spPr>
      </p:sp>
      <p:pic>
        <p:nvPicPr>
          <p:cNvPr id="40" name="Image 5" descr="preencoded.png">    </p:cNvPr>
          <p:cNvPicPr>
            <a:picLocks noChangeAspect="1"/>
          </p:cNvPicPr>
          <p:nvPr/>
        </p:nvPicPr>
        <p:blipFill>
          <a:blip r:embed="rId6"/>
          <a:stretch>
            <a:fillRect/>
          </a:stretch>
        </p:blipFill>
        <p:spPr>
          <a:xfrm>
            <a:off x="831738" y="3830970"/>
            <a:ext cx="201900" cy="201900"/>
          </a:xfrm>
          <a:prstGeom prst="rect">
            <a:avLst/>
          </a:prstGeom>
        </p:spPr>
      </p:pic>
      <p:sp>
        <p:nvSpPr>
          <p:cNvPr id="41" name="Text 33"/>
          <p:cNvSpPr txBox="1"/>
          <p:nvPr/>
        </p:nvSpPr>
        <p:spPr>
          <a:xfrm>
            <a:off x="124358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同一个底座</a:t>
            </a:r>
            <a:endParaRPr lang="en-US" sz="1250" dirty="0"/>
          </a:p>
        </p:txBody>
      </p:sp>
      <p:sp>
        <p:nvSpPr>
          <p:cNvPr id="42" name="Text 34"/>
          <p:cNvSpPr txBox="1"/>
          <p:nvPr/>
        </p:nvSpPr>
        <p:spPr>
          <a:xfrm>
            <a:off x="71323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人 / 车 / 空间 / 设备四类主数据统一编码，一个空间点位在五大子系统里指向同一对象，联动才有共同坐标</a:t>
            </a:r>
            <a:endParaRPr lang="en-US" sz="1000" dirty="0"/>
          </a:p>
        </p:txBody>
      </p:sp>
      <p:sp>
        <p:nvSpPr>
          <p:cNvPr id="43" name="Shape 35"/>
          <p:cNvSpPr/>
          <p:nvPr/>
        </p:nvSpPr>
        <p:spPr>
          <a:xfrm>
            <a:off x="336339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4" name="Shape 36"/>
          <p:cNvSpPr/>
          <p:nvPr/>
        </p:nvSpPr>
        <p:spPr>
          <a:xfrm>
            <a:off x="3546272" y="3712464"/>
            <a:ext cx="438912" cy="438912"/>
          </a:xfrm>
          <a:prstGeom prst="ellipse">
            <a:avLst/>
          </a:prstGeom>
          <a:solidFill>
            <a:srgbClr val="F97B00"/>
          </a:solidFill>
          <a:ln/>
        </p:spPr>
      </p:sp>
      <p:pic>
        <p:nvPicPr>
          <p:cNvPr id="45" name="Image 6" descr="preencoded.png">    </p:cNvPr>
          <p:cNvPicPr>
            <a:picLocks noChangeAspect="1"/>
          </p:cNvPicPr>
          <p:nvPr/>
        </p:nvPicPr>
        <p:blipFill>
          <a:blip r:embed="rId7"/>
          <a:stretch>
            <a:fillRect/>
          </a:stretch>
        </p:blipFill>
        <p:spPr>
          <a:xfrm>
            <a:off x="3664778" y="3830970"/>
            <a:ext cx="201900" cy="201900"/>
          </a:xfrm>
          <a:prstGeom prst="rect">
            <a:avLst/>
          </a:prstGeom>
        </p:spPr>
      </p:pic>
      <p:sp>
        <p:nvSpPr>
          <p:cNvPr id="46" name="Text 37"/>
          <p:cNvSpPr txBox="1"/>
          <p:nvPr/>
        </p:nvSpPr>
        <p:spPr>
          <a:xfrm>
            <a:off x="407662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同一个工单池</a:t>
            </a:r>
            <a:endParaRPr lang="en-US" sz="1250" dirty="0"/>
          </a:p>
        </p:txBody>
      </p:sp>
      <p:sp>
        <p:nvSpPr>
          <p:cNvPr id="47" name="Text 38"/>
          <p:cNvSpPr txBox="1"/>
          <p:nvPr/>
        </p:nvSpPr>
        <p:spPr>
          <a:xfrm>
            <a:off x="354627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五大场景的告警与请求全部进同一个池子，分级分类、按角色隔离权限、统一考核，不出现"各系统各派单"</a:t>
            </a:r>
            <a:endParaRPr lang="en-US" sz="1000" dirty="0"/>
          </a:p>
        </p:txBody>
      </p:sp>
      <p:sp>
        <p:nvSpPr>
          <p:cNvPr id="48" name="Shape 39"/>
          <p:cNvSpPr/>
          <p:nvPr/>
        </p:nvSpPr>
        <p:spPr>
          <a:xfrm>
            <a:off x="619643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9" name="Shape 40"/>
          <p:cNvSpPr/>
          <p:nvPr/>
        </p:nvSpPr>
        <p:spPr>
          <a:xfrm>
            <a:off x="6379312" y="3712464"/>
            <a:ext cx="438912" cy="438912"/>
          </a:xfrm>
          <a:prstGeom prst="ellipse">
            <a:avLst/>
          </a:prstGeom>
          <a:solidFill>
            <a:srgbClr val="F97B00"/>
          </a:solidFill>
          <a:ln/>
        </p:spPr>
      </p:sp>
      <p:pic>
        <p:nvPicPr>
          <p:cNvPr id="50" name="Image 7" descr="preencoded.png">    </p:cNvPr>
          <p:cNvPicPr>
            <a:picLocks noChangeAspect="1"/>
          </p:cNvPicPr>
          <p:nvPr/>
        </p:nvPicPr>
        <p:blipFill>
          <a:blip r:embed="rId8"/>
          <a:stretch>
            <a:fillRect/>
          </a:stretch>
        </p:blipFill>
        <p:spPr>
          <a:xfrm>
            <a:off x="6497818" y="3830970"/>
            <a:ext cx="201900" cy="201900"/>
          </a:xfrm>
          <a:prstGeom prst="rect">
            <a:avLst/>
          </a:prstGeom>
        </p:spPr>
      </p:pic>
      <p:sp>
        <p:nvSpPr>
          <p:cNvPr id="51" name="Text 41"/>
          <p:cNvSpPr txBox="1"/>
          <p:nvPr/>
        </p:nvSpPr>
        <p:spPr>
          <a:xfrm>
            <a:off x="690966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同一张地图</a:t>
            </a:r>
            <a:endParaRPr lang="en-US" sz="1250" dirty="0"/>
          </a:p>
        </p:txBody>
      </p:sp>
      <p:sp>
        <p:nvSpPr>
          <p:cNvPr id="52" name="Text 42"/>
          <p:cNvSpPr txBox="1"/>
          <p:nvPr/>
        </p:nvSpPr>
        <p:spPr>
          <a:xfrm>
            <a:off x="637931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2.5D 一张图承载消防设施、安防点位、月台、宿舍楼与外协作业面，跨场景事件在同一视图上定位与指挥</a:t>
            </a:r>
            <a:endParaRPr lang="en-US" sz="1000" dirty="0"/>
          </a:p>
        </p:txBody>
      </p:sp>
      <p:sp>
        <p:nvSpPr>
          <p:cNvPr id="53" name="Shape 43"/>
          <p:cNvSpPr/>
          <p:nvPr/>
        </p:nvSpPr>
        <p:spPr>
          <a:xfrm>
            <a:off x="9029471"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54" name="Shape 44"/>
          <p:cNvSpPr/>
          <p:nvPr/>
        </p:nvSpPr>
        <p:spPr>
          <a:xfrm>
            <a:off x="9212351" y="3712464"/>
            <a:ext cx="438912" cy="438912"/>
          </a:xfrm>
          <a:prstGeom prst="ellipse">
            <a:avLst/>
          </a:prstGeom>
          <a:solidFill>
            <a:srgbClr val="F97B00"/>
          </a:solidFill>
          <a:ln/>
        </p:spPr>
      </p:sp>
      <p:pic>
        <p:nvPicPr>
          <p:cNvPr id="55" name="Image 8" descr="preencoded.png">    </p:cNvPr>
          <p:cNvPicPr>
            <a:picLocks noChangeAspect="1"/>
          </p:cNvPicPr>
          <p:nvPr/>
        </p:nvPicPr>
        <p:blipFill>
          <a:blip r:embed="rId9"/>
          <a:stretch>
            <a:fillRect/>
          </a:stretch>
        </p:blipFill>
        <p:spPr>
          <a:xfrm>
            <a:off x="9330858" y="3830970"/>
            <a:ext cx="201900" cy="201900"/>
          </a:xfrm>
          <a:prstGeom prst="rect">
            <a:avLst/>
          </a:prstGeom>
        </p:spPr>
      </p:pic>
      <p:sp>
        <p:nvSpPr>
          <p:cNvPr id="56" name="Text 45"/>
          <p:cNvSpPr txBox="1"/>
          <p:nvPr/>
        </p:nvSpPr>
        <p:spPr>
          <a:xfrm>
            <a:off x="9742703"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同一套规则引擎</a:t>
            </a:r>
            <a:endParaRPr lang="en-US" sz="1250" dirty="0"/>
          </a:p>
        </p:txBody>
      </p:sp>
      <p:sp>
        <p:nvSpPr>
          <p:cNvPr id="57" name="Text 46"/>
          <p:cNvSpPr txBox="1"/>
          <p:nvPr/>
        </p:nvSpPr>
        <p:spPr>
          <a:xfrm>
            <a:off x="9212351"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触发条件、联动动作、通知矩阵、超时升级由同一引擎配置，新增联动策略不改代码</a:t>
            </a:r>
            <a:endParaRPr lang="en-US" sz="1000" dirty="0"/>
          </a:p>
        </p:txBody>
      </p:sp>
      <p:sp>
        <p:nvSpPr>
          <p:cNvPr id="58" name="Shape 47"/>
          <p:cNvSpPr/>
          <p:nvPr/>
        </p:nvSpPr>
        <p:spPr>
          <a:xfrm>
            <a:off x="530352" y="5175504"/>
            <a:ext cx="11130991" cy="1060704"/>
          </a:xfrm>
          <a:prstGeom prst="roundRect">
            <a:avLst>
              <a:gd name="adj" fmla="val 3017"/>
            </a:avLst>
          </a:prstGeom>
          <a:solidFill>
            <a:srgbClr val="0E2340"/>
          </a:solidFill>
          <a:ln/>
        </p:spPr>
      </p:sp>
      <p:sp>
        <p:nvSpPr>
          <p:cNvPr id="59" name="Text 48"/>
          <p:cNvSpPr txBox="1"/>
          <p:nvPr/>
        </p:nvSpPr>
        <p:spPr>
          <a:xfrm>
            <a:off x="786384" y="5303520"/>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收口结论</a:t>
            </a:r>
            <a:endParaRPr lang="en-US" sz="1200" dirty="0"/>
          </a:p>
        </p:txBody>
      </p:sp>
      <p:sp>
        <p:nvSpPr>
          <p:cNvPr id="60" name="Text 49"/>
          <p:cNvSpPr txBox="1"/>
          <p:nvPr/>
        </p:nvSpPr>
        <p:spPr>
          <a:xfrm>
            <a:off x="2286000" y="5248656"/>
            <a:ext cx="9119311" cy="914400"/>
          </a:xfrm>
          <a:prstGeom prst="rect">
            <a:avLst/>
          </a:prstGeom>
          <a:noFill/>
          <a:ln/>
        </p:spPr>
        <p:txBody>
          <a:bodyPr wrap="square" lIns="0" tIns="0" rIns="0" bIns="0" rtlCol="0" anchor="ctr"/>
          <a:lstStyle/>
          <a:p>
            <a:pPr indent="0" marL="0">
              <a:lnSpc>
                <a:spcPct val="112000"/>
              </a:lnSpc>
              <a:buNone/>
            </a:pPr>
            <a:r>
              <a:rPr lang="en-US" sz="1050" dirty="0">
                <a:solidFill>
                  <a:srgbClr val="DCE5EE"/>
                </a:solidFill>
                <a:latin typeface="Calibri" pitchFamily="34" charset="0"/>
                <a:ea typeface="Calibri" pitchFamily="34" charset="-122"/>
                <a:cs typeface="Calibri" pitchFamily="34" charset="-120"/>
              </a:rPr>
              <a:t>如果五大子系统各自独立采购，得到的是五个孤岛，和今天的问题一样；本方案的核心价值不在任何单一子系统的功能多少，而在于一次把底座、工单池、地图与规则引擎做对，让跨场景联动成为配置项而不是二次开发项——这也是后续 11 个园区能够低成本复制的前提。</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项目技术方案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技术架构与选型</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IT 技术开放性与可扩展性</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数据集成方案</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硬件建设</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部署方案与性能</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资源需求</a:t>
            </a:r>
            <a:endParaRPr lang="en-US" sz="1300" dirty="0"/>
          </a:p>
        </p:txBody>
      </p:sp>
      <p:sp>
        <p:nvSpPr>
          <p:cNvPr id="17" name="Text 15"/>
          <p:cNvSpPr txBox="1"/>
          <p:nvPr/>
        </p:nvSpPr>
        <p:spPr>
          <a:xfrm>
            <a:off x="576072" y="598017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07</a:t>
            </a:r>
            <a:endParaRPr lang="en-US" sz="1100" dirty="0"/>
          </a:p>
        </p:txBody>
      </p:sp>
      <p:sp>
        <p:nvSpPr>
          <p:cNvPr id="18" name="Text 16"/>
          <p:cNvSpPr txBox="1"/>
          <p:nvPr/>
        </p:nvSpPr>
        <p:spPr>
          <a:xfrm>
            <a:off x="1005840" y="598017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安全与合规</a:t>
            </a:r>
            <a:endParaRPr lang="en-US" sz="1300" dirty="0"/>
          </a:p>
        </p:txBody>
      </p:sp>
      <p:sp>
        <p:nvSpPr>
          <p:cNvPr id="19" name="Shape 17"/>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20"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技术架构：微服务 + 容器化 + 国产化兼容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B/S 架构、免安装免维护，支持集群部署与负载均衡，年可用率 &gt; 99.9%</a:t>
            </a:r>
            <a:endParaRPr lang="en-US" sz="1250" dirty="0"/>
          </a:p>
        </p:txBody>
      </p:sp>
      <p:sp>
        <p:nvSpPr>
          <p:cNvPr id="5" name="Shape 3"/>
          <p:cNvSpPr/>
          <p:nvPr/>
        </p:nvSpPr>
        <p:spPr>
          <a:xfrm>
            <a:off x="530352" y="1207008"/>
            <a:ext cx="1298448" cy="566928"/>
          </a:xfrm>
          <a:prstGeom prst="roundRect">
            <a:avLst>
              <a:gd name="adj" fmla="val 8065"/>
            </a:avLst>
          </a:prstGeom>
          <a:solidFill>
            <a:srgbClr val="F97B00"/>
          </a:solidFill>
          <a:ln/>
        </p:spPr>
      </p:sp>
      <p:sp>
        <p:nvSpPr>
          <p:cNvPr id="6" name="Text 4"/>
          <p:cNvSpPr txBox="1"/>
          <p:nvPr/>
        </p:nvSpPr>
        <p:spPr>
          <a:xfrm>
            <a:off x="530352" y="120700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前端技术</a:t>
            </a:r>
            <a:endParaRPr lang="en-US" sz="1150" dirty="0"/>
          </a:p>
        </p:txBody>
      </p:sp>
      <p:sp>
        <p:nvSpPr>
          <p:cNvPr id="7" name="Shape 5"/>
          <p:cNvSpPr/>
          <p:nvPr/>
        </p:nvSpPr>
        <p:spPr>
          <a:xfrm>
            <a:off x="1956816" y="1207008"/>
            <a:ext cx="5806440"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2121408" y="1207008"/>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Vue 3 + TypeScript + ElementPlus；响应式布局适配 PC/移动/大屏；ECharts 可视化；2.5D 地图引擎（Canvas/WebGL 轻量渲染）</a:t>
            </a:r>
            <a:endParaRPr lang="en-US" sz="1000" dirty="0"/>
          </a:p>
        </p:txBody>
      </p:sp>
      <p:sp>
        <p:nvSpPr>
          <p:cNvPr id="9" name="Shape 7"/>
          <p:cNvSpPr/>
          <p:nvPr/>
        </p:nvSpPr>
        <p:spPr>
          <a:xfrm>
            <a:off x="530352" y="1865376"/>
            <a:ext cx="1298448" cy="566928"/>
          </a:xfrm>
          <a:prstGeom prst="roundRect">
            <a:avLst>
              <a:gd name="adj" fmla="val 8065"/>
            </a:avLst>
          </a:prstGeom>
          <a:solidFill>
            <a:srgbClr val="C25E00"/>
          </a:solidFill>
          <a:ln/>
        </p:spPr>
      </p:sp>
      <p:sp>
        <p:nvSpPr>
          <p:cNvPr id="10" name="Text 8"/>
          <p:cNvSpPr txBox="1"/>
          <p:nvPr/>
        </p:nvSpPr>
        <p:spPr>
          <a:xfrm>
            <a:off x="530352" y="1865376"/>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应用服务</a:t>
            </a:r>
            <a:endParaRPr lang="en-US" sz="1150" dirty="0"/>
          </a:p>
        </p:txBody>
      </p:sp>
      <p:sp>
        <p:nvSpPr>
          <p:cNvPr id="11" name="Shape 9"/>
          <p:cNvSpPr/>
          <p:nvPr/>
        </p:nvSpPr>
        <p:spPr>
          <a:xfrm>
            <a:off x="1956816" y="1865376"/>
            <a:ext cx="5806440" cy="566928"/>
          </a:xfrm>
          <a:prstGeom prst="roundRect">
            <a:avLst>
              <a:gd name="adj" fmla="val 5645"/>
            </a:avLst>
          </a:prstGeom>
          <a:solidFill>
            <a:srgbClr val="FFFFFF"/>
          </a:solidFill>
          <a:ln w="9525">
            <a:solidFill>
              <a:srgbClr val="E3E7EB"/>
            </a:solidFill>
            <a:prstDash val="solid"/>
          </a:ln>
        </p:spPr>
      </p:sp>
      <p:sp>
        <p:nvSpPr>
          <p:cNvPr id="12" name="Text 10"/>
          <p:cNvSpPr txBox="1"/>
          <p:nvPr/>
        </p:nvSpPr>
        <p:spPr>
          <a:xfrm>
            <a:off x="2121408" y="1865376"/>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Spring Cloud 微服务框架；Nacos 注册与配置中心；Gateway 网关；Sentinel 熔断限流；XXL-Job 分布式任务调度</a:t>
            </a:r>
            <a:endParaRPr lang="en-US" sz="1000" dirty="0"/>
          </a:p>
        </p:txBody>
      </p:sp>
      <p:sp>
        <p:nvSpPr>
          <p:cNvPr id="13" name="Shape 11"/>
          <p:cNvSpPr/>
          <p:nvPr/>
        </p:nvSpPr>
        <p:spPr>
          <a:xfrm>
            <a:off x="530352" y="2523744"/>
            <a:ext cx="1298448" cy="566928"/>
          </a:xfrm>
          <a:prstGeom prst="roundRect">
            <a:avLst>
              <a:gd name="adj" fmla="val 8065"/>
            </a:avLst>
          </a:prstGeom>
          <a:solidFill>
            <a:srgbClr val="0E2340"/>
          </a:solidFill>
          <a:ln/>
        </p:spPr>
      </p:sp>
      <p:sp>
        <p:nvSpPr>
          <p:cNvPr id="14" name="Text 12"/>
          <p:cNvSpPr txBox="1"/>
          <p:nvPr/>
        </p:nvSpPr>
        <p:spPr>
          <a:xfrm>
            <a:off x="530352" y="2523744"/>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数据存储</a:t>
            </a:r>
            <a:endParaRPr lang="en-US" sz="1150" dirty="0"/>
          </a:p>
        </p:txBody>
      </p:sp>
      <p:sp>
        <p:nvSpPr>
          <p:cNvPr id="15" name="Shape 13"/>
          <p:cNvSpPr/>
          <p:nvPr/>
        </p:nvSpPr>
        <p:spPr>
          <a:xfrm>
            <a:off x="1956816" y="2523744"/>
            <a:ext cx="5806440" cy="566928"/>
          </a:xfrm>
          <a:prstGeom prst="roundRect">
            <a:avLst>
              <a:gd name="adj" fmla="val 5645"/>
            </a:avLst>
          </a:prstGeom>
          <a:solidFill>
            <a:srgbClr val="F6F8FA"/>
          </a:solidFill>
          <a:ln w="9525">
            <a:solidFill>
              <a:srgbClr val="E3E7EB"/>
            </a:solidFill>
            <a:prstDash val="solid"/>
          </a:ln>
        </p:spPr>
      </p:sp>
      <p:sp>
        <p:nvSpPr>
          <p:cNvPr id="16" name="Text 14"/>
          <p:cNvSpPr txBox="1"/>
          <p:nvPr/>
        </p:nvSpPr>
        <p:spPr>
          <a:xfrm>
            <a:off x="2121408" y="2523744"/>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MySQL / 达梦（关系数据）；TDengine / InfluxDB（IoT 时序数据）；Redis（缓存）；MinIO（文件与图片）；Elasticsearch（日志与全文检索）</a:t>
            </a:r>
            <a:endParaRPr lang="en-US" sz="1000" dirty="0"/>
          </a:p>
        </p:txBody>
      </p:sp>
      <p:sp>
        <p:nvSpPr>
          <p:cNvPr id="17" name="Shape 15"/>
          <p:cNvSpPr/>
          <p:nvPr/>
        </p:nvSpPr>
        <p:spPr>
          <a:xfrm>
            <a:off x="530352" y="3182112"/>
            <a:ext cx="1298448" cy="566928"/>
          </a:xfrm>
          <a:prstGeom prst="roundRect">
            <a:avLst>
              <a:gd name="adj" fmla="val 8065"/>
            </a:avLst>
          </a:prstGeom>
          <a:solidFill>
            <a:srgbClr val="1B3A5C"/>
          </a:solidFill>
          <a:ln/>
        </p:spPr>
      </p:sp>
      <p:sp>
        <p:nvSpPr>
          <p:cNvPr id="18" name="Text 16"/>
          <p:cNvSpPr txBox="1"/>
          <p:nvPr/>
        </p:nvSpPr>
        <p:spPr>
          <a:xfrm>
            <a:off x="530352" y="3182112"/>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消息与流</a:t>
            </a:r>
            <a:endParaRPr lang="en-US" sz="1150" dirty="0"/>
          </a:p>
        </p:txBody>
      </p:sp>
      <p:sp>
        <p:nvSpPr>
          <p:cNvPr id="19" name="Shape 17"/>
          <p:cNvSpPr/>
          <p:nvPr/>
        </p:nvSpPr>
        <p:spPr>
          <a:xfrm>
            <a:off x="1956816" y="3182112"/>
            <a:ext cx="5806440" cy="566928"/>
          </a:xfrm>
          <a:prstGeom prst="roundRect">
            <a:avLst>
              <a:gd name="adj" fmla="val 5645"/>
            </a:avLst>
          </a:prstGeom>
          <a:solidFill>
            <a:srgbClr val="FFFFFF"/>
          </a:solidFill>
          <a:ln w="9525">
            <a:solidFill>
              <a:srgbClr val="E3E7EB"/>
            </a:solidFill>
            <a:prstDash val="solid"/>
          </a:ln>
        </p:spPr>
      </p:sp>
      <p:sp>
        <p:nvSpPr>
          <p:cNvPr id="20" name="Text 18"/>
          <p:cNvSpPr txBox="1"/>
          <p:nvPr/>
        </p:nvSpPr>
        <p:spPr>
          <a:xfrm>
            <a:off x="2121408" y="3182112"/>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RocketMQ / Kafka 消息队列；EMQX MQTT Broker 承接 IoT 设备接入；视频流媒体服务（GB/T28181 + RTSP/RTMP）</a:t>
            </a:r>
            <a:endParaRPr lang="en-US" sz="1000" dirty="0"/>
          </a:p>
        </p:txBody>
      </p:sp>
      <p:sp>
        <p:nvSpPr>
          <p:cNvPr id="21" name="Shape 19"/>
          <p:cNvSpPr/>
          <p:nvPr/>
        </p:nvSpPr>
        <p:spPr>
          <a:xfrm>
            <a:off x="530352" y="3840480"/>
            <a:ext cx="1298448" cy="566928"/>
          </a:xfrm>
          <a:prstGeom prst="roundRect">
            <a:avLst>
              <a:gd name="adj" fmla="val 8065"/>
            </a:avLst>
          </a:prstGeom>
          <a:solidFill>
            <a:srgbClr val="167C80"/>
          </a:solidFill>
          <a:ln/>
        </p:spPr>
      </p:sp>
      <p:sp>
        <p:nvSpPr>
          <p:cNvPr id="22" name="Text 20"/>
          <p:cNvSpPr txBox="1"/>
          <p:nvPr/>
        </p:nvSpPr>
        <p:spPr>
          <a:xfrm>
            <a:off x="530352" y="3840480"/>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与算法</a:t>
            </a:r>
            <a:endParaRPr lang="en-US" sz="1150" dirty="0"/>
          </a:p>
        </p:txBody>
      </p:sp>
      <p:sp>
        <p:nvSpPr>
          <p:cNvPr id="23" name="Shape 21"/>
          <p:cNvSpPr/>
          <p:nvPr/>
        </p:nvSpPr>
        <p:spPr>
          <a:xfrm>
            <a:off x="1956816" y="3840480"/>
            <a:ext cx="5806440" cy="566928"/>
          </a:xfrm>
          <a:prstGeom prst="roundRect">
            <a:avLst>
              <a:gd name="adj" fmla="val 5645"/>
            </a:avLst>
          </a:prstGeom>
          <a:solidFill>
            <a:srgbClr val="F6F8FA"/>
          </a:solidFill>
          <a:ln w="9525">
            <a:solidFill>
              <a:srgbClr val="E3E7EB"/>
            </a:solidFill>
            <a:prstDash val="solid"/>
          </a:ln>
        </p:spPr>
      </p:sp>
      <p:sp>
        <p:nvSpPr>
          <p:cNvPr id="24" name="Text 22"/>
          <p:cNvSpPr txBox="1"/>
          <p:nvPr/>
        </p:nvSpPr>
        <p:spPr>
          <a:xfrm>
            <a:off x="2121408" y="3840480"/>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AI 算法仓统一管理与授权；边缘计算盒子 + 中心侧推理双模；支持对接阳光电源指定 AI 模型与推理平台</a:t>
            </a:r>
            <a:endParaRPr lang="en-US" sz="1000" dirty="0"/>
          </a:p>
        </p:txBody>
      </p:sp>
      <p:sp>
        <p:nvSpPr>
          <p:cNvPr id="25" name="Shape 23"/>
          <p:cNvSpPr/>
          <p:nvPr/>
        </p:nvSpPr>
        <p:spPr>
          <a:xfrm>
            <a:off x="530352" y="4498848"/>
            <a:ext cx="1298448" cy="566928"/>
          </a:xfrm>
          <a:prstGeom prst="roundRect">
            <a:avLst>
              <a:gd name="adj" fmla="val 8065"/>
            </a:avLst>
          </a:prstGeom>
          <a:solidFill>
            <a:srgbClr val="4A5568"/>
          </a:solidFill>
          <a:ln/>
        </p:spPr>
      </p:sp>
      <p:sp>
        <p:nvSpPr>
          <p:cNvPr id="26" name="Text 24"/>
          <p:cNvSpPr txBox="1"/>
          <p:nvPr/>
        </p:nvSpPr>
        <p:spPr>
          <a:xfrm>
            <a:off x="530352" y="449884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运行环境</a:t>
            </a:r>
            <a:endParaRPr lang="en-US" sz="1150" dirty="0"/>
          </a:p>
        </p:txBody>
      </p:sp>
      <p:sp>
        <p:nvSpPr>
          <p:cNvPr id="27" name="Shape 25"/>
          <p:cNvSpPr/>
          <p:nvPr/>
        </p:nvSpPr>
        <p:spPr>
          <a:xfrm>
            <a:off x="1956816" y="4498848"/>
            <a:ext cx="5806440" cy="566928"/>
          </a:xfrm>
          <a:prstGeom prst="roundRect">
            <a:avLst>
              <a:gd name="adj" fmla="val 5645"/>
            </a:avLst>
          </a:prstGeom>
          <a:solidFill>
            <a:srgbClr val="FFFFFF"/>
          </a:solidFill>
          <a:ln w="9525">
            <a:solidFill>
              <a:srgbClr val="E3E7EB"/>
            </a:solidFill>
            <a:prstDash val="solid"/>
          </a:ln>
        </p:spPr>
      </p:sp>
      <p:sp>
        <p:nvSpPr>
          <p:cNvPr id="28" name="Text 26"/>
          <p:cNvSpPr txBox="1"/>
          <p:nvPr/>
        </p:nvSpPr>
        <p:spPr>
          <a:xfrm>
            <a:off x="2121408" y="4498848"/>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Docker + Kubernetes 容器化编排；支持信通院信创环境（麒麟/统信 OS + 鲲鹏/海光芯片）；私有化部署</a:t>
            </a:r>
            <a:endParaRPr lang="en-US" sz="1000" dirty="0"/>
          </a:p>
        </p:txBody>
      </p:sp>
      <p:sp>
        <p:nvSpPr>
          <p:cNvPr id="29" name="Shape 27"/>
          <p:cNvSpPr/>
          <p:nvPr/>
        </p:nvSpPr>
        <p:spPr>
          <a:xfrm>
            <a:off x="7936992" y="1257300"/>
            <a:ext cx="68580" cy="173736"/>
          </a:xfrm>
          <a:prstGeom prst="rect">
            <a:avLst/>
          </a:prstGeom>
          <a:solidFill>
            <a:srgbClr val="F97B00"/>
          </a:solidFill>
          <a:ln/>
        </p:spPr>
      </p:sp>
      <p:sp>
        <p:nvSpPr>
          <p:cNvPr id="30" name="Text 28"/>
          <p:cNvSpPr txBox="1"/>
          <p:nvPr/>
        </p:nvSpPr>
        <p:spPr>
          <a:xfrm>
            <a:off x="8092440"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技术要求响应</a:t>
            </a:r>
            <a:endParaRPr lang="en-US" sz="1250" dirty="0"/>
          </a:p>
        </p:txBody>
      </p:sp>
      <p:sp>
        <p:nvSpPr>
          <p:cNvPr id="31" name="Shape 29"/>
          <p:cNvSpPr/>
          <p:nvPr/>
        </p:nvSpPr>
        <p:spPr>
          <a:xfrm>
            <a:off x="7936992" y="1536192"/>
            <a:ext cx="3724351" cy="475488"/>
          </a:xfrm>
          <a:prstGeom prst="roundRect">
            <a:avLst>
              <a:gd name="adj" fmla="val 6731"/>
            </a:avLst>
          </a:prstGeom>
          <a:solidFill>
            <a:srgbClr val="FFFFFF"/>
          </a:solidFill>
          <a:ln w="9525">
            <a:solidFill>
              <a:srgbClr val="EEDFD0"/>
            </a:solidFill>
            <a:prstDash val="solid"/>
          </a:ln>
        </p:spPr>
      </p:sp>
      <p:sp>
        <p:nvSpPr>
          <p:cNvPr id="32" name="Text 30"/>
          <p:cNvSpPr txBox="1"/>
          <p:nvPr/>
        </p:nvSpPr>
        <p:spPr>
          <a:xfrm>
            <a:off x="8083296" y="153619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稳定性</a:t>
            </a:r>
            <a:endParaRPr lang="en-US" sz="1000" dirty="0"/>
          </a:p>
        </p:txBody>
      </p:sp>
      <p:sp>
        <p:nvSpPr>
          <p:cNvPr id="33" name="Text 31"/>
          <p:cNvSpPr txBox="1"/>
          <p:nvPr/>
        </p:nvSpPr>
        <p:spPr>
          <a:xfrm>
            <a:off x="8979408" y="153619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7×24 运行，年可用率 &gt; 99.9%，全年软件故障 &lt; 5 小时</a:t>
            </a:r>
            <a:endParaRPr lang="en-US" sz="1000" dirty="0"/>
          </a:p>
        </p:txBody>
      </p:sp>
      <p:sp>
        <p:nvSpPr>
          <p:cNvPr id="34" name="Shape 32"/>
          <p:cNvSpPr/>
          <p:nvPr/>
        </p:nvSpPr>
        <p:spPr>
          <a:xfrm>
            <a:off x="7936992" y="2084832"/>
            <a:ext cx="3724351" cy="475488"/>
          </a:xfrm>
          <a:prstGeom prst="roundRect">
            <a:avLst>
              <a:gd name="adj" fmla="val 6731"/>
            </a:avLst>
          </a:prstGeom>
          <a:solidFill>
            <a:srgbClr val="FFF7EF"/>
          </a:solidFill>
          <a:ln w="9525">
            <a:solidFill>
              <a:srgbClr val="EEDFD0"/>
            </a:solidFill>
            <a:prstDash val="solid"/>
          </a:ln>
        </p:spPr>
      </p:sp>
      <p:sp>
        <p:nvSpPr>
          <p:cNvPr id="35" name="Text 33"/>
          <p:cNvSpPr txBox="1"/>
          <p:nvPr/>
        </p:nvSpPr>
        <p:spPr>
          <a:xfrm>
            <a:off x="8083296" y="208483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兼容性</a:t>
            </a:r>
            <a:endParaRPr lang="en-US" sz="1000" dirty="0"/>
          </a:p>
        </p:txBody>
      </p:sp>
      <p:sp>
        <p:nvSpPr>
          <p:cNvPr id="36" name="Text 34"/>
          <p:cNvSpPr txBox="1"/>
          <p:nvPr/>
        </p:nvSpPr>
        <p:spPr>
          <a:xfrm>
            <a:off x="8979408" y="208483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B/S 架构；支持 Edge 120+ / Chrome 120+ / Firefox 120+；免装控件</a:t>
            </a:r>
            <a:endParaRPr lang="en-US" sz="1000" dirty="0"/>
          </a:p>
        </p:txBody>
      </p:sp>
      <p:sp>
        <p:nvSpPr>
          <p:cNvPr id="37" name="Shape 35"/>
          <p:cNvSpPr/>
          <p:nvPr/>
        </p:nvSpPr>
        <p:spPr>
          <a:xfrm>
            <a:off x="7936992" y="2633472"/>
            <a:ext cx="3724351" cy="475488"/>
          </a:xfrm>
          <a:prstGeom prst="roundRect">
            <a:avLst>
              <a:gd name="adj" fmla="val 6731"/>
            </a:avLst>
          </a:prstGeom>
          <a:solidFill>
            <a:srgbClr val="FFFFFF"/>
          </a:solidFill>
          <a:ln w="9525">
            <a:solidFill>
              <a:srgbClr val="EEDFD0"/>
            </a:solidFill>
            <a:prstDash val="solid"/>
          </a:ln>
        </p:spPr>
      </p:sp>
      <p:sp>
        <p:nvSpPr>
          <p:cNvPr id="38" name="Text 36"/>
          <p:cNvSpPr txBox="1"/>
          <p:nvPr/>
        </p:nvSpPr>
        <p:spPr>
          <a:xfrm>
            <a:off x="8083296" y="263347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国际化</a:t>
            </a:r>
            <a:endParaRPr lang="en-US" sz="1000" dirty="0"/>
          </a:p>
        </p:txBody>
      </p:sp>
      <p:sp>
        <p:nvSpPr>
          <p:cNvPr id="39" name="Text 37"/>
          <p:cNvSpPr txBox="1"/>
          <p:nvPr/>
        </p:nvSpPr>
        <p:spPr>
          <a:xfrm>
            <a:off x="8979408" y="263347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无代码侵入性的多语言、多货币、多时区支持</a:t>
            </a:r>
            <a:endParaRPr lang="en-US" sz="1000" dirty="0"/>
          </a:p>
        </p:txBody>
      </p:sp>
      <p:sp>
        <p:nvSpPr>
          <p:cNvPr id="40" name="Shape 38"/>
          <p:cNvSpPr/>
          <p:nvPr/>
        </p:nvSpPr>
        <p:spPr>
          <a:xfrm>
            <a:off x="7936992" y="3182112"/>
            <a:ext cx="3724351" cy="475488"/>
          </a:xfrm>
          <a:prstGeom prst="roundRect">
            <a:avLst>
              <a:gd name="adj" fmla="val 6731"/>
            </a:avLst>
          </a:prstGeom>
          <a:solidFill>
            <a:srgbClr val="FFF7EF"/>
          </a:solidFill>
          <a:ln w="9525">
            <a:solidFill>
              <a:srgbClr val="EEDFD0"/>
            </a:solidFill>
            <a:prstDash val="solid"/>
          </a:ln>
        </p:spPr>
      </p:sp>
      <p:sp>
        <p:nvSpPr>
          <p:cNvPr id="41" name="Text 39"/>
          <p:cNvSpPr txBox="1"/>
          <p:nvPr/>
        </p:nvSpPr>
        <p:spPr>
          <a:xfrm>
            <a:off x="8083296" y="318211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二次开发</a:t>
            </a:r>
            <a:endParaRPr lang="en-US" sz="1000" dirty="0"/>
          </a:p>
        </p:txBody>
      </p:sp>
      <p:sp>
        <p:nvSpPr>
          <p:cNvPr id="42" name="Text 40"/>
          <p:cNvSpPr txBox="1"/>
          <p:nvPr/>
        </p:nvSpPr>
        <p:spPr>
          <a:xfrm>
            <a:off x="8979408" y="318211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可视化二次开发平台；业务模型、审批流、权限、菜单、编码规则均可配置</a:t>
            </a:r>
            <a:endParaRPr lang="en-US" sz="1000" dirty="0"/>
          </a:p>
        </p:txBody>
      </p:sp>
      <p:sp>
        <p:nvSpPr>
          <p:cNvPr id="43" name="Shape 41"/>
          <p:cNvSpPr/>
          <p:nvPr/>
        </p:nvSpPr>
        <p:spPr>
          <a:xfrm>
            <a:off x="7936992" y="3730752"/>
            <a:ext cx="3724351" cy="475488"/>
          </a:xfrm>
          <a:prstGeom prst="roundRect">
            <a:avLst>
              <a:gd name="adj" fmla="val 6731"/>
            </a:avLst>
          </a:prstGeom>
          <a:solidFill>
            <a:srgbClr val="FFFFFF"/>
          </a:solidFill>
          <a:ln w="9525">
            <a:solidFill>
              <a:srgbClr val="EEDFD0"/>
            </a:solidFill>
            <a:prstDash val="solid"/>
          </a:ln>
        </p:spPr>
      </p:sp>
      <p:sp>
        <p:nvSpPr>
          <p:cNvPr id="44" name="Text 42"/>
          <p:cNvSpPr txBox="1"/>
          <p:nvPr/>
        </p:nvSpPr>
        <p:spPr>
          <a:xfrm>
            <a:off x="8083296" y="373075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接口能力</a:t>
            </a:r>
            <a:endParaRPr lang="en-US" sz="1000" dirty="0"/>
          </a:p>
        </p:txBody>
      </p:sp>
      <p:sp>
        <p:nvSpPr>
          <p:cNvPr id="45" name="Text 43"/>
          <p:cNvSpPr txBox="1"/>
          <p:nvPr/>
        </p:nvSpPr>
        <p:spPr>
          <a:xfrm>
            <a:off x="8979408" y="373075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RESTful API；新增字段即时体现；支持增量与全量同步；可配置主动调用第三方 HTTP 接口</a:t>
            </a:r>
            <a:endParaRPr lang="en-US" sz="1000" dirty="0"/>
          </a:p>
        </p:txBody>
      </p:sp>
      <p:sp>
        <p:nvSpPr>
          <p:cNvPr id="46" name="Shape 44"/>
          <p:cNvSpPr/>
          <p:nvPr/>
        </p:nvSpPr>
        <p:spPr>
          <a:xfrm>
            <a:off x="7936992" y="4279392"/>
            <a:ext cx="3724351" cy="475488"/>
          </a:xfrm>
          <a:prstGeom prst="roundRect">
            <a:avLst>
              <a:gd name="adj" fmla="val 6731"/>
            </a:avLst>
          </a:prstGeom>
          <a:solidFill>
            <a:srgbClr val="FFF7EF"/>
          </a:solidFill>
          <a:ln w="9525">
            <a:solidFill>
              <a:srgbClr val="EEDFD0"/>
            </a:solidFill>
            <a:prstDash val="solid"/>
          </a:ln>
        </p:spPr>
      </p:sp>
      <p:sp>
        <p:nvSpPr>
          <p:cNvPr id="47" name="Text 45"/>
          <p:cNvSpPr txBox="1"/>
          <p:nvPr/>
        </p:nvSpPr>
        <p:spPr>
          <a:xfrm>
            <a:off x="8083296" y="427939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日志与稽核</a:t>
            </a:r>
            <a:endParaRPr lang="en-US" sz="1000" dirty="0"/>
          </a:p>
        </p:txBody>
      </p:sp>
      <p:sp>
        <p:nvSpPr>
          <p:cNvPr id="48" name="Text 46"/>
          <p:cNvSpPr txBox="1"/>
          <p:nvPr/>
        </p:nvSpPr>
        <p:spPr>
          <a:xfrm>
            <a:off x="8979408" y="427939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可视化日志平台；重要数据字段级增删改日志；使用情况多维分析可导出</a:t>
            </a:r>
            <a:endParaRPr lang="en-US" sz="1000" dirty="0"/>
          </a:p>
        </p:txBody>
      </p:sp>
      <p:sp>
        <p:nvSpPr>
          <p:cNvPr id="49" name="Shape 47"/>
          <p:cNvSpPr/>
          <p:nvPr/>
        </p:nvSpPr>
        <p:spPr>
          <a:xfrm>
            <a:off x="7936992" y="4828032"/>
            <a:ext cx="3724351" cy="475488"/>
          </a:xfrm>
          <a:prstGeom prst="roundRect">
            <a:avLst>
              <a:gd name="adj" fmla="val 6731"/>
            </a:avLst>
          </a:prstGeom>
          <a:solidFill>
            <a:srgbClr val="FFFFFF"/>
          </a:solidFill>
          <a:ln w="9525">
            <a:solidFill>
              <a:srgbClr val="EEDFD0"/>
            </a:solidFill>
            <a:prstDash val="solid"/>
          </a:ln>
        </p:spPr>
      </p:sp>
      <p:sp>
        <p:nvSpPr>
          <p:cNvPr id="50" name="Text 48"/>
          <p:cNvSpPr txBox="1"/>
          <p:nvPr/>
        </p:nvSpPr>
        <p:spPr>
          <a:xfrm>
            <a:off x="8083296" y="482803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源码交付</a:t>
            </a:r>
            <a:endParaRPr lang="en-US" sz="1000" dirty="0"/>
          </a:p>
        </p:txBody>
      </p:sp>
      <p:sp>
        <p:nvSpPr>
          <p:cNvPr id="51" name="Text 49"/>
          <p:cNvSpPr txBox="1"/>
          <p:nvPr/>
        </p:nvSpPr>
        <p:spPr>
          <a:xfrm>
            <a:off x="8979408" y="482803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二次开发代码必须交付（PC 端与移动端）；产品核心源码按商务约定</a:t>
            </a:r>
            <a:endParaRPr lang="en-US" sz="1000" dirty="0"/>
          </a:p>
        </p:txBody>
      </p:sp>
      <p:sp>
        <p:nvSpPr>
          <p:cNvPr id="52" name="Text 50"/>
          <p:cNvSpPr txBox="1"/>
          <p:nvPr/>
        </p:nvSpPr>
        <p:spPr>
          <a:xfrm>
            <a:off x="530352" y="5248656"/>
            <a:ext cx="7232904" cy="548640"/>
          </a:xfrm>
          <a:prstGeom prst="rect">
            <a:avLst/>
          </a:prstGeom>
          <a:noFill/>
          <a:ln/>
        </p:spPr>
        <p:txBody>
          <a:bodyPr wrap="square" lIns="0" tIns="0" rIns="0" bIns="0" rtlCol="0" anchor="ctr"/>
          <a:lstStyle/>
          <a:p>
            <a:pPr indent="0" marL="0">
              <a:lnSpc>
                <a:spcPct val="110000"/>
              </a:lnSpc>
              <a:buNone/>
            </a:pPr>
            <a:r>
              <a:rPr lang="en-US" sz="1000" i="1" dirty="0">
                <a:solidFill>
                  <a:srgbClr val="55606B"/>
                </a:solidFill>
                <a:latin typeface="Calibri" pitchFamily="34" charset="0"/>
                <a:ea typeface="Calibri" pitchFamily="34" charset="-122"/>
                <a:cs typeface="Calibri" pitchFamily="34" charset="-120"/>
              </a:rPr>
              <a:t>说明：具体技术栈将在方案设计阶段与阳光电源 IT 部门确认，严格遵循贵方指定的开发语言、基础技术组件（AI 模型、缓存、消息队列、数据库）及接口规范与技术标准。</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IT 技术开放性与可扩展性：三项客观指标逐条满足</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开放式架构 + 二开代码交付 + 数据库结构公开——让贵方 IT 团队具备自主演进能力</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三项客观评审指标响应</a:t>
            </a:r>
            <a:endParaRPr lang="en-US" sz="1250" dirty="0"/>
          </a:p>
        </p:txBody>
      </p:sp>
      <p:sp>
        <p:nvSpPr>
          <p:cNvPr id="7" name="Shape 5"/>
          <p:cNvSpPr/>
          <p:nvPr/>
        </p:nvSpPr>
        <p:spPr>
          <a:xfrm>
            <a:off x="530352" y="1536192"/>
            <a:ext cx="11130991"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86384" y="1792224"/>
            <a:ext cx="530352" cy="530352"/>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929579" y="1935419"/>
            <a:ext cx="243962" cy="243962"/>
          </a:xfrm>
          <a:prstGeom prst="rect">
            <a:avLst/>
          </a:prstGeom>
        </p:spPr>
      </p:pic>
      <p:sp>
        <p:nvSpPr>
          <p:cNvPr id="10" name="Text 7"/>
          <p:cNvSpPr txBox="1"/>
          <p:nvPr/>
        </p:nvSpPr>
        <p:spPr>
          <a:xfrm>
            <a:off x="1481328" y="1682496"/>
            <a:ext cx="3657600" cy="365760"/>
          </a:xfrm>
          <a:prstGeom prst="rect">
            <a:avLst/>
          </a:prstGeom>
          <a:noFill/>
          <a:ln/>
        </p:spPr>
        <p:txBody>
          <a:bodyPr wrap="square" lIns="0" tIns="0" rIns="0" bIns="0" rtlCol="0" anchor="ctr"/>
          <a:lstStyle/>
          <a:p>
            <a:pPr indent="0" marL="0">
              <a:buNone/>
            </a:pPr>
            <a:r>
              <a:rPr lang="en-US" sz="1400" b="1" dirty="0">
                <a:solidFill>
                  <a:srgbClr val="C25E00"/>
                </a:solidFill>
                <a:latin typeface="Calibri" pitchFamily="34" charset="0"/>
                <a:ea typeface="Calibri" pitchFamily="34" charset="-122"/>
                <a:cs typeface="Calibri" pitchFamily="34" charset="-120"/>
              </a:rPr>
              <a:t>开放式技术架构</a:t>
            </a:r>
            <a:endParaRPr lang="en-US" sz="1400" dirty="0"/>
          </a:p>
        </p:txBody>
      </p:sp>
      <p:sp>
        <p:nvSpPr>
          <p:cNvPr id="11" name="Shape 8"/>
          <p:cNvSpPr/>
          <p:nvPr/>
        </p:nvSpPr>
        <p:spPr>
          <a:xfrm>
            <a:off x="5285232" y="1737360"/>
            <a:ext cx="6193231" cy="274320"/>
          </a:xfrm>
          <a:prstGeom prst="roundRect">
            <a:avLst>
              <a:gd name="adj" fmla="val 16667"/>
            </a:avLst>
          </a:prstGeom>
          <a:solidFill>
            <a:srgbClr val="F97B00"/>
          </a:solidFill>
          <a:ln/>
        </p:spPr>
      </p:sp>
      <p:sp>
        <p:nvSpPr>
          <p:cNvPr id="12" name="Text 9"/>
          <p:cNvSpPr txBox="1"/>
          <p:nvPr/>
        </p:nvSpPr>
        <p:spPr>
          <a:xfrm>
            <a:off x="5285232" y="1737360"/>
            <a:ext cx="6193231"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多浏览器 + 多操作系统 + 多数据库</a:t>
            </a:r>
            <a:endParaRPr lang="en-US" sz="1000" dirty="0"/>
          </a:p>
        </p:txBody>
      </p:sp>
      <p:sp>
        <p:nvSpPr>
          <p:cNvPr id="13" name="Text 10"/>
          <p:cNvSpPr txBox="1"/>
          <p:nvPr/>
        </p:nvSpPr>
        <p:spPr>
          <a:xfrm>
            <a:off x="786384" y="2194560"/>
            <a:ext cx="10618927" cy="731520"/>
          </a:xfrm>
          <a:prstGeom prst="rect">
            <a:avLst/>
          </a:prstGeom>
          <a:noFill/>
          <a:ln/>
        </p:spPr>
        <p:txBody>
          <a:bodyPr wrap="square" lIns="0" tIns="0" rIns="0" bIns="0" rtlCol="0" anchor="ctr"/>
          <a:lstStyle/>
          <a:p>
            <a:pPr indent="0" marL="0">
              <a:lnSpc>
                <a:spcPct val="110000"/>
              </a:lnSpc>
              <a:buNone/>
            </a:pPr>
            <a:r>
              <a:rPr lang="en-US" sz="1100" dirty="0">
                <a:solidFill>
                  <a:srgbClr val="1F2933"/>
                </a:solidFill>
                <a:latin typeface="Calibri" pitchFamily="34" charset="0"/>
                <a:ea typeface="Calibri" pitchFamily="34" charset="-122"/>
                <a:cs typeface="Calibri" pitchFamily="34" charset="-120"/>
              </a:rPr>
              <a:t>客户端支持 Chrome、Edge、Firefox 等主流浏览器，服务端支持 Linux 与 Windows 双系统部署，数据库兼容 MySQL/PostgreSQL/达梦等主流关系型数据库</a:t>
            </a:r>
            <a:endParaRPr lang="en-US" sz="1100" dirty="0"/>
          </a:p>
        </p:txBody>
      </p:sp>
      <p:sp>
        <p:nvSpPr>
          <p:cNvPr id="14" name="Shape 11"/>
          <p:cNvSpPr/>
          <p:nvPr/>
        </p:nvSpPr>
        <p:spPr>
          <a:xfrm>
            <a:off x="530352" y="3108960"/>
            <a:ext cx="11130991"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5" name="Shape 12"/>
          <p:cNvSpPr/>
          <p:nvPr/>
        </p:nvSpPr>
        <p:spPr>
          <a:xfrm>
            <a:off x="786384" y="3364992"/>
            <a:ext cx="530352" cy="530352"/>
          </a:xfrm>
          <a:prstGeom prst="ellipse">
            <a:avLst/>
          </a:prstGeom>
          <a:solidFill>
            <a:srgbClr val="F97B00"/>
          </a:solidFill>
          <a:ln/>
        </p:spPr>
      </p:sp>
      <p:pic>
        <p:nvPicPr>
          <p:cNvPr id="16" name="Image 1" descr="preencoded.png">    </p:cNvPr>
          <p:cNvPicPr>
            <a:picLocks noChangeAspect="1"/>
          </p:cNvPicPr>
          <p:nvPr/>
        </p:nvPicPr>
        <p:blipFill>
          <a:blip r:embed="rId2"/>
          <a:stretch>
            <a:fillRect/>
          </a:stretch>
        </p:blipFill>
        <p:spPr>
          <a:xfrm>
            <a:off x="929579" y="3508187"/>
            <a:ext cx="243962" cy="243962"/>
          </a:xfrm>
          <a:prstGeom prst="rect">
            <a:avLst/>
          </a:prstGeom>
        </p:spPr>
      </p:pic>
      <p:sp>
        <p:nvSpPr>
          <p:cNvPr id="17" name="Text 13"/>
          <p:cNvSpPr txBox="1"/>
          <p:nvPr/>
        </p:nvSpPr>
        <p:spPr>
          <a:xfrm>
            <a:off x="1481328" y="3255264"/>
            <a:ext cx="3657600" cy="365760"/>
          </a:xfrm>
          <a:prstGeom prst="rect">
            <a:avLst/>
          </a:prstGeom>
          <a:noFill/>
          <a:ln/>
        </p:spPr>
        <p:txBody>
          <a:bodyPr wrap="square" lIns="0" tIns="0" rIns="0" bIns="0" rtlCol="0" anchor="ctr"/>
          <a:lstStyle/>
          <a:p>
            <a:pPr indent="0" marL="0">
              <a:buNone/>
            </a:pPr>
            <a:r>
              <a:rPr lang="en-US" sz="1400" b="1" dirty="0">
                <a:solidFill>
                  <a:srgbClr val="C25E00"/>
                </a:solidFill>
                <a:latin typeface="Calibri" pitchFamily="34" charset="0"/>
                <a:ea typeface="Calibri" pitchFamily="34" charset="-122"/>
                <a:cs typeface="Calibri" pitchFamily="34" charset="-120"/>
              </a:rPr>
              <a:t>代码开放度</a:t>
            </a:r>
            <a:endParaRPr lang="en-US" sz="1400" dirty="0"/>
          </a:p>
        </p:txBody>
      </p:sp>
      <p:sp>
        <p:nvSpPr>
          <p:cNvPr id="18" name="Shape 14"/>
          <p:cNvSpPr/>
          <p:nvPr/>
        </p:nvSpPr>
        <p:spPr>
          <a:xfrm>
            <a:off x="5285232" y="3310128"/>
            <a:ext cx="6193231" cy="274320"/>
          </a:xfrm>
          <a:prstGeom prst="roundRect">
            <a:avLst>
              <a:gd name="adj" fmla="val 16667"/>
            </a:avLst>
          </a:prstGeom>
          <a:solidFill>
            <a:srgbClr val="F97B00"/>
          </a:solidFill>
          <a:ln/>
        </p:spPr>
      </p:sp>
      <p:sp>
        <p:nvSpPr>
          <p:cNvPr id="19" name="Text 15"/>
          <p:cNvSpPr txBox="1"/>
          <p:nvPr/>
        </p:nvSpPr>
        <p:spPr>
          <a:xfrm>
            <a:off x="5285232" y="3310128"/>
            <a:ext cx="6193231"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二开代码 + API 清单 + 数据库表结构</a:t>
            </a:r>
            <a:endParaRPr lang="en-US" sz="1000" dirty="0"/>
          </a:p>
        </p:txBody>
      </p:sp>
      <p:sp>
        <p:nvSpPr>
          <p:cNvPr id="20" name="Text 16"/>
          <p:cNvSpPr txBox="1"/>
          <p:nvPr/>
        </p:nvSpPr>
        <p:spPr>
          <a:xfrm>
            <a:off x="786384" y="3767328"/>
            <a:ext cx="10618927" cy="731520"/>
          </a:xfrm>
          <a:prstGeom prst="rect">
            <a:avLst/>
          </a:prstGeom>
          <a:noFill/>
          <a:ln/>
        </p:spPr>
        <p:txBody>
          <a:bodyPr wrap="square" lIns="0" tIns="0" rIns="0" bIns="0" rtlCol="0" anchor="ctr"/>
          <a:lstStyle/>
          <a:p>
            <a:pPr indent="0" marL="0">
              <a:lnSpc>
                <a:spcPct val="110000"/>
              </a:lnSpc>
              <a:buNone/>
            </a:pPr>
            <a:r>
              <a:rPr lang="en-US" sz="1100" dirty="0">
                <a:solidFill>
                  <a:srgbClr val="1F2933"/>
                </a:solidFill>
                <a:latin typeface="Calibri" pitchFamily="34" charset="0"/>
                <a:ea typeface="Calibri" pitchFamily="34" charset="-122"/>
                <a:cs typeface="Calibri" pitchFamily="34" charset="-120"/>
              </a:rPr>
              <a:t>交付二次开发源代码（非产品底层源码），包含完整的系统 API 清单与详细调用说明文档；同步提供数据库表结构文档（含字段说明、索引设计与 ER 图）</a:t>
            </a:r>
            <a:endParaRPr lang="en-US" sz="1100" dirty="0"/>
          </a:p>
        </p:txBody>
      </p:sp>
      <p:sp>
        <p:nvSpPr>
          <p:cNvPr id="21" name="Shape 17"/>
          <p:cNvSpPr/>
          <p:nvPr/>
        </p:nvSpPr>
        <p:spPr>
          <a:xfrm>
            <a:off x="530352" y="4681728"/>
            <a:ext cx="11130991"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786384" y="4937760"/>
            <a:ext cx="530352" cy="530352"/>
          </a:xfrm>
          <a:prstGeom prst="ellipse">
            <a:avLst/>
          </a:prstGeom>
          <a:solidFill>
            <a:srgbClr val="F97B00"/>
          </a:solidFill>
          <a:ln/>
        </p:spPr>
      </p:sp>
      <p:pic>
        <p:nvPicPr>
          <p:cNvPr id="23" name="Image 2" descr="preencoded.png">    </p:cNvPr>
          <p:cNvPicPr>
            <a:picLocks noChangeAspect="1"/>
          </p:cNvPicPr>
          <p:nvPr/>
        </p:nvPicPr>
        <p:blipFill>
          <a:blip r:embed="rId3"/>
          <a:stretch>
            <a:fillRect/>
          </a:stretch>
        </p:blipFill>
        <p:spPr>
          <a:xfrm>
            <a:off x="929579" y="5080955"/>
            <a:ext cx="243962" cy="243962"/>
          </a:xfrm>
          <a:prstGeom prst="rect">
            <a:avLst/>
          </a:prstGeom>
        </p:spPr>
      </p:pic>
      <p:sp>
        <p:nvSpPr>
          <p:cNvPr id="24" name="Text 19"/>
          <p:cNvSpPr txBox="1"/>
          <p:nvPr/>
        </p:nvSpPr>
        <p:spPr>
          <a:xfrm>
            <a:off x="1481328" y="4828032"/>
            <a:ext cx="3657600" cy="365760"/>
          </a:xfrm>
          <a:prstGeom prst="rect">
            <a:avLst/>
          </a:prstGeom>
          <a:noFill/>
          <a:ln/>
        </p:spPr>
        <p:txBody>
          <a:bodyPr wrap="square" lIns="0" tIns="0" rIns="0" bIns="0" rtlCol="0" anchor="ctr"/>
          <a:lstStyle/>
          <a:p>
            <a:pPr indent="0" marL="0">
              <a:buNone/>
            </a:pPr>
            <a:r>
              <a:rPr lang="en-US" sz="1400" b="1" dirty="0">
                <a:solidFill>
                  <a:srgbClr val="C25E00"/>
                </a:solidFill>
                <a:latin typeface="Calibri" pitchFamily="34" charset="0"/>
                <a:ea typeface="Calibri" pitchFamily="34" charset="-122"/>
                <a:cs typeface="Calibri" pitchFamily="34" charset="-120"/>
              </a:rPr>
              <a:t>可扩展性</a:t>
            </a:r>
            <a:endParaRPr lang="en-US" sz="1400" dirty="0"/>
          </a:p>
        </p:txBody>
      </p:sp>
      <p:sp>
        <p:nvSpPr>
          <p:cNvPr id="25" name="Shape 20"/>
          <p:cNvSpPr/>
          <p:nvPr/>
        </p:nvSpPr>
        <p:spPr>
          <a:xfrm>
            <a:off x="5285232" y="4882896"/>
            <a:ext cx="6193231" cy="274320"/>
          </a:xfrm>
          <a:prstGeom prst="roundRect">
            <a:avLst>
              <a:gd name="adj" fmla="val 16667"/>
            </a:avLst>
          </a:prstGeom>
          <a:solidFill>
            <a:srgbClr val="F97B00"/>
          </a:solidFill>
          <a:ln/>
        </p:spPr>
      </p:sp>
      <p:sp>
        <p:nvSpPr>
          <p:cNvPr id="26" name="Text 21"/>
          <p:cNvSpPr txBox="1"/>
          <p:nvPr/>
        </p:nvSpPr>
        <p:spPr>
          <a:xfrm>
            <a:off x="5285232" y="4882896"/>
            <a:ext cx="6193231"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低代码平台 + 存储与计算弹性扩展</a:t>
            </a:r>
            <a:endParaRPr lang="en-US" sz="1000" dirty="0"/>
          </a:p>
        </p:txBody>
      </p:sp>
      <p:sp>
        <p:nvSpPr>
          <p:cNvPr id="27" name="Text 22"/>
          <p:cNvSpPr txBox="1"/>
          <p:nvPr/>
        </p:nvSpPr>
        <p:spPr>
          <a:xfrm>
            <a:off x="786384" y="5340096"/>
            <a:ext cx="10618927" cy="731520"/>
          </a:xfrm>
          <a:prstGeom prst="rect">
            <a:avLst/>
          </a:prstGeom>
          <a:noFill/>
          <a:ln/>
        </p:spPr>
        <p:txBody>
          <a:bodyPr wrap="square" lIns="0" tIns="0" rIns="0" bIns="0" rtlCol="0" anchor="ctr"/>
          <a:lstStyle/>
          <a:p>
            <a:pPr indent="0" marL="0">
              <a:lnSpc>
                <a:spcPct val="110000"/>
              </a:lnSpc>
              <a:buNone/>
            </a:pPr>
            <a:r>
              <a:rPr lang="en-US" sz="1100" dirty="0">
                <a:solidFill>
                  <a:srgbClr val="1F2933"/>
                </a:solidFill>
                <a:latin typeface="Calibri" pitchFamily="34" charset="0"/>
                <a:ea typeface="Calibri" pitchFamily="34" charset="-122"/>
                <a:cs typeface="Calibri" pitchFamily="34" charset="-120"/>
              </a:rPr>
              <a:t>提供低代码二次开发平台或工具，支持贵方 IT 团队自主增加、修改与调整功能；系统支持底层存储及计算资源水平扩展（K8s 弹性伸缩）</a:t>
            </a:r>
            <a:endParaRPr lang="en-US" sz="11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数据集成方案：统一经 ESB 集成，15 类系统一张表说清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MDM，业务集成经企业集成总线，异常有重试、告警与人工补偿机制</a:t>
            </a:r>
            <a:endParaRPr lang="en-US" sz="12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6903720" cy="914400"/>
        </p:xfrm>
        <a:graphic>
          <a:graphicData uri="http://schemas.openxmlformats.org/drawingml/2006/table">
            <a:tbl>
              <a:tblPr/>
              <a:tblGrid>
                <a:gridCol w="1417320"/>
                <a:gridCol w="3291840"/>
                <a:gridCol w="658368"/>
                <a:gridCol w="1536192"/>
              </a:tblGrid>
              <a:tr h="276149">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iSungrow(钉钉)</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组织人员同步、消息推送、待办审批、扫码填报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API/SDK</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MDM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园区、组织、人员、供应商、物料主数据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BPM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入职流程、住宿申请审批、变更流程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PS / WTS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员工基本信息、职级、离职状态、考勤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EHS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隐患随手拍、5S 责任区、危险作业票、黑名单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WMS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到货计划、收发货状态、库位信息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SRM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送货单、供应商信息、供应商评价结果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TMS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运输订单、承运商、车辆资源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EAM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设备台账、维保工单、备件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水、电、气、蒸汽、压缩空气能耗数据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ERP / 费控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成本中心、费用归集与结算数据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数据湖</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园区全量业务与物联数据汇聚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ETL/CDC</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视频监控平台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视频流、录像回放、抓拍、云台控制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GB/T28181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道闸系统（红门）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车牌识别、放行指令、通行记录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达实门禁一卡通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权限下发、通行记录、消防联动开门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680960" y="1257300"/>
            <a:ext cx="68580" cy="173736"/>
          </a:xfrm>
          <a:prstGeom prst="rect">
            <a:avLst/>
          </a:prstGeom>
          <a:solidFill>
            <a:srgbClr val="F97B00"/>
          </a:solidFill>
          <a:ln/>
        </p:spPr>
      </p:sp>
      <p:sp>
        <p:nvSpPr>
          <p:cNvPr id="7" name="Text 4"/>
          <p:cNvSpPr txBox="1"/>
          <p:nvPr/>
        </p:nvSpPr>
        <p:spPr>
          <a:xfrm>
            <a:off x="7836408" y="1207008"/>
            <a:ext cx="386791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集成实施要点</a:t>
            </a:r>
            <a:endParaRPr lang="en-US" sz="1250" dirty="0"/>
          </a:p>
        </p:txBody>
      </p:sp>
      <p:sp>
        <p:nvSpPr>
          <p:cNvPr id="8" name="Shape 5"/>
          <p:cNvSpPr/>
          <p:nvPr/>
        </p:nvSpPr>
        <p:spPr>
          <a:xfrm>
            <a:off x="7680960" y="1517904"/>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845552" y="1700784"/>
            <a:ext cx="274320" cy="274320"/>
          </a:xfrm>
          <a:prstGeom prst="ellipse">
            <a:avLst/>
          </a:prstGeom>
          <a:solidFill>
            <a:srgbClr val="F97B00"/>
          </a:solidFill>
          <a:ln/>
        </p:spPr>
      </p:sp>
      <p:sp>
        <p:nvSpPr>
          <p:cNvPr id="10" name="Text 7"/>
          <p:cNvSpPr txBox="1"/>
          <p:nvPr/>
        </p:nvSpPr>
        <p:spPr>
          <a:xfrm>
            <a:off x="7845552" y="17007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8211312" y="155448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统一集成模式</a:t>
            </a:r>
            <a:endParaRPr lang="en-US" sz="1020" dirty="0"/>
          </a:p>
        </p:txBody>
      </p:sp>
      <p:sp>
        <p:nvSpPr>
          <p:cNvPr id="12" name="Text 9"/>
          <p:cNvSpPr txBox="1"/>
          <p:nvPr/>
        </p:nvSpPr>
        <p:spPr>
          <a:xfrm>
            <a:off x="8211312" y="1773936"/>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所有业务系统集成遵循统一模式，经 ESB 企业集成总线集成</a:t>
            </a:r>
            <a:endParaRPr lang="en-US" sz="1000" dirty="0"/>
          </a:p>
        </p:txBody>
      </p:sp>
      <p:sp>
        <p:nvSpPr>
          <p:cNvPr id="13" name="Shape 10"/>
          <p:cNvSpPr/>
          <p:nvPr/>
        </p:nvSpPr>
        <p:spPr>
          <a:xfrm>
            <a:off x="7680960" y="2240280"/>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845552" y="2423160"/>
            <a:ext cx="274320" cy="274320"/>
          </a:xfrm>
          <a:prstGeom prst="ellipse">
            <a:avLst/>
          </a:prstGeom>
          <a:solidFill>
            <a:srgbClr val="F97B00"/>
          </a:solidFill>
          <a:ln/>
        </p:spPr>
      </p:sp>
      <p:sp>
        <p:nvSpPr>
          <p:cNvPr id="15" name="Text 12"/>
          <p:cNvSpPr txBox="1"/>
          <p:nvPr/>
        </p:nvSpPr>
        <p:spPr>
          <a:xfrm>
            <a:off x="7845552" y="2423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8211312" y="2276856"/>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接口开发与调试</a:t>
            </a:r>
            <a:endParaRPr lang="en-US" sz="1020" dirty="0"/>
          </a:p>
        </p:txBody>
      </p:sp>
      <p:sp>
        <p:nvSpPr>
          <p:cNvPr id="17" name="Text 14"/>
          <p:cNvSpPr txBox="1"/>
          <p:nvPr/>
        </p:nvSpPr>
        <p:spPr>
          <a:xfrm>
            <a:off x="8211312" y="2496312"/>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我方负责园区平台与所有外围交互系统的接口开发和调试</a:t>
            </a:r>
            <a:endParaRPr lang="en-US" sz="1000" dirty="0"/>
          </a:p>
        </p:txBody>
      </p:sp>
      <p:sp>
        <p:nvSpPr>
          <p:cNvPr id="18" name="Shape 15"/>
          <p:cNvSpPr/>
          <p:nvPr/>
        </p:nvSpPr>
        <p:spPr>
          <a:xfrm>
            <a:off x="7680960" y="2962656"/>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6"/>
          <p:cNvSpPr/>
          <p:nvPr/>
        </p:nvSpPr>
        <p:spPr>
          <a:xfrm>
            <a:off x="7845552" y="3145536"/>
            <a:ext cx="274320" cy="274320"/>
          </a:xfrm>
          <a:prstGeom prst="ellipse">
            <a:avLst/>
          </a:prstGeom>
          <a:solidFill>
            <a:srgbClr val="F97B00"/>
          </a:solidFill>
          <a:ln/>
        </p:spPr>
      </p:sp>
      <p:sp>
        <p:nvSpPr>
          <p:cNvPr id="20" name="Text 17"/>
          <p:cNvSpPr txBox="1"/>
          <p:nvPr/>
        </p:nvSpPr>
        <p:spPr>
          <a:xfrm>
            <a:off x="7845552" y="31455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8211312" y="2999232"/>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异常处理机制</a:t>
            </a:r>
            <a:endParaRPr lang="en-US" sz="1020" dirty="0"/>
          </a:p>
        </p:txBody>
      </p:sp>
      <p:sp>
        <p:nvSpPr>
          <p:cNvPr id="22" name="Text 19"/>
          <p:cNvSpPr txBox="1"/>
          <p:nvPr/>
        </p:nvSpPr>
        <p:spPr>
          <a:xfrm>
            <a:off x="8211312" y="3218688"/>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异常场景全覆盖：超时重试、幂等校验、死信队列、异常告警、人工补偿台账</a:t>
            </a:r>
            <a:endParaRPr lang="en-US" sz="1000" dirty="0"/>
          </a:p>
        </p:txBody>
      </p:sp>
      <p:sp>
        <p:nvSpPr>
          <p:cNvPr id="23" name="Shape 20"/>
          <p:cNvSpPr/>
          <p:nvPr/>
        </p:nvSpPr>
        <p:spPr>
          <a:xfrm>
            <a:off x="7680960" y="3685032"/>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1"/>
          <p:cNvSpPr/>
          <p:nvPr/>
        </p:nvSpPr>
        <p:spPr>
          <a:xfrm>
            <a:off x="7845552" y="3867912"/>
            <a:ext cx="274320" cy="274320"/>
          </a:xfrm>
          <a:prstGeom prst="ellipse">
            <a:avLst/>
          </a:prstGeom>
          <a:solidFill>
            <a:srgbClr val="F97B00"/>
          </a:solidFill>
          <a:ln/>
        </p:spPr>
      </p:sp>
      <p:sp>
        <p:nvSpPr>
          <p:cNvPr id="25" name="Text 22"/>
          <p:cNvSpPr txBox="1"/>
          <p:nvPr/>
        </p:nvSpPr>
        <p:spPr>
          <a:xfrm>
            <a:off x="7845552" y="38679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txBox="1"/>
          <p:nvPr/>
        </p:nvSpPr>
        <p:spPr>
          <a:xfrm>
            <a:off x="8211312" y="372160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接口预留</a:t>
            </a:r>
            <a:endParaRPr lang="en-US" sz="1020" dirty="0"/>
          </a:p>
        </p:txBody>
      </p:sp>
      <p:sp>
        <p:nvSpPr>
          <p:cNvPr id="27" name="Text 24"/>
          <p:cNvSpPr txBox="1"/>
          <p:nvPr/>
        </p:nvSpPr>
        <p:spPr>
          <a:xfrm>
            <a:off x="8211312" y="3941064"/>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上线前尚不具备对接条件的系统，预留标准接口与配置项</a:t>
            </a:r>
            <a:endParaRPr lang="en-US" sz="1000" dirty="0"/>
          </a:p>
        </p:txBody>
      </p:sp>
      <p:sp>
        <p:nvSpPr>
          <p:cNvPr id="28" name="Shape 25"/>
          <p:cNvSpPr/>
          <p:nvPr/>
        </p:nvSpPr>
        <p:spPr>
          <a:xfrm>
            <a:off x="7680960" y="4407408"/>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6"/>
          <p:cNvSpPr/>
          <p:nvPr/>
        </p:nvSpPr>
        <p:spPr>
          <a:xfrm>
            <a:off x="7845552" y="4590288"/>
            <a:ext cx="274320" cy="274320"/>
          </a:xfrm>
          <a:prstGeom prst="ellipse">
            <a:avLst/>
          </a:prstGeom>
          <a:solidFill>
            <a:srgbClr val="F97B00"/>
          </a:solidFill>
          <a:ln/>
        </p:spPr>
      </p:sp>
      <p:sp>
        <p:nvSpPr>
          <p:cNvPr id="30" name="Text 27"/>
          <p:cNvSpPr txBox="1"/>
          <p:nvPr/>
        </p:nvSpPr>
        <p:spPr>
          <a:xfrm>
            <a:off x="7845552" y="45902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txBox="1"/>
          <p:nvPr/>
        </p:nvSpPr>
        <p:spPr>
          <a:xfrm>
            <a:off x="8211312" y="4443984"/>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第三方协调</a:t>
            </a:r>
            <a:endParaRPr lang="en-US" sz="1020" dirty="0"/>
          </a:p>
        </p:txBody>
      </p:sp>
      <p:sp>
        <p:nvSpPr>
          <p:cNvPr id="32" name="Text 29"/>
          <p:cNvSpPr txBox="1"/>
          <p:nvPr/>
        </p:nvSpPr>
        <p:spPr>
          <a:xfrm>
            <a:off x="8211312" y="4663440"/>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集成范围内的设备通讯调试由我方负责，需甲方协调的资源提前明确</a:t>
            </a:r>
            <a:endParaRPr lang="en-US" sz="1000" dirty="0"/>
          </a:p>
        </p:txBody>
      </p:sp>
      <p:sp>
        <p:nvSpPr>
          <p:cNvPr id="33" name="Shape 30"/>
          <p:cNvSpPr/>
          <p:nvPr/>
        </p:nvSpPr>
        <p:spPr>
          <a:xfrm>
            <a:off x="7680960" y="5129784"/>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1"/>
          <p:cNvSpPr/>
          <p:nvPr/>
        </p:nvSpPr>
        <p:spPr>
          <a:xfrm>
            <a:off x="7845552" y="5312664"/>
            <a:ext cx="274320" cy="274320"/>
          </a:xfrm>
          <a:prstGeom prst="ellipse">
            <a:avLst/>
          </a:prstGeom>
          <a:solidFill>
            <a:srgbClr val="F97B00"/>
          </a:solidFill>
          <a:ln/>
        </p:spPr>
      </p:sp>
      <p:sp>
        <p:nvSpPr>
          <p:cNvPr id="35" name="Text 32"/>
          <p:cNvSpPr txBox="1"/>
          <p:nvPr/>
        </p:nvSpPr>
        <p:spPr>
          <a:xfrm>
            <a:off x="7845552" y="53126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txBox="1"/>
          <p:nvPr/>
        </p:nvSpPr>
        <p:spPr>
          <a:xfrm>
            <a:off x="8211312" y="516636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技术文档评估</a:t>
            </a:r>
            <a:endParaRPr lang="en-US" sz="1020" dirty="0"/>
          </a:p>
        </p:txBody>
      </p:sp>
      <p:sp>
        <p:nvSpPr>
          <p:cNvPr id="37" name="Text 34"/>
          <p:cNvSpPr txBox="1"/>
          <p:nvPr/>
        </p:nvSpPr>
        <p:spPr>
          <a:xfrm>
            <a:off x="8211312" y="5385816"/>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评估第三方技术文档是否满足集成要求，并与其共同完成集成</a:t>
            </a:r>
            <a:endParaRPr lang="en-US" sz="1000" dirty="0"/>
          </a:p>
        </p:txBody>
      </p:sp>
      <p:sp>
        <p:nvSpPr>
          <p:cNvPr id="38" name="Text 35"/>
          <p:cNvSpPr txBox="1"/>
          <p:nvPr/>
        </p:nvSpPr>
        <p:spPr>
          <a:xfrm>
            <a:off x="530352" y="5852160"/>
            <a:ext cx="11130991" cy="292608"/>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注：EAM / WMS / TMS / SRM 不涉及标准功能改动时，集成不产生额外对接费用；第三方平台对接的额外费用已在商务报价中列示。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硬件建设（一）：智慧消防及物联系统——BA 控制 + 全域感知</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全局网络控制器 + 129 套可编程控制器 + 700 余传感器，构建消防物联感知矩阵</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BA 控制系统与消防物联感知设备</a:t>
            </a:r>
            <a:endParaRPr lang="en-US" sz="12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577840" cy="914400"/>
        </p:xfrm>
        <a:graphic>
          <a:graphicData uri="http://schemas.openxmlformats.org/drawingml/2006/table">
            <a:tbl>
              <a:tblPr/>
              <a:tblGrid>
                <a:gridCol w="1335024"/>
                <a:gridCol w="2048256"/>
                <a:gridCol w="658368"/>
                <a:gridCol w="1536192"/>
              </a:tblGrid>
              <a:tr h="23774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设备类别</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主要设备</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用途</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用户信息传输</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壁挂式采集装置，适配青鸟/鼎信/利达主机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24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火灾报警信号采集上传</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全局网络控制器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BACnet/Modbus/LonWorks/KNX 多协议</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9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复杂联锁与算法控制</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可编程控制器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BACnet IP/Modbus-TCP，24 路 DI/8 路 DO</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129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前端采集与联动控制</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控制盘及电源</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定制配电箱 + 24VDC 工业电源</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129 套</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配套供电与接线</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压力变送器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4-20mA，0-25 bar</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362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管网压力监测</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流量传感器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脉冲/4-20mA，NPT 连接</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75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消防水流量监测</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液位开关</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PVC 电缆，3M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13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水池/水箱液位</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氧浓度传感器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0-25% VOL，响应≤10s</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26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气体灭火区域监测</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风速监测传感器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0-20 m/s，0-10VDC 输出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89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排烟风机风速</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温湿度传感器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±2%RH，NTC20K</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机房环境</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交流电流变送器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三相 RS485 信号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168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电气火灾监控</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3774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继电器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适配电磁阀信号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100 个</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联动控制</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6364224" y="1257300"/>
            <a:ext cx="68580" cy="173736"/>
          </a:xfrm>
          <a:prstGeom prst="rect">
            <a:avLst/>
          </a:prstGeom>
          <a:solidFill>
            <a:srgbClr val="F97B00"/>
          </a:solidFill>
          <a:ln/>
        </p:spPr>
      </p:sp>
      <p:sp>
        <p:nvSpPr>
          <p:cNvPr id="9" name="Text 6"/>
          <p:cNvSpPr txBox="1"/>
          <p:nvPr/>
        </p:nvSpPr>
        <p:spPr>
          <a:xfrm>
            <a:off x="651967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网络与布线</a:t>
            </a:r>
            <a:endParaRPr lang="en-US" sz="1250" dirty="0"/>
          </a:p>
        </p:txBody>
      </p:sp>
      <p:sp>
        <p:nvSpPr>
          <p:cNvPr id="10" name="Shape 7"/>
          <p:cNvSpPr/>
          <p:nvPr/>
        </p:nvSpPr>
        <p:spPr>
          <a:xfrm>
            <a:off x="6364224" y="1517904"/>
            <a:ext cx="5297119" cy="365760"/>
          </a:xfrm>
          <a:prstGeom prst="roundRect">
            <a:avLst>
              <a:gd name="adj" fmla="val 8750"/>
            </a:avLst>
          </a:prstGeom>
          <a:solidFill>
            <a:srgbClr val="F6F8FA"/>
          </a:solidFill>
          <a:ln w="9525">
            <a:solidFill>
              <a:srgbClr val="E3E7EB"/>
            </a:solidFill>
            <a:prstDash val="solid"/>
          </a:ln>
        </p:spPr>
      </p:sp>
      <p:sp>
        <p:nvSpPr>
          <p:cNvPr id="11" name="Text 8"/>
          <p:cNvSpPr txBox="1"/>
          <p:nvPr/>
        </p:nvSpPr>
        <p:spPr>
          <a:xfrm>
            <a:off x="6528816" y="1517904"/>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24 口接入交换机</a:t>
            </a:r>
            <a:endParaRPr lang="en-US" sz="1000" dirty="0"/>
          </a:p>
        </p:txBody>
      </p:sp>
      <p:sp>
        <p:nvSpPr>
          <p:cNvPr id="12" name="Text 9"/>
          <p:cNvSpPr txBox="1"/>
          <p:nvPr/>
        </p:nvSpPr>
        <p:spPr>
          <a:xfrm>
            <a:off x="8211312" y="1517904"/>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华三/锐捷，千兆电口 + SFP 光口</a:t>
            </a:r>
            <a:endParaRPr lang="en-US" sz="1000" dirty="0"/>
          </a:p>
        </p:txBody>
      </p:sp>
      <p:sp>
        <p:nvSpPr>
          <p:cNvPr id="13" name="Text 10"/>
          <p:cNvSpPr txBox="1"/>
          <p:nvPr/>
        </p:nvSpPr>
        <p:spPr>
          <a:xfrm>
            <a:off x="10533888" y="1517904"/>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12 台</a:t>
            </a:r>
            <a:endParaRPr lang="en-US" sz="1000" dirty="0"/>
          </a:p>
        </p:txBody>
      </p:sp>
      <p:sp>
        <p:nvSpPr>
          <p:cNvPr id="14" name="Shape 11"/>
          <p:cNvSpPr/>
          <p:nvPr/>
        </p:nvSpPr>
        <p:spPr>
          <a:xfrm>
            <a:off x="6364224" y="1938528"/>
            <a:ext cx="5297119" cy="365760"/>
          </a:xfrm>
          <a:prstGeom prst="roundRect">
            <a:avLst>
              <a:gd name="adj" fmla="val 8750"/>
            </a:avLst>
          </a:prstGeom>
          <a:solidFill>
            <a:srgbClr val="FFFFFF"/>
          </a:solidFill>
          <a:ln w="9525">
            <a:solidFill>
              <a:srgbClr val="E3E7EB"/>
            </a:solidFill>
            <a:prstDash val="solid"/>
          </a:ln>
        </p:spPr>
      </p:sp>
      <p:sp>
        <p:nvSpPr>
          <p:cNvPr id="15" name="Text 12"/>
          <p:cNvSpPr txBox="1"/>
          <p:nvPr/>
        </p:nvSpPr>
        <p:spPr>
          <a:xfrm>
            <a:off x="6528816" y="1938528"/>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室外 4 芯单模光缆</a:t>
            </a:r>
            <a:endParaRPr lang="en-US" sz="1000" dirty="0"/>
          </a:p>
        </p:txBody>
      </p:sp>
      <p:sp>
        <p:nvSpPr>
          <p:cNvPr id="16" name="Text 13"/>
          <p:cNvSpPr txBox="1"/>
          <p:nvPr/>
        </p:nvSpPr>
        <p:spPr>
          <a:xfrm>
            <a:off x="8211312" y="1938528"/>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OS2 标准，阻水结构</a:t>
            </a:r>
            <a:endParaRPr lang="en-US" sz="1000" dirty="0"/>
          </a:p>
        </p:txBody>
      </p:sp>
      <p:sp>
        <p:nvSpPr>
          <p:cNvPr id="17" name="Text 14"/>
          <p:cNvSpPr txBox="1"/>
          <p:nvPr/>
        </p:nvSpPr>
        <p:spPr>
          <a:xfrm>
            <a:off x="10533888" y="1938528"/>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130 km</a:t>
            </a:r>
            <a:endParaRPr lang="en-US" sz="1000" dirty="0"/>
          </a:p>
        </p:txBody>
      </p:sp>
      <p:sp>
        <p:nvSpPr>
          <p:cNvPr id="18" name="Shape 15"/>
          <p:cNvSpPr/>
          <p:nvPr/>
        </p:nvSpPr>
        <p:spPr>
          <a:xfrm>
            <a:off x="6364224" y="2359152"/>
            <a:ext cx="5297119" cy="365760"/>
          </a:xfrm>
          <a:prstGeom prst="roundRect">
            <a:avLst>
              <a:gd name="adj" fmla="val 8750"/>
            </a:avLst>
          </a:prstGeom>
          <a:solidFill>
            <a:srgbClr val="F6F8FA"/>
          </a:solidFill>
          <a:ln w="9525">
            <a:solidFill>
              <a:srgbClr val="E3E7EB"/>
            </a:solidFill>
            <a:prstDash val="solid"/>
          </a:ln>
        </p:spPr>
      </p:sp>
      <p:sp>
        <p:nvSpPr>
          <p:cNvPr id="19" name="Text 16"/>
          <p:cNvSpPr txBox="1"/>
          <p:nvPr/>
        </p:nvSpPr>
        <p:spPr>
          <a:xfrm>
            <a:off x="6528816" y="2359152"/>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光纤配线架</a:t>
            </a:r>
            <a:endParaRPr lang="en-US" sz="1000" dirty="0"/>
          </a:p>
        </p:txBody>
      </p:sp>
      <p:sp>
        <p:nvSpPr>
          <p:cNvPr id="20" name="Text 17"/>
          <p:cNvSpPr txBox="1"/>
          <p:nvPr/>
        </p:nvSpPr>
        <p:spPr>
          <a:xfrm>
            <a:off x="8211312" y="2359152"/>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24 口 LC 双工，含尾纤与熔接</a:t>
            </a:r>
            <a:endParaRPr lang="en-US" sz="1000" dirty="0"/>
          </a:p>
        </p:txBody>
      </p:sp>
      <p:sp>
        <p:nvSpPr>
          <p:cNvPr id="21" name="Text 18"/>
          <p:cNvSpPr txBox="1"/>
          <p:nvPr/>
        </p:nvSpPr>
        <p:spPr>
          <a:xfrm>
            <a:off x="10533888" y="2359152"/>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24 个</a:t>
            </a:r>
            <a:endParaRPr lang="en-US" sz="1000" dirty="0"/>
          </a:p>
        </p:txBody>
      </p:sp>
      <p:sp>
        <p:nvSpPr>
          <p:cNvPr id="22" name="Shape 19"/>
          <p:cNvSpPr/>
          <p:nvPr/>
        </p:nvSpPr>
        <p:spPr>
          <a:xfrm>
            <a:off x="6364224" y="2779776"/>
            <a:ext cx="5297119" cy="365760"/>
          </a:xfrm>
          <a:prstGeom prst="roundRect">
            <a:avLst>
              <a:gd name="adj" fmla="val 8750"/>
            </a:avLst>
          </a:prstGeom>
          <a:solidFill>
            <a:srgbClr val="FFFFFF"/>
          </a:solidFill>
          <a:ln w="9525">
            <a:solidFill>
              <a:srgbClr val="E3E7EB"/>
            </a:solidFill>
            <a:prstDash val="solid"/>
          </a:ln>
        </p:spPr>
      </p:sp>
      <p:sp>
        <p:nvSpPr>
          <p:cNvPr id="23" name="Text 20"/>
          <p:cNvSpPr txBox="1"/>
          <p:nvPr/>
        </p:nvSpPr>
        <p:spPr>
          <a:xfrm>
            <a:off x="6528816" y="2779776"/>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光纤收发器</a:t>
            </a:r>
            <a:endParaRPr lang="en-US" sz="1000" dirty="0"/>
          </a:p>
        </p:txBody>
      </p:sp>
      <p:sp>
        <p:nvSpPr>
          <p:cNvPr id="24" name="Text 21"/>
          <p:cNvSpPr txBox="1"/>
          <p:nvPr/>
        </p:nvSpPr>
        <p:spPr>
          <a:xfrm>
            <a:off x="8211312" y="2779776"/>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千兆单模，SC 接口，20km</a:t>
            </a:r>
            <a:endParaRPr lang="en-US" sz="1000" dirty="0"/>
          </a:p>
        </p:txBody>
      </p:sp>
      <p:sp>
        <p:nvSpPr>
          <p:cNvPr id="25" name="Text 22"/>
          <p:cNvSpPr txBox="1"/>
          <p:nvPr/>
        </p:nvSpPr>
        <p:spPr>
          <a:xfrm>
            <a:off x="10533888" y="2779776"/>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129 对</a:t>
            </a:r>
            <a:endParaRPr lang="en-US" sz="1000" dirty="0"/>
          </a:p>
        </p:txBody>
      </p:sp>
      <p:sp>
        <p:nvSpPr>
          <p:cNvPr id="26" name="Shape 23"/>
          <p:cNvSpPr/>
          <p:nvPr/>
        </p:nvSpPr>
        <p:spPr>
          <a:xfrm>
            <a:off x="6364224" y="3200400"/>
            <a:ext cx="5297119" cy="365760"/>
          </a:xfrm>
          <a:prstGeom prst="roundRect">
            <a:avLst>
              <a:gd name="adj" fmla="val 8750"/>
            </a:avLst>
          </a:prstGeom>
          <a:solidFill>
            <a:srgbClr val="F6F8FA"/>
          </a:solidFill>
          <a:ln w="9525">
            <a:solidFill>
              <a:srgbClr val="E3E7EB"/>
            </a:solidFill>
            <a:prstDash val="solid"/>
          </a:ln>
        </p:spPr>
      </p:sp>
      <p:sp>
        <p:nvSpPr>
          <p:cNvPr id="27" name="Text 24"/>
          <p:cNvSpPr txBox="1"/>
          <p:nvPr/>
        </p:nvSpPr>
        <p:spPr>
          <a:xfrm>
            <a:off x="6528816" y="3200400"/>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信号线</a:t>
            </a:r>
            <a:endParaRPr lang="en-US" sz="1000" dirty="0"/>
          </a:p>
        </p:txBody>
      </p:sp>
      <p:sp>
        <p:nvSpPr>
          <p:cNvPr id="28" name="Text 25"/>
          <p:cNvSpPr txBox="1"/>
          <p:nvPr/>
        </p:nvSpPr>
        <p:spPr>
          <a:xfrm>
            <a:off x="8211312" y="3200400"/>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RVV/RVVP 多规格</a:t>
            </a:r>
            <a:endParaRPr lang="en-US" sz="1000" dirty="0"/>
          </a:p>
        </p:txBody>
      </p:sp>
      <p:sp>
        <p:nvSpPr>
          <p:cNvPr id="29" name="Text 26"/>
          <p:cNvSpPr txBox="1"/>
          <p:nvPr/>
        </p:nvSpPr>
        <p:spPr>
          <a:xfrm>
            <a:off x="10533888" y="3200400"/>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16,000 m+</a:t>
            </a:r>
            <a:endParaRPr lang="en-US" sz="1000" dirty="0"/>
          </a:p>
        </p:txBody>
      </p:sp>
      <p:sp>
        <p:nvSpPr>
          <p:cNvPr id="30" name="Shape 27"/>
          <p:cNvSpPr/>
          <p:nvPr/>
        </p:nvSpPr>
        <p:spPr>
          <a:xfrm>
            <a:off x="6364224" y="3621024"/>
            <a:ext cx="5297119" cy="365760"/>
          </a:xfrm>
          <a:prstGeom prst="roundRect">
            <a:avLst>
              <a:gd name="adj" fmla="val 8750"/>
            </a:avLst>
          </a:prstGeom>
          <a:solidFill>
            <a:srgbClr val="FFFFFF"/>
          </a:solidFill>
          <a:ln w="9525">
            <a:solidFill>
              <a:srgbClr val="E3E7EB"/>
            </a:solidFill>
            <a:prstDash val="solid"/>
          </a:ln>
        </p:spPr>
      </p:sp>
      <p:sp>
        <p:nvSpPr>
          <p:cNvPr id="31" name="Text 28"/>
          <p:cNvSpPr txBox="1"/>
          <p:nvPr/>
        </p:nvSpPr>
        <p:spPr>
          <a:xfrm>
            <a:off x="6528816" y="3621024"/>
            <a:ext cx="1645920" cy="36576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JDG20 管</a:t>
            </a:r>
            <a:endParaRPr lang="en-US" sz="1000" dirty="0"/>
          </a:p>
        </p:txBody>
      </p:sp>
      <p:sp>
        <p:nvSpPr>
          <p:cNvPr id="32" name="Text 29"/>
          <p:cNvSpPr txBox="1"/>
          <p:nvPr/>
        </p:nvSpPr>
        <p:spPr>
          <a:xfrm>
            <a:off x="8211312" y="3621024"/>
            <a:ext cx="2286000" cy="36576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壁厚≥1.0mm，含辅件</a:t>
            </a:r>
            <a:endParaRPr lang="en-US" sz="1000" dirty="0"/>
          </a:p>
        </p:txBody>
      </p:sp>
      <p:sp>
        <p:nvSpPr>
          <p:cNvPr id="33" name="Text 30"/>
          <p:cNvSpPr txBox="1"/>
          <p:nvPr/>
        </p:nvSpPr>
        <p:spPr>
          <a:xfrm>
            <a:off x="10533888" y="3621024"/>
            <a:ext cx="950976" cy="365760"/>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25,000 m</a:t>
            </a:r>
            <a:endParaRPr lang="en-US" sz="1000" dirty="0"/>
          </a:p>
        </p:txBody>
      </p:sp>
      <p:sp>
        <p:nvSpPr>
          <p:cNvPr id="34" name="Shape 31"/>
          <p:cNvSpPr/>
          <p:nvPr/>
        </p:nvSpPr>
        <p:spPr>
          <a:xfrm>
            <a:off x="6364224" y="2939796"/>
            <a:ext cx="68580" cy="173736"/>
          </a:xfrm>
          <a:prstGeom prst="rect">
            <a:avLst/>
          </a:prstGeom>
          <a:solidFill>
            <a:srgbClr val="F97B00"/>
          </a:solidFill>
          <a:ln/>
        </p:spPr>
      </p:sp>
      <p:sp>
        <p:nvSpPr>
          <p:cNvPr id="35" name="Text 32"/>
          <p:cNvSpPr txBox="1"/>
          <p:nvPr/>
        </p:nvSpPr>
        <p:spPr>
          <a:xfrm>
            <a:off x="6519672" y="288950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施工与交付标准</a:t>
            </a:r>
            <a:endParaRPr lang="en-US" sz="1250" dirty="0"/>
          </a:p>
        </p:txBody>
      </p:sp>
      <p:sp>
        <p:nvSpPr>
          <p:cNvPr id="36" name="Shape 33"/>
          <p:cNvSpPr/>
          <p:nvPr/>
        </p:nvSpPr>
        <p:spPr>
          <a:xfrm>
            <a:off x="6382512" y="3319272"/>
            <a:ext cx="64008" cy="146304"/>
          </a:xfrm>
          <a:prstGeom prst="rect">
            <a:avLst/>
          </a:prstGeom>
          <a:solidFill>
            <a:srgbClr val="F97B00"/>
          </a:solidFill>
          <a:ln/>
        </p:spPr>
      </p:sp>
      <p:sp>
        <p:nvSpPr>
          <p:cNvPr id="37" name="Text 34"/>
          <p:cNvSpPr txBox="1"/>
          <p:nvPr/>
        </p:nvSpPr>
        <p:spPr>
          <a:xfrm>
            <a:off x="6547104" y="3200400"/>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施工工艺</a:t>
            </a:r>
            <a:endParaRPr lang="en-US" sz="1000" dirty="0"/>
          </a:p>
        </p:txBody>
      </p:sp>
      <p:sp>
        <p:nvSpPr>
          <p:cNvPr id="38" name="Text 35"/>
          <p:cNvSpPr txBox="1"/>
          <p:nvPr/>
        </p:nvSpPr>
        <p:spPr>
          <a:xfrm>
            <a:off x="7772400" y="3200400"/>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遵循《阳光电源弱电施工工艺参考图册》</a:t>
            </a:r>
            <a:endParaRPr lang="en-US" sz="1000" dirty="0"/>
          </a:p>
        </p:txBody>
      </p:sp>
      <p:sp>
        <p:nvSpPr>
          <p:cNvPr id="39" name="Shape 36"/>
          <p:cNvSpPr/>
          <p:nvPr/>
        </p:nvSpPr>
        <p:spPr>
          <a:xfrm>
            <a:off x="6382512" y="3703320"/>
            <a:ext cx="64008" cy="146304"/>
          </a:xfrm>
          <a:prstGeom prst="rect">
            <a:avLst/>
          </a:prstGeom>
          <a:solidFill>
            <a:srgbClr val="F97B00"/>
          </a:solidFill>
          <a:ln/>
        </p:spPr>
      </p:sp>
      <p:sp>
        <p:nvSpPr>
          <p:cNvPr id="40" name="Text 37"/>
          <p:cNvSpPr txBox="1"/>
          <p:nvPr/>
        </p:nvSpPr>
        <p:spPr>
          <a:xfrm>
            <a:off x="6547104" y="3584448"/>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标识标签</a:t>
            </a:r>
            <a:endParaRPr lang="en-US" sz="1000" dirty="0"/>
          </a:p>
        </p:txBody>
      </p:sp>
      <p:sp>
        <p:nvSpPr>
          <p:cNvPr id="41" name="Text 38"/>
          <p:cNvSpPr txBox="1"/>
          <p:nvPr/>
        </p:nvSpPr>
        <p:spPr>
          <a:xfrm>
            <a:off x="7772400" y="3584448"/>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遵循《阳光电源厂区及办公区弱电标识标签规则》</a:t>
            </a:r>
            <a:endParaRPr lang="en-US" sz="1000" dirty="0"/>
          </a:p>
        </p:txBody>
      </p:sp>
      <p:sp>
        <p:nvSpPr>
          <p:cNvPr id="42" name="Shape 39"/>
          <p:cNvSpPr/>
          <p:nvPr/>
        </p:nvSpPr>
        <p:spPr>
          <a:xfrm>
            <a:off x="6382512" y="4087368"/>
            <a:ext cx="64008" cy="146304"/>
          </a:xfrm>
          <a:prstGeom prst="rect">
            <a:avLst/>
          </a:prstGeom>
          <a:solidFill>
            <a:srgbClr val="F97B00"/>
          </a:solidFill>
          <a:ln/>
        </p:spPr>
      </p:sp>
      <p:sp>
        <p:nvSpPr>
          <p:cNvPr id="43" name="Text 40"/>
          <p:cNvSpPr txBox="1"/>
          <p:nvPr/>
        </p:nvSpPr>
        <p:spPr>
          <a:xfrm>
            <a:off x="6547104" y="3968496"/>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计价模式</a:t>
            </a:r>
            <a:endParaRPr lang="en-US" sz="1000" dirty="0"/>
          </a:p>
        </p:txBody>
      </p:sp>
      <p:sp>
        <p:nvSpPr>
          <p:cNvPr id="44" name="Text 41"/>
          <p:cNvSpPr txBox="1"/>
          <p:nvPr/>
        </p:nvSpPr>
        <p:spPr>
          <a:xfrm>
            <a:off x="7772400" y="3968496"/>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实体净量 + 量价分离，综合单价包干</a:t>
            </a:r>
            <a:endParaRPr lang="en-US" sz="1000" dirty="0"/>
          </a:p>
        </p:txBody>
      </p:sp>
      <p:sp>
        <p:nvSpPr>
          <p:cNvPr id="45" name="Shape 42"/>
          <p:cNvSpPr/>
          <p:nvPr/>
        </p:nvSpPr>
        <p:spPr>
          <a:xfrm>
            <a:off x="6382512" y="4471416"/>
            <a:ext cx="64008" cy="146304"/>
          </a:xfrm>
          <a:prstGeom prst="rect">
            <a:avLst/>
          </a:prstGeom>
          <a:solidFill>
            <a:srgbClr val="F97B00"/>
          </a:solidFill>
          <a:ln/>
        </p:spPr>
      </p:sp>
      <p:sp>
        <p:nvSpPr>
          <p:cNvPr id="46" name="Text 43"/>
          <p:cNvSpPr txBox="1"/>
          <p:nvPr/>
        </p:nvSpPr>
        <p:spPr>
          <a:xfrm>
            <a:off x="6547104" y="4352544"/>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质保</a:t>
            </a:r>
            <a:endParaRPr lang="en-US" sz="1000" dirty="0"/>
          </a:p>
        </p:txBody>
      </p:sp>
      <p:sp>
        <p:nvSpPr>
          <p:cNvPr id="47" name="Text 44"/>
          <p:cNvSpPr txBox="1"/>
          <p:nvPr/>
        </p:nvSpPr>
        <p:spPr>
          <a:xfrm>
            <a:off x="7772400" y="4352544"/>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设备原厂质保 ≥3 年，故障 1 小时响应，6 小时修复</a:t>
            </a:r>
            <a:endParaRPr lang="en-US" sz="1000" dirty="0"/>
          </a:p>
        </p:txBody>
      </p:sp>
      <p:sp>
        <p:nvSpPr>
          <p:cNvPr id="48" name="Shape 45"/>
          <p:cNvSpPr/>
          <p:nvPr/>
        </p:nvSpPr>
        <p:spPr>
          <a:xfrm>
            <a:off x="530352" y="5193792"/>
            <a:ext cx="11130991" cy="950976"/>
          </a:xfrm>
          <a:prstGeom prst="roundRect">
            <a:avLst>
              <a:gd name="adj" fmla="val 33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9" name="Text 46"/>
          <p:cNvSpPr txBox="1"/>
          <p:nvPr/>
        </p:nvSpPr>
        <p:spPr>
          <a:xfrm>
            <a:off x="731520" y="5266944"/>
            <a:ext cx="146304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利旧原则</a:t>
            </a:r>
            <a:endParaRPr lang="en-US" sz="1100" dirty="0"/>
          </a:p>
        </p:txBody>
      </p:sp>
      <p:sp>
        <p:nvSpPr>
          <p:cNvPr id="50" name="Text 47"/>
          <p:cNvSpPr txBox="1"/>
          <p:nvPr/>
        </p:nvSpPr>
        <p:spPr>
          <a:xfrm>
            <a:off x="2286000" y="5230368"/>
            <a:ext cx="9119311" cy="85953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尽可能利旧：现场勘查后出具设备清单（含利旧与新增标识）、点位设计与深化图（CAD），调试后接入平台。施工图与竣工图分阶段交付。总价含设备运输、安装、集成调试、通断测试、福禄克测试、标签制作及 3 年质保期内一切费用。</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硬件建设（二）：智慧安防系统——AI 视频 + 无人机 + 巡更</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281 路视频接入 + 4 台 AI 服务器 + 无人机巡检套装 + 15 台手持巡更</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视频监控与 AI 分析</a:t>
            </a:r>
            <a:endParaRPr lang="en-US" sz="12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577840" cy="914400"/>
        </p:xfrm>
        <a:graphic>
          <a:graphicData uri="http://schemas.openxmlformats.org/drawingml/2006/table">
            <a:tbl>
              <a:tblPr/>
              <a:tblGrid>
                <a:gridCol w="1481328"/>
                <a:gridCol w="566928"/>
                <a:gridCol w="658368"/>
                <a:gridCol w="2871216"/>
              </a:tblGrid>
              <a:tr h="25603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品牌</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关键参数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抗振防抖摄像机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金属机身，M12 航空头网口</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400 万变焦筒型</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68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2560×1440，红外≥50m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热成像双光摄像机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199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热成像 256×192 + 可见光 400 万</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高空球型鹰眼</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全景 6072×2640 + 细节 4K</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人脸布控球</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5G 双摄 40 倍光学变倍</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智能融合应用主机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512 路视频接入，大模型以文搜图</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AI 服务器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2×KP920，8 张 AI 加速卡</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存储服务器</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 台</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64 位多核，支持≥256GB 内存</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56032">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原有平台扩容</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海康</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281 路</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新增前端统一纳管</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8" name="Shape 5"/>
          <p:cNvSpPr/>
          <p:nvPr/>
        </p:nvSpPr>
        <p:spPr>
          <a:xfrm>
            <a:off x="6364224" y="1257300"/>
            <a:ext cx="68580" cy="173736"/>
          </a:xfrm>
          <a:prstGeom prst="rect">
            <a:avLst/>
          </a:prstGeom>
          <a:solidFill>
            <a:srgbClr val="F97B00"/>
          </a:solidFill>
          <a:ln/>
        </p:spPr>
      </p:sp>
      <p:sp>
        <p:nvSpPr>
          <p:cNvPr id="9" name="Text 6"/>
          <p:cNvSpPr txBox="1"/>
          <p:nvPr/>
        </p:nvSpPr>
        <p:spPr>
          <a:xfrm>
            <a:off x="651967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无人机巡检套装</a:t>
            </a:r>
            <a:endParaRPr lang="en-US" sz="1250" dirty="0"/>
          </a:p>
        </p:txBody>
      </p:sp>
      <p:sp>
        <p:nvSpPr>
          <p:cNvPr id="10" name="Shape 7"/>
          <p:cNvSpPr/>
          <p:nvPr/>
        </p:nvSpPr>
        <p:spPr>
          <a:xfrm>
            <a:off x="6364224" y="1517904"/>
            <a:ext cx="5297119" cy="384048"/>
          </a:xfrm>
          <a:prstGeom prst="roundRect">
            <a:avLst>
              <a:gd name="adj" fmla="val 8333"/>
            </a:avLst>
          </a:prstGeom>
          <a:solidFill>
            <a:srgbClr val="FFF7EF"/>
          </a:solidFill>
          <a:ln w="9525">
            <a:solidFill>
              <a:srgbClr val="EEDFD0"/>
            </a:solidFill>
            <a:prstDash val="solid"/>
          </a:ln>
        </p:spPr>
      </p:sp>
      <p:sp>
        <p:nvSpPr>
          <p:cNvPr id="11" name="Text 8"/>
          <p:cNvSpPr txBox="1"/>
          <p:nvPr/>
        </p:nvSpPr>
        <p:spPr>
          <a:xfrm>
            <a:off x="6528816" y="1517904"/>
            <a:ext cx="109728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无人机</a:t>
            </a:r>
            <a:endParaRPr lang="en-US" sz="1000" dirty="0"/>
          </a:p>
        </p:txBody>
      </p:sp>
      <p:sp>
        <p:nvSpPr>
          <p:cNvPr id="12" name="Text 9"/>
          <p:cNvSpPr txBox="1"/>
          <p:nvPr/>
        </p:nvSpPr>
        <p:spPr>
          <a:xfrm>
            <a:off x="7662672" y="1517904"/>
            <a:ext cx="128016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大疆/道通/复亚/云圣</a:t>
            </a:r>
            <a:endParaRPr lang="en-US" sz="1000" dirty="0"/>
          </a:p>
        </p:txBody>
      </p:sp>
      <p:sp>
        <p:nvSpPr>
          <p:cNvPr id="13" name="Text 10"/>
          <p:cNvSpPr txBox="1"/>
          <p:nvPr/>
        </p:nvSpPr>
        <p:spPr>
          <a:xfrm>
            <a:off x="8979408" y="1517904"/>
            <a:ext cx="548640"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 台</a:t>
            </a:r>
            <a:endParaRPr lang="en-US" sz="1000" dirty="0"/>
          </a:p>
        </p:txBody>
      </p:sp>
      <p:sp>
        <p:nvSpPr>
          <p:cNvPr id="14" name="Text 11"/>
          <p:cNvSpPr txBox="1"/>
          <p:nvPr/>
        </p:nvSpPr>
        <p:spPr>
          <a:xfrm>
            <a:off x="9564624" y="1517904"/>
            <a:ext cx="192024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飞行≥50min，IP55，抗风≥12m/s</a:t>
            </a:r>
            <a:endParaRPr lang="en-US" sz="1000" dirty="0"/>
          </a:p>
        </p:txBody>
      </p:sp>
      <p:sp>
        <p:nvSpPr>
          <p:cNvPr id="15" name="Shape 12"/>
          <p:cNvSpPr/>
          <p:nvPr/>
        </p:nvSpPr>
        <p:spPr>
          <a:xfrm>
            <a:off x="6364224" y="1956816"/>
            <a:ext cx="5297119" cy="384048"/>
          </a:xfrm>
          <a:prstGeom prst="roundRect">
            <a:avLst>
              <a:gd name="adj" fmla="val 8333"/>
            </a:avLst>
          </a:prstGeom>
          <a:solidFill>
            <a:srgbClr val="FFFFFF"/>
          </a:solidFill>
          <a:ln w="9525">
            <a:solidFill>
              <a:srgbClr val="EEDFD0"/>
            </a:solidFill>
            <a:prstDash val="solid"/>
          </a:ln>
        </p:spPr>
      </p:sp>
      <p:sp>
        <p:nvSpPr>
          <p:cNvPr id="16" name="Text 13"/>
          <p:cNvSpPr txBox="1"/>
          <p:nvPr/>
        </p:nvSpPr>
        <p:spPr>
          <a:xfrm>
            <a:off x="6528816" y="1956816"/>
            <a:ext cx="109728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机巢及中继</a:t>
            </a:r>
            <a:endParaRPr lang="en-US" sz="1000" dirty="0"/>
          </a:p>
        </p:txBody>
      </p:sp>
      <p:sp>
        <p:nvSpPr>
          <p:cNvPr id="17" name="Text 14"/>
          <p:cNvSpPr txBox="1"/>
          <p:nvPr/>
        </p:nvSpPr>
        <p:spPr>
          <a:xfrm>
            <a:off x="7662672" y="1956816"/>
            <a:ext cx="128016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同上</a:t>
            </a:r>
            <a:endParaRPr lang="en-US" sz="1000" dirty="0"/>
          </a:p>
        </p:txBody>
      </p:sp>
      <p:sp>
        <p:nvSpPr>
          <p:cNvPr id="18" name="Text 15"/>
          <p:cNvSpPr txBox="1"/>
          <p:nvPr/>
        </p:nvSpPr>
        <p:spPr>
          <a:xfrm>
            <a:off x="8979408" y="1956816"/>
            <a:ext cx="548640"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 套</a:t>
            </a:r>
            <a:endParaRPr lang="en-US" sz="1000" dirty="0"/>
          </a:p>
        </p:txBody>
      </p:sp>
      <p:sp>
        <p:nvSpPr>
          <p:cNvPr id="19" name="Text 16"/>
          <p:cNvSpPr txBox="1"/>
          <p:nvPr/>
        </p:nvSpPr>
        <p:spPr>
          <a:xfrm>
            <a:off x="9564624" y="1956816"/>
            <a:ext cx="192024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-30~50℃，IP56，半径≥5km，充电&lt;30min</a:t>
            </a:r>
            <a:endParaRPr lang="en-US" sz="1000" dirty="0"/>
          </a:p>
        </p:txBody>
      </p:sp>
      <p:sp>
        <p:nvSpPr>
          <p:cNvPr id="20" name="Shape 17"/>
          <p:cNvSpPr/>
          <p:nvPr/>
        </p:nvSpPr>
        <p:spPr>
          <a:xfrm>
            <a:off x="6364224" y="2395728"/>
            <a:ext cx="5297119" cy="384048"/>
          </a:xfrm>
          <a:prstGeom prst="roundRect">
            <a:avLst>
              <a:gd name="adj" fmla="val 8333"/>
            </a:avLst>
          </a:prstGeom>
          <a:solidFill>
            <a:srgbClr val="FFF7EF"/>
          </a:solidFill>
          <a:ln w="9525">
            <a:solidFill>
              <a:srgbClr val="EEDFD0"/>
            </a:solidFill>
            <a:prstDash val="solid"/>
          </a:ln>
        </p:spPr>
      </p:sp>
      <p:sp>
        <p:nvSpPr>
          <p:cNvPr id="21" name="Text 18"/>
          <p:cNvSpPr txBox="1"/>
          <p:nvPr/>
        </p:nvSpPr>
        <p:spPr>
          <a:xfrm>
            <a:off x="6528816" y="2395728"/>
            <a:ext cx="109728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私有化平台</a:t>
            </a:r>
            <a:endParaRPr lang="en-US" sz="1000" dirty="0"/>
          </a:p>
        </p:txBody>
      </p:sp>
      <p:sp>
        <p:nvSpPr>
          <p:cNvPr id="22" name="Text 19"/>
          <p:cNvSpPr txBox="1"/>
          <p:nvPr/>
        </p:nvSpPr>
        <p:spPr>
          <a:xfrm>
            <a:off x="7662672" y="2395728"/>
            <a:ext cx="128016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同上</a:t>
            </a:r>
            <a:endParaRPr lang="en-US" sz="1000" dirty="0"/>
          </a:p>
        </p:txBody>
      </p:sp>
      <p:sp>
        <p:nvSpPr>
          <p:cNvPr id="23" name="Text 20"/>
          <p:cNvSpPr txBox="1"/>
          <p:nvPr/>
        </p:nvSpPr>
        <p:spPr>
          <a:xfrm>
            <a:off x="8979408" y="2395728"/>
            <a:ext cx="548640"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 套</a:t>
            </a:r>
            <a:endParaRPr lang="en-US" sz="1000" dirty="0"/>
          </a:p>
        </p:txBody>
      </p:sp>
      <p:sp>
        <p:nvSpPr>
          <p:cNvPr id="24" name="Text 21"/>
          <p:cNvSpPr txBox="1"/>
          <p:nvPr/>
        </p:nvSpPr>
        <p:spPr>
          <a:xfrm>
            <a:off x="9564624" y="2395728"/>
            <a:ext cx="1920240"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算法+大模型，支持二开，多航线设定</a:t>
            </a:r>
            <a:endParaRPr lang="en-US" sz="1000" dirty="0"/>
          </a:p>
        </p:txBody>
      </p:sp>
      <p:sp>
        <p:nvSpPr>
          <p:cNvPr id="25" name="Shape 22"/>
          <p:cNvSpPr/>
          <p:nvPr/>
        </p:nvSpPr>
        <p:spPr>
          <a:xfrm>
            <a:off x="6364224" y="2007108"/>
            <a:ext cx="68580" cy="173736"/>
          </a:xfrm>
          <a:prstGeom prst="rect">
            <a:avLst/>
          </a:prstGeom>
          <a:solidFill>
            <a:srgbClr val="F97B00"/>
          </a:solidFill>
          <a:ln/>
        </p:spPr>
      </p:sp>
      <p:sp>
        <p:nvSpPr>
          <p:cNvPr id="26" name="Text 23"/>
          <p:cNvSpPr txBox="1"/>
          <p:nvPr/>
        </p:nvSpPr>
        <p:spPr>
          <a:xfrm>
            <a:off x="6519672" y="195681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巡更管理</a:t>
            </a:r>
            <a:endParaRPr lang="en-US" sz="1250" dirty="0"/>
          </a:p>
        </p:txBody>
      </p:sp>
      <p:sp>
        <p:nvSpPr>
          <p:cNvPr id="27" name="Shape 24"/>
          <p:cNvSpPr/>
          <p:nvPr/>
        </p:nvSpPr>
        <p:spPr>
          <a:xfrm>
            <a:off x="6382512" y="2386584"/>
            <a:ext cx="64008" cy="146304"/>
          </a:xfrm>
          <a:prstGeom prst="rect">
            <a:avLst/>
          </a:prstGeom>
          <a:solidFill>
            <a:srgbClr val="F97B00"/>
          </a:solidFill>
          <a:ln/>
        </p:spPr>
      </p:sp>
      <p:sp>
        <p:nvSpPr>
          <p:cNvPr id="28" name="Text 25"/>
          <p:cNvSpPr txBox="1"/>
          <p:nvPr/>
        </p:nvSpPr>
        <p:spPr>
          <a:xfrm>
            <a:off x="6547104" y="2267712"/>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手持设备</a:t>
            </a:r>
            <a:endParaRPr lang="en-US" sz="1000" dirty="0"/>
          </a:p>
        </p:txBody>
      </p:sp>
      <p:sp>
        <p:nvSpPr>
          <p:cNvPr id="29" name="Text 26"/>
          <p:cNvSpPr txBox="1"/>
          <p:nvPr/>
        </p:nvSpPr>
        <p:spPr>
          <a:xfrm>
            <a:off x="7772400" y="2267712"/>
            <a:ext cx="658368"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15 台</a:t>
            </a:r>
            <a:endParaRPr lang="en-US" sz="1000" dirty="0"/>
          </a:p>
        </p:txBody>
      </p:sp>
      <p:sp>
        <p:nvSpPr>
          <p:cNvPr id="30" name="Text 27"/>
          <p:cNvSpPr txBox="1"/>
          <p:nvPr/>
        </p:nvSpPr>
        <p:spPr>
          <a:xfrm>
            <a:off x="8485632" y="2267712"/>
            <a:ext cx="2999232"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八核处理器，NFC/二维码，4G+WiFi</a:t>
            </a:r>
            <a:endParaRPr lang="en-US" sz="1000" dirty="0"/>
          </a:p>
        </p:txBody>
      </p:sp>
      <p:sp>
        <p:nvSpPr>
          <p:cNvPr id="31" name="Shape 28"/>
          <p:cNvSpPr/>
          <p:nvPr/>
        </p:nvSpPr>
        <p:spPr>
          <a:xfrm>
            <a:off x="6382512" y="2770632"/>
            <a:ext cx="64008" cy="146304"/>
          </a:xfrm>
          <a:prstGeom prst="rect">
            <a:avLst/>
          </a:prstGeom>
          <a:solidFill>
            <a:srgbClr val="F97B00"/>
          </a:solidFill>
          <a:ln/>
        </p:spPr>
      </p:sp>
      <p:sp>
        <p:nvSpPr>
          <p:cNvPr id="32" name="Text 29"/>
          <p:cNvSpPr txBox="1"/>
          <p:nvPr/>
        </p:nvSpPr>
        <p:spPr>
          <a:xfrm>
            <a:off x="6547104" y="2651760"/>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巡更牌（NFC）</a:t>
            </a:r>
            <a:endParaRPr lang="en-US" sz="1000" dirty="0"/>
          </a:p>
        </p:txBody>
      </p:sp>
      <p:sp>
        <p:nvSpPr>
          <p:cNvPr id="33" name="Text 30"/>
          <p:cNvSpPr txBox="1"/>
          <p:nvPr/>
        </p:nvSpPr>
        <p:spPr>
          <a:xfrm>
            <a:off x="7772400" y="2651760"/>
            <a:ext cx="658368"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50 个</a:t>
            </a:r>
            <a:endParaRPr lang="en-US" sz="1000" dirty="0"/>
          </a:p>
        </p:txBody>
      </p:sp>
      <p:sp>
        <p:nvSpPr>
          <p:cNvPr id="34" name="Text 31"/>
          <p:cNvSpPr txBox="1"/>
          <p:nvPr/>
        </p:nvSpPr>
        <p:spPr>
          <a:xfrm>
            <a:off x="8485632" y="2651760"/>
            <a:ext cx="2999232"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NFC 打卡 + 二维码扫描，抬头空窗可印</a:t>
            </a:r>
            <a:endParaRPr lang="en-US" sz="1000" dirty="0"/>
          </a:p>
        </p:txBody>
      </p:sp>
      <p:sp>
        <p:nvSpPr>
          <p:cNvPr id="35" name="Shape 32"/>
          <p:cNvSpPr/>
          <p:nvPr/>
        </p:nvSpPr>
        <p:spPr>
          <a:xfrm>
            <a:off x="6382512" y="3154680"/>
            <a:ext cx="64008" cy="146304"/>
          </a:xfrm>
          <a:prstGeom prst="rect">
            <a:avLst/>
          </a:prstGeom>
          <a:solidFill>
            <a:srgbClr val="F97B00"/>
          </a:solidFill>
          <a:ln/>
        </p:spPr>
      </p:sp>
      <p:sp>
        <p:nvSpPr>
          <p:cNvPr id="36" name="Text 33"/>
          <p:cNvSpPr txBox="1"/>
          <p:nvPr/>
        </p:nvSpPr>
        <p:spPr>
          <a:xfrm>
            <a:off x="6547104" y="3035808"/>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卡片录入仪</a:t>
            </a:r>
            <a:endParaRPr lang="en-US" sz="1000" dirty="0"/>
          </a:p>
        </p:txBody>
      </p:sp>
      <p:sp>
        <p:nvSpPr>
          <p:cNvPr id="37" name="Text 34"/>
          <p:cNvSpPr txBox="1"/>
          <p:nvPr/>
        </p:nvSpPr>
        <p:spPr>
          <a:xfrm>
            <a:off x="7772400" y="3035808"/>
            <a:ext cx="658368"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 台</a:t>
            </a:r>
            <a:endParaRPr lang="en-US" sz="1000" dirty="0"/>
          </a:p>
        </p:txBody>
      </p:sp>
      <p:sp>
        <p:nvSpPr>
          <p:cNvPr id="38" name="Text 35"/>
          <p:cNvSpPr txBox="1"/>
          <p:nvPr/>
        </p:nvSpPr>
        <p:spPr>
          <a:xfrm>
            <a:off x="8485632" y="3035808"/>
            <a:ext cx="2999232"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支持 ID/IC/身份证/CPU 卡</a:t>
            </a:r>
            <a:endParaRPr lang="en-US" sz="1000" dirty="0"/>
          </a:p>
        </p:txBody>
      </p:sp>
      <p:sp>
        <p:nvSpPr>
          <p:cNvPr id="39" name="Shape 36"/>
          <p:cNvSpPr/>
          <p:nvPr/>
        </p:nvSpPr>
        <p:spPr>
          <a:xfrm>
            <a:off x="6382512" y="3538728"/>
            <a:ext cx="64008" cy="146304"/>
          </a:xfrm>
          <a:prstGeom prst="rect">
            <a:avLst/>
          </a:prstGeom>
          <a:solidFill>
            <a:srgbClr val="F97B00"/>
          </a:solidFill>
          <a:ln/>
        </p:spPr>
      </p:sp>
      <p:sp>
        <p:nvSpPr>
          <p:cNvPr id="40" name="Text 37"/>
          <p:cNvSpPr txBox="1"/>
          <p:nvPr/>
        </p:nvSpPr>
        <p:spPr>
          <a:xfrm>
            <a:off x="6547104" y="3419856"/>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巡更管理软件</a:t>
            </a:r>
            <a:endParaRPr lang="en-US" sz="1000" dirty="0"/>
          </a:p>
        </p:txBody>
      </p:sp>
      <p:sp>
        <p:nvSpPr>
          <p:cNvPr id="41" name="Text 38"/>
          <p:cNvSpPr txBox="1"/>
          <p:nvPr/>
        </p:nvSpPr>
        <p:spPr>
          <a:xfrm>
            <a:off x="7772400" y="3419856"/>
            <a:ext cx="658368" cy="384048"/>
          </a:xfrm>
          <a:prstGeom prst="rect">
            <a:avLst/>
          </a:prstGeom>
          <a:noFill/>
          <a:ln/>
        </p:spPr>
        <p:txBody>
          <a:bodyPr wrap="square" lIns="0" tIns="0" rIns="0" bIns="0" rtlCol="0" anchor="ctr"/>
          <a:lstStyle/>
          <a:p>
            <a:pPr algn="ctr" indent="0" marL="0">
              <a:buNone/>
            </a:pPr>
            <a:r>
              <a:rPr lang="en-US" sz="1000" dirty="0">
                <a:solidFill>
                  <a:srgbClr val="C25E00"/>
                </a:solidFill>
                <a:latin typeface="Calibri" pitchFamily="34" charset="0"/>
                <a:ea typeface="Calibri" pitchFamily="34" charset="-122"/>
                <a:cs typeface="Calibri" pitchFamily="34" charset="-120"/>
              </a:rPr>
              <a:t>1 套</a:t>
            </a:r>
            <a:endParaRPr lang="en-US" sz="1000" dirty="0"/>
          </a:p>
        </p:txBody>
      </p:sp>
      <p:sp>
        <p:nvSpPr>
          <p:cNvPr id="42" name="Text 39"/>
          <p:cNvSpPr txBox="1"/>
          <p:nvPr/>
        </p:nvSpPr>
        <p:spPr>
          <a:xfrm>
            <a:off x="8485632" y="3419856"/>
            <a:ext cx="2999232"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门禁、NFC、二维码多方式打卡</a:t>
            </a:r>
            <a:endParaRPr lang="en-US" sz="1000" dirty="0"/>
          </a:p>
        </p:txBody>
      </p:sp>
      <p:sp>
        <p:nvSpPr>
          <p:cNvPr id="43" name="Shape 40"/>
          <p:cNvSpPr/>
          <p:nvPr/>
        </p:nvSpPr>
        <p:spPr>
          <a:xfrm>
            <a:off x="6364224" y="3945636"/>
            <a:ext cx="68580" cy="173736"/>
          </a:xfrm>
          <a:prstGeom prst="rect">
            <a:avLst/>
          </a:prstGeom>
          <a:solidFill>
            <a:srgbClr val="F97B00"/>
          </a:solidFill>
          <a:ln/>
        </p:spPr>
      </p:sp>
      <p:sp>
        <p:nvSpPr>
          <p:cNvPr id="44" name="Text 41"/>
          <p:cNvSpPr txBox="1"/>
          <p:nvPr/>
        </p:nvSpPr>
        <p:spPr>
          <a:xfrm>
            <a:off x="6519672" y="389534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安防网络</a:t>
            </a:r>
            <a:endParaRPr lang="en-US" sz="1250" dirty="0"/>
          </a:p>
        </p:txBody>
      </p:sp>
      <p:sp>
        <p:nvSpPr>
          <p:cNvPr id="45" name="Text 42"/>
          <p:cNvSpPr txBox="1"/>
          <p:nvPr/>
        </p:nvSpPr>
        <p:spPr>
          <a:xfrm>
            <a:off x="6547104" y="4206240"/>
            <a:ext cx="1463040" cy="347472"/>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8 口 PoE 交换机</a:t>
            </a:r>
            <a:endParaRPr lang="en-US" sz="1000" dirty="0"/>
          </a:p>
        </p:txBody>
      </p:sp>
      <p:sp>
        <p:nvSpPr>
          <p:cNvPr id="46" name="Text 43"/>
          <p:cNvSpPr txBox="1"/>
          <p:nvPr/>
        </p:nvSpPr>
        <p:spPr>
          <a:xfrm>
            <a:off x="8046720" y="4206240"/>
            <a:ext cx="1097280"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华三/锐捷</a:t>
            </a:r>
            <a:endParaRPr lang="en-US" sz="1000" dirty="0"/>
          </a:p>
        </p:txBody>
      </p:sp>
      <p:sp>
        <p:nvSpPr>
          <p:cNvPr id="47" name="Text 44"/>
          <p:cNvSpPr txBox="1"/>
          <p:nvPr/>
        </p:nvSpPr>
        <p:spPr>
          <a:xfrm>
            <a:off x="9180576" y="4206240"/>
            <a:ext cx="822960" cy="347472"/>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15 台</a:t>
            </a:r>
            <a:endParaRPr lang="en-US" sz="1000" dirty="0"/>
          </a:p>
        </p:txBody>
      </p:sp>
      <p:sp>
        <p:nvSpPr>
          <p:cNvPr id="48" name="Text 45"/>
          <p:cNvSpPr txBox="1"/>
          <p:nvPr/>
        </p:nvSpPr>
        <p:spPr>
          <a:xfrm>
            <a:off x="6547104" y="4553712"/>
            <a:ext cx="1463040" cy="347472"/>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24 口 PoE 交换机</a:t>
            </a:r>
            <a:endParaRPr lang="en-US" sz="1000" dirty="0"/>
          </a:p>
        </p:txBody>
      </p:sp>
      <p:sp>
        <p:nvSpPr>
          <p:cNvPr id="49" name="Text 46"/>
          <p:cNvSpPr txBox="1"/>
          <p:nvPr/>
        </p:nvSpPr>
        <p:spPr>
          <a:xfrm>
            <a:off x="8046720" y="4553712"/>
            <a:ext cx="1097280"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华三/锐捷</a:t>
            </a:r>
            <a:endParaRPr lang="en-US" sz="1000" dirty="0"/>
          </a:p>
        </p:txBody>
      </p:sp>
      <p:sp>
        <p:nvSpPr>
          <p:cNvPr id="50" name="Text 47"/>
          <p:cNvSpPr txBox="1"/>
          <p:nvPr/>
        </p:nvSpPr>
        <p:spPr>
          <a:xfrm>
            <a:off x="9180576" y="4553712"/>
            <a:ext cx="822960" cy="347472"/>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17 台</a:t>
            </a:r>
            <a:endParaRPr lang="en-US" sz="1000" dirty="0"/>
          </a:p>
        </p:txBody>
      </p:sp>
      <p:sp>
        <p:nvSpPr>
          <p:cNvPr id="51" name="Text 48"/>
          <p:cNvSpPr txBox="1"/>
          <p:nvPr/>
        </p:nvSpPr>
        <p:spPr>
          <a:xfrm>
            <a:off x="6547104" y="4901184"/>
            <a:ext cx="1463040" cy="347472"/>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室外光缆 + 配线架</a:t>
            </a:r>
            <a:endParaRPr lang="en-US" sz="1000" dirty="0"/>
          </a:p>
        </p:txBody>
      </p:sp>
      <p:sp>
        <p:nvSpPr>
          <p:cNvPr id="52" name="Text 49"/>
          <p:cNvSpPr txBox="1"/>
          <p:nvPr/>
        </p:nvSpPr>
        <p:spPr>
          <a:xfrm>
            <a:off x="8046720" y="4901184"/>
            <a:ext cx="1097280"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OS2 单模</a:t>
            </a:r>
            <a:endParaRPr lang="en-US" sz="1000" dirty="0"/>
          </a:p>
        </p:txBody>
      </p:sp>
      <p:sp>
        <p:nvSpPr>
          <p:cNvPr id="53" name="Text 50"/>
          <p:cNvSpPr txBox="1"/>
          <p:nvPr/>
        </p:nvSpPr>
        <p:spPr>
          <a:xfrm>
            <a:off x="9180576" y="4901184"/>
            <a:ext cx="822960" cy="347472"/>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10,560m + 3 架</a:t>
            </a:r>
            <a:endParaRPr lang="en-US" sz="1000" dirty="0"/>
          </a:p>
        </p:txBody>
      </p:sp>
      <p:sp>
        <p:nvSpPr>
          <p:cNvPr id="54" name="Text 51"/>
          <p:cNvSpPr txBox="1"/>
          <p:nvPr/>
        </p:nvSpPr>
        <p:spPr>
          <a:xfrm>
            <a:off x="6547104" y="5248656"/>
            <a:ext cx="1463040" cy="347472"/>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六类非屏蔽双绞线</a:t>
            </a:r>
            <a:endParaRPr lang="en-US" sz="1000" dirty="0"/>
          </a:p>
        </p:txBody>
      </p:sp>
      <p:sp>
        <p:nvSpPr>
          <p:cNvPr id="55" name="Text 52"/>
          <p:cNvSpPr txBox="1"/>
          <p:nvPr/>
        </p:nvSpPr>
        <p:spPr>
          <a:xfrm>
            <a:off x="8046720" y="5248656"/>
            <a:ext cx="1097280"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≥250MHz</a:t>
            </a:r>
            <a:endParaRPr lang="en-US" sz="1000" dirty="0"/>
          </a:p>
        </p:txBody>
      </p:sp>
      <p:sp>
        <p:nvSpPr>
          <p:cNvPr id="56" name="Text 53"/>
          <p:cNvSpPr txBox="1"/>
          <p:nvPr/>
        </p:nvSpPr>
        <p:spPr>
          <a:xfrm>
            <a:off x="9180576" y="5248656"/>
            <a:ext cx="822960" cy="347472"/>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20,000m</a:t>
            </a:r>
            <a:endParaRPr lang="en-US" sz="1000" dirty="0"/>
          </a:p>
        </p:txBody>
      </p:sp>
      <p:sp>
        <p:nvSpPr>
          <p:cNvPr id="57" name="Text 54"/>
          <p:cNvSpPr txBox="1"/>
          <p:nvPr/>
        </p:nvSpPr>
        <p:spPr>
          <a:xfrm>
            <a:off x="6547104" y="5596128"/>
            <a:ext cx="1463040" cy="347472"/>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背包箱 + 3.5m 立杆</a:t>
            </a:r>
            <a:endParaRPr lang="en-US" sz="1000" dirty="0"/>
          </a:p>
        </p:txBody>
      </p:sp>
      <p:sp>
        <p:nvSpPr>
          <p:cNvPr id="58" name="Text 55"/>
          <p:cNvSpPr txBox="1"/>
          <p:nvPr/>
        </p:nvSpPr>
        <p:spPr>
          <a:xfrm>
            <a:off x="8046720" y="5596128"/>
            <a:ext cx="1097280"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国产</a:t>
            </a:r>
            <a:endParaRPr lang="en-US" sz="1000" dirty="0"/>
          </a:p>
        </p:txBody>
      </p:sp>
      <p:sp>
        <p:nvSpPr>
          <p:cNvPr id="59" name="Text 56"/>
          <p:cNvSpPr txBox="1"/>
          <p:nvPr/>
        </p:nvSpPr>
        <p:spPr>
          <a:xfrm>
            <a:off x="9180576" y="5596128"/>
            <a:ext cx="822960" cy="347472"/>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32 + 100</a:t>
            </a:r>
            <a:endParaRPr lang="en-US" sz="1000" dirty="0"/>
          </a:p>
        </p:txBody>
      </p:sp>
      <p:sp>
        <p:nvSpPr>
          <p:cNvPr id="60" name="Shape 57"/>
          <p:cNvSpPr/>
          <p:nvPr/>
        </p:nvSpPr>
        <p:spPr>
          <a:xfrm>
            <a:off x="530352" y="5193792"/>
            <a:ext cx="11130991" cy="950976"/>
          </a:xfrm>
          <a:prstGeom prst="roundRect">
            <a:avLst>
              <a:gd name="adj" fmla="val 3365"/>
            </a:avLst>
          </a:prstGeom>
          <a:solidFill>
            <a:srgbClr val="0E2340"/>
          </a:solidFill>
          <a:ln/>
        </p:spPr>
      </p:sp>
      <p:sp>
        <p:nvSpPr>
          <p:cNvPr id="61" name="Text 58"/>
          <p:cNvSpPr txBox="1"/>
          <p:nvPr/>
        </p:nvSpPr>
        <p:spPr>
          <a:xfrm>
            <a:off x="786384" y="5266944"/>
            <a:ext cx="18288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硬件方案设计原则</a:t>
            </a:r>
            <a:endParaRPr lang="en-US" sz="1100" dirty="0"/>
          </a:p>
        </p:txBody>
      </p:sp>
      <p:sp>
        <p:nvSpPr>
          <p:cNvPr id="62" name="Text 59"/>
          <p:cNvSpPr txBox="1"/>
          <p:nvPr/>
        </p:nvSpPr>
        <p:spPr>
          <a:xfrm>
            <a:off x="2724912" y="5230368"/>
            <a:ext cx="8680399" cy="859536"/>
          </a:xfrm>
          <a:prstGeom prst="rect">
            <a:avLst/>
          </a:prstGeom>
          <a:noFill/>
          <a:ln/>
        </p:spPr>
        <p:txBody>
          <a:bodyPr wrap="square" lIns="0" tIns="0" rIns="0" bIns="0" rtlCol="0" anchor="ctr"/>
          <a:lstStyle/>
          <a:p>
            <a:pPr indent="0" marL="0">
              <a:lnSpc>
                <a:spcPct val="104000"/>
              </a:lnSpc>
              <a:buNone/>
            </a:pPr>
            <a:r>
              <a:rPr lang="en-US" sz="1000" dirty="0">
                <a:solidFill>
                  <a:srgbClr val="DCE5EE"/>
                </a:solidFill>
                <a:latin typeface="Calibri" pitchFamily="34" charset="0"/>
                <a:ea typeface="Calibri" pitchFamily="34" charset="-122"/>
                <a:cs typeface="Calibri" pitchFamily="34" charset="-120"/>
              </a:rPr>
              <a:t>兼顾使用需求与成本管控：热成像 199 台覆盖高风险区域，鹰眼 3 台实现全景态势感知，AI 服务器 4 台支撑全域智能分析——架构预留扩展接口，后续园区可按模块复制。所有设备与核心交换机保持同一品牌以确保兼容性与售后统一。</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部署方案与性能保障：高可用双活 + 分层容量规划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全部部署节点均在国内，符合网络安全等级保护要求，数据不出境</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部署架构（生产环境）</a:t>
            </a:r>
            <a:endParaRPr lang="en-US" sz="1250" dirty="0"/>
          </a:p>
        </p:txBody>
      </p:sp>
      <p:sp>
        <p:nvSpPr>
          <p:cNvPr id="7" name="Shape 5"/>
          <p:cNvSpPr/>
          <p:nvPr/>
        </p:nvSpPr>
        <p:spPr>
          <a:xfrm>
            <a:off x="530352" y="1517904"/>
            <a:ext cx="1097280" cy="475488"/>
          </a:xfrm>
          <a:prstGeom prst="roundRect">
            <a:avLst>
              <a:gd name="adj" fmla="val 9615"/>
            </a:avLst>
          </a:prstGeom>
          <a:solidFill>
            <a:srgbClr val="F97B00"/>
          </a:solidFill>
          <a:ln/>
        </p:spPr>
      </p:sp>
      <p:sp>
        <p:nvSpPr>
          <p:cNvPr id="8" name="Text 6"/>
          <p:cNvSpPr txBox="1"/>
          <p:nvPr/>
        </p:nvSpPr>
        <p:spPr>
          <a:xfrm>
            <a:off x="530352" y="1517904"/>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接入区</a:t>
            </a:r>
            <a:endParaRPr lang="en-US" sz="1050" dirty="0"/>
          </a:p>
        </p:txBody>
      </p:sp>
      <p:sp>
        <p:nvSpPr>
          <p:cNvPr id="9" name="Shape 7"/>
          <p:cNvSpPr/>
          <p:nvPr/>
        </p:nvSpPr>
        <p:spPr>
          <a:xfrm>
            <a:off x="1755648" y="1517904"/>
            <a:ext cx="4315968" cy="475488"/>
          </a:xfrm>
          <a:prstGeom prst="roundRect">
            <a:avLst>
              <a:gd name="adj" fmla="val 6731"/>
            </a:avLst>
          </a:prstGeom>
          <a:solidFill>
            <a:srgbClr val="F6F8FA"/>
          </a:solidFill>
          <a:ln w="9525">
            <a:solidFill>
              <a:srgbClr val="E3E7EB"/>
            </a:solidFill>
            <a:prstDash val="solid"/>
          </a:ln>
        </p:spPr>
      </p:sp>
      <p:sp>
        <p:nvSpPr>
          <p:cNvPr id="10" name="Text 8"/>
          <p:cNvSpPr txBox="1"/>
          <p:nvPr/>
        </p:nvSpPr>
        <p:spPr>
          <a:xfrm>
            <a:off x="1901952" y="1517904"/>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WAF / IPS / 负载均衡（双机）/ VPN</a:t>
            </a:r>
            <a:endParaRPr lang="en-US" sz="1000" dirty="0"/>
          </a:p>
        </p:txBody>
      </p:sp>
      <p:sp>
        <p:nvSpPr>
          <p:cNvPr id="11" name="Shape 9"/>
          <p:cNvSpPr/>
          <p:nvPr/>
        </p:nvSpPr>
        <p:spPr>
          <a:xfrm>
            <a:off x="530352" y="2084832"/>
            <a:ext cx="1097280" cy="475488"/>
          </a:xfrm>
          <a:prstGeom prst="roundRect">
            <a:avLst>
              <a:gd name="adj" fmla="val 9615"/>
            </a:avLst>
          </a:prstGeom>
          <a:solidFill>
            <a:srgbClr val="C25E00"/>
          </a:solidFill>
          <a:ln/>
        </p:spPr>
      </p:sp>
      <p:sp>
        <p:nvSpPr>
          <p:cNvPr id="12" name="Text 10"/>
          <p:cNvSpPr txBox="1"/>
          <p:nvPr/>
        </p:nvSpPr>
        <p:spPr>
          <a:xfrm>
            <a:off x="530352" y="2084832"/>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应用区</a:t>
            </a:r>
            <a:endParaRPr lang="en-US" sz="1050" dirty="0"/>
          </a:p>
        </p:txBody>
      </p:sp>
      <p:sp>
        <p:nvSpPr>
          <p:cNvPr id="13" name="Shape 11"/>
          <p:cNvSpPr/>
          <p:nvPr/>
        </p:nvSpPr>
        <p:spPr>
          <a:xfrm>
            <a:off x="1755648" y="2084832"/>
            <a:ext cx="4315968" cy="475488"/>
          </a:xfrm>
          <a:prstGeom prst="roundRect">
            <a:avLst>
              <a:gd name="adj" fmla="val 6731"/>
            </a:avLst>
          </a:prstGeom>
          <a:solidFill>
            <a:srgbClr val="FFFFFF"/>
          </a:solidFill>
          <a:ln w="9525">
            <a:solidFill>
              <a:srgbClr val="E3E7EB"/>
            </a:solidFill>
            <a:prstDash val="solid"/>
          </a:ln>
        </p:spPr>
      </p:sp>
      <p:sp>
        <p:nvSpPr>
          <p:cNvPr id="14" name="Text 12"/>
          <p:cNvSpPr txBox="1"/>
          <p:nvPr/>
        </p:nvSpPr>
        <p:spPr>
          <a:xfrm>
            <a:off x="1901952" y="2084832"/>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K8s 集群（3 Master + 6 Worker），微服务多副本部署</a:t>
            </a:r>
            <a:endParaRPr lang="en-US" sz="1000" dirty="0"/>
          </a:p>
        </p:txBody>
      </p:sp>
      <p:sp>
        <p:nvSpPr>
          <p:cNvPr id="15" name="Shape 13"/>
          <p:cNvSpPr/>
          <p:nvPr/>
        </p:nvSpPr>
        <p:spPr>
          <a:xfrm>
            <a:off x="530352" y="2651760"/>
            <a:ext cx="1097280" cy="475488"/>
          </a:xfrm>
          <a:prstGeom prst="roundRect">
            <a:avLst>
              <a:gd name="adj" fmla="val 9615"/>
            </a:avLst>
          </a:prstGeom>
          <a:solidFill>
            <a:srgbClr val="0E2340"/>
          </a:solidFill>
          <a:ln/>
        </p:spPr>
      </p:sp>
      <p:sp>
        <p:nvSpPr>
          <p:cNvPr id="16" name="Text 14"/>
          <p:cNvSpPr txBox="1"/>
          <p:nvPr/>
        </p:nvSpPr>
        <p:spPr>
          <a:xfrm>
            <a:off x="530352" y="2651760"/>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数据区</a:t>
            </a:r>
            <a:endParaRPr lang="en-US" sz="1050" dirty="0"/>
          </a:p>
        </p:txBody>
      </p:sp>
      <p:sp>
        <p:nvSpPr>
          <p:cNvPr id="17" name="Shape 15"/>
          <p:cNvSpPr/>
          <p:nvPr/>
        </p:nvSpPr>
        <p:spPr>
          <a:xfrm>
            <a:off x="1755648" y="2651760"/>
            <a:ext cx="4315968" cy="475488"/>
          </a:xfrm>
          <a:prstGeom prst="roundRect">
            <a:avLst>
              <a:gd name="adj" fmla="val 6731"/>
            </a:avLst>
          </a:prstGeom>
          <a:solidFill>
            <a:srgbClr val="F6F8FA"/>
          </a:solidFill>
          <a:ln w="9525">
            <a:solidFill>
              <a:srgbClr val="E3E7EB"/>
            </a:solidFill>
            <a:prstDash val="solid"/>
          </a:ln>
        </p:spPr>
      </p:sp>
      <p:sp>
        <p:nvSpPr>
          <p:cNvPr id="18" name="Text 16"/>
          <p:cNvSpPr txBox="1"/>
          <p:nvPr/>
        </p:nvSpPr>
        <p:spPr>
          <a:xfrm>
            <a:off x="1901952" y="2651760"/>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数据库主备 + 读写分离；Redis 哨兵；MinIO 分布式对象存储</a:t>
            </a:r>
            <a:endParaRPr lang="en-US" sz="1000" dirty="0"/>
          </a:p>
        </p:txBody>
      </p:sp>
      <p:sp>
        <p:nvSpPr>
          <p:cNvPr id="19" name="Shape 17"/>
          <p:cNvSpPr/>
          <p:nvPr/>
        </p:nvSpPr>
        <p:spPr>
          <a:xfrm>
            <a:off x="530352" y="3218688"/>
            <a:ext cx="1097280" cy="475488"/>
          </a:xfrm>
          <a:prstGeom prst="roundRect">
            <a:avLst>
              <a:gd name="adj" fmla="val 9615"/>
            </a:avLst>
          </a:prstGeom>
          <a:solidFill>
            <a:srgbClr val="1B3A5C"/>
          </a:solidFill>
          <a:ln/>
        </p:spPr>
      </p:sp>
      <p:sp>
        <p:nvSpPr>
          <p:cNvPr id="20" name="Text 18"/>
          <p:cNvSpPr txBox="1"/>
          <p:nvPr/>
        </p:nvSpPr>
        <p:spPr>
          <a:xfrm>
            <a:off x="530352" y="3218688"/>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物联区</a:t>
            </a:r>
            <a:endParaRPr lang="en-US" sz="1050" dirty="0"/>
          </a:p>
        </p:txBody>
      </p:sp>
      <p:sp>
        <p:nvSpPr>
          <p:cNvPr id="21" name="Shape 19"/>
          <p:cNvSpPr/>
          <p:nvPr/>
        </p:nvSpPr>
        <p:spPr>
          <a:xfrm>
            <a:off x="1755648" y="3218688"/>
            <a:ext cx="4315968" cy="475488"/>
          </a:xfrm>
          <a:prstGeom prst="roundRect">
            <a:avLst>
              <a:gd name="adj" fmla="val 6731"/>
            </a:avLst>
          </a:prstGeom>
          <a:solidFill>
            <a:srgbClr val="FFFFFF"/>
          </a:solidFill>
          <a:ln w="9525">
            <a:solidFill>
              <a:srgbClr val="E3E7EB"/>
            </a:solidFill>
            <a:prstDash val="solid"/>
          </a:ln>
        </p:spPr>
      </p:sp>
      <p:sp>
        <p:nvSpPr>
          <p:cNvPr id="22" name="Text 20"/>
          <p:cNvSpPr txBox="1"/>
          <p:nvPr/>
        </p:nvSpPr>
        <p:spPr>
          <a:xfrm>
            <a:off x="1901952" y="3218688"/>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边缘网关 + MQTT Broker 集群；视频流媒体服务器</a:t>
            </a:r>
            <a:endParaRPr lang="en-US" sz="1000" dirty="0"/>
          </a:p>
        </p:txBody>
      </p:sp>
      <p:sp>
        <p:nvSpPr>
          <p:cNvPr id="23" name="Shape 21"/>
          <p:cNvSpPr/>
          <p:nvPr/>
        </p:nvSpPr>
        <p:spPr>
          <a:xfrm>
            <a:off x="530352" y="3785616"/>
            <a:ext cx="1097280" cy="475488"/>
          </a:xfrm>
          <a:prstGeom prst="roundRect">
            <a:avLst>
              <a:gd name="adj" fmla="val 9615"/>
            </a:avLst>
          </a:prstGeom>
          <a:solidFill>
            <a:srgbClr val="167C80"/>
          </a:solidFill>
          <a:ln/>
        </p:spPr>
      </p:sp>
      <p:sp>
        <p:nvSpPr>
          <p:cNvPr id="24" name="Text 22"/>
          <p:cNvSpPr txBox="1"/>
          <p:nvPr/>
        </p:nvSpPr>
        <p:spPr>
          <a:xfrm>
            <a:off x="530352" y="3785616"/>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管理区</a:t>
            </a:r>
            <a:endParaRPr lang="en-US" sz="1050" dirty="0"/>
          </a:p>
        </p:txBody>
      </p:sp>
      <p:sp>
        <p:nvSpPr>
          <p:cNvPr id="25" name="Shape 23"/>
          <p:cNvSpPr/>
          <p:nvPr/>
        </p:nvSpPr>
        <p:spPr>
          <a:xfrm>
            <a:off x="1755648" y="3785616"/>
            <a:ext cx="4315968" cy="475488"/>
          </a:xfrm>
          <a:prstGeom prst="roundRect">
            <a:avLst>
              <a:gd name="adj" fmla="val 6731"/>
            </a:avLst>
          </a:prstGeom>
          <a:solidFill>
            <a:srgbClr val="F6F8FA"/>
          </a:solidFill>
          <a:ln w="9525">
            <a:solidFill>
              <a:srgbClr val="E3E7EB"/>
            </a:solidFill>
            <a:prstDash val="solid"/>
          </a:ln>
        </p:spPr>
      </p:sp>
      <p:sp>
        <p:nvSpPr>
          <p:cNvPr id="26" name="Text 24"/>
          <p:cNvSpPr txBox="1"/>
          <p:nvPr/>
        </p:nvSpPr>
        <p:spPr>
          <a:xfrm>
            <a:off x="1901952" y="3785616"/>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监控告警（Prometheus+Grafana）、日志（ELK）、备份、堡垒机</a:t>
            </a:r>
            <a:endParaRPr lang="en-US" sz="1000" dirty="0"/>
          </a:p>
        </p:txBody>
      </p:sp>
      <p:sp>
        <p:nvSpPr>
          <p:cNvPr id="27" name="Shape 25"/>
          <p:cNvSpPr/>
          <p:nvPr/>
        </p:nvSpPr>
        <p:spPr>
          <a:xfrm>
            <a:off x="530352" y="4407408"/>
            <a:ext cx="5541264" cy="1280160"/>
          </a:xfrm>
          <a:prstGeom prst="roundRect">
            <a:avLst>
              <a:gd name="adj" fmla="val 250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Text 26"/>
          <p:cNvSpPr txBox="1"/>
          <p:nvPr/>
        </p:nvSpPr>
        <p:spPr>
          <a:xfrm>
            <a:off x="731520" y="4517136"/>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环境规划与灾备</a:t>
            </a:r>
            <a:endParaRPr lang="en-US" sz="1100" dirty="0"/>
          </a:p>
        </p:txBody>
      </p:sp>
      <p:sp>
        <p:nvSpPr>
          <p:cNvPr id="29" name="Text 27"/>
          <p:cNvSpPr txBox="1"/>
          <p:nvPr/>
        </p:nvSpPr>
        <p:spPr>
          <a:xfrm>
            <a:off x="731520" y="4773168"/>
            <a:ext cx="5175504" cy="8595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四套环境：开发 / 测试（SIT）/ 预发布（UAT）/ 生产，配置一致、数据隔离；非生产环境使用脱敏或漂白数据。数据备份：全量周备 + 增量日备 + 关键库实时同步；上线前完成一次备份恢复演练，明确 RTO ≤ 4 小时、RPO ≤ 15 分钟，每年至少演练一次并出具承诺函。</a:t>
            </a:r>
            <a:endParaRPr lang="en-US" sz="1000" dirty="0"/>
          </a:p>
        </p:txBody>
      </p:sp>
      <p:sp>
        <p:nvSpPr>
          <p:cNvPr id="30" name="Shape 28"/>
          <p:cNvSpPr/>
          <p:nvPr/>
        </p:nvSpPr>
        <p:spPr>
          <a:xfrm>
            <a:off x="6327648" y="1257300"/>
            <a:ext cx="68580" cy="173736"/>
          </a:xfrm>
          <a:prstGeom prst="rect">
            <a:avLst/>
          </a:prstGeom>
          <a:solidFill>
            <a:srgbClr val="F97B00"/>
          </a:solidFill>
          <a:ln/>
        </p:spPr>
      </p:sp>
      <p:sp>
        <p:nvSpPr>
          <p:cNvPr id="31" name="Text 29"/>
          <p:cNvSpPr txBox="1"/>
          <p:nvPr/>
        </p:nvSpPr>
        <p:spPr>
          <a:xfrm>
            <a:off x="6483096"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性能指标承诺</a:t>
            </a:r>
            <a:endParaRPr lang="en-US" sz="1250" dirty="0"/>
          </a:p>
        </p:txBody>
      </p:sp>
      <p:sp>
        <p:nvSpPr>
          <p:cNvPr id="32" name="Shape 30"/>
          <p:cNvSpPr/>
          <p:nvPr/>
        </p:nvSpPr>
        <p:spPr>
          <a:xfrm>
            <a:off x="6327648" y="1517904"/>
            <a:ext cx="5333695" cy="493776"/>
          </a:xfrm>
          <a:prstGeom prst="roundRect">
            <a:avLst>
              <a:gd name="adj" fmla="val 6481"/>
            </a:avLst>
          </a:prstGeom>
          <a:solidFill>
            <a:srgbClr val="FFFFFF"/>
          </a:solidFill>
          <a:ln w="9525">
            <a:solidFill>
              <a:srgbClr val="EEDFD0"/>
            </a:solidFill>
            <a:prstDash val="solid"/>
          </a:ln>
        </p:spPr>
      </p:sp>
      <p:sp>
        <p:nvSpPr>
          <p:cNvPr id="33" name="Text 31"/>
          <p:cNvSpPr txBox="1"/>
          <p:nvPr/>
        </p:nvSpPr>
        <p:spPr>
          <a:xfrm>
            <a:off x="6492240" y="1517904"/>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普通页面响应</a:t>
            </a:r>
            <a:endParaRPr lang="en-US" sz="1000" dirty="0"/>
          </a:p>
        </p:txBody>
      </p:sp>
      <p:sp>
        <p:nvSpPr>
          <p:cNvPr id="34" name="Text 32"/>
          <p:cNvSpPr txBox="1"/>
          <p:nvPr/>
        </p:nvSpPr>
        <p:spPr>
          <a:xfrm>
            <a:off x="7808976" y="151790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2 秒</a:t>
            </a:r>
            <a:endParaRPr lang="en-US" sz="1200" dirty="0"/>
          </a:p>
        </p:txBody>
      </p:sp>
      <p:sp>
        <p:nvSpPr>
          <p:cNvPr id="35" name="Text 33"/>
          <p:cNvSpPr txBox="1"/>
          <p:nvPr/>
        </p:nvSpPr>
        <p:spPr>
          <a:xfrm>
            <a:off x="8887968" y="1517904"/>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前端页面（不含复杂图表渲染）完全加载</a:t>
            </a:r>
            <a:endParaRPr lang="en-US" sz="1000" dirty="0"/>
          </a:p>
        </p:txBody>
      </p:sp>
      <p:sp>
        <p:nvSpPr>
          <p:cNvPr id="36" name="Shape 34"/>
          <p:cNvSpPr/>
          <p:nvPr/>
        </p:nvSpPr>
        <p:spPr>
          <a:xfrm>
            <a:off x="6327648" y="2084832"/>
            <a:ext cx="5333695" cy="493776"/>
          </a:xfrm>
          <a:prstGeom prst="roundRect">
            <a:avLst>
              <a:gd name="adj" fmla="val 6481"/>
            </a:avLst>
          </a:prstGeom>
          <a:solidFill>
            <a:srgbClr val="FFF7EF"/>
          </a:solidFill>
          <a:ln w="9525">
            <a:solidFill>
              <a:srgbClr val="EEDFD0"/>
            </a:solidFill>
            <a:prstDash val="solid"/>
          </a:ln>
        </p:spPr>
      </p:sp>
      <p:sp>
        <p:nvSpPr>
          <p:cNvPr id="37" name="Text 35"/>
          <p:cNvSpPr txBox="1"/>
          <p:nvPr/>
        </p:nvSpPr>
        <p:spPr>
          <a:xfrm>
            <a:off x="6492240" y="2084832"/>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关键事务操作</a:t>
            </a:r>
            <a:endParaRPr lang="en-US" sz="1000" dirty="0"/>
          </a:p>
        </p:txBody>
      </p:sp>
      <p:sp>
        <p:nvSpPr>
          <p:cNvPr id="38" name="Text 36"/>
          <p:cNvSpPr txBox="1"/>
          <p:nvPr/>
        </p:nvSpPr>
        <p:spPr>
          <a:xfrm>
            <a:off x="7808976" y="208483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3 秒</a:t>
            </a:r>
            <a:endParaRPr lang="en-US" sz="1200" dirty="0"/>
          </a:p>
        </p:txBody>
      </p:sp>
      <p:sp>
        <p:nvSpPr>
          <p:cNvPr id="39" name="Text 37"/>
          <p:cNvSpPr txBox="1"/>
          <p:nvPr/>
        </p:nvSpPr>
        <p:spPr>
          <a:xfrm>
            <a:off x="8887968" y="2084832"/>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提交单据、生成报告、复杂查询</a:t>
            </a:r>
            <a:endParaRPr lang="en-US" sz="1000" dirty="0"/>
          </a:p>
        </p:txBody>
      </p:sp>
      <p:sp>
        <p:nvSpPr>
          <p:cNvPr id="40" name="Shape 38"/>
          <p:cNvSpPr/>
          <p:nvPr/>
        </p:nvSpPr>
        <p:spPr>
          <a:xfrm>
            <a:off x="6327648" y="2651760"/>
            <a:ext cx="5333695" cy="493776"/>
          </a:xfrm>
          <a:prstGeom prst="roundRect">
            <a:avLst>
              <a:gd name="adj" fmla="val 6481"/>
            </a:avLst>
          </a:prstGeom>
          <a:solidFill>
            <a:srgbClr val="FFFFFF"/>
          </a:solidFill>
          <a:ln w="9525">
            <a:solidFill>
              <a:srgbClr val="EEDFD0"/>
            </a:solidFill>
            <a:prstDash val="solid"/>
          </a:ln>
        </p:spPr>
      </p:sp>
      <p:sp>
        <p:nvSpPr>
          <p:cNvPr id="41" name="Text 39"/>
          <p:cNvSpPr txBox="1"/>
          <p:nvPr/>
        </p:nvSpPr>
        <p:spPr>
          <a:xfrm>
            <a:off x="6492240" y="2651760"/>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并发在线用户</a:t>
            </a:r>
            <a:endParaRPr lang="en-US" sz="1000" dirty="0"/>
          </a:p>
        </p:txBody>
      </p:sp>
      <p:sp>
        <p:nvSpPr>
          <p:cNvPr id="42" name="Text 40"/>
          <p:cNvSpPr txBox="1"/>
          <p:nvPr/>
        </p:nvSpPr>
        <p:spPr>
          <a:xfrm>
            <a:off x="7808976" y="265176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5,000</a:t>
            </a:r>
            <a:endParaRPr lang="en-US" sz="1200" dirty="0"/>
          </a:p>
        </p:txBody>
      </p:sp>
      <p:sp>
        <p:nvSpPr>
          <p:cNvPr id="43" name="Text 41"/>
          <p:cNvSpPr txBox="1"/>
          <p:nvPr/>
        </p:nvSpPr>
        <p:spPr>
          <a:xfrm>
            <a:off x="8887968" y="2651760"/>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系统支持同时在线用户数</a:t>
            </a:r>
            <a:endParaRPr lang="en-US" sz="1000" dirty="0"/>
          </a:p>
        </p:txBody>
      </p:sp>
      <p:sp>
        <p:nvSpPr>
          <p:cNvPr id="44" name="Shape 42"/>
          <p:cNvSpPr/>
          <p:nvPr/>
        </p:nvSpPr>
        <p:spPr>
          <a:xfrm>
            <a:off x="6327648" y="3218688"/>
            <a:ext cx="5333695" cy="493776"/>
          </a:xfrm>
          <a:prstGeom prst="roundRect">
            <a:avLst>
              <a:gd name="adj" fmla="val 6481"/>
            </a:avLst>
          </a:prstGeom>
          <a:solidFill>
            <a:srgbClr val="FFF7EF"/>
          </a:solidFill>
          <a:ln w="9525">
            <a:solidFill>
              <a:srgbClr val="EEDFD0"/>
            </a:solidFill>
            <a:prstDash val="solid"/>
          </a:ln>
        </p:spPr>
      </p:sp>
      <p:sp>
        <p:nvSpPr>
          <p:cNvPr id="45" name="Text 43"/>
          <p:cNvSpPr txBox="1"/>
          <p:nvPr/>
        </p:nvSpPr>
        <p:spPr>
          <a:xfrm>
            <a:off x="6492240" y="3218688"/>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高峰并发处理</a:t>
            </a:r>
            <a:endParaRPr lang="en-US" sz="1000" dirty="0"/>
          </a:p>
        </p:txBody>
      </p:sp>
      <p:sp>
        <p:nvSpPr>
          <p:cNvPr id="46" name="Text 44"/>
          <p:cNvSpPr txBox="1"/>
          <p:nvPr/>
        </p:nvSpPr>
        <p:spPr>
          <a:xfrm>
            <a:off x="7808976" y="3218688"/>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1,000 用户</a:t>
            </a:r>
            <a:endParaRPr lang="en-US" sz="1200" dirty="0"/>
          </a:p>
        </p:txBody>
      </p:sp>
      <p:sp>
        <p:nvSpPr>
          <p:cNvPr id="47" name="Text 45"/>
          <p:cNvSpPr txBox="1"/>
          <p:nvPr/>
        </p:nvSpPr>
        <p:spPr>
          <a:xfrm>
            <a:off x="8887968" y="3218688"/>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同时执行关键业务操作，事务成功率 ≥ 99%</a:t>
            </a:r>
            <a:endParaRPr lang="en-US" sz="1000" dirty="0"/>
          </a:p>
        </p:txBody>
      </p:sp>
      <p:sp>
        <p:nvSpPr>
          <p:cNvPr id="48" name="Shape 46"/>
          <p:cNvSpPr/>
          <p:nvPr/>
        </p:nvSpPr>
        <p:spPr>
          <a:xfrm>
            <a:off x="6327648" y="3785616"/>
            <a:ext cx="5333695" cy="493776"/>
          </a:xfrm>
          <a:prstGeom prst="roundRect">
            <a:avLst>
              <a:gd name="adj" fmla="val 6481"/>
            </a:avLst>
          </a:prstGeom>
          <a:solidFill>
            <a:srgbClr val="FFFFFF"/>
          </a:solidFill>
          <a:ln w="9525">
            <a:solidFill>
              <a:srgbClr val="EEDFD0"/>
            </a:solidFill>
            <a:prstDash val="solid"/>
          </a:ln>
        </p:spPr>
      </p:sp>
      <p:sp>
        <p:nvSpPr>
          <p:cNvPr id="49" name="Text 47"/>
          <p:cNvSpPr txBox="1"/>
          <p:nvPr/>
        </p:nvSpPr>
        <p:spPr>
          <a:xfrm>
            <a:off x="6492240" y="3785616"/>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API 响应时间</a:t>
            </a:r>
            <a:endParaRPr lang="en-US" sz="1000" dirty="0"/>
          </a:p>
        </p:txBody>
      </p:sp>
      <p:sp>
        <p:nvSpPr>
          <p:cNvPr id="50" name="Text 48"/>
          <p:cNvSpPr txBox="1"/>
          <p:nvPr/>
        </p:nvSpPr>
        <p:spPr>
          <a:xfrm>
            <a:off x="7808976" y="3785616"/>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 ms</a:t>
            </a:r>
            <a:endParaRPr lang="en-US" sz="1200" dirty="0"/>
          </a:p>
        </p:txBody>
      </p:sp>
      <p:sp>
        <p:nvSpPr>
          <p:cNvPr id="51" name="Text 49"/>
          <p:cNvSpPr txBox="1"/>
          <p:nvPr/>
        </p:nvSpPr>
        <p:spPr>
          <a:xfrm>
            <a:off x="8887968" y="3785616"/>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95% 的 API 接口响应时间</a:t>
            </a:r>
            <a:endParaRPr lang="en-US" sz="1000" dirty="0"/>
          </a:p>
        </p:txBody>
      </p:sp>
      <p:sp>
        <p:nvSpPr>
          <p:cNvPr id="52" name="Shape 50"/>
          <p:cNvSpPr/>
          <p:nvPr/>
        </p:nvSpPr>
        <p:spPr>
          <a:xfrm>
            <a:off x="6327648" y="4352544"/>
            <a:ext cx="5333695" cy="493776"/>
          </a:xfrm>
          <a:prstGeom prst="roundRect">
            <a:avLst>
              <a:gd name="adj" fmla="val 6481"/>
            </a:avLst>
          </a:prstGeom>
          <a:solidFill>
            <a:srgbClr val="FFF7EF"/>
          </a:solidFill>
          <a:ln w="9525">
            <a:solidFill>
              <a:srgbClr val="EEDFD0"/>
            </a:solidFill>
            <a:prstDash val="solid"/>
          </a:ln>
        </p:spPr>
      </p:sp>
      <p:sp>
        <p:nvSpPr>
          <p:cNvPr id="53" name="Text 51"/>
          <p:cNvSpPr txBox="1"/>
          <p:nvPr/>
        </p:nvSpPr>
        <p:spPr>
          <a:xfrm>
            <a:off x="6492240" y="4352544"/>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资源占用</a:t>
            </a:r>
            <a:endParaRPr lang="en-US" sz="1000" dirty="0"/>
          </a:p>
        </p:txBody>
      </p:sp>
      <p:sp>
        <p:nvSpPr>
          <p:cNvPr id="54" name="Text 52"/>
          <p:cNvSpPr txBox="1"/>
          <p:nvPr/>
        </p:nvSpPr>
        <p:spPr>
          <a:xfrm>
            <a:off x="7808976" y="435254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CPU&lt;40%</a:t>
            </a:r>
            <a:endParaRPr lang="en-US" sz="1200" dirty="0"/>
          </a:p>
        </p:txBody>
      </p:sp>
      <p:sp>
        <p:nvSpPr>
          <p:cNvPr id="55" name="Text 53"/>
          <p:cNvSpPr txBox="1"/>
          <p:nvPr/>
        </p:nvSpPr>
        <p:spPr>
          <a:xfrm>
            <a:off x="8887968" y="4352544"/>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日常平均；忙时 &lt;75%，内存 &lt;50%，最大并发 &lt;75%</a:t>
            </a:r>
            <a:endParaRPr lang="en-US" sz="1000" dirty="0"/>
          </a:p>
        </p:txBody>
      </p:sp>
      <p:sp>
        <p:nvSpPr>
          <p:cNvPr id="56" name="Shape 54"/>
          <p:cNvSpPr/>
          <p:nvPr/>
        </p:nvSpPr>
        <p:spPr>
          <a:xfrm>
            <a:off x="6327648" y="4919472"/>
            <a:ext cx="5333695" cy="493776"/>
          </a:xfrm>
          <a:prstGeom prst="roundRect">
            <a:avLst>
              <a:gd name="adj" fmla="val 6481"/>
            </a:avLst>
          </a:prstGeom>
          <a:solidFill>
            <a:srgbClr val="FFFFFF"/>
          </a:solidFill>
          <a:ln w="9525">
            <a:solidFill>
              <a:srgbClr val="EEDFD0"/>
            </a:solidFill>
            <a:prstDash val="solid"/>
          </a:ln>
        </p:spPr>
      </p:sp>
      <p:sp>
        <p:nvSpPr>
          <p:cNvPr id="57" name="Text 55"/>
          <p:cNvSpPr txBox="1"/>
          <p:nvPr/>
        </p:nvSpPr>
        <p:spPr>
          <a:xfrm>
            <a:off x="6492240" y="4919472"/>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数据量级</a:t>
            </a:r>
            <a:endParaRPr lang="en-US" sz="1000" dirty="0"/>
          </a:p>
        </p:txBody>
      </p:sp>
      <p:sp>
        <p:nvSpPr>
          <p:cNvPr id="58" name="Text 56"/>
          <p:cNvSpPr txBox="1"/>
          <p:nvPr/>
        </p:nvSpPr>
        <p:spPr>
          <a:xfrm>
            <a:off x="7808976" y="491947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 PB</a:t>
            </a:r>
            <a:endParaRPr lang="en-US" sz="1200" dirty="0"/>
          </a:p>
        </p:txBody>
      </p:sp>
      <p:sp>
        <p:nvSpPr>
          <p:cNvPr id="59" name="Text 57"/>
          <p:cNvSpPr txBox="1"/>
          <p:nvPr/>
        </p:nvSpPr>
        <p:spPr>
          <a:xfrm>
            <a:off x="8887968" y="4919472"/>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性能指标不出现显著衰减</a:t>
            </a:r>
            <a:endParaRPr lang="en-US" sz="1000" dirty="0"/>
          </a:p>
        </p:txBody>
      </p:sp>
      <p:sp>
        <p:nvSpPr>
          <p:cNvPr id="60" name="Shape 58"/>
          <p:cNvSpPr/>
          <p:nvPr/>
        </p:nvSpPr>
        <p:spPr>
          <a:xfrm>
            <a:off x="6327648" y="5486400"/>
            <a:ext cx="5333695" cy="493776"/>
          </a:xfrm>
          <a:prstGeom prst="roundRect">
            <a:avLst>
              <a:gd name="adj" fmla="val 6481"/>
            </a:avLst>
          </a:prstGeom>
          <a:solidFill>
            <a:srgbClr val="FFF7EF"/>
          </a:solidFill>
          <a:ln w="9525">
            <a:solidFill>
              <a:srgbClr val="EEDFD0"/>
            </a:solidFill>
            <a:prstDash val="solid"/>
          </a:ln>
        </p:spPr>
      </p:sp>
      <p:sp>
        <p:nvSpPr>
          <p:cNvPr id="61" name="Text 59"/>
          <p:cNvSpPr txBox="1"/>
          <p:nvPr/>
        </p:nvSpPr>
        <p:spPr>
          <a:xfrm>
            <a:off x="6492240" y="5486400"/>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年可用率</a:t>
            </a:r>
            <a:endParaRPr lang="en-US" sz="1000" dirty="0"/>
          </a:p>
        </p:txBody>
      </p:sp>
      <p:sp>
        <p:nvSpPr>
          <p:cNvPr id="62" name="Text 60"/>
          <p:cNvSpPr txBox="1"/>
          <p:nvPr/>
        </p:nvSpPr>
        <p:spPr>
          <a:xfrm>
            <a:off x="7808976" y="548640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&gt; 99.9%</a:t>
            </a:r>
            <a:endParaRPr lang="en-US" sz="1200" dirty="0"/>
          </a:p>
        </p:txBody>
      </p:sp>
      <p:sp>
        <p:nvSpPr>
          <p:cNvPr id="63" name="Text 61"/>
          <p:cNvSpPr txBox="1"/>
          <p:nvPr/>
        </p:nvSpPr>
        <p:spPr>
          <a:xfrm>
            <a:off x="8887968" y="5486400"/>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7×24 运行，全年软件故障 &lt; 5 小时</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资源需求：服务器、存储、网络与许可清单（估算）</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 5000 并发在线、1000 高峰并发、1000+ 路视频接入测算，具体在蓝图设计阶段核定</a:t>
            </a:r>
            <a:endParaRPr lang="en-US" sz="12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7223760" cy="914400"/>
        </p:xfrm>
        <a:graphic>
          <a:graphicData uri="http://schemas.openxmlformats.org/drawingml/2006/table">
            <a:tbl>
              <a:tblPr/>
              <a:tblGrid>
                <a:gridCol w="1481328"/>
                <a:gridCol w="2148840"/>
                <a:gridCol w="777240"/>
                <a:gridCol w="2816352"/>
              </a:tblGrid>
              <a:tr h="294437">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类别</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配置规格</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用途说明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K8s Master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16G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集群控制平面，高可用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K8s Worker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500G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微服务应用与网关</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32C / 128G / 2T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关系数据库主备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时序库服务器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4T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IoT 时序数据，集群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缓存 / 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32G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Redis 哨兵 + RocketMQ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对象存储节点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32G / 20T HDD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图片、附件、报表归档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视频流媒体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GPU 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视频转码、分发与 AI 推理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AI 边缘盒子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8T算力 / 8 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按点位</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前端结构化与实时算法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分布式 NVR / 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 500T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 1000 路、30 天、H.265 估算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网络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万兆核心 / 千兆接入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IoT 与视频专网 VLAN 隔离</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非生产环境</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按生产 40% 配置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 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开发 / SIT / UAT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991856" y="1257300"/>
            <a:ext cx="68580" cy="173736"/>
          </a:xfrm>
          <a:prstGeom prst="rect">
            <a:avLst/>
          </a:prstGeom>
          <a:solidFill>
            <a:srgbClr val="F97B00"/>
          </a:solidFill>
          <a:ln/>
        </p:spPr>
      </p:sp>
      <p:sp>
        <p:nvSpPr>
          <p:cNvPr id="7" name="Text 4"/>
          <p:cNvSpPr txBox="1"/>
          <p:nvPr/>
        </p:nvSpPr>
        <p:spPr>
          <a:xfrm>
            <a:off x="8147304"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软件许可</a:t>
            </a:r>
            <a:endParaRPr lang="en-US" sz="1250" dirty="0"/>
          </a:p>
        </p:txBody>
      </p:sp>
      <p:sp>
        <p:nvSpPr>
          <p:cNvPr id="8" name="Shape 5"/>
          <p:cNvSpPr/>
          <p:nvPr/>
        </p:nvSpPr>
        <p:spPr>
          <a:xfrm>
            <a:off x="7991856" y="1517904"/>
            <a:ext cx="3669487" cy="402336"/>
          </a:xfrm>
          <a:prstGeom prst="roundRect">
            <a:avLst>
              <a:gd name="adj" fmla="val 7955"/>
            </a:avLst>
          </a:prstGeom>
          <a:solidFill>
            <a:srgbClr val="FFFFFF"/>
          </a:solidFill>
          <a:ln w="9525">
            <a:solidFill>
              <a:srgbClr val="EEDFD0"/>
            </a:solidFill>
            <a:prstDash val="solid"/>
          </a:ln>
        </p:spPr>
      </p:sp>
      <p:sp>
        <p:nvSpPr>
          <p:cNvPr id="9" name="Text 6"/>
          <p:cNvSpPr txBox="1"/>
          <p:nvPr/>
        </p:nvSpPr>
        <p:spPr>
          <a:xfrm>
            <a:off x="8138160" y="1517904"/>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操作系统</a:t>
            </a:r>
            <a:endParaRPr lang="en-US" sz="1000" dirty="0"/>
          </a:p>
        </p:txBody>
      </p:sp>
      <p:sp>
        <p:nvSpPr>
          <p:cNvPr id="10" name="Text 7"/>
          <p:cNvSpPr txBox="1"/>
          <p:nvPr/>
        </p:nvSpPr>
        <p:spPr>
          <a:xfrm>
            <a:off x="9381744" y="1517904"/>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统一正版授权（含信创可选）</a:t>
            </a:r>
            <a:endParaRPr lang="en-US" sz="1000" dirty="0"/>
          </a:p>
        </p:txBody>
      </p:sp>
      <p:sp>
        <p:nvSpPr>
          <p:cNvPr id="11" name="Shape 8"/>
          <p:cNvSpPr/>
          <p:nvPr/>
        </p:nvSpPr>
        <p:spPr>
          <a:xfrm>
            <a:off x="7991856" y="1993392"/>
            <a:ext cx="3669487" cy="402336"/>
          </a:xfrm>
          <a:prstGeom prst="roundRect">
            <a:avLst>
              <a:gd name="adj" fmla="val 7955"/>
            </a:avLst>
          </a:prstGeom>
          <a:solidFill>
            <a:srgbClr val="FFF7EF"/>
          </a:solidFill>
          <a:ln w="9525">
            <a:solidFill>
              <a:srgbClr val="EEDFD0"/>
            </a:solidFill>
            <a:prstDash val="solid"/>
          </a:ln>
        </p:spPr>
      </p:sp>
      <p:sp>
        <p:nvSpPr>
          <p:cNvPr id="12" name="Text 9"/>
          <p:cNvSpPr txBox="1"/>
          <p:nvPr/>
        </p:nvSpPr>
        <p:spPr>
          <a:xfrm>
            <a:off x="8138160" y="1993392"/>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数据库 / 中间件</a:t>
            </a:r>
            <a:endParaRPr lang="en-US" sz="1000" dirty="0"/>
          </a:p>
        </p:txBody>
      </p:sp>
      <p:sp>
        <p:nvSpPr>
          <p:cNvPr id="13" name="Text 10"/>
          <p:cNvSpPr txBox="1"/>
          <p:nvPr/>
        </p:nvSpPr>
        <p:spPr>
          <a:xfrm>
            <a:off x="9381744" y="1993392"/>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正版授权及部署</a:t>
            </a:r>
            <a:endParaRPr lang="en-US" sz="1000" dirty="0"/>
          </a:p>
        </p:txBody>
      </p:sp>
      <p:sp>
        <p:nvSpPr>
          <p:cNvPr id="14" name="Shape 11"/>
          <p:cNvSpPr/>
          <p:nvPr/>
        </p:nvSpPr>
        <p:spPr>
          <a:xfrm>
            <a:off x="7991856" y="2468880"/>
            <a:ext cx="3669487" cy="402336"/>
          </a:xfrm>
          <a:prstGeom prst="roundRect">
            <a:avLst>
              <a:gd name="adj" fmla="val 7955"/>
            </a:avLst>
          </a:prstGeom>
          <a:solidFill>
            <a:srgbClr val="FFFFFF"/>
          </a:solidFill>
          <a:ln w="9525">
            <a:solidFill>
              <a:srgbClr val="EEDFD0"/>
            </a:solidFill>
            <a:prstDash val="solid"/>
          </a:ln>
        </p:spPr>
      </p:sp>
      <p:sp>
        <p:nvSpPr>
          <p:cNvPr id="15" name="Text 12"/>
          <p:cNvSpPr txBox="1"/>
          <p:nvPr/>
        </p:nvSpPr>
        <p:spPr>
          <a:xfrm>
            <a:off x="8138160" y="2468880"/>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智慧园区平台</a:t>
            </a:r>
            <a:endParaRPr lang="en-US" sz="1000" dirty="0"/>
          </a:p>
        </p:txBody>
      </p:sp>
      <p:sp>
        <p:nvSpPr>
          <p:cNvPr id="16" name="Text 13"/>
          <p:cNvSpPr txBox="1"/>
          <p:nvPr/>
        </p:nvSpPr>
        <p:spPr>
          <a:xfrm>
            <a:off x="9381744" y="2468880"/>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园区级授权，含 5 大子系统</a:t>
            </a:r>
            <a:endParaRPr lang="en-US" sz="1000" dirty="0"/>
          </a:p>
        </p:txBody>
      </p:sp>
      <p:sp>
        <p:nvSpPr>
          <p:cNvPr id="17" name="Shape 14"/>
          <p:cNvSpPr/>
          <p:nvPr/>
        </p:nvSpPr>
        <p:spPr>
          <a:xfrm>
            <a:off x="7991856" y="2944368"/>
            <a:ext cx="3669487" cy="402336"/>
          </a:xfrm>
          <a:prstGeom prst="roundRect">
            <a:avLst>
              <a:gd name="adj" fmla="val 7955"/>
            </a:avLst>
          </a:prstGeom>
          <a:solidFill>
            <a:srgbClr val="FFF7EF"/>
          </a:solidFill>
          <a:ln w="9525">
            <a:solidFill>
              <a:srgbClr val="EEDFD0"/>
            </a:solidFill>
            <a:prstDash val="solid"/>
          </a:ln>
        </p:spPr>
      </p:sp>
      <p:sp>
        <p:nvSpPr>
          <p:cNvPr id="18" name="Text 15"/>
          <p:cNvSpPr txBox="1"/>
          <p:nvPr/>
        </p:nvSpPr>
        <p:spPr>
          <a:xfrm>
            <a:off x="8138160" y="2944368"/>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AI 算法授权</a:t>
            </a:r>
            <a:endParaRPr lang="en-US" sz="1000" dirty="0"/>
          </a:p>
        </p:txBody>
      </p:sp>
      <p:sp>
        <p:nvSpPr>
          <p:cNvPr id="19" name="Text 16"/>
          <p:cNvSpPr txBox="1"/>
          <p:nvPr/>
        </p:nvSpPr>
        <p:spPr>
          <a:xfrm>
            <a:off x="9381744" y="2944368"/>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按算法种类 × 路数授权</a:t>
            </a:r>
            <a:endParaRPr lang="en-US" sz="1000" dirty="0"/>
          </a:p>
        </p:txBody>
      </p:sp>
      <p:sp>
        <p:nvSpPr>
          <p:cNvPr id="20" name="Shape 17"/>
          <p:cNvSpPr/>
          <p:nvPr/>
        </p:nvSpPr>
        <p:spPr>
          <a:xfrm>
            <a:off x="7991856" y="3419856"/>
            <a:ext cx="3669487" cy="402336"/>
          </a:xfrm>
          <a:prstGeom prst="roundRect">
            <a:avLst>
              <a:gd name="adj" fmla="val 7955"/>
            </a:avLst>
          </a:prstGeom>
          <a:solidFill>
            <a:srgbClr val="FFFFFF"/>
          </a:solidFill>
          <a:ln w="9525">
            <a:solidFill>
              <a:srgbClr val="EEDFD0"/>
            </a:solidFill>
            <a:prstDash val="solid"/>
          </a:ln>
        </p:spPr>
      </p:sp>
      <p:sp>
        <p:nvSpPr>
          <p:cNvPr id="21" name="Text 18"/>
          <p:cNvSpPr txBox="1"/>
          <p:nvPr/>
        </p:nvSpPr>
        <p:spPr>
          <a:xfrm>
            <a:off x="8138160" y="3419856"/>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地图与可视化</a:t>
            </a:r>
            <a:endParaRPr lang="en-US" sz="1000" dirty="0"/>
          </a:p>
        </p:txBody>
      </p:sp>
      <p:sp>
        <p:nvSpPr>
          <p:cNvPr id="22" name="Text 19"/>
          <p:cNvSpPr txBox="1"/>
          <p:nvPr/>
        </p:nvSpPr>
        <p:spPr>
          <a:xfrm>
            <a:off x="9381744" y="3419856"/>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2.5D 引擎授权</a:t>
            </a:r>
            <a:endParaRPr lang="en-US" sz="1000" dirty="0"/>
          </a:p>
        </p:txBody>
      </p:sp>
      <p:sp>
        <p:nvSpPr>
          <p:cNvPr id="23" name="Shape 20"/>
          <p:cNvSpPr/>
          <p:nvPr/>
        </p:nvSpPr>
        <p:spPr>
          <a:xfrm>
            <a:off x="7991856" y="3895344"/>
            <a:ext cx="3669487" cy="402336"/>
          </a:xfrm>
          <a:prstGeom prst="roundRect">
            <a:avLst>
              <a:gd name="adj" fmla="val 7955"/>
            </a:avLst>
          </a:prstGeom>
          <a:solidFill>
            <a:srgbClr val="FFF7EF"/>
          </a:solidFill>
          <a:ln w="9525">
            <a:solidFill>
              <a:srgbClr val="EEDFD0"/>
            </a:solidFill>
            <a:prstDash val="solid"/>
          </a:ln>
        </p:spPr>
      </p:sp>
      <p:sp>
        <p:nvSpPr>
          <p:cNvPr id="24" name="Text 21"/>
          <p:cNvSpPr txBox="1"/>
          <p:nvPr/>
        </p:nvSpPr>
        <p:spPr>
          <a:xfrm>
            <a:off x="8138160" y="3895344"/>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第三方控件字体</a:t>
            </a:r>
            <a:endParaRPr lang="en-US" sz="1000" dirty="0"/>
          </a:p>
        </p:txBody>
      </p:sp>
      <p:sp>
        <p:nvSpPr>
          <p:cNvPr id="25" name="Text 22"/>
          <p:cNvSpPr txBox="1"/>
          <p:nvPr/>
        </p:nvSpPr>
        <p:spPr>
          <a:xfrm>
            <a:off x="9381744" y="3895344"/>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均取得正版授权</a:t>
            </a:r>
            <a:endParaRPr lang="en-US" sz="1000" dirty="0"/>
          </a:p>
        </p:txBody>
      </p:sp>
      <p:sp>
        <p:nvSpPr>
          <p:cNvPr id="26" name="Shape 23"/>
          <p:cNvSpPr/>
          <p:nvPr/>
        </p:nvSpPr>
        <p:spPr>
          <a:xfrm>
            <a:off x="7991856" y="4425696"/>
            <a:ext cx="3669487" cy="1700784"/>
          </a:xfrm>
          <a:prstGeom prst="roundRect">
            <a:avLst>
              <a:gd name="adj" fmla="val 1882"/>
            </a:avLst>
          </a:prstGeom>
          <a:solidFill>
            <a:srgbClr val="0E2340"/>
          </a:solidFill>
          <a:ln/>
        </p:spPr>
      </p:sp>
      <p:sp>
        <p:nvSpPr>
          <p:cNvPr id="27" name="Text 24"/>
          <p:cNvSpPr txBox="1"/>
          <p:nvPr/>
        </p:nvSpPr>
        <p:spPr>
          <a:xfrm>
            <a:off x="8156448" y="4535424"/>
            <a:ext cx="274320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甲方需协调资源</a:t>
            </a:r>
            <a:endParaRPr lang="en-US" sz="1050" dirty="0"/>
          </a:p>
        </p:txBody>
      </p:sp>
      <p:sp>
        <p:nvSpPr>
          <p:cNvPr id="28" name="Text 25"/>
          <p:cNvSpPr txBox="1"/>
          <p:nvPr/>
        </p:nvSpPr>
        <p:spPr>
          <a:xfrm>
            <a:off x="8156448" y="4809744"/>
            <a:ext cx="3340303" cy="1243584"/>
          </a:xfrm>
          <a:prstGeom prst="rect">
            <a:avLst/>
          </a:prstGeom>
          <a:noFill/>
          <a:ln/>
        </p:spPr>
        <p:txBody>
          <a:bodyPr wrap="square" lIns="0" tIns="0" rIns="0" bIns="0" rtlCol="0" anchor="ctr"/>
          <a:lstStyle/>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机房环境、网络与 VLAN 规划</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ESB 集成通道与各系统接口人</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既有设备厂商 SDK / 文档与配合</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现场施工许可与作业协调</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业务关键用户参与调研与 UAT</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主数据与历史数据提供</a:t>
            </a:r>
            <a:endParaRPr lang="en-US" sz="1000" dirty="0"/>
          </a:p>
        </p:txBody>
      </p:sp>
      <p:sp>
        <p:nvSpPr>
          <p:cNvPr id="29" name="Text 26"/>
          <p:cNvSpPr txBox="1"/>
          <p:nvPr/>
        </p:nvSpPr>
        <p:spPr>
          <a:xfrm>
            <a:off x="530352" y="5760720"/>
            <a:ext cx="7223760" cy="292608"/>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说明：以上为投标阶段依据 招标功能与性能要求所做的容量估算，最终配置将在蓝图设计阶段结合阳光电源现有基础设施（可复用资源、云资源池、既有视频存储）共同核定，避免重复投资。</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安全与合规设计：等保合规 + 数据分类分级 + 全生命周期管控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全程国内部署运营，不涉及任何数据跨境传输，实现数据处理全流程国内闭环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安全要求响应</a:t>
            </a:r>
            <a:endParaRPr lang="en-US" sz="1250" dirty="0"/>
          </a:p>
        </p:txBody>
      </p:sp>
      <p:sp>
        <p:nvSpPr>
          <p:cNvPr id="7" name="Shape 5"/>
          <p:cNvSpPr/>
          <p:nvPr/>
        </p:nvSpPr>
        <p:spPr>
          <a:xfrm>
            <a:off x="530352" y="1517904"/>
            <a:ext cx="6053328" cy="512064"/>
          </a:xfrm>
          <a:prstGeom prst="roundRect">
            <a:avLst>
              <a:gd name="adj" fmla="val 6250"/>
            </a:avLst>
          </a:prstGeom>
          <a:solidFill>
            <a:srgbClr val="F6F8FA"/>
          </a:solidFill>
          <a:ln w="9525">
            <a:solidFill>
              <a:srgbClr val="E3E7EB"/>
            </a:solidFill>
            <a:prstDash val="solid"/>
          </a:ln>
        </p:spPr>
      </p:sp>
      <p:sp>
        <p:nvSpPr>
          <p:cNvPr id="8" name="Text 6"/>
          <p:cNvSpPr txBox="1"/>
          <p:nvPr/>
        </p:nvSpPr>
        <p:spPr>
          <a:xfrm>
            <a:off x="694944" y="151790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安全资质</a:t>
            </a:r>
            <a:endParaRPr lang="en-US" sz="1000" dirty="0"/>
          </a:p>
        </p:txBody>
      </p:sp>
      <p:sp>
        <p:nvSpPr>
          <p:cNvPr id="9" name="Text 7"/>
          <p:cNvSpPr txBox="1"/>
          <p:nvPr/>
        </p:nvSpPr>
        <p:spPr>
          <a:xfrm>
            <a:off x="1847088" y="1517904"/>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提供网络安全等级保护备案证明、ISO 27001 等国内外资质，均在有效期内</a:t>
            </a:r>
            <a:endParaRPr lang="en-US" sz="1000" dirty="0"/>
          </a:p>
        </p:txBody>
      </p:sp>
      <p:sp>
        <p:nvSpPr>
          <p:cNvPr id="10" name="Shape 8"/>
          <p:cNvSpPr/>
          <p:nvPr/>
        </p:nvSpPr>
        <p:spPr>
          <a:xfrm>
            <a:off x="530352" y="2103120"/>
            <a:ext cx="6053328" cy="512064"/>
          </a:xfrm>
          <a:prstGeom prst="roundRect">
            <a:avLst>
              <a:gd name="adj" fmla="val 6250"/>
            </a:avLst>
          </a:prstGeom>
          <a:solidFill>
            <a:srgbClr val="FFFFFF"/>
          </a:solidFill>
          <a:ln w="9525">
            <a:solidFill>
              <a:srgbClr val="E3E7EB"/>
            </a:solidFill>
            <a:prstDash val="solid"/>
          </a:ln>
        </p:spPr>
      </p:sp>
      <p:sp>
        <p:nvSpPr>
          <p:cNvPr id="11" name="Text 9"/>
          <p:cNvSpPr txBox="1"/>
          <p:nvPr/>
        </p:nvSpPr>
        <p:spPr>
          <a:xfrm>
            <a:off x="694944" y="210312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口令与登录</a:t>
            </a:r>
            <a:endParaRPr lang="en-US" sz="1000" dirty="0"/>
          </a:p>
        </p:txBody>
      </p:sp>
      <p:sp>
        <p:nvSpPr>
          <p:cNvPr id="12" name="Text 10"/>
          <p:cNvSpPr txBox="1"/>
          <p:nvPr/>
        </p:nvSpPr>
        <p:spPr>
          <a:xfrm>
            <a:off x="1847088" y="2103120"/>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长度 8 位以上含三类字符、90 天更换、历史密码不复用；失败 3 次锁定 10 分钟、超时 30 分钟退出；支持短信/图形验证码</a:t>
            </a:r>
            <a:endParaRPr lang="en-US" sz="1000" dirty="0"/>
          </a:p>
        </p:txBody>
      </p:sp>
      <p:sp>
        <p:nvSpPr>
          <p:cNvPr id="13" name="Shape 11"/>
          <p:cNvSpPr/>
          <p:nvPr/>
        </p:nvSpPr>
        <p:spPr>
          <a:xfrm>
            <a:off x="530352" y="2688336"/>
            <a:ext cx="6053328" cy="512064"/>
          </a:xfrm>
          <a:prstGeom prst="roundRect">
            <a:avLst>
              <a:gd name="adj" fmla="val 6250"/>
            </a:avLst>
          </a:prstGeom>
          <a:solidFill>
            <a:srgbClr val="F6F8FA"/>
          </a:solidFill>
          <a:ln w="9525">
            <a:solidFill>
              <a:srgbClr val="E3E7EB"/>
            </a:solidFill>
            <a:prstDash val="solid"/>
          </a:ln>
        </p:spPr>
      </p:sp>
      <p:sp>
        <p:nvSpPr>
          <p:cNvPr id="14" name="Text 12"/>
          <p:cNvSpPr txBox="1"/>
          <p:nvPr/>
        </p:nvSpPr>
        <p:spPr>
          <a:xfrm>
            <a:off x="694944" y="2688336"/>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账号与权限</a:t>
            </a:r>
            <a:endParaRPr lang="en-US" sz="1000" dirty="0"/>
          </a:p>
        </p:txBody>
      </p:sp>
      <p:sp>
        <p:nvSpPr>
          <p:cNvPr id="15" name="Text 13"/>
          <p:cNvSpPr txBox="1"/>
          <p:nvPr/>
        </p:nvSpPr>
        <p:spPr>
          <a:xfrm>
            <a:off x="1847088" y="2688336"/>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多权限账号（用户/超管/系统管理员/审计管理员/安全管理员），权限满足最小化原则；服务账户证书认证，禁止明文凭据</a:t>
            </a:r>
            <a:endParaRPr lang="en-US" sz="1000" dirty="0"/>
          </a:p>
        </p:txBody>
      </p:sp>
      <p:sp>
        <p:nvSpPr>
          <p:cNvPr id="16" name="Shape 14"/>
          <p:cNvSpPr/>
          <p:nvPr/>
        </p:nvSpPr>
        <p:spPr>
          <a:xfrm>
            <a:off x="530352" y="3273552"/>
            <a:ext cx="6053328" cy="512064"/>
          </a:xfrm>
          <a:prstGeom prst="roundRect">
            <a:avLst>
              <a:gd name="adj" fmla="val 6250"/>
            </a:avLst>
          </a:prstGeom>
          <a:solidFill>
            <a:srgbClr val="FFFFFF"/>
          </a:solidFill>
          <a:ln w="9525">
            <a:solidFill>
              <a:srgbClr val="E3E7EB"/>
            </a:solidFill>
            <a:prstDash val="solid"/>
          </a:ln>
        </p:spPr>
      </p:sp>
      <p:sp>
        <p:nvSpPr>
          <p:cNvPr id="17" name="Text 15"/>
          <p:cNvSpPr txBox="1"/>
          <p:nvPr/>
        </p:nvSpPr>
        <p:spPr>
          <a:xfrm>
            <a:off x="694944" y="3273552"/>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网络与 API</a:t>
            </a:r>
            <a:endParaRPr lang="en-US" sz="1000" dirty="0"/>
          </a:p>
        </p:txBody>
      </p:sp>
      <p:sp>
        <p:nvSpPr>
          <p:cNvPr id="18" name="Text 16"/>
          <p:cNvSpPr txBox="1"/>
          <p:nvPr/>
        </p:nvSpPr>
        <p:spPr>
          <a:xfrm>
            <a:off x="1847088" y="3273552"/>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IP 与端口层面访问控制、默认拒绝所有流量；WAF/IPS 防护，具备防范 DoS/DDoS 能力；API 调用前鉴别鉴权并记录日志</a:t>
            </a:r>
            <a:endParaRPr lang="en-US" sz="1000" dirty="0"/>
          </a:p>
        </p:txBody>
      </p:sp>
      <p:sp>
        <p:nvSpPr>
          <p:cNvPr id="19" name="Shape 17"/>
          <p:cNvSpPr/>
          <p:nvPr/>
        </p:nvSpPr>
        <p:spPr>
          <a:xfrm>
            <a:off x="530352" y="3858768"/>
            <a:ext cx="6053328" cy="512064"/>
          </a:xfrm>
          <a:prstGeom prst="roundRect">
            <a:avLst>
              <a:gd name="adj" fmla="val 6250"/>
            </a:avLst>
          </a:prstGeom>
          <a:solidFill>
            <a:srgbClr val="F6F8FA"/>
          </a:solidFill>
          <a:ln w="9525">
            <a:solidFill>
              <a:srgbClr val="E3E7EB"/>
            </a:solidFill>
            <a:prstDash val="solid"/>
          </a:ln>
        </p:spPr>
      </p:sp>
      <p:sp>
        <p:nvSpPr>
          <p:cNvPr id="20" name="Text 18"/>
          <p:cNvSpPr txBox="1"/>
          <p:nvPr/>
        </p:nvSpPr>
        <p:spPr>
          <a:xfrm>
            <a:off x="694944" y="3858768"/>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日志审计</a:t>
            </a:r>
            <a:endParaRPr lang="en-US" sz="1000" dirty="0"/>
          </a:p>
        </p:txBody>
      </p:sp>
      <p:sp>
        <p:nvSpPr>
          <p:cNvPr id="21" name="Text 19"/>
          <p:cNvSpPr txBox="1"/>
          <p:nvPr/>
        </p:nvSpPr>
        <p:spPr>
          <a:xfrm>
            <a:off x="1847088" y="3858768"/>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覆盖用户操作、系统事件、网络流量；日志保存时间可自定义，至少 180 天</a:t>
            </a:r>
            <a:endParaRPr lang="en-US" sz="1000" dirty="0"/>
          </a:p>
        </p:txBody>
      </p:sp>
      <p:sp>
        <p:nvSpPr>
          <p:cNvPr id="22" name="Shape 20"/>
          <p:cNvSpPr/>
          <p:nvPr/>
        </p:nvSpPr>
        <p:spPr>
          <a:xfrm>
            <a:off x="530352" y="4443984"/>
            <a:ext cx="6053328" cy="512064"/>
          </a:xfrm>
          <a:prstGeom prst="roundRect">
            <a:avLst>
              <a:gd name="adj" fmla="val 6250"/>
            </a:avLst>
          </a:prstGeom>
          <a:solidFill>
            <a:srgbClr val="FFFFFF"/>
          </a:solidFill>
          <a:ln w="9525">
            <a:solidFill>
              <a:srgbClr val="E3E7EB"/>
            </a:solidFill>
            <a:prstDash val="solid"/>
          </a:ln>
        </p:spPr>
      </p:sp>
      <p:sp>
        <p:nvSpPr>
          <p:cNvPr id="23" name="Text 21"/>
          <p:cNvSpPr txBox="1"/>
          <p:nvPr/>
        </p:nvSpPr>
        <p:spPr>
          <a:xfrm>
            <a:off x="694944" y="444398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数据加密</a:t>
            </a:r>
            <a:endParaRPr lang="en-US" sz="1000" dirty="0"/>
          </a:p>
        </p:txBody>
      </p:sp>
      <p:sp>
        <p:nvSpPr>
          <p:cNvPr id="24" name="Text 22"/>
          <p:cNvSpPr txBox="1"/>
          <p:nvPr/>
        </p:nvSpPr>
        <p:spPr>
          <a:xfrm>
            <a:off x="1847088" y="4443984"/>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SSL/TLS 全链路加密；敏感信息持久化存储与跨网络传输采用强加密算法</a:t>
            </a:r>
            <a:endParaRPr lang="en-US" sz="1000" dirty="0"/>
          </a:p>
        </p:txBody>
      </p:sp>
      <p:sp>
        <p:nvSpPr>
          <p:cNvPr id="25" name="Shape 23"/>
          <p:cNvSpPr/>
          <p:nvPr/>
        </p:nvSpPr>
        <p:spPr>
          <a:xfrm>
            <a:off x="530352" y="5029200"/>
            <a:ext cx="6053328" cy="512064"/>
          </a:xfrm>
          <a:prstGeom prst="roundRect">
            <a:avLst>
              <a:gd name="adj" fmla="val 6250"/>
            </a:avLst>
          </a:prstGeom>
          <a:solidFill>
            <a:srgbClr val="F6F8FA"/>
          </a:solidFill>
          <a:ln w="9525">
            <a:solidFill>
              <a:srgbClr val="E3E7EB"/>
            </a:solidFill>
            <a:prstDash val="solid"/>
          </a:ln>
        </p:spPr>
      </p:sp>
      <p:sp>
        <p:nvSpPr>
          <p:cNvPr id="26" name="Text 24"/>
          <p:cNvSpPr txBox="1"/>
          <p:nvPr/>
        </p:nvSpPr>
        <p:spPr>
          <a:xfrm>
            <a:off x="694944" y="502920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安全测试</a:t>
            </a:r>
            <a:endParaRPr lang="en-US" sz="1000" dirty="0"/>
          </a:p>
        </p:txBody>
      </p:sp>
      <p:sp>
        <p:nvSpPr>
          <p:cNvPr id="27" name="Text 25"/>
          <p:cNvSpPr txBox="1"/>
          <p:nvPr/>
        </p:nvSpPr>
        <p:spPr>
          <a:xfrm>
            <a:off x="1847088" y="5029200"/>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开发阶段提供安全自测报告与开源组件列表；上线前后按《漏洞管理办法》测试、修复与复测；维保期内对新漏洞负责</a:t>
            </a:r>
            <a:endParaRPr lang="en-US" sz="1000" dirty="0"/>
          </a:p>
        </p:txBody>
      </p:sp>
      <p:sp>
        <p:nvSpPr>
          <p:cNvPr id="28" name="Shape 26"/>
          <p:cNvSpPr/>
          <p:nvPr/>
        </p:nvSpPr>
        <p:spPr>
          <a:xfrm>
            <a:off x="530352" y="5614416"/>
            <a:ext cx="6053328" cy="512064"/>
          </a:xfrm>
          <a:prstGeom prst="roundRect">
            <a:avLst>
              <a:gd name="adj" fmla="val 6250"/>
            </a:avLst>
          </a:prstGeom>
          <a:solidFill>
            <a:srgbClr val="FFFFFF"/>
          </a:solidFill>
          <a:ln w="9525">
            <a:solidFill>
              <a:srgbClr val="E3E7EB"/>
            </a:solidFill>
            <a:prstDash val="solid"/>
          </a:ln>
        </p:spPr>
      </p:sp>
      <p:sp>
        <p:nvSpPr>
          <p:cNvPr id="29" name="Text 27"/>
          <p:cNvSpPr txBox="1"/>
          <p:nvPr/>
        </p:nvSpPr>
        <p:spPr>
          <a:xfrm>
            <a:off x="694944" y="5614416"/>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数据销毁</a:t>
            </a:r>
            <a:endParaRPr lang="en-US" sz="1000" dirty="0"/>
          </a:p>
        </p:txBody>
      </p:sp>
      <p:sp>
        <p:nvSpPr>
          <p:cNvPr id="30" name="Text 28"/>
          <p:cNvSpPr txBox="1"/>
          <p:nvPr/>
        </p:nvSpPr>
        <p:spPr>
          <a:xfrm>
            <a:off x="1847088" y="5614416"/>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项目交付或服务终止后提供数据销毁证明，个人终端/测试环境/云存储不留存敏感数据</a:t>
            </a:r>
            <a:endParaRPr lang="en-US" sz="1000" dirty="0"/>
          </a:p>
        </p:txBody>
      </p:sp>
      <p:sp>
        <p:nvSpPr>
          <p:cNvPr id="31" name="Shape 29"/>
          <p:cNvSpPr/>
          <p:nvPr/>
        </p:nvSpPr>
        <p:spPr>
          <a:xfrm>
            <a:off x="6839712" y="1257300"/>
            <a:ext cx="68580" cy="173736"/>
          </a:xfrm>
          <a:prstGeom prst="rect">
            <a:avLst/>
          </a:prstGeom>
          <a:solidFill>
            <a:srgbClr val="F97B00"/>
          </a:solidFill>
          <a:ln/>
        </p:spPr>
      </p:sp>
      <p:sp>
        <p:nvSpPr>
          <p:cNvPr id="32" name="Text 30"/>
          <p:cNvSpPr txBox="1"/>
          <p:nvPr/>
        </p:nvSpPr>
        <p:spPr>
          <a:xfrm>
            <a:off x="699516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合规要求响应</a:t>
            </a:r>
            <a:endParaRPr lang="en-US" sz="1250" dirty="0"/>
          </a:p>
        </p:txBody>
      </p:sp>
      <p:sp>
        <p:nvSpPr>
          <p:cNvPr id="33" name="Shape 31"/>
          <p:cNvSpPr/>
          <p:nvPr/>
        </p:nvSpPr>
        <p:spPr>
          <a:xfrm>
            <a:off x="6839712" y="1517904"/>
            <a:ext cx="4821631" cy="585216"/>
          </a:xfrm>
          <a:prstGeom prst="roundRect">
            <a:avLst>
              <a:gd name="adj" fmla="val 5469"/>
            </a:avLst>
          </a:prstGeom>
          <a:solidFill>
            <a:srgbClr val="FFF7EF"/>
          </a:solidFill>
          <a:ln w="9525">
            <a:solidFill>
              <a:srgbClr val="F6DCC2"/>
            </a:solidFill>
            <a:prstDash val="solid"/>
          </a:ln>
        </p:spPr>
      </p:sp>
      <p:sp>
        <p:nvSpPr>
          <p:cNvPr id="34" name="Text 32"/>
          <p:cNvSpPr txBox="1"/>
          <p:nvPr/>
        </p:nvSpPr>
        <p:spPr>
          <a:xfrm>
            <a:off x="7004304" y="1517904"/>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境内部署</a:t>
            </a:r>
            <a:endParaRPr lang="en-US" sz="1000" dirty="0"/>
          </a:p>
        </p:txBody>
      </p:sp>
      <p:sp>
        <p:nvSpPr>
          <p:cNvPr id="35" name="Text 33"/>
          <p:cNvSpPr txBox="1"/>
          <p:nvPr/>
        </p:nvSpPr>
        <p:spPr>
          <a:xfrm>
            <a:off x="8247888" y="1517904"/>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全部部署节点均在国内，明确服务器位置与运维体系，落实数据安全主体责任；所有数据在国内存储处理，严禁向境外传输</a:t>
            </a:r>
            <a:endParaRPr lang="en-US" sz="1000" dirty="0"/>
          </a:p>
        </p:txBody>
      </p:sp>
      <p:sp>
        <p:nvSpPr>
          <p:cNvPr id="36" name="Shape 34"/>
          <p:cNvSpPr/>
          <p:nvPr/>
        </p:nvSpPr>
        <p:spPr>
          <a:xfrm>
            <a:off x="6839712" y="2176272"/>
            <a:ext cx="4821631" cy="585216"/>
          </a:xfrm>
          <a:prstGeom prst="roundRect">
            <a:avLst>
              <a:gd name="adj" fmla="val 5469"/>
            </a:avLst>
          </a:prstGeom>
          <a:solidFill>
            <a:srgbClr val="FFF7EF"/>
          </a:solidFill>
          <a:ln w="9525">
            <a:solidFill>
              <a:srgbClr val="F6DCC2"/>
            </a:solidFill>
            <a:prstDash val="solid"/>
          </a:ln>
        </p:spPr>
      </p:sp>
      <p:sp>
        <p:nvSpPr>
          <p:cNvPr id="37" name="Text 35"/>
          <p:cNvSpPr txBox="1"/>
          <p:nvPr/>
        </p:nvSpPr>
        <p:spPr>
          <a:xfrm>
            <a:off x="7004304" y="2176272"/>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个人信息保护</a:t>
            </a:r>
            <a:endParaRPr lang="en-US" sz="1000" dirty="0"/>
          </a:p>
        </p:txBody>
      </p:sp>
      <p:sp>
        <p:nvSpPr>
          <p:cNvPr id="38" name="Text 36"/>
          <p:cNvSpPr txBox="1"/>
          <p:nvPr/>
        </p:nvSpPr>
        <p:spPr>
          <a:xfrm>
            <a:off x="8247888" y="2176272"/>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终端软件符合国内个人信息保护、数据安全法规，杜绝违规收集使用；提供授权接口支持数据主体撤回与删减</a:t>
            </a:r>
            <a:endParaRPr lang="en-US" sz="1000" dirty="0"/>
          </a:p>
        </p:txBody>
      </p:sp>
      <p:sp>
        <p:nvSpPr>
          <p:cNvPr id="39" name="Shape 37"/>
          <p:cNvSpPr/>
          <p:nvPr/>
        </p:nvSpPr>
        <p:spPr>
          <a:xfrm>
            <a:off x="6839712" y="2834640"/>
            <a:ext cx="4821631" cy="585216"/>
          </a:xfrm>
          <a:prstGeom prst="roundRect">
            <a:avLst>
              <a:gd name="adj" fmla="val 5469"/>
            </a:avLst>
          </a:prstGeom>
          <a:solidFill>
            <a:srgbClr val="FFF7EF"/>
          </a:solidFill>
          <a:ln w="9525">
            <a:solidFill>
              <a:srgbClr val="F6DCC2"/>
            </a:solidFill>
            <a:prstDash val="solid"/>
          </a:ln>
        </p:spPr>
      </p:sp>
      <p:sp>
        <p:nvSpPr>
          <p:cNvPr id="40" name="Text 38"/>
          <p:cNvSpPr txBox="1"/>
          <p:nvPr/>
        </p:nvSpPr>
        <p:spPr>
          <a:xfrm>
            <a:off x="7004304" y="2834640"/>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管理员管控</a:t>
            </a:r>
            <a:endParaRPr lang="en-US" sz="1000" dirty="0"/>
          </a:p>
        </p:txBody>
      </p:sp>
      <p:sp>
        <p:nvSpPr>
          <p:cNvPr id="41" name="Text 39"/>
          <p:cNvSpPr txBox="1"/>
          <p:nvPr/>
        </p:nvSpPr>
        <p:spPr>
          <a:xfrm>
            <a:off x="8247888" y="2834640"/>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管理员账号仅允许国内登录，留存不少于 6 个月登录日志</a:t>
            </a:r>
            <a:endParaRPr lang="en-US" sz="1000" dirty="0"/>
          </a:p>
        </p:txBody>
      </p:sp>
      <p:sp>
        <p:nvSpPr>
          <p:cNvPr id="42" name="Shape 40"/>
          <p:cNvSpPr/>
          <p:nvPr/>
        </p:nvSpPr>
        <p:spPr>
          <a:xfrm>
            <a:off x="6839712" y="3493008"/>
            <a:ext cx="4821631" cy="585216"/>
          </a:xfrm>
          <a:prstGeom prst="roundRect">
            <a:avLst>
              <a:gd name="adj" fmla="val 5469"/>
            </a:avLst>
          </a:prstGeom>
          <a:solidFill>
            <a:srgbClr val="FFF7EF"/>
          </a:solidFill>
          <a:ln w="9525">
            <a:solidFill>
              <a:srgbClr val="F6DCC2"/>
            </a:solidFill>
            <a:prstDash val="solid"/>
          </a:ln>
        </p:spPr>
      </p:sp>
      <p:sp>
        <p:nvSpPr>
          <p:cNvPr id="43" name="Text 41"/>
          <p:cNvSpPr txBox="1"/>
          <p:nvPr/>
        </p:nvSpPr>
        <p:spPr>
          <a:xfrm>
            <a:off x="7004304" y="3493008"/>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数据全生命周期</a:t>
            </a:r>
            <a:endParaRPr lang="en-US" sz="1000" dirty="0"/>
          </a:p>
        </p:txBody>
      </p:sp>
      <p:sp>
        <p:nvSpPr>
          <p:cNvPr id="44" name="Text 42"/>
          <p:cNvSpPr txBox="1"/>
          <p:nvPr/>
        </p:nvSpPr>
        <p:spPr>
          <a:xfrm>
            <a:off x="8247888" y="3493008"/>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梳理采集、存储、使用、传输、共享、销毁流转，明确核心信息与存储周期，不超出必要期限</a:t>
            </a:r>
            <a:endParaRPr lang="en-US" sz="1000" dirty="0"/>
          </a:p>
        </p:txBody>
      </p:sp>
      <p:sp>
        <p:nvSpPr>
          <p:cNvPr id="45" name="Shape 43"/>
          <p:cNvSpPr/>
          <p:nvPr/>
        </p:nvSpPr>
        <p:spPr>
          <a:xfrm>
            <a:off x="6839712" y="4151376"/>
            <a:ext cx="4821631" cy="585216"/>
          </a:xfrm>
          <a:prstGeom prst="roundRect">
            <a:avLst>
              <a:gd name="adj" fmla="val 5469"/>
            </a:avLst>
          </a:prstGeom>
          <a:solidFill>
            <a:srgbClr val="FFF7EF"/>
          </a:solidFill>
          <a:ln w="9525">
            <a:solidFill>
              <a:srgbClr val="F6DCC2"/>
            </a:solidFill>
            <a:prstDash val="solid"/>
          </a:ln>
        </p:spPr>
      </p:sp>
      <p:sp>
        <p:nvSpPr>
          <p:cNvPr id="46" name="Text 44"/>
          <p:cNvSpPr txBox="1"/>
          <p:nvPr/>
        </p:nvSpPr>
        <p:spPr>
          <a:xfrm>
            <a:off x="7004304" y="4151376"/>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PIA / SRA 评估</a:t>
            </a:r>
            <a:endParaRPr lang="en-US" sz="1000" dirty="0"/>
          </a:p>
        </p:txBody>
      </p:sp>
      <p:sp>
        <p:nvSpPr>
          <p:cNvPr id="47" name="Text 45"/>
          <p:cNvSpPr txBox="1"/>
          <p:nvPr/>
        </p:nvSpPr>
        <p:spPr>
          <a:xfrm>
            <a:off x="8247888" y="4151376"/>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开展个人信息保护影响评估与信息安全评估，制定缓解措施与应急预案</a:t>
            </a:r>
            <a:endParaRPr lang="en-US" sz="1000" dirty="0"/>
          </a:p>
        </p:txBody>
      </p:sp>
      <p:sp>
        <p:nvSpPr>
          <p:cNvPr id="48" name="Shape 46"/>
          <p:cNvSpPr/>
          <p:nvPr/>
        </p:nvSpPr>
        <p:spPr>
          <a:xfrm>
            <a:off x="6839712" y="4809744"/>
            <a:ext cx="4821631" cy="585216"/>
          </a:xfrm>
          <a:prstGeom prst="roundRect">
            <a:avLst>
              <a:gd name="adj" fmla="val 5469"/>
            </a:avLst>
          </a:prstGeom>
          <a:solidFill>
            <a:srgbClr val="FFF7EF"/>
          </a:solidFill>
          <a:ln w="9525">
            <a:solidFill>
              <a:srgbClr val="F6DCC2"/>
            </a:solidFill>
            <a:prstDash val="solid"/>
          </a:ln>
        </p:spPr>
      </p:sp>
      <p:sp>
        <p:nvSpPr>
          <p:cNvPr id="49" name="Text 47"/>
          <p:cNvSpPr txBox="1"/>
          <p:nvPr/>
        </p:nvSpPr>
        <p:spPr>
          <a:xfrm>
            <a:off x="7004304" y="4809744"/>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法律文本</a:t>
            </a:r>
            <a:endParaRPr lang="en-US" sz="1000" dirty="0"/>
          </a:p>
        </p:txBody>
      </p:sp>
      <p:sp>
        <p:nvSpPr>
          <p:cNvPr id="50" name="Text 48"/>
          <p:cNvSpPr txBox="1"/>
          <p:nvPr/>
        </p:nvSpPr>
        <p:spPr>
          <a:xfrm>
            <a:off x="8247888" y="4809744"/>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撰写国内适配的隐私政策、用户协议、Cookie 相关文本，明确告知义务与数据主体权利</a:t>
            </a:r>
            <a:endParaRPr lang="en-US" sz="1000" dirty="0"/>
          </a:p>
        </p:txBody>
      </p:sp>
      <p:sp>
        <p:nvSpPr>
          <p:cNvPr id="51" name="Shape 49"/>
          <p:cNvSpPr/>
          <p:nvPr/>
        </p:nvSpPr>
        <p:spPr>
          <a:xfrm>
            <a:off x="6839712" y="5468112"/>
            <a:ext cx="4821631" cy="621792"/>
          </a:xfrm>
          <a:prstGeom prst="roundRect">
            <a:avLst>
              <a:gd name="adj" fmla="val 5147"/>
            </a:avLst>
          </a:prstGeom>
          <a:solidFill>
            <a:srgbClr val="0E2340"/>
          </a:solidFill>
          <a:ln/>
        </p:spPr>
      </p:sp>
      <p:sp>
        <p:nvSpPr>
          <p:cNvPr id="52" name="Text 50"/>
          <p:cNvSpPr txBox="1"/>
          <p:nvPr/>
        </p:nvSpPr>
        <p:spPr>
          <a:xfrm>
            <a:off x="7004304" y="5522976"/>
            <a:ext cx="4492447" cy="512064"/>
          </a:xfrm>
          <a:prstGeom prst="rect">
            <a:avLst/>
          </a:prstGeom>
          <a:noFill/>
          <a:ln/>
        </p:spPr>
        <p:txBody>
          <a:bodyPr wrap="square" lIns="0" tIns="0" rIns="0" bIns="0" rtlCol="0" anchor="ctr"/>
          <a:lstStyle/>
          <a:p>
            <a:pPr indent="0" marL="0">
              <a:lnSpc>
                <a:spcPct val="102000"/>
              </a:lnSpc>
              <a:buNone/>
            </a:pPr>
            <a:r>
              <a:rPr lang="en-US" sz="1000" dirty="0">
                <a:solidFill>
                  <a:srgbClr val="D6DFE9"/>
                </a:solidFill>
                <a:latin typeface="Calibri" pitchFamily="34" charset="0"/>
                <a:ea typeface="Calibri" pitchFamily="34" charset="-122"/>
                <a:cs typeface="Calibri" pitchFamily="34" charset="-120"/>
              </a:rPr>
              <a:t>数据分类分级与脱敏：按阳光电源《数据安全分类分级流程》对所有业务字段标签化（核心商密/个人隐私/客户数据），并在数据库、API、存储介质实施差异化访问控制；非生产环境不使用未处理的真实敏感数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04</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项目实施保障</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实施方法论与阶段划分</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项目计划与里程碑</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实施能力与企业资质</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项目组织与人力资源规划</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项目交付物清单</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质量、变更与验收管理</a:t>
            </a:r>
            <a:endParaRPr lang="en-US" sz="1300" dirty="0"/>
          </a:p>
        </p:txBody>
      </p:sp>
      <p:sp>
        <p:nvSpPr>
          <p:cNvPr id="17" name="Text 15"/>
          <p:cNvSpPr txBox="1"/>
          <p:nvPr/>
        </p:nvSpPr>
        <p:spPr>
          <a:xfrm>
            <a:off x="576072" y="598017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07</a:t>
            </a:r>
            <a:endParaRPr lang="en-US" sz="1100" dirty="0"/>
          </a:p>
        </p:txBody>
      </p:sp>
      <p:sp>
        <p:nvSpPr>
          <p:cNvPr id="18" name="Text 16"/>
          <p:cNvSpPr txBox="1"/>
          <p:nvPr/>
        </p:nvSpPr>
        <p:spPr>
          <a:xfrm>
            <a:off x="1005840" y="598017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风险识别与应对</a:t>
            </a:r>
            <a:endParaRPr lang="en-US" sz="1300" dirty="0"/>
          </a:p>
        </p:txBody>
      </p:sp>
      <p:sp>
        <p:nvSpPr>
          <p:cNvPr id="19" name="Text 17"/>
          <p:cNvSpPr txBox="1"/>
          <p:nvPr/>
        </p:nvSpPr>
        <p:spPr>
          <a:xfrm>
            <a:off x="576072" y="636422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08</a:t>
            </a:r>
            <a:endParaRPr lang="en-US" sz="1100" dirty="0"/>
          </a:p>
        </p:txBody>
      </p:sp>
      <p:sp>
        <p:nvSpPr>
          <p:cNvPr id="20" name="Text 18"/>
          <p:cNvSpPr txBox="1"/>
          <p:nvPr/>
        </p:nvSpPr>
        <p:spPr>
          <a:xfrm>
            <a:off x="1005840" y="636422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培训、知识转移与运维</a:t>
            </a:r>
            <a:endParaRPr lang="en-US" sz="1300" dirty="0"/>
          </a:p>
        </p:txBody>
      </p:sp>
      <p:sp>
        <p:nvSpPr>
          <p:cNvPr id="21" name="Shape 19"/>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22"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实施方法论：七阶段推进，交付物逐项管控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每个阶段有定义、有关键活动、有交付物、有完成标志，双项目经理签字 + PMO 审核</a:t>
            </a:r>
            <a:endParaRPr lang="en-US" sz="1250" dirty="0"/>
          </a:p>
        </p:txBody>
      </p:sp>
      <p:sp>
        <p:nvSpPr>
          <p:cNvPr id="5" name="Shape 3"/>
          <p:cNvSpPr/>
          <p:nvPr/>
        </p:nvSpPr>
        <p:spPr>
          <a:xfrm>
            <a:off x="530352" y="1207008"/>
            <a:ext cx="566928" cy="566928"/>
          </a:xfrm>
          <a:prstGeom prst="roundRect">
            <a:avLst>
              <a:gd name="adj" fmla="val 8065"/>
            </a:avLst>
          </a:prstGeom>
          <a:solidFill>
            <a:srgbClr val="F97B00"/>
          </a:solidFill>
          <a:ln/>
        </p:spPr>
      </p:sp>
      <p:sp>
        <p:nvSpPr>
          <p:cNvPr id="6" name="Text 4"/>
          <p:cNvSpPr txBox="1"/>
          <p:nvPr/>
        </p:nvSpPr>
        <p:spPr>
          <a:xfrm>
            <a:off x="530352" y="120700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M1</a:t>
            </a:r>
            <a:endParaRPr lang="en-US" sz="1500" dirty="0"/>
          </a:p>
        </p:txBody>
      </p:sp>
      <p:sp>
        <p:nvSpPr>
          <p:cNvPr id="7" name="Shape 5"/>
          <p:cNvSpPr/>
          <p:nvPr/>
        </p:nvSpPr>
        <p:spPr>
          <a:xfrm>
            <a:off x="1207008" y="1207008"/>
            <a:ext cx="10454335"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1371600" y="120700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项目启动</a:t>
            </a:r>
            <a:endParaRPr lang="en-US" sz="1100" dirty="0"/>
          </a:p>
        </p:txBody>
      </p:sp>
      <p:sp>
        <p:nvSpPr>
          <p:cNvPr id="9" name="Text 7"/>
          <p:cNvSpPr txBox="1"/>
          <p:nvPr/>
        </p:nvSpPr>
        <p:spPr>
          <a:xfrm>
            <a:off x="2414016" y="1243584"/>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确定团队成员 · 确认项目计划 · 准备工作环境 · 制定项目章程 · 召开项目启动会</a:t>
            </a:r>
            <a:endParaRPr lang="en-US" sz="1000" dirty="0"/>
          </a:p>
        </p:txBody>
      </p:sp>
      <p:sp>
        <p:nvSpPr>
          <p:cNvPr id="10" name="Text 8"/>
          <p:cNvSpPr txBox="1"/>
          <p:nvPr/>
        </p:nvSpPr>
        <p:spPr>
          <a:xfrm>
            <a:off x="6071616" y="1234440"/>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项目启动会材料、项目计划、工作范围说明书</a:t>
            </a:r>
            <a:endParaRPr lang="en-US" sz="1000" dirty="0"/>
          </a:p>
        </p:txBody>
      </p:sp>
      <p:sp>
        <p:nvSpPr>
          <p:cNvPr id="11" name="Shape 9"/>
          <p:cNvSpPr/>
          <p:nvPr/>
        </p:nvSpPr>
        <p:spPr>
          <a:xfrm>
            <a:off x="530352" y="1860804"/>
            <a:ext cx="566928" cy="566928"/>
          </a:xfrm>
          <a:prstGeom prst="roundRect">
            <a:avLst>
              <a:gd name="adj" fmla="val 8065"/>
            </a:avLst>
          </a:prstGeom>
          <a:solidFill>
            <a:srgbClr val="F97B00"/>
          </a:solidFill>
          <a:ln/>
        </p:spPr>
      </p:sp>
      <p:sp>
        <p:nvSpPr>
          <p:cNvPr id="12" name="Text 10"/>
          <p:cNvSpPr txBox="1"/>
          <p:nvPr/>
        </p:nvSpPr>
        <p:spPr>
          <a:xfrm>
            <a:off x="530352" y="186080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M2</a:t>
            </a:r>
            <a:endParaRPr lang="en-US" sz="1500" dirty="0"/>
          </a:p>
        </p:txBody>
      </p:sp>
      <p:sp>
        <p:nvSpPr>
          <p:cNvPr id="13" name="Shape 11"/>
          <p:cNvSpPr/>
          <p:nvPr/>
        </p:nvSpPr>
        <p:spPr>
          <a:xfrm>
            <a:off x="1207008" y="1860804"/>
            <a:ext cx="10454335" cy="566928"/>
          </a:xfrm>
          <a:prstGeom prst="roundRect">
            <a:avLst>
              <a:gd name="adj" fmla="val 5645"/>
            </a:avLst>
          </a:prstGeom>
          <a:solidFill>
            <a:srgbClr val="FFFFFF"/>
          </a:solidFill>
          <a:ln w="9525">
            <a:solidFill>
              <a:srgbClr val="E3E7EB"/>
            </a:solidFill>
            <a:prstDash val="solid"/>
          </a:ln>
        </p:spPr>
      </p:sp>
      <p:sp>
        <p:nvSpPr>
          <p:cNvPr id="14" name="Text 12"/>
          <p:cNvSpPr txBox="1"/>
          <p:nvPr/>
        </p:nvSpPr>
        <p:spPr>
          <a:xfrm>
            <a:off x="1371600" y="186080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需求分析</a:t>
            </a:r>
            <a:endParaRPr lang="en-US" sz="1100" dirty="0"/>
          </a:p>
        </p:txBody>
      </p:sp>
      <p:sp>
        <p:nvSpPr>
          <p:cNvPr id="15" name="Text 13"/>
          <p:cNvSpPr txBox="1"/>
          <p:nvPr/>
        </p:nvSpPr>
        <p:spPr>
          <a:xfrm>
            <a:off x="2414016" y="1897380"/>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需求分析培训 · 收集业务流程资料 · 调研访谈 · 绘制现状流程图 · 流程优化研讨 · 报告评审定稿</a:t>
            </a:r>
            <a:endParaRPr lang="en-US" sz="1000" dirty="0"/>
          </a:p>
        </p:txBody>
      </p:sp>
      <p:sp>
        <p:nvSpPr>
          <p:cNvPr id="16" name="Text 14"/>
          <p:cNvSpPr txBox="1"/>
          <p:nvPr/>
        </p:nvSpPr>
        <p:spPr>
          <a:xfrm>
            <a:off x="6071616" y="1888236"/>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调研提纲、调研培训材料、调研会议纪要、现状流程图、专题讨论材料、需求分析报告</a:t>
            </a:r>
            <a:endParaRPr lang="en-US" sz="1000" dirty="0"/>
          </a:p>
        </p:txBody>
      </p:sp>
      <p:sp>
        <p:nvSpPr>
          <p:cNvPr id="17" name="Shape 15"/>
          <p:cNvSpPr/>
          <p:nvPr/>
        </p:nvSpPr>
        <p:spPr>
          <a:xfrm>
            <a:off x="530352" y="2514600"/>
            <a:ext cx="566928" cy="566928"/>
          </a:xfrm>
          <a:prstGeom prst="roundRect">
            <a:avLst>
              <a:gd name="adj" fmla="val 8065"/>
            </a:avLst>
          </a:prstGeom>
          <a:solidFill>
            <a:srgbClr val="F97B00"/>
          </a:solidFill>
          <a:ln/>
        </p:spPr>
      </p:sp>
      <p:sp>
        <p:nvSpPr>
          <p:cNvPr id="18" name="Text 16"/>
          <p:cNvSpPr txBox="1"/>
          <p:nvPr/>
        </p:nvSpPr>
        <p:spPr>
          <a:xfrm>
            <a:off x="530352" y="25146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M3</a:t>
            </a:r>
            <a:endParaRPr lang="en-US" sz="1500" dirty="0"/>
          </a:p>
        </p:txBody>
      </p:sp>
      <p:sp>
        <p:nvSpPr>
          <p:cNvPr id="19" name="Shape 17"/>
          <p:cNvSpPr/>
          <p:nvPr/>
        </p:nvSpPr>
        <p:spPr>
          <a:xfrm>
            <a:off x="1207008" y="2514600"/>
            <a:ext cx="10454335" cy="566928"/>
          </a:xfrm>
          <a:prstGeom prst="roundRect">
            <a:avLst>
              <a:gd name="adj" fmla="val 5645"/>
            </a:avLst>
          </a:prstGeom>
          <a:solidFill>
            <a:srgbClr val="F6F8FA"/>
          </a:solidFill>
          <a:ln w="9525">
            <a:solidFill>
              <a:srgbClr val="E3E7EB"/>
            </a:solidFill>
            <a:prstDash val="solid"/>
          </a:ln>
        </p:spPr>
      </p:sp>
      <p:sp>
        <p:nvSpPr>
          <p:cNvPr id="20" name="Text 18"/>
          <p:cNvSpPr txBox="1"/>
          <p:nvPr/>
        </p:nvSpPr>
        <p:spPr>
          <a:xfrm>
            <a:off x="1371600" y="2514600"/>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方案设计</a:t>
            </a:r>
            <a:endParaRPr lang="en-US" sz="1100" dirty="0"/>
          </a:p>
        </p:txBody>
      </p:sp>
      <p:sp>
        <p:nvSpPr>
          <p:cNvPr id="21" name="Text 19"/>
          <p:cNvSpPr txBox="1"/>
          <p:nvPr/>
        </p:nvSpPr>
        <p:spPr>
          <a:xfrm>
            <a:off x="2414016" y="2551176"/>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未来业务场景设计 · 需求与功能差异分析 · 系统架构及功能设计 · 系统安全设计 · 数据资产目录与标准梳理 · 蓝图方案汇报</a:t>
            </a:r>
            <a:endParaRPr lang="en-US" sz="1000" dirty="0"/>
          </a:p>
        </p:txBody>
      </p:sp>
      <p:sp>
        <p:nvSpPr>
          <p:cNvPr id="22" name="Text 20"/>
          <p:cNvSpPr txBox="1"/>
          <p:nvPr/>
        </p:nvSpPr>
        <p:spPr>
          <a:xfrm>
            <a:off x="6071616" y="2542032"/>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业务设计蓝图方案、蓝图报告、系统功能说明书 FS、系统开发规格书、开发清单及计划、安全技术方案、数据流转图、硬件施工图纸</a:t>
            </a:r>
            <a:endParaRPr lang="en-US" sz="1000" dirty="0"/>
          </a:p>
        </p:txBody>
      </p:sp>
      <p:sp>
        <p:nvSpPr>
          <p:cNvPr id="23" name="Shape 21"/>
          <p:cNvSpPr/>
          <p:nvPr/>
        </p:nvSpPr>
        <p:spPr>
          <a:xfrm>
            <a:off x="530352" y="3168396"/>
            <a:ext cx="566928" cy="566928"/>
          </a:xfrm>
          <a:prstGeom prst="roundRect">
            <a:avLst>
              <a:gd name="adj" fmla="val 8065"/>
            </a:avLst>
          </a:prstGeom>
          <a:solidFill>
            <a:srgbClr val="F97B00"/>
          </a:solidFill>
          <a:ln/>
        </p:spPr>
      </p:sp>
      <p:sp>
        <p:nvSpPr>
          <p:cNvPr id="24" name="Text 22"/>
          <p:cNvSpPr txBox="1"/>
          <p:nvPr/>
        </p:nvSpPr>
        <p:spPr>
          <a:xfrm>
            <a:off x="530352" y="316839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M4</a:t>
            </a:r>
            <a:endParaRPr lang="en-US" sz="1500" dirty="0"/>
          </a:p>
        </p:txBody>
      </p:sp>
      <p:sp>
        <p:nvSpPr>
          <p:cNvPr id="25" name="Shape 23"/>
          <p:cNvSpPr/>
          <p:nvPr/>
        </p:nvSpPr>
        <p:spPr>
          <a:xfrm>
            <a:off x="1207008" y="3168396"/>
            <a:ext cx="10454335" cy="566928"/>
          </a:xfrm>
          <a:prstGeom prst="roundRect">
            <a:avLst>
              <a:gd name="adj" fmla="val 5645"/>
            </a:avLst>
          </a:prstGeom>
          <a:solidFill>
            <a:srgbClr val="FFFFFF"/>
          </a:solidFill>
          <a:ln w="9525">
            <a:solidFill>
              <a:srgbClr val="E3E7EB"/>
            </a:solidFill>
            <a:prstDash val="solid"/>
          </a:ln>
        </p:spPr>
      </p:sp>
      <p:sp>
        <p:nvSpPr>
          <p:cNvPr id="26" name="Text 24"/>
          <p:cNvSpPr txBox="1"/>
          <p:nvPr/>
        </p:nvSpPr>
        <p:spPr>
          <a:xfrm>
            <a:off x="1371600" y="3168396"/>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系统开发</a:t>
            </a:r>
            <a:endParaRPr lang="en-US" sz="1100" dirty="0"/>
          </a:p>
        </p:txBody>
      </p:sp>
      <p:sp>
        <p:nvSpPr>
          <p:cNvPr id="27" name="Text 25"/>
          <p:cNvSpPr txBox="1"/>
          <p:nvPr/>
        </p:nvSpPr>
        <p:spPr>
          <a:xfrm>
            <a:off x="2414016" y="3204972"/>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制定开发计划 · 系统配置 · 客户化功能和接口开发 · 角色和权限设计 · 单元测试 · 数据收集培训</a:t>
            </a:r>
            <a:endParaRPr lang="en-US" sz="1000" dirty="0"/>
          </a:p>
        </p:txBody>
      </p:sp>
      <p:sp>
        <p:nvSpPr>
          <p:cNvPr id="28" name="Text 26"/>
          <p:cNvSpPr txBox="1"/>
          <p:nvPr/>
        </p:nvSpPr>
        <p:spPr>
          <a:xfrm>
            <a:off x="6071616" y="3195828"/>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二开源代码、经单元测试的定制系统、SIT/UAT 测试用例、系统配置手册、测试方案及计划、服务器及网络资源规划、ER 图、业务指标数据清单、数据资产清单 L1-L5、历史数据清洗迁移方案</a:t>
            </a:r>
            <a:endParaRPr lang="en-US" sz="1000" dirty="0"/>
          </a:p>
        </p:txBody>
      </p:sp>
      <p:sp>
        <p:nvSpPr>
          <p:cNvPr id="29" name="Shape 27"/>
          <p:cNvSpPr/>
          <p:nvPr/>
        </p:nvSpPr>
        <p:spPr>
          <a:xfrm>
            <a:off x="530352" y="3822192"/>
            <a:ext cx="566928" cy="566928"/>
          </a:xfrm>
          <a:prstGeom prst="roundRect">
            <a:avLst>
              <a:gd name="adj" fmla="val 8065"/>
            </a:avLst>
          </a:prstGeom>
          <a:solidFill>
            <a:srgbClr val="F97B00"/>
          </a:solidFill>
          <a:ln/>
        </p:spPr>
      </p:sp>
      <p:sp>
        <p:nvSpPr>
          <p:cNvPr id="30" name="Text 28"/>
          <p:cNvSpPr txBox="1"/>
          <p:nvPr/>
        </p:nvSpPr>
        <p:spPr>
          <a:xfrm>
            <a:off x="530352" y="382219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M5</a:t>
            </a:r>
            <a:endParaRPr lang="en-US" sz="1500" dirty="0"/>
          </a:p>
        </p:txBody>
      </p:sp>
      <p:sp>
        <p:nvSpPr>
          <p:cNvPr id="31" name="Shape 29"/>
          <p:cNvSpPr/>
          <p:nvPr/>
        </p:nvSpPr>
        <p:spPr>
          <a:xfrm>
            <a:off x="1207008" y="3822192"/>
            <a:ext cx="10454335" cy="566928"/>
          </a:xfrm>
          <a:prstGeom prst="roundRect">
            <a:avLst>
              <a:gd name="adj" fmla="val 5645"/>
            </a:avLst>
          </a:prstGeom>
          <a:solidFill>
            <a:srgbClr val="F6F8FA"/>
          </a:solidFill>
          <a:ln w="9525">
            <a:solidFill>
              <a:srgbClr val="E3E7EB"/>
            </a:solidFill>
            <a:prstDash val="solid"/>
          </a:ln>
        </p:spPr>
      </p:sp>
      <p:sp>
        <p:nvSpPr>
          <p:cNvPr id="32" name="Text 30"/>
          <p:cNvSpPr txBox="1"/>
          <p:nvPr/>
        </p:nvSpPr>
        <p:spPr>
          <a:xfrm>
            <a:off x="1371600" y="3822192"/>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系统测试</a:t>
            </a:r>
            <a:endParaRPr lang="en-US" sz="1100" dirty="0"/>
          </a:p>
        </p:txBody>
      </p:sp>
      <p:sp>
        <p:nvSpPr>
          <p:cNvPr id="33" name="Text 31"/>
          <p:cNvSpPr txBox="1"/>
          <p:nvPr/>
        </p:nvSpPr>
        <p:spPr>
          <a:xfrm>
            <a:off x="2414016" y="3858768"/>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测试环境部署 · 测试人员培训 · SIT 测试 · UAT 测试 · 安全与压力测试 · 编写操作手册与培训教材</a:t>
            </a:r>
            <a:endParaRPr lang="en-US" sz="1000" dirty="0"/>
          </a:p>
        </p:txBody>
      </p:sp>
      <p:sp>
        <p:nvSpPr>
          <p:cNvPr id="34" name="Text 32"/>
          <p:cNvSpPr txBox="1"/>
          <p:nvPr/>
        </p:nvSpPr>
        <p:spPr>
          <a:xfrm>
            <a:off x="6071616" y="3849624"/>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权限配置清单、用户操作手册和培训教材、SIT 测试报告、UAT 验收报告、性能/压力测试报告、安全测试报告</a:t>
            </a:r>
            <a:endParaRPr lang="en-US" sz="1000" dirty="0"/>
          </a:p>
        </p:txBody>
      </p:sp>
      <p:sp>
        <p:nvSpPr>
          <p:cNvPr id="35" name="Shape 33"/>
          <p:cNvSpPr/>
          <p:nvPr/>
        </p:nvSpPr>
        <p:spPr>
          <a:xfrm>
            <a:off x="530352" y="4475988"/>
            <a:ext cx="566928" cy="566928"/>
          </a:xfrm>
          <a:prstGeom prst="roundRect">
            <a:avLst>
              <a:gd name="adj" fmla="val 8065"/>
            </a:avLst>
          </a:prstGeom>
          <a:solidFill>
            <a:srgbClr val="F97B00"/>
          </a:solidFill>
          <a:ln/>
        </p:spPr>
      </p:sp>
      <p:sp>
        <p:nvSpPr>
          <p:cNvPr id="36" name="Text 34"/>
          <p:cNvSpPr txBox="1"/>
          <p:nvPr/>
        </p:nvSpPr>
        <p:spPr>
          <a:xfrm>
            <a:off x="530352" y="44759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M6</a:t>
            </a:r>
            <a:endParaRPr lang="en-US" sz="1500" dirty="0"/>
          </a:p>
        </p:txBody>
      </p:sp>
      <p:sp>
        <p:nvSpPr>
          <p:cNvPr id="37" name="Shape 35"/>
          <p:cNvSpPr/>
          <p:nvPr/>
        </p:nvSpPr>
        <p:spPr>
          <a:xfrm>
            <a:off x="1207008" y="4475988"/>
            <a:ext cx="10454335" cy="566928"/>
          </a:xfrm>
          <a:prstGeom prst="roundRect">
            <a:avLst>
              <a:gd name="adj" fmla="val 5645"/>
            </a:avLst>
          </a:prstGeom>
          <a:solidFill>
            <a:srgbClr val="FFFFFF"/>
          </a:solidFill>
          <a:ln w="9525">
            <a:solidFill>
              <a:srgbClr val="E3E7EB"/>
            </a:solidFill>
            <a:prstDash val="solid"/>
          </a:ln>
        </p:spPr>
      </p:sp>
      <p:sp>
        <p:nvSpPr>
          <p:cNvPr id="38" name="Text 36"/>
          <p:cNvSpPr txBox="1"/>
          <p:nvPr/>
        </p:nvSpPr>
        <p:spPr>
          <a:xfrm>
            <a:off x="1371600" y="447598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上线准备</a:t>
            </a:r>
            <a:endParaRPr lang="en-US" sz="1100" dirty="0"/>
          </a:p>
        </p:txBody>
      </p:sp>
      <p:sp>
        <p:nvSpPr>
          <p:cNvPr id="39" name="Text 37"/>
          <p:cNvSpPr txBox="1"/>
          <p:nvPr/>
        </p:nvSpPr>
        <p:spPr>
          <a:xfrm>
            <a:off x="2414016" y="4512564"/>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用户培训 · 系统管理员培训 · 数据收集整理导入 · 修订流程文件 · 备份方案与运行管理制度 · 上线切换讨论会 · 完成合规交付物</a:t>
            </a:r>
            <a:endParaRPr lang="en-US" sz="1000" dirty="0"/>
          </a:p>
        </p:txBody>
      </p:sp>
      <p:sp>
        <p:nvSpPr>
          <p:cNvPr id="40" name="Text 38"/>
          <p:cNvSpPr txBox="1"/>
          <p:nvPr/>
        </p:nvSpPr>
        <p:spPr>
          <a:xfrm>
            <a:off x="6071616" y="4503420"/>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系统管理手册、生产系统、上线方案与检查清单、安全应急响应计划、上线安全评审文件、合规文本框架、硬件竣工图</a:t>
            </a:r>
            <a:endParaRPr lang="en-US" sz="1000" dirty="0"/>
          </a:p>
        </p:txBody>
      </p:sp>
      <p:sp>
        <p:nvSpPr>
          <p:cNvPr id="41" name="Shape 39"/>
          <p:cNvSpPr/>
          <p:nvPr/>
        </p:nvSpPr>
        <p:spPr>
          <a:xfrm>
            <a:off x="530352" y="5129784"/>
            <a:ext cx="566928" cy="566928"/>
          </a:xfrm>
          <a:prstGeom prst="roundRect">
            <a:avLst>
              <a:gd name="adj" fmla="val 8065"/>
            </a:avLst>
          </a:prstGeom>
          <a:solidFill>
            <a:srgbClr val="0E2340"/>
          </a:solidFill>
          <a:ln/>
        </p:spPr>
      </p:sp>
      <p:sp>
        <p:nvSpPr>
          <p:cNvPr id="42" name="Text 40"/>
          <p:cNvSpPr txBox="1"/>
          <p:nvPr/>
        </p:nvSpPr>
        <p:spPr>
          <a:xfrm>
            <a:off x="530352" y="51297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M7</a:t>
            </a:r>
            <a:endParaRPr lang="en-US" sz="1500" dirty="0"/>
          </a:p>
        </p:txBody>
      </p:sp>
      <p:sp>
        <p:nvSpPr>
          <p:cNvPr id="43" name="Shape 41"/>
          <p:cNvSpPr/>
          <p:nvPr/>
        </p:nvSpPr>
        <p:spPr>
          <a:xfrm>
            <a:off x="1207008" y="5129784"/>
            <a:ext cx="10454335" cy="566928"/>
          </a:xfrm>
          <a:prstGeom prst="roundRect">
            <a:avLst>
              <a:gd name="adj" fmla="val 5645"/>
            </a:avLst>
          </a:prstGeom>
          <a:solidFill>
            <a:srgbClr val="F6F8FA"/>
          </a:solidFill>
          <a:ln w="9525">
            <a:solidFill>
              <a:srgbClr val="E3E7EB"/>
            </a:solidFill>
            <a:prstDash val="solid"/>
          </a:ln>
        </p:spPr>
      </p:sp>
      <p:sp>
        <p:nvSpPr>
          <p:cNvPr id="44" name="Text 42"/>
          <p:cNvSpPr txBox="1"/>
          <p:nvPr/>
        </p:nvSpPr>
        <p:spPr>
          <a:xfrm>
            <a:off x="1371600" y="512978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上线推广</a:t>
            </a:r>
            <a:endParaRPr lang="en-US" sz="1100" dirty="0"/>
          </a:p>
        </p:txBody>
      </p:sp>
      <p:sp>
        <p:nvSpPr>
          <p:cNvPr id="45" name="Text 43"/>
          <p:cNvSpPr txBox="1"/>
          <p:nvPr/>
        </p:nvSpPr>
        <p:spPr>
          <a:xfrm>
            <a:off x="2414016" y="5166360"/>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上线运维支持 · 问题反馈和解决 · 流程和系统优化</a:t>
            </a:r>
            <a:endParaRPr lang="en-US" sz="1000" dirty="0"/>
          </a:p>
        </p:txBody>
      </p:sp>
      <p:sp>
        <p:nvSpPr>
          <p:cNvPr id="46" name="Text 44"/>
          <p:cNvSpPr txBox="1"/>
          <p:nvPr/>
        </p:nvSpPr>
        <p:spPr>
          <a:xfrm>
            <a:off x="6071616" y="5157216"/>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知识转移手册与录屏（含技术清单和功能清单）、项目结项报告、验收合格单</a:t>
            </a:r>
            <a:endParaRPr lang="en-US" sz="1000" dirty="0"/>
          </a:p>
        </p:txBody>
      </p:sp>
      <p:sp>
        <p:nvSpPr>
          <p:cNvPr id="47" name="Text 45"/>
          <p:cNvSpPr txBox="1"/>
          <p:nvPr/>
        </p:nvSpPr>
        <p:spPr>
          <a:xfrm>
            <a:off x="530352" y="5815584"/>
            <a:ext cx="11130991" cy="329184"/>
          </a:xfrm>
          <a:prstGeom prst="rect">
            <a:avLst/>
          </a:prstGeom>
          <a:noFill/>
          <a:ln/>
        </p:spPr>
        <p:txBody>
          <a:bodyPr wrap="square" lIns="0" tIns="0" rIns="0" bIns="0" rtlCol="0" anchor="ctr"/>
          <a:lstStyle/>
          <a:p>
            <a:pPr indent="0" marL="0">
              <a:lnSpc>
                <a:spcPct val="104000"/>
              </a:lnSpc>
              <a:buNone/>
            </a:pPr>
            <a:r>
              <a:rPr lang="en-US" sz="1000" i="1" dirty="0">
                <a:solidFill>
                  <a:srgbClr val="8A949E"/>
                </a:solidFill>
                <a:latin typeface="Calibri" pitchFamily="34" charset="0"/>
                <a:ea typeface="Calibri" pitchFamily="34" charset="-122"/>
                <a:cs typeface="Calibri" pitchFamily="34" charset="-120"/>
              </a:rPr>
              <a:t>列名说明：阶段 | 关键活动（橙色） | 交付物（灰色）。另设 M8 项目管理贯穿全程：项目章程、项目周报、问题&amp;风险跟踪表、项目成员出勤表。交付物文档模板以联想与阳光电源 PMO 最终提供版本为准，所有交付件经双方评审并签字验收。</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项目计划与里程碑：2026 年 9 月 20 日 — 2027 年 6 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计划 2026 年 9 月 20 日启动，前 6 个月开发部署，后 3 个月试运行陪跑——跑顺才结项</a:t>
            </a:r>
            <a:endParaRPr lang="en-US" sz="1250" dirty="0"/>
          </a:p>
        </p:txBody>
      </p:sp>
      <p:sp>
        <p:nvSpPr>
          <p:cNvPr id="5" name="Shape 3"/>
          <p:cNvSpPr/>
          <p:nvPr/>
        </p:nvSpPr>
        <p:spPr>
          <a:xfrm>
            <a:off x="2743200" y="1207008"/>
            <a:ext cx="5908853" cy="274320"/>
          </a:xfrm>
          <a:prstGeom prst="roundRect">
            <a:avLst>
              <a:gd name="adj" fmla="val 13333"/>
            </a:avLst>
          </a:prstGeom>
          <a:solidFill>
            <a:srgbClr val="F97B00"/>
          </a:solidFill>
          <a:ln/>
        </p:spPr>
      </p:sp>
      <p:sp>
        <p:nvSpPr>
          <p:cNvPr id="6" name="Text 4"/>
          <p:cNvSpPr txBox="1"/>
          <p:nvPr/>
        </p:nvSpPr>
        <p:spPr>
          <a:xfrm>
            <a:off x="2743200" y="1207008"/>
            <a:ext cx="5908853"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阶段一：开发部署（6 个月，2026.10 — 2027.3）</a:t>
            </a:r>
            <a:endParaRPr lang="en-US" sz="1000" dirty="0"/>
          </a:p>
        </p:txBody>
      </p:sp>
      <p:sp>
        <p:nvSpPr>
          <p:cNvPr id="7" name="Shape 5"/>
          <p:cNvSpPr/>
          <p:nvPr/>
        </p:nvSpPr>
        <p:spPr>
          <a:xfrm>
            <a:off x="8688629" y="1207008"/>
            <a:ext cx="2936138" cy="274320"/>
          </a:xfrm>
          <a:prstGeom prst="roundRect">
            <a:avLst>
              <a:gd name="adj" fmla="val 13333"/>
            </a:avLst>
          </a:prstGeom>
          <a:solidFill>
            <a:srgbClr val="167C80"/>
          </a:solidFill>
          <a:ln/>
        </p:spPr>
      </p:sp>
      <p:sp>
        <p:nvSpPr>
          <p:cNvPr id="8" name="Text 6"/>
          <p:cNvSpPr txBox="1"/>
          <p:nvPr/>
        </p:nvSpPr>
        <p:spPr>
          <a:xfrm>
            <a:off x="8688629" y="1207008"/>
            <a:ext cx="293613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阶段二：试运行陪跑与优化（3 个月）</a:t>
            </a:r>
            <a:endParaRPr lang="en-US" sz="1000" dirty="0"/>
          </a:p>
        </p:txBody>
      </p:sp>
      <p:sp>
        <p:nvSpPr>
          <p:cNvPr id="9" name="Text 7"/>
          <p:cNvSpPr txBox="1"/>
          <p:nvPr/>
        </p:nvSpPr>
        <p:spPr>
          <a:xfrm>
            <a:off x="2743200"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10月</a:t>
            </a:r>
            <a:endParaRPr lang="en-US" sz="1000" dirty="0"/>
          </a:p>
        </p:txBody>
      </p:sp>
      <p:sp>
        <p:nvSpPr>
          <p:cNvPr id="10" name="Text 8"/>
          <p:cNvSpPr txBox="1"/>
          <p:nvPr/>
        </p:nvSpPr>
        <p:spPr>
          <a:xfrm>
            <a:off x="3734105"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11月</a:t>
            </a:r>
            <a:endParaRPr lang="en-US" sz="1000" dirty="0"/>
          </a:p>
        </p:txBody>
      </p:sp>
      <p:sp>
        <p:nvSpPr>
          <p:cNvPr id="11" name="Text 9"/>
          <p:cNvSpPr txBox="1"/>
          <p:nvPr/>
        </p:nvSpPr>
        <p:spPr>
          <a:xfrm>
            <a:off x="4725010"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12月</a:t>
            </a:r>
            <a:endParaRPr lang="en-US" sz="1000" dirty="0"/>
          </a:p>
        </p:txBody>
      </p:sp>
      <p:sp>
        <p:nvSpPr>
          <p:cNvPr id="12" name="Text 10"/>
          <p:cNvSpPr txBox="1"/>
          <p:nvPr/>
        </p:nvSpPr>
        <p:spPr>
          <a:xfrm>
            <a:off x="571591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1月</a:t>
            </a:r>
            <a:endParaRPr lang="en-US" sz="1000" dirty="0"/>
          </a:p>
        </p:txBody>
      </p:sp>
      <p:sp>
        <p:nvSpPr>
          <p:cNvPr id="13" name="Text 11"/>
          <p:cNvSpPr txBox="1"/>
          <p:nvPr/>
        </p:nvSpPr>
        <p:spPr>
          <a:xfrm>
            <a:off x="6706819"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2月</a:t>
            </a:r>
            <a:endParaRPr lang="en-US" sz="1000" dirty="0"/>
          </a:p>
        </p:txBody>
      </p:sp>
      <p:sp>
        <p:nvSpPr>
          <p:cNvPr id="14" name="Text 12"/>
          <p:cNvSpPr txBox="1"/>
          <p:nvPr/>
        </p:nvSpPr>
        <p:spPr>
          <a:xfrm>
            <a:off x="769772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3月</a:t>
            </a:r>
            <a:endParaRPr lang="en-US" sz="1000" dirty="0"/>
          </a:p>
        </p:txBody>
      </p:sp>
      <p:sp>
        <p:nvSpPr>
          <p:cNvPr id="15" name="Text 13"/>
          <p:cNvSpPr txBox="1"/>
          <p:nvPr/>
        </p:nvSpPr>
        <p:spPr>
          <a:xfrm>
            <a:off x="8688629"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4月</a:t>
            </a:r>
            <a:endParaRPr lang="en-US" sz="1000" dirty="0"/>
          </a:p>
        </p:txBody>
      </p:sp>
      <p:sp>
        <p:nvSpPr>
          <p:cNvPr id="16" name="Text 14"/>
          <p:cNvSpPr txBox="1"/>
          <p:nvPr/>
        </p:nvSpPr>
        <p:spPr>
          <a:xfrm>
            <a:off x="967953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5月</a:t>
            </a:r>
            <a:endParaRPr lang="en-US" sz="1000" dirty="0"/>
          </a:p>
        </p:txBody>
      </p:sp>
      <p:sp>
        <p:nvSpPr>
          <p:cNvPr id="17" name="Text 15"/>
          <p:cNvSpPr txBox="1"/>
          <p:nvPr/>
        </p:nvSpPr>
        <p:spPr>
          <a:xfrm>
            <a:off x="10670438"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6月</a:t>
            </a:r>
            <a:endParaRPr lang="en-US" sz="1000" dirty="0"/>
          </a:p>
        </p:txBody>
      </p:sp>
      <p:sp>
        <p:nvSpPr>
          <p:cNvPr id="18" name="Shape 16"/>
          <p:cNvSpPr/>
          <p:nvPr/>
        </p:nvSpPr>
        <p:spPr>
          <a:xfrm>
            <a:off x="2743200" y="1755648"/>
            <a:ext cx="8918143" cy="212141"/>
          </a:xfrm>
          <a:prstGeom prst="rect">
            <a:avLst/>
          </a:prstGeom>
          <a:solidFill>
            <a:srgbClr val="F6F8FA"/>
          </a:solidFill>
          <a:ln/>
        </p:spPr>
      </p:sp>
      <p:sp>
        <p:nvSpPr>
          <p:cNvPr id="19" name="Text 17"/>
          <p:cNvSpPr txBox="1"/>
          <p:nvPr/>
        </p:nvSpPr>
        <p:spPr>
          <a:xfrm>
            <a:off x="530352" y="1755648"/>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M1 项目启动与团队进场</a:t>
            </a:r>
            <a:endParaRPr lang="en-US" sz="1000" dirty="0"/>
          </a:p>
        </p:txBody>
      </p:sp>
      <p:sp>
        <p:nvSpPr>
          <p:cNvPr id="20" name="Shape 18"/>
          <p:cNvSpPr/>
          <p:nvPr/>
        </p:nvSpPr>
        <p:spPr>
          <a:xfrm>
            <a:off x="2743200" y="1784909"/>
            <a:ext cx="495452" cy="153619"/>
          </a:xfrm>
          <a:prstGeom prst="roundRect">
            <a:avLst>
              <a:gd name="adj" fmla="val 17857"/>
            </a:avLst>
          </a:prstGeom>
          <a:solidFill>
            <a:srgbClr val="0E2340"/>
          </a:solidFill>
          <a:ln/>
        </p:spPr>
      </p:sp>
      <p:sp>
        <p:nvSpPr>
          <p:cNvPr id="21" name="Text 19"/>
          <p:cNvSpPr txBox="1"/>
          <p:nvPr/>
        </p:nvSpPr>
        <p:spPr>
          <a:xfrm>
            <a:off x="530352" y="1995221"/>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M2 需求调研与流程梳理</a:t>
            </a:r>
            <a:endParaRPr lang="en-US" sz="1000" dirty="0"/>
          </a:p>
        </p:txBody>
      </p:sp>
      <p:sp>
        <p:nvSpPr>
          <p:cNvPr id="22" name="Shape 20"/>
          <p:cNvSpPr/>
          <p:nvPr/>
        </p:nvSpPr>
        <p:spPr>
          <a:xfrm>
            <a:off x="3040471" y="2024482"/>
            <a:ext cx="1387267" cy="153619"/>
          </a:xfrm>
          <a:prstGeom prst="roundRect">
            <a:avLst>
              <a:gd name="adj" fmla="val 17857"/>
            </a:avLst>
          </a:prstGeom>
          <a:solidFill>
            <a:srgbClr val="F97B00"/>
          </a:solidFill>
          <a:ln/>
        </p:spPr>
      </p:sp>
      <p:sp>
        <p:nvSpPr>
          <p:cNvPr id="23" name="Shape 21"/>
          <p:cNvSpPr/>
          <p:nvPr/>
        </p:nvSpPr>
        <p:spPr>
          <a:xfrm>
            <a:off x="2743200" y="2234794"/>
            <a:ext cx="8918143" cy="212141"/>
          </a:xfrm>
          <a:prstGeom prst="rect">
            <a:avLst/>
          </a:prstGeom>
          <a:solidFill>
            <a:srgbClr val="F6F8FA"/>
          </a:solidFill>
          <a:ln/>
        </p:spPr>
      </p:sp>
      <p:sp>
        <p:nvSpPr>
          <p:cNvPr id="24" name="Text 22"/>
          <p:cNvSpPr txBox="1"/>
          <p:nvPr/>
        </p:nvSpPr>
        <p:spPr>
          <a:xfrm>
            <a:off x="530352" y="2234794"/>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M3 方案设计与蓝图确认</a:t>
            </a:r>
            <a:endParaRPr lang="en-US" sz="1000" dirty="0"/>
          </a:p>
        </p:txBody>
      </p:sp>
      <p:sp>
        <p:nvSpPr>
          <p:cNvPr id="25" name="Shape 23"/>
          <p:cNvSpPr/>
          <p:nvPr/>
        </p:nvSpPr>
        <p:spPr>
          <a:xfrm>
            <a:off x="4229557" y="2264054"/>
            <a:ext cx="1288176" cy="153619"/>
          </a:xfrm>
          <a:prstGeom prst="roundRect">
            <a:avLst>
              <a:gd name="adj" fmla="val 17857"/>
            </a:avLst>
          </a:prstGeom>
          <a:solidFill>
            <a:srgbClr val="F97B00"/>
          </a:solidFill>
          <a:ln/>
        </p:spPr>
      </p:sp>
      <p:sp>
        <p:nvSpPr>
          <p:cNvPr id="26" name="Text 24"/>
          <p:cNvSpPr txBox="1"/>
          <p:nvPr/>
        </p:nvSpPr>
        <p:spPr>
          <a:xfrm>
            <a:off x="530352" y="2474366"/>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硬件勘查与深化设计</a:t>
            </a:r>
            <a:endParaRPr lang="en-US" sz="1000" dirty="0"/>
          </a:p>
        </p:txBody>
      </p:sp>
      <p:sp>
        <p:nvSpPr>
          <p:cNvPr id="27" name="Shape 25"/>
          <p:cNvSpPr/>
          <p:nvPr/>
        </p:nvSpPr>
        <p:spPr>
          <a:xfrm>
            <a:off x="4427738" y="2503627"/>
            <a:ext cx="1089995" cy="153619"/>
          </a:xfrm>
          <a:prstGeom prst="roundRect">
            <a:avLst>
              <a:gd name="adj" fmla="val 17857"/>
            </a:avLst>
          </a:prstGeom>
          <a:solidFill>
            <a:srgbClr val="167C80"/>
          </a:solidFill>
          <a:ln/>
        </p:spPr>
      </p:sp>
      <p:sp>
        <p:nvSpPr>
          <p:cNvPr id="28" name="Shape 26"/>
          <p:cNvSpPr/>
          <p:nvPr/>
        </p:nvSpPr>
        <p:spPr>
          <a:xfrm>
            <a:off x="2743200" y="2713939"/>
            <a:ext cx="8918143" cy="212141"/>
          </a:xfrm>
          <a:prstGeom prst="rect">
            <a:avLst/>
          </a:prstGeom>
          <a:solidFill>
            <a:srgbClr val="F6F8FA"/>
          </a:solidFill>
          <a:ln/>
        </p:spPr>
      </p:sp>
      <p:sp>
        <p:nvSpPr>
          <p:cNvPr id="29" name="Text 27"/>
          <p:cNvSpPr txBox="1"/>
          <p:nvPr/>
        </p:nvSpPr>
        <p:spPr>
          <a:xfrm>
            <a:off x="530352" y="2713939"/>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M4 开发一批：物流 / 消防</a:t>
            </a:r>
            <a:endParaRPr lang="en-US" sz="1000" dirty="0"/>
          </a:p>
        </p:txBody>
      </p:sp>
      <p:sp>
        <p:nvSpPr>
          <p:cNvPr id="30" name="Shape 28"/>
          <p:cNvSpPr/>
          <p:nvPr/>
        </p:nvSpPr>
        <p:spPr>
          <a:xfrm>
            <a:off x="5319552" y="2743200"/>
            <a:ext cx="1783629" cy="153619"/>
          </a:xfrm>
          <a:prstGeom prst="roundRect">
            <a:avLst>
              <a:gd name="adj" fmla="val 17857"/>
            </a:avLst>
          </a:prstGeom>
          <a:solidFill>
            <a:srgbClr val="F97B00"/>
          </a:solidFill>
          <a:ln/>
        </p:spPr>
      </p:sp>
      <p:sp>
        <p:nvSpPr>
          <p:cNvPr id="31" name="Text 29"/>
          <p:cNvSpPr txBox="1"/>
          <p:nvPr/>
        </p:nvSpPr>
        <p:spPr>
          <a:xfrm>
            <a:off x="530352" y="2953512"/>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M4 开发二批：安防 / 宿舍 / 外协</a:t>
            </a:r>
            <a:endParaRPr lang="en-US" sz="1000" dirty="0"/>
          </a:p>
        </p:txBody>
      </p:sp>
      <p:sp>
        <p:nvSpPr>
          <p:cNvPr id="32" name="Shape 30"/>
          <p:cNvSpPr/>
          <p:nvPr/>
        </p:nvSpPr>
        <p:spPr>
          <a:xfrm>
            <a:off x="6112276" y="2982773"/>
            <a:ext cx="1882719" cy="153619"/>
          </a:xfrm>
          <a:prstGeom prst="roundRect">
            <a:avLst>
              <a:gd name="adj" fmla="val 17857"/>
            </a:avLst>
          </a:prstGeom>
          <a:solidFill>
            <a:srgbClr val="F97B00"/>
          </a:solidFill>
          <a:ln/>
        </p:spPr>
      </p:sp>
      <p:sp>
        <p:nvSpPr>
          <p:cNvPr id="33" name="Shape 31"/>
          <p:cNvSpPr/>
          <p:nvPr/>
        </p:nvSpPr>
        <p:spPr>
          <a:xfrm>
            <a:off x="2743200" y="3193085"/>
            <a:ext cx="8918143" cy="212141"/>
          </a:xfrm>
          <a:prstGeom prst="rect">
            <a:avLst/>
          </a:prstGeom>
          <a:solidFill>
            <a:srgbClr val="F6F8FA"/>
          </a:solidFill>
          <a:ln/>
        </p:spPr>
      </p:sp>
      <p:sp>
        <p:nvSpPr>
          <p:cNvPr id="34" name="Text 32"/>
          <p:cNvSpPr txBox="1"/>
          <p:nvPr/>
        </p:nvSpPr>
        <p:spPr>
          <a:xfrm>
            <a:off x="530352" y="3193085"/>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集成接口开发与联调（15 类系统）</a:t>
            </a:r>
            <a:endParaRPr lang="en-US" sz="1000" dirty="0"/>
          </a:p>
        </p:txBody>
      </p:sp>
      <p:sp>
        <p:nvSpPr>
          <p:cNvPr id="35" name="Shape 33"/>
          <p:cNvSpPr/>
          <p:nvPr/>
        </p:nvSpPr>
        <p:spPr>
          <a:xfrm>
            <a:off x="5715914" y="3222346"/>
            <a:ext cx="2378172" cy="153619"/>
          </a:xfrm>
          <a:prstGeom prst="roundRect">
            <a:avLst>
              <a:gd name="adj" fmla="val 17857"/>
            </a:avLst>
          </a:prstGeom>
          <a:solidFill>
            <a:srgbClr val="2A6099"/>
          </a:solidFill>
          <a:ln/>
        </p:spPr>
      </p:sp>
      <p:sp>
        <p:nvSpPr>
          <p:cNvPr id="36" name="Text 34"/>
          <p:cNvSpPr txBox="1"/>
          <p:nvPr/>
        </p:nvSpPr>
        <p:spPr>
          <a:xfrm>
            <a:off x="530352" y="3432658"/>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硬件施工与设备调试接入</a:t>
            </a:r>
            <a:endParaRPr lang="en-US" sz="1000" dirty="0"/>
          </a:p>
        </p:txBody>
      </p:sp>
      <p:sp>
        <p:nvSpPr>
          <p:cNvPr id="37" name="Shape 35"/>
          <p:cNvSpPr/>
          <p:nvPr/>
        </p:nvSpPr>
        <p:spPr>
          <a:xfrm>
            <a:off x="5517733" y="3461918"/>
            <a:ext cx="2576352" cy="153619"/>
          </a:xfrm>
          <a:prstGeom prst="roundRect">
            <a:avLst>
              <a:gd name="adj" fmla="val 17857"/>
            </a:avLst>
          </a:prstGeom>
          <a:solidFill>
            <a:srgbClr val="167C80"/>
          </a:solidFill>
          <a:ln/>
        </p:spPr>
      </p:sp>
      <p:sp>
        <p:nvSpPr>
          <p:cNvPr id="38" name="Shape 36"/>
          <p:cNvSpPr/>
          <p:nvPr/>
        </p:nvSpPr>
        <p:spPr>
          <a:xfrm>
            <a:off x="2743200" y="3672230"/>
            <a:ext cx="8918143" cy="212141"/>
          </a:xfrm>
          <a:prstGeom prst="rect">
            <a:avLst/>
          </a:prstGeom>
          <a:solidFill>
            <a:srgbClr val="F6F8FA"/>
          </a:solidFill>
          <a:ln/>
        </p:spPr>
      </p:sp>
      <p:sp>
        <p:nvSpPr>
          <p:cNvPr id="39" name="Text 37"/>
          <p:cNvSpPr txBox="1"/>
          <p:nvPr/>
        </p:nvSpPr>
        <p:spPr>
          <a:xfrm>
            <a:off x="530352" y="3672230"/>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M5 SIT / UAT / 安全与压力测试</a:t>
            </a:r>
            <a:endParaRPr lang="en-US" sz="1000" dirty="0"/>
          </a:p>
        </p:txBody>
      </p:sp>
      <p:sp>
        <p:nvSpPr>
          <p:cNvPr id="40" name="Shape 38"/>
          <p:cNvSpPr/>
          <p:nvPr/>
        </p:nvSpPr>
        <p:spPr>
          <a:xfrm>
            <a:off x="7400453" y="3701491"/>
            <a:ext cx="891814" cy="153619"/>
          </a:xfrm>
          <a:prstGeom prst="roundRect">
            <a:avLst>
              <a:gd name="adj" fmla="val 17857"/>
            </a:avLst>
          </a:prstGeom>
          <a:solidFill>
            <a:srgbClr val="FF9F3D"/>
          </a:solidFill>
          <a:ln/>
        </p:spPr>
      </p:sp>
      <p:sp>
        <p:nvSpPr>
          <p:cNvPr id="41" name="Text 39"/>
          <p:cNvSpPr txBox="1"/>
          <p:nvPr/>
        </p:nvSpPr>
        <p:spPr>
          <a:xfrm>
            <a:off x="530352" y="3911803"/>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M6 上线准备：培训 / 数据导入 / 切换</a:t>
            </a:r>
            <a:endParaRPr lang="en-US" sz="1000" dirty="0"/>
          </a:p>
        </p:txBody>
      </p:sp>
      <p:sp>
        <p:nvSpPr>
          <p:cNvPr id="42" name="Shape 40"/>
          <p:cNvSpPr/>
          <p:nvPr/>
        </p:nvSpPr>
        <p:spPr>
          <a:xfrm>
            <a:off x="7895905" y="3941064"/>
            <a:ext cx="792724" cy="153619"/>
          </a:xfrm>
          <a:prstGeom prst="roundRect">
            <a:avLst>
              <a:gd name="adj" fmla="val 17857"/>
            </a:avLst>
          </a:prstGeom>
          <a:solidFill>
            <a:srgbClr val="0E2340"/>
          </a:solidFill>
          <a:ln/>
        </p:spPr>
      </p:sp>
      <p:sp>
        <p:nvSpPr>
          <p:cNvPr id="43" name="Shape 41"/>
          <p:cNvSpPr/>
          <p:nvPr/>
        </p:nvSpPr>
        <p:spPr>
          <a:xfrm>
            <a:off x="2743200" y="4151376"/>
            <a:ext cx="8918143" cy="212141"/>
          </a:xfrm>
          <a:prstGeom prst="rect">
            <a:avLst/>
          </a:prstGeom>
          <a:solidFill>
            <a:srgbClr val="F6F8FA"/>
          </a:solidFill>
          <a:ln/>
        </p:spPr>
      </p:sp>
      <p:sp>
        <p:nvSpPr>
          <p:cNvPr id="44" name="Text 42"/>
          <p:cNvSpPr txBox="1"/>
          <p:nvPr/>
        </p:nvSpPr>
        <p:spPr>
          <a:xfrm>
            <a:off x="530352" y="4151376"/>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M7 上线运行 + 阶段二试运行陪跑</a:t>
            </a:r>
            <a:endParaRPr lang="en-US" sz="1000" dirty="0"/>
          </a:p>
        </p:txBody>
      </p:sp>
      <p:sp>
        <p:nvSpPr>
          <p:cNvPr id="45" name="Shape 43"/>
          <p:cNvSpPr/>
          <p:nvPr/>
        </p:nvSpPr>
        <p:spPr>
          <a:xfrm>
            <a:off x="8490448" y="4180637"/>
            <a:ext cx="2378172" cy="153619"/>
          </a:xfrm>
          <a:prstGeom prst="roundRect">
            <a:avLst>
              <a:gd name="adj" fmla="val 17857"/>
            </a:avLst>
          </a:prstGeom>
          <a:solidFill>
            <a:srgbClr val="167C80"/>
          </a:solidFill>
          <a:ln/>
        </p:spPr>
      </p:sp>
      <p:sp>
        <p:nvSpPr>
          <p:cNvPr id="46" name="Text 44"/>
          <p:cNvSpPr txBox="1"/>
          <p:nvPr/>
        </p:nvSpPr>
        <p:spPr>
          <a:xfrm>
            <a:off x="530352" y="4390949"/>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阶段二 数据校准与策略迭代</a:t>
            </a:r>
            <a:endParaRPr lang="en-US" sz="1000" dirty="0"/>
          </a:p>
        </p:txBody>
      </p:sp>
      <p:sp>
        <p:nvSpPr>
          <p:cNvPr id="47" name="Shape 45"/>
          <p:cNvSpPr/>
          <p:nvPr/>
        </p:nvSpPr>
        <p:spPr>
          <a:xfrm>
            <a:off x="8985900" y="4420210"/>
            <a:ext cx="1981810" cy="153619"/>
          </a:xfrm>
          <a:prstGeom prst="roundRect">
            <a:avLst>
              <a:gd name="adj" fmla="val 17857"/>
            </a:avLst>
          </a:prstGeom>
          <a:solidFill>
            <a:srgbClr val="2A6099"/>
          </a:solidFill>
          <a:ln/>
        </p:spPr>
      </p:sp>
      <p:sp>
        <p:nvSpPr>
          <p:cNvPr id="48" name="Shape 46"/>
          <p:cNvSpPr/>
          <p:nvPr/>
        </p:nvSpPr>
        <p:spPr>
          <a:xfrm>
            <a:off x="2743200" y="4630522"/>
            <a:ext cx="8918143" cy="212141"/>
          </a:xfrm>
          <a:prstGeom prst="rect">
            <a:avLst/>
          </a:prstGeom>
          <a:solidFill>
            <a:srgbClr val="F6F8FA"/>
          </a:solidFill>
          <a:ln/>
        </p:spPr>
      </p:sp>
      <p:sp>
        <p:nvSpPr>
          <p:cNvPr id="49" name="Text 47"/>
          <p:cNvSpPr txBox="1"/>
          <p:nvPr/>
        </p:nvSpPr>
        <p:spPr>
          <a:xfrm>
            <a:off x="530352" y="4630522"/>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M8 结项验收与知识转移</a:t>
            </a:r>
            <a:endParaRPr lang="en-US" sz="1000" dirty="0"/>
          </a:p>
        </p:txBody>
      </p:sp>
      <p:sp>
        <p:nvSpPr>
          <p:cNvPr id="50" name="Shape 48"/>
          <p:cNvSpPr/>
          <p:nvPr/>
        </p:nvSpPr>
        <p:spPr>
          <a:xfrm>
            <a:off x="10868619" y="4659782"/>
            <a:ext cx="792724" cy="153619"/>
          </a:xfrm>
          <a:prstGeom prst="roundRect">
            <a:avLst>
              <a:gd name="adj" fmla="val 17857"/>
            </a:avLst>
          </a:prstGeom>
          <a:solidFill>
            <a:srgbClr val="C25E00"/>
          </a:solidFill>
          <a:ln/>
        </p:spPr>
      </p:sp>
      <p:sp>
        <p:nvSpPr>
          <p:cNvPr id="51" name="Shape 49"/>
          <p:cNvSpPr/>
          <p:nvPr/>
        </p:nvSpPr>
        <p:spPr>
          <a:xfrm>
            <a:off x="8681314" y="1737360"/>
            <a:ext cx="14630" cy="3127248"/>
          </a:xfrm>
          <a:prstGeom prst="rect">
            <a:avLst/>
          </a:prstGeom>
          <a:solidFill>
            <a:srgbClr val="C25E00"/>
          </a:solidFill>
          <a:ln/>
        </p:spPr>
      </p:sp>
      <p:sp>
        <p:nvSpPr>
          <p:cNvPr id="52" name="Shape 50"/>
          <p:cNvSpPr/>
          <p:nvPr/>
        </p:nvSpPr>
        <p:spPr>
          <a:xfrm>
            <a:off x="2962747" y="4224528"/>
            <a:ext cx="155448" cy="155448"/>
          </a:xfrm>
          <a:prstGeom prst="diamond">
            <a:avLst/>
          </a:prstGeom>
          <a:solidFill>
            <a:srgbClr val="F97B00"/>
          </a:solidFill>
          <a:ln w="12700">
            <a:solidFill>
              <a:srgbClr val="FFFFFF"/>
            </a:solidFill>
            <a:prstDash val="solid"/>
          </a:ln>
        </p:spPr>
      </p:sp>
      <p:sp>
        <p:nvSpPr>
          <p:cNvPr id="53" name="Text 51"/>
          <p:cNvSpPr txBox="1"/>
          <p:nvPr/>
        </p:nvSpPr>
        <p:spPr>
          <a:xfrm>
            <a:off x="2473543"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启动</a:t>
            </a:r>
            <a:endParaRPr lang="en-US" sz="1000" dirty="0"/>
          </a:p>
        </p:txBody>
      </p:sp>
      <p:sp>
        <p:nvSpPr>
          <p:cNvPr id="54" name="Shape 52"/>
          <p:cNvSpPr/>
          <p:nvPr/>
        </p:nvSpPr>
        <p:spPr>
          <a:xfrm>
            <a:off x="5440009" y="4224528"/>
            <a:ext cx="155448" cy="155448"/>
          </a:xfrm>
          <a:prstGeom prst="diamond">
            <a:avLst/>
          </a:prstGeom>
          <a:solidFill>
            <a:srgbClr val="F97B00"/>
          </a:solidFill>
          <a:ln w="12700">
            <a:solidFill>
              <a:srgbClr val="FFFFFF"/>
            </a:solidFill>
            <a:prstDash val="solid"/>
          </a:ln>
        </p:spPr>
      </p:sp>
      <p:sp>
        <p:nvSpPr>
          <p:cNvPr id="55" name="Text 53"/>
          <p:cNvSpPr txBox="1"/>
          <p:nvPr/>
        </p:nvSpPr>
        <p:spPr>
          <a:xfrm>
            <a:off x="4950805"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蓝图确认</a:t>
            </a:r>
            <a:endParaRPr lang="en-US" sz="1000" dirty="0"/>
          </a:p>
        </p:txBody>
      </p:sp>
      <p:sp>
        <p:nvSpPr>
          <p:cNvPr id="56" name="Shape 54"/>
          <p:cNvSpPr/>
          <p:nvPr/>
        </p:nvSpPr>
        <p:spPr>
          <a:xfrm>
            <a:off x="7917271" y="4224528"/>
            <a:ext cx="155448" cy="155448"/>
          </a:xfrm>
          <a:prstGeom prst="diamond">
            <a:avLst/>
          </a:prstGeom>
          <a:solidFill>
            <a:srgbClr val="F97B00"/>
          </a:solidFill>
          <a:ln w="12700">
            <a:solidFill>
              <a:srgbClr val="FFFFFF"/>
            </a:solidFill>
            <a:prstDash val="solid"/>
          </a:ln>
        </p:spPr>
      </p:sp>
      <p:sp>
        <p:nvSpPr>
          <p:cNvPr id="57" name="Text 55"/>
          <p:cNvSpPr txBox="1"/>
          <p:nvPr/>
        </p:nvSpPr>
        <p:spPr>
          <a:xfrm>
            <a:off x="7428067"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开发完成</a:t>
            </a:r>
            <a:endParaRPr lang="en-US" sz="1000" dirty="0"/>
          </a:p>
        </p:txBody>
      </p:sp>
      <p:sp>
        <p:nvSpPr>
          <p:cNvPr id="58" name="Shape 56"/>
          <p:cNvSpPr/>
          <p:nvPr/>
        </p:nvSpPr>
        <p:spPr>
          <a:xfrm>
            <a:off x="8610905" y="4224528"/>
            <a:ext cx="155448" cy="155448"/>
          </a:xfrm>
          <a:prstGeom prst="diamond">
            <a:avLst/>
          </a:prstGeom>
          <a:solidFill>
            <a:srgbClr val="F97B00"/>
          </a:solidFill>
          <a:ln w="12700">
            <a:solidFill>
              <a:srgbClr val="FFFFFF"/>
            </a:solidFill>
            <a:prstDash val="solid"/>
          </a:ln>
        </p:spPr>
      </p:sp>
      <p:sp>
        <p:nvSpPr>
          <p:cNvPr id="59" name="Text 57"/>
          <p:cNvSpPr txBox="1"/>
          <p:nvPr/>
        </p:nvSpPr>
        <p:spPr>
          <a:xfrm>
            <a:off x="8121701"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上线运行</a:t>
            </a:r>
            <a:endParaRPr lang="en-US" sz="1000" dirty="0"/>
          </a:p>
        </p:txBody>
      </p:sp>
      <p:sp>
        <p:nvSpPr>
          <p:cNvPr id="60" name="Shape 58"/>
          <p:cNvSpPr/>
          <p:nvPr/>
        </p:nvSpPr>
        <p:spPr>
          <a:xfrm>
            <a:off x="11583619" y="4224528"/>
            <a:ext cx="155448" cy="155448"/>
          </a:xfrm>
          <a:prstGeom prst="diamond">
            <a:avLst/>
          </a:prstGeom>
          <a:solidFill>
            <a:srgbClr val="F97B00"/>
          </a:solidFill>
          <a:ln w="12700">
            <a:solidFill>
              <a:srgbClr val="FFFFFF"/>
            </a:solidFill>
            <a:prstDash val="solid"/>
          </a:ln>
        </p:spPr>
      </p:sp>
      <p:sp>
        <p:nvSpPr>
          <p:cNvPr id="61" name="Text 59"/>
          <p:cNvSpPr txBox="1"/>
          <p:nvPr/>
        </p:nvSpPr>
        <p:spPr>
          <a:xfrm>
            <a:off x="11094415"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结项验收</a:t>
            </a:r>
            <a:endParaRPr lang="en-US" sz="1000" dirty="0"/>
          </a:p>
        </p:txBody>
      </p:sp>
      <p:sp>
        <p:nvSpPr>
          <p:cNvPr id="62" name="Shape 60"/>
          <p:cNvSpPr/>
          <p:nvPr/>
        </p:nvSpPr>
        <p:spPr>
          <a:xfrm>
            <a:off x="530352" y="5262372"/>
            <a:ext cx="68580" cy="173736"/>
          </a:xfrm>
          <a:prstGeom prst="rect">
            <a:avLst/>
          </a:prstGeom>
          <a:solidFill>
            <a:srgbClr val="F97B00"/>
          </a:solidFill>
          <a:ln/>
        </p:spPr>
      </p:sp>
      <p:sp>
        <p:nvSpPr>
          <p:cNvPr id="63" name="Text 61"/>
          <p:cNvSpPr txBox="1"/>
          <p:nvPr/>
        </p:nvSpPr>
        <p:spPr>
          <a:xfrm>
            <a:off x="685800" y="521208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两阶段的分工与进度保障</a:t>
            </a:r>
            <a:endParaRPr lang="en-US" sz="1250" dirty="0"/>
          </a:p>
        </p:txBody>
      </p:sp>
      <p:sp>
        <p:nvSpPr>
          <p:cNvPr id="64" name="Shape 62"/>
          <p:cNvSpPr/>
          <p:nvPr/>
        </p:nvSpPr>
        <p:spPr>
          <a:xfrm>
            <a:off x="530352" y="5522976"/>
            <a:ext cx="3639312" cy="621792"/>
          </a:xfrm>
          <a:prstGeom prst="roundRect">
            <a:avLst>
              <a:gd name="adj" fmla="val 5147"/>
            </a:avLst>
          </a:prstGeom>
          <a:solidFill>
            <a:srgbClr val="FDEEDD"/>
          </a:solidFill>
          <a:ln w="9525">
            <a:solidFill>
              <a:srgbClr val="F3CDA5"/>
            </a:solidFill>
            <a:prstDash val="solid"/>
          </a:ln>
        </p:spPr>
      </p:sp>
      <p:sp>
        <p:nvSpPr>
          <p:cNvPr id="65" name="Text 63"/>
          <p:cNvSpPr txBox="1"/>
          <p:nvPr/>
        </p:nvSpPr>
        <p:spPr>
          <a:xfrm>
            <a:off x="694944"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阶段一 开发部署</a:t>
            </a:r>
            <a:endParaRPr lang="en-US" sz="1000" dirty="0"/>
          </a:p>
        </p:txBody>
      </p:sp>
      <p:sp>
        <p:nvSpPr>
          <p:cNvPr id="66" name="Text 64"/>
          <p:cNvSpPr txBox="1"/>
          <p:nvPr/>
        </p:nvSpPr>
        <p:spPr>
          <a:xfrm>
            <a:off x="694944"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6 个月完成需求、设计、开发、集成、硬件与测试；物流消防先行、安防宿舍外协跟进，避免一次性上线风险</a:t>
            </a:r>
            <a:endParaRPr lang="en-US" sz="1000" dirty="0"/>
          </a:p>
        </p:txBody>
      </p:sp>
      <p:sp>
        <p:nvSpPr>
          <p:cNvPr id="67" name="Shape 65"/>
          <p:cNvSpPr/>
          <p:nvPr/>
        </p:nvSpPr>
        <p:spPr>
          <a:xfrm>
            <a:off x="4352544" y="5522976"/>
            <a:ext cx="3639312" cy="621792"/>
          </a:xfrm>
          <a:prstGeom prst="roundRect">
            <a:avLst>
              <a:gd name="adj" fmla="val 5147"/>
            </a:avLst>
          </a:prstGeom>
          <a:solidFill>
            <a:srgbClr val="FDEEDD"/>
          </a:solidFill>
          <a:ln w="9525">
            <a:solidFill>
              <a:srgbClr val="F3CDA5"/>
            </a:solidFill>
            <a:prstDash val="solid"/>
          </a:ln>
        </p:spPr>
      </p:sp>
      <p:sp>
        <p:nvSpPr>
          <p:cNvPr id="68" name="Text 66"/>
          <p:cNvSpPr txBox="1"/>
          <p:nvPr/>
        </p:nvSpPr>
        <p:spPr>
          <a:xfrm>
            <a:off x="4517136"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阶段二 试运行陪跑</a:t>
            </a:r>
            <a:endParaRPr lang="en-US" sz="1000" dirty="0"/>
          </a:p>
        </p:txBody>
      </p:sp>
      <p:sp>
        <p:nvSpPr>
          <p:cNvPr id="69" name="Text 67"/>
          <p:cNvSpPr txBox="1"/>
          <p:nvPr/>
        </p:nvSpPr>
        <p:spPr>
          <a:xfrm>
            <a:off x="4517136"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3 个月不做新功能，只做用起来：现场值守、数据校准、阈值与联动策略迭代、按月输出运营分析</a:t>
            </a:r>
            <a:endParaRPr lang="en-US" sz="1000" dirty="0"/>
          </a:p>
        </p:txBody>
      </p:sp>
      <p:sp>
        <p:nvSpPr>
          <p:cNvPr id="70" name="Shape 68"/>
          <p:cNvSpPr/>
          <p:nvPr/>
        </p:nvSpPr>
        <p:spPr>
          <a:xfrm>
            <a:off x="8174736" y="5522976"/>
            <a:ext cx="3639312" cy="621792"/>
          </a:xfrm>
          <a:prstGeom prst="roundRect">
            <a:avLst>
              <a:gd name="adj" fmla="val 5147"/>
            </a:avLst>
          </a:prstGeom>
          <a:solidFill>
            <a:srgbClr val="FDEEDD"/>
          </a:solidFill>
          <a:ln w="9525">
            <a:solidFill>
              <a:srgbClr val="F3CDA5"/>
            </a:solidFill>
            <a:prstDash val="solid"/>
          </a:ln>
        </p:spPr>
      </p:sp>
      <p:sp>
        <p:nvSpPr>
          <p:cNvPr id="71" name="Text 69"/>
          <p:cNvSpPr txBox="1"/>
          <p:nvPr/>
        </p:nvSpPr>
        <p:spPr>
          <a:xfrm>
            <a:off x="8339328"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进度控制机制</a:t>
            </a:r>
            <a:endParaRPr lang="en-US" sz="1000" dirty="0"/>
          </a:p>
        </p:txBody>
      </p:sp>
      <p:sp>
        <p:nvSpPr>
          <p:cNvPr id="72" name="Text 70"/>
          <p:cNvSpPr txBox="1"/>
          <p:nvPr/>
        </p:nvSpPr>
        <p:spPr>
          <a:xfrm>
            <a:off x="8339328"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双周里程碑复盘，周报 + 问题风险跟踪表滚动更新，偏差 3 天内启动纠偏；关键路径任务并行前置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项目组织与团队配置：核心成员全程驻场，资质逐条满足</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项目经理与实施负责人全程现场，不允许远程参与</a:t>
            </a:r>
            <a:endParaRPr lang="en-US" sz="1250" dirty="0"/>
          </a:p>
        </p:txBody>
      </p:sp>
      <p:sp>
        <p:nvSpPr>
          <p:cNvPr id="5" name="Shape 3"/>
          <p:cNvSpPr/>
          <p:nvPr/>
        </p:nvSpPr>
        <p:spPr>
          <a:xfrm>
            <a:off x="3822192" y="1207008"/>
            <a:ext cx="4480560" cy="512064"/>
          </a:xfrm>
          <a:prstGeom prst="roundRect">
            <a:avLst>
              <a:gd name="adj" fmla="val 6250"/>
            </a:avLst>
          </a:prstGeom>
          <a:solidFill>
            <a:srgbClr val="0E2340"/>
          </a:solidFill>
          <a:ln/>
        </p:spPr>
      </p:sp>
      <p:sp>
        <p:nvSpPr>
          <p:cNvPr id="6" name="Text 4"/>
          <p:cNvSpPr txBox="1"/>
          <p:nvPr/>
        </p:nvSpPr>
        <p:spPr>
          <a:xfrm>
            <a:off x="3822192" y="1207008"/>
            <a:ext cx="44805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项目指导委员会（阳光电源 + 联想双方高管）</a:t>
            </a:r>
            <a:endParaRPr lang="en-US" sz="1100" dirty="0"/>
          </a:p>
        </p:txBody>
      </p:sp>
      <p:sp>
        <p:nvSpPr>
          <p:cNvPr id="7" name="Shape 5"/>
          <p:cNvSpPr/>
          <p:nvPr/>
        </p:nvSpPr>
        <p:spPr>
          <a:xfrm>
            <a:off x="3822192" y="1865376"/>
            <a:ext cx="4480560" cy="475488"/>
          </a:xfrm>
          <a:prstGeom prst="roundRect">
            <a:avLst>
              <a:gd name="adj" fmla="val 6731"/>
            </a:avLst>
          </a:prstGeom>
          <a:solidFill>
            <a:srgbClr val="F97B00"/>
          </a:solidFill>
          <a:ln/>
        </p:spPr>
      </p:sp>
      <p:sp>
        <p:nvSpPr>
          <p:cNvPr id="8" name="Text 6"/>
          <p:cNvSpPr txBox="1"/>
          <p:nvPr/>
        </p:nvSpPr>
        <p:spPr>
          <a:xfrm>
            <a:off x="3822192" y="1865376"/>
            <a:ext cx="448056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项目管理办公室 PMO ｜ 双项目经理（业务 PM + IT PM）</a:t>
            </a:r>
            <a:endParaRPr lang="en-US" sz="1050" dirty="0"/>
          </a:p>
        </p:txBody>
      </p:sp>
      <p:sp>
        <p:nvSpPr>
          <p:cNvPr id="9" name="Shape 7"/>
          <p:cNvSpPr/>
          <p:nvPr/>
        </p:nvSpPr>
        <p:spPr>
          <a:xfrm>
            <a:off x="530352"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Text 8"/>
          <p:cNvSpPr txBox="1"/>
          <p:nvPr/>
        </p:nvSpPr>
        <p:spPr>
          <a:xfrm>
            <a:off x="621792"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业务顾问组</a:t>
            </a:r>
            <a:endParaRPr lang="en-US" sz="1100" dirty="0"/>
          </a:p>
        </p:txBody>
      </p:sp>
      <p:sp>
        <p:nvSpPr>
          <p:cNvPr id="11" name="Text 9"/>
          <p:cNvSpPr txBox="1"/>
          <p:nvPr/>
        </p:nvSpPr>
        <p:spPr>
          <a:xfrm>
            <a:off x="621792"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5 人</a:t>
            </a:r>
            <a:endParaRPr lang="en-US" sz="1400" dirty="0"/>
          </a:p>
        </p:txBody>
      </p:sp>
      <p:sp>
        <p:nvSpPr>
          <p:cNvPr id="12" name="Text 10"/>
          <p:cNvSpPr txBox="1"/>
          <p:nvPr/>
        </p:nvSpPr>
        <p:spPr>
          <a:xfrm>
            <a:off x="640080"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物流/消防/安防/宿舍/外协领域顾问</a:t>
            </a:r>
            <a:endParaRPr lang="en-US" sz="1000" dirty="0"/>
          </a:p>
        </p:txBody>
      </p:sp>
      <p:sp>
        <p:nvSpPr>
          <p:cNvPr id="13" name="Shape 11"/>
          <p:cNvSpPr/>
          <p:nvPr/>
        </p:nvSpPr>
        <p:spPr>
          <a:xfrm>
            <a:off x="2412949"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2"/>
          <p:cNvSpPr txBox="1"/>
          <p:nvPr/>
        </p:nvSpPr>
        <p:spPr>
          <a:xfrm>
            <a:off x="2504389"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架构与设计组</a:t>
            </a:r>
            <a:endParaRPr lang="en-US" sz="1100" dirty="0"/>
          </a:p>
        </p:txBody>
      </p:sp>
      <p:sp>
        <p:nvSpPr>
          <p:cNvPr id="15" name="Text 13"/>
          <p:cNvSpPr txBox="1"/>
          <p:nvPr/>
        </p:nvSpPr>
        <p:spPr>
          <a:xfrm>
            <a:off x="2504389"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16" name="Text 14"/>
          <p:cNvSpPr txBox="1"/>
          <p:nvPr/>
        </p:nvSpPr>
        <p:spPr>
          <a:xfrm>
            <a:off x="2522677"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架构师、数据架构师、安全设计</a:t>
            </a:r>
            <a:endParaRPr lang="en-US" sz="1000" dirty="0"/>
          </a:p>
        </p:txBody>
      </p:sp>
      <p:sp>
        <p:nvSpPr>
          <p:cNvPr id="17" name="Shape 15"/>
          <p:cNvSpPr/>
          <p:nvPr/>
        </p:nvSpPr>
        <p:spPr>
          <a:xfrm>
            <a:off x="4295546"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4386986"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开发组</a:t>
            </a:r>
            <a:endParaRPr lang="en-US" sz="1100" dirty="0"/>
          </a:p>
        </p:txBody>
      </p:sp>
      <p:sp>
        <p:nvSpPr>
          <p:cNvPr id="19" name="Text 17"/>
          <p:cNvSpPr txBox="1"/>
          <p:nvPr/>
        </p:nvSpPr>
        <p:spPr>
          <a:xfrm>
            <a:off x="4386986"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10 人</a:t>
            </a:r>
            <a:endParaRPr lang="en-US" sz="1400" dirty="0"/>
          </a:p>
        </p:txBody>
      </p:sp>
      <p:sp>
        <p:nvSpPr>
          <p:cNvPr id="20" name="Text 18"/>
          <p:cNvSpPr txBox="1"/>
          <p:nvPr/>
        </p:nvSpPr>
        <p:spPr>
          <a:xfrm>
            <a:off x="4405274"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前端 3 + 后端 5 + 集成 2</a:t>
            </a:r>
            <a:endParaRPr lang="en-US" sz="1000" dirty="0"/>
          </a:p>
        </p:txBody>
      </p:sp>
      <p:sp>
        <p:nvSpPr>
          <p:cNvPr id="21" name="Shape 19"/>
          <p:cNvSpPr/>
          <p:nvPr/>
        </p:nvSpPr>
        <p:spPr>
          <a:xfrm>
            <a:off x="6178144"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Text 20"/>
          <p:cNvSpPr txBox="1"/>
          <p:nvPr/>
        </p:nvSpPr>
        <p:spPr>
          <a:xfrm>
            <a:off x="6269584"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硬件与物联组</a:t>
            </a:r>
            <a:endParaRPr lang="en-US" sz="1100" dirty="0"/>
          </a:p>
        </p:txBody>
      </p:sp>
      <p:sp>
        <p:nvSpPr>
          <p:cNvPr id="23" name="Text 21"/>
          <p:cNvSpPr txBox="1"/>
          <p:nvPr/>
        </p:nvSpPr>
        <p:spPr>
          <a:xfrm>
            <a:off x="6269584"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4 人</a:t>
            </a:r>
            <a:endParaRPr lang="en-US" sz="1400" dirty="0"/>
          </a:p>
        </p:txBody>
      </p:sp>
      <p:sp>
        <p:nvSpPr>
          <p:cNvPr id="24" name="Text 22"/>
          <p:cNvSpPr txBox="1"/>
          <p:nvPr/>
        </p:nvSpPr>
        <p:spPr>
          <a:xfrm>
            <a:off x="6287872"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弱电设计、施工协调、设备调试</a:t>
            </a:r>
            <a:endParaRPr lang="en-US" sz="1000" dirty="0"/>
          </a:p>
        </p:txBody>
      </p:sp>
      <p:sp>
        <p:nvSpPr>
          <p:cNvPr id="25" name="Shape 23"/>
          <p:cNvSpPr/>
          <p:nvPr/>
        </p:nvSpPr>
        <p:spPr>
          <a:xfrm>
            <a:off x="8060741"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8152181"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测试组</a:t>
            </a:r>
            <a:endParaRPr lang="en-US" sz="1100" dirty="0"/>
          </a:p>
        </p:txBody>
      </p:sp>
      <p:sp>
        <p:nvSpPr>
          <p:cNvPr id="27" name="Text 25"/>
          <p:cNvSpPr txBox="1"/>
          <p:nvPr/>
        </p:nvSpPr>
        <p:spPr>
          <a:xfrm>
            <a:off x="8152181"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28" name="Text 26"/>
          <p:cNvSpPr txBox="1"/>
          <p:nvPr/>
        </p:nvSpPr>
        <p:spPr>
          <a:xfrm>
            <a:off x="8170469"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SIT/UAT、性能、安全测试</a:t>
            </a:r>
            <a:endParaRPr lang="en-US" sz="1000" dirty="0"/>
          </a:p>
        </p:txBody>
      </p:sp>
      <p:sp>
        <p:nvSpPr>
          <p:cNvPr id="29" name="Shape 27"/>
          <p:cNvSpPr/>
          <p:nvPr/>
        </p:nvSpPr>
        <p:spPr>
          <a:xfrm>
            <a:off x="9943338"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Text 28"/>
          <p:cNvSpPr txBox="1"/>
          <p:nvPr/>
        </p:nvSpPr>
        <p:spPr>
          <a:xfrm>
            <a:off x="10034778"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交付与培训组</a:t>
            </a:r>
            <a:endParaRPr lang="en-US" sz="1100" dirty="0"/>
          </a:p>
        </p:txBody>
      </p:sp>
      <p:sp>
        <p:nvSpPr>
          <p:cNvPr id="31" name="Text 29"/>
          <p:cNvSpPr txBox="1"/>
          <p:nvPr/>
        </p:nvSpPr>
        <p:spPr>
          <a:xfrm>
            <a:off x="10034778"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2 人</a:t>
            </a:r>
            <a:endParaRPr lang="en-US" sz="1400" dirty="0"/>
          </a:p>
        </p:txBody>
      </p:sp>
      <p:sp>
        <p:nvSpPr>
          <p:cNvPr id="32" name="Text 30"/>
          <p:cNvSpPr txBox="1"/>
          <p:nvPr/>
        </p:nvSpPr>
        <p:spPr>
          <a:xfrm>
            <a:off x="10053066"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文档、培训、知识转移</a:t>
            </a:r>
            <a:endParaRPr lang="en-US" sz="1000" dirty="0"/>
          </a:p>
        </p:txBody>
      </p:sp>
      <p:sp>
        <p:nvSpPr>
          <p:cNvPr id="33" name="Shape 31"/>
          <p:cNvSpPr/>
          <p:nvPr/>
        </p:nvSpPr>
        <p:spPr>
          <a:xfrm>
            <a:off x="530352" y="3579876"/>
            <a:ext cx="68580" cy="173736"/>
          </a:xfrm>
          <a:prstGeom prst="rect">
            <a:avLst/>
          </a:prstGeom>
          <a:solidFill>
            <a:srgbClr val="F97B00"/>
          </a:solidFill>
          <a:ln/>
        </p:spPr>
      </p:sp>
      <p:sp>
        <p:nvSpPr>
          <p:cNvPr id="34" name="Text 32"/>
          <p:cNvSpPr txBox="1"/>
          <p:nvPr/>
        </p:nvSpPr>
        <p:spPr>
          <a:xfrm>
            <a:off x="685800" y="35295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关键岗位资质响应</a:t>
            </a:r>
            <a:endParaRPr lang="en-US" sz="12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30352" y="3822192"/>
          <a:ext cx="11130991" cy="914400"/>
        </p:xfrm>
        <a:graphic>
          <a:graphicData uri="http://schemas.openxmlformats.org/drawingml/2006/table">
            <a:tbl>
              <a:tblPr/>
              <a:tblGrid>
                <a:gridCol w="1005840"/>
                <a:gridCol w="4206240"/>
                <a:gridCol w="5918911"/>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岗位</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招标要求</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本项目人员配置与响应</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项目管理认证 + 10 年以上项目管理经验；≥5 个智慧园区项目经理经历；≥2 个新能源或大型装备制造头部企业项目经验；全程驻场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伍玉斌：20 年 IT 及智能化、智慧园区项目管理经验，含 15 年团队管理；一级建造师（机电）、全过程工程项目管理师、一级智能建造师；多次获省市级智能建筑优质工程奖；全程驻场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10 年以上新能源或大型装备制造项目实施经验；≥5 个智慧园区项目；全程现场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配置具备联想合肥、武汉、天津制造基地园区实施经验的资深负责人，社保主体与投标主体一致，全程现场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业务顾问</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≥5 年新能源或大型装备制造行业智慧园区实施经验；熟悉业务特性与制造流程；参与过 ≥2 个同行业项目</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五大子系统各配 1 名领域顾问，均具备制造业园区落地经验；各子系统方案由对应顾问主讲</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开发组长</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本科以上学历；≥7 年开发从业经验；智慧园区项目开发 ≥5 年；按阶段驻场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开发组长与核心开发人员均满足学历与年限要求，在开发、测试、部署、上线、培训、运维阶段在场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36" name="Text 33"/>
          <p:cNvSpPr txBox="1"/>
          <p:nvPr/>
        </p:nvSpPr>
        <p:spPr>
          <a:xfrm>
            <a:off x="530352" y="5961888"/>
            <a:ext cx="11130991" cy="219456"/>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团队人员变更提前一个月协商并按变更程序执行，不影响质量与进度；所有成员接受甲方面试与资质审核。</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实施能力与企业资质：七项客观指标逐条响应</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满足一项加 1 分，共 7 分——以下为联想（北京）有限公司的资质与人员配置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企业资质与认证</a:t>
            </a:r>
            <a:endParaRPr lang="en-US" sz="1250" dirty="0"/>
          </a:p>
        </p:txBody>
      </p:sp>
      <p:sp>
        <p:nvSpPr>
          <p:cNvPr id="7" name="Shape 5"/>
          <p:cNvSpPr/>
          <p:nvPr/>
        </p:nvSpPr>
        <p:spPr>
          <a:xfrm>
            <a:off x="530352" y="1517904"/>
            <a:ext cx="5577840" cy="420624"/>
          </a:xfrm>
          <a:prstGeom prst="roundRect">
            <a:avLst>
              <a:gd name="adj" fmla="val 7609"/>
            </a:avLst>
          </a:prstGeom>
          <a:solidFill>
            <a:srgbClr val="F6F8FA"/>
          </a:solidFill>
          <a:ln w="9525">
            <a:solidFill>
              <a:srgbClr val="E3E7EB"/>
            </a:solidFill>
            <a:prstDash val="solid"/>
          </a:ln>
        </p:spPr>
      </p:sp>
      <p:sp>
        <p:nvSpPr>
          <p:cNvPr id="8" name="Shape 6"/>
          <p:cNvSpPr/>
          <p:nvPr/>
        </p:nvSpPr>
        <p:spPr>
          <a:xfrm>
            <a:off x="694944" y="1609344"/>
            <a:ext cx="256032" cy="256032"/>
          </a:xfrm>
          <a:prstGeom prst="ellipse">
            <a:avLst/>
          </a:prstGeom>
          <a:solidFill>
            <a:srgbClr val="F97B00"/>
          </a:solidFill>
          <a:ln/>
        </p:spPr>
      </p:sp>
      <p:sp>
        <p:nvSpPr>
          <p:cNvPr id="9" name="Text 7"/>
          <p:cNvSpPr txBox="1"/>
          <p:nvPr/>
        </p:nvSpPr>
        <p:spPr>
          <a:xfrm>
            <a:off x="694944" y="16093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60704" y="1517904"/>
            <a:ext cx="3840480" cy="42062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信息系统建设和服务能力 CS3 级及以上</a:t>
            </a:r>
            <a:endParaRPr lang="en-US" sz="1100" dirty="0"/>
          </a:p>
        </p:txBody>
      </p:sp>
      <p:sp>
        <p:nvSpPr>
          <p:cNvPr id="11" name="Text 9"/>
          <p:cNvSpPr txBox="1"/>
          <p:nvPr/>
        </p:nvSpPr>
        <p:spPr>
          <a:xfrm>
            <a:off x="4937760" y="1517904"/>
            <a:ext cx="1005840" cy="420624"/>
          </a:xfrm>
          <a:prstGeom prst="rect">
            <a:avLst/>
          </a:prstGeom>
          <a:noFill/>
          <a:ln/>
        </p:spPr>
        <p:txBody>
          <a:bodyPr wrap="square" lIns="0" tIns="0" rIns="0" bIns="0" rtlCol="0" anchor="ctr"/>
          <a:lstStyle/>
          <a:p>
            <a:pPr algn="ctr" indent="0" marL="0">
              <a:buNone/>
            </a:pPr>
            <a:r>
              <a:rPr lang="en-US" sz="1000" b="1" dirty="0">
                <a:solidFill>
                  <a:srgbClr val="8A949E"/>
                </a:solidFill>
                <a:latin typeface="Calibri" pitchFamily="34" charset="0"/>
                <a:ea typeface="Calibri" pitchFamily="34" charset="-122"/>
                <a:cs typeface="Calibri" pitchFamily="34" charset="-120"/>
              </a:rPr>
              <a:t>待确认</a:t>
            </a:r>
            <a:endParaRPr lang="en-US" sz="1000" dirty="0"/>
          </a:p>
        </p:txBody>
      </p:sp>
      <p:sp>
        <p:nvSpPr>
          <p:cNvPr id="12" name="Shape 10"/>
          <p:cNvSpPr/>
          <p:nvPr/>
        </p:nvSpPr>
        <p:spPr>
          <a:xfrm>
            <a:off x="530352" y="2011680"/>
            <a:ext cx="5577840" cy="420624"/>
          </a:xfrm>
          <a:prstGeom prst="roundRect">
            <a:avLst>
              <a:gd name="adj" fmla="val 7609"/>
            </a:avLst>
          </a:prstGeom>
          <a:solidFill>
            <a:srgbClr val="FFFFFF"/>
          </a:solidFill>
          <a:ln w="9525">
            <a:solidFill>
              <a:srgbClr val="E3E7EB"/>
            </a:solidFill>
            <a:prstDash val="solid"/>
          </a:ln>
        </p:spPr>
      </p:sp>
      <p:sp>
        <p:nvSpPr>
          <p:cNvPr id="13" name="Shape 11"/>
          <p:cNvSpPr/>
          <p:nvPr/>
        </p:nvSpPr>
        <p:spPr>
          <a:xfrm>
            <a:off x="694944" y="2103120"/>
            <a:ext cx="256032" cy="256032"/>
          </a:xfrm>
          <a:prstGeom prst="ellipse">
            <a:avLst/>
          </a:prstGeom>
          <a:solidFill>
            <a:srgbClr val="F97B00"/>
          </a:solidFill>
          <a:ln/>
        </p:spPr>
      </p:sp>
      <p:sp>
        <p:nvSpPr>
          <p:cNvPr id="14" name="Text 12"/>
          <p:cNvSpPr txBox="1"/>
          <p:nvPr/>
        </p:nvSpPr>
        <p:spPr>
          <a:xfrm>
            <a:off x="694944" y="210312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60704" y="2011680"/>
            <a:ext cx="3840480" cy="42062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CMMI3 级及以上认证</a:t>
            </a:r>
            <a:endParaRPr lang="en-US" sz="1100" dirty="0"/>
          </a:p>
        </p:txBody>
      </p:sp>
      <p:sp>
        <p:nvSpPr>
          <p:cNvPr id="16" name="Text 14"/>
          <p:cNvSpPr txBox="1"/>
          <p:nvPr/>
        </p:nvSpPr>
        <p:spPr>
          <a:xfrm>
            <a:off x="4937760" y="2011680"/>
            <a:ext cx="1005840" cy="420624"/>
          </a:xfrm>
          <a:prstGeom prst="rect">
            <a:avLst/>
          </a:prstGeom>
          <a:noFill/>
          <a:ln/>
        </p:spPr>
        <p:txBody>
          <a:bodyPr wrap="square" lIns="0" tIns="0" rIns="0" bIns="0" rtlCol="0" anchor="ctr"/>
          <a:lstStyle/>
          <a:p>
            <a:pPr algn="ctr" indent="0" marL="0">
              <a:buNone/>
            </a:pPr>
            <a:r>
              <a:rPr lang="en-US" sz="1000" b="1" dirty="0">
                <a:solidFill>
                  <a:srgbClr val="8A949E"/>
                </a:solidFill>
                <a:latin typeface="Calibri" pitchFamily="34" charset="0"/>
                <a:ea typeface="Calibri" pitchFamily="34" charset="-122"/>
                <a:cs typeface="Calibri" pitchFamily="34" charset="-120"/>
              </a:rPr>
              <a:t>待确认</a:t>
            </a:r>
            <a:endParaRPr lang="en-US" sz="1000" dirty="0"/>
          </a:p>
        </p:txBody>
      </p:sp>
      <p:sp>
        <p:nvSpPr>
          <p:cNvPr id="17" name="Shape 15"/>
          <p:cNvSpPr/>
          <p:nvPr/>
        </p:nvSpPr>
        <p:spPr>
          <a:xfrm>
            <a:off x="530352" y="2505456"/>
            <a:ext cx="5577840" cy="420624"/>
          </a:xfrm>
          <a:prstGeom prst="roundRect">
            <a:avLst>
              <a:gd name="adj" fmla="val 7609"/>
            </a:avLst>
          </a:prstGeom>
          <a:solidFill>
            <a:srgbClr val="F6F8FA"/>
          </a:solidFill>
          <a:ln w="9525">
            <a:solidFill>
              <a:srgbClr val="E3E7EB"/>
            </a:solidFill>
            <a:prstDash val="solid"/>
          </a:ln>
        </p:spPr>
      </p:sp>
      <p:sp>
        <p:nvSpPr>
          <p:cNvPr id="18" name="Shape 16"/>
          <p:cNvSpPr/>
          <p:nvPr/>
        </p:nvSpPr>
        <p:spPr>
          <a:xfrm>
            <a:off x="694944" y="2596896"/>
            <a:ext cx="256032" cy="256032"/>
          </a:xfrm>
          <a:prstGeom prst="ellipse">
            <a:avLst/>
          </a:prstGeom>
          <a:solidFill>
            <a:srgbClr val="F97B00"/>
          </a:solidFill>
          <a:ln/>
        </p:spPr>
      </p:sp>
      <p:sp>
        <p:nvSpPr>
          <p:cNvPr id="19" name="Text 17"/>
          <p:cNvSpPr txBox="1"/>
          <p:nvPr/>
        </p:nvSpPr>
        <p:spPr>
          <a:xfrm>
            <a:off x="694944" y="259689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60704" y="2505456"/>
            <a:ext cx="3840480" cy="420624"/>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同时具备 ISO9001 + ISO27001 + ISO20000</a:t>
            </a:r>
            <a:endParaRPr lang="en-US" sz="1100" dirty="0"/>
          </a:p>
        </p:txBody>
      </p:sp>
      <p:sp>
        <p:nvSpPr>
          <p:cNvPr id="21" name="Text 19"/>
          <p:cNvSpPr txBox="1"/>
          <p:nvPr/>
        </p:nvSpPr>
        <p:spPr>
          <a:xfrm>
            <a:off x="4937760" y="2505456"/>
            <a:ext cx="1005840" cy="420624"/>
          </a:xfrm>
          <a:prstGeom prst="rect">
            <a:avLst/>
          </a:prstGeom>
          <a:noFill/>
          <a:ln/>
        </p:spPr>
        <p:txBody>
          <a:bodyPr wrap="square" lIns="0" tIns="0" rIns="0" bIns="0" rtlCol="0" anchor="ctr"/>
          <a:lstStyle/>
          <a:p>
            <a:pPr algn="ctr" indent="0" marL="0">
              <a:buNone/>
            </a:pPr>
            <a:r>
              <a:rPr lang="en-US" sz="1000" b="1" dirty="0">
                <a:solidFill>
                  <a:srgbClr val="8A949E"/>
                </a:solidFill>
                <a:latin typeface="Calibri" pitchFamily="34" charset="0"/>
                <a:ea typeface="Calibri" pitchFamily="34" charset="-122"/>
                <a:cs typeface="Calibri" pitchFamily="34" charset="-120"/>
              </a:rPr>
              <a:t>待确认</a:t>
            </a:r>
            <a:endParaRPr lang="en-US" sz="1000" dirty="0"/>
          </a:p>
        </p:txBody>
      </p:sp>
      <p:sp>
        <p:nvSpPr>
          <p:cNvPr id="22" name="Shape 20"/>
          <p:cNvSpPr/>
          <p:nvPr/>
        </p:nvSpPr>
        <p:spPr>
          <a:xfrm>
            <a:off x="530352" y="2848356"/>
            <a:ext cx="68580" cy="173736"/>
          </a:xfrm>
          <a:prstGeom prst="rect">
            <a:avLst/>
          </a:prstGeom>
          <a:solidFill>
            <a:srgbClr val="F97B00"/>
          </a:solidFill>
          <a:ln/>
        </p:spPr>
      </p:sp>
      <p:sp>
        <p:nvSpPr>
          <p:cNvPr id="23" name="Text 21"/>
          <p:cNvSpPr txBox="1"/>
          <p:nvPr/>
        </p:nvSpPr>
        <p:spPr>
          <a:xfrm>
            <a:off x="685800" y="279806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项目负责人资质</a:t>
            </a:r>
            <a:endParaRPr lang="en-US" sz="1250" dirty="0"/>
          </a:p>
        </p:txBody>
      </p:sp>
      <p:sp>
        <p:nvSpPr>
          <p:cNvPr id="24" name="Shape 22"/>
          <p:cNvSpPr/>
          <p:nvPr/>
        </p:nvSpPr>
        <p:spPr>
          <a:xfrm>
            <a:off x="530352" y="3108960"/>
            <a:ext cx="11130991" cy="548640"/>
          </a:xfrm>
          <a:prstGeom prst="roundRect">
            <a:avLst>
              <a:gd name="adj" fmla="val 5833"/>
            </a:avLst>
          </a:prstGeom>
          <a:solidFill>
            <a:srgbClr val="FFF7EF"/>
          </a:solidFill>
          <a:ln w="9525">
            <a:solidFill>
              <a:srgbClr val="EEDFD0"/>
            </a:solidFill>
            <a:prstDash val="solid"/>
          </a:ln>
        </p:spPr>
      </p:sp>
      <p:sp>
        <p:nvSpPr>
          <p:cNvPr id="25" name="Shape 23"/>
          <p:cNvSpPr/>
          <p:nvPr/>
        </p:nvSpPr>
        <p:spPr>
          <a:xfrm>
            <a:off x="694944" y="3264408"/>
            <a:ext cx="256032" cy="256032"/>
          </a:xfrm>
          <a:prstGeom prst="ellipse">
            <a:avLst/>
          </a:prstGeom>
          <a:solidFill>
            <a:srgbClr val="F97B00"/>
          </a:solidFill>
          <a:ln/>
        </p:spPr>
      </p:sp>
      <p:sp>
        <p:nvSpPr>
          <p:cNvPr id="26" name="Text 24"/>
          <p:cNvSpPr txBox="1"/>
          <p:nvPr/>
        </p:nvSpPr>
        <p:spPr>
          <a:xfrm>
            <a:off x="694944" y="32644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1060704" y="3108960"/>
            <a:ext cx="4754880" cy="548640"/>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8 年及以上制造业智慧园区项目管理经验</a:t>
            </a:r>
            <a:endParaRPr lang="en-US" sz="1000" dirty="0"/>
          </a:p>
        </p:txBody>
      </p:sp>
      <p:sp>
        <p:nvSpPr>
          <p:cNvPr id="28" name="Text 26"/>
          <p:cNvSpPr txBox="1"/>
          <p:nvPr/>
        </p:nvSpPr>
        <p:spPr>
          <a:xfrm>
            <a:off x="5888736" y="3108960"/>
            <a:ext cx="5589727" cy="54864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伍玉斌：20 年 IT 及智能化经验，其中智慧园区项目管理超 10 年</a:t>
            </a:r>
            <a:endParaRPr lang="en-US" sz="1000" dirty="0"/>
          </a:p>
        </p:txBody>
      </p:sp>
      <p:sp>
        <p:nvSpPr>
          <p:cNvPr id="29" name="Shape 27"/>
          <p:cNvSpPr/>
          <p:nvPr/>
        </p:nvSpPr>
        <p:spPr>
          <a:xfrm>
            <a:off x="530352" y="3730752"/>
            <a:ext cx="11130991" cy="548640"/>
          </a:xfrm>
          <a:prstGeom prst="roundRect">
            <a:avLst>
              <a:gd name="adj" fmla="val 5833"/>
            </a:avLst>
          </a:prstGeom>
          <a:solidFill>
            <a:srgbClr val="FFFFFF"/>
          </a:solidFill>
          <a:ln w="9525">
            <a:solidFill>
              <a:srgbClr val="EEDFD0"/>
            </a:solidFill>
            <a:prstDash val="solid"/>
          </a:ln>
        </p:spPr>
      </p:sp>
      <p:sp>
        <p:nvSpPr>
          <p:cNvPr id="30" name="Shape 28"/>
          <p:cNvSpPr/>
          <p:nvPr/>
        </p:nvSpPr>
        <p:spPr>
          <a:xfrm>
            <a:off x="694944" y="3886200"/>
            <a:ext cx="256032" cy="256032"/>
          </a:xfrm>
          <a:prstGeom prst="ellipse">
            <a:avLst/>
          </a:prstGeom>
          <a:solidFill>
            <a:srgbClr val="F97B00"/>
          </a:solidFill>
          <a:ln/>
        </p:spPr>
      </p:sp>
      <p:sp>
        <p:nvSpPr>
          <p:cNvPr id="31" name="Text 29"/>
          <p:cNvSpPr txBox="1"/>
          <p:nvPr/>
        </p:nvSpPr>
        <p:spPr>
          <a:xfrm>
            <a:off x="694944" y="38862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1060704" y="3730752"/>
            <a:ext cx="4754880" cy="548640"/>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PMP 或信息系统项目管理师 + 机电二级及以上建造师 + 安全 B 证</a:t>
            </a:r>
            <a:endParaRPr lang="en-US" sz="1000" dirty="0"/>
          </a:p>
        </p:txBody>
      </p:sp>
      <p:sp>
        <p:nvSpPr>
          <p:cNvPr id="33" name="Text 31"/>
          <p:cNvSpPr txBox="1"/>
          <p:nvPr/>
        </p:nvSpPr>
        <p:spPr>
          <a:xfrm>
            <a:off x="5888736" y="3730752"/>
            <a:ext cx="5589727" cy="54864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一级建造师（机电），其余证书待确认</a:t>
            </a:r>
            <a:endParaRPr lang="en-US" sz="1000" dirty="0"/>
          </a:p>
        </p:txBody>
      </p:sp>
      <p:sp>
        <p:nvSpPr>
          <p:cNvPr id="34" name="Shape 32"/>
          <p:cNvSpPr/>
          <p:nvPr/>
        </p:nvSpPr>
        <p:spPr>
          <a:xfrm>
            <a:off x="530352" y="4352544"/>
            <a:ext cx="11130991" cy="548640"/>
          </a:xfrm>
          <a:prstGeom prst="roundRect">
            <a:avLst>
              <a:gd name="adj" fmla="val 5833"/>
            </a:avLst>
          </a:prstGeom>
          <a:solidFill>
            <a:srgbClr val="FFF7EF"/>
          </a:solidFill>
          <a:ln w="9525">
            <a:solidFill>
              <a:srgbClr val="EEDFD0"/>
            </a:solidFill>
            <a:prstDash val="solid"/>
          </a:ln>
        </p:spPr>
      </p:sp>
      <p:sp>
        <p:nvSpPr>
          <p:cNvPr id="35" name="Shape 33"/>
          <p:cNvSpPr/>
          <p:nvPr/>
        </p:nvSpPr>
        <p:spPr>
          <a:xfrm>
            <a:off x="694944" y="4507992"/>
            <a:ext cx="256032" cy="256032"/>
          </a:xfrm>
          <a:prstGeom prst="ellipse">
            <a:avLst/>
          </a:prstGeom>
          <a:solidFill>
            <a:srgbClr val="F97B00"/>
          </a:solidFill>
          <a:ln/>
        </p:spPr>
      </p:sp>
      <p:sp>
        <p:nvSpPr>
          <p:cNvPr id="36" name="Text 34"/>
          <p:cNvSpPr txBox="1"/>
          <p:nvPr/>
        </p:nvSpPr>
        <p:spPr>
          <a:xfrm>
            <a:off x="694944" y="45079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1060704" y="4352544"/>
            <a:ext cx="4754880" cy="548640"/>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不少于 2 个制造业智慧园区项目且单项合同≥200 万</a:t>
            </a:r>
            <a:endParaRPr lang="en-US" sz="1000" dirty="0"/>
          </a:p>
        </p:txBody>
      </p:sp>
      <p:sp>
        <p:nvSpPr>
          <p:cNvPr id="38" name="Text 36"/>
          <p:cNvSpPr txBox="1"/>
          <p:nvPr/>
        </p:nvSpPr>
        <p:spPr>
          <a:xfrm>
            <a:off x="5888736" y="4352544"/>
            <a:ext cx="5589727" cy="54864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待确认具体项目清单与合同金额</a:t>
            </a:r>
            <a:endParaRPr lang="en-US" sz="1000" dirty="0"/>
          </a:p>
        </p:txBody>
      </p:sp>
      <p:sp>
        <p:nvSpPr>
          <p:cNvPr id="39" name="Shape 37"/>
          <p:cNvSpPr/>
          <p:nvPr/>
        </p:nvSpPr>
        <p:spPr>
          <a:xfrm>
            <a:off x="530352" y="4974336"/>
            <a:ext cx="11130991" cy="548640"/>
          </a:xfrm>
          <a:prstGeom prst="roundRect">
            <a:avLst>
              <a:gd name="adj" fmla="val 5833"/>
            </a:avLst>
          </a:prstGeom>
          <a:solidFill>
            <a:srgbClr val="FFFFFF"/>
          </a:solidFill>
          <a:ln w="9525">
            <a:solidFill>
              <a:srgbClr val="EEDFD0"/>
            </a:solidFill>
            <a:prstDash val="solid"/>
          </a:ln>
        </p:spPr>
      </p:sp>
      <p:sp>
        <p:nvSpPr>
          <p:cNvPr id="40" name="Shape 38"/>
          <p:cNvSpPr/>
          <p:nvPr/>
        </p:nvSpPr>
        <p:spPr>
          <a:xfrm>
            <a:off x="694944" y="5129784"/>
            <a:ext cx="256032" cy="256032"/>
          </a:xfrm>
          <a:prstGeom prst="ellipse">
            <a:avLst/>
          </a:prstGeom>
          <a:solidFill>
            <a:srgbClr val="F97B00"/>
          </a:solidFill>
          <a:ln/>
        </p:spPr>
      </p:sp>
      <p:sp>
        <p:nvSpPr>
          <p:cNvPr id="41" name="Text 39"/>
          <p:cNvSpPr txBox="1"/>
          <p:nvPr/>
        </p:nvSpPr>
        <p:spPr>
          <a:xfrm>
            <a:off x="694944" y="512978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2" name="Text 40"/>
          <p:cNvSpPr txBox="1"/>
          <p:nvPr/>
        </p:nvSpPr>
        <p:spPr>
          <a:xfrm>
            <a:off x="1060704" y="4974336"/>
            <a:ext cx="4754880" cy="548640"/>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实施负责人≥5 年制造业智慧园区实施经验</a:t>
            </a:r>
            <a:endParaRPr lang="en-US" sz="1000" dirty="0"/>
          </a:p>
        </p:txBody>
      </p:sp>
      <p:sp>
        <p:nvSpPr>
          <p:cNvPr id="43" name="Text 41"/>
          <p:cNvSpPr txBox="1"/>
          <p:nvPr/>
        </p:nvSpPr>
        <p:spPr>
          <a:xfrm>
            <a:off x="5888736" y="4974336"/>
            <a:ext cx="5589727" cy="54864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配置合肥/武汉/天津制造基地园区实施经验的资深负责人</a:t>
            </a:r>
            <a:endParaRPr lang="en-US" sz="1000" dirty="0"/>
          </a:p>
        </p:txBody>
      </p:sp>
      <p:sp>
        <p:nvSpPr>
          <p:cNvPr id="44" name="Shape 42"/>
          <p:cNvSpPr/>
          <p:nvPr/>
        </p:nvSpPr>
        <p:spPr>
          <a:xfrm>
            <a:off x="530352" y="5705856"/>
            <a:ext cx="11130991" cy="512064"/>
          </a:xfrm>
          <a:prstGeom prst="roundRect">
            <a:avLst>
              <a:gd name="adj" fmla="val 625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5" name="Text 43"/>
          <p:cNvSpPr txBox="1"/>
          <p:nvPr/>
        </p:nvSpPr>
        <p:spPr>
          <a:xfrm>
            <a:off x="786384" y="5779008"/>
            <a:ext cx="10618927" cy="384048"/>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说明：标注"待确认"的条目将在投标文件正式版中补充证书扫描件与佐证材料。本页按评分标准第 9 项的 7 个子条逐条编号，便于评标专家对照打分。</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项目人力资源规划：谁在什么阶段、投入多少、干什么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按阶段配置人力，峰值不虚标、低谷不撤人，关键岗位全周期在场</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分阶段人力投入计划（单位：人 / 折算全职当量 FTE）</a:t>
            </a:r>
            <a:endParaRPr lang="en-US" sz="12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11130991" cy="914400"/>
        </p:xfrm>
        <a:graphic>
          <a:graphicData uri="http://schemas.openxmlformats.org/drawingml/2006/table">
            <a:tbl>
              <a:tblPr/>
              <a:tblGrid>
                <a:gridCol w="2103120"/>
                <a:gridCol w="1572768"/>
                <a:gridCol w="1737360"/>
                <a:gridCol w="1371600"/>
                <a:gridCol w="1737360"/>
                <a:gridCol w="2627071"/>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角色 / 小组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启动与需求</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2026.9—11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设计与开发</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2026.12—2027.02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集成与测试</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2027.03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陪跑与优化</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2027.04—06</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投入方式</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项目经理（业务 PM）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项目经理（IT PM）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业务顾问组（五大子系统）</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需求与蓝图阶段全投入</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架构与设计组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设计阶段驻场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开发组（前端/后端/集成）</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开发期远程 + 关键节点现场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硬件与物联组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施工期现场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测试组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测试期现场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交付与培训组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培训与陪跑期现场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合计（FTE）</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峰值 25 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933188"/>
            <a:ext cx="68580" cy="173736"/>
          </a:xfrm>
          <a:prstGeom prst="rect">
            <a:avLst/>
          </a:prstGeom>
          <a:solidFill>
            <a:srgbClr val="F97B00"/>
          </a:solidFill>
          <a:ln/>
        </p:spPr>
      </p:sp>
      <p:sp>
        <p:nvSpPr>
          <p:cNvPr id="9" name="Text 6"/>
          <p:cNvSpPr txBox="1"/>
          <p:nvPr/>
        </p:nvSpPr>
        <p:spPr>
          <a:xfrm>
            <a:off x="685800"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人力资源管理的四条原则</a:t>
            </a:r>
            <a:endParaRPr lang="en-US" sz="1250" dirty="0"/>
          </a:p>
        </p:txBody>
      </p:sp>
      <p:sp>
        <p:nvSpPr>
          <p:cNvPr id="10" name="Shape 7"/>
          <p:cNvSpPr/>
          <p:nvPr/>
        </p:nvSpPr>
        <p:spPr>
          <a:xfrm>
            <a:off x="530352" y="5212080"/>
            <a:ext cx="2645588" cy="932688"/>
          </a:xfrm>
          <a:prstGeom prst="roundRect">
            <a:avLst>
              <a:gd name="adj" fmla="val 3431"/>
            </a:avLst>
          </a:prstGeom>
          <a:solidFill>
            <a:srgbClr val="FDEEDD"/>
          </a:solidFill>
          <a:ln w="9525">
            <a:solidFill>
              <a:srgbClr val="F3CDA5"/>
            </a:solidFill>
            <a:prstDash val="solid"/>
          </a:ln>
        </p:spPr>
      </p:sp>
      <p:sp>
        <p:nvSpPr>
          <p:cNvPr id="11" name="Text 8"/>
          <p:cNvSpPr txBox="1"/>
          <p:nvPr/>
        </p:nvSpPr>
        <p:spPr>
          <a:xfrm>
            <a:off x="694944"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关键岗位不换人</a:t>
            </a:r>
            <a:endParaRPr lang="en-US" sz="1100" dirty="0"/>
          </a:p>
        </p:txBody>
      </p:sp>
      <p:sp>
        <p:nvSpPr>
          <p:cNvPr id="12" name="Text 9"/>
          <p:cNvSpPr txBox="1"/>
          <p:nvPr/>
        </p:nvSpPr>
        <p:spPr>
          <a:xfrm>
            <a:off x="694944"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双项目经理、实施负责人与五大子系统主顾问 9 个月内不更换；如需变更提前一个月协商并按变更程序执行</a:t>
            </a:r>
            <a:endParaRPr lang="en-US" sz="1000" dirty="0"/>
          </a:p>
        </p:txBody>
      </p:sp>
      <p:sp>
        <p:nvSpPr>
          <p:cNvPr id="13" name="Shape 10"/>
          <p:cNvSpPr/>
          <p:nvPr/>
        </p:nvSpPr>
        <p:spPr>
          <a:xfrm>
            <a:off x="3358820" y="5212080"/>
            <a:ext cx="2645588" cy="932688"/>
          </a:xfrm>
          <a:prstGeom prst="roundRect">
            <a:avLst>
              <a:gd name="adj" fmla="val 3431"/>
            </a:avLst>
          </a:prstGeom>
          <a:solidFill>
            <a:srgbClr val="FDEEDD"/>
          </a:solidFill>
          <a:ln w="9525">
            <a:solidFill>
              <a:srgbClr val="F3CDA5"/>
            </a:solidFill>
            <a:prstDash val="solid"/>
          </a:ln>
        </p:spPr>
      </p:sp>
      <p:sp>
        <p:nvSpPr>
          <p:cNvPr id="14" name="Text 11"/>
          <p:cNvSpPr txBox="1"/>
          <p:nvPr/>
        </p:nvSpPr>
        <p:spPr>
          <a:xfrm>
            <a:off x="3523412"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峰值人力真实可查</a:t>
            </a:r>
            <a:endParaRPr lang="en-US" sz="1100" dirty="0"/>
          </a:p>
        </p:txBody>
      </p:sp>
      <p:sp>
        <p:nvSpPr>
          <p:cNvPr id="15" name="Text 12"/>
          <p:cNvSpPr txBox="1"/>
          <p:nvPr/>
        </p:nvSpPr>
        <p:spPr>
          <a:xfrm>
            <a:off x="3523412"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开发高峰 25 人 FTE，社保与劳动关系均在联想（北京），可提供名单、简历与到场考勤供核查</a:t>
            </a:r>
            <a:endParaRPr lang="en-US" sz="1000" dirty="0"/>
          </a:p>
        </p:txBody>
      </p:sp>
      <p:sp>
        <p:nvSpPr>
          <p:cNvPr id="16" name="Shape 13"/>
          <p:cNvSpPr/>
          <p:nvPr/>
        </p:nvSpPr>
        <p:spPr>
          <a:xfrm>
            <a:off x="6187288" y="5212080"/>
            <a:ext cx="2645588" cy="932688"/>
          </a:xfrm>
          <a:prstGeom prst="roundRect">
            <a:avLst>
              <a:gd name="adj" fmla="val 3431"/>
            </a:avLst>
          </a:prstGeom>
          <a:solidFill>
            <a:srgbClr val="FDEEDD"/>
          </a:solidFill>
          <a:ln w="9525">
            <a:solidFill>
              <a:srgbClr val="F3CDA5"/>
            </a:solidFill>
            <a:prstDash val="solid"/>
          </a:ln>
        </p:spPr>
      </p:sp>
      <p:sp>
        <p:nvSpPr>
          <p:cNvPr id="17" name="Text 14"/>
          <p:cNvSpPr txBox="1"/>
          <p:nvPr/>
        </p:nvSpPr>
        <p:spPr>
          <a:xfrm>
            <a:off x="6351880"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陪跑期不撤主力</a:t>
            </a:r>
            <a:endParaRPr lang="en-US" sz="1100" dirty="0"/>
          </a:p>
        </p:txBody>
      </p:sp>
      <p:sp>
        <p:nvSpPr>
          <p:cNvPr id="18" name="Text 15"/>
          <p:cNvSpPr txBox="1"/>
          <p:nvPr/>
        </p:nvSpPr>
        <p:spPr>
          <a:xfrm>
            <a:off x="6351880"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阶段二保留 13 人 FTE，现场常驻不少于 6 人，避免上线即撤场</a:t>
            </a:r>
            <a:endParaRPr lang="en-US" sz="1000" dirty="0"/>
          </a:p>
        </p:txBody>
      </p:sp>
      <p:sp>
        <p:nvSpPr>
          <p:cNvPr id="19" name="Shape 16"/>
          <p:cNvSpPr/>
          <p:nvPr/>
        </p:nvSpPr>
        <p:spPr>
          <a:xfrm>
            <a:off x="9015755" y="5212080"/>
            <a:ext cx="2645588" cy="932688"/>
          </a:xfrm>
          <a:prstGeom prst="roundRect">
            <a:avLst>
              <a:gd name="adj" fmla="val 3431"/>
            </a:avLst>
          </a:prstGeom>
          <a:solidFill>
            <a:srgbClr val="FDEEDD"/>
          </a:solidFill>
          <a:ln w="9525">
            <a:solidFill>
              <a:srgbClr val="F3CDA5"/>
            </a:solidFill>
            <a:prstDash val="solid"/>
          </a:ln>
        </p:spPr>
      </p:sp>
      <p:sp>
        <p:nvSpPr>
          <p:cNvPr id="20" name="Text 17"/>
          <p:cNvSpPr txBox="1"/>
          <p:nvPr/>
        </p:nvSpPr>
        <p:spPr>
          <a:xfrm>
            <a:off x="9180347"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本地资源就近调配</a:t>
            </a:r>
            <a:endParaRPr lang="en-US" sz="1100" dirty="0"/>
          </a:p>
        </p:txBody>
      </p:sp>
      <p:sp>
        <p:nvSpPr>
          <p:cNvPr id="21" name="Text 18"/>
          <p:cNvSpPr txBox="1"/>
          <p:nvPr/>
        </p:nvSpPr>
        <p:spPr>
          <a:xfrm>
            <a:off x="9180347"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合肥及华东可调配实施与硬件资源，突发情况 24 小时内增援到场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项目交付物清单：按阶段逐项签收，交付即结项依据</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对齐 招标交付成果要求，每项交付物明确责任人、评审方式与签收节点</a:t>
            </a:r>
            <a:endParaRPr lang="en-US" sz="125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188720"/>
                <a:gridCol w="5760720"/>
                <a:gridCol w="1005840"/>
                <a:gridCol w="17373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阶段</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交付物</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形式</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评审 / 签收</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M1 项目启动</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项目章程、项目计划（WBS 与甘特）、项目组织与联系矩阵、工作范围确认书</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 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M2 需求分析</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调研提纲与记录、会议纪要、现状流程图、专题讨论材料、需求分析报告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业务部门 + PMO 评审</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M3 方案设计</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业务蓝图方案与报告、功能说明书、开发规格书、开发清单及计划、安全技术方案、数据流转图、硬件施工图</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蓝图评审会签字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M4 系统开发</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二次开发源码、经单测的定制系统、配置手册、测试用例与方案、服务器与网络资源规划、ER 图、数据资产清单、历史数据迁移方案</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代码 + 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IT 部门代码走查</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M5 系统测试</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权限配置清单、操作手册与培训教材、SIT 与 UAT 报告、性能压力报告、安全测试报告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UAT 通过签字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M6 上线准备</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系统管理手册、生产系统、上线方案与检查清单、安全应急响应计划、上线安全评审文件、合规文本框架、硬件竣工图</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系统 + 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上线评审会批准</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M7 上线运行</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上线运维记录、问题与解决记录、流程与系统优化记录、月度运行报告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记录 + 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月度例会确认</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M8 结项验收</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知识转移手册与操作录屏、项目结项报告、验收合格单、交付物归档目录</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录屏</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双方验收委员会</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30352" y="4640580"/>
            <a:ext cx="68580" cy="173736"/>
          </a:xfrm>
          <a:prstGeom prst="rect">
            <a:avLst/>
          </a:prstGeom>
          <a:solidFill>
            <a:srgbClr val="F97B00"/>
          </a:solidFill>
          <a:ln/>
        </p:spPr>
      </p:sp>
      <p:sp>
        <p:nvSpPr>
          <p:cNvPr id="7" name="Text 4"/>
          <p:cNvSpPr txBox="1"/>
          <p:nvPr/>
        </p:nvSpPr>
        <p:spPr>
          <a:xfrm>
            <a:off x="685800" y="459028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交付物的归档、签收与移交约定</a:t>
            </a:r>
            <a:endParaRPr lang="en-US" sz="1250" dirty="0"/>
          </a:p>
        </p:txBody>
      </p:sp>
      <p:sp>
        <p:nvSpPr>
          <p:cNvPr id="8" name="Shape 5"/>
          <p:cNvSpPr/>
          <p:nvPr/>
        </p:nvSpPr>
        <p:spPr>
          <a:xfrm>
            <a:off x="530352"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31520" y="5047488"/>
            <a:ext cx="420624" cy="420624"/>
          </a:xfrm>
          <a:prstGeom prst="ellipse">
            <a:avLst/>
          </a:prstGeom>
          <a:solidFill>
            <a:srgbClr val="F97B00"/>
          </a:solidFill>
          <a:ln/>
        </p:spPr>
      </p:sp>
      <p:pic>
        <p:nvPicPr>
          <p:cNvPr id="10" name="Image 0" descr="preencoded.png">    </p:cNvPr>
          <p:cNvPicPr>
            <a:picLocks noChangeAspect="1"/>
          </p:cNvPicPr>
          <p:nvPr/>
        </p:nvPicPr>
        <p:blipFill>
          <a:blip r:embed="rId1"/>
          <a:stretch>
            <a:fillRect/>
          </a:stretch>
        </p:blipFill>
        <p:spPr>
          <a:xfrm>
            <a:off x="845088" y="5161056"/>
            <a:ext cx="193487" cy="193487"/>
          </a:xfrm>
          <a:prstGeom prst="rect">
            <a:avLst/>
          </a:prstGeom>
        </p:spPr>
      </p:pic>
      <p:sp>
        <p:nvSpPr>
          <p:cNvPr id="11" name="Text 7"/>
          <p:cNvSpPr txBox="1"/>
          <p:nvPr/>
        </p:nvSpPr>
        <p:spPr>
          <a:xfrm>
            <a:off x="1243584"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版本与归档</a:t>
            </a:r>
            <a:endParaRPr lang="en-US" sz="1250" dirty="0"/>
          </a:p>
        </p:txBody>
      </p:sp>
      <p:sp>
        <p:nvSpPr>
          <p:cNvPr id="12" name="Text 8"/>
          <p:cNvSpPr txBox="1"/>
          <p:nvPr/>
        </p:nvSpPr>
        <p:spPr>
          <a:xfrm>
            <a:off x="731520"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所有交付物统一版本号与命名规范，存放于双方约定的共享空间；每次评审后的修订版同步归档，历史版本可追溯，结项时提交完整归档目录</a:t>
            </a:r>
            <a:endParaRPr lang="en-US" sz="1000" dirty="0"/>
          </a:p>
        </p:txBody>
      </p:sp>
      <p:sp>
        <p:nvSpPr>
          <p:cNvPr id="13" name="Shape 9"/>
          <p:cNvSpPr/>
          <p:nvPr/>
        </p:nvSpPr>
        <p:spPr>
          <a:xfrm>
            <a:off x="4313834"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4" name="Shape 10"/>
          <p:cNvSpPr/>
          <p:nvPr/>
        </p:nvSpPr>
        <p:spPr>
          <a:xfrm>
            <a:off x="4515002" y="5047488"/>
            <a:ext cx="420624" cy="420624"/>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4628571" y="5161056"/>
            <a:ext cx="193487" cy="193487"/>
          </a:xfrm>
          <a:prstGeom prst="rect">
            <a:avLst/>
          </a:prstGeom>
        </p:spPr>
      </p:pic>
      <p:sp>
        <p:nvSpPr>
          <p:cNvPr id="16" name="Text 11"/>
          <p:cNvSpPr txBox="1"/>
          <p:nvPr/>
        </p:nvSpPr>
        <p:spPr>
          <a:xfrm>
            <a:off x="5027066"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责任人与签收</a:t>
            </a:r>
            <a:endParaRPr lang="en-US" sz="1250" dirty="0"/>
          </a:p>
        </p:txBody>
      </p:sp>
      <p:sp>
        <p:nvSpPr>
          <p:cNvPr id="17" name="Text 12"/>
          <p:cNvSpPr txBox="1"/>
          <p:nvPr/>
        </p:nvSpPr>
        <p:spPr>
          <a:xfrm>
            <a:off x="4515002"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每项交付物指定联想编制人与贵方确认人；评审通过后 3 个工作日内签字，签收单与交付物一并归档，作为该阶段付款与进入下一阶段的前置条件</a:t>
            </a:r>
            <a:endParaRPr lang="en-US" sz="1000" dirty="0"/>
          </a:p>
        </p:txBody>
      </p:sp>
      <p:sp>
        <p:nvSpPr>
          <p:cNvPr id="18" name="Shape 13"/>
          <p:cNvSpPr/>
          <p:nvPr/>
        </p:nvSpPr>
        <p:spPr>
          <a:xfrm>
            <a:off x="8097317"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9" name="Shape 14"/>
          <p:cNvSpPr/>
          <p:nvPr/>
        </p:nvSpPr>
        <p:spPr>
          <a:xfrm>
            <a:off x="8298485" y="5047488"/>
            <a:ext cx="420624" cy="420624"/>
          </a:xfrm>
          <a:prstGeom prst="ellipse">
            <a:avLst/>
          </a:prstGeom>
          <a:solidFill>
            <a:srgbClr val="F97B00"/>
          </a:solidFill>
          <a:ln/>
        </p:spPr>
      </p:sp>
      <p:pic>
        <p:nvPicPr>
          <p:cNvPr id="20" name="Image 2" descr="preencoded.png">    </p:cNvPr>
          <p:cNvPicPr>
            <a:picLocks noChangeAspect="1"/>
          </p:cNvPicPr>
          <p:nvPr/>
        </p:nvPicPr>
        <p:blipFill>
          <a:blip r:embed="rId3"/>
          <a:stretch>
            <a:fillRect/>
          </a:stretch>
        </p:blipFill>
        <p:spPr>
          <a:xfrm>
            <a:off x="8412053" y="5161056"/>
            <a:ext cx="193487" cy="193487"/>
          </a:xfrm>
          <a:prstGeom prst="rect">
            <a:avLst/>
          </a:prstGeom>
        </p:spPr>
      </p:pic>
      <p:sp>
        <p:nvSpPr>
          <p:cNvPr id="21" name="Text 15"/>
          <p:cNvSpPr txBox="1"/>
          <p:nvPr/>
        </p:nvSpPr>
        <p:spPr>
          <a:xfrm>
            <a:off x="8810549"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超期与补交</a:t>
            </a:r>
            <a:endParaRPr lang="en-US" sz="1250" dirty="0"/>
          </a:p>
        </p:txBody>
      </p:sp>
      <p:sp>
        <p:nvSpPr>
          <p:cNvPr id="22" name="Text 16"/>
          <p:cNvSpPr txBox="1"/>
          <p:nvPr/>
        </p:nvSpPr>
        <p:spPr>
          <a:xfrm>
            <a:off x="8298485"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未按期提交或评审未通过，责任方 5 个工作日内补交并重新评审；连续两次未通过升级至项目指导委员会，纳入周报风险项跟踪</a:t>
            </a:r>
            <a:endParaRPr lang="en-US" sz="1000" dirty="0"/>
          </a:p>
        </p:txBody>
      </p:sp>
      <p:sp>
        <p:nvSpPr>
          <p:cNvPr id="23" name="Text 17"/>
          <p:cNvSpPr txBox="1"/>
          <p:nvPr/>
        </p:nvSpPr>
        <p:spPr>
          <a:xfrm>
            <a:off x="530352" y="6053328"/>
            <a:ext cx="11130991" cy="237744"/>
          </a:xfrm>
          <a:prstGeom prst="rect">
            <a:avLst/>
          </a:prstGeom>
          <a:noFill/>
          <a:ln/>
        </p:spPr>
        <p:txBody>
          <a:bodyPr wrap="square" lIns="0" tIns="0" rIns="0" bIns="0" rtlCol="0" anchor="ctr"/>
          <a:lstStyle/>
          <a:p>
            <a:pPr indent="0" marL="0">
              <a:lnSpc>
                <a:spcPct val="100000"/>
              </a:lnSpc>
              <a:buNone/>
            </a:pPr>
            <a:r>
              <a:rPr lang="en-US" sz="1000" i="1" dirty="0">
                <a:solidFill>
                  <a:srgbClr val="8A949E"/>
                </a:solidFill>
                <a:latin typeface="Calibri" pitchFamily="34" charset="0"/>
                <a:ea typeface="Calibri" pitchFamily="34" charset="-122"/>
                <a:cs typeface="Calibri" pitchFamily="34" charset="-120"/>
              </a:rPr>
              <a:t>另设贯穿全程的项目管理交付物：项目周报、双周里程碑复盘记录、问题 &amp; 风险跟踪表、变更申请与审批记录、项目成员出勤表。所有交付物模板以联想与阳光电源 PMO 最终确认版本为准。</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质量管理、变更控制与验收管理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交付物三级评审、变更五步闭环、验收五项标准，全过程可追溯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交付物质量三级评审机制</a:t>
            </a:r>
            <a:endParaRPr lang="en-US" sz="1250" dirty="0"/>
          </a:p>
        </p:txBody>
      </p:sp>
      <p:sp>
        <p:nvSpPr>
          <p:cNvPr id="7" name="Shape 5"/>
          <p:cNvSpPr/>
          <p:nvPr/>
        </p:nvSpPr>
        <p:spPr>
          <a:xfrm>
            <a:off x="530352" y="1499616"/>
            <a:ext cx="5532120" cy="566928"/>
          </a:xfrm>
          <a:prstGeom prst="roundRect">
            <a:avLst>
              <a:gd name="adj" fmla="val 564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45920"/>
            <a:ext cx="274320" cy="274320"/>
          </a:xfrm>
          <a:prstGeom prst="ellipse">
            <a:avLst/>
          </a:prstGeom>
          <a:solidFill>
            <a:srgbClr val="F97B00"/>
          </a:solidFill>
          <a:ln/>
        </p:spPr>
      </p:sp>
      <p:sp>
        <p:nvSpPr>
          <p:cNvPr id="9" name="Text 7"/>
          <p:cNvSpPr txBox="1"/>
          <p:nvPr/>
        </p:nvSpPr>
        <p:spPr>
          <a:xfrm>
            <a:off x="694944" y="16459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60704" y="1536192"/>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一级：内部自检</a:t>
            </a:r>
            <a:endParaRPr lang="en-US" sz="1050" dirty="0"/>
          </a:p>
        </p:txBody>
      </p:sp>
      <p:sp>
        <p:nvSpPr>
          <p:cNvPr id="11" name="Text 9"/>
          <p:cNvSpPr txBox="1"/>
          <p:nvPr/>
        </p:nvSpPr>
        <p:spPr>
          <a:xfrm>
            <a:off x="1060704" y="1746504"/>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项目经理组织内部评审，对照文档模板逐项检查，问题清零后提交</a:t>
            </a:r>
            <a:endParaRPr lang="en-US" sz="1000" dirty="0"/>
          </a:p>
        </p:txBody>
      </p:sp>
      <p:sp>
        <p:nvSpPr>
          <p:cNvPr id="12" name="Shape 10"/>
          <p:cNvSpPr/>
          <p:nvPr/>
        </p:nvSpPr>
        <p:spPr>
          <a:xfrm>
            <a:off x="530352" y="2121408"/>
            <a:ext cx="5532120" cy="566928"/>
          </a:xfrm>
          <a:prstGeom prst="roundRect">
            <a:avLst>
              <a:gd name="adj" fmla="val 564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694944" y="2267712"/>
            <a:ext cx="274320" cy="274320"/>
          </a:xfrm>
          <a:prstGeom prst="ellipse">
            <a:avLst/>
          </a:prstGeom>
          <a:solidFill>
            <a:srgbClr val="F97B00"/>
          </a:solidFill>
          <a:ln/>
        </p:spPr>
      </p:sp>
      <p:sp>
        <p:nvSpPr>
          <p:cNvPr id="14" name="Text 12"/>
          <p:cNvSpPr txBox="1"/>
          <p:nvPr/>
        </p:nvSpPr>
        <p:spPr>
          <a:xfrm>
            <a:off x="694944" y="2267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60704"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二级：项目组评审</a:t>
            </a:r>
            <a:endParaRPr lang="en-US" sz="1050" dirty="0"/>
          </a:p>
        </p:txBody>
      </p:sp>
      <p:sp>
        <p:nvSpPr>
          <p:cNvPr id="16" name="Text 14"/>
          <p:cNvSpPr txBox="1"/>
          <p:nvPr/>
        </p:nvSpPr>
        <p:spPr>
          <a:xfrm>
            <a:off x="1060704" y="2368296"/>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联想与阳光电源项目组联合评审，重点关注技术实现的合理性与可行性</a:t>
            </a:r>
            <a:endParaRPr lang="en-US" sz="1000" dirty="0"/>
          </a:p>
        </p:txBody>
      </p:sp>
      <p:sp>
        <p:nvSpPr>
          <p:cNvPr id="17" name="Shape 15"/>
          <p:cNvSpPr/>
          <p:nvPr/>
        </p:nvSpPr>
        <p:spPr>
          <a:xfrm>
            <a:off x="530352" y="2743200"/>
            <a:ext cx="5532120" cy="566928"/>
          </a:xfrm>
          <a:prstGeom prst="roundRect">
            <a:avLst>
              <a:gd name="adj" fmla="val 564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694944" y="2889504"/>
            <a:ext cx="274320" cy="274320"/>
          </a:xfrm>
          <a:prstGeom prst="ellipse">
            <a:avLst/>
          </a:prstGeom>
          <a:solidFill>
            <a:srgbClr val="F97B00"/>
          </a:solidFill>
          <a:ln/>
        </p:spPr>
      </p:sp>
      <p:sp>
        <p:nvSpPr>
          <p:cNvPr id="19" name="Text 17"/>
          <p:cNvSpPr txBox="1"/>
          <p:nvPr/>
        </p:nvSpPr>
        <p:spPr>
          <a:xfrm>
            <a:off x="694944" y="28895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60704" y="2779776"/>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三级：业务部门评审</a:t>
            </a:r>
            <a:endParaRPr lang="en-US" sz="1050" dirty="0"/>
          </a:p>
        </p:txBody>
      </p:sp>
      <p:sp>
        <p:nvSpPr>
          <p:cNvPr id="21" name="Text 19"/>
          <p:cNvSpPr txBox="1"/>
          <p:nvPr/>
        </p:nvSpPr>
        <p:spPr>
          <a:xfrm>
            <a:off x="1060704" y="2990088"/>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业务部门评审业务功能是否满足实际业务流程和管理需求</a:t>
            </a:r>
            <a:endParaRPr lang="en-US" sz="1000" dirty="0"/>
          </a:p>
        </p:txBody>
      </p:sp>
      <p:sp>
        <p:nvSpPr>
          <p:cNvPr id="22" name="Shape 20"/>
          <p:cNvSpPr/>
          <p:nvPr/>
        </p:nvSpPr>
        <p:spPr>
          <a:xfrm>
            <a:off x="530352" y="3364992"/>
            <a:ext cx="5532120" cy="566928"/>
          </a:xfrm>
          <a:prstGeom prst="roundRect">
            <a:avLst>
              <a:gd name="adj" fmla="val 564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694944" y="3511296"/>
            <a:ext cx="274320" cy="274320"/>
          </a:xfrm>
          <a:prstGeom prst="ellipse">
            <a:avLst/>
          </a:prstGeom>
          <a:solidFill>
            <a:srgbClr val="F97B00"/>
          </a:solidFill>
          <a:ln/>
        </p:spPr>
      </p:sp>
      <p:sp>
        <p:nvSpPr>
          <p:cNvPr id="24" name="Text 22"/>
          <p:cNvSpPr txBox="1"/>
          <p:nvPr/>
        </p:nvSpPr>
        <p:spPr>
          <a:xfrm>
            <a:off x="694944" y="35112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60704" y="3401568"/>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修改与签收</a:t>
            </a:r>
            <a:endParaRPr lang="en-US" sz="1050" dirty="0"/>
          </a:p>
        </p:txBody>
      </p:sp>
      <p:sp>
        <p:nvSpPr>
          <p:cNvPr id="26" name="Text 24"/>
          <p:cNvSpPr txBox="1"/>
          <p:nvPr/>
        </p:nvSpPr>
        <p:spPr>
          <a:xfrm>
            <a:off x="1060704" y="3611880"/>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评审反馈后 5 个工作日内完成修改并签字验收；15 个工作日未达成一致则共同评估影响并协商</a:t>
            </a:r>
            <a:endParaRPr lang="en-US" sz="1000" dirty="0"/>
          </a:p>
        </p:txBody>
      </p:sp>
      <p:sp>
        <p:nvSpPr>
          <p:cNvPr id="27" name="Shape 25"/>
          <p:cNvSpPr/>
          <p:nvPr/>
        </p:nvSpPr>
        <p:spPr>
          <a:xfrm>
            <a:off x="530352" y="4000500"/>
            <a:ext cx="68580" cy="173736"/>
          </a:xfrm>
          <a:prstGeom prst="rect">
            <a:avLst/>
          </a:prstGeom>
          <a:solidFill>
            <a:srgbClr val="F97B00"/>
          </a:solidFill>
          <a:ln/>
        </p:spPr>
      </p:sp>
      <p:sp>
        <p:nvSpPr>
          <p:cNvPr id="28" name="Text 26"/>
          <p:cNvSpPr txBox="1"/>
          <p:nvPr/>
        </p:nvSpPr>
        <p:spPr>
          <a:xfrm>
            <a:off x="685800" y="39502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变更控制五步闭环</a:t>
            </a:r>
            <a:endParaRPr lang="en-US" sz="1250" dirty="0"/>
          </a:p>
        </p:txBody>
      </p:sp>
      <p:sp>
        <p:nvSpPr>
          <p:cNvPr id="29" name="Shape 27"/>
          <p:cNvSpPr/>
          <p:nvPr/>
        </p:nvSpPr>
        <p:spPr>
          <a:xfrm>
            <a:off x="530352" y="4261104"/>
            <a:ext cx="1077163" cy="420624"/>
          </a:xfrm>
          <a:prstGeom prst="homePlate">
            <a:avLst/>
          </a:prstGeom>
          <a:solidFill>
            <a:srgbClr val="F97B00"/>
          </a:solidFill>
          <a:ln/>
        </p:spPr>
      </p:sp>
      <p:sp>
        <p:nvSpPr>
          <p:cNvPr id="30" name="Text 28"/>
          <p:cNvSpPr txBox="1"/>
          <p:nvPr/>
        </p:nvSpPr>
        <p:spPr>
          <a:xfrm>
            <a:off x="659612"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变更申请</a:t>
            </a:r>
            <a:endParaRPr lang="en-US" sz="1000" dirty="0"/>
          </a:p>
        </p:txBody>
      </p:sp>
      <p:sp>
        <p:nvSpPr>
          <p:cNvPr id="31" name="Shape 29"/>
          <p:cNvSpPr/>
          <p:nvPr/>
        </p:nvSpPr>
        <p:spPr>
          <a:xfrm>
            <a:off x="1644091" y="4261104"/>
            <a:ext cx="1077163" cy="420624"/>
          </a:xfrm>
          <a:prstGeom prst="chevron">
            <a:avLst/>
          </a:prstGeom>
          <a:solidFill>
            <a:srgbClr val="FF9F3D"/>
          </a:solidFill>
          <a:ln/>
        </p:spPr>
      </p:sp>
      <p:sp>
        <p:nvSpPr>
          <p:cNvPr id="32" name="Text 30"/>
          <p:cNvSpPr txBox="1"/>
          <p:nvPr/>
        </p:nvSpPr>
        <p:spPr>
          <a:xfrm>
            <a:off x="1773351"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变更评估</a:t>
            </a:r>
            <a:endParaRPr lang="en-US" sz="1000" dirty="0"/>
          </a:p>
        </p:txBody>
      </p:sp>
      <p:sp>
        <p:nvSpPr>
          <p:cNvPr id="33" name="Shape 31"/>
          <p:cNvSpPr/>
          <p:nvPr/>
        </p:nvSpPr>
        <p:spPr>
          <a:xfrm>
            <a:off x="2757830" y="4261104"/>
            <a:ext cx="1077163" cy="420624"/>
          </a:xfrm>
          <a:prstGeom prst="chevron">
            <a:avLst/>
          </a:prstGeom>
          <a:solidFill>
            <a:srgbClr val="F97B00"/>
          </a:solidFill>
          <a:ln/>
        </p:spPr>
      </p:sp>
      <p:sp>
        <p:nvSpPr>
          <p:cNvPr id="34" name="Text 32"/>
          <p:cNvSpPr txBox="1"/>
          <p:nvPr/>
        </p:nvSpPr>
        <p:spPr>
          <a:xfrm>
            <a:off x="2887090"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变更审批</a:t>
            </a:r>
            <a:endParaRPr lang="en-US" sz="1000" dirty="0"/>
          </a:p>
        </p:txBody>
      </p:sp>
      <p:sp>
        <p:nvSpPr>
          <p:cNvPr id="35" name="Shape 33"/>
          <p:cNvSpPr/>
          <p:nvPr/>
        </p:nvSpPr>
        <p:spPr>
          <a:xfrm>
            <a:off x="3871570" y="4261104"/>
            <a:ext cx="1077163" cy="420624"/>
          </a:xfrm>
          <a:prstGeom prst="chevron">
            <a:avLst/>
          </a:prstGeom>
          <a:solidFill>
            <a:srgbClr val="FF9F3D"/>
          </a:solidFill>
          <a:ln/>
        </p:spPr>
      </p:sp>
      <p:sp>
        <p:nvSpPr>
          <p:cNvPr id="36" name="Text 34"/>
          <p:cNvSpPr txBox="1"/>
          <p:nvPr/>
        </p:nvSpPr>
        <p:spPr>
          <a:xfrm>
            <a:off x="4000829"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变更实施</a:t>
            </a:r>
            <a:endParaRPr lang="en-US" sz="1000" dirty="0"/>
          </a:p>
        </p:txBody>
      </p:sp>
      <p:sp>
        <p:nvSpPr>
          <p:cNvPr id="37" name="Shape 35"/>
          <p:cNvSpPr/>
          <p:nvPr/>
        </p:nvSpPr>
        <p:spPr>
          <a:xfrm>
            <a:off x="4985309" y="4261104"/>
            <a:ext cx="1077163" cy="420624"/>
          </a:xfrm>
          <a:prstGeom prst="chevron">
            <a:avLst/>
          </a:prstGeom>
          <a:solidFill>
            <a:srgbClr val="F97B00"/>
          </a:solidFill>
          <a:ln/>
        </p:spPr>
      </p:sp>
      <p:sp>
        <p:nvSpPr>
          <p:cNvPr id="38" name="Text 36"/>
          <p:cNvSpPr txBox="1"/>
          <p:nvPr/>
        </p:nvSpPr>
        <p:spPr>
          <a:xfrm>
            <a:off x="5114568"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变更验收</a:t>
            </a:r>
            <a:endParaRPr lang="en-US" sz="1000" dirty="0"/>
          </a:p>
        </p:txBody>
      </p:sp>
      <p:sp>
        <p:nvSpPr>
          <p:cNvPr id="39" name="Shape 37"/>
          <p:cNvSpPr/>
          <p:nvPr/>
        </p:nvSpPr>
        <p:spPr>
          <a:xfrm>
            <a:off x="530352" y="4773168"/>
            <a:ext cx="5532120" cy="347472"/>
          </a:xfrm>
          <a:prstGeom prst="roundRect">
            <a:avLst>
              <a:gd name="adj" fmla="val 9211"/>
            </a:avLst>
          </a:prstGeom>
          <a:solidFill>
            <a:srgbClr val="FFF7EF"/>
          </a:solidFill>
          <a:ln w="9525">
            <a:solidFill>
              <a:srgbClr val="EEDFD0"/>
            </a:solidFill>
            <a:prstDash val="solid"/>
          </a:ln>
        </p:spPr>
      </p:sp>
      <p:sp>
        <p:nvSpPr>
          <p:cNvPr id="40" name="Text 38"/>
          <p:cNvSpPr txBox="1"/>
          <p:nvPr/>
        </p:nvSpPr>
        <p:spPr>
          <a:xfrm>
            <a:off x="676656" y="4773168"/>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一般变更</a:t>
            </a:r>
            <a:endParaRPr lang="en-US" sz="1000" dirty="0"/>
          </a:p>
        </p:txBody>
      </p:sp>
      <p:sp>
        <p:nvSpPr>
          <p:cNvPr id="41" name="Text 39"/>
          <p:cNvSpPr txBox="1"/>
          <p:nvPr/>
        </p:nvSpPr>
        <p:spPr>
          <a:xfrm>
            <a:off x="1719072" y="4773168"/>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不涉及成本费用、进度延迟不超过 15 天，由双方项目经理审批</a:t>
            </a:r>
            <a:endParaRPr lang="en-US" sz="1000" dirty="0"/>
          </a:p>
        </p:txBody>
      </p:sp>
      <p:sp>
        <p:nvSpPr>
          <p:cNvPr id="42" name="Shape 40"/>
          <p:cNvSpPr/>
          <p:nvPr/>
        </p:nvSpPr>
        <p:spPr>
          <a:xfrm>
            <a:off x="530352" y="5175504"/>
            <a:ext cx="5532120" cy="347472"/>
          </a:xfrm>
          <a:prstGeom prst="roundRect">
            <a:avLst>
              <a:gd name="adj" fmla="val 9211"/>
            </a:avLst>
          </a:prstGeom>
          <a:solidFill>
            <a:srgbClr val="FFFFFF"/>
          </a:solidFill>
          <a:ln w="9525">
            <a:solidFill>
              <a:srgbClr val="EEDFD0"/>
            </a:solidFill>
            <a:prstDash val="solid"/>
          </a:ln>
        </p:spPr>
      </p:sp>
      <p:sp>
        <p:nvSpPr>
          <p:cNvPr id="43" name="Text 41"/>
          <p:cNvSpPr txBox="1"/>
          <p:nvPr/>
        </p:nvSpPr>
        <p:spPr>
          <a:xfrm>
            <a:off x="676656" y="5175504"/>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重大变更</a:t>
            </a:r>
            <a:endParaRPr lang="en-US" sz="1000" dirty="0"/>
          </a:p>
        </p:txBody>
      </p:sp>
      <p:sp>
        <p:nvSpPr>
          <p:cNvPr id="44" name="Text 42"/>
          <p:cNvSpPr txBox="1"/>
          <p:nvPr/>
        </p:nvSpPr>
        <p:spPr>
          <a:xfrm>
            <a:off x="1719072" y="5175504"/>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超出上述范围或涉及关键技术、核心业务、项目成员，须指导委员会审批</a:t>
            </a:r>
            <a:endParaRPr lang="en-US" sz="1000" dirty="0"/>
          </a:p>
        </p:txBody>
      </p:sp>
      <p:sp>
        <p:nvSpPr>
          <p:cNvPr id="45" name="Shape 43"/>
          <p:cNvSpPr/>
          <p:nvPr/>
        </p:nvSpPr>
        <p:spPr>
          <a:xfrm>
            <a:off x="530352" y="5577840"/>
            <a:ext cx="5532120" cy="347472"/>
          </a:xfrm>
          <a:prstGeom prst="roundRect">
            <a:avLst>
              <a:gd name="adj" fmla="val 9211"/>
            </a:avLst>
          </a:prstGeom>
          <a:solidFill>
            <a:srgbClr val="FFF7EF"/>
          </a:solidFill>
          <a:ln w="9525">
            <a:solidFill>
              <a:srgbClr val="EEDFD0"/>
            </a:solidFill>
            <a:prstDash val="solid"/>
          </a:ln>
        </p:spPr>
      </p:sp>
      <p:sp>
        <p:nvSpPr>
          <p:cNvPr id="46" name="Text 44"/>
          <p:cNvSpPr txBox="1"/>
          <p:nvPr/>
        </p:nvSpPr>
        <p:spPr>
          <a:xfrm>
            <a:off x="676656" y="5577840"/>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时限承诺</a:t>
            </a:r>
            <a:endParaRPr lang="en-US" sz="1000" dirty="0"/>
          </a:p>
        </p:txBody>
      </p:sp>
      <p:sp>
        <p:nvSpPr>
          <p:cNvPr id="47" name="Text 45"/>
          <p:cNvSpPr txBox="1"/>
          <p:nvPr/>
        </p:nvSpPr>
        <p:spPr>
          <a:xfrm>
            <a:off x="1719072" y="5577840"/>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初审 3 日、审批 5 日、实施计划 5 日内提交、验收 7 日内组织（工作日）</a:t>
            </a:r>
            <a:endParaRPr lang="en-US" sz="1000" dirty="0"/>
          </a:p>
        </p:txBody>
      </p:sp>
      <p:sp>
        <p:nvSpPr>
          <p:cNvPr id="48" name="Shape 46"/>
          <p:cNvSpPr/>
          <p:nvPr/>
        </p:nvSpPr>
        <p:spPr>
          <a:xfrm>
            <a:off x="6309360" y="1257300"/>
            <a:ext cx="68580" cy="173736"/>
          </a:xfrm>
          <a:prstGeom prst="rect">
            <a:avLst/>
          </a:prstGeom>
          <a:solidFill>
            <a:srgbClr val="F97B00"/>
          </a:solidFill>
          <a:ln/>
        </p:spPr>
      </p:sp>
      <p:sp>
        <p:nvSpPr>
          <p:cNvPr id="49" name="Text 47"/>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项目验收标准</a:t>
            </a:r>
            <a:endParaRPr lang="en-US" sz="1250" dirty="0"/>
          </a:p>
        </p:txBody>
      </p:sp>
      <p:sp>
        <p:nvSpPr>
          <p:cNvPr id="50" name="Shape 48"/>
          <p:cNvSpPr/>
          <p:nvPr/>
        </p:nvSpPr>
        <p:spPr>
          <a:xfrm>
            <a:off x="6309360" y="1517904"/>
            <a:ext cx="5351983" cy="640080"/>
          </a:xfrm>
          <a:prstGeom prst="roundRect">
            <a:avLst>
              <a:gd name="adj" fmla="val 5000"/>
            </a:avLst>
          </a:prstGeom>
          <a:solidFill>
            <a:srgbClr val="F6F8FA"/>
          </a:solidFill>
          <a:ln w="9525">
            <a:solidFill>
              <a:srgbClr val="E3E7EB"/>
            </a:solidFill>
            <a:prstDash val="solid"/>
          </a:ln>
        </p:spPr>
      </p:sp>
      <p:sp>
        <p:nvSpPr>
          <p:cNvPr id="51" name="Text 49"/>
          <p:cNvSpPr txBox="1"/>
          <p:nvPr/>
        </p:nvSpPr>
        <p:spPr>
          <a:xfrm>
            <a:off x="6455664" y="1517904"/>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6784848" y="1554480"/>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成果交付达标</a:t>
            </a:r>
            <a:endParaRPr lang="en-US" sz="1000" dirty="0"/>
          </a:p>
        </p:txBody>
      </p:sp>
      <p:sp>
        <p:nvSpPr>
          <p:cNvPr id="53" name="Text 51"/>
          <p:cNvSpPr txBox="1"/>
          <p:nvPr/>
        </p:nvSpPr>
        <p:spPr>
          <a:xfrm>
            <a:off x="8284464" y="1536192"/>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全面履行第 1 节项目范围与第 2 节前提要求内的职责，完成开发、部署及调试，无功能缺失或明显错误；交付第 4 节全部成果，文档准确完整</a:t>
            </a:r>
            <a:endParaRPr lang="en-US" sz="1000" dirty="0"/>
          </a:p>
        </p:txBody>
      </p:sp>
      <p:sp>
        <p:nvSpPr>
          <p:cNvPr id="54" name="Shape 52"/>
          <p:cNvSpPr/>
          <p:nvPr/>
        </p:nvSpPr>
        <p:spPr>
          <a:xfrm>
            <a:off x="6309360" y="2231136"/>
            <a:ext cx="5351983" cy="640080"/>
          </a:xfrm>
          <a:prstGeom prst="roundRect">
            <a:avLst>
              <a:gd name="adj" fmla="val 5000"/>
            </a:avLst>
          </a:prstGeom>
          <a:solidFill>
            <a:srgbClr val="F6F8FA"/>
          </a:solidFill>
          <a:ln w="9525">
            <a:solidFill>
              <a:srgbClr val="E3E7EB"/>
            </a:solidFill>
            <a:prstDash val="solid"/>
          </a:ln>
        </p:spPr>
      </p:sp>
      <p:sp>
        <p:nvSpPr>
          <p:cNvPr id="55" name="Text 53"/>
          <p:cNvSpPr txBox="1"/>
          <p:nvPr/>
        </p:nvSpPr>
        <p:spPr>
          <a:xfrm>
            <a:off x="6455664" y="2231136"/>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6784848" y="2267712"/>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项目目标达成</a:t>
            </a:r>
            <a:endParaRPr lang="en-US" sz="1000" dirty="0"/>
          </a:p>
        </p:txBody>
      </p:sp>
      <p:sp>
        <p:nvSpPr>
          <p:cNvPr id="57" name="Text 55"/>
          <p:cNvSpPr txBox="1"/>
          <p:nvPr/>
        </p:nvSpPr>
        <p:spPr>
          <a:xfrm>
            <a:off x="8284464" y="2249424"/>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正式上线切换后实现第 1 节项目目标全部内容，关键业务指标改善达到预期</a:t>
            </a:r>
            <a:endParaRPr lang="en-US" sz="1000" dirty="0"/>
          </a:p>
        </p:txBody>
      </p:sp>
      <p:sp>
        <p:nvSpPr>
          <p:cNvPr id="58" name="Shape 56"/>
          <p:cNvSpPr/>
          <p:nvPr/>
        </p:nvSpPr>
        <p:spPr>
          <a:xfrm>
            <a:off x="6309360" y="2944368"/>
            <a:ext cx="5351983" cy="640080"/>
          </a:xfrm>
          <a:prstGeom prst="roundRect">
            <a:avLst>
              <a:gd name="adj" fmla="val 5000"/>
            </a:avLst>
          </a:prstGeom>
          <a:solidFill>
            <a:srgbClr val="F6F8FA"/>
          </a:solidFill>
          <a:ln w="9525">
            <a:solidFill>
              <a:srgbClr val="E3E7EB"/>
            </a:solidFill>
            <a:prstDash val="solid"/>
          </a:ln>
        </p:spPr>
      </p:sp>
      <p:sp>
        <p:nvSpPr>
          <p:cNvPr id="59" name="Text 57"/>
          <p:cNvSpPr txBox="1"/>
          <p:nvPr/>
        </p:nvSpPr>
        <p:spPr>
          <a:xfrm>
            <a:off x="6455664" y="2944368"/>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0" name="Text 58"/>
          <p:cNvSpPr txBox="1"/>
          <p:nvPr/>
        </p:nvSpPr>
        <p:spPr>
          <a:xfrm>
            <a:off x="6784848" y="2980944"/>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交付件评审通过</a:t>
            </a:r>
            <a:endParaRPr lang="en-US" sz="1000" dirty="0"/>
          </a:p>
        </p:txBody>
      </p:sp>
      <p:sp>
        <p:nvSpPr>
          <p:cNvPr id="61" name="Text 59"/>
          <p:cNvSpPr txBox="1"/>
          <p:nvPr/>
        </p:nvSpPr>
        <p:spPr>
          <a:xfrm>
            <a:off x="8284464" y="2962656"/>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所有交付件经日常讨论与评审，提交最终版本至双方项目组签字验收</a:t>
            </a:r>
            <a:endParaRPr lang="en-US" sz="1000" dirty="0"/>
          </a:p>
        </p:txBody>
      </p:sp>
      <p:sp>
        <p:nvSpPr>
          <p:cNvPr id="62" name="Shape 60"/>
          <p:cNvSpPr/>
          <p:nvPr/>
        </p:nvSpPr>
        <p:spPr>
          <a:xfrm>
            <a:off x="6309360" y="3657600"/>
            <a:ext cx="5351983" cy="640080"/>
          </a:xfrm>
          <a:prstGeom prst="roundRect">
            <a:avLst>
              <a:gd name="adj" fmla="val 5000"/>
            </a:avLst>
          </a:prstGeom>
          <a:solidFill>
            <a:srgbClr val="F6F8FA"/>
          </a:solidFill>
          <a:ln w="9525">
            <a:solidFill>
              <a:srgbClr val="E3E7EB"/>
            </a:solidFill>
            <a:prstDash val="solid"/>
          </a:ln>
        </p:spPr>
      </p:sp>
      <p:sp>
        <p:nvSpPr>
          <p:cNvPr id="63" name="Text 61"/>
          <p:cNvSpPr txBox="1"/>
          <p:nvPr/>
        </p:nvSpPr>
        <p:spPr>
          <a:xfrm>
            <a:off x="6455664" y="3657600"/>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4" name="Text 62"/>
          <p:cNvSpPr txBox="1"/>
          <p:nvPr/>
        </p:nvSpPr>
        <p:spPr>
          <a:xfrm>
            <a:off x="6784848" y="3694176"/>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系统稳定运行</a:t>
            </a:r>
            <a:endParaRPr lang="en-US" sz="1000" dirty="0"/>
          </a:p>
        </p:txBody>
      </p:sp>
      <p:sp>
        <p:nvSpPr>
          <p:cNvPr id="65" name="Text 63"/>
          <p:cNvSpPr txBox="1"/>
          <p:nvPr/>
        </p:nvSpPr>
        <p:spPr>
          <a:xfrm>
            <a:off x="8284464" y="3675888"/>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正式环境无重大缺陷和故障（功能不可用或运行中断达 2 小时以上）</a:t>
            </a:r>
            <a:endParaRPr lang="en-US" sz="1000" dirty="0"/>
          </a:p>
        </p:txBody>
      </p:sp>
      <p:sp>
        <p:nvSpPr>
          <p:cNvPr id="66" name="Shape 64"/>
          <p:cNvSpPr/>
          <p:nvPr/>
        </p:nvSpPr>
        <p:spPr>
          <a:xfrm>
            <a:off x="6309360" y="4370832"/>
            <a:ext cx="5351983" cy="640080"/>
          </a:xfrm>
          <a:prstGeom prst="roundRect">
            <a:avLst>
              <a:gd name="adj" fmla="val 5000"/>
            </a:avLst>
          </a:prstGeom>
          <a:solidFill>
            <a:srgbClr val="F6F8FA"/>
          </a:solidFill>
          <a:ln w="9525">
            <a:solidFill>
              <a:srgbClr val="E3E7EB"/>
            </a:solidFill>
            <a:prstDash val="solid"/>
          </a:ln>
        </p:spPr>
      </p:sp>
      <p:sp>
        <p:nvSpPr>
          <p:cNvPr id="67" name="Text 65"/>
          <p:cNvSpPr txBox="1"/>
          <p:nvPr/>
        </p:nvSpPr>
        <p:spPr>
          <a:xfrm>
            <a:off x="6455664" y="4370832"/>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8" name="Text 66"/>
          <p:cNvSpPr txBox="1"/>
          <p:nvPr/>
        </p:nvSpPr>
        <p:spPr>
          <a:xfrm>
            <a:off x="6784848" y="4407408"/>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完成知识转移</a:t>
            </a:r>
            <a:endParaRPr lang="en-US" sz="1000" dirty="0"/>
          </a:p>
        </p:txBody>
      </p:sp>
      <p:sp>
        <p:nvSpPr>
          <p:cNvPr id="69" name="Text 67"/>
          <p:cNvSpPr txBox="1"/>
          <p:nvPr/>
        </p:nvSpPr>
        <p:spPr>
          <a:xfrm>
            <a:off x="8284464" y="4389120"/>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上线问题解决率达 95% 及以上后进行全面知识转移，所有接受人员确认完成</a:t>
            </a:r>
            <a:endParaRPr lang="en-US" sz="1000" dirty="0"/>
          </a:p>
        </p:txBody>
      </p:sp>
      <p:sp>
        <p:nvSpPr>
          <p:cNvPr id="70" name="Shape 68"/>
          <p:cNvSpPr/>
          <p:nvPr/>
        </p:nvSpPr>
        <p:spPr>
          <a:xfrm>
            <a:off x="6309360" y="5120640"/>
            <a:ext cx="5351983" cy="969264"/>
          </a:xfrm>
          <a:prstGeom prst="roundRect">
            <a:avLst>
              <a:gd name="adj" fmla="val 3302"/>
            </a:avLst>
          </a:prstGeom>
          <a:solidFill>
            <a:srgbClr val="0E2340"/>
          </a:solidFill>
          <a:ln/>
        </p:spPr>
      </p:sp>
      <p:sp>
        <p:nvSpPr>
          <p:cNvPr id="71" name="Text 69"/>
          <p:cNvSpPr txBox="1"/>
          <p:nvPr/>
        </p:nvSpPr>
        <p:spPr>
          <a:xfrm>
            <a:off x="6492240" y="5212080"/>
            <a:ext cx="493776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验收程序：验收申请 → 资料审核 → 综合评审 → 验收结论</a:t>
            </a:r>
            <a:endParaRPr lang="en-US" sz="1050" dirty="0"/>
          </a:p>
        </p:txBody>
      </p:sp>
      <p:sp>
        <p:nvSpPr>
          <p:cNvPr id="72" name="Text 70"/>
          <p:cNvSpPr txBox="1"/>
          <p:nvPr/>
        </p:nvSpPr>
        <p:spPr>
          <a:xfrm>
            <a:off x="6492240" y="5468112"/>
            <a:ext cx="4986223" cy="566928"/>
          </a:xfrm>
          <a:prstGeom prst="rect">
            <a:avLst/>
          </a:prstGeom>
          <a:noFill/>
          <a:ln/>
        </p:spPr>
        <p:txBody>
          <a:bodyPr wrap="square" lIns="0" tIns="0" rIns="0" bIns="0" rtlCol="0" anchor="ctr"/>
          <a:lstStyle/>
          <a:p>
            <a:pPr indent="0" marL="0">
              <a:lnSpc>
                <a:spcPct val="104000"/>
              </a:lnSpc>
              <a:buNone/>
            </a:pPr>
            <a:r>
              <a:rPr lang="en-US" sz="1000" dirty="0">
                <a:solidFill>
                  <a:srgbClr val="D6DFE9"/>
                </a:solidFill>
                <a:latin typeface="Calibri" pitchFamily="34" charset="0"/>
                <a:ea typeface="Calibri" pitchFamily="34" charset="-122"/>
                <a:cs typeface="Calibri" pitchFamily="34" charset="-120"/>
              </a:rPr>
              <a:t>提交《项目验收申请》并附成果说明、测试报告、交付件清单；联想与阳光电源组织项目组、业务部门、相关专家综合评审，我方派代表参会解答疑问；通过则签署《项目验收报告》。</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风险识别与应对：提前想到，就不会临时慌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基于同类项目经验识别 8 类关键风险，逐项给出预防与应对措施</a:t>
            </a:r>
            <a:endParaRPr lang="en-US" sz="12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384048"/>
                <a:gridCol w="3017520"/>
                <a:gridCol w="502920"/>
                <a:gridCol w="502920"/>
                <a:gridCol w="5577840"/>
                <a:gridCol w="1145743"/>
              </a:tblGrid>
              <a:tr h="5623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风险描述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影响</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概率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预防与应对措施</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责任方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需求范围蔓延：五大子系统需求细化后功能量超出 招标预估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需求分析阶段以 逐条建立需求跟踪矩阵并双方签字；新增需求走变更控制程序评估工期与成本</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第三方系统接口开放度不足（视频平台、道闸、门禁厂商配合度低）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启动阶段即完成接口能力盘点并出具接口清单；甲方协调厂商签署配合承诺；预留标准接口与文件交换兜底方案</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 甲方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硬件施工受生产影响：车间、危化区、带电区域施工窗口有限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与 EHS 及生产部门联合制定施工窗口计划；采用夜间与停产窗口作业；关键区域先做样板段验证</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联想硬件组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主数据质量不达标：人/车/空间/设备编码缺失或不一致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方案设计阶段输出数据质量问题清单与清洗方案；提供整理模板并指导甲方人员；上线前完成数据校验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双方数据组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AI 算法在现场光照、遮挡、粉尘环境下准确率不达预期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选取典型点位先做 2 周现场试点调优；建立误报台账按周迭代阈值；不达标点位调整安装位置或更换算法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AI 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跨园区调度涉及 12 个园区，组织协同与流程差异大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一期先统一调度主流程与单据模型，园区差异通过配置而非定制实现；分批切换、每园区指定接口人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R7</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用户接受度不足：司机、外协人员数字化能力参差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司机端采用小程序免安装；关键操作不超过 3 步；上线前分层培训 + 现场辅导 6 个月；设置过渡期双轨运行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联想交付组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关键人员变动影响连续性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核心岗位设 A/B 角；文档与录屏同步沉淀；人员变更提前一个月协商并按变更程序执行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培训与知识转移：让阳光电源 IT 具备自主扩展与二次开发能力</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项目结束后内部 IT 人员应具备可扩展同类型园区、二次开发的能力</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分层培训体系</a:t>
            </a:r>
            <a:endParaRPr lang="en-US" sz="1250" dirty="0"/>
          </a:p>
        </p:txBody>
      </p:sp>
      <p:sp>
        <p:nvSpPr>
          <p:cNvPr id="7" name="Shape 5"/>
          <p:cNvSpPr/>
          <p:nvPr/>
        </p:nvSpPr>
        <p:spPr>
          <a:xfrm>
            <a:off x="530352" y="1517904"/>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691640"/>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0271"/>
            <a:ext cx="185075" cy="185075"/>
          </a:xfrm>
          <a:prstGeom prst="rect">
            <a:avLst/>
          </a:prstGeom>
        </p:spPr>
      </p:pic>
      <p:sp>
        <p:nvSpPr>
          <p:cNvPr id="10" name="Text 7"/>
          <p:cNvSpPr txBox="1"/>
          <p:nvPr/>
        </p:nvSpPr>
        <p:spPr>
          <a:xfrm>
            <a:off x="1225296" y="1572768"/>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业务用户培训</a:t>
            </a:r>
            <a:endParaRPr lang="en-US" sz="1150" dirty="0"/>
          </a:p>
        </p:txBody>
      </p:sp>
      <p:sp>
        <p:nvSpPr>
          <p:cNvPr id="11" name="Text 8"/>
          <p:cNvSpPr txBox="1"/>
          <p:nvPr/>
        </p:nvSpPr>
        <p:spPr>
          <a:xfrm>
            <a:off x="4736592" y="1572768"/>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按角色分类</a:t>
            </a:r>
            <a:endParaRPr lang="en-US" sz="1000" dirty="0"/>
          </a:p>
        </p:txBody>
      </p:sp>
      <p:sp>
        <p:nvSpPr>
          <p:cNvPr id="12" name="Text 9"/>
          <p:cNvSpPr txBox="1"/>
          <p:nvPr/>
        </p:nvSpPr>
        <p:spPr>
          <a:xfrm>
            <a:off x="1225296" y="1828800"/>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各子系统操作培训 + 现场辅导；提供图文并茂操作手册与视频教学；培训后考核并记录</a:t>
            </a:r>
            <a:endParaRPr lang="en-US" sz="1000" dirty="0"/>
          </a:p>
        </p:txBody>
      </p:sp>
      <p:sp>
        <p:nvSpPr>
          <p:cNvPr id="13" name="Shape 10"/>
          <p:cNvSpPr/>
          <p:nvPr/>
        </p:nvSpPr>
        <p:spPr>
          <a:xfrm>
            <a:off x="530352" y="2359152"/>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32888"/>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41519"/>
            <a:ext cx="185075" cy="185075"/>
          </a:xfrm>
          <a:prstGeom prst="rect">
            <a:avLst/>
          </a:prstGeom>
        </p:spPr>
      </p:pic>
      <p:sp>
        <p:nvSpPr>
          <p:cNvPr id="16" name="Text 12"/>
          <p:cNvSpPr txBox="1"/>
          <p:nvPr/>
        </p:nvSpPr>
        <p:spPr>
          <a:xfrm>
            <a:off x="1225296" y="2414016"/>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系统管理员培训</a:t>
            </a:r>
            <a:endParaRPr lang="en-US" sz="1150" dirty="0"/>
          </a:p>
        </p:txBody>
      </p:sp>
      <p:sp>
        <p:nvSpPr>
          <p:cNvPr id="17" name="Text 13"/>
          <p:cNvSpPr txBox="1"/>
          <p:nvPr/>
        </p:nvSpPr>
        <p:spPr>
          <a:xfrm>
            <a:off x="4736592" y="2414016"/>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2 轮 × 3 天</a:t>
            </a:r>
            <a:endParaRPr lang="en-US" sz="1000" dirty="0"/>
          </a:p>
        </p:txBody>
      </p:sp>
      <p:sp>
        <p:nvSpPr>
          <p:cNvPr id="18" name="Text 14"/>
          <p:cNvSpPr txBox="1"/>
          <p:nvPr/>
        </p:nvSpPr>
        <p:spPr>
          <a:xfrm>
            <a:off x="1225296" y="2670048"/>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权限配置、参数配置、报表设计、工单流程配置、数据字典维护、日常巡检</a:t>
            </a:r>
            <a:endParaRPr lang="en-US" sz="1000" dirty="0"/>
          </a:p>
        </p:txBody>
      </p:sp>
      <p:sp>
        <p:nvSpPr>
          <p:cNvPr id="19" name="Shape 15"/>
          <p:cNvSpPr/>
          <p:nvPr/>
        </p:nvSpPr>
        <p:spPr>
          <a:xfrm>
            <a:off x="530352" y="3200400"/>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37413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482767"/>
            <a:ext cx="185075" cy="185075"/>
          </a:xfrm>
          <a:prstGeom prst="rect">
            <a:avLst/>
          </a:prstGeom>
        </p:spPr>
      </p:pic>
      <p:sp>
        <p:nvSpPr>
          <p:cNvPr id="22" name="Text 17"/>
          <p:cNvSpPr txBox="1"/>
          <p:nvPr/>
        </p:nvSpPr>
        <p:spPr>
          <a:xfrm>
            <a:off x="1225296" y="3255264"/>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业务顾问培训</a:t>
            </a:r>
            <a:endParaRPr lang="en-US" sz="1150" dirty="0"/>
          </a:p>
        </p:txBody>
      </p:sp>
      <p:sp>
        <p:nvSpPr>
          <p:cNvPr id="23" name="Text 18"/>
          <p:cNvSpPr txBox="1"/>
          <p:nvPr/>
        </p:nvSpPr>
        <p:spPr>
          <a:xfrm>
            <a:off x="4736592" y="3255264"/>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4 轮 × 2 天</a:t>
            </a:r>
            <a:endParaRPr lang="en-US" sz="1000" dirty="0"/>
          </a:p>
        </p:txBody>
      </p:sp>
      <p:sp>
        <p:nvSpPr>
          <p:cNvPr id="24" name="Text 19"/>
          <p:cNvSpPr txBox="1"/>
          <p:nvPr/>
        </p:nvSpPr>
        <p:spPr>
          <a:xfrm>
            <a:off x="1225296" y="3511296"/>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业务流程与系统对应关系、蓝图设计逻辑、配置项与业务规则、常见问题处理</a:t>
            </a:r>
            <a:endParaRPr lang="en-US" sz="1000" dirty="0"/>
          </a:p>
        </p:txBody>
      </p:sp>
      <p:sp>
        <p:nvSpPr>
          <p:cNvPr id="25" name="Shape 20"/>
          <p:cNvSpPr/>
          <p:nvPr/>
        </p:nvSpPr>
        <p:spPr>
          <a:xfrm>
            <a:off x="530352" y="4041648"/>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15384"/>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24015"/>
            <a:ext cx="185075" cy="185075"/>
          </a:xfrm>
          <a:prstGeom prst="rect">
            <a:avLst/>
          </a:prstGeom>
        </p:spPr>
      </p:pic>
      <p:sp>
        <p:nvSpPr>
          <p:cNvPr id="28" name="Text 22"/>
          <p:cNvSpPr txBox="1"/>
          <p:nvPr/>
        </p:nvSpPr>
        <p:spPr>
          <a:xfrm>
            <a:off x="1225296" y="4096512"/>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开发顾问培训</a:t>
            </a:r>
            <a:endParaRPr lang="en-US" sz="1150" dirty="0"/>
          </a:p>
        </p:txBody>
      </p:sp>
      <p:sp>
        <p:nvSpPr>
          <p:cNvPr id="29" name="Text 23"/>
          <p:cNvSpPr txBox="1"/>
          <p:nvPr/>
        </p:nvSpPr>
        <p:spPr>
          <a:xfrm>
            <a:off x="4736592" y="4096512"/>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6 轮 × 2 天</a:t>
            </a:r>
            <a:endParaRPr lang="en-US" sz="1000" dirty="0"/>
          </a:p>
        </p:txBody>
      </p:sp>
      <p:sp>
        <p:nvSpPr>
          <p:cNvPr id="30" name="Text 24"/>
          <p:cNvSpPr txBox="1"/>
          <p:nvPr/>
        </p:nvSpPr>
        <p:spPr>
          <a:xfrm>
            <a:off x="1225296" y="4352544"/>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系统架构原理、二次开发平台使用、接口开发规范、代码走查、部署与运维</a:t>
            </a:r>
            <a:endParaRPr lang="en-US" sz="100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知识转移交付内容</a:t>
            </a:r>
            <a:endParaRPr lang="en-US" sz="1250" dirty="0"/>
          </a:p>
        </p:txBody>
      </p:sp>
      <p:sp>
        <p:nvSpPr>
          <p:cNvPr id="33" name="Shape 27"/>
          <p:cNvSpPr/>
          <p:nvPr/>
        </p:nvSpPr>
        <p:spPr>
          <a:xfrm>
            <a:off x="6309360" y="1517904"/>
            <a:ext cx="5351983" cy="585216"/>
          </a:xfrm>
          <a:prstGeom prst="roundRect">
            <a:avLst>
              <a:gd name="adj" fmla="val 5469"/>
            </a:avLst>
          </a:prstGeom>
          <a:solidFill>
            <a:srgbClr val="FFFFFF"/>
          </a:solidFill>
          <a:ln w="9525">
            <a:solidFill>
              <a:srgbClr val="EEDFD0"/>
            </a:solidFill>
            <a:prstDash val="solid"/>
          </a:ln>
        </p:spPr>
      </p:sp>
      <p:sp>
        <p:nvSpPr>
          <p:cNvPr id="34" name="Text 28"/>
          <p:cNvSpPr txBox="1"/>
          <p:nvPr/>
        </p:nvSpPr>
        <p:spPr>
          <a:xfrm>
            <a:off x="6473952" y="1517904"/>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文档体系</a:t>
            </a:r>
            <a:endParaRPr lang="en-US" sz="1000" dirty="0"/>
          </a:p>
        </p:txBody>
      </p:sp>
      <p:sp>
        <p:nvSpPr>
          <p:cNvPr id="35" name="Text 29"/>
          <p:cNvSpPr txBox="1"/>
          <p:nvPr/>
        </p:nvSpPr>
        <p:spPr>
          <a:xfrm>
            <a:off x="8028432" y="1517904"/>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系统架构说明、部署手册、系统管理手册、用户操作手册、接口文档、数据库表关系图与数据字典、故障案例分析</a:t>
            </a:r>
            <a:endParaRPr lang="en-US" sz="1000" dirty="0"/>
          </a:p>
        </p:txBody>
      </p:sp>
      <p:sp>
        <p:nvSpPr>
          <p:cNvPr id="36" name="Shape 30"/>
          <p:cNvSpPr/>
          <p:nvPr/>
        </p:nvSpPr>
        <p:spPr>
          <a:xfrm>
            <a:off x="6309360" y="2176272"/>
            <a:ext cx="5351983" cy="585216"/>
          </a:xfrm>
          <a:prstGeom prst="roundRect">
            <a:avLst>
              <a:gd name="adj" fmla="val 5469"/>
            </a:avLst>
          </a:prstGeom>
          <a:solidFill>
            <a:srgbClr val="FFF7EF"/>
          </a:solidFill>
          <a:ln w="9525">
            <a:solidFill>
              <a:srgbClr val="EEDFD0"/>
            </a:solidFill>
            <a:prstDash val="solid"/>
          </a:ln>
        </p:spPr>
      </p:sp>
      <p:sp>
        <p:nvSpPr>
          <p:cNvPr id="37" name="Text 31"/>
          <p:cNvSpPr txBox="1"/>
          <p:nvPr/>
        </p:nvSpPr>
        <p:spPr>
          <a:xfrm>
            <a:off x="6473952" y="2176272"/>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视频录屏</a:t>
            </a:r>
            <a:endParaRPr lang="en-US" sz="1000" dirty="0"/>
          </a:p>
        </p:txBody>
      </p:sp>
      <p:sp>
        <p:nvSpPr>
          <p:cNvPr id="38" name="Text 32"/>
          <p:cNvSpPr txBox="1"/>
          <p:nvPr/>
        </p:nvSpPr>
        <p:spPr>
          <a:xfrm>
            <a:off x="8028432" y="2176272"/>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关键操作、配置、部署、二次开发全过程录屏，可反复学习</a:t>
            </a:r>
            <a:endParaRPr lang="en-US" sz="1000" dirty="0"/>
          </a:p>
        </p:txBody>
      </p:sp>
      <p:sp>
        <p:nvSpPr>
          <p:cNvPr id="39" name="Shape 33"/>
          <p:cNvSpPr/>
          <p:nvPr/>
        </p:nvSpPr>
        <p:spPr>
          <a:xfrm>
            <a:off x="6309360" y="2834640"/>
            <a:ext cx="5351983" cy="585216"/>
          </a:xfrm>
          <a:prstGeom prst="roundRect">
            <a:avLst>
              <a:gd name="adj" fmla="val 5469"/>
            </a:avLst>
          </a:prstGeom>
          <a:solidFill>
            <a:srgbClr val="FFFFFF"/>
          </a:solidFill>
          <a:ln w="9525">
            <a:solidFill>
              <a:srgbClr val="EEDFD0"/>
            </a:solidFill>
            <a:prstDash val="solid"/>
          </a:ln>
        </p:spPr>
      </p:sp>
      <p:sp>
        <p:nvSpPr>
          <p:cNvPr id="40" name="Text 34"/>
          <p:cNvSpPr txBox="1"/>
          <p:nvPr/>
        </p:nvSpPr>
        <p:spPr>
          <a:xfrm>
            <a:off x="6473952" y="2834640"/>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技术清单与功能清单</a:t>
            </a:r>
            <a:endParaRPr lang="en-US" sz="1000" dirty="0"/>
          </a:p>
        </p:txBody>
      </p:sp>
      <p:sp>
        <p:nvSpPr>
          <p:cNvPr id="41" name="Text 35"/>
          <p:cNvSpPr txBox="1"/>
          <p:nvPr/>
        </p:nvSpPr>
        <p:spPr>
          <a:xfrm>
            <a:off x="8028432" y="2834640"/>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完整列出技术组件、版本、依赖与全部功能点，便于后续维护与扩展</a:t>
            </a:r>
            <a:endParaRPr lang="en-US" sz="1000" dirty="0"/>
          </a:p>
        </p:txBody>
      </p:sp>
      <p:sp>
        <p:nvSpPr>
          <p:cNvPr id="42" name="Shape 36"/>
          <p:cNvSpPr/>
          <p:nvPr/>
        </p:nvSpPr>
        <p:spPr>
          <a:xfrm>
            <a:off x="6309360" y="3493008"/>
            <a:ext cx="5351983" cy="585216"/>
          </a:xfrm>
          <a:prstGeom prst="roundRect">
            <a:avLst>
              <a:gd name="adj" fmla="val 5469"/>
            </a:avLst>
          </a:prstGeom>
          <a:solidFill>
            <a:srgbClr val="FFF7EF"/>
          </a:solidFill>
          <a:ln w="9525">
            <a:solidFill>
              <a:srgbClr val="EEDFD0"/>
            </a:solidFill>
            <a:prstDash val="solid"/>
          </a:ln>
        </p:spPr>
      </p:sp>
      <p:sp>
        <p:nvSpPr>
          <p:cNvPr id="43" name="Text 37"/>
          <p:cNvSpPr txBox="1"/>
          <p:nvPr/>
        </p:nvSpPr>
        <p:spPr>
          <a:xfrm>
            <a:off x="6473952" y="3493008"/>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源码交付</a:t>
            </a:r>
            <a:endParaRPr lang="en-US" sz="1000" dirty="0"/>
          </a:p>
        </p:txBody>
      </p:sp>
      <p:sp>
        <p:nvSpPr>
          <p:cNvPr id="44" name="Text 38"/>
          <p:cNvSpPr txBox="1"/>
          <p:nvPr/>
        </p:nvSpPr>
        <p:spPr>
          <a:xfrm>
            <a:off x="8028432" y="3493008"/>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PC 端与移动端二次开发代码必须交付；客户化开发产品的知识产权归最终使用方所有</a:t>
            </a:r>
            <a:endParaRPr lang="en-US" sz="1000" dirty="0"/>
          </a:p>
        </p:txBody>
      </p:sp>
      <p:sp>
        <p:nvSpPr>
          <p:cNvPr id="45" name="Shape 39"/>
          <p:cNvSpPr/>
          <p:nvPr/>
        </p:nvSpPr>
        <p:spPr>
          <a:xfrm>
            <a:off x="6309360" y="4151376"/>
            <a:ext cx="5351983" cy="585216"/>
          </a:xfrm>
          <a:prstGeom prst="roundRect">
            <a:avLst>
              <a:gd name="adj" fmla="val 5469"/>
            </a:avLst>
          </a:prstGeom>
          <a:solidFill>
            <a:srgbClr val="FFFFFF"/>
          </a:solidFill>
          <a:ln w="9525">
            <a:solidFill>
              <a:srgbClr val="EEDFD0"/>
            </a:solidFill>
            <a:prstDash val="solid"/>
          </a:ln>
        </p:spPr>
      </p:sp>
      <p:sp>
        <p:nvSpPr>
          <p:cNvPr id="46" name="Text 40"/>
          <p:cNvSpPr txBox="1"/>
          <p:nvPr/>
        </p:nvSpPr>
        <p:spPr>
          <a:xfrm>
            <a:off x="6473952" y="4151376"/>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完成度确认</a:t>
            </a:r>
            <a:endParaRPr lang="en-US" sz="1000" dirty="0"/>
          </a:p>
        </p:txBody>
      </p:sp>
      <p:sp>
        <p:nvSpPr>
          <p:cNvPr id="47" name="Text 41"/>
          <p:cNvSpPr txBox="1"/>
          <p:nvPr/>
        </p:nvSpPr>
        <p:spPr>
          <a:xfrm>
            <a:off x="8028432" y="4151376"/>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接受知识转移人员逐项确认，所有人员确认完成方视为知识转移成功</a:t>
            </a:r>
            <a:endParaRPr lang="en-US" sz="1000" dirty="0"/>
          </a:p>
        </p:txBody>
      </p:sp>
      <p:sp>
        <p:nvSpPr>
          <p:cNvPr id="48" name="Shape 42"/>
          <p:cNvSpPr/>
          <p:nvPr/>
        </p:nvSpPr>
        <p:spPr>
          <a:xfrm>
            <a:off x="6309360" y="4809744"/>
            <a:ext cx="5351983" cy="1298448"/>
          </a:xfrm>
          <a:prstGeom prst="roundRect">
            <a:avLst>
              <a:gd name="adj" fmla="val 2465"/>
            </a:avLst>
          </a:prstGeom>
          <a:solidFill>
            <a:srgbClr val="0E2340"/>
          </a:solidFill>
          <a:ln/>
        </p:spPr>
      </p:sp>
      <p:sp>
        <p:nvSpPr>
          <p:cNvPr id="49" name="Text 43"/>
          <p:cNvSpPr txBox="1"/>
          <p:nvPr/>
        </p:nvSpPr>
        <p:spPr>
          <a:xfrm>
            <a:off x="649224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知识产权承诺</a:t>
            </a:r>
            <a:endParaRPr lang="en-US" sz="1100" dirty="0"/>
          </a:p>
        </p:txBody>
      </p:sp>
      <p:sp>
        <p:nvSpPr>
          <p:cNvPr id="50" name="Text 44"/>
          <p:cNvSpPr txBox="1"/>
          <p:nvPr/>
        </p:nvSpPr>
        <p:spPr>
          <a:xfrm>
            <a:off x="6492240" y="5175504"/>
            <a:ext cx="4986223" cy="859536"/>
          </a:xfrm>
          <a:prstGeom prst="rect">
            <a:avLst/>
          </a:prstGeom>
          <a:noFill/>
          <a:ln/>
        </p:spPr>
        <p:txBody>
          <a:bodyPr wrap="square" lIns="0" tIns="0" rIns="0" bIns="0" rtlCol="0" anchor="ctr"/>
          <a:lstStyle/>
          <a:p>
            <a:pPr indent="0" marL="0">
              <a:lnSpc>
                <a:spcPct val="104000"/>
              </a:lnSpc>
              <a:buNone/>
            </a:pPr>
            <a:r>
              <a:rPr lang="en-US" sz="1000" dirty="0">
                <a:solidFill>
                  <a:srgbClr val="D6DFE9"/>
                </a:solidFill>
                <a:latin typeface="Calibri" pitchFamily="34" charset="0"/>
                <a:ea typeface="Calibri" pitchFamily="34" charset="-122"/>
                <a:cs typeface="Calibri" pitchFamily="34" charset="-120"/>
              </a:rPr>
              <a:t>承诺对本项目内涉及的技术、软件等要素拥有无瑕疵的知识产权；无论何种原因引发第三方对知识产权的质疑、纠纷、诉讼、权利主张，由我方承担一切责任并赔偿因此造成的一切损失。最终使用方拥有本合同项下所有软件独立、完整及永久的使用权。</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运维支持与质保服务：上线不是终点，三个月陪跑护航</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阶段二 3 个月现场试运行陪跑 + 三年免费技术咨询与系统维护</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服务等级与响应机制</a:t>
            </a:r>
            <a:endParaRPr lang="en-US" sz="12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806440" cy="914400"/>
        </p:xfrm>
        <a:graphic>
          <a:graphicData uri="http://schemas.openxmlformats.org/drawingml/2006/table">
            <a:tbl>
              <a:tblPr/>
              <a:tblGrid>
                <a:gridCol w="548640"/>
                <a:gridCol w="2880360"/>
                <a:gridCol w="1051560"/>
                <a:gridCol w="1325880"/>
              </a:tblGrid>
              <a:tr h="4754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等级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问题描述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响应时间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服务时间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1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整个系统无法使用，业务运作受严重影响；或系统数据非人为原因丢失</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立刻响应</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7×24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2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某项关键业务功能无法正常使用，用户可暂时通过手工进行业务作业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3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某项业务功能无法正常使用，用户可暂时使用其它功能代替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24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4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某些功能发现小的缺陷，但基本不影响正常业务操作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48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224528"/>
            <a:ext cx="5806440" cy="1243584"/>
          </a:xfrm>
          <a:prstGeom prst="roundRect">
            <a:avLst>
              <a:gd name="adj" fmla="val 257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9" name="Text 6"/>
          <p:cNvSpPr txBox="1"/>
          <p:nvPr/>
        </p:nvSpPr>
        <p:spPr>
          <a:xfrm>
            <a:off x="713232" y="4334256"/>
            <a:ext cx="40233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影响现场生产运营的紧急处理承诺</a:t>
            </a:r>
            <a:endParaRPr lang="en-US" sz="1100" dirty="0"/>
          </a:p>
        </p:txBody>
      </p:sp>
      <p:sp>
        <p:nvSpPr>
          <p:cNvPr id="10" name="Text 7"/>
          <p:cNvSpPr txBox="1"/>
          <p:nvPr/>
        </p:nvSpPr>
        <p:spPr>
          <a:xfrm>
            <a:off x="713232" y="4590288"/>
            <a:ext cx="5449824" cy="804672"/>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质保期内服务等级要求 2 小时内响应、12 小时内处理。实施项目中出现的职能、技术和实际操作问题，影响现场生产、运营的，项目团队在 1 小时内做出解决计划和决策，并在 0.5 工作日内恢复系统对现场的支持；重大问题若超出项目团队解决能力范围，1 个工作日内升级至项目领导小组，通常不超过 2 个工作日得到回复。</a:t>
            </a:r>
            <a:endParaRPr lang="en-US" sz="1000" dirty="0"/>
          </a:p>
        </p:txBody>
      </p:sp>
      <p:sp>
        <p:nvSpPr>
          <p:cNvPr id="11" name="Shape 8"/>
          <p:cNvSpPr/>
          <p:nvPr/>
        </p:nvSpPr>
        <p:spPr>
          <a:xfrm>
            <a:off x="6583680" y="1257300"/>
            <a:ext cx="68580" cy="173736"/>
          </a:xfrm>
          <a:prstGeom prst="rect">
            <a:avLst/>
          </a:prstGeom>
          <a:solidFill>
            <a:srgbClr val="F97B00"/>
          </a:solidFill>
          <a:ln/>
        </p:spPr>
      </p:sp>
      <p:sp>
        <p:nvSpPr>
          <p:cNvPr id="12" name="Text 9"/>
          <p:cNvSpPr txBox="1"/>
          <p:nvPr/>
        </p:nvSpPr>
        <p:spPr>
          <a:xfrm>
            <a:off x="6739128" y="1207008"/>
            <a:ext cx="4873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运维服务内容与阶段</a:t>
            </a:r>
            <a:endParaRPr lang="en-US" sz="1250" dirty="0"/>
          </a:p>
        </p:txBody>
      </p:sp>
      <p:sp>
        <p:nvSpPr>
          <p:cNvPr id="13" name="Shape 10"/>
          <p:cNvSpPr/>
          <p:nvPr/>
        </p:nvSpPr>
        <p:spPr>
          <a:xfrm>
            <a:off x="6583680" y="151790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1"/>
          <p:cNvSpPr txBox="1"/>
          <p:nvPr/>
        </p:nvSpPr>
        <p:spPr>
          <a:xfrm>
            <a:off x="6748272" y="157276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上线后 3 个月</a:t>
            </a:r>
            <a:endParaRPr lang="en-US" sz="1100" dirty="0"/>
          </a:p>
        </p:txBody>
      </p:sp>
      <p:sp>
        <p:nvSpPr>
          <p:cNvPr id="15" name="Shape 12"/>
          <p:cNvSpPr/>
          <p:nvPr/>
        </p:nvSpPr>
        <p:spPr>
          <a:xfrm>
            <a:off x="8357616" y="1609344"/>
            <a:ext cx="1097280" cy="237744"/>
          </a:xfrm>
          <a:prstGeom prst="roundRect">
            <a:avLst>
              <a:gd name="adj" fmla="val 15385"/>
            </a:avLst>
          </a:prstGeom>
          <a:solidFill>
            <a:srgbClr val="F97B00"/>
          </a:solidFill>
          <a:ln/>
        </p:spPr>
      </p:sp>
      <p:sp>
        <p:nvSpPr>
          <p:cNvPr id="16" name="Text 13"/>
          <p:cNvSpPr txBox="1"/>
          <p:nvPr/>
        </p:nvSpPr>
        <p:spPr>
          <a:xfrm>
            <a:off x="8357616" y="160934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现场陪跑</a:t>
            </a:r>
            <a:endParaRPr lang="en-US" sz="1000" dirty="0"/>
          </a:p>
        </p:txBody>
      </p:sp>
      <p:sp>
        <p:nvSpPr>
          <p:cNvPr id="17" name="Text 14"/>
          <p:cNvSpPr txBox="1"/>
          <p:nvPr/>
        </p:nvSpPr>
        <p:spPr>
          <a:xfrm>
            <a:off x="6748272" y="186537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核心成员现场值守，问题当日响应；每周运行报告与优化建议；协助业务流程磨合</a:t>
            </a:r>
            <a:endParaRPr lang="en-US" sz="1000" dirty="0"/>
          </a:p>
        </p:txBody>
      </p:sp>
      <p:sp>
        <p:nvSpPr>
          <p:cNvPr id="18" name="Shape 15"/>
          <p:cNvSpPr/>
          <p:nvPr/>
        </p:nvSpPr>
        <p:spPr>
          <a:xfrm>
            <a:off x="6583680" y="234086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Text 16"/>
          <p:cNvSpPr txBox="1"/>
          <p:nvPr/>
        </p:nvSpPr>
        <p:spPr>
          <a:xfrm>
            <a:off x="6748272" y="239572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 3 年</a:t>
            </a:r>
            <a:endParaRPr lang="en-US" sz="1100" dirty="0"/>
          </a:p>
        </p:txBody>
      </p:sp>
      <p:sp>
        <p:nvSpPr>
          <p:cNvPr id="20" name="Shape 17"/>
          <p:cNvSpPr/>
          <p:nvPr/>
        </p:nvSpPr>
        <p:spPr>
          <a:xfrm>
            <a:off x="8357616" y="2432304"/>
            <a:ext cx="1097280" cy="237744"/>
          </a:xfrm>
          <a:prstGeom prst="roundRect">
            <a:avLst>
              <a:gd name="adj" fmla="val 15385"/>
            </a:avLst>
          </a:prstGeom>
          <a:solidFill>
            <a:srgbClr val="F97B00"/>
          </a:solidFill>
          <a:ln/>
        </p:spPr>
      </p:sp>
      <p:sp>
        <p:nvSpPr>
          <p:cNvPr id="21" name="Text 18"/>
          <p:cNvSpPr txBox="1"/>
          <p:nvPr/>
        </p:nvSpPr>
        <p:spPr>
          <a:xfrm>
            <a:off x="8357616" y="243230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免费服务</a:t>
            </a:r>
            <a:endParaRPr lang="en-US" sz="1000" dirty="0"/>
          </a:p>
        </p:txBody>
      </p:sp>
      <p:sp>
        <p:nvSpPr>
          <p:cNvPr id="22" name="Text 19"/>
          <p:cNvSpPr txBox="1"/>
          <p:nvPr/>
        </p:nvSpPr>
        <p:spPr>
          <a:xfrm>
            <a:off x="6748272" y="268833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技术咨询、技术支持及系统维护；系统缺陷免费修复；安全漏洞免费处理</a:t>
            </a:r>
            <a:endParaRPr lang="en-US" sz="1000" dirty="0"/>
          </a:p>
        </p:txBody>
      </p:sp>
      <p:sp>
        <p:nvSpPr>
          <p:cNvPr id="23" name="Shape 20"/>
          <p:cNvSpPr/>
          <p:nvPr/>
        </p:nvSpPr>
        <p:spPr>
          <a:xfrm>
            <a:off x="6583680" y="316382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Text 21"/>
          <p:cNvSpPr txBox="1"/>
          <p:nvPr/>
        </p:nvSpPr>
        <p:spPr>
          <a:xfrm>
            <a:off x="6748272" y="321868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质保期后</a:t>
            </a:r>
            <a:endParaRPr lang="en-US" sz="1100" dirty="0"/>
          </a:p>
        </p:txBody>
      </p:sp>
      <p:sp>
        <p:nvSpPr>
          <p:cNvPr id="25" name="Shape 22"/>
          <p:cNvSpPr/>
          <p:nvPr/>
        </p:nvSpPr>
        <p:spPr>
          <a:xfrm>
            <a:off x="8357616" y="3255264"/>
            <a:ext cx="1097280" cy="237744"/>
          </a:xfrm>
          <a:prstGeom prst="roundRect">
            <a:avLst>
              <a:gd name="adj" fmla="val 15385"/>
            </a:avLst>
          </a:prstGeom>
          <a:solidFill>
            <a:srgbClr val="F97B00"/>
          </a:solidFill>
          <a:ln/>
        </p:spPr>
      </p:sp>
      <p:sp>
        <p:nvSpPr>
          <p:cNvPr id="26" name="Text 23"/>
          <p:cNvSpPr txBox="1"/>
          <p:nvPr/>
        </p:nvSpPr>
        <p:spPr>
          <a:xfrm>
            <a:off x="8357616" y="325526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 人天</a:t>
            </a:r>
            <a:endParaRPr lang="en-US" sz="1000" dirty="0"/>
          </a:p>
        </p:txBody>
      </p:sp>
      <p:sp>
        <p:nvSpPr>
          <p:cNvPr id="27" name="Text 24"/>
          <p:cNvSpPr txBox="1"/>
          <p:nvPr/>
        </p:nvSpPr>
        <p:spPr>
          <a:xfrm>
            <a:off x="6748272" y="351129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至少 30 人天免费的系统功能优化完善和维护服务</a:t>
            </a:r>
            <a:endParaRPr lang="en-US" sz="1000" dirty="0"/>
          </a:p>
        </p:txBody>
      </p:sp>
      <p:sp>
        <p:nvSpPr>
          <p:cNvPr id="28" name="Shape 25"/>
          <p:cNvSpPr/>
          <p:nvPr/>
        </p:nvSpPr>
        <p:spPr>
          <a:xfrm>
            <a:off x="6583680" y="398678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Text 26"/>
          <p:cNvSpPr txBox="1"/>
          <p:nvPr/>
        </p:nvSpPr>
        <p:spPr>
          <a:xfrm>
            <a:off x="6748272" y="404164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长期</a:t>
            </a:r>
            <a:endParaRPr lang="en-US" sz="1100" dirty="0"/>
          </a:p>
        </p:txBody>
      </p:sp>
      <p:sp>
        <p:nvSpPr>
          <p:cNvPr id="30" name="Shape 27"/>
          <p:cNvSpPr/>
          <p:nvPr/>
        </p:nvSpPr>
        <p:spPr>
          <a:xfrm>
            <a:off x="8357616" y="4078224"/>
            <a:ext cx="1097280" cy="237744"/>
          </a:xfrm>
          <a:prstGeom prst="roundRect">
            <a:avLst>
              <a:gd name="adj" fmla="val 15385"/>
            </a:avLst>
          </a:prstGeom>
          <a:solidFill>
            <a:srgbClr val="F97B00"/>
          </a:solidFill>
          <a:ln/>
        </p:spPr>
      </p:sp>
      <p:sp>
        <p:nvSpPr>
          <p:cNvPr id="31" name="Text 28"/>
          <p:cNvSpPr txBox="1"/>
          <p:nvPr/>
        </p:nvSpPr>
        <p:spPr>
          <a:xfrm>
            <a:off x="8357616" y="407822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远程 + 定期巡检</a:t>
            </a:r>
            <a:endParaRPr lang="en-US" sz="1000" dirty="0"/>
          </a:p>
        </p:txBody>
      </p:sp>
      <p:sp>
        <p:nvSpPr>
          <p:cNvPr id="32" name="Text 29"/>
          <p:cNvSpPr txBox="1"/>
          <p:nvPr/>
        </p:nvSpPr>
        <p:spPr>
          <a:xfrm>
            <a:off x="6748272" y="433425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远程支持通道 7×24；季度健康巡检报告；版本升级与新功能通知</a:t>
            </a:r>
            <a:endParaRPr lang="en-US" sz="1000" dirty="0"/>
          </a:p>
        </p:txBody>
      </p:sp>
      <p:sp>
        <p:nvSpPr>
          <p:cNvPr id="33" name="Shape 30"/>
          <p:cNvSpPr/>
          <p:nvPr/>
        </p:nvSpPr>
        <p:spPr>
          <a:xfrm>
            <a:off x="6583680" y="4809744"/>
            <a:ext cx="5077663" cy="1298448"/>
          </a:xfrm>
          <a:prstGeom prst="roundRect">
            <a:avLst>
              <a:gd name="adj" fmla="val 2465"/>
            </a:avLst>
          </a:prstGeom>
          <a:solidFill>
            <a:srgbClr val="0E2340"/>
          </a:solidFill>
          <a:ln/>
        </p:spPr>
      </p:sp>
      <p:sp>
        <p:nvSpPr>
          <p:cNvPr id="34" name="Text 31"/>
          <p:cNvSpPr txBox="1"/>
          <p:nvPr/>
        </p:nvSpPr>
        <p:spPr>
          <a:xfrm>
            <a:off x="676656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持续优化机制</a:t>
            </a:r>
            <a:endParaRPr lang="en-US" sz="1100" dirty="0"/>
          </a:p>
        </p:txBody>
      </p:sp>
      <p:sp>
        <p:nvSpPr>
          <p:cNvPr id="35" name="Text 32"/>
          <p:cNvSpPr txBox="1"/>
          <p:nvPr/>
        </p:nvSpPr>
        <p:spPr>
          <a:xfrm>
            <a:off x="6766560" y="5175504"/>
            <a:ext cx="4711903" cy="859536"/>
          </a:xfrm>
          <a:prstGeom prst="rect">
            <a:avLst/>
          </a:prstGeom>
          <a:noFill/>
          <a:ln/>
        </p:spPr>
        <p:txBody>
          <a:bodyPr wrap="square" lIns="0" tIns="0" rIns="0" bIns="0" rtlCol="0" anchor="ctr"/>
          <a:lstStyle/>
          <a:p>
            <a:pPr indent="0" marL="0">
              <a:lnSpc>
                <a:spcPct val="106000"/>
              </a:lnSpc>
              <a:buNone/>
            </a:pPr>
            <a:r>
              <a:rPr lang="en-US" sz="1000" dirty="0">
                <a:solidFill>
                  <a:srgbClr val="D6DFE9"/>
                </a:solidFill>
                <a:latin typeface="Calibri" pitchFamily="34" charset="0"/>
                <a:ea typeface="Calibri" pitchFamily="34" charset="-122"/>
                <a:cs typeface="Calibri" pitchFamily="34" charset="-120"/>
              </a:rPr>
              <a:t>每月输出《园区运营数据分析与优化建议报告》：物流等待时长与月台效率、消防误报 TOP 点位、安防违规趋势、工单闭环率与超期分布、外协服务质量得分。以数据驱动流程与阈值迭代，而不是等用户提问题才动。</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05</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联想差异化优势</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制造业母本工厂实践</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典型案例与可复用资产</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国际化布局与跨境合规经验</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全球化实践、服务陪伴与 AI 战略</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六大差异化优势总结</a:t>
            </a:r>
            <a:endParaRPr lang="en-US" sz="13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优势一：联想自己就是制造业园区的重度使用者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"母本工厂"模式——我们先在自己的园区里跑通，再把验证过的模式交付给客户</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联想全球制造与园区布局</a:t>
            </a:r>
            <a:endParaRPr lang="en-US" sz="1250" dirty="0"/>
          </a:p>
        </p:txBody>
      </p:sp>
      <p:sp>
        <p:nvSpPr>
          <p:cNvPr id="7" name="Shape 5"/>
          <p:cNvSpPr/>
          <p:nvPr/>
        </p:nvSpPr>
        <p:spPr>
          <a:xfrm>
            <a:off x="530352" y="151790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00784"/>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9415"/>
            <a:ext cx="185075" cy="185075"/>
          </a:xfrm>
          <a:prstGeom prst="rect">
            <a:avLst/>
          </a:prstGeom>
        </p:spPr>
      </p:pic>
      <p:sp>
        <p:nvSpPr>
          <p:cNvPr id="10" name="Text 7"/>
          <p:cNvSpPr txBox="1"/>
          <p:nvPr/>
        </p:nvSpPr>
        <p:spPr>
          <a:xfrm>
            <a:off x="1225296" y="1572768"/>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合肥联宝（LCFC）</a:t>
            </a:r>
            <a:endParaRPr lang="en-US" sz="1150" dirty="0"/>
          </a:p>
        </p:txBody>
      </p:sp>
      <p:sp>
        <p:nvSpPr>
          <p:cNvPr id="11" name="Text 8"/>
          <p:cNvSpPr txBox="1"/>
          <p:nvPr/>
        </p:nvSpPr>
        <p:spPr>
          <a:xfrm>
            <a:off x="3456432" y="1572768"/>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全球最大 PC 制造基地</a:t>
            </a:r>
            <a:endParaRPr lang="en-US" sz="1000" dirty="0"/>
          </a:p>
        </p:txBody>
      </p:sp>
      <p:sp>
        <p:nvSpPr>
          <p:cNvPr id="12" name="Text 9"/>
          <p:cNvSpPr txBox="1"/>
          <p:nvPr/>
        </p:nvSpPr>
        <p:spPr>
          <a:xfrm>
            <a:off x="1225296" y="1828800"/>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占地约 457 亩，含 17 万㎡ 业界最大单体厂房与 10 万㎡ HUB 仓库；18 条 SMT 产线 + 26 条整机组装线，PC 年产能 4000 万台套；2023 年获评全球智能制造"灯塔工厂"、国家卓越级智能工厂</a:t>
            </a:r>
            <a:endParaRPr lang="en-US" sz="1000" dirty="0"/>
          </a:p>
        </p:txBody>
      </p:sp>
      <p:sp>
        <p:nvSpPr>
          <p:cNvPr id="13" name="Shape 10"/>
          <p:cNvSpPr/>
          <p:nvPr/>
        </p:nvSpPr>
        <p:spPr>
          <a:xfrm>
            <a:off x="530352" y="237744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60320"/>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68951"/>
            <a:ext cx="185075" cy="185075"/>
          </a:xfrm>
          <a:prstGeom prst="rect">
            <a:avLst/>
          </a:prstGeom>
        </p:spPr>
      </p:pic>
      <p:sp>
        <p:nvSpPr>
          <p:cNvPr id="16" name="Text 12"/>
          <p:cNvSpPr txBox="1"/>
          <p:nvPr/>
        </p:nvSpPr>
        <p:spPr>
          <a:xfrm>
            <a:off x="1225296" y="2432304"/>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武汉产业基地</a:t>
            </a:r>
            <a:endParaRPr lang="en-US" sz="1150" dirty="0"/>
          </a:p>
        </p:txBody>
      </p:sp>
      <p:sp>
        <p:nvSpPr>
          <p:cNvPr id="17" name="Text 13"/>
          <p:cNvSpPr txBox="1"/>
          <p:nvPr/>
        </p:nvSpPr>
        <p:spPr>
          <a:xfrm>
            <a:off x="3456432" y="2432304"/>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贵方已实地考察</a:t>
            </a:r>
            <a:endParaRPr lang="en-US" sz="1000" dirty="0"/>
          </a:p>
        </p:txBody>
      </p:sp>
      <p:sp>
        <p:nvSpPr>
          <p:cNvPr id="18" name="Text 14"/>
          <p:cNvSpPr txBox="1"/>
          <p:nvPr/>
        </p:nvSpPr>
        <p:spPr>
          <a:xfrm>
            <a:off x="1225296" y="2688336"/>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智慧园区与智能制造一体化建设，多园区运营中台首批试点；感谢贵方前期到访，方案中的多项设计即来自该基地的实际运行版本</a:t>
            </a:r>
            <a:endParaRPr lang="en-US" sz="1000" dirty="0"/>
          </a:p>
        </p:txBody>
      </p:sp>
      <p:sp>
        <p:nvSpPr>
          <p:cNvPr id="19" name="Shape 15"/>
          <p:cNvSpPr/>
          <p:nvPr/>
        </p:nvSpPr>
        <p:spPr>
          <a:xfrm>
            <a:off x="530352" y="3236976"/>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41985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528487"/>
            <a:ext cx="185075" cy="185075"/>
          </a:xfrm>
          <a:prstGeom prst="rect">
            <a:avLst/>
          </a:prstGeom>
        </p:spPr>
      </p:pic>
      <p:sp>
        <p:nvSpPr>
          <p:cNvPr id="22" name="Text 17"/>
          <p:cNvSpPr txBox="1"/>
          <p:nvPr/>
        </p:nvSpPr>
        <p:spPr>
          <a:xfrm>
            <a:off x="1225296" y="3291840"/>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天津 / 深圳基地</a:t>
            </a:r>
            <a:endParaRPr lang="en-US" sz="1150" dirty="0"/>
          </a:p>
        </p:txBody>
      </p:sp>
      <p:sp>
        <p:nvSpPr>
          <p:cNvPr id="23" name="Text 18"/>
          <p:cNvSpPr txBox="1"/>
          <p:nvPr/>
        </p:nvSpPr>
        <p:spPr>
          <a:xfrm>
            <a:off x="3456432" y="3291840"/>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创新与服务器制造</a:t>
            </a:r>
            <a:endParaRPr lang="en-US" sz="1000" dirty="0"/>
          </a:p>
        </p:txBody>
      </p:sp>
      <p:sp>
        <p:nvSpPr>
          <p:cNvPr id="24" name="Text 19"/>
          <p:cNvSpPr txBox="1"/>
          <p:nvPr/>
        </p:nvSpPr>
        <p:spPr>
          <a:xfrm>
            <a:off x="1225296" y="3547872"/>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安消一体、AI 安防、外协管理全模块落地，带电与老化测试场景的监测策略在此沉淀</a:t>
            </a:r>
            <a:endParaRPr lang="en-US" sz="1000" dirty="0"/>
          </a:p>
        </p:txBody>
      </p:sp>
      <p:sp>
        <p:nvSpPr>
          <p:cNvPr id="25" name="Shape 20"/>
          <p:cNvSpPr/>
          <p:nvPr/>
        </p:nvSpPr>
        <p:spPr>
          <a:xfrm>
            <a:off x="530352" y="409651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79392"/>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88023"/>
            <a:ext cx="185075" cy="185075"/>
          </a:xfrm>
          <a:prstGeom prst="rect">
            <a:avLst/>
          </a:prstGeom>
        </p:spPr>
      </p:pic>
      <p:sp>
        <p:nvSpPr>
          <p:cNvPr id="28" name="Text 22"/>
          <p:cNvSpPr txBox="1"/>
          <p:nvPr/>
        </p:nvSpPr>
        <p:spPr>
          <a:xfrm>
            <a:off x="1225296" y="4151376"/>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全球 30+ 制造基地</a:t>
            </a:r>
            <a:endParaRPr lang="en-US" sz="1150" dirty="0"/>
          </a:p>
        </p:txBody>
      </p:sp>
      <p:sp>
        <p:nvSpPr>
          <p:cNvPr id="29" name="Text 23"/>
          <p:cNvSpPr txBox="1"/>
          <p:nvPr/>
        </p:nvSpPr>
        <p:spPr>
          <a:xfrm>
            <a:off x="3456432" y="4151376"/>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多国多园区</a:t>
            </a:r>
            <a:endParaRPr lang="en-US" sz="1000" dirty="0"/>
          </a:p>
        </p:txBody>
      </p:sp>
      <p:sp>
        <p:nvSpPr>
          <p:cNvPr id="30" name="Text 24"/>
          <p:cNvSpPr txBox="1"/>
          <p:nvPr/>
        </p:nvSpPr>
        <p:spPr>
          <a:xfrm>
            <a:off x="1225296" y="4407408"/>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"总部—区域—园区"三级管理架构在真实多园区场景中长期运行验证</a:t>
            </a:r>
            <a:endParaRPr lang="en-US" sz="100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为什么"母本工厂"对本项目有价值</a:t>
            </a:r>
            <a:endParaRPr lang="en-US" sz="1250" dirty="0"/>
          </a:p>
        </p:txBody>
      </p:sp>
      <p:sp>
        <p:nvSpPr>
          <p:cNvPr id="33" name="Shape 27"/>
          <p:cNvSpPr/>
          <p:nvPr/>
        </p:nvSpPr>
        <p:spPr>
          <a:xfrm>
            <a:off x="6309360" y="1517904"/>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4" name="Text 28"/>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懂制造业供应链节奏</a:t>
            </a:r>
            <a:endParaRPr lang="en-US" sz="1150" dirty="0"/>
          </a:p>
        </p:txBody>
      </p:sp>
      <p:sp>
        <p:nvSpPr>
          <p:cNvPr id="35" name="Text 29"/>
          <p:cNvSpPr txBox="1"/>
          <p:nvPr/>
        </p:nvSpPr>
        <p:spPr>
          <a:xfrm>
            <a:off x="6492240" y="1828800"/>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联宝 10 万㎡ HUB 仓库支撑 40 条产线的拉动式配送，我们理解供应链齿轮咬合下园区管理的时效约束，方案设计从产线节拍倒推而非从物业视角出发</a:t>
            </a:r>
            <a:endParaRPr lang="en-US" sz="1000" dirty="0"/>
          </a:p>
        </p:txBody>
      </p:sp>
      <p:sp>
        <p:nvSpPr>
          <p:cNvPr id="36" name="Shape 30"/>
          <p:cNvSpPr/>
          <p:nvPr/>
        </p:nvSpPr>
        <p:spPr>
          <a:xfrm>
            <a:off x="6309360" y="2377440"/>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7" name="Text 31"/>
          <p:cNvSpPr txBox="1"/>
          <p:nvPr/>
        </p:nvSpPr>
        <p:spPr>
          <a:xfrm>
            <a:off x="6492240" y="2432304"/>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懂危化与带电场景</a:t>
            </a:r>
            <a:endParaRPr lang="en-US" sz="1150" dirty="0"/>
          </a:p>
        </p:txBody>
      </p:sp>
      <p:sp>
        <p:nvSpPr>
          <p:cNvPr id="38" name="Text 32"/>
          <p:cNvSpPr txBox="1"/>
          <p:nvPr/>
        </p:nvSpPr>
        <p:spPr>
          <a:xfrm>
            <a:off x="6492240" y="2688336"/>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电池、PACK、老化测试、带电测试等场景的 AI 识别与 IoT 监测，我们在自有电池与服务器产线上已有落地经验</a:t>
            </a:r>
            <a:endParaRPr lang="en-US" sz="1000" dirty="0"/>
          </a:p>
        </p:txBody>
      </p:sp>
      <p:sp>
        <p:nvSpPr>
          <p:cNvPr id="39" name="Shape 33"/>
          <p:cNvSpPr/>
          <p:nvPr/>
        </p:nvSpPr>
        <p:spPr>
          <a:xfrm>
            <a:off x="6309360" y="3236976"/>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Text 34"/>
          <p:cNvSpPr txBox="1"/>
          <p:nvPr/>
        </p:nvSpPr>
        <p:spPr>
          <a:xfrm>
            <a:off x="6492240" y="3291840"/>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懂多园区协同</a:t>
            </a:r>
            <a:endParaRPr lang="en-US" sz="1150" dirty="0"/>
          </a:p>
        </p:txBody>
      </p:sp>
      <p:sp>
        <p:nvSpPr>
          <p:cNvPr id="41" name="Text 35"/>
          <p:cNvSpPr txBox="1"/>
          <p:nvPr/>
        </p:nvSpPr>
        <p:spPr>
          <a:xfrm>
            <a:off x="6492240" y="3547872"/>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跨基地转运、成本中心归集、区域统筹在联想内部是日常运营，不是纸面设计</a:t>
            </a:r>
            <a:endParaRPr lang="en-US" sz="1000" dirty="0"/>
          </a:p>
        </p:txBody>
      </p:sp>
      <p:sp>
        <p:nvSpPr>
          <p:cNvPr id="42" name="Shape 36"/>
          <p:cNvSpPr/>
          <p:nvPr/>
        </p:nvSpPr>
        <p:spPr>
          <a:xfrm>
            <a:off x="6309360" y="4096512"/>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3" name="Text 37"/>
          <p:cNvSpPr txBox="1"/>
          <p:nvPr/>
        </p:nvSpPr>
        <p:spPr>
          <a:xfrm>
            <a:off x="6492240" y="4151376"/>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 IT 与 OT 融合</a:t>
            </a:r>
            <a:endParaRPr lang="en-US" sz="1150" dirty="0"/>
          </a:p>
        </p:txBody>
      </p:sp>
      <p:sp>
        <p:nvSpPr>
          <p:cNvPr id="44" name="Text 38"/>
          <p:cNvSpPr txBox="1"/>
          <p:nvPr/>
        </p:nvSpPr>
        <p:spPr>
          <a:xfrm>
            <a:off x="6492240" y="4407408"/>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ESB 集成、MDM 主数据、EHS 联动均在联想自有 IT 体系内长期运行，集成方法论成熟</a:t>
            </a:r>
            <a:endParaRPr lang="en-US" sz="1000" dirty="0"/>
          </a:p>
        </p:txBody>
      </p:sp>
      <p:sp>
        <p:nvSpPr>
          <p:cNvPr id="45" name="Shape 39"/>
          <p:cNvSpPr/>
          <p:nvPr/>
        </p:nvSpPr>
        <p:spPr>
          <a:xfrm>
            <a:off x="530352" y="4919472"/>
            <a:ext cx="11130991" cy="969264"/>
          </a:xfrm>
          <a:prstGeom prst="roundRect">
            <a:avLst>
              <a:gd name="adj" fmla="val 3302"/>
            </a:avLst>
          </a:prstGeom>
          <a:solidFill>
            <a:srgbClr val="0E2340"/>
          </a:solidFill>
          <a:ln/>
        </p:spPr>
      </p:sp>
      <p:sp>
        <p:nvSpPr>
          <p:cNvPr id="46" name="Text 40"/>
          <p:cNvSpPr txBox="1"/>
          <p:nvPr/>
        </p:nvSpPr>
        <p:spPr>
          <a:xfrm>
            <a:off x="786384" y="5010912"/>
            <a:ext cx="10618927" cy="786384"/>
          </a:xfrm>
          <a:prstGeom prst="rect">
            <a:avLst/>
          </a:prstGeom>
          <a:noFill/>
          <a:ln/>
        </p:spPr>
        <p:txBody>
          <a:bodyPr wrap="square" lIns="0" tIns="0" rIns="0" bIns="0" rtlCol="0" anchor="ctr"/>
          <a:lstStyle/>
          <a:p>
            <a:pPr indent="0" marL="0">
              <a:lnSpc>
                <a:spcPct val="116000"/>
              </a:lnSpc>
              <a:buNone/>
            </a:pPr>
            <a:r>
              <a:rPr lang="en-US" sz="1150" dirty="0">
                <a:solidFill>
                  <a:srgbClr val="FFFFFF"/>
                </a:solidFill>
                <a:latin typeface="Calibri" pitchFamily="34" charset="0"/>
                <a:ea typeface="Calibri" pitchFamily="34" charset="-122"/>
                <a:cs typeface="Calibri" pitchFamily="34" charset="-120"/>
              </a:rPr>
              <a:t>母本工厂模式的实质：我们先在自己的园区里承担试错成本，把跑通的数据标准、流程模板与联动策略沉淀下来，再作为可复用资产交付给贵方——贵方在武汉基地看到的，就是这些资产在真实生产环境中的运行状态。</a:t>
            </a:r>
            <a:endParaRPr lang="en-US" sz="11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优势二：典型案例与可直接复用的资产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不谈别家园区的效益数字，只谈哪些成果能原样搬到阳光电源产业园</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典型案例</a:t>
            </a:r>
            <a:endParaRPr lang="en-US" sz="1250" dirty="0"/>
          </a:p>
        </p:txBody>
      </p:sp>
      <p:sp>
        <p:nvSpPr>
          <p:cNvPr id="7" name="Shape 5"/>
          <p:cNvSpPr/>
          <p:nvPr/>
        </p:nvSpPr>
        <p:spPr>
          <a:xfrm>
            <a:off x="530352" y="1517904"/>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92224"/>
            <a:ext cx="310896" cy="310896"/>
          </a:xfrm>
          <a:prstGeom prst="ellipse">
            <a:avLst/>
          </a:prstGeom>
          <a:solidFill>
            <a:srgbClr val="F97B00"/>
          </a:solidFill>
          <a:ln/>
        </p:spPr>
      </p:sp>
      <p:sp>
        <p:nvSpPr>
          <p:cNvPr id="9" name="Text 7"/>
          <p:cNvSpPr txBox="1"/>
          <p:nvPr/>
        </p:nvSpPr>
        <p:spPr>
          <a:xfrm>
            <a:off x="71323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572768"/>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联想智能制造多园区运营中台</a:t>
            </a:r>
            <a:endParaRPr lang="en-US" sz="1150" dirty="0"/>
          </a:p>
        </p:txBody>
      </p:sp>
      <p:sp>
        <p:nvSpPr>
          <p:cNvPr id="11" name="Shape 9"/>
          <p:cNvSpPr/>
          <p:nvPr/>
        </p:nvSpPr>
        <p:spPr>
          <a:xfrm>
            <a:off x="5486400" y="1609344"/>
            <a:ext cx="914400" cy="237744"/>
          </a:xfrm>
          <a:prstGeom prst="roundRect">
            <a:avLst>
              <a:gd name="adj" fmla="val 15385"/>
            </a:avLst>
          </a:prstGeom>
          <a:solidFill>
            <a:srgbClr val="FDEEDD"/>
          </a:solidFill>
          <a:ln w="9525">
            <a:solidFill>
              <a:srgbClr val="F3CDA5"/>
            </a:solidFill>
            <a:prstDash val="solid"/>
          </a:ln>
        </p:spPr>
      </p:sp>
      <p:sp>
        <p:nvSpPr>
          <p:cNvPr id="12" name="Text 10"/>
          <p:cNvSpPr txBox="1"/>
          <p:nvPr/>
        </p:nvSpPr>
        <p:spPr>
          <a:xfrm>
            <a:off x="5486400" y="1609344"/>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联想全球</a:t>
            </a:r>
            <a:endParaRPr lang="en-US" sz="1000" dirty="0"/>
          </a:p>
        </p:txBody>
      </p:sp>
      <p:sp>
        <p:nvSpPr>
          <p:cNvPr id="13" name="Text 11"/>
          <p:cNvSpPr txBox="1"/>
          <p:nvPr/>
        </p:nvSpPr>
        <p:spPr>
          <a:xfrm>
            <a:off x="1133856" y="1865376"/>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园区管理平台 + 智慧物业 + 3D 可视化 + 领导驾驶舱；厂区运输管理（货车与垛口管理、AI 监测、动线管理）；智慧建筑管理（能源/安全/配电/空调/视频/门禁/电梯/入侵报警/消防/停车/广播）</a:t>
            </a:r>
            <a:endParaRPr lang="en-US" sz="1000" dirty="0"/>
          </a:p>
        </p:txBody>
      </p:sp>
      <p:sp>
        <p:nvSpPr>
          <p:cNvPr id="14" name="Shape 12"/>
          <p:cNvSpPr/>
          <p:nvPr/>
        </p:nvSpPr>
        <p:spPr>
          <a:xfrm>
            <a:off x="530352" y="2487168"/>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3"/>
          <p:cNvSpPr/>
          <p:nvPr/>
        </p:nvSpPr>
        <p:spPr>
          <a:xfrm>
            <a:off x="713232" y="2761488"/>
            <a:ext cx="310896" cy="310896"/>
          </a:xfrm>
          <a:prstGeom prst="ellipse">
            <a:avLst/>
          </a:prstGeom>
          <a:solidFill>
            <a:srgbClr val="F97B00"/>
          </a:solidFill>
          <a:ln/>
        </p:spPr>
      </p:sp>
      <p:sp>
        <p:nvSpPr>
          <p:cNvPr id="16" name="Text 14"/>
          <p:cNvSpPr txBox="1"/>
          <p:nvPr/>
        </p:nvSpPr>
        <p:spPr>
          <a:xfrm>
            <a:off x="713232" y="2761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1133856" y="2542032"/>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联想全球总部（北京）园区</a:t>
            </a:r>
            <a:endParaRPr lang="en-US" sz="1150" dirty="0"/>
          </a:p>
        </p:txBody>
      </p:sp>
      <p:sp>
        <p:nvSpPr>
          <p:cNvPr id="18" name="Shape 16"/>
          <p:cNvSpPr/>
          <p:nvPr/>
        </p:nvSpPr>
        <p:spPr>
          <a:xfrm>
            <a:off x="5486400" y="2578608"/>
            <a:ext cx="914400" cy="237744"/>
          </a:xfrm>
          <a:prstGeom prst="roundRect">
            <a:avLst>
              <a:gd name="adj" fmla="val 15385"/>
            </a:avLst>
          </a:prstGeom>
          <a:solidFill>
            <a:srgbClr val="FDEEDD"/>
          </a:solidFill>
          <a:ln w="9525">
            <a:solidFill>
              <a:srgbClr val="F3CDA5"/>
            </a:solidFill>
            <a:prstDash val="solid"/>
          </a:ln>
        </p:spPr>
      </p:sp>
      <p:sp>
        <p:nvSpPr>
          <p:cNvPr id="19" name="Text 17"/>
          <p:cNvSpPr txBox="1"/>
          <p:nvPr/>
        </p:nvSpPr>
        <p:spPr>
          <a:xfrm>
            <a:off x="5486400" y="2578608"/>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北京</a:t>
            </a:r>
            <a:endParaRPr lang="en-US" sz="1000" dirty="0"/>
          </a:p>
        </p:txBody>
      </p:sp>
      <p:sp>
        <p:nvSpPr>
          <p:cNvPr id="20" name="Text 18"/>
          <p:cNvSpPr txBox="1"/>
          <p:nvPr/>
        </p:nvSpPr>
        <p:spPr>
          <a:xfrm>
            <a:off x="1133856" y="2834640"/>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统一门户与态势驾驶舱、AI 安防、访客与门禁一体化、能源与碳计量、智慧餐厅与公共服务</a:t>
            </a:r>
            <a:endParaRPr lang="en-US" sz="1000" dirty="0"/>
          </a:p>
        </p:txBody>
      </p:sp>
      <p:sp>
        <p:nvSpPr>
          <p:cNvPr id="21" name="Shape 19"/>
          <p:cNvSpPr/>
          <p:nvPr/>
        </p:nvSpPr>
        <p:spPr>
          <a:xfrm>
            <a:off x="530352" y="3456432"/>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3730752"/>
            <a:ext cx="310896" cy="310896"/>
          </a:xfrm>
          <a:prstGeom prst="ellipse">
            <a:avLst/>
          </a:prstGeom>
          <a:solidFill>
            <a:srgbClr val="F97B00"/>
          </a:solidFill>
          <a:ln/>
        </p:spPr>
      </p:sp>
      <p:sp>
        <p:nvSpPr>
          <p:cNvPr id="23" name="Text 21"/>
          <p:cNvSpPr txBox="1"/>
          <p:nvPr/>
        </p:nvSpPr>
        <p:spPr>
          <a:xfrm>
            <a:off x="713232" y="3730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133856" y="3511296"/>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武汉联特科技智慧园区项目</a:t>
            </a:r>
            <a:endParaRPr lang="en-US" sz="1150" dirty="0"/>
          </a:p>
        </p:txBody>
      </p:sp>
      <p:sp>
        <p:nvSpPr>
          <p:cNvPr id="25" name="Shape 23"/>
          <p:cNvSpPr/>
          <p:nvPr/>
        </p:nvSpPr>
        <p:spPr>
          <a:xfrm>
            <a:off x="5486400" y="3547872"/>
            <a:ext cx="914400" cy="237744"/>
          </a:xfrm>
          <a:prstGeom prst="roundRect">
            <a:avLst>
              <a:gd name="adj" fmla="val 15385"/>
            </a:avLst>
          </a:prstGeom>
          <a:solidFill>
            <a:srgbClr val="FDEEDD"/>
          </a:solidFill>
          <a:ln w="9525">
            <a:solidFill>
              <a:srgbClr val="F3CDA5"/>
            </a:solidFill>
            <a:prstDash val="solid"/>
          </a:ln>
        </p:spPr>
      </p:sp>
      <p:sp>
        <p:nvSpPr>
          <p:cNvPr id="26" name="Text 24"/>
          <p:cNvSpPr txBox="1"/>
          <p:nvPr/>
        </p:nvSpPr>
        <p:spPr>
          <a:xfrm>
            <a:off x="5486400" y="3547872"/>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武汉</a:t>
            </a:r>
            <a:endParaRPr lang="en-US" sz="1000" dirty="0"/>
          </a:p>
        </p:txBody>
      </p:sp>
      <p:sp>
        <p:nvSpPr>
          <p:cNvPr id="27" name="Text 25"/>
          <p:cNvSpPr txBox="1"/>
          <p:nvPr/>
        </p:nvSpPr>
        <p:spPr>
          <a:xfrm>
            <a:off x="1133856" y="3803904"/>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园区综合管理平台、智能安防、能源管理、物业与工单闭环，多层级数据权限隔离与 RBAC 模型</a:t>
            </a:r>
            <a:endParaRPr lang="en-US" sz="1000" dirty="0"/>
          </a:p>
        </p:txBody>
      </p:sp>
      <p:sp>
        <p:nvSpPr>
          <p:cNvPr id="28" name="Shape 26"/>
          <p:cNvSpPr/>
          <p:nvPr/>
        </p:nvSpPr>
        <p:spPr>
          <a:xfrm>
            <a:off x="530352" y="4425696"/>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7"/>
          <p:cNvSpPr/>
          <p:nvPr/>
        </p:nvSpPr>
        <p:spPr>
          <a:xfrm>
            <a:off x="713232" y="4700016"/>
            <a:ext cx="310896" cy="310896"/>
          </a:xfrm>
          <a:prstGeom prst="ellipse">
            <a:avLst/>
          </a:prstGeom>
          <a:solidFill>
            <a:srgbClr val="F97B00"/>
          </a:solidFill>
          <a:ln/>
        </p:spPr>
      </p:sp>
      <p:sp>
        <p:nvSpPr>
          <p:cNvPr id="30" name="Text 28"/>
          <p:cNvSpPr txBox="1"/>
          <p:nvPr/>
        </p:nvSpPr>
        <p:spPr>
          <a:xfrm>
            <a:off x="713232" y="47000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1133856" y="4480560"/>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联想合肥联宝智慧园区</a:t>
            </a:r>
            <a:endParaRPr lang="en-US" sz="1150" dirty="0"/>
          </a:p>
        </p:txBody>
      </p:sp>
      <p:sp>
        <p:nvSpPr>
          <p:cNvPr id="32" name="Shape 30"/>
          <p:cNvSpPr/>
          <p:nvPr/>
        </p:nvSpPr>
        <p:spPr>
          <a:xfrm>
            <a:off x="5486400" y="4517136"/>
            <a:ext cx="914400" cy="237744"/>
          </a:xfrm>
          <a:prstGeom prst="roundRect">
            <a:avLst>
              <a:gd name="adj" fmla="val 15385"/>
            </a:avLst>
          </a:prstGeom>
          <a:solidFill>
            <a:srgbClr val="FDEEDD"/>
          </a:solidFill>
          <a:ln w="9525">
            <a:solidFill>
              <a:srgbClr val="F3CDA5"/>
            </a:solidFill>
            <a:prstDash val="solid"/>
          </a:ln>
        </p:spPr>
      </p:sp>
      <p:sp>
        <p:nvSpPr>
          <p:cNvPr id="33" name="Text 31"/>
          <p:cNvSpPr txBox="1"/>
          <p:nvPr/>
        </p:nvSpPr>
        <p:spPr>
          <a:xfrm>
            <a:off x="5486400" y="4517136"/>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合肥</a:t>
            </a:r>
            <a:endParaRPr lang="en-US" sz="1000" dirty="0"/>
          </a:p>
        </p:txBody>
      </p:sp>
      <p:sp>
        <p:nvSpPr>
          <p:cNvPr id="34" name="Text 32"/>
          <p:cNvSpPr txBox="1"/>
          <p:nvPr/>
        </p:nvSpPr>
        <p:spPr>
          <a:xfrm>
            <a:off x="1133856" y="4773168"/>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大规模制造园区供应链齿轮咬合下的月台与库位协同、AI 安全行为识别、外协人员与承包商管理</a:t>
            </a:r>
            <a:endParaRPr lang="en-US" sz="1000" dirty="0"/>
          </a:p>
        </p:txBody>
      </p:sp>
      <p:sp>
        <p:nvSpPr>
          <p:cNvPr id="35" name="Shape 33"/>
          <p:cNvSpPr/>
          <p:nvPr/>
        </p:nvSpPr>
        <p:spPr>
          <a:xfrm>
            <a:off x="6803136" y="1257300"/>
            <a:ext cx="68580" cy="173736"/>
          </a:xfrm>
          <a:prstGeom prst="rect">
            <a:avLst/>
          </a:prstGeom>
          <a:solidFill>
            <a:srgbClr val="F97B00"/>
          </a:solidFill>
          <a:ln/>
        </p:spPr>
      </p:sp>
      <p:sp>
        <p:nvSpPr>
          <p:cNvPr id="36" name="Text 34"/>
          <p:cNvSpPr txBox="1"/>
          <p:nvPr/>
        </p:nvSpPr>
        <p:spPr>
          <a:xfrm>
            <a:off x="6958584"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可直接复用到本项目的资产</a:t>
            </a:r>
            <a:endParaRPr lang="en-US" sz="1250" dirty="0"/>
          </a:p>
        </p:txBody>
      </p:sp>
      <p:sp>
        <p:nvSpPr>
          <p:cNvPr id="37" name="Shape 35"/>
          <p:cNvSpPr/>
          <p:nvPr/>
        </p:nvSpPr>
        <p:spPr>
          <a:xfrm>
            <a:off x="6803136" y="1536192"/>
            <a:ext cx="4858207" cy="768096"/>
          </a:xfrm>
          <a:prstGeom prst="roundRect">
            <a:avLst>
              <a:gd name="adj" fmla="val 4167"/>
            </a:avLst>
          </a:prstGeom>
          <a:solidFill>
            <a:srgbClr val="FFF7EF"/>
          </a:solidFill>
          <a:ln w="9525">
            <a:solidFill>
              <a:srgbClr val="EEDFD0"/>
            </a:solidFill>
            <a:prstDash val="solid"/>
          </a:ln>
        </p:spPr>
      </p:sp>
      <p:sp>
        <p:nvSpPr>
          <p:cNvPr id="38" name="Shape 36"/>
          <p:cNvSpPr/>
          <p:nvPr/>
        </p:nvSpPr>
        <p:spPr>
          <a:xfrm>
            <a:off x="6967728" y="1719072"/>
            <a:ext cx="402336" cy="402336"/>
          </a:xfrm>
          <a:prstGeom prst="ellipse">
            <a:avLst/>
          </a:prstGeom>
          <a:solidFill>
            <a:srgbClr val="F97B00"/>
          </a:solidFill>
          <a:ln/>
        </p:spPr>
      </p:sp>
      <p:pic>
        <p:nvPicPr>
          <p:cNvPr id="39" name="Image 0" descr="preencoded.png">    </p:cNvPr>
          <p:cNvPicPr>
            <a:picLocks noChangeAspect="1"/>
          </p:cNvPicPr>
          <p:nvPr/>
        </p:nvPicPr>
        <p:blipFill>
          <a:blip r:embed="rId1"/>
          <a:stretch>
            <a:fillRect/>
          </a:stretch>
        </p:blipFill>
        <p:spPr>
          <a:xfrm>
            <a:off x="7076359" y="1827703"/>
            <a:ext cx="185075" cy="185075"/>
          </a:xfrm>
          <a:prstGeom prst="rect">
            <a:avLst/>
          </a:prstGeom>
        </p:spPr>
      </p:pic>
      <p:sp>
        <p:nvSpPr>
          <p:cNvPr id="40" name="Text 37"/>
          <p:cNvSpPr txBox="1"/>
          <p:nvPr/>
        </p:nvSpPr>
        <p:spPr>
          <a:xfrm>
            <a:off x="7479792" y="1591056"/>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数据标准</a:t>
            </a:r>
            <a:endParaRPr lang="en-US" sz="1150" dirty="0"/>
          </a:p>
        </p:txBody>
      </p:sp>
      <p:sp>
        <p:nvSpPr>
          <p:cNvPr id="41" name="Text 38"/>
          <p:cNvSpPr txBox="1"/>
          <p:nvPr/>
        </p:nvSpPr>
        <p:spPr>
          <a:xfrm>
            <a:off x="7479792" y="1828800"/>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人 / 车 / 空间 / 设备四类主数据的字段定义、编码规则与数据质量校验规则；数据资产 L1-L5 分级清单模板</a:t>
            </a:r>
            <a:endParaRPr lang="en-US" sz="1000" dirty="0"/>
          </a:p>
        </p:txBody>
      </p:sp>
      <p:sp>
        <p:nvSpPr>
          <p:cNvPr id="42" name="Shape 39"/>
          <p:cNvSpPr/>
          <p:nvPr/>
        </p:nvSpPr>
        <p:spPr>
          <a:xfrm>
            <a:off x="6803136" y="2395728"/>
            <a:ext cx="4858207" cy="768096"/>
          </a:xfrm>
          <a:prstGeom prst="roundRect">
            <a:avLst>
              <a:gd name="adj" fmla="val 4167"/>
            </a:avLst>
          </a:prstGeom>
          <a:solidFill>
            <a:srgbClr val="FFFFFF"/>
          </a:solidFill>
          <a:ln w="9525">
            <a:solidFill>
              <a:srgbClr val="EEDFD0"/>
            </a:solidFill>
            <a:prstDash val="solid"/>
          </a:ln>
        </p:spPr>
      </p:sp>
      <p:sp>
        <p:nvSpPr>
          <p:cNvPr id="43" name="Shape 40"/>
          <p:cNvSpPr/>
          <p:nvPr/>
        </p:nvSpPr>
        <p:spPr>
          <a:xfrm>
            <a:off x="6967728" y="2578608"/>
            <a:ext cx="402336" cy="402336"/>
          </a:xfrm>
          <a:prstGeom prst="ellipse">
            <a:avLst/>
          </a:prstGeom>
          <a:solidFill>
            <a:srgbClr val="F97B00"/>
          </a:solidFill>
          <a:ln/>
        </p:spPr>
      </p:sp>
      <p:pic>
        <p:nvPicPr>
          <p:cNvPr id="44" name="Image 1" descr="preencoded.png">    </p:cNvPr>
          <p:cNvPicPr>
            <a:picLocks noChangeAspect="1"/>
          </p:cNvPicPr>
          <p:nvPr/>
        </p:nvPicPr>
        <p:blipFill>
          <a:blip r:embed="rId2"/>
          <a:stretch>
            <a:fillRect/>
          </a:stretch>
        </p:blipFill>
        <p:spPr>
          <a:xfrm>
            <a:off x="7076359" y="2687239"/>
            <a:ext cx="185075" cy="185075"/>
          </a:xfrm>
          <a:prstGeom prst="rect">
            <a:avLst/>
          </a:prstGeom>
        </p:spPr>
      </p:pic>
      <p:sp>
        <p:nvSpPr>
          <p:cNvPr id="45" name="Text 41"/>
          <p:cNvSpPr txBox="1"/>
          <p:nvPr/>
        </p:nvSpPr>
        <p:spPr>
          <a:xfrm>
            <a:off x="7479792" y="2450592"/>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流程模板</a:t>
            </a:r>
            <a:endParaRPr lang="en-US" sz="1150" dirty="0"/>
          </a:p>
        </p:txBody>
      </p:sp>
      <p:sp>
        <p:nvSpPr>
          <p:cNvPr id="46" name="Text 42"/>
          <p:cNvSpPr txBox="1"/>
          <p:nvPr/>
        </p:nvSpPr>
        <p:spPr>
          <a:xfrm>
            <a:off x="7479792" y="2688336"/>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物流主流程、报警处置、隐患整改、入住退宿、外协考核结算等主流程的状态机与角色权限矩阵</a:t>
            </a:r>
            <a:endParaRPr lang="en-US" sz="1000" dirty="0"/>
          </a:p>
        </p:txBody>
      </p:sp>
      <p:sp>
        <p:nvSpPr>
          <p:cNvPr id="47" name="Shape 43"/>
          <p:cNvSpPr/>
          <p:nvPr/>
        </p:nvSpPr>
        <p:spPr>
          <a:xfrm>
            <a:off x="6803136" y="3255264"/>
            <a:ext cx="4858207" cy="768096"/>
          </a:xfrm>
          <a:prstGeom prst="roundRect">
            <a:avLst>
              <a:gd name="adj" fmla="val 4167"/>
            </a:avLst>
          </a:prstGeom>
          <a:solidFill>
            <a:srgbClr val="FFF7EF"/>
          </a:solidFill>
          <a:ln w="9525">
            <a:solidFill>
              <a:srgbClr val="EEDFD0"/>
            </a:solidFill>
            <a:prstDash val="solid"/>
          </a:ln>
        </p:spPr>
      </p:sp>
      <p:sp>
        <p:nvSpPr>
          <p:cNvPr id="48" name="Shape 44"/>
          <p:cNvSpPr/>
          <p:nvPr/>
        </p:nvSpPr>
        <p:spPr>
          <a:xfrm>
            <a:off x="6967728" y="3438144"/>
            <a:ext cx="402336" cy="402336"/>
          </a:xfrm>
          <a:prstGeom prst="ellipse">
            <a:avLst/>
          </a:prstGeom>
          <a:solidFill>
            <a:srgbClr val="F97B00"/>
          </a:solidFill>
          <a:ln/>
        </p:spPr>
      </p:sp>
      <p:pic>
        <p:nvPicPr>
          <p:cNvPr id="49" name="Image 2" descr="preencoded.png">    </p:cNvPr>
          <p:cNvPicPr>
            <a:picLocks noChangeAspect="1"/>
          </p:cNvPicPr>
          <p:nvPr/>
        </p:nvPicPr>
        <p:blipFill>
          <a:blip r:embed="rId3"/>
          <a:stretch>
            <a:fillRect/>
          </a:stretch>
        </p:blipFill>
        <p:spPr>
          <a:xfrm>
            <a:off x="7076359" y="3546775"/>
            <a:ext cx="185075" cy="185075"/>
          </a:xfrm>
          <a:prstGeom prst="rect">
            <a:avLst/>
          </a:prstGeom>
        </p:spPr>
      </p:pic>
      <p:sp>
        <p:nvSpPr>
          <p:cNvPr id="50" name="Text 45"/>
          <p:cNvSpPr txBox="1"/>
          <p:nvPr/>
        </p:nvSpPr>
        <p:spPr>
          <a:xfrm>
            <a:off x="7479792" y="3310128"/>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联动策略</a:t>
            </a:r>
            <a:endParaRPr lang="en-US" sz="1150" dirty="0"/>
          </a:p>
        </p:txBody>
      </p:sp>
      <p:sp>
        <p:nvSpPr>
          <p:cNvPr id="51" name="Text 46"/>
          <p:cNvSpPr txBox="1"/>
          <p:nvPr/>
        </p:nvSpPr>
        <p:spPr>
          <a:xfrm>
            <a:off x="7479792" y="3547872"/>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消防联动动作表、越界双确认与降误报阈值、工单分级与超期升级规则，均为现场调优后的配置</a:t>
            </a:r>
            <a:endParaRPr lang="en-US" sz="1000" dirty="0"/>
          </a:p>
        </p:txBody>
      </p:sp>
      <p:sp>
        <p:nvSpPr>
          <p:cNvPr id="52" name="Shape 47"/>
          <p:cNvSpPr/>
          <p:nvPr/>
        </p:nvSpPr>
        <p:spPr>
          <a:xfrm>
            <a:off x="6803136" y="4114800"/>
            <a:ext cx="4858207" cy="768096"/>
          </a:xfrm>
          <a:prstGeom prst="roundRect">
            <a:avLst>
              <a:gd name="adj" fmla="val 4167"/>
            </a:avLst>
          </a:prstGeom>
          <a:solidFill>
            <a:srgbClr val="FFFFFF"/>
          </a:solidFill>
          <a:ln w="9525">
            <a:solidFill>
              <a:srgbClr val="EEDFD0"/>
            </a:solidFill>
            <a:prstDash val="solid"/>
          </a:ln>
        </p:spPr>
      </p:sp>
      <p:sp>
        <p:nvSpPr>
          <p:cNvPr id="53" name="Shape 48"/>
          <p:cNvSpPr/>
          <p:nvPr/>
        </p:nvSpPr>
        <p:spPr>
          <a:xfrm>
            <a:off x="6967728" y="4297680"/>
            <a:ext cx="402336" cy="402336"/>
          </a:xfrm>
          <a:prstGeom prst="ellipse">
            <a:avLst/>
          </a:prstGeom>
          <a:solidFill>
            <a:srgbClr val="F97B00"/>
          </a:solidFill>
          <a:ln/>
        </p:spPr>
      </p:sp>
      <p:pic>
        <p:nvPicPr>
          <p:cNvPr id="54" name="Image 3" descr="preencoded.png">    </p:cNvPr>
          <p:cNvPicPr>
            <a:picLocks noChangeAspect="1"/>
          </p:cNvPicPr>
          <p:nvPr/>
        </p:nvPicPr>
        <p:blipFill>
          <a:blip r:embed="rId4"/>
          <a:stretch>
            <a:fillRect/>
          </a:stretch>
        </p:blipFill>
        <p:spPr>
          <a:xfrm>
            <a:off x="7076359" y="4406311"/>
            <a:ext cx="185075" cy="185075"/>
          </a:xfrm>
          <a:prstGeom prst="rect">
            <a:avLst/>
          </a:prstGeom>
        </p:spPr>
      </p:pic>
      <p:sp>
        <p:nvSpPr>
          <p:cNvPr id="55" name="Text 49"/>
          <p:cNvSpPr txBox="1"/>
          <p:nvPr/>
        </p:nvSpPr>
        <p:spPr>
          <a:xfrm>
            <a:off x="7479792" y="4169664"/>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集成方法</a:t>
            </a:r>
            <a:endParaRPr lang="en-US" sz="1150" dirty="0"/>
          </a:p>
        </p:txBody>
      </p:sp>
      <p:sp>
        <p:nvSpPr>
          <p:cNvPr id="56" name="Text 50"/>
          <p:cNvSpPr txBox="1"/>
          <p:nvPr/>
        </p:nvSpPr>
        <p:spPr>
          <a:xfrm>
            <a:off x="7479792" y="4407408"/>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ESB 集成规范、15 类系统接口清单模板、异常补偿与对账机制，接口联调周期可显著压缩</a:t>
            </a:r>
            <a:endParaRPr lang="en-US" sz="1000" dirty="0"/>
          </a:p>
        </p:txBody>
      </p:sp>
      <p:sp>
        <p:nvSpPr>
          <p:cNvPr id="57" name="Shape 51"/>
          <p:cNvSpPr/>
          <p:nvPr/>
        </p:nvSpPr>
        <p:spPr>
          <a:xfrm>
            <a:off x="6803136" y="4974336"/>
            <a:ext cx="4858207" cy="768096"/>
          </a:xfrm>
          <a:prstGeom prst="roundRect">
            <a:avLst>
              <a:gd name="adj" fmla="val 4167"/>
            </a:avLst>
          </a:prstGeom>
          <a:solidFill>
            <a:srgbClr val="FFF7EF"/>
          </a:solidFill>
          <a:ln w="9525">
            <a:solidFill>
              <a:srgbClr val="EEDFD0"/>
            </a:solidFill>
            <a:prstDash val="solid"/>
          </a:ln>
        </p:spPr>
      </p:sp>
      <p:sp>
        <p:nvSpPr>
          <p:cNvPr id="58" name="Shape 52"/>
          <p:cNvSpPr/>
          <p:nvPr/>
        </p:nvSpPr>
        <p:spPr>
          <a:xfrm>
            <a:off x="6967728" y="5157216"/>
            <a:ext cx="402336" cy="402336"/>
          </a:xfrm>
          <a:prstGeom prst="ellipse">
            <a:avLst/>
          </a:prstGeom>
          <a:solidFill>
            <a:srgbClr val="F97B00"/>
          </a:solidFill>
          <a:ln/>
        </p:spPr>
      </p:sp>
      <p:pic>
        <p:nvPicPr>
          <p:cNvPr id="59" name="Image 4" descr="preencoded.png">    </p:cNvPr>
          <p:cNvPicPr>
            <a:picLocks noChangeAspect="1"/>
          </p:cNvPicPr>
          <p:nvPr/>
        </p:nvPicPr>
        <p:blipFill>
          <a:blip r:embed="rId5"/>
          <a:stretch>
            <a:fillRect/>
          </a:stretch>
        </p:blipFill>
        <p:spPr>
          <a:xfrm>
            <a:off x="7076359" y="5265847"/>
            <a:ext cx="185075" cy="185075"/>
          </a:xfrm>
          <a:prstGeom prst="rect">
            <a:avLst/>
          </a:prstGeom>
        </p:spPr>
      </p:pic>
      <p:sp>
        <p:nvSpPr>
          <p:cNvPr id="60" name="Text 53"/>
          <p:cNvSpPr txBox="1"/>
          <p:nvPr/>
        </p:nvSpPr>
        <p:spPr>
          <a:xfrm>
            <a:off x="7479792" y="5029200"/>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考核口径</a:t>
            </a:r>
            <a:endParaRPr lang="en-US" sz="1150" dirty="0"/>
          </a:p>
        </p:txBody>
      </p:sp>
      <p:sp>
        <p:nvSpPr>
          <p:cNvPr id="61" name="Text 54"/>
          <p:cNvSpPr txBox="1"/>
          <p:nvPr/>
        </p:nvSpPr>
        <p:spPr>
          <a:xfrm>
            <a:off x="7479792" y="5266944"/>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等待时长、闭环率、超期率、满意度等指标的口径定义与取数逻辑，避免上线后指标口径反复</a:t>
            </a:r>
            <a:endParaRPr lang="en-US" sz="1000" dirty="0"/>
          </a:p>
        </p:txBody>
      </p:sp>
      <p:sp>
        <p:nvSpPr>
          <p:cNvPr id="62" name="Text 55"/>
          <p:cNvSpPr txBox="1"/>
          <p:nvPr/>
        </p:nvSpPr>
        <p:spPr>
          <a:xfrm>
            <a:off x="6803136" y="5907024"/>
            <a:ext cx="4858207" cy="566928"/>
          </a:xfrm>
          <a:prstGeom prst="rect">
            <a:avLst/>
          </a:prstGeom>
          <a:noFill/>
          <a:ln/>
        </p:spPr>
        <p:txBody>
          <a:bodyPr wrap="square" lIns="0" tIns="0" rIns="0" bIns="0" rtlCol="0" anchor="ctr"/>
          <a:lstStyle/>
          <a:p>
            <a:pPr indent="0" marL="0">
              <a:lnSpc>
                <a:spcPct val="106000"/>
              </a:lnSpc>
              <a:buNone/>
            </a:pPr>
            <a:r>
              <a:rPr lang="en-US" sz="1000" i="1" dirty="0">
                <a:solidFill>
                  <a:srgbClr val="8A949E"/>
                </a:solidFill>
                <a:latin typeface="Calibri" pitchFamily="34" charset="0"/>
                <a:ea typeface="Calibri" pitchFamily="34" charset="-122"/>
                <a:cs typeface="Calibri" pitchFamily="34" charset="-120"/>
              </a:rPr>
              <a:t>说明：本项目不引用其他园区的效益百分比作为承诺值。上述资产的价值在于缩短需求分析与蓝图确认周期、减少接口返工、降低上线后的规则反复；具体目标值在需求分析阶段与贵方业务部门共同测算后写入验收指标。</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优势三：国际化产业布局与跨境合规经验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最大的风险是看不到风险——阳光电源全球化，园区数字化必须同步考虑合规边界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跨境合规与信息安全要求呈现明显的复杂性和多样性</a:t>
            </a:r>
            <a:endParaRPr lang="en-US" sz="1250" dirty="0"/>
          </a:p>
        </p:txBody>
      </p:sp>
      <p:sp>
        <p:nvSpPr>
          <p:cNvPr id="7" name="Shape 5"/>
          <p:cNvSpPr/>
          <p:nvPr/>
        </p:nvSpPr>
        <p:spPr>
          <a:xfrm>
            <a:off x="530352" y="1517904"/>
            <a:ext cx="3588410" cy="731520"/>
          </a:xfrm>
          <a:prstGeom prst="roundRect">
            <a:avLst>
              <a:gd name="adj" fmla="val 4375"/>
            </a:avLst>
          </a:prstGeom>
          <a:solidFill>
            <a:srgbClr val="F6F8FA"/>
          </a:solidFill>
          <a:ln w="9525">
            <a:solidFill>
              <a:srgbClr val="E3E7EB"/>
            </a:solidFill>
            <a:prstDash val="solid"/>
          </a:ln>
        </p:spPr>
      </p:sp>
      <p:sp>
        <p:nvSpPr>
          <p:cNvPr id="8" name="Text 6"/>
          <p:cNvSpPr txBox="1"/>
          <p:nvPr/>
        </p:nvSpPr>
        <p:spPr>
          <a:xfrm>
            <a:off x="694944"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欧盟 / EEA</a:t>
            </a:r>
            <a:endParaRPr lang="en-US" sz="1100" dirty="0"/>
          </a:p>
        </p:txBody>
      </p:sp>
      <p:sp>
        <p:nvSpPr>
          <p:cNvPr id="9" name="Text 7"/>
          <p:cNvSpPr txBox="1"/>
          <p:nvPr/>
        </p:nvSpPr>
        <p:spPr>
          <a:xfrm>
            <a:off x="694944"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GDPR 全面适用，反垃圾邮件规则、跨境传输限制、SCC 标准合同条款</a:t>
            </a:r>
            <a:endParaRPr lang="en-US" sz="1000" dirty="0"/>
          </a:p>
        </p:txBody>
      </p:sp>
      <p:sp>
        <p:nvSpPr>
          <p:cNvPr id="10" name="Shape 8"/>
          <p:cNvSpPr/>
          <p:nvPr/>
        </p:nvSpPr>
        <p:spPr>
          <a:xfrm>
            <a:off x="4301642" y="1517904"/>
            <a:ext cx="3588410" cy="731520"/>
          </a:xfrm>
          <a:prstGeom prst="roundRect">
            <a:avLst>
              <a:gd name="adj" fmla="val 4375"/>
            </a:avLst>
          </a:prstGeom>
          <a:solidFill>
            <a:srgbClr val="FFFFFF"/>
          </a:solidFill>
          <a:ln w="9525">
            <a:solidFill>
              <a:srgbClr val="E3E7EB"/>
            </a:solidFill>
            <a:prstDash val="solid"/>
          </a:ln>
        </p:spPr>
      </p:sp>
      <p:sp>
        <p:nvSpPr>
          <p:cNvPr id="11" name="Text 9"/>
          <p:cNvSpPr txBox="1"/>
          <p:nvPr/>
        </p:nvSpPr>
        <p:spPr>
          <a:xfrm>
            <a:off x="4466234"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a:t>
            </a:r>
            <a:endParaRPr lang="en-US" sz="1100" dirty="0"/>
          </a:p>
        </p:txBody>
      </p:sp>
      <p:sp>
        <p:nvSpPr>
          <p:cNvPr id="12" name="Text 10"/>
          <p:cNvSpPr txBox="1"/>
          <p:nvPr/>
        </p:nvSpPr>
        <p:spPr>
          <a:xfrm>
            <a:off x="4466234"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行业专项法规（COPPA、HIPAA、电信类）+ CAN-SPAM + 50 州泄露通知法 + FTC 执法案例</a:t>
            </a:r>
            <a:endParaRPr lang="en-US" sz="1000" dirty="0"/>
          </a:p>
        </p:txBody>
      </p:sp>
      <p:sp>
        <p:nvSpPr>
          <p:cNvPr id="13" name="Shape 11"/>
          <p:cNvSpPr/>
          <p:nvPr/>
        </p:nvSpPr>
        <p:spPr>
          <a:xfrm>
            <a:off x="8072933" y="1517904"/>
            <a:ext cx="3588410" cy="731520"/>
          </a:xfrm>
          <a:prstGeom prst="roundRect">
            <a:avLst>
              <a:gd name="adj" fmla="val 4375"/>
            </a:avLst>
          </a:prstGeom>
          <a:solidFill>
            <a:srgbClr val="F6F8FA"/>
          </a:solidFill>
          <a:ln w="9525">
            <a:solidFill>
              <a:srgbClr val="E3E7EB"/>
            </a:solidFill>
            <a:prstDash val="solid"/>
          </a:ln>
        </p:spPr>
      </p:sp>
      <p:sp>
        <p:nvSpPr>
          <p:cNvPr id="14" name="Text 12"/>
          <p:cNvSpPr txBox="1"/>
          <p:nvPr/>
        </p:nvSpPr>
        <p:spPr>
          <a:xfrm>
            <a:off x="8237525"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美国各州</a:t>
            </a:r>
            <a:endParaRPr lang="en-US" sz="1100" dirty="0"/>
          </a:p>
        </p:txBody>
      </p:sp>
      <p:sp>
        <p:nvSpPr>
          <p:cNvPr id="15" name="Text 13"/>
          <p:cNvSpPr txBox="1"/>
          <p:nvPr/>
        </p:nvSpPr>
        <p:spPr>
          <a:xfrm>
            <a:off x="8237525"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加州 CCPA/CPRA、科罗拉多 CPA、弗吉尼亚 CDPA、内华达 SB 220 等州级立法</a:t>
            </a:r>
            <a:endParaRPr lang="en-US" sz="1000" dirty="0"/>
          </a:p>
        </p:txBody>
      </p:sp>
      <p:sp>
        <p:nvSpPr>
          <p:cNvPr id="16" name="Shape 14"/>
          <p:cNvSpPr/>
          <p:nvPr/>
        </p:nvSpPr>
        <p:spPr>
          <a:xfrm>
            <a:off x="530352" y="2322576"/>
            <a:ext cx="3588410" cy="731520"/>
          </a:xfrm>
          <a:prstGeom prst="roundRect">
            <a:avLst>
              <a:gd name="adj" fmla="val 4375"/>
            </a:avLst>
          </a:prstGeom>
          <a:solidFill>
            <a:srgbClr val="FFFFFF"/>
          </a:solidFill>
          <a:ln w="9525">
            <a:solidFill>
              <a:srgbClr val="E3E7EB"/>
            </a:solidFill>
            <a:prstDash val="solid"/>
          </a:ln>
        </p:spPr>
      </p:sp>
      <p:sp>
        <p:nvSpPr>
          <p:cNvPr id="17" name="Text 15"/>
          <p:cNvSpPr txBox="1"/>
          <p:nvPr/>
        </p:nvSpPr>
        <p:spPr>
          <a:xfrm>
            <a:off x="694944"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加拿大 / 墨西哥 / 巴西</a:t>
            </a:r>
            <a:endParaRPr lang="en-US" sz="1100" dirty="0"/>
          </a:p>
        </p:txBody>
      </p:sp>
      <p:sp>
        <p:nvSpPr>
          <p:cNvPr id="18" name="Text 16"/>
          <p:cNvSpPr txBox="1"/>
          <p:nvPr/>
        </p:nvSpPr>
        <p:spPr>
          <a:xfrm>
            <a:off x="694944"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PIPEDA、墨西哥联邦个人数据保护法、巴西 LGPD，同意机制各不相同</a:t>
            </a:r>
            <a:endParaRPr lang="en-US" sz="1000" dirty="0"/>
          </a:p>
        </p:txBody>
      </p:sp>
      <p:sp>
        <p:nvSpPr>
          <p:cNvPr id="19" name="Shape 17"/>
          <p:cNvSpPr/>
          <p:nvPr/>
        </p:nvSpPr>
        <p:spPr>
          <a:xfrm>
            <a:off x="4301642" y="2322576"/>
            <a:ext cx="3588410" cy="731520"/>
          </a:xfrm>
          <a:prstGeom prst="roundRect">
            <a:avLst>
              <a:gd name="adj" fmla="val 4375"/>
            </a:avLst>
          </a:prstGeom>
          <a:solidFill>
            <a:srgbClr val="F6F8FA"/>
          </a:solidFill>
          <a:ln w="9525">
            <a:solidFill>
              <a:srgbClr val="E3E7EB"/>
            </a:solidFill>
            <a:prstDash val="solid"/>
          </a:ln>
        </p:spPr>
      </p:sp>
      <p:sp>
        <p:nvSpPr>
          <p:cNvPr id="20" name="Text 18"/>
          <p:cNvSpPr txBox="1"/>
          <p:nvPr/>
        </p:nvSpPr>
        <p:spPr>
          <a:xfrm>
            <a:off x="4466234"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中国</a:t>
            </a:r>
            <a:endParaRPr lang="en-US" sz="1100" dirty="0"/>
          </a:p>
        </p:txBody>
      </p:sp>
      <p:sp>
        <p:nvSpPr>
          <p:cNvPr id="21" name="Text 19"/>
          <p:cNvSpPr txBox="1"/>
          <p:nvPr/>
        </p:nvSpPr>
        <p:spPr>
          <a:xfrm>
            <a:off x="4466234"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《个人信息保护法》《网络安全法》《数据安全法》，重要数据出境评估</a:t>
            </a:r>
            <a:endParaRPr lang="en-US" sz="1000" dirty="0"/>
          </a:p>
        </p:txBody>
      </p:sp>
      <p:sp>
        <p:nvSpPr>
          <p:cNvPr id="22" name="Shape 20"/>
          <p:cNvSpPr/>
          <p:nvPr/>
        </p:nvSpPr>
        <p:spPr>
          <a:xfrm>
            <a:off x="8072933" y="2322576"/>
            <a:ext cx="3588410" cy="731520"/>
          </a:xfrm>
          <a:prstGeom prst="roundRect">
            <a:avLst>
              <a:gd name="adj" fmla="val 4375"/>
            </a:avLst>
          </a:prstGeom>
          <a:solidFill>
            <a:srgbClr val="FFFFFF"/>
          </a:solidFill>
          <a:ln w="9525">
            <a:solidFill>
              <a:srgbClr val="E3E7EB"/>
            </a:solidFill>
            <a:prstDash val="solid"/>
          </a:ln>
        </p:spPr>
      </p:sp>
      <p:sp>
        <p:nvSpPr>
          <p:cNvPr id="23" name="Text 21"/>
          <p:cNvSpPr txBox="1"/>
          <p:nvPr/>
        </p:nvSpPr>
        <p:spPr>
          <a:xfrm>
            <a:off x="8237525"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亚太 / 其他</a:t>
            </a:r>
            <a:endParaRPr lang="en-US" sz="1100" dirty="0"/>
          </a:p>
        </p:txBody>
      </p:sp>
      <p:sp>
        <p:nvSpPr>
          <p:cNvPr id="24" name="Text 22"/>
          <p:cNvSpPr txBox="1"/>
          <p:nvPr/>
        </p:nvSpPr>
        <p:spPr>
          <a:xfrm>
            <a:off x="8237525"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印度个人数据保护法案、泰国 PDPA、澳大利亚 Privacy Act、南非 POPIA、俄罗斯数据本地化法</a:t>
            </a:r>
            <a:endParaRPr lang="en-US" sz="1000" dirty="0"/>
          </a:p>
        </p:txBody>
      </p:sp>
      <p:sp>
        <p:nvSpPr>
          <p:cNvPr id="25" name="Shape 23"/>
          <p:cNvSpPr/>
          <p:nvPr/>
        </p:nvSpPr>
        <p:spPr>
          <a:xfrm>
            <a:off x="530352" y="2999232"/>
            <a:ext cx="6035040" cy="512064"/>
          </a:xfrm>
          <a:prstGeom prst="roundRect">
            <a:avLst>
              <a:gd name="adj" fmla="val 6250"/>
            </a:avLst>
          </a:prstGeom>
          <a:solidFill>
            <a:srgbClr val="0E2340"/>
          </a:solidFill>
          <a:ln/>
        </p:spPr>
      </p:sp>
      <p:sp>
        <p:nvSpPr>
          <p:cNvPr id="26" name="Text 24"/>
          <p:cNvSpPr txBox="1"/>
          <p:nvPr/>
        </p:nvSpPr>
        <p:spPr>
          <a:xfrm>
            <a:off x="530352" y="2999232"/>
            <a:ext cx="603504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风险！ 风险！ 风险！</a:t>
            </a:r>
            <a:endParaRPr lang="en-US" sz="1500" dirty="0"/>
          </a:p>
        </p:txBody>
      </p:sp>
      <p:sp>
        <p:nvSpPr>
          <p:cNvPr id="27" name="Shape 25"/>
          <p:cNvSpPr/>
          <p:nvPr/>
        </p:nvSpPr>
        <p:spPr>
          <a:xfrm>
            <a:off x="530352" y="3566160"/>
            <a:ext cx="529438" cy="713232"/>
          </a:xfrm>
          <a:prstGeom prst="rect">
            <a:avLst/>
          </a:prstGeom>
          <a:solidFill>
            <a:srgbClr val="C25E00"/>
          </a:solidFill>
          <a:ln w="9525">
            <a:solidFill>
              <a:srgbClr val="FFFFFF"/>
            </a:solidFill>
            <a:prstDash val="solid"/>
          </a:ln>
        </p:spPr>
      </p:sp>
      <p:sp>
        <p:nvSpPr>
          <p:cNvPr id="28" name="Text 26"/>
          <p:cNvSpPr txBox="1"/>
          <p:nvPr/>
        </p:nvSpPr>
        <p:spPr>
          <a:xfrm>
            <a:off x="548640"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法规遵从</a:t>
            </a:r>
            <a:endParaRPr lang="en-US" sz="1000" dirty="0"/>
          </a:p>
        </p:txBody>
      </p:sp>
      <p:sp>
        <p:nvSpPr>
          <p:cNvPr id="29" name="Shape 27"/>
          <p:cNvSpPr/>
          <p:nvPr/>
        </p:nvSpPr>
        <p:spPr>
          <a:xfrm>
            <a:off x="1142086" y="3566160"/>
            <a:ext cx="529438" cy="713232"/>
          </a:xfrm>
          <a:prstGeom prst="rect">
            <a:avLst/>
          </a:prstGeom>
          <a:solidFill>
            <a:srgbClr val="C25E00"/>
          </a:solidFill>
          <a:ln w="9525">
            <a:solidFill>
              <a:srgbClr val="FFFFFF"/>
            </a:solidFill>
            <a:prstDash val="solid"/>
          </a:ln>
        </p:spPr>
      </p:sp>
      <p:sp>
        <p:nvSpPr>
          <p:cNvPr id="30" name="Text 28"/>
          <p:cNvSpPr txBox="1"/>
          <p:nvPr/>
        </p:nvSpPr>
        <p:spPr>
          <a:xfrm>
            <a:off x="1160374"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政策透明</a:t>
            </a:r>
            <a:endParaRPr lang="en-US" sz="1000" dirty="0"/>
          </a:p>
        </p:txBody>
      </p:sp>
      <p:sp>
        <p:nvSpPr>
          <p:cNvPr id="31" name="Shape 29"/>
          <p:cNvSpPr/>
          <p:nvPr/>
        </p:nvSpPr>
        <p:spPr>
          <a:xfrm>
            <a:off x="1753819" y="3566160"/>
            <a:ext cx="529438" cy="713232"/>
          </a:xfrm>
          <a:prstGeom prst="rect">
            <a:avLst/>
          </a:prstGeom>
          <a:solidFill>
            <a:srgbClr val="C25E00"/>
          </a:solidFill>
          <a:ln w="9525">
            <a:solidFill>
              <a:srgbClr val="FFFFFF"/>
            </a:solidFill>
            <a:prstDash val="solid"/>
          </a:ln>
        </p:spPr>
      </p:sp>
      <p:sp>
        <p:nvSpPr>
          <p:cNvPr id="32" name="Text 30"/>
          <p:cNvSpPr txBox="1"/>
          <p:nvPr/>
        </p:nvSpPr>
        <p:spPr>
          <a:xfrm>
            <a:off x="1772107"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收集使用合法性</a:t>
            </a:r>
            <a:endParaRPr lang="en-US" sz="1000" dirty="0"/>
          </a:p>
        </p:txBody>
      </p:sp>
      <p:sp>
        <p:nvSpPr>
          <p:cNvPr id="33" name="Shape 31"/>
          <p:cNvSpPr/>
          <p:nvPr/>
        </p:nvSpPr>
        <p:spPr>
          <a:xfrm>
            <a:off x="2365553" y="3566160"/>
            <a:ext cx="529438" cy="713232"/>
          </a:xfrm>
          <a:prstGeom prst="rect">
            <a:avLst/>
          </a:prstGeom>
          <a:solidFill>
            <a:srgbClr val="C25E00"/>
          </a:solidFill>
          <a:ln w="9525">
            <a:solidFill>
              <a:srgbClr val="FFFFFF"/>
            </a:solidFill>
            <a:prstDash val="solid"/>
          </a:ln>
        </p:spPr>
      </p:sp>
      <p:sp>
        <p:nvSpPr>
          <p:cNvPr id="34" name="Text 32"/>
          <p:cNvSpPr txBox="1"/>
          <p:nvPr/>
        </p:nvSpPr>
        <p:spPr>
          <a:xfrm>
            <a:off x="2383841"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传输</a:t>
            </a:r>
            <a:endParaRPr lang="en-US" sz="1000" dirty="0"/>
          </a:p>
        </p:txBody>
      </p:sp>
      <p:sp>
        <p:nvSpPr>
          <p:cNvPr id="35" name="Shape 33"/>
          <p:cNvSpPr/>
          <p:nvPr/>
        </p:nvSpPr>
        <p:spPr>
          <a:xfrm>
            <a:off x="2977286" y="3566160"/>
            <a:ext cx="529438" cy="713232"/>
          </a:xfrm>
          <a:prstGeom prst="rect">
            <a:avLst/>
          </a:prstGeom>
          <a:solidFill>
            <a:srgbClr val="C25E00"/>
          </a:solidFill>
          <a:ln w="9525">
            <a:solidFill>
              <a:srgbClr val="FFFFFF"/>
            </a:solidFill>
            <a:prstDash val="solid"/>
          </a:ln>
        </p:spPr>
      </p:sp>
      <p:sp>
        <p:nvSpPr>
          <p:cNvPr id="36" name="Text 34"/>
          <p:cNvSpPr txBox="1"/>
          <p:nvPr/>
        </p:nvSpPr>
        <p:spPr>
          <a:xfrm>
            <a:off x="2995574"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保护不足</a:t>
            </a:r>
            <a:endParaRPr lang="en-US" sz="1000" dirty="0"/>
          </a:p>
        </p:txBody>
      </p:sp>
      <p:sp>
        <p:nvSpPr>
          <p:cNvPr id="37" name="Shape 35"/>
          <p:cNvSpPr/>
          <p:nvPr/>
        </p:nvSpPr>
        <p:spPr>
          <a:xfrm>
            <a:off x="3589020" y="3566160"/>
            <a:ext cx="529438" cy="713232"/>
          </a:xfrm>
          <a:prstGeom prst="rect">
            <a:avLst/>
          </a:prstGeom>
          <a:solidFill>
            <a:srgbClr val="C25E00"/>
          </a:solidFill>
          <a:ln w="9525">
            <a:solidFill>
              <a:srgbClr val="FFFFFF"/>
            </a:solidFill>
            <a:prstDash val="solid"/>
          </a:ln>
        </p:spPr>
      </p:sp>
      <p:sp>
        <p:nvSpPr>
          <p:cNvPr id="38" name="Text 36"/>
          <p:cNvSpPr txBox="1"/>
          <p:nvPr/>
        </p:nvSpPr>
        <p:spPr>
          <a:xfrm>
            <a:off x="3607308"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第三方合作</a:t>
            </a:r>
            <a:endParaRPr lang="en-US" sz="1000" dirty="0"/>
          </a:p>
        </p:txBody>
      </p:sp>
      <p:sp>
        <p:nvSpPr>
          <p:cNvPr id="39" name="Shape 37"/>
          <p:cNvSpPr/>
          <p:nvPr/>
        </p:nvSpPr>
        <p:spPr>
          <a:xfrm>
            <a:off x="4200754" y="3566160"/>
            <a:ext cx="529438" cy="713232"/>
          </a:xfrm>
          <a:prstGeom prst="rect">
            <a:avLst/>
          </a:prstGeom>
          <a:solidFill>
            <a:srgbClr val="C25E00"/>
          </a:solidFill>
          <a:ln w="9525">
            <a:solidFill>
              <a:srgbClr val="FFFFFF"/>
            </a:solidFill>
            <a:prstDash val="solid"/>
          </a:ln>
        </p:spPr>
      </p:sp>
      <p:sp>
        <p:nvSpPr>
          <p:cNvPr id="40" name="Text 38"/>
          <p:cNvSpPr txBox="1"/>
          <p:nvPr/>
        </p:nvSpPr>
        <p:spPr>
          <a:xfrm>
            <a:off x="4219042"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个人主体权利保护</a:t>
            </a:r>
            <a:endParaRPr lang="en-US" sz="1000" dirty="0"/>
          </a:p>
        </p:txBody>
      </p:sp>
      <p:sp>
        <p:nvSpPr>
          <p:cNvPr id="41" name="Shape 39"/>
          <p:cNvSpPr/>
          <p:nvPr/>
        </p:nvSpPr>
        <p:spPr>
          <a:xfrm>
            <a:off x="4812487" y="3566160"/>
            <a:ext cx="529438" cy="713232"/>
          </a:xfrm>
          <a:prstGeom prst="rect">
            <a:avLst/>
          </a:prstGeom>
          <a:solidFill>
            <a:srgbClr val="C25E00"/>
          </a:solidFill>
          <a:ln w="9525">
            <a:solidFill>
              <a:srgbClr val="FFFFFF"/>
            </a:solidFill>
            <a:prstDash val="solid"/>
          </a:ln>
        </p:spPr>
      </p:sp>
      <p:sp>
        <p:nvSpPr>
          <p:cNvPr id="42" name="Text 40"/>
          <p:cNvSpPr txBox="1"/>
          <p:nvPr/>
        </p:nvSpPr>
        <p:spPr>
          <a:xfrm>
            <a:off x="4830775"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监管与制裁</a:t>
            </a:r>
            <a:endParaRPr lang="en-US" sz="1000" dirty="0"/>
          </a:p>
        </p:txBody>
      </p:sp>
      <p:sp>
        <p:nvSpPr>
          <p:cNvPr id="43" name="Shape 41"/>
          <p:cNvSpPr/>
          <p:nvPr/>
        </p:nvSpPr>
        <p:spPr>
          <a:xfrm>
            <a:off x="5424221" y="3566160"/>
            <a:ext cx="529438" cy="713232"/>
          </a:xfrm>
          <a:prstGeom prst="rect">
            <a:avLst/>
          </a:prstGeom>
          <a:solidFill>
            <a:srgbClr val="C25E00"/>
          </a:solidFill>
          <a:ln w="9525">
            <a:solidFill>
              <a:srgbClr val="FFFFFF"/>
            </a:solidFill>
            <a:prstDash val="solid"/>
          </a:ln>
        </p:spPr>
      </p:sp>
      <p:sp>
        <p:nvSpPr>
          <p:cNvPr id="44" name="Text 42"/>
          <p:cNvSpPr txBox="1"/>
          <p:nvPr/>
        </p:nvSpPr>
        <p:spPr>
          <a:xfrm>
            <a:off x="5442509"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教育与风险意识</a:t>
            </a:r>
            <a:endParaRPr lang="en-US" sz="1000" dirty="0"/>
          </a:p>
        </p:txBody>
      </p:sp>
      <p:sp>
        <p:nvSpPr>
          <p:cNvPr id="45" name="Shape 43"/>
          <p:cNvSpPr/>
          <p:nvPr/>
        </p:nvSpPr>
        <p:spPr>
          <a:xfrm>
            <a:off x="6035954" y="3566160"/>
            <a:ext cx="529438" cy="713232"/>
          </a:xfrm>
          <a:prstGeom prst="rect">
            <a:avLst/>
          </a:prstGeom>
          <a:solidFill>
            <a:srgbClr val="C25E00"/>
          </a:solidFill>
          <a:ln w="9525">
            <a:solidFill>
              <a:srgbClr val="FFFFFF"/>
            </a:solidFill>
            <a:prstDash val="solid"/>
          </a:ln>
        </p:spPr>
      </p:sp>
      <p:sp>
        <p:nvSpPr>
          <p:cNvPr id="46" name="Text 44"/>
          <p:cNvSpPr txBox="1"/>
          <p:nvPr/>
        </p:nvSpPr>
        <p:spPr>
          <a:xfrm>
            <a:off x="6054242"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业务中止</a:t>
            </a:r>
            <a:endParaRPr lang="en-US" sz="1000" dirty="0"/>
          </a:p>
        </p:txBody>
      </p:sp>
      <p:sp>
        <p:nvSpPr>
          <p:cNvPr id="47" name="Shape 45"/>
          <p:cNvSpPr/>
          <p:nvPr/>
        </p:nvSpPr>
        <p:spPr>
          <a:xfrm>
            <a:off x="6803136" y="3104388"/>
            <a:ext cx="68580" cy="173736"/>
          </a:xfrm>
          <a:prstGeom prst="rect">
            <a:avLst/>
          </a:prstGeom>
          <a:solidFill>
            <a:srgbClr val="F97B00"/>
          </a:solidFill>
          <a:ln/>
        </p:spPr>
      </p:sp>
      <p:sp>
        <p:nvSpPr>
          <p:cNvPr id="48" name="Text 46"/>
          <p:cNvSpPr txBox="1"/>
          <p:nvPr/>
        </p:nvSpPr>
        <p:spPr>
          <a:xfrm>
            <a:off x="6958584" y="3054096"/>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实践检验的重点举措</a:t>
            </a:r>
            <a:endParaRPr lang="en-US" sz="1250" dirty="0"/>
          </a:p>
        </p:txBody>
      </p:sp>
      <p:sp>
        <p:nvSpPr>
          <p:cNvPr id="49" name="Shape 47"/>
          <p:cNvSpPr/>
          <p:nvPr/>
        </p:nvSpPr>
        <p:spPr>
          <a:xfrm>
            <a:off x="6803136" y="3383280"/>
            <a:ext cx="4858207" cy="493776"/>
          </a:xfrm>
          <a:prstGeom prst="roundRect">
            <a:avLst>
              <a:gd name="adj" fmla="val 6481"/>
            </a:avLst>
          </a:prstGeom>
          <a:solidFill>
            <a:srgbClr val="FFF7EF"/>
          </a:solidFill>
          <a:ln w="9525">
            <a:solidFill>
              <a:srgbClr val="F6DCC2"/>
            </a:solidFill>
            <a:prstDash val="solid"/>
          </a:ln>
        </p:spPr>
      </p:sp>
      <p:sp>
        <p:nvSpPr>
          <p:cNvPr id="50" name="Shape 48"/>
          <p:cNvSpPr/>
          <p:nvPr/>
        </p:nvSpPr>
        <p:spPr>
          <a:xfrm>
            <a:off x="6967728" y="3502152"/>
            <a:ext cx="256032" cy="256032"/>
          </a:xfrm>
          <a:prstGeom prst="ellipse">
            <a:avLst/>
          </a:prstGeom>
          <a:solidFill>
            <a:srgbClr val="F97B00"/>
          </a:solidFill>
          <a:ln/>
        </p:spPr>
      </p:sp>
      <p:sp>
        <p:nvSpPr>
          <p:cNvPr id="51" name="Text 49"/>
          <p:cNvSpPr txBox="1"/>
          <p:nvPr/>
        </p:nvSpPr>
        <p:spPr>
          <a:xfrm>
            <a:off x="6967728" y="35021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2" name="Text 50"/>
          <p:cNvSpPr txBox="1"/>
          <p:nvPr/>
        </p:nvSpPr>
        <p:spPr>
          <a:xfrm>
            <a:off x="7315200" y="3383280"/>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体系规范</a:t>
            </a:r>
            <a:endParaRPr lang="en-US" sz="1020" dirty="0"/>
          </a:p>
        </p:txBody>
      </p:sp>
      <p:sp>
        <p:nvSpPr>
          <p:cNvPr id="53" name="Text 51"/>
          <p:cNvSpPr txBox="1"/>
          <p:nvPr/>
        </p:nvSpPr>
        <p:spPr>
          <a:xfrm>
            <a:off x="8503920" y="3383280"/>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统一的数据分类分级与个人信息保护制度，覆盖收集、使用、传输、存储、销毁全生命周期</a:t>
            </a:r>
            <a:endParaRPr lang="en-US" sz="1000" dirty="0"/>
          </a:p>
        </p:txBody>
      </p:sp>
      <p:sp>
        <p:nvSpPr>
          <p:cNvPr id="54" name="Shape 52"/>
          <p:cNvSpPr/>
          <p:nvPr/>
        </p:nvSpPr>
        <p:spPr>
          <a:xfrm>
            <a:off x="6803136" y="3950208"/>
            <a:ext cx="4858207" cy="493776"/>
          </a:xfrm>
          <a:prstGeom prst="roundRect">
            <a:avLst>
              <a:gd name="adj" fmla="val 6481"/>
            </a:avLst>
          </a:prstGeom>
          <a:solidFill>
            <a:srgbClr val="FFF7EF"/>
          </a:solidFill>
          <a:ln w="9525">
            <a:solidFill>
              <a:srgbClr val="F6DCC2"/>
            </a:solidFill>
            <a:prstDash val="solid"/>
          </a:ln>
        </p:spPr>
      </p:sp>
      <p:sp>
        <p:nvSpPr>
          <p:cNvPr id="55" name="Shape 53"/>
          <p:cNvSpPr/>
          <p:nvPr/>
        </p:nvSpPr>
        <p:spPr>
          <a:xfrm>
            <a:off x="6967728" y="4069080"/>
            <a:ext cx="256032" cy="256032"/>
          </a:xfrm>
          <a:prstGeom prst="ellipse">
            <a:avLst/>
          </a:prstGeom>
          <a:solidFill>
            <a:srgbClr val="F97B00"/>
          </a:solidFill>
          <a:ln/>
        </p:spPr>
      </p:sp>
      <p:sp>
        <p:nvSpPr>
          <p:cNvPr id="56" name="Text 54"/>
          <p:cNvSpPr txBox="1"/>
          <p:nvPr/>
        </p:nvSpPr>
        <p:spPr>
          <a:xfrm>
            <a:off x="6967728" y="40690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5"/>
          <p:cNvSpPr txBox="1"/>
          <p:nvPr/>
        </p:nvSpPr>
        <p:spPr>
          <a:xfrm>
            <a:off x="7315200" y="3950208"/>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执行指南</a:t>
            </a:r>
            <a:endParaRPr lang="en-US" sz="1020" dirty="0"/>
          </a:p>
        </p:txBody>
      </p:sp>
      <p:sp>
        <p:nvSpPr>
          <p:cNvPr id="58" name="Text 56"/>
          <p:cNvSpPr txBox="1"/>
          <p:nvPr/>
        </p:nvSpPr>
        <p:spPr>
          <a:xfrm>
            <a:off x="8503920" y="3950208"/>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按地区拆解为可操作的作业指南与检查清单，让一线知道具体该怎么做</a:t>
            </a:r>
            <a:endParaRPr lang="en-US" sz="1000" dirty="0"/>
          </a:p>
        </p:txBody>
      </p:sp>
      <p:sp>
        <p:nvSpPr>
          <p:cNvPr id="59" name="Shape 57"/>
          <p:cNvSpPr/>
          <p:nvPr/>
        </p:nvSpPr>
        <p:spPr>
          <a:xfrm>
            <a:off x="6803136" y="4517136"/>
            <a:ext cx="4858207" cy="493776"/>
          </a:xfrm>
          <a:prstGeom prst="roundRect">
            <a:avLst>
              <a:gd name="adj" fmla="val 6481"/>
            </a:avLst>
          </a:prstGeom>
          <a:solidFill>
            <a:srgbClr val="FFF7EF"/>
          </a:solidFill>
          <a:ln w="9525">
            <a:solidFill>
              <a:srgbClr val="F6DCC2"/>
            </a:solidFill>
            <a:prstDash val="solid"/>
          </a:ln>
        </p:spPr>
      </p:sp>
      <p:sp>
        <p:nvSpPr>
          <p:cNvPr id="60" name="Shape 58"/>
          <p:cNvSpPr/>
          <p:nvPr/>
        </p:nvSpPr>
        <p:spPr>
          <a:xfrm>
            <a:off x="6967728" y="4636008"/>
            <a:ext cx="256032" cy="256032"/>
          </a:xfrm>
          <a:prstGeom prst="ellipse">
            <a:avLst/>
          </a:prstGeom>
          <a:solidFill>
            <a:srgbClr val="F97B00"/>
          </a:solidFill>
          <a:ln/>
        </p:spPr>
      </p:sp>
      <p:sp>
        <p:nvSpPr>
          <p:cNvPr id="61" name="Text 59"/>
          <p:cNvSpPr txBox="1"/>
          <p:nvPr/>
        </p:nvSpPr>
        <p:spPr>
          <a:xfrm>
            <a:off x="6967728" y="46360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2" name="Text 60"/>
          <p:cNvSpPr txBox="1"/>
          <p:nvPr/>
        </p:nvSpPr>
        <p:spPr>
          <a:xfrm>
            <a:off x="7315200" y="4517136"/>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组织安排</a:t>
            </a:r>
            <a:endParaRPr lang="en-US" sz="1020" dirty="0"/>
          </a:p>
        </p:txBody>
      </p:sp>
      <p:sp>
        <p:nvSpPr>
          <p:cNvPr id="63" name="Text 61"/>
          <p:cNvSpPr txBox="1"/>
          <p:nvPr/>
        </p:nvSpPr>
        <p:spPr>
          <a:xfrm>
            <a:off x="8503920" y="4517136"/>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设置数据保护责任人与合规接口人，法务、IT、业务三方协同的决策机制</a:t>
            </a:r>
            <a:endParaRPr lang="en-US" sz="1000" dirty="0"/>
          </a:p>
        </p:txBody>
      </p:sp>
      <p:sp>
        <p:nvSpPr>
          <p:cNvPr id="64" name="Shape 62"/>
          <p:cNvSpPr/>
          <p:nvPr/>
        </p:nvSpPr>
        <p:spPr>
          <a:xfrm>
            <a:off x="6803136" y="5084064"/>
            <a:ext cx="4858207" cy="493776"/>
          </a:xfrm>
          <a:prstGeom prst="roundRect">
            <a:avLst>
              <a:gd name="adj" fmla="val 6481"/>
            </a:avLst>
          </a:prstGeom>
          <a:solidFill>
            <a:srgbClr val="FFF7EF"/>
          </a:solidFill>
          <a:ln w="9525">
            <a:solidFill>
              <a:srgbClr val="F6DCC2"/>
            </a:solidFill>
            <a:prstDash val="solid"/>
          </a:ln>
        </p:spPr>
      </p:sp>
      <p:sp>
        <p:nvSpPr>
          <p:cNvPr id="65" name="Shape 63"/>
          <p:cNvSpPr/>
          <p:nvPr/>
        </p:nvSpPr>
        <p:spPr>
          <a:xfrm>
            <a:off x="6967728" y="5202936"/>
            <a:ext cx="256032" cy="256032"/>
          </a:xfrm>
          <a:prstGeom prst="ellipse">
            <a:avLst/>
          </a:prstGeom>
          <a:solidFill>
            <a:srgbClr val="F97B00"/>
          </a:solidFill>
          <a:ln/>
        </p:spPr>
      </p:sp>
      <p:sp>
        <p:nvSpPr>
          <p:cNvPr id="66" name="Text 64"/>
          <p:cNvSpPr txBox="1"/>
          <p:nvPr/>
        </p:nvSpPr>
        <p:spPr>
          <a:xfrm>
            <a:off x="6967728" y="5202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7" name="Text 65"/>
          <p:cNvSpPr txBox="1"/>
          <p:nvPr/>
        </p:nvSpPr>
        <p:spPr>
          <a:xfrm>
            <a:off x="7315200" y="5084064"/>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流程安排</a:t>
            </a:r>
            <a:endParaRPr lang="en-US" sz="1020" dirty="0"/>
          </a:p>
        </p:txBody>
      </p:sp>
      <p:sp>
        <p:nvSpPr>
          <p:cNvPr id="68" name="Text 66"/>
          <p:cNvSpPr txBox="1"/>
          <p:nvPr/>
        </p:nvSpPr>
        <p:spPr>
          <a:xfrm>
            <a:off x="8503920" y="5084064"/>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将合规动作嵌入业务流程节点：PIA/SRA 前置评估、跨境传输审批、第三方尽调</a:t>
            </a:r>
            <a:endParaRPr lang="en-US" sz="1000" dirty="0"/>
          </a:p>
        </p:txBody>
      </p:sp>
      <p:sp>
        <p:nvSpPr>
          <p:cNvPr id="69" name="Shape 67"/>
          <p:cNvSpPr/>
          <p:nvPr/>
        </p:nvSpPr>
        <p:spPr>
          <a:xfrm>
            <a:off x="6803136" y="5650992"/>
            <a:ext cx="4858207" cy="493776"/>
          </a:xfrm>
          <a:prstGeom prst="roundRect">
            <a:avLst>
              <a:gd name="adj" fmla="val 6481"/>
            </a:avLst>
          </a:prstGeom>
          <a:solidFill>
            <a:srgbClr val="FFF7EF"/>
          </a:solidFill>
          <a:ln w="9525">
            <a:solidFill>
              <a:srgbClr val="F6DCC2"/>
            </a:solidFill>
            <a:prstDash val="solid"/>
          </a:ln>
        </p:spPr>
      </p:sp>
      <p:sp>
        <p:nvSpPr>
          <p:cNvPr id="70" name="Shape 68"/>
          <p:cNvSpPr/>
          <p:nvPr/>
        </p:nvSpPr>
        <p:spPr>
          <a:xfrm>
            <a:off x="6967728" y="5769864"/>
            <a:ext cx="256032" cy="256032"/>
          </a:xfrm>
          <a:prstGeom prst="ellipse">
            <a:avLst/>
          </a:prstGeom>
          <a:solidFill>
            <a:srgbClr val="F97B00"/>
          </a:solidFill>
          <a:ln/>
        </p:spPr>
      </p:sp>
      <p:sp>
        <p:nvSpPr>
          <p:cNvPr id="71" name="Text 69"/>
          <p:cNvSpPr txBox="1"/>
          <p:nvPr/>
        </p:nvSpPr>
        <p:spPr>
          <a:xfrm>
            <a:off x="6967728" y="57698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2" name="Text 70"/>
          <p:cNvSpPr txBox="1"/>
          <p:nvPr/>
        </p:nvSpPr>
        <p:spPr>
          <a:xfrm>
            <a:off x="7315200" y="5650992"/>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数字化手段</a:t>
            </a:r>
            <a:endParaRPr lang="en-US" sz="1020" dirty="0"/>
          </a:p>
        </p:txBody>
      </p:sp>
      <p:sp>
        <p:nvSpPr>
          <p:cNvPr id="73" name="Text 71"/>
          <p:cNvSpPr txBox="1"/>
          <p:nvPr/>
        </p:nvSpPr>
        <p:spPr>
          <a:xfrm>
            <a:off x="8503920" y="5650992"/>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以系统固化权限、留痕、脱敏与审计能力，用工具而非人力保障合规持续有效</a:t>
            </a:r>
            <a:endParaRPr lang="en-US" sz="1000" dirty="0"/>
          </a:p>
        </p:txBody>
      </p:sp>
      <p:sp>
        <p:nvSpPr>
          <p:cNvPr id="74" name="Shape 72"/>
          <p:cNvSpPr/>
          <p:nvPr/>
        </p:nvSpPr>
        <p:spPr>
          <a:xfrm>
            <a:off x="530352" y="4443984"/>
            <a:ext cx="6035040" cy="1700784"/>
          </a:xfrm>
          <a:prstGeom prst="roundRect">
            <a:avLst>
              <a:gd name="adj" fmla="val 188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75" name="Text 73"/>
          <p:cNvSpPr txBox="1"/>
          <p:nvPr/>
        </p:nvSpPr>
        <p:spPr>
          <a:xfrm>
            <a:off x="749808" y="4553712"/>
            <a:ext cx="27432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对本项目的价值</a:t>
            </a:r>
            <a:endParaRPr lang="en-US" sz="1150" dirty="0"/>
          </a:p>
        </p:txBody>
      </p:sp>
      <p:sp>
        <p:nvSpPr>
          <p:cNvPr id="76" name="Text 74"/>
          <p:cNvSpPr txBox="1"/>
          <p:nvPr/>
        </p:nvSpPr>
        <p:spPr>
          <a:xfrm>
            <a:off x="749808" y="4828032"/>
            <a:ext cx="5614416" cy="1280160"/>
          </a:xfrm>
          <a:prstGeom prst="rect">
            <a:avLst/>
          </a:prstGeom>
          <a:noFill/>
          <a:ln/>
        </p:spPr>
        <p:txBody>
          <a:bodyPr wrap="square" lIns="0" tIns="0" rIns="0" bIns="0" rtlCol="0" anchor="ctr"/>
          <a:lstStyle/>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本期以国内产业园为范围，但阳光电源海外业务持续扩张，园区平台迟早要承载境外基地。方案已做三项前置设计：</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① 数据分类分级与主体权利支持能力内置，不必等到出海时再改造；</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② 人员与访客数据的采集范围、留存期限、脱敏规则可按地区配置；</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③ 具备欧洲 GDPR、美国个人隐私合规等海外合规经验与实际案例，数据处理各环节严格遵循相关海外法规。</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优势四：联想可以提供给阳光电源的价值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全球资源 + 本地交付、长期服务陪伴、AI 战略投入——三层价值叠加</a:t>
            </a:r>
            <a:endParaRPr lang="en-US" sz="1250" dirty="0"/>
          </a:p>
        </p:txBody>
      </p:sp>
      <p:sp>
        <p:nvSpPr>
          <p:cNvPr id="5" name="Shape 3"/>
          <p:cNvSpPr/>
          <p:nvPr/>
        </p:nvSpPr>
        <p:spPr>
          <a:xfrm>
            <a:off x="530352" y="1207008"/>
            <a:ext cx="11130991" cy="1883664"/>
          </a:xfrm>
          <a:prstGeom prst="roundRect">
            <a:avLst>
              <a:gd name="adj" fmla="val 1699"/>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86384" y="1426464"/>
            <a:ext cx="658368" cy="658368"/>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64143" y="1604223"/>
            <a:ext cx="302849" cy="302849"/>
          </a:xfrm>
          <a:prstGeom prst="rect">
            <a:avLst/>
          </a:prstGeom>
        </p:spPr>
      </p:pic>
      <p:sp>
        <p:nvSpPr>
          <p:cNvPr id="8" name="Text 5"/>
          <p:cNvSpPr txBox="1"/>
          <p:nvPr/>
        </p:nvSpPr>
        <p:spPr>
          <a:xfrm>
            <a:off x="1609344" y="1353312"/>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实践能力</a:t>
            </a:r>
            <a:endParaRPr lang="en-US" sz="1800" dirty="0"/>
          </a:p>
        </p:txBody>
      </p:sp>
      <p:sp>
        <p:nvSpPr>
          <p:cNvPr id="9" name="Text 6"/>
          <p:cNvSpPr txBox="1"/>
          <p:nvPr/>
        </p:nvSpPr>
        <p:spPr>
          <a:xfrm>
            <a:off x="1609344" y="1755648"/>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模式：</a:t>
            </a:r>
            <a:endParaRPr lang="en-US" sz="1100" dirty="0"/>
          </a:p>
        </p:txBody>
      </p:sp>
      <p:sp>
        <p:nvSpPr>
          <p:cNvPr id="10" name="Text 7"/>
          <p:cNvSpPr txBox="1"/>
          <p:nvPr/>
        </p:nvSpPr>
        <p:spPr>
          <a:xfrm>
            <a:off x="2560320" y="1755648"/>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全球资源（Global sourcing）+ 本地交付（Local delivering）：方案与标准由全球团队沉淀，实施与响应由合肥及华东本地团队承担</a:t>
            </a:r>
            <a:endParaRPr lang="en-US" sz="1000" dirty="0"/>
          </a:p>
        </p:txBody>
      </p:sp>
      <p:sp>
        <p:nvSpPr>
          <p:cNvPr id="11" name="Text 8"/>
          <p:cNvSpPr txBox="1"/>
          <p:nvPr/>
        </p:nvSpPr>
        <p:spPr>
          <a:xfrm>
            <a:off x="1609344" y="217627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经验：</a:t>
            </a:r>
            <a:endParaRPr lang="en-US" sz="1100" dirty="0"/>
          </a:p>
        </p:txBody>
      </p:sp>
      <p:sp>
        <p:nvSpPr>
          <p:cNvPr id="12" name="Text 9"/>
          <p:cNvSpPr txBox="1"/>
          <p:nvPr/>
        </p:nvSpPr>
        <p:spPr>
          <a:xfrm>
            <a:off x="2560320" y="2176272"/>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联想自身即是出海与全球化的实践者，可提供咨询 + 落地的一站式服务，而非只交付一套软件</a:t>
            </a:r>
            <a:endParaRPr lang="en-US" sz="1000" dirty="0"/>
          </a:p>
        </p:txBody>
      </p:sp>
      <p:sp>
        <p:nvSpPr>
          <p:cNvPr id="13" name="Text 10"/>
          <p:cNvSpPr txBox="1"/>
          <p:nvPr/>
        </p:nvSpPr>
        <p:spPr>
          <a:xfrm>
            <a:off x="1609344" y="259689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资源：</a:t>
            </a:r>
            <a:endParaRPr lang="en-US" sz="1100" dirty="0"/>
          </a:p>
        </p:txBody>
      </p:sp>
      <p:sp>
        <p:nvSpPr>
          <p:cNvPr id="14" name="Text 11"/>
          <p:cNvSpPr txBox="1"/>
          <p:nvPr/>
        </p:nvSpPr>
        <p:spPr>
          <a:xfrm>
            <a:off x="2560320" y="2596896"/>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复用联想全球制造基地智慧化经验，建设周期短；运营 SLA 达 99.95%，具备大规模园区长期稳定运行的支撑能力</a:t>
            </a:r>
            <a:endParaRPr lang="en-US" sz="1000" dirty="0"/>
          </a:p>
        </p:txBody>
      </p:sp>
      <p:sp>
        <p:nvSpPr>
          <p:cNvPr id="15" name="Shape 12"/>
          <p:cNvSpPr/>
          <p:nvPr/>
        </p:nvSpPr>
        <p:spPr>
          <a:xfrm>
            <a:off x="530352" y="3273552"/>
            <a:ext cx="11130991" cy="1481328"/>
          </a:xfrm>
          <a:prstGeom prst="roundRect">
            <a:avLst>
              <a:gd name="adj" fmla="val 2160"/>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6" name="Shape 13"/>
          <p:cNvSpPr/>
          <p:nvPr/>
        </p:nvSpPr>
        <p:spPr>
          <a:xfrm>
            <a:off x="786384" y="3493008"/>
            <a:ext cx="658368" cy="658368"/>
          </a:xfrm>
          <a:prstGeom prst="ellipse">
            <a:avLst/>
          </a:prstGeom>
          <a:solidFill>
            <a:srgbClr val="0E2340"/>
          </a:solidFill>
          <a:ln/>
        </p:spPr>
      </p:sp>
      <p:pic>
        <p:nvPicPr>
          <p:cNvPr id="17" name="Image 1" descr="preencoded.png">    </p:cNvPr>
          <p:cNvPicPr>
            <a:picLocks noChangeAspect="1"/>
          </p:cNvPicPr>
          <p:nvPr/>
        </p:nvPicPr>
        <p:blipFill>
          <a:blip r:embed="rId2"/>
          <a:stretch>
            <a:fillRect/>
          </a:stretch>
        </p:blipFill>
        <p:spPr>
          <a:xfrm>
            <a:off x="964143" y="3670767"/>
            <a:ext cx="302849" cy="302849"/>
          </a:xfrm>
          <a:prstGeom prst="rect">
            <a:avLst/>
          </a:prstGeom>
        </p:spPr>
      </p:pic>
      <p:sp>
        <p:nvSpPr>
          <p:cNvPr id="18" name="Text 14"/>
          <p:cNvSpPr txBox="1"/>
          <p:nvPr/>
        </p:nvSpPr>
        <p:spPr>
          <a:xfrm>
            <a:off x="1609344" y="3419856"/>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长期服务与陪伴</a:t>
            </a:r>
            <a:endParaRPr lang="en-US" sz="1800" dirty="0"/>
          </a:p>
        </p:txBody>
      </p:sp>
      <p:sp>
        <p:nvSpPr>
          <p:cNvPr id="19" name="Text 15"/>
          <p:cNvSpPr txBox="1"/>
          <p:nvPr/>
        </p:nvSpPr>
        <p:spPr>
          <a:xfrm>
            <a:off x="1609344" y="382219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陪伴：</a:t>
            </a:r>
            <a:endParaRPr lang="en-US" sz="1100" dirty="0"/>
          </a:p>
        </p:txBody>
      </p:sp>
      <p:sp>
        <p:nvSpPr>
          <p:cNvPr id="20" name="Text 16"/>
          <p:cNvSpPr txBox="1"/>
          <p:nvPr/>
        </p:nvSpPr>
        <p:spPr>
          <a:xfrm>
            <a:off x="2560320" y="3822192"/>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海外拓展、安全合规、业务运营都是长周期工作，不是一次项目能做完的事；联想可提供跨年度的长期服务与陪伴</a:t>
            </a:r>
            <a:endParaRPr lang="en-US" sz="1000" dirty="0"/>
          </a:p>
        </p:txBody>
      </p:sp>
      <p:sp>
        <p:nvSpPr>
          <p:cNvPr id="21" name="Text 17"/>
          <p:cNvSpPr txBox="1"/>
          <p:nvPr/>
        </p:nvSpPr>
        <p:spPr>
          <a:xfrm>
            <a:off x="1609344" y="424281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附加价值：</a:t>
            </a:r>
            <a:endParaRPr lang="en-US" sz="1100" dirty="0"/>
          </a:p>
        </p:txBody>
      </p:sp>
      <p:sp>
        <p:nvSpPr>
          <p:cNvPr id="22" name="Text 18"/>
          <p:cNvSpPr txBox="1"/>
          <p:nvPr/>
        </p:nvSpPr>
        <p:spPr>
          <a:xfrm>
            <a:off x="2560320" y="4242816"/>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在园区平台之外，联想可服务阳光电源的数字化转型整体能力建设：IT 基础设施、混合云、终端与协作、数据治理</a:t>
            </a:r>
            <a:endParaRPr lang="en-US" sz="1000" dirty="0"/>
          </a:p>
        </p:txBody>
      </p:sp>
      <p:sp>
        <p:nvSpPr>
          <p:cNvPr id="23" name="Shape 19"/>
          <p:cNvSpPr/>
          <p:nvPr/>
        </p:nvSpPr>
        <p:spPr>
          <a:xfrm>
            <a:off x="530352" y="4937760"/>
            <a:ext cx="11130991" cy="1170432"/>
          </a:xfrm>
          <a:prstGeom prst="roundRect">
            <a:avLst>
              <a:gd name="adj" fmla="val 273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786384" y="5157216"/>
            <a:ext cx="658368" cy="658368"/>
          </a:xfrm>
          <a:prstGeom prst="ellipse">
            <a:avLst/>
          </a:prstGeom>
          <a:solidFill>
            <a:srgbClr val="0E2340"/>
          </a:solidFill>
          <a:ln/>
        </p:spPr>
      </p:sp>
      <p:pic>
        <p:nvPicPr>
          <p:cNvPr id="25" name="Image 2" descr="preencoded.png">    </p:cNvPr>
          <p:cNvPicPr>
            <a:picLocks noChangeAspect="1"/>
          </p:cNvPicPr>
          <p:nvPr/>
        </p:nvPicPr>
        <p:blipFill>
          <a:blip r:embed="rId3"/>
          <a:stretch>
            <a:fillRect/>
          </a:stretch>
        </p:blipFill>
        <p:spPr>
          <a:xfrm>
            <a:off x="964143" y="5334975"/>
            <a:ext cx="302849" cy="302849"/>
          </a:xfrm>
          <a:prstGeom prst="rect">
            <a:avLst/>
          </a:prstGeom>
        </p:spPr>
      </p:pic>
      <p:sp>
        <p:nvSpPr>
          <p:cNvPr id="26" name="Text 21"/>
          <p:cNvSpPr txBox="1"/>
          <p:nvPr/>
        </p:nvSpPr>
        <p:spPr>
          <a:xfrm>
            <a:off x="1609344" y="5084064"/>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AI 技术</a:t>
            </a:r>
            <a:endParaRPr lang="en-US" sz="1800" dirty="0"/>
          </a:p>
        </p:txBody>
      </p:sp>
      <p:sp>
        <p:nvSpPr>
          <p:cNvPr id="27" name="Text 22"/>
          <p:cNvSpPr txBox="1"/>
          <p:nvPr/>
        </p:nvSpPr>
        <p:spPr>
          <a:xfrm>
            <a:off x="1609344" y="5486400"/>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战略投入：</a:t>
            </a:r>
            <a:endParaRPr lang="en-US" sz="1100" dirty="0"/>
          </a:p>
        </p:txBody>
      </p:sp>
      <p:sp>
        <p:nvSpPr>
          <p:cNvPr id="28" name="Text 23"/>
          <p:cNvSpPr txBox="1"/>
          <p:nvPr/>
        </p:nvSpPr>
        <p:spPr>
          <a:xfrm>
            <a:off x="2560320" y="5486400"/>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联想提供 AI 底座与 AI 应用的坚强能力，并有持续迭代的战略愿景；本项目的 AI 算法仓、视频智能分析、工单智能派单可随集团 AI 能力同步演进，不会停在交付那一天</a:t>
            </a:r>
            <a:endParaRPr lang="en-US" sz="1000" dirty="0"/>
          </a:p>
        </p:txBody>
      </p:sp>
      <p:sp>
        <p:nvSpPr>
          <p:cNvPr id="29" name="Shape 24"/>
          <p:cNvSpPr/>
          <p:nvPr/>
        </p:nvSpPr>
        <p:spPr>
          <a:xfrm>
            <a:off x="530352" y="6291072"/>
            <a:ext cx="11130991" cy="786384"/>
          </a:xfrm>
          <a:prstGeom prst="roundRect">
            <a:avLst>
              <a:gd name="adj" fmla="val 4070"/>
            </a:avLst>
          </a:prstGeom>
          <a:solidFill>
            <a:srgbClr val="0E2340"/>
          </a:solidFill>
          <a:ln/>
        </p:spPr>
      </p:sp>
      <p:sp>
        <p:nvSpPr>
          <p:cNvPr id="30" name="Text 25"/>
          <p:cNvSpPr txBox="1"/>
          <p:nvPr/>
        </p:nvSpPr>
        <p:spPr>
          <a:xfrm>
            <a:off x="786384" y="6291072"/>
            <a:ext cx="10618927" cy="786384"/>
          </a:xfrm>
          <a:prstGeom prst="rect">
            <a:avLst/>
          </a:prstGeom>
          <a:noFill/>
          <a:ln/>
        </p:spPr>
        <p:txBody>
          <a:bodyPr wrap="square" lIns="0" tIns="0" rIns="0" bIns="0" rtlCol="0" anchor="ctr"/>
          <a:lstStyle/>
          <a:p>
            <a:pPr algn="ctr" indent="0" marL="0">
              <a:lnSpc>
                <a:spcPct val="110000"/>
              </a:lnSpc>
              <a:buNone/>
            </a:pPr>
            <a:r>
              <a:rPr lang="en-US" sz="1150" dirty="0">
                <a:solidFill>
                  <a:srgbClr val="FFFFFF"/>
                </a:solidFill>
                <a:latin typeface="Calibri" pitchFamily="34" charset="0"/>
                <a:ea typeface="Calibri" pitchFamily="34" charset="-122"/>
                <a:cs typeface="Calibri" pitchFamily="34" charset="-120"/>
              </a:rPr>
              <a:t>一句话概括：贵方买到的不只是一套智慧园区系统，而是一个同样在全球化、同样在做智能制造、同样在投入 AI 的长期伙伴——我们走过的路，可以让贵方少走一遍。</a:t>
            </a:r>
            <a:endParaRPr lang="en-US" sz="11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优势五：六大差异化优势总结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不是"我们有什么产品"，而是"为什么我们最适合做阳光电源这个项目"</a:t>
            </a:r>
            <a:endParaRPr lang="en-US" sz="1250" dirty="0"/>
          </a:p>
        </p:txBody>
      </p:sp>
      <p:sp>
        <p:nvSpPr>
          <p:cNvPr id="5" name="Shape 3"/>
          <p:cNvSpPr/>
          <p:nvPr/>
        </p:nvSpPr>
        <p:spPr>
          <a:xfrm>
            <a:off x="530352"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426464"/>
            <a:ext cx="566928" cy="566928"/>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02879" y="1579535"/>
            <a:ext cx="260787" cy="260787"/>
          </a:xfrm>
          <a:prstGeom prst="rect">
            <a:avLst/>
          </a:prstGeom>
        </p:spPr>
      </p:pic>
      <p:sp>
        <p:nvSpPr>
          <p:cNvPr id="8" name="Text 5"/>
          <p:cNvSpPr txBox="1"/>
          <p:nvPr/>
        </p:nvSpPr>
        <p:spPr>
          <a:xfrm>
            <a:off x="3320186"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01</a:t>
            </a:r>
            <a:endParaRPr lang="en-US" sz="2400" dirty="0"/>
          </a:p>
        </p:txBody>
      </p:sp>
      <p:sp>
        <p:nvSpPr>
          <p:cNvPr id="9" name="Text 6"/>
          <p:cNvSpPr txBox="1"/>
          <p:nvPr/>
        </p:nvSpPr>
        <p:spPr>
          <a:xfrm>
            <a:off x="749808"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制造业基因 · 母本工厂</a:t>
            </a:r>
            <a:endParaRPr lang="en-US" sz="1350" dirty="0"/>
          </a:p>
        </p:txBody>
      </p:sp>
      <p:sp>
        <p:nvSpPr>
          <p:cNvPr id="10" name="Text 7"/>
          <p:cNvSpPr txBox="1"/>
          <p:nvPr/>
        </p:nvSpPr>
        <p:spPr>
          <a:xfrm>
            <a:off x="749808"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联想是全球 30+ 制造基地的重度园区使用者，方案源自自有园区实践验证；懂产线拉动、懂危化与带电场景、懂多园区协同，贵方已在武汉基地实地印证</a:t>
            </a:r>
            <a:endParaRPr lang="en-US" sz="1000" dirty="0"/>
          </a:p>
        </p:txBody>
      </p:sp>
      <p:sp>
        <p:nvSpPr>
          <p:cNvPr id="11" name="Shape 8"/>
          <p:cNvSpPr/>
          <p:nvPr/>
        </p:nvSpPr>
        <p:spPr>
          <a:xfrm>
            <a:off x="4307738"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9"/>
          <p:cNvSpPr/>
          <p:nvPr/>
        </p:nvSpPr>
        <p:spPr>
          <a:xfrm>
            <a:off x="4527194" y="1426464"/>
            <a:ext cx="566928" cy="566928"/>
          </a:xfrm>
          <a:prstGeom prst="ellipse">
            <a:avLst/>
          </a:prstGeom>
          <a:solidFill>
            <a:srgbClr val="F97B00"/>
          </a:solidFill>
          <a:ln/>
        </p:spPr>
      </p:sp>
      <p:pic>
        <p:nvPicPr>
          <p:cNvPr id="13" name="Image 1" descr="preencoded.png">    </p:cNvPr>
          <p:cNvPicPr>
            <a:picLocks noChangeAspect="1"/>
          </p:cNvPicPr>
          <p:nvPr/>
        </p:nvPicPr>
        <p:blipFill>
          <a:blip r:embed="rId2"/>
          <a:stretch>
            <a:fillRect/>
          </a:stretch>
        </p:blipFill>
        <p:spPr>
          <a:xfrm>
            <a:off x="4680265" y="1579535"/>
            <a:ext cx="260787" cy="260787"/>
          </a:xfrm>
          <a:prstGeom prst="rect">
            <a:avLst/>
          </a:prstGeom>
        </p:spPr>
      </p:pic>
      <p:sp>
        <p:nvSpPr>
          <p:cNvPr id="14" name="Text 10"/>
          <p:cNvSpPr txBox="1"/>
          <p:nvPr/>
        </p:nvSpPr>
        <p:spPr>
          <a:xfrm>
            <a:off x="7097573"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02</a:t>
            </a:r>
            <a:endParaRPr lang="en-US" sz="2400" dirty="0"/>
          </a:p>
        </p:txBody>
      </p:sp>
      <p:sp>
        <p:nvSpPr>
          <p:cNvPr id="15" name="Text 11"/>
          <p:cNvSpPr txBox="1"/>
          <p:nvPr/>
        </p:nvSpPr>
        <p:spPr>
          <a:xfrm>
            <a:off x="4527194"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供应链整合是我们的强项</a:t>
            </a:r>
            <a:endParaRPr lang="en-US" sz="1350" dirty="0"/>
          </a:p>
        </p:txBody>
      </p:sp>
      <p:sp>
        <p:nvSpPr>
          <p:cNvPr id="16" name="Text 12"/>
          <p:cNvSpPr txBox="1"/>
          <p:nvPr/>
        </p:nvSpPr>
        <p:spPr>
          <a:xfrm>
            <a:off x="4527194"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联想是全球供应链前列企业，WMS/TMS/SRM 与园区侧道闸、门禁、月台的打通有成熟方法论；把物流闭环建在统一底座与流程引擎上，而非做一套独立的车辆系统</a:t>
            </a:r>
            <a:endParaRPr lang="en-US" sz="1000" dirty="0"/>
          </a:p>
        </p:txBody>
      </p:sp>
      <p:sp>
        <p:nvSpPr>
          <p:cNvPr id="17" name="Shape 13"/>
          <p:cNvSpPr/>
          <p:nvPr/>
        </p:nvSpPr>
        <p:spPr>
          <a:xfrm>
            <a:off x="8085125"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04581" y="1426464"/>
            <a:ext cx="566928" cy="56692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57651" y="1579535"/>
            <a:ext cx="260787" cy="260787"/>
          </a:xfrm>
          <a:prstGeom prst="rect">
            <a:avLst/>
          </a:prstGeom>
        </p:spPr>
      </p:pic>
      <p:sp>
        <p:nvSpPr>
          <p:cNvPr id="20" name="Text 15"/>
          <p:cNvSpPr txBox="1"/>
          <p:nvPr/>
        </p:nvSpPr>
        <p:spPr>
          <a:xfrm>
            <a:off x="10874959"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03</a:t>
            </a:r>
            <a:endParaRPr lang="en-US" sz="2400" dirty="0"/>
          </a:p>
        </p:txBody>
      </p:sp>
      <p:sp>
        <p:nvSpPr>
          <p:cNvPr id="21" name="Text 16"/>
          <p:cNvSpPr txBox="1"/>
          <p:nvPr/>
        </p:nvSpPr>
        <p:spPr>
          <a:xfrm>
            <a:off x="8304581"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一体化交付能力</a:t>
            </a:r>
            <a:endParaRPr lang="en-US" sz="1350" dirty="0"/>
          </a:p>
        </p:txBody>
      </p:sp>
      <p:sp>
        <p:nvSpPr>
          <p:cNvPr id="22" name="Text 17"/>
          <p:cNvSpPr txBox="1"/>
          <p:nvPr/>
        </p:nvSpPr>
        <p:spPr>
          <a:xfrm>
            <a:off x="8304581"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软件平台 + AI 算法 + 弱电硬件 + 系统集成 + 运维一家统包，具备电子与智能化工程专业承包资质与安全生产许可，避免多方扯皮</a:t>
            </a:r>
            <a:endParaRPr lang="en-US" sz="1000" dirty="0"/>
          </a:p>
        </p:txBody>
      </p:sp>
      <p:sp>
        <p:nvSpPr>
          <p:cNvPr id="23" name="Shape 18"/>
          <p:cNvSpPr/>
          <p:nvPr/>
        </p:nvSpPr>
        <p:spPr>
          <a:xfrm>
            <a:off x="530352"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19"/>
          <p:cNvSpPr/>
          <p:nvPr/>
        </p:nvSpPr>
        <p:spPr>
          <a:xfrm>
            <a:off x="749808" y="3749040"/>
            <a:ext cx="566928" cy="566928"/>
          </a:xfrm>
          <a:prstGeom prst="ellipse">
            <a:avLst/>
          </a:prstGeom>
          <a:solidFill>
            <a:srgbClr val="F97B00"/>
          </a:solidFill>
          <a:ln/>
        </p:spPr>
      </p:sp>
      <p:pic>
        <p:nvPicPr>
          <p:cNvPr id="25" name="Image 3" descr="preencoded.png">    </p:cNvPr>
          <p:cNvPicPr>
            <a:picLocks noChangeAspect="1"/>
          </p:cNvPicPr>
          <p:nvPr/>
        </p:nvPicPr>
        <p:blipFill>
          <a:blip r:embed="rId4"/>
          <a:stretch>
            <a:fillRect/>
          </a:stretch>
        </p:blipFill>
        <p:spPr>
          <a:xfrm>
            <a:off x="902879" y="3902111"/>
            <a:ext cx="260787" cy="260787"/>
          </a:xfrm>
          <a:prstGeom prst="rect">
            <a:avLst/>
          </a:prstGeom>
        </p:spPr>
      </p:pic>
      <p:sp>
        <p:nvSpPr>
          <p:cNvPr id="26" name="Text 20"/>
          <p:cNvSpPr txBox="1"/>
          <p:nvPr/>
        </p:nvSpPr>
        <p:spPr>
          <a:xfrm>
            <a:off x="3320186"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04</a:t>
            </a:r>
            <a:endParaRPr lang="en-US" sz="2400" dirty="0"/>
          </a:p>
        </p:txBody>
      </p:sp>
      <p:sp>
        <p:nvSpPr>
          <p:cNvPr id="27" name="Text 21"/>
          <p:cNvSpPr txBox="1"/>
          <p:nvPr/>
        </p:nvSpPr>
        <p:spPr>
          <a:xfrm>
            <a:off x="749808"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集成方法论成熟</a:t>
            </a:r>
            <a:endParaRPr lang="en-US" sz="1350" dirty="0"/>
          </a:p>
        </p:txBody>
      </p:sp>
      <p:sp>
        <p:nvSpPr>
          <p:cNvPr id="28" name="Text 22"/>
          <p:cNvSpPr txBox="1"/>
          <p:nvPr/>
        </p:nvSpPr>
        <p:spPr>
          <a:xfrm>
            <a:off x="749808"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ESB、MDM、BPM、EHS、WMS、SRM、TMS 等 15 类系统集成在联想自有 IT 体系内均有实战；接口异常处理与补偿机制经过检验</a:t>
            </a:r>
            <a:endParaRPr lang="en-US" sz="1000" dirty="0"/>
          </a:p>
        </p:txBody>
      </p:sp>
      <p:sp>
        <p:nvSpPr>
          <p:cNvPr id="29" name="Shape 23"/>
          <p:cNvSpPr/>
          <p:nvPr/>
        </p:nvSpPr>
        <p:spPr>
          <a:xfrm>
            <a:off x="4307738"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4527194" y="3749040"/>
            <a:ext cx="566928" cy="566928"/>
          </a:xfrm>
          <a:prstGeom prst="ellipse">
            <a:avLst/>
          </a:prstGeom>
          <a:solidFill>
            <a:srgbClr val="F97B00"/>
          </a:solidFill>
          <a:ln/>
        </p:spPr>
      </p:sp>
      <p:pic>
        <p:nvPicPr>
          <p:cNvPr id="31" name="Image 4" descr="preencoded.png">    </p:cNvPr>
          <p:cNvPicPr>
            <a:picLocks noChangeAspect="1"/>
          </p:cNvPicPr>
          <p:nvPr/>
        </p:nvPicPr>
        <p:blipFill>
          <a:blip r:embed="rId5"/>
          <a:stretch>
            <a:fillRect/>
          </a:stretch>
        </p:blipFill>
        <p:spPr>
          <a:xfrm>
            <a:off x="4680265" y="3902111"/>
            <a:ext cx="260787" cy="260787"/>
          </a:xfrm>
          <a:prstGeom prst="rect">
            <a:avLst/>
          </a:prstGeom>
        </p:spPr>
      </p:pic>
      <p:sp>
        <p:nvSpPr>
          <p:cNvPr id="32" name="Text 25"/>
          <p:cNvSpPr txBox="1"/>
          <p:nvPr/>
        </p:nvSpPr>
        <p:spPr>
          <a:xfrm>
            <a:off x="7097573"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05</a:t>
            </a:r>
            <a:endParaRPr lang="en-US" sz="2400" dirty="0"/>
          </a:p>
        </p:txBody>
      </p:sp>
      <p:sp>
        <p:nvSpPr>
          <p:cNvPr id="33" name="Text 26"/>
          <p:cNvSpPr txBox="1"/>
          <p:nvPr/>
        </p:nvSpPr>
        <p:spPr>
          <a:xfrm>
            <a:off x="4527194"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长期陪伴与 AI 战略</a:t>
            </a:r>
            <a:endParaRPr lang="en-US" sz="1350" dirty="0"/>
          </a:p>
        </p:txBody>
      </p:sp>
      <p:sp>
        <p:nvSpPr>
          <p:cNvPr id="34" name="Text 27"/>
          <p:cNvSpPr txBox="1"/>
          <p:nvPr/>
        </p:nvSpPr>
        <p:spPr>
          <a:xfrm>
            <a:off x="4527194"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海外拓展、安全合规、业务运营均为长周期工作，联想提供的是持续陪伴而非一次性交付；AI 底座与 AI 应用能力持续迭代，平台可随之演进</a:t>
            </a:r>
            <a:endParaRPr lang="en-US" sz="1000" dirty="0"/>
          </a:p>
        </p:txBody>
      </p:sp>
      <p:sp>
        <p:nvSpPr>
          <p:cNvPr id="35" name="Shape 28"/>
          <p:cNvSpPr/>
          <p:nvPr/>
        </p:nvSpPr>
        <p:spPr>
          <a:xfrm>
            <a:off x="8085125"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29"/>
          <p:cNvSpPr/>
          <p:nvPr/>
        </p:nvSpPr>
        <p:spPr>
          <a:xfrm>
            <a:off x="8304581" y="3749040"/>
            <a:ext cx="566928" cy="566928"/>
          </a:xfrm>
          <a:prstGeom prst="ellipse">
            <a:avLst/>
          </a:prstGeom>
          <a:solidFill>
            <a:srgbClr val="F97B00"/>
          </a:solidFill>
          <a:ln/>
        </p:spPr>
      </p:sp>
      <p:pic>
        <p:nvPicPr>
          <p:cNvPr id="37" name="Image 5" descr="preencoded.png">    </p:cNvPr>
          <p:cNvPicPr>
            <a:picLocks noChangeAspect="1"/>
          </p:cNvPicPr>
          <p:nvPr/>
        </p:nvPicPr>
        <p:blipFill>
          <a:blip r:embed="rId6"/>
          <a:stretch>
            <a:fillRect/>
          </a:stretch>
        </p:blipFill>
        <p:spPr>
          <a:xfrm>
            <a:off x="8457651" y="3902111"/>
            <a:ext cx="260787" cy="260787"/>
          </a:xfrm>
          <a:prstGeom prst="rect">
            <a:avLst/>
          </a:prstGeom>
        </p:spPr>
      </p:pic>
      <p:sp>
        <p:nvSpPr>
          <p:cNvPr id="38" name="Text 30"/>
          <p:cNvSpPr txBox="1"/>
          <p:nvPr/>
        </p:nvSpPr>
        <p:spPr>
          <a:xfrm>
            <a:off x="10874959"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06</a:t>
            </a:r>
            <a:endParaRPr lang="en-US" sz="2400" dirty="0"/>
          </a:p>
        </p:txBody>
      </p:sp>
      <p:sp>
        <p:nvSpPr>
          <p:cNvPr id="39" name="Text 31"/>
          <p:cNvSpPr txBox="1"/>
          <p:nvPr/>
        </p:nvSpPr>
        <p:spPr>
          <a:xfrm>
            <a:off x="8304581"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国际化布局与跨境合规</a:t>
            </a:r>
            <a:endParaRPr lang="en-US" sz="1350" dirty="0"/>
          </a:p>
        </p:txBody>
      </p:sp>
      <p:sp>
        <p:nvSpPr>
          <p:cNvPr id="40" name="Text 32"/>
          <p:cNvSpPr txBox="1"/>
          <p:nvPr/>
        </p:nvSpPr>
        <p:spPr>
          <a:xfrm>
            <a:off x="8304581"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联想在 180 个市场运营，GDPR、CCPA、PIPEDA、PIPL 等法规下的数据处理与跨境传输均有长期实践；可支撑阳光电源海外园区的合规延伸</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572768" cy="394106"/>
          </a:xfrm>
          <a:prstGeom prst="rect">
            <a:avLst/>
          </a:prstGeom>
        </p:spPr>
      </p:pic>
      <p:sp>
        <p:nvSpPr>
          <p:cNvPr id="3" name="Shape 0"/>
          <p:cNvSpPr/>
          <p:nvPr/>
        </p:nvSpPr>
        <p:spPr>
          <a:xfrm>
            <a:off x="2286000" y="502920"/>
            <a:ext cx="10973" cy="347472"/>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468880" y="548640"/>
            <a:ext cx="1234440" cy="246888"/>
          </a:xfrm>
          <a:prstGeom prst="rect">
            <a:avLst/>
          </a:prstGeom>
        </p:spPr>
      </p:pic>
      <p:sp>
        <p:nvSpPr>
          <p:cNvPr id="5" name="Text 1"/>
          <p:cNvSpPr txBox="1"/>
          <p:nvPr/>
        </p:nvSpPr>
        <p:spPr>
          <a:xfrm>
            <a:off x="530352" y="1517904"/>
            <a:ext cx="5486400" cy="292608"/>
          </a:xfrm>
          <a:prstGeom prst="rect">
            <a:avLst/>
          </a:prstGeom>
          <a:noFill/>
          <a:ln/>
        </p:spPr>
        <p:txBody>
          <a:bodyPr wrap="square" lIns="0" tIns="0" rIns="0" bIns="0" rtlCol="0" anchor="ctr"/>
          <a:lstStyle/>
          <a:p>
            <a:pPr indent="0" marL="0">
              <a:buNone/>
            </a:pPr>
            <a:r>
              <a:rPr lang="en-US" sz="1200" b="1" spc="500" kern="0" dirty="0">
                <a:solidFill>
                  <a:srgbClr val="FF9F3D"/>
                </a:solidFill>
                <a:latin typeface="Calibri" pitchFamily="34" charset="0"/>
                <a:ea typeface="Calibri" pitchFamily="34" charset="-122"/>
                <a:cs typeface="Calibri" pitchFamily="34" charset="-120"/>
              </a:rPr>
              <a:t>OUR COMMITMENT</a:t>
            </a:r>
            <a:endParaRPr lang="en-US" sz="1200" dirty="0"/>
          </a:p>
        </p:txBody>
      </p:sp>
      <p:sp>
        <p:nvSpPr>
          <p:cNvPr id="6" name="Text 2"/>
          <p:cNvSpPr txBox="1"/>
          <p:nvPr/>
        </p:nvSpPr>
        <p:spPr>
          <a:xfrm>
            <a:off x="530352" y="1865376"/>
            <a:ext cx="1051560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把一期做实，把底座做对，把复制路径跑通</a:t>
            </a:r>
            <a:endParaRPr lang="en-US" sz="3400" dirty="0"/>
          </a:p>
        </p:txBody>
      </p:sp>
      <p:sp>
        <p:nvSpPr>
          <p:cNvPr id="7" name="Shape 3"/>
          <p:cNvSpPr/>
          <p:nvPr/>
        </p:nvSpPr>
        <p:spPr>
          <a:xfrm>
            <a:off x="548640" y="2706624"/>
            <a:ext cx="1097280" cy="41148"/>
          </a:xfrm>
          <a:prstGeom prst="rect">
            <a:avLst/>
          </a:prstGeom>
          <a:solidFill>
            <a:srgbClr val="F97B00"/>
          </a:solidFill>
          <a:ln/>
        </p:spPr>
      </p:sp>
      <p:sp>
        <p:nvSpPr>
          <p:cNvPr id="8" name="Shape 4"/>
          <p:cNvSpPr/>
          <p:nvPr/>
        </p:nvSpPr>
        <p:spPr>
          <a:xfrm>
            <a:off x="530352"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9" name="Text 5"/>
          <p:cNvSpPr txBox="1"/>
          <p:nvPr/>
        </p:nvSpPr>
        <p:spPr>
          <a:xfrm>
            <a:off x="694944"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聚焦不摊大</a:t>
            </a:r>
            <a:endParaRPr lang="en-US" sz="1700" dirty="0"/>
          </a:p>
        </p:txBody>
      </p:sp>
      <p:sp>
        <p:nvSpPr>
          <p:cNvPr id="10" name="Text 6"/>
          <p:cNvSpPr txBox="1"/>
          <p:nvPr/>
        </p:nvSpPr>
        <p:spPr>
          <a:xfrm>
            <a:off x="694944"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一期严格聚焦 招标明确的五大模块，确保可落地、可结项</a:t>
            </a:r>
            <a:endParaRPr lang="en-US" sz="1000" dirty="0"/>
          </a:p>
        </p:txBody>
      </p:sp>
      <p:sp>
        <p:nvSpPr>
          <p:cNvPr id="11" name="Shape 7"/>
          <p:cNvSpPr/>
          <p:nvPr/>
        </p:nvSpPr>
        <p:spPr>
          <a:xfrm>
            <a:off x="3367964"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2" name="Text 8"/>
          <p:cNvSpPr txBox="1"/>
          <p:nvPr/>
        </p:nvSpPr>
        <p:spPr>
          <a:xfrm>
            <a:off x="3532556"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量化不空谈</a:t>
            </a:r>
            <a:endParaRPr lang="en-US" sz="1700" dirty="0"/>
          </a:p>
        </p:txBody>
      </p:sp>
      <p:sp>
        <p:nvSpPr>
          <p:cNvPr id="13" name="Text 9"/>
          <p:cNvSpPr txBox="1"/>
          <p:nvPr/>
        </p:nvSpPr>
        <p:spPr>
          <a:xfrm>
            <a:off x="3532556"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关键指标写入验收标准，效果用数据说话</a:t>
            </a:r>
            <a:endParaRPr lang="en-US" sz="1000" dirty="0"/>
          </a:p>
        </p:txBody>
      </p:sp>
      <p:sp>
        <p:nvSpPr>
          <p:cNvPr id="14" name="Shape 10"/>
          <p:cNvSpPr/>
          <p:nvPr/>
        </p:nvSpPr>
        <p:spPr>
          <a:xfrm>
            <a:off x="6205576"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5" name="Text 11"/>
          <p:cNvSpPr txBox="1"/>
          <p:nvPr/>
        </p:nvSpPr>
        <p:spPr>
          <a:xfrm>
            <a:off x="6370168"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驻场不远程</a:t>
            </a:r>
            <a:endParaRPr lang="en-US" sz="1700" dirty="0"/>
          </a:p>
        </p:txBody>
      </p:sp>
      <p:sp>
        <p:nvSpPr>
          <p:cNvPr id="16" name="Text 12"/>
          <p:cNvSpPr txBox="1"/>
          <p:nvPr/>
        </p:nvSpPr>
        <p:spPr>
          <a:xfrm>
            <a:off x="6370168"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项目经理与核心成员全程现场，上线后三个月陪跑护航</a:t>
            </a:r>
            <a:endParaRPr lang="en-US" sz="1000" dirty="0"/>
          </a:p>
        </p:txBody>
      </p:sp>
      <p:sp>
        <p:nvSpPr>
          <p:cNvPr id="17" name="Shape 13"/>
          <p:cNvSpPr/>
          <p:nvPr/>
        </p:nvSpPr>
        <p:spPr>
          <a:xfrm>
            <a:off x="9043187"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8" name="Text 14"/>
          <p:cNvSpPr txBox="1"/>
          <p:nvPr/>
        </p:nvSpPr>
        <p:spPr>
          <a:xfrm>
            <a:off x="9207779"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交底不留手</a:t>
            </a:r>
            <a:endParaRPr lang="en-US" sz="1700" dirty="0"/>
          </a:p>
        </p:txBody>
      </p:sp>
      <p:sp>
        <p:nvSpPr>
          <p:cNvPr id="19" name="Text 15"/>
          <p:cNvSpPr txBox="1"/>
          <p:nvPr/>
        </p:nvSpPr>
        <p:spPr>
          <a:xfrm>
            <a:off x="9207779"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二次开发代码、文档、录屏全交付，确保贵方自主可控</a:t>
            </a:r>
            <a:endParaRPr lang="en-US" sz="1000" dirty="0"/>
          </a:p>
        </p:txBody>
      </p:sp>
      <p:sp>
        <p:nvSpPr>
          <p:cNvPr id="20" name="Text 16"/>
          <p:cNvSpPr txBox="1"/>
          <p:nvPr/>
        </p:nvSpPr>
        <p:spPr>
          <a:xfrm>
            <a:off x="530352" y="466344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感谢聆听 · 期待与阳光电源携手共建智慧园区</a:t>
            </a:r>
            <a:endParaRPr lang="en-US" sz="2200" dirty="0"/>
          </a:p>
        </p:txBody>
      </p:sp>
      <p:sp>
        <p:nvSpPr>
          <p:cNvPr id="21" name="Text 17"/>
          <p:cNvSpPr txBox="1"/>
          <p:nvPr/>
        </p:nvSpPr>
        <p:spPr>
          <a:xfrm>
            <a:off x="530352" y="5212080"/>
            <a:ext cx="6400800" cy="603504"/>
          </a:xfrm>
          <a:prstGeom prst="rect">
            <a:avLst/>
          </a:prstGeom>
          <a:noFill/>
          <a:ln/>
        </p:spPr>
        <p:txBody>
          <a:bodyPr wrap="square" lIns="0" tIns="0" rIns="0" bIns="0" rtlCol="0" anchor="t"/>
          <a:lstStyle/>
          <a:p>
            <a:pPr indent="0" marL="0">
              <a:lnSpc>
                <a:spcPct val="124000"/>
              </a:lnSpc>
              <a:buNone/>
            </a:pPr>
            <a:r>
              <a:rPr lang="en-US" sz="1150" b="1" dirty="0">
                <a:solidFill>
                  <a:srgbClr val="FFFFFF"/>
                </a:solidFill>
                <a:latin typeface="Calibri" pitchFamily="34" charset="0"/>
                <a:ea typeface="Calibri" pitchFamily="34" charset="-122"/>
                <a:cs typeface="Calibri" pitchFamily="34" charset="-120"/>
              </a:rPr>
              <a:t>联想（北京）有限公司</a:t>
            </a:r>
            <a:endParaRPr lang="en-US" sz="1150" dirty="0"/>
          </a:p>
          <a:p>
            <a:pPr indent="0" marL="0">
              <a:lnSpc>
                <a:spcPct val="124000"/>
              </a:lnSpc>
              <a:buNone/>
            </a:pPr>
            <a:r>
              <a:rPr lang="en-US" sz="1100" dirty="0">
                <a:solidFill>
                  <a:srgbClr val="9FB0C2"/>
                </a:solidFill>
                <a:latin typeface="Calibri" pitchFamily="34" charset="0"/>
                <a:ea typeface="Calibri" pitchFamily="34" charset="-122"/>
                <a:cs typeface="Calibri" pitchFamily="34" charset="-120"/>
              </a:rPr>
              <a:t>汇报人：伍玉斌  高级项目经理  ｜  2026 年 8 月 21 日</a:t>
            </a:r>
            <a:endParaRPr lang="en-US" sz="1150" dirty="0"/>
          </a:p>
        </p:txBody>
      </p:sp>
      <p:sp>
        <p:nvSpPr>
          <p:cNvPr id="22" name="Shape 18"/>
          <p:cNvSpPr/>
          <p:nvPr/>
        </p:nvSpPr>
        <p:spPr>
          <a:xfrm>
            <a:off x="9966960" y="4700016"/>
            <a:ext cx="960120" cy="960120"/>
          </a:xfrm>
          <a:prstGeom prst="ellipse">
            <a:avLst/>
          </a:prstGeom>
          <a:solidFill>
            <a:srgbClr val="FFFFFF"/>
          </a:solidFill>
          <a:ln/>
        </p:spPr>
      </p:sp>
      <p:pic>
        <p:nvPicPr>
          <p:cNvPr id="23" name="Image 2" descr="preencoded.png">    </p:cNvPr>
          <p:cNvPicPr>
            <a:picLocks noChangeAspect="1"/>
          </p:cNvPicPr>
          <p:nvPr/>
        </p:nvPicPr>
        <p:blipFill>
          <a:blip r:embed="rId4"/>
          <a:stretch>
            <a:fillRect/>
          </a:stretch>
        </p:blipFill>
        <p:spPr>
          <a:xfrm>
            <a:off x="10226192" y="4959248"/>
            <a:ext cx="441655" cy="4416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阳光电源智慧园区一期项目建设方案</dc:title>
  <dc:subject>投标述标汇报</dc:subject>
  <dc:creator>联想（北京）有限公司</dc:creator>
  <cp:lastModifiedBy>联想（北京）有限公司</cp:lastModifiedBy>
  <cp:revision>1</cp:revision>
  <dcterms:created xsi:type="dcterms:W3CDTF">2026-09-01T12:44:11Z</dcterms:created>
  <dcterms:modified xsi:type="dcterms:W3CDTF">2026-09-01T12:44:11Z</dcterms:modified>
</cp:coreProperties>
</file>